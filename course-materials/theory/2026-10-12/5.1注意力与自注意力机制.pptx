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3.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4.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5.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8"/>
  </p:notesMasterIdLst>
  <p:sldIdLst>
    <p:sldId id="4753" r:id="rId2"/>
    <p:sldId id="383" r:id="rId3"/>
    <p:sldId id="4807" r:id="rId4"/>
    <p:sldId id="1927" r:id="rId5"/>
    <p:sldId id="1928" r:id="rId6"/>
    <p:sldId id="1930" r:id="rId7"/>
    <p:sldId id="4826" r:id="rId8"/>
    <p:sldId id="1931" r:id="rId9"/>
    <p:sldId id="1933" r:id="rId10"/>
    <p:sldId id="1932" r:id="rId11"/>
    <p:sldId id="4823" r:id="rId12"/>
    <p:sldId id="4825" r:id="rId13"/>
    <p:sldId id="4819" r:id="rId14"/>
    <p:sldId id="467" r:id="rId15"/>
    <p:sldId id="468" r:id="rId16"/>
    <p:sldId id="469" r:id="rId17"/>
    <p:sldId id="4808" r:id="rId18"/>
    <p:sldId id="4809" r:id="rId19"/>
    <p:sldId id="4837" r:id="rId20"/>
    <p:sldId id="4839" r:id="rId21"/>
    <p:sldId id="269" r:id="rId22"/>
    <p:sldId id="270" r:id="rId23"/>
    <p:sldId id="4829" r:id="rId24"/>
    <p:sldId id="466" r:id="rId25"/>
    <p:sldId id="456" r:id="rId26"/>
    <p:sldId id="459" r:id="rId27"/>
    <p:sldId id="472" r:id="rId28"/>
    <p:sldId id="277" r:id="rId29"/>
    <p:sldId id="4827" r:id="rId30"/>
    <p:sldId id="4820" r:id="rId31"/>
    <p:sldId id="4811" r:id="rId32"/>
    <p:sldId id="404" r:id="rId33"/>
    <p:sldId id="405" r:id="rId34"/>
    <p:sldId id="4812" r:id="rId35"/>
    <p:sldId id="4817" r:id="rId36"/>
    <p:sldId id="4831" r:id="rId37"/>
    <p:sldId id="4830" r:id="rId38"/>
    <p:sldId id="4813" r:id="rId39"/>
    <p:sldId id="4822" r:id="rId40"/>
    <p:sldId id="4818" r:id="rId41"/>
    <p:sldId id="4832" r:id="rId42"/>
    <p:sldId id="4840" r:id="rId43"/>
    <p:sldId id="4841" r:id="rId44"/>
    <p:sldId id="4833" r:id="rId45"/>
    <p:sldId id="4834" r:id="rId46"/>
    <p:sldId id="4828" r:id="rId47"/>
  </p:sldIdLst>
  <p:sldSz cx="12192000" cy="6858000"/>
  <p:notesSz cx="6858000" cy="9144000"/>
  <p:custDataLst>
    <p:tags r:id="rId4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B7A3"/>
    <a:srgbClr val="DDBEA9"/>
    <a:srgbClr val="CFE3F3"/>
    <a:srgbClr val="D0D9DE"/>
    <a:srgbClr val="A1B8E1"/>
    <a:srgbClr val="4472C4"/>
    <a:srgbClr val="203864"/>
    <a:srgbClr val="E6F4F7"/>
    <a:srgbClr val="A5A58D"/>
    <a:srgbClr val="CB997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136"/>
    <p:restoredTop sz="84201"/>
  </p:normalViewPr>
  <p:slideViewPr>
    <p:cSldViewPr snapToGrid="0">
      <p:cViewPr varScale="1">
        <p:scale>
          <a:sx n="153" d="100"/>
          <a:sy n="153" d="100"/>
        </p:scale>
        <p:origin x="176" y="13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an Yuanhe" userId="8b41a650fa060b16" providerId="Windows Live" clId="Web-{023EF305-2E15-4AD9-ABC6-3335E0D087FA}"/>
    <pc:docChg chg="modSld">
      <pc:chgData name="Tian Yuanhe" userId="8b41a650fa060b16" providerId="Windows Live" clId="Web-{023EF305-2E15-4AD9-ABC6-3335E0D087FA}" dt="2025-04-20T09:19:27.130" v="33" actId="20577"/>
      <pc:docMkLst>
        <pc:docMk/>
      </pc:docMkLst>
      <pc:sldChg chg="modSp">
        <pc:chgData name="Tian Yuanhe" userId="8b41a650fa060b16" providerId="Windows Live" clId="Web-{023EF305-2E15-4AD9-ABC6-3335E0D087FA}" dt="2025-04-20T09:19:27.130" v="33" actId="20577"/>
        <pc:sldMkLst>
          <pc:docMk/>
          <pc:sldMk cId="2339484869" sldId="4807"/>
        </pc:sldMkLst>
        <pc:spChg chg="mod">
          <ac:chgData name="Tian Yuanhe" userId="8b41a650fa060b16" providerId="Windows Live" clId="Web-{023EF305-2E15-4AD9-ABC6-3335E0D087FA}" dt="2025-04-20T09:19:27.130" v="33" actId="20577"/>
          <ac:spMkLst>
            <pc:docMk/>
            <pc:sldMk cId="2339484869" sldId="4807"/>
            <ac:spMk id="25" creationId="{04E949A3-FB52-9A1F-64E1-13D1B6CE6051}"/>
          </ac:spMkLst>
        </pc:spChg>
      </pc:sldChg>
    </pc:docChg>
  </pc:docChgLst>
  <pc:docChgLst>
    <pc:chgData name="Yuanhe Tian" userId="8b41a650fa060b16" providerId="LiveId" clId="{BC6C2D37-344C-A348-803E-7FED7E512B2B}"/>
    <pc:docChg chg="modSld">
      <pc:chgData name="Yuanhe Tian" userId="8b41a650fa060b16" providerId="LiveId" clId="{BC6C2D37-344C-A348-803E-7FED7E512B2B}" dt="2025-07-01T22:13:40.093" v="44" actId="20577"/>
      <pc:docMkLst>
        <pc:docMk/>
      </pc:docMkLst>
      <pc:sldChg chg="modSp mod">
        <pc:chgData name="Yuanhe Tian" userId="8b41a650fa060b16" providerId="LiveId" clId="{BC6C2D37-344C-A348-803E-7FED7E512B2B}" dt="2025-06-23T07:24:21.391" v="0" actId="1036"/>
        <pc:sldMkLst>
          <pc:docMk/>
          <pc:sldMk cId="2912757604" sldId="4813"/>
        </pc:sldMkLst>
        <pc:picChg chg="mod">
          <ac:chgData name="Yuanhe Tian" userId="8b41a650fa060b16" providerId="LiveId" clId="{BC6C2D37-344C-A348-803E-7FED7E512B2B}" dt="2025-06-23T07:24:21.391" v="0" actId="1036"/>
          <ac:picMkLst>
            <pc:docMk/>
            <pc:sldMk cId="2912757604" sldId="4813"/>
            <ac:picMk id="3" creationId="{6F4A4CC5-35DF-CF68-BFB1-6B7B2A8DFFF3}"/>
          </ac:picMkLst>
        </pc:picChg>
      </pc:sldChg>
      <pc:sldChg chg="modSp mod">
        <pc:chgData name="Yuanhe Tian" userId="8b41a650fa060b16" providerId="LiveId" clId="{BC6C2D37-344C-A348-803E-7FED7E512B2B}" dt="2025-07-01T22:13:40.093" v="44" actId="20577"/>
        <pc:sldMkLst>
          <pc:docMk/>
          <pc:sldMk cId="641869294" sldId="4827"/>
        </pc:sldMkLst>
        <pc:spChg chg="mod">
          <ac:chgData name="Yuanhe Tian" userId="8b41a650fa060b16" providerId="LiveId" clId="{BC6C2D37-344C-A348-803E-7FED7E512B2B}" dt="2025-07-01T22:13:40.093" v="44" actId="20577"/>
          <ac:spMkLst>
            <pc:docMk/>
            <pc:sldMk cId="641869294" sldId="4827"/>
            <ac:spMk id="4" creationId="{0BF09B2F-3225-A0E9-2A34-12B8A58A30ED}"/>
          </ac:spMkLst>
        </pc:spChg>
      </pc:sldChg>
    </pc:docChg>
  </pc:docChgLst>
  <pc:docChgLst>
    <pc:chgData name="Yuanhe Tian" userId="8b41a650fa060b16" providerId="LiveId" clId="{52615ACC-399A-3644-B117-AC2ECF9689DC}"/>
    <pc:docChg chg="undo custSel addSld delSld modSld sldOrd modMainMaster">
      <pc:chgData name="Yuanhe Tian" userId="8b41a650fa060b16" providerId="LiveId" clId="{52615ACC-399A-3644-B117-AC2ECF9689DC}" dt="2025-03-25T06:47:36.771" v="2672" actId="20577"/>
      <pc:docMkLst>
        <pc:docMk/>
      </pc:docMkLst>
      <pc:sldChg chg="addSp delSp modSp add del mod">
        <pc:chgData name="Yuanhe Tian" userId="8b41a650fa060b16" providerId="LiveId" clId="{52615ACC-399A-3644-B117-AC2ECF9689DC}" dt="2025-03-11T23:09:22.323" v="985" actId="20577"/>
        <pc:sldMkLst>
          <pc:docMk/>
          <pc:sldMk cId="0" sldId="268"/>
        </pc:sldMkLst>
      </pc:sldChg>
      <pc:sldChg chg="addSp delSp modSp add del mod">
        <pc:chgData name="Yuanhe Tian" userId="8b41a650fa060b16" providerId="LiveId" clId="{52615ACC-399A-3644-B117-AC2ECF9689DC}" dt="2025-03-11T23:10:01.812" v="1026" actId="20577"/>
        <pc:sldMkLst>
          <pc:docMk/>
          <pc:sldMk cId="0" sldId="269"/>
        </pc:sldMkLst>
      </pc:sldChg>
      <pc:sldChg chg="addSp delSp modSp add del mod">
        <pc:chgData name="Yuanhe Tian" userId="8b41a650fa060b16" providerId="LiveId" clId="{52615ACC-399A-3644-B117-AC2ECF9689DC}" dt="2025-03-11T23:11:07.524" v="1112" actId="20577"/>
        <pc:sldMkLst>
          <pc:docMk/>
          <pc:sldMk cId="0" sldId="270"/>
        </pc:sldMkLst>
      </pc:sldChg>
      <pc:sldChg chg="addSp delSp modSp add del mod">
        <pc:chgData name="Yuanhe Tian" userId="8b41a650fa060b16" providerId="LiveId" clId="{52615ACC-399A-3644-B117-AC2ECF9689DC}" dt="2025-03-19T01:41:16.102" v="2589" actId="1076"/>
        <pc:sldMkLst>
          <pc:docMk/>
          <pc:sldMk cId="0" sldId="277"/>
        </pc:sldMkLst>
      </pc:sldChg>
      <pc:sldChg chg="addSp delSp modSp mod">
        <pc:chgData name="Yuanhe Tian" userId="8b41a650fa060b16" providerId="LiveId" clId="{52615ACC-399A-3644-B117-AC2ECF9689DC}" dt="2025-03-17T01:12:35.010" v="2093" actId="20577"/>
        <pc:sldMkLst>
          <pc:docMk/>
          <pc:sldMk cId="1026772549" sldId="383"/>
        </pc:sldMkLst>
      </pc:sldChg>
      <pc:sldChg chg="add del">
        <pc:chgData name="Yuanhe Tian" userId="8b41a650fa060b16" providerId="LiveId" clId="{52615ACC-399A-3644-B117-AC2ECF9689DC}" dt="2025-03-11T23:36:21.815" v="1869" actId="2696"/>
        <pc:sldMkLst>
          <pc:docMk/>
          <pc:sldMk cId="1608770533" sldId="403"/>
        </pc:sldMkLst>
      </pc:sldChg>
      <pc:sldChg chg="addSp delSp modSp add del mod">
        <pc:chgData name="Yuanhe Tian" userId="8b41a650fa060b16" providerId="LiveId" clId="{52615ACC-399A-3644-B117-AC2ECF9689DC}" dt="2025-03-19T01:41:36.535" v="2609"/>
        <pc:sldMkLst>
          <pc:docMk/>
          <pc:sldMk cId="1482662824" sldId="404"/>
        </pc:sldMkLst>
      </pc:sldChg>
      <pc:sldChg chg="addSp delSp modSp add del mod delAnim">
        <pc:chgData name="Yuanhe Tian" userId="8b41a650fa060b16" providerId="LiveId" clId="{52615ACC-399A-3644-B117-AC2ECF9689DC}" dt="2025-03-17T01:18:46.460" v="2245" actId="478"/>
        <pc:sldMkLst>
          <pc:docMk/>
          <pc:sldMk cId="928821244" sldId="405"/>
        </pc:sldMkLst>
      </pc:sldChg>
      <pc:sldChg chg="add del">
        <pc:chgData name="Yuanhe Tian" userId="8b41a650fa060b16" providerId="LiveId" clId="{52615ACC-399A-3644-B117-AC2ECF9689DC}" dt="2025-03-12T00:15:27.443" v="1935" actId="2696"/>
        <pc:sldMkLst>
          <pc:docMk/>
          <pc:sldMk cId="1751440287" sldId="406"/>
        </pc:sldMkLst>
      </pc:sldChg>
      <pc:sldChg chg="addSp delSp modSp add del mod">
        <pc:chgData name="Yuanhe Tian" userId="8b41a650fa060b16" providerId="LiveId" clId="{52615ACC-399A-3644-B117-AC2ECF9689DC}" dt="2025-03-25T06:47:36.771" v="2672" actId="20577"/>
        <pc:sldMkLst>
          <pc:docMk/>
          <pc:sldMk cId="2311667944" sldId="454"/>
        </pc:sldMkLst>
      </pc:sldChg>
      <pc:sldChg chg="addSp delSp modSp add del mod">
        <pc:chgData name="Yuanhe Tian" userId="8b41a650fa060b16" providerId="LiveId" clId="{52615ACC-399A-3644-B117-AC2ECF9689DC}" dt="2025-03-11T23:13:08.535" v="1250" actId="20577"/>
        <pc:sldMkLst>
          <pc:docMk/>
          <pc:sldMk cId="3748088103" sldId="455"/>
        </pc:sldMkLst>
      </pc:sldChg>
      <pc:sldChg chg="addSp delSp modSp add del mod">
        <pc:chgData name="Yuanhe Tian" userId="8b41a650fa060b16" providerId="LiveId" clId="{52615ACC-399A-3644-B117-AC2ECF9689DC}" dt="2025-03-11T23:15:44.050" v="1353" actId="20577"/>
        <pc:sldMkLst>
          <pc:docMk/>
          <pc:sldMk cId="860045421" sldId="456"/>
        </pc:sldMkLst>
      </pc:sldChg>
      <pc:sldChg chg="addSp delSp modSp add del mod">
        <pc:chgData name="Yuanhe Tian" userId="8b41a650fa060b16" providerId="LiveId" clId="{52615ACC-399A-3644-B117-AC2ECF9689DC}" dt="2025-03-11T23:23:34.758" v="1826" actId="20577"/>
        <pc:sldMkLst>
          <pc:docMk/>
          <pc:sldMk cId="283651325" sldId="457"/>
        </pc:sldMkLst>
      </pc:sldChg>
      <pc:sldChg chg="add del">
        <pc:chgData name="Yuanhe Tian" userId="8b41a650fa060b16" providerId="LiveId" clId="{52615ACC-399A-3644-B117-AC2ECF9689DC}" dt="2025-03-11T23:24:33.536" v="1867" actId="2696"/>
        <pc:sldMkLst>
          <pc:docMk/>
          <pc:sldMk cId="751626745" sldId="458"/>
        </pc:sldMkLst>
      </pc:sldChg>
      <pc:sldChg chg="addSp delSp modSp add del mod">
        <pc:chgData name="Yuanhe Tian" userId="8b41a650fa060b16" providerId="LiveId" clId="{52615ACC-399A-3644-B117-AC2ECF9689DC}" dt="2025-03-11T23:17:36.243" v="1376" actId="27636"/>
        <pc:sldMkLst>
          <pc:docMk/>
          <pc:sldMk cId="478177811" sldId="459"/>
        </pc:sldMkLst>
      </pc:sldChg>
      <pc:sldChg chg="addSp delSp modSp add del mod">
        <pc:chgData name="Yuanhe Tian" userId="8b41a650fa060b16" providerId="LiveId" clId="{52615ACC-399A-3644-B117-AC2ECF9689DC}" dt="2025-03-11T23:14:34.027" v="1319" actId="58"/>
        <pc:sldMkLst>
          <pc:docMk/>
          <pc:sldMk cId="2483615957" sldId="466"/>
        </pc:sldMkLst>
      </pc:sldChg>
      <pc:sldChg chg="addSp delSp modSp add del mod">
        <pc:chgData name="Yuanhe Tian" userId="8b41a650fa060b16" providerId="LiveId" clId="{52615ACC-399A-3644-B117-AC2ECF9689DC}" dt="2025-03-11T22:19:46.939" v="621" actId="108"/>
        <pc:sldMkLst>
          <pc:docMk/>
          <pc:sldMk cId="1870602639" sldId="467"/>
        </pc:sldMkLst>
      </pc:sldChg>
      <pc:sldChg chg="addSp delSp modSp add del mod">
        <pc:chgData name="Yuanhe Tian" userId="8b41a650fa060b16" providerId="LiveId" clId="{52615ACC-399A-3644-B117-AC2ECF9689DC}" dt="2025-03-14T05:17:12.092" v="2066" actId="27636"/>
        <pc:sldMkLst>
          <pc:docMk/>
          <pc:sldMk cId="1191456006" sldId="468"/>
        </pc:sldMkLst>
      </pc:sldChg>
      <pc:sldChg chg="addSp delSp modSp add del mod">
        <pc:chgData name="Yuanhe Tian" userId="8b41a650fa060b16" providerId="LiveId" clId="{52615ACC-399A-3644-B117-AC2ECF9689DC}" dt="2025-03-11T23:16:39.181" v="1361" actId="14100"/>
        <pc:sldMkLst>
          <pc:docMk/>
          <pc:sldMk cId="2254793196" sldId="469"/>
        </pc:sldMkLst>
      </pc:sldChg>
      <pc:sldChg chg="add del">
        <pc:chgData name="Yuanhe Tian" userId="8b41a650fa060b16" providerId="LiveId" clId="{52615ACC-399A-3644-B117-AC2ECF9689DC}" dt="2025-03-11T23:04:30.243" v="747" actId="2696"/>
        <pc:sldMkLst>
          <pc:docMk/>
          <pc:sldMk cId="2548032678" sldId="470"/>
        </pc:sldMkLst>
      </pc:sldChg>
      <pc:sldChg chg="add del">
        <pc:chgData name="Yuanhe Tian" userId="8b41a650fa060b16" providerId="LiveId" clId="{52615ACC-399A-3644-B117-AC2ECF9689DC}" dt="2025-03-11T23:06:33.309" v="773" actId="2696"/>
        <pc:sldMkLst>
          <pc:docMk/>
          <pc:sldMk cId="607653257" sldId="471"/>
        </pc:sldMkLst>
      </pc:sldChg>
      <pc:sldChg chg="addSp delSp modSp add del mod">
        <pc:chgData name="Yuanhe Tian" userId="8b41a650fa060b16" providerId="LiveId" clId="{52615ACC-399A-3644-B117-AC2ECF9689DC}" dt="2025-03-11T23:20:03.089" v="1622" actId="20577"/>
        <pc:sldMkLst>
          <pc:docMk/>
          <pc:sldMk cId="1647637142" sldId="472"/>
        </pc:sldMkLst>
      </pc:sldChg>
      <pc:sldChg chg="add del">
        <pc:chgData name="Yuanhe Tian" userId="8b41a650fa060b16" providerId="LiveId" clId="{52615ACC-399A-3644-B117-AC2ECF9689DC}" dt="2025-03-12T00:16:02.395" v="1940" actId="2696"/>
        <pc:sldMkLst>
          <pc:docMk/>
          <pc:sldMk cId="3564466761" sldId="474"/>
        </pc:sldMkLst>
      </pc:sldChg>
      <pc:sldChg chg="add del">
        <pc:chgData name="Yuanhe Tian" userId="8b41a650fa060b16" providerId="LiveId" clId="{52615ACC-399A-3644-B117-AC2ECF9689DC}" dt="2025-03-12T00:16:04.459" v="1943" actId="2696"/>
        <pc:sldMkLst>
          <pc:docMk/>
          <pc:sldMk cId="4041686217" sldId="476"/>
        </pc:sldMkLst>
      </pc:sldChg>
      <pc:sldChg chg="modSp add del mod">
        <pc:chgData name="Yuanhe Tian" userId="8b41a650fa060b16" providerId="LiveId" clId="{52615ACC-399A-3644-B117-AC2ECF9689DC}" dt="2025-03-12T00:16:03.278" v="1941" actId="2696"/>
        <pc:sldMkLst>
          <pc:docMk/>
          <pc:sldMk cId="3476905955" sldId="477"/>
        </pc:sldMkLst>
      </pc:sldChg>
      <pc:sldChg chg="add del">
        <pc:chgData name="Yuanhe Tian" userId="8b41a650fa060b16" providerId="LiveId" clId="{52615ACC-399A-3644-B117-AC2ECF9689DC}" dt="2025-03-12T00:16:05.501" v="1944" actId="2696"/>
        <pc:sldMkLst>
          <pc:docMk/>
          <pc:sldMk cId="4086206369" sldId="486"/>
        </pc:sldMkLst>
      </pc:sldChg>
      <pc:sldChg chg="modSp add del mod">
        <pc:chgData name="Yuanhe Tian" userId="8b41a650fa060b16" providerId="LiveId" clId="{52615ACC-399A-3644-B117-AC2ECF9689DC}" dt="2025-03-12T00:16:03.786" v="1942" actId="2696"/>
        <pc:sldMkLst>
          <pc:docMk/>
          <pc:sldMk cId="2803854142" sldId="487"/>
        </pc:sldMkLst>
      </pc:sldChg>
      <pc:sldChg chg="modSp add del mod">
        <pc:chgData name="Yuanhe Tian" userId="8b41a650fa060b16" providerId="LiveId" clId="{52615ACC-399A-3644-B117-AC2ECF9689DC}" dt="2025-03-11T22:10:06.505" v="330" actId="2696"/>
        <pc:sldMkLst>
          <pc:docMk/>
          <pc:sldMk cId="1297446451" sldId="1881"/>
        </pc:sldMkLst>
      </pc:sldChg>
      <pc:sldChg chg="addSp delSp modSp add del mod">
        <pc:chgData name="Yuanhe Tian" userId="8b41a650fa060b16" providerId="LiveId" clId="{52615ACC-399A-3644-B117-AC2ECF9689DC}" dt="2025-03-17T01:14:04.353" v="2101" actId="2696"/>
        <pc:sldMkLst>
          <pc:docMk/>
          <pc:sldMk cId="3540461199" sldId="1908"/>
        </pc:sldMkLst>
      </pc:sldChg>
      <pc:sldChg chg="addSp delSp modSp add mod">
        <pc:chgData name="Yuanhe Tian" userId="8b41a650fa060b16" providerId="LiveId" clId="{52615ACC-399A-3644-B117-AC2ECF9689DC}" dt="2025-03-11T22:12:46.261" v="445"/>
        <pc:sldMkLst>
          <pc:docMk/>
          <pc:sldMk cId="2317583500" sldId="1927"/>
        </pc:sldMkLst>
      </pc:sldChg>
      <pc:sldChg chg="addSp delSp modSp add mod">
        <pc:chgData name="Yuanhe Tian" userId="8b41a650fa060b16" providerId="LiveId" clId="{52615ACC-399A-3644-B117-AC2ECF9689DC}" dt="2025-03-11T22:18:15.396" v="572" actId="113"/>
        <pc:sldMkLst>
          <pc:docMk/>
          <pc:sldMk cId="3834428417" sldId="1928"/>
        </pc:sldMkLst>
      </pc:sldChg>
      <pc:sldChg chg="addSp delSp modSp add del mod">
        <pc:chgData name="Yuanhe Tian" userId="8b41a650fa060b16" providerId="LiveId" clId="{52615ACC-399A-3644-B117-AC2ECF9689DC}" dt="2025-03-11T22:14:23.235" v="457" actId="2696"/>
        <pc:sldMkLst>
          <pc:docMk/>
          <pc:sldMk cId="1616529921" sldId="1929"/>
        </pc:sldMkLst>
      </pc:sldChg>
      <pc:sldChg chg="addSp delSp modSp add mod">
        <pc:chgData name="Yuanhe Tian" userId="8b41a650fa060b16" providerId="LiveId" clId="{52615ACC-399A-3644-B117-AC2ECF9689DC}" dt="2025-03-11T22:15:19.219" v="462"/>
        <pc:sldMkLst>
          <pc:docMk/>
          <pc:sldMk cId="2096869643" sldId="1930"/>
        </pc:sldMkLst>
      </pc:sldChg>
      <pc:sldChg chg="addSp delSp modSp add mod addAnim delAnim modAnim">
        <pc:chgData name="Yuanhe Tian" userId="8b41a650fa060b16" providerId="LiveId" clId="{52615ACC-399A-3644-B117-AC2ECF9689DC}" dt="2025-03-19T01:26:49.406" v="2339" actId="20577"/>
        <pc:sldMkLst>
          <pc:docMk/>
          <pc:sldMk cId="175244235" sldId="1931"/>
        </pc:sldMkLst>
      </pc:sldChg>
      <pc:sldChg chg="addSp delSp modSp add del mod modAnim modNotesTx">
        <pc:chgData name="Yuanhe Tian" userId="8b41a650fa060b16" providerId="LiveId" clId="{52615ACC-399A-3644-B117-AC2ECF9689DC}" dt="2025-03-19T01:39:00.992" v="2503"/>
        <pc:sldMkLst>
          <pc:docMk/>
          <pc:sldMk cId="1146750415" sldId="1932"/>
        </pc:sldMkLst>
      </pc:sldChg>
      <pc:sldChg chg="addSp delSp modSp add del mod ord">
        <pc:chgData name="Yuanhe Tian" userId="8b41a650fa060b16" providerId="LiveId" clId="{52615ACC-399A-3644-B117-AC2ECF9689DC}" dt="2025-03-19T01:31:29.858" v="2365" actId="113"/>
        <pc:sldMkLst>
          <pc:docMk/>
          <pc:sldMk cId="2559610060" sldId="1933"/>
        </pc:sldMkLst>
      </pc:sldChg>
      <pc:sldChg chg="modSp mod">
        <pc:chgData name="Yuanhe Tian" userId="8b41a650fa060b16" providerId="LiveId" clId="{52615ACC-399A-3644-B117-AC2ECF9689DC}" dt="2025-03-06T22:17:23.076" v="31" actId="20577"/>
        <pc:sldMkLst>
          <pc:docMk/>
          <pc:sldMk cId="0" sldId="4753"/>
        </pc:sldMkLst>
      </pc:sldChg>
      <pc:sldChg chg="addSp delSp modSp add del mod modNotesTx">
        <pc:chgData name="Yuanhe Tian" userId="8b41a650fa060b16" providerId="LiveId" clId="{52615ACC-399A-3644-B117-AC2ECF9689DC}" dt="2025-03-11T22:12:09.534" v="441" actId="2696"/>
        <pc:sldMkLst>
          <pc:docMk/>
          <pc:sldMk cId="0" sldId="4805"/>
        </pc:sldMkLst>
      </pc:sldChg>
      <pc:sldChg chg="del">
        <pc:chgData name="Yuanhe Tian" userId="8b41a650fa060b16" providerId="LiveId" clId="{52615ACC-399A-3644-B117-AC2ECF9689DC}" dt="2025-03-06T22:17:59.450" v="73" actId="2696"/>
        <pc:sldMkLst>
          <pc:docMk/>
          <pc:sldMk cId="366112402" sldId="4806"/>
        </pc:sldMkLst>
      </pc:sldChg>
      <pc:sldChg chg="modSp add del mod">
        <pc:chgData name="Yuanhe Tian" userId="8b41a650fa060b16" providerId="LiveId" clId="{52615ACC-399A-3644-B117-AC2ECF9689DC}" dt="2025-03-17T01:13:15.671" v="2098" actId="2696"/>
        <pc:sldMkLst>
          <pc:docMk/>
          <pc:sldMk cId="2533968109" sldId="4806"/>
        </pc:sldMkLst>
      </pc:sldChg>
      <pc:sldChg chg="addSp delSp modSp add mod ord modNotesTx">
        <pc:chgData name="Yuanhe Tian" userId="8b41a650fa060b16" providerId="LiveId" clId="{52615ACC-399A-3644-B117-AC2ECF9689DC}" dt="2025-03-11T22:10:04.067" v="329"/>
        <pc:sldMkLst>
          <pc:docMk/>
          <pc:sldMk cId="2339484869" sldId="4807"/>
        </pc:sldMkLst>
      </pc:sldChg>
      <pc:sldChg chg="del">
        <pc:chgData name="Yuanhe Tian" userId="8b41a650fa060b16" providerId="LiveId" clId="{52615ACC-399A-3644-B117-AC2ECF9689DC}" dt="2025-03-06T22:17:54.840" v="44" actId="2696"/>
        <pc:sldMkLst>
          <pc:docMk/>
          <pc:sldMk cId="2510039801" sldId="4807"/>
        </pc:sldMkLst>
      </pc:sldChg>
      <pc:sldChg chg="addSp delSp modSp add mod">
        <pc:chgData name="Yuanhe Tian" userId="8b41a650fa060b16" providerId="LiveId" clId="{52615ACC-399A-3644-B117-AC2ECF9689DC}" dt="2025-03-11T23:06:16.005" v="770" actId="14100"/>
        <pc:sldMkLst>
          <pc:docMk/>
          <pc:sldMk cId="3480557425" sldId="4808"/>
        </pc:sldMkLst>
      </pc:sldChg>
      <pc:sldChg chg="addSp delSp modSp add mod">
        <pc:chgData name="Yuanhe Tian" userId="8b41a650fa060b16" providerId="LiveId" clId="{52615ACC-399A-3644-B117-AC2ECF9689DC}" dt="2025-03-11T23:06:23.741" v="772" actId="14100"/>
        <pc:sldMkLst>
          <pc:docMk/>
          <pc:sldMk cId="2521223806" sldId="4809"/>
        </pc:sldMkLst>
      </pc:sldChg>
      <pc:sldChg chg="del">
        <pc:chgData name="Yuanhe Tian" userId="8b41a650fa060b16" providerId="LiveId" clId="{52615ACC-399A-3644-B117-AC2ECF9689DC}" dt="2025-03-06T22:17:35.337" v="37" actId="2696"/>
        <pc:sldMkLst>
          <pc:docMk/>
          <pc:sldMk cId="2878279411" sldId="4809"/>
        </pc:sldMkLst>
      </pc:sldChg>
      <pc:sldChg chg="addSp delSp modSp add mod modNotesTx">
        <pc:chgData name="Yuanhe Tian" userId="8b41a650fa060b16" providerId="LiveId" clId="{52615ACC-399A-3644-B117-AC2ECF9689DC}" dt="2025-03-11T23:24:31.579" v="1866" actId="20577"/>
        <pc:sldMkLst>
          <pc:docMk/>
          <pc:sldMk cId="2364649507" sldId="4810"/>
        </pc:sldMkLst>
      </pc:sldChg>
      <pc:sldChg chg="del">
        <pc:chgData name="Yuanhe Tian" userId="8b41a650fa060b16" providerId="LiveId" clId="{52615ACC-399A-3644-B117-AC2ECF9689DC}" dt="2025-03-06T22:17:54.785" v="42" actId="2696"/>
        <pc:sldMkLst>
          <pc:docMk/>
          <pc:sldMk cId="2625987116" sldId="4811"/>
        </pc:sldMkLst>
      </pc:sldChg>
      <pc:sldChg chg="addSp delSp modSp add mod">
        <pc:chgData name="Yuanhe Tian" userId="8b41a650fa060b16" providerId="LiveId" clId="{52615ACC-399A-3644-B117-AC2ECF9689DC}" dt="2025-03-19T01:41:32.185" v="2608" actId="1076"/>
        <pc:sldMkLst>
          <pc:docMk/>
          <pc:sldMk cId="3501328769" sldId="4811"/>
        </pc:sldMkLst>
      </pc:sldChg>
      <pc:sldChg chg="addSp delSp modSp add mod">
        <pc:chgData name="Yuanhe Tian" userId="8b41a650fa060b16" providerId="LiveId" clId="{52615ACC-399A-3644-B117-AC2ECF9689DC}" dt="2025-03-12T00:17:37.460" v="2004" actId="20577"/>
        <pc:sldMkLst>
          <pc:docMk/>
          <pc:sldMk cId="1467336786" sldId="4812"/>
        </pc:sldMkLst>
      </pc:sldChg>
      <pc:sldChg chg="del">
        <pc:chgData name="Yuanhe Tian" userId="8b41a650fa060b16" providerId="LiveId" clId="{52615ACC-399A-3644-B117-AC2ECF9689DC}" dt="2025-03-06T22:17:58.258" v="72" actId="2696"/>
        <pc:sldMkLst>
          <pc:docMk/>
          <pc:sldMk cId="2420662341" sldId="4812"/>
        </pc:sldMkLst>
      </pc:sldChg>
      <pc:sldChg chg="addSp delSp modSp add mod">
        <pc:chgData name="Yuanhe Tian" userId="8b41a650fa060b16" providerId="LiveId" clId="{52615ACC-399A-3644-B117-AC2ECF9689DC}" dt="2025-03-12T00:16:29.493" v="1979" actId="20577"/>
        <pc:sldMkLst>
          <pc:docMk/>
          <pc:sldMk cId="2912757604" sldId="4813"/>
        </pc:sldMkLst>
      </pc:sldChg>
      <pc:sldChg chg="del">
        <pc:chgData name="Yuanhe Tian" userId="8b41a650fa060b16" providerId="LiveId" clId="{52615ACC-399A-3644-B117-AC2ECF9689DC}" dt="2025-03-06T22:17:35.244" v="32" actId="2696"/>
        <pc:sldMkLst>
          <pc:docMk/>
          <pc:sldMk cId="4274504593" sldId="4813"/>
        </pc:sldMkLst>
      </pc:sldChg>
      <pc:sldChg chg="addSp delSp modSp add del mod">
        <pc:chgData name="Yuanhe Tian" userId="8b41a650fa060b16" providerId="LiveId" clId="{52615ACC-399A-3644-B117-AC2ECF9689DC}" dt="2025-03-12T00:17:51.865" v="2005" actId="2696"/>
        <pc:sldMkLst>
          <pc:docMk/>
          <pc:sldMk cId="2440249035" sldId="4814"/>
        </pc:sldMkLst>
      </pc:sldChg>
      <pc:sldChg chg="add del">
        <pc:chgData name="Yuanhe Tian" userId="8b41a650fa060b16" providerId="LiveId" clId="{52615ACC-399A-3644-B117-AC2ECF9689DC}" dt="2025-03-12T00:17:52.415" v="2006" actId="2696"/>
        <pc:sldMkLst>
          <pc:docMk/>
          <pc:sldMk cId="701627652" sldId="4815"/>
        </pc:sldMkLst>
      </pc:sldChg>
      <pc:sldChg chg="del">
        <pc:chgData name="Yuanhe Tian" userId="8b41a650fa060b16" providerId="LiveId" clId="{52615ACC-399A-3644-B117-AC2ECF9689DC}" dt="2025-03-06T22:17:35.300" v="35" actId="2696"/>
        <pc:sldMkLst>
          <pc:docMk/>
          <pc:sldMk cId="2633230250" sldId="4815"/>
        </pc:sldMkLst>
      </pc:sldChg>
      <pc:sldChg chg="add del">
        <pc:chgData name="Yuanhe Tian" userId="8b41a650fa060b16" providerId="LiveId" clId="{52615ACC-399A-3644-B117-AC2ECF9689DC}" dt="2025-03-12T00:17:52.948" v="2007" actId="2696"/>
        <pc:sldMkLst>
          <pc:docMk/>
          <pc:sldMk cId="3638897887" sldId="4816"/>
        </pc:sldMkLst>
      </pc:sldChg>
      <pc:sldChg chg="del">
        <pc:chgData name="Yuanhe Tian" userId="8b41a650fa060b16" providerId="LiveId" clId="{52615ACC-399A-3644-B117-AC2ECF9689DC}" dt="2025-03-06T22:17:35.256" v="34" actId="2696"/>
        <pc:sldMkLst>
          <pc:docMk/>
          <pc:sldMk cId="3864052491" sldId="4816"/>
        </pc:sldMkLst>
      </pc:sldChg>
      <pc:sldChg chg="addSp delSp modSp add mod ord">
        <pc:chgData name="Yuanhe Tian" userId="8b41a650fa060b16" providerId="LiveId" clId="{52615ACC-399A-3644-B117-AC2ECF9689DC}" dt="2025-03-19T04:38:58.373" v="2626" actId="20578"/>
        <pc:sldMkLst>
          <pc:docMk/>
          <pc:sldMk cId="4178734351" sldId="4817"/>
        </pc:sldMkLst>
      </pc:sldChg>
      <pc:sldChg chg="del">
        <pc:chgData name="Yuanhe Tian" userId="8b41a650fa060b16" providerId="LiveId" clId="{52615ACC-399A-3644-B117-AC2ECF9689DC}" dt="2025-03-06T22:17:35.325" v="36" actId="2696"/>
        <pc:sldMkLst>
          <pc:docMk/>
          <pc:sldMk cId="4241832541" sldId="4817"/>
        </pc:sldMkLst>
      </pc:sldChg>
      <pc:sldChg chg="addSp delSp modSp new mod">
        <pc:chgData name="Yuanhe Tian" userId="8b41a650fa060b16" providerId="LiveId" clId="{52615ACC-399A-3644-B117-AC2ECF9689DC}" dt="2025-03-12T00:24:44.039" v="2064" actId="20577"/>
        <pc:sldMkLst>
          <pc:docMk/>
          <pc:sldMk cId="3075439548" sldId="4818"/>
        </pc:sldMkLst>
      </pc:sldChg>
      <pc:sldChg chg="del">
        <pc:chgData name="Yuanhe Tian" userId="8b41a650fa060b16" providerId="LiveId" clId="{52615ACC-399A-3644-B117-AC2ECF9689DC}" dt="2025-03-06T22:17:35.250" v="33" actId="2696"/>
        <pc:sldMkLst>
          <pc:docMk/>
          <pc:sldMk cId="1506208315" sldId="4819"/>
        </pc:sldMkLst>
      </pc:sldChg>
      <pc:sldChg chg="modSp add mod">
        <pc:chgData name="Yuanhe Tian" userId="8b41a650fa060b16" providerId="LiveId" clId="{52615ACC-399A-3644-B117-AC2ECF9689DC}" dt="2025-03-17T01:13:01.311" v="2096" actId="207"/>
        <pc:sldMkLst>
          <pc:docMk/>
          <pc:sldMk cId="3631672280" sldId="4819"/>
        </pc:sldMkLst>
      </pc:sldChg>
      <pc:sldChg chg="modSp add mod">
        <pc:chgData name="Yuanhe Tian" userId="8b41a650fa060b16" providerId="LiveId" clId="{52615ACC-399A-3644-B117-AC2ECF9689DC}" dt="2025-03-17T01:13:24.836" v="2100" actId="207"/>
        <pc:sldMkLst>
          <pc:docMk/>
          <pc:sldMk cId="226875523" sldId="4820"/>
        </pc:sldMkLst>
      </pc:sldChg>
      <pc:sldChg chg="addSp modSp add mod modNotesTx">
        <pc:chgData name="Yuanhe Tian" userId="8b41a650fa060b16" providerId="LiveId" clId="{52615ACC-399A-3644-B117-AC2ECF9689DC}" dt="2025-03-25T06:47:11.091" v="2641" actId="20577"/>
        <pc:sldMkLst>
          <pc:docMk/>
          <pc:sldMk cId="2254553362" sldId="4821"/>
        </pc:sldMkLst>
      </pc:sldChg>
      <pc:sldChg chg="addSp modSp add del mod modNotesTx">
        <pc:chgData name="Yuanhe Tian" userId="8b41a650fa060b16" providerId="LiveId" clId="{52615ACC-399A-3644-B117-AC2ECF9689DC}" dt="2025-03-17T01:18:05.602" v="2243" actId="2696"/>
        <pc:sldMkLst>
          <pc:docMk/>
          <pc:sldMk cId="1210308670" sldId="4822"/>
        </pc:sldMkLst>
      </pc:sldChg>
      <pc:sldChg chg="addSp delSp modSp add mod delAnim">
        <pc:chgData name="Yuanhe Tian" userId="8b41a650fa060b16" providerId="LiveId" clId="{52615ACC-399A-3644-B117-AC2ECF9689DC}" dt="2025-03-19T04:38:49.219" v="2625" actId="404"/>
        <pc:sldMkLst>
          <pc:docMk/>
          <pc:sldMk cId="1547340889" sldId="4822"/>
        </pc:sldMkLst>
      </pc:sldChg>
      <pc:sldChg chg="del">
        <pc:chgData name="Yuanhe Tian" userId="8b41a650fa060b16" providerId="LiveId" clId="{52615ACC-399A-3644-B117-AC2ECF9689DC}" dt="2025-03-06T22:17:54.992" v="60" actId="2696"/>
        <pc:sldMkLst>
          <pc:docMk/>
          <pc:sldMk cId="2271156371" sldId="4823"/>
        </pc:sldMkLst>
      </pc:sldChg>
      <pc:sldChg chg="addSp delSp modSp add mod modAnim modNotesTx">
        <pc:chgData name="Yuanhe Tian" userId="8b41a650fa060b16" providerId="LiveId" clId="{52615ACC-399A-3644-B117-AC2ECF9689DC}" dt="2025-03-19T01:40:18.410" v="2550" actId="20577"/>
        <pc:sldMkLst>
          <pc:docMk/>
          <pc:sldMk cId="3809211666" sldId="4823"/>
        </pc:sldMkLst>
      </pc:sldChg>
      <pc:sldChg chg="delSp add del mod">
        <pc:chgData name="Yuanhe Tian" userId="8b41a650fa060b16" providerId="LiveId" clId="{52615ACC-399A-3644-B117-AC2ECF9689DC}" dt="2025-03-19T01:39:48.920" v="2506" actId="2696"/>
        <pc:sldMkLst>
          <pc:docMk/>
          <pc:sldMk cId="3579631757" sldId="4824"/>
        </pc:sldMkLst>
      </pc:sldChg>
      <pc:sldChg chg="del">
        <pc:chgData name="Yuanhe Tian" userId="8b41a650fa060b16" providerId="LiveId" clId="{52615ACC-399A-3644-B117-AC2ECF9689DC}" dt="2025-03-06T22:17:54.706" v="41" actId="2696"/>
        <pc:sldMkLst>
          <pc:docMk/>
          <pc:sldMk cId="3799723328" sldId="4824"/>
        </pc:sldMkLst>
      </pc:sldChg>
      <pc:sldChg chg="add">
        <pc:chgData name="Yuanhe Tian" userId="8b41a650fa060b16" providerId="LiveId" clId="{52615ACC-399A-3644-B117-AC2ECF9689DC}" dt="2025-03-19T01:38:08.896" v="2490"/>
        <pc:sldMkLst>
          <pc:docMk/>
          <pc:sldMk cId="233406121" sldId="4825"/>
        </pc:sldMkLst>
      </pc:sldChg>
      <pc:sldChg chg="del">
        <pc:chgData name="Yuanhe Tian" userId="8b41a650fa060b16" providerId="LiveId" clId="{52615ACC-399A-3644-B117-AC2ECF9689DC}" dt="2025-03-06T22:17:54.868" v="45" actId="2696"/>
        <pc:sldMkLst>
          <pc:docMk/>
          <pc:sldMk cId="3899658584" sldId="4825"/>
        </pc:sldMkLst>
      </pc:sldChg>
      <pc:sldChg chg="del">
        <pc:chgData name="Yuanhe Tian" userId="8b41a650fa060b16" providerId="LiveId" clId="{52615ACC-399A-3644-B117-AC2ECF9689DC}" dt="2025-03-06T22:17:54.658" v="39" actId="2696"/>
        <pc:sldMkLst>
          <pc:docMk/>
          <pc:sldMk cId="3333258235" sldId="4826"/>
        </pc:sldMkLst>
      </pc:sldChg>
      <pc:sldChg chg="del">
        <pc:chgData name="Yuanhe Tian" userId="8b41a650fa060b16" providerId="LiveId" clId="{52615ACC-399A-3644-B117-AC2ECF9689DC}" dt="2025-03-06T22:17:54.627" v="38" actId="2696"/>
        <pc:sldMkLst>
          <pc:docMk/>
          <pc:sldMk cId="943996447" sldId="4827"/>
        </pc:sldMkLst>
      </pc:sldChg>
      <pc:sldChg chg="del">
        <pc:chgData name="Yuanhe Tian" userId="8b41a650fa060b16" providerId="LiveId" clId="{52615ACC-399A-3644-B117-AC2ECF9689DC}" dt="2025-03-06T22:17:54.930" v="57" actId="2696"/>
        <pc:sldMkLst>
          <pc:docMk/>
          <pc:sldMk cId="4075969437" sldId="4851"/>
        </pc:sldMkLst>
      </pc:sldChg>
      <pc:sldChg chg="del">
        <pc:chgData name="Yuanhe Tian" userId="8b41a650fa060b16" providerId="LiveId" clId="{52615ACC-399A-3644-B117-AC2ECF9689DC}" dt="2025-03-06T22:17:54.887" v="51" actId="2696"/>
        <pc:sldMkLst>
          <pc:docMk/>
          <pc:sldMk cId="10888101" sldId="4852"/>
        </pc:sldMkLst>
      </pc:sldChg>
      <pc:sldChg chg="del">
        <pc:chgData name="Yuanhe Tian" userId="8b41a650fa060b16" providerId="LiveId" clId="{52615ACC-399A-3644-B117-AC2ECF9689DC}" dt="2025-03-06T22:17:54.901" v="56" actId="2696"/>
        <pc:sldMkLst>
          <pc:docMk/>
          <pc:sldMk cId="3870643899" sldId="4853"/>
        </pc:sldMkLst>
      </pc:sldChg>
      <pc:sldChg chg="del">
        <pc:chgData name="Yuanhe Tian" userId="8b41a650fa060b16" providerId="LiveId" clId="{52615ACC-399A-3644-B117-AC2ECF9689DC}" dt="2025-03-06T22:17:55.017" v="64" actId="2696"/>
        <pc:sldMkLst>
          <pc:docMk/>
          <pc:sldMk cId="919159611" sldId="4854"/>
        </pc:sldMkLst>
      </pc:sldChg>
      <pc:sldChg chg="del">
        <pc:chgData name="Yuanhe Tian" userId="8b41a650fa060b16" providerId="LiveId" clId="{52615ACC-399A-3644-B117-AC2ECF9689DC}" dt="2025-03-06T22:17:54.877" v="48" actId="2696"/>
        <pc:sldMkLst>
          <pc:docMk/>
          <pc:sldMk cId="2404302332" sldId="4855"/>
        </pc:sldMkLst>
      </pc:sldChg>
      <pc:sldChg chg="del">
        <pc:chgData name="Yuanhe Tian" userId="8b41a650fa060b16" providerId="LiveId" clId="{52615ACC-399A-3644-B117-AC2ECF9689DC}" dt="2025-03-06T22:17:55.031" v="65" actId="2696"/>
        <pc:sldMkLst>
          <pc:docMk/>
          <pc:sldMk cId="2642273473" sldId="4856"/>
        </pc:sldMkLst>
      </pc:sldChg>
      <pc:sldChg chg="del">
        <pc:chgData name="Yuanhe Tian" userId="8b41a650fa060b16" providerId="LiveId" clId="{52615ACC-399A-3644-B117-AC2ECF9689DC}" dt="2025-03-06T22:17:54.880" v="49" actId="2696"/>
        <pc:sldMkLst>
          <pc:docMk/>
          <pc:sldMk cId="337944404" sldId="4857"/>
        </pc:sldMkLst>
      </pc:sldChg>
      <pc:sldChg chg="del">
        <pc:chgData name="Yuanhe Tian" userId="8b41a650fa060b16" providerId="LiveId" clId="{52615ACC-399A-3644-B117-AC2ECF9689DC}" dt="2025-03-06T22:17:55.069" v="70" actId="2696"/>
        <pc:sldMkLst>
          <pc:docMk/>
          <pc:sldMk cId="986681526" sldId="4858"/>
        </pc:sldMkLst>
      </pc:sldChg>
      <pc:sldChg chg="del">
        <pc:chgData name="Yuanhe Tian" userId="8b41a650fa060b16" providerId="LiveId" clId="{52615ACC-399A-3644-B117-AC2ECF9689DC}" dt="2025-03-06T22:17:54.871" v="46" actId="2696"/>
        <pc:sldMkLst>
          <pc:docMk/>
          <pc:sldMk cId="1341732703" sldId="4859"/>
        </pc:sldMkLst>
      </pc:sldChg>
      <pc:sldChg chg="del">
        <pc:chgData name="Yuanhe Tian" userId="8b41a650fa060b16" providerId="LiveId" clId="{52615ACC-399A-3644-B117-AC2ECF9689DC}" dt="2025-03-06T22:17:55.035" v="67" actId="2696"/>
        <pc:sldMkLst>
          <pc:docMk/>
          <pc:sldMk cId="2501277480" sldId="4860"/>
        </pc:sldMkLst>
      </pc:sldChg>
      <pc:sldChg chg="del">
        <pc:chgData name="Yuanhe Tian" userId="8b41a650fa060b16" providerId="LiveId" clId="{52615ACC-399A-3644-B117-AC2ECF9689DC}" dt="2025-03-06T22:17:55.033" v="66" actId="2696"/>
        <pc:sldMkLst>
          <pc:docMk/>
          <pc:sldMk cId="3112187046" sldId="4861"/>
        </pc:sldMkLst>
      </pc:sldChg>
      <pc:sldChg chg="del">
        <pc:chgData name="Yuanhe Tian" userId="8b41a650fa060b16" providerId="LiveId" clId="{52615ACC-399A-3644-B117-AC2ECF9689DC}" dt="2025-03-06T22:17:54.935" v="59" actId="2696"/>
        <pc:sldMkLst>
          <pc:docMk/>
          <pc:sldMk cId="1134270991" sldId="4863"/>
        </pc:sldMkLst>
      </pc:sldChg>
      <pc:sldChg chg="del">
        <pc:chgData name="Yuanhe Tian" userId="8b41a650fa060b16" providerId="LiveId" clId="{52615ACC-399A-3644-B117-AC2ECF9689DC}" dt="2025-03-06T22:17:54.997" v="62" actId="2696"/>
        <pc:sldMkLst>
          <pc:docMk/>
          <pc:sldMk cId="1542330002" sldId="4864"/>
        </pc:sldMkLst>
      </pc:sldChg>
      <pc:sldChg chg="del">
        <pc:chgData name="Yuanhe Tian" userId="8b41a650fa060b16" providerId="LiveId" clId="{52615ACC-399A-3644-B117-AC2ECF9689DC}" dt="2025-03-06T22:17:55.054" v="69" actId="2696"/>
        <pc:sldMkLst>
          <pc:docMk/>
          <pc:sldMk cId="3813555596" sldId="4865"/>
        </pc:sldMkLst>
      </pc:sldChg>
      <pc:sldChg chg="del">
        <pc:chgData name="Yuanhe Tian" userId="8b41a650fa060b16" providerId="LiveId" clId="{52615ACC-399A-3644-B117-AC2ECF9689DC}" dt="2025-03-06T22:17:54.874" v="47" actId="2696"/>
        <pc:sldMkLst>
          <pc:docMk/>
          <pc:sldMk cId="2698340795" sldId="4866"/>
        </pc:sldMkLst>
      </pc:sldChg>
      <pc:sldChg chg="del">
        <pc:chgData name="Yuanhe Tian" userId="8b41a650fa060b16" providerId="LiveId" clId="{52615ACC-399A-3644-B117-AC2ECF9689DC}" dt="2025-03-06T22:17:55.079" v="71" actId="2696"/>
        <pc:sldMkLst>
          <pc:docMk/>
          <pc:sldMk cId="3788105292" sldId="4867"/>
        </pc:sldMkLst>
      </pc:sldChg>
      <pc:sldChg chg="del">
        <pc:chgData name="Yuanhe Tian" userId="8b41a650fa060b16" providerId="LiveId" clId="{52615ACC-399A-3644-B117-AC2ECF9689DC}" dt="2025-03-06T22:17:54.890" v="52" actId="2696"/>
        <pc:sldMkLst>
          <pc:docMk/>
          <pc:sldMk cId="556544249" sldId="4869"/>
        </pc:sldMkLst>
      </pc:sldChg>
      <pc:sldChg chg="del">
        <pc:chgData name="Yuanhe Tian" userId="8b41a650fa060b16" providerId="LiveId" clId="{52615ACC-399A-3644-B117-AC2ECF9689DC}" dt="2025-03-06T22:17:54.898" v="55" actId="2696"/>
        <pc:sldMkLst>
          <pc:docMk/>
          <pc:sldMk cId="409641616" sldId="4870"/>
        </pc:sldMkLst>
      </pc:sldChg>
      <pc:sldChg chg="del">
        <pc:chgData name="Yuanhe Tian" userId="8b41a650fa060b16" providerId="LiveId" clId="{52615ACC-399A-3644-B117-AC2ECF9689DC}" dt="2025-03-06T22:17:55.037" v="68" actId="2696"/>
        <pc:sldMkLst>
          <pc:docMk/>
          <pc:sldMk cId="383241533" sldId="4871"/>
        </pc:sldMkLst>
      </pc:sldChg>
      <pc:sldChg chg="del">
        <pc:chgData name="Yuanhe Tian" userId="8b41a650fa060b16" providerId="LiveId" clId="{52615ACC-399A-3644-B117-AC2ECF9689DC}" dt="2025-03-06T22:17:54.932" v="58" actId="2696"/>
        <pc:sldMkLst>
          <pc:docMk/>
          <pc:sldMk cId="2899060641" sldId="4872"/>
        </pc:sldMkLst>
      </pc:sldChg>
      <pc:sldChg chg="del">
        <pc:chgData name="Yuanhe Tian" userId="8b41a650fa060b16" providerId="LiveId" clId="{52615ACC-399A-3644-B117-AC2ECF9689DC}" dt="2025-03-06T22:17:54.660" v="40" actId="2696"/>
        <pc:sldMkLst>
          <pc:docMk/>
          <pc:sldMk cId="614960982" sldId="4874"/>
        </pc:sldMkLst>
      </pc:sldChg>
      <pc:sldChg chg="del">
        <pc:chgData name="Yuanhe Tian" userId="8b41a650fa060b16" providerId="LiveId" clId="{52615ACC-399A-3644-B117-AC2ECF9689DC}" dt="2025-03-06T22:17:54.836" v="43" actId="2696"/>
        <pc:sldMkLst>
          <pc:docMk/>
          <pc:sldMk cId="2804227079" sldId="4875"/>
        </pc:sldMkLst>
      </pc:sldChg>
      <pc:sldChg chg="del">
        <pc:chgData name="Yuanhe Tian" userId="8b41a650fa060b16" providerId="LiveId" clId="{52615ACC-399A-3644-B117-AC2ECF9689DC}" dt="2025-03-06T22:17:55" v="63" actId="2696"/>
        <pc:sldMkLst>
          <pc:docMk/>
          <pc:sldMk cId="1524948826" sldId="4876"/>
        </pc:sldMkLst>
      </pc:sldChg>
      <pc:sldChg chg="del">
        <pc:chgData name="Yuanhe Tian" userId="8b41a650fa060b16" providerId="LiveId" clId="{52615ACC-399A-3644-B117-AC2ECF9689DC}" dt="2025-03-06T22:17:54.883" v="50" actId="2696"/>
        <pc:sldMkLst>
          <pc:docMk/>
          <pc:sldMk cId="2822536817" sldId="4877"/>
        </pc:sldMkLst>
      </pc:sldChg>
      <pc:sldChg chg="del">
        <pc:chgData name="Yuanhe Tian" userId="8b41a650fa060b16" providerId="LiveId" clId="{52615ACC-399A-3644-B117-AC2ECF9689DC}" dt="2025-03-06T22:17:54.896" v="54" actId="2696"/>
        <pc:sldMkLst>
          <pc:docMk/>
          <pc:sldMk cId="3421517383" sldId="4878"/>
        </pc:sldMkLst>
      </pc:sldChg>
      <pc:sldChg chg="del">
        <pc:chgData name="Yuanhe Tian" userId="8b41a650fa060b16" providerId="LiveId" clId="{52615ACC-399A-3644-B117-AC2ECF9689DC}" dt="2025-03-06T22:17:54.893" v="53" actId="2696"/>
        <pc:sldMkLst>
          <pc:docMk/>
          <pc:sldMk cId="2519125438" sldId="4879"/>
        </pc:sldMkLst>
      </pc:sldChg>
      <pc:sldChg chg="del">
        <pc:chgData name="Yuanhe Tian" userId="8b41a650fa060b16" providerId="LiveId" clId="{52615ACC-399A-3644-B117-AC2ECF9689DC}" dt="2025-03-06T22:17:54.995" v="61" actId="2696"/>
        <pc:sldMkLst>
          <pc:docMk/>
          <pc:sldMk cId="3430670187" sldId="4880"/>
        </pc:sldMkLst>
      </pc:sldChg>
      <pc:sldMasterChg chg="addSp delSp modSp mod modSldLayout">
        <pc:chgData name="Yuanhe Tian" userId="8b41a650fa060b16" providerId="LiveId" clId="{52615ACC-399A-3644-B117-AC2ECF9689DC}" dt="2025-03-11T22:09:02.378" v="310" actId="14100"/>
        <pc:sldMasterMkLst>
          <pc:docMk/>
          <pc:sldMasterMk cId="510254306" sldId="2147483660"/>
        </pc:sldMasterMkLst>
        <pc:sldLayoutChg chg="addSp delSp modSp mod">
          <pc:chgData name="Yuanhe Tian" userId="8b41a650fa060b16" providerId="LiveId" clId="{52615ACC-399A-3644-B117-AC2ECF9689DC}" dt="2025-03-11T22:09:02.378" v="310" actId="14100"/>
          <pc:sldLayoutMkLst>
            <pc:docMk/>
            <pc:sldMasterMk cId="510254306" sldId="2147483660"/>
            <pc:sldLayoutMk cId="2326375035" sldId="2147483662"/>
          </pc:sldLayoutMkLst>
        </pc:sldLayoutChg>
      </pc:sldMasterChg>
    </pc:docChg>
  </pc:docChgLst>
  <pc:docChgLst>
    <pc:chgData name="Song Yan" userId="249dba0d8c17ade5" providerId="LiveId" clId="{A1659C59-BBB5-4117-B9AB-5A334447B44A}"/>
    <pc:docChg chg="modSld">
      <pc:chgData name="Song Yan" userId="249dba0d8c17ade5" providerId="LiveId" clId="{A1659C59-BBB5-4117-B9AB-5A334447B44A}" dt="2025-04-28T09:33:23.466" v="112" actId="1035"/>
      <pc:docMkLst>
        <pc:docMk/>
      </pc:docMkLst>
      <pc:sldChg chg="modSp">
        <pc:chgData name="Song Yan" userId="249dba0d8c17ade5" providerId="LiveId" clId="{A1659C59-BBB5-4117-B9AB-5A334447B44A}" dt="2025-04-27T11:37:32.660" v="93" actId="113"/>
        <pc:sldMkLst>
          <pc:docMk/>
          <pc:sldMk cId="1191456006" sldId="468"/>
        </pc:sldMkLst>
        <pc:spChg chg="mod">
          <ac:chgData name="Song Yan" userId="249dba0d8c17ade5" providerId="LiveId" clId="{A1659C59-BBB5-4117-B9AB-5A334447B44A}" dt="2025-04-27T11:37:32.660" v="93" actId="113"/>
          <ac:spMkLst>
            <pc:docMk/>
            <pc:sldMk cId="1191456006" sldId="468"/>
            <ac:spMk id="5" creationId="{266E66B9-D0DE-0B5F-9CE7-EC347FEB5165}"/>
          </ac:spMkLst>
        </pc:spChg>
      </pc:sldChg>
      <pc:sldChg chg="modSp mod">
        <pc:chgData name="Song Yan" userId="249dba0d8c17ade5" providerId="LiveId" clId="{A1659C59-BBB5-4117-B9AB-5A334447B44A}" dt="2025-04-28T07:43:06.674" v="109" actId="20577"/>
        <pc:sldMkLst>
          <pc:docMk/>
          <pc:sldMk cId="0" sldId="4753"/>
        </pc:sldMkLst>
        <pc:spChg chg="mod">
          <ac:chgData name="Song Yan" userId="249dba0d8c17ade5" providerId="LiveId" clId="{A1659C59-BBB5-4117-B9AB-5A334447B44A}" dt="2025-04-28T07:43:06.674" v="109" actId="20577"/>
          <ac:spMkLst>
            <pc:docMk/>
            <pc:sldMk cId="0" sldId="4753"/>
            <ac:spMk id="6" creationId="{00000000-0000-0000-0000-000000000000}"/>
          </ac:spMkLst>
        </pc:spChg>
      </pc:sldChg>
      <pc:sldChg chg="modSp mod">
        <pc:chgData name="Song Yan" userId="249dba0d8c17ade5" providerId="LiveId" clId="{A1659C59-BBB5-4117-B9AB-5A334447B44A}" dt="2025-04-20T11:24:32.257" v="80"/>
        <pc:sldMkLst>
          <pc:docMk/>
          <pc:sldMk cId="2339484869" sldId="4807"/>
        </pc:sldMkLst>
        <pc:spChg chg="mod">
          <ac:chgData name="Song Yan" userId="249dba0d8c17ade5" providerId="LiveId" clId="{A1659C59-BBB5-4117-B9AB-5A334447B44A}" dt="2025-04-20T11:24:32.257" v="80"/>
          <ac:spMkLst>
            <pc:docMk/>
            <pc:sldMk cId="2339484869" sldId="4807"/>
            <ac:spMk id="25" creationId="{04E949A3-FB52-9A1F-64E1-13D1B6CE6051}"/>
          </ac:spMkLst>
        </pc:spChg>
      </pc:sldChg>
      <pc:sldChg chg="modSp mod">
        <pc:chgData name="Song Yan" userId="249dba0d8c17ade5" providerId="LiveId" clId="{A1659C59-BBB5-4117-B9AB-5A334447B44A}" dt="2025-04-27T11:38:20.750" v="98" actId="20577"/>
        <pc:sldMkLst>
          <pc:docMk/>
          <pc:sldMk cId="3480557425" sldId="4808"/>
        </pc:sldMkLst>
        <pc:spChg chg="mod">
          <ac:chgData name="Song Yan" userId="249dba0d8c17ade5" providerId="LiveId" clId="{A1659C59-BBB5-4117-B9AB-5A334447B44A}" dt="2025-04-27T11:38:20.750" v="98" actId="20577"/>
          <ac:spMkLst>
            <pc:docMk/>
            <pc:sldMk cId="3480557425" sldId="4808"/>
            <ac:spMk id="3" creationId="{0F343D02-4C58-7CAF-B1B5-0748566C0469}"/>
          </ac:spMkLst>
        </pc:spChg>
      </pc:sldChg>
      <pc:sldChg chg="modSp mod">
        <pc:chgData name="Song Yan" userId="249dba0d8c17ade5" providerId="LiveId" clId="{A1659C59-BBB5-4117-B9AB-5A334447B44A}" dt="2025-04-27T11:38:29.489" v="103"/>
        <pc:sldMkLst>
          <pc:docMk/>
          <pc:sldMk cId="2521223806" sldId="4809"/>
        </pc:sldMkLst>
        <pc:spChg chg="mod">
          <ac:chgData name="Song Yan" userId="249dba0d8c17ade5" providerId="LiveId" clId="{A1659C59-BBB5-4117-B9AB-5A334447B44A}" dt="2025-04-27T11:38:29.489" v="103"/>
          <ac:spMkLst>
            <pc:docMk/>
            <pc:sldMk cId="2521223806" sldId="4809"/>
            <ac:spMk id="3" creationId="{0F343D02-4C58-7CAF-B1B5-0748566C0469}"/>
          </ac:spMkLst>
        </pc:spChg>
      </pc:sldChg>
      <pc:sldChg chg="modSp mod">
        <pc:chgData name="Song Yan" userId="249dba0d8c17ade5" providerId="LiveId" clId="{A1659C59-BBB5-4117-B9AB-5A334447B44A}" dt="2025-04-28T09:33:23.466" v="112" actId="1035"/>
        <pc:sldMkLst>
          <pc:docMk/>
          <pc:sldMk cId="3501328769" sldId="4811"/>
        </pc:sldMkLst>
        <pc:spChg chg="mod">
          <ac:chgData name="Song Yan" userId="249dba0d8c17ade5" providerId="LiveId" clId="{A1659C59-BBB5-4117-B9AB-5A334447B44A}" dt="2025-04-28T09:33:23.466" v="112" actId="1035"/>
          <ac:spMkLst>
            <pc:docMk/>
            <pc:sldMk cId="3501328769" sldId="4811"/>
            <ac:spMk id="3" creationId="{5DF38B76-B9DA-44A9-9E74-2512B2747605}"/>
          </ac:spMkLst>
        </pc:spChg>
      </pc:sldChg>
      <pc:sldChg chg="modSp">
        <pc:chgData name="Song Yan" userId="249dba0d8c17ade5" providerId="LiveId" clId="{A1659C59-BBB5-4117-B9AB-5A334447B44A}" dt="2025-04-27T11:36:11.289" v="92"/>
        <pc:sldMkLst>
          <pc:docMk/>
          <pc:sldMk cId="3038149392" sldId="4826"/>
        </pc:sldMkLst>
        <pc:spChg chg="mod">
          <ac:chgData name="Song Yan" userId="249dba0d8c17ade5" providerId="LiveId" clId="{A1659C59-BBB5-4117-B9AB-5A334447B44A}" dt="2025-04-27T11:36:11.289" v="92"/>
          <ac:spMkLst>
            <pc:docMk/>
            <pc:sldMk cId="3038149392" sldId="4826"/>
            <ac:spMk id="4" creationId="{DEF49564-9255-8B31-7260-222B9BF79AA1}"/>
          </ac:spMkLst>
        </pc:spChg>
      </pc:sldChg>
    </pc:docChg>
  </pc:docChgLst>
  <pc:docChgLst>
    <pc:chgData name="Tian Yuanhe" userId="8b41a650fa060b16" providerId="Windows Live" clId="Web-{AADCC0A5-0D0A-4754-9EE8-F3010540C7BA}"/>
    <pc:docChg chg="modSld">
      <pc:chgData name="Tian Yuanhe" userId="8b41a650fa060b16" providerId="Windows Live" clId="Web-{AADCC0A5-0D0A-4754-9EE8-F3010540C7BA}" dt="2025-04-10T08:20:56.567" v="62" actId="1076"/>
      <pc:docMkLst>
        <pc:docMk/>
      </pc:docMkLst>
      <pc:sldChg chg="addSp delSp modSp">
        <pc:chgData name="Tian Yuanhe" userId="8b41a650fa060b16" providerId="Windows Live" clId="Web-{AADCC0A5-0D0A-4754-9EE8-F3010540C7BA}" dt="2025-04-10T08:20:29.645" v="53" actId="20577"/>
        <pc:sldMkLst>
          <pc:docMk/>
          <pc:sldMk cId="0" sldId="277"/>
        </pc:sldMkLst>
        <pc:spChg chg="mod">
          <ac:chgData name="Tian Yuanhe" userId="8b41a650fa060b16" providerId="Windows Live" clId="Web-{AADCC0A5-0D0A-4754-9EE8-F3010540C7BA}" dt="2025-04-10T08:20:29.645" v="53" actId="20577"/>
          <ac:spMkLst>
            <pc:docMk/>
            <pc:sldMk cId="0" sldId="277"/>
            <ac:spMk id="14" creationId="{7B4E2804-9EFF-F748-C38D-7F6945981DFD}"/>
          </ac:spMkLst>
        </pc:spChg>
      </pc:sldChg>
      <pc:sldChg chg="addSp delSp modSp">
        <pc:chgData name="Tian Yuanhe" userId="8b41a650fa060b16" providerId="Windows Live" clId="Web-{AADCC0A5-0D0A-4754-9EE8-F3010540C7BA}" dt="2025-04-10T08:20:56.567" v="62" actId="1076"/>
        <pc:sldMkLst>
          <pc:docMk/>
          <pc:sldMk cId="283651325" sldId="457"/>
        </pc:sldMkLst>
      </pc:sldChg>
    </pc:docChg>
  </pc:docChgLst>
  <pc:docChgLst>
    <pc:chgData name="Tian Yuanhe" userId="8b41a650fa060b16" providerId="Windows Live" clId="Web-{005F4B08-5360-4847-A5CE-5FE77B668DE2}"/>
    <pc:docChg chg="delSld modSld">
      <pc:chgData name="Tian Yuanhe" userId="8b41a650fa060b16" providerId="Windows Live" clId="Web-{005F4B08-5360-4847-A5CE-5FE77B668DE2}" dt="2025-04-17T07:11:23.486" v="141" actId="20577"/>
      <pc:docMkLst>
        <pc:docMk/>
      </pc:docMkLst>
      <pc:sldChg chg="addSp delSp modSp">
        <pc:chgData name="Tian Yuanhe" userId="8b41a650fa060b16" providerId="Windows Live" clId="Web-{005F4B08-5360-4847-A5CE-5FE77B668DE2}" dt="2025-04-17T07:07:51.107" v="98" actId="1076"/>
        <pc:sldMkLst>
          <pc:docMk/>
          <pc:sldMk cId="0" sldId="268"/>
        </pc:sldMkLst>
      </pc:sldChg>
      <pc:sldChg chg="addSp delSp">
        <pc:chgData name="Tian Yuanhe" userId="8b41a650fa060b16" providerId="Windows Live" clId="Web-{005F4B08-5360-4847-A5CE-5FE77B668DE2}" dt="2025-04-17T07:07:58.716" v="107"/>
        <pc:sldMkLst>
          <pc:docMk/>
          <pc:sldMk cId="0" sldId="269"/>
        </pc:sldMkLst>
      </pc:sldChg>
      <pc:sldChg chg="addSp delSp modSp">
        <pc:chgData name="Tian Yuanhe" userId="8b41a650fa060b16" providerId="Windows Live" clId="Web-{005F4B08-5360-4847-A5CE-5FE77B668DE2}" dt="2025-04-17T07:11:23.486" v="141" actId="20577"/>
        <pc:sldMkLst>
          <pc:docMk/>
          <pc:sldMk cId="0" sldId="270"/>
        </pc:sldMkLst>
        <pc:spChg chg="mod">
          <ac:chgData name="Tian Yuanhe" userId="8b41a650fa060b16" providerId="Windows Live" clId="Web-{005F4B08-5360-4847-A5CE-5FE77B668DE2}" dt="2025-04-17T07:08:53.358" v="132" actId="1076"/>
          <ac:spMkLst>
            <pc:docMk/>
            <pc:sldMk cId="0" sldId="270"/>
            <ac:spMk id="151" creationId="{132989BF-62AD-E46E-D95B-CD497E99270F}"/>
          </ac:spMkLst>
        </pc:spChg>
        <pc:spChg chg="mod">
          <ac:chgData name="Tian Yuanhe" userId="8b41a650fa060b16" providerId="Windows Live" clId="Web-{005F4B08-5360-4847-A5CE-5FE77B668DE2}" dt="2025-04-17T07:08:53.452" v="133" actId="1076"/>
          <ac:spMkLst>
            <pc:docMk/>
            <pc:sldMk cId="0" sldId="270"/>
            <ac:spMk id="154" creationId="{CB934297-FA7E-BF71-E2EB-97B35079BCD5}"/>
          </ac:spMkLst>
        </pc:spChg>
        <pc:spChg chg="mod">
          <ac:chgData name="Tian Yuanhe" userId="8b41a650fa060b16" providerId="Windows Live" clId="Web-{005F4B08-5360-4847-A5CE-5FE77B668DE2}" dt="2025-04-17T07:08:53.530" v="134" actId="1076"/>
          <ac:spMkLst>
            <pc:docMk/>
            <pc:sldMk cId="0" sldId="270"/>
            <ac:spMk id="155" creationId="{846B0E0D-355D-E4FD-062C-E6F3443B19FE}"/>
          </ac:spMkLst>
        </pc:spChg>
      </pc:sldChg>
      <pc:sldChg chg="modSp">
        <pc:chgData name="Tian Yuanhe" userId="8b41a650fa060b16" providerId="Windows Live" clId="Web-{005F4B08-5360-4847-A5CE-5FE77B668DE2}" dt="2025-04-17T07:07:30.044" v="85"/>
        <pc:sldMkLst>
          <pc:docMk/>
          <pc:sldMk cId="2311667944" sldId="454"/>
        </pc:sldMkLst>
      </pc:sldChg>
      <pc:sldChg chg="addSp delSp modSp">
        <pc:chgData name="Tian Yuanhe" userId="8b41a650fa060b16" providerId="Windows Live" clId="Web-{005F4B08-5360-4847-A5CE-5FE77B668DE2}" dt="2025-04-17T07:11:18.268" v="140" actId="1076"/>
        <pc:sldMkLst>
          <pc:docMk/>
          <pc:sldMk cId="3748088103" sldId="455"/>
        </pc:sldMkLst>
      </pc:sldChg>
      <pc:sldChg chg="delSp">
        <pc:chgData name="Tian Yuanhe" userId="8b41a650fa060b16" providerId="Windows Live" clId="Web-{005F4B08-5360-4847-A5CE-5FE77B668DE2}" dt="2025-04-17T06:37:57.894" v="0"/>
        <pc:sldMkLst>
          <pc:docMk/>
          <pc:sldMk cId="175244235" sldId="1931"/>
        </pc:sldMkLst>
      </pc:sldChg>
      <pc:sldChg chg="del">
        <pc:chgData name="Tian Yuanhe" userId="8b41a650fa060b16" providerId="Windows Live" clId="Web-{005F4B08-5360-4847-A5CE-5FE77B668DE2}" dt="2025-04-17T06:42:08.701" v="64"/>
        <pc:sldMkLst>
          <pc:docMk/>
          <pc:sldMk cId="2364649507" sldId="4810"/>
        </pc:sldMkLst>
      </pc:sldChg>
      <pc:sldChg chg="delSp modSp">
        <pc:chgData name="Tian Yuanhe" userId="8b41a650fa060b16" providerId="Windows Live" clId="Web-{005F4B08-5360-4847-A5CE-5FE77B668DE2}" dt="2025-04-17T07:05:05.088" v="65"/>
        <pc:sldMkLst>
          <pc:docMk/>
          <pc:sldMk cId="2254553362" sldId="4821"/>
        </pc:sldMkLst>
      </pc:sldChg>
      <pc:sldChg chg="addSp delSp modSp">
        <pc:chgData name="Tian Yuanhe" userId="8b41a650fa060b16" providerId="Windows Live" clId="Web-{005F4B08-5360-4847-A5CE-5FE77B668DE2}" dt="2025-04-17T07:07:01.653" v="79" actId="1076"/>
        <pc:sldMkLst>
          <pc:docMk/>
          <pc:sldMk cId="3809211666" sldId="4823"/>
        </pc:sldMkLst>
        <pc:spChg chg="mod">
          <ac:chgData name="Tian Yuanhe" userId="8b41a650fa060b16" providerId="Windows Live" clId="Web-{005F4B08-5360-4847-A5CE-5FE77B668DE2}" dt="2025-04-17T07:05:22.213" v="67" actId="1076"/>
          <ac:spMkLst>
            <pc:docMk/>
            <pc:sldMk cId="3809211666" sldId="4823"/>
            <ac:spMk id="21" creationId="{BDCAE355-0B59-222B-F2F4-DA5040C22D41}"/>
          </ac:spMkLst>
        </pc:spChg>
        <pc:spChg chg="mod">
          <ac:chgData name="Tian Yuanhe" userId="8b41a650fa060b16" providerId="Windows Live" clId="Web-{005F4B08-5360-4847-A5CE-5FE77B668DE2}" dt="2025-04-17T07:07:01.637" v="78" actId="1076"/>
          <ac:spMkLst>
            <pc:docMk/>
            <pc:sldMk cId="3809211666" sldId="4823"/>
            <ac:spMk id="27" creationId="{D73BBAFD-E33D-DA89-D6F6-D53048A7FBFC}"/>
          </ac:spMkLst>
        </pc:spChg>
        <pc:spChg chg="mod">
          <ac:chgData name="Tian Yuanhe" userId="8b41a650fa060b16" providerId="Windows Live" clId="Web-{005F4B08-5360-4847-A5CE-5FE77B668DE2}" dt="2025-04-17T07:07:01.653" v="79" actId="1076"/>
          <ac:spMkLst>
            <pc:docMk/>
            <pc:sldMk cId="3809211666" sldId="4823"/>
            <ac:spMk id="28" creationId="{BEEBBCDE-0BEE-EA00-90A0-B5334AC99867}"/>
          </ac:spMkLst>
        </pc:spChg>
        <pc:picChg chg="mod">
          <ac:chgData name="Tian Yuanhe" userId="8b41a650fa060b16" providerId="Windows Live" clId="Web-{005F4B08-5360-4847-A5CE-5FE77B668DE2}" dt="2025-04-17T07:05:22.182" v="66" actId="1076"/>
          <ac:picMkLst>
            <pc:docMk/>
            <pc:sldMk cId="3809211666" sldId="4823"/>
            <ac:picMk id="19" creationId="{0E5D4862-56F6-4D67-1F50-FCEAFED0915F}"/>
          </ac:picMkLst>
        </pc:picChg>
        <pc:picChg chg="mod">
          <ac:chgData name="Tian Yuanhe" userId="8b41a650fa060b16" providerId="Windows Live" clId="Web-{005F4B08-5360-4847-A5CE-5FE77B668DE2}" dt="2025-04-17T07:05:25.995" v="68" actId="1076"/>
          <ac:picMkLst>
            <pc:docMk/>
            <pc:sldMk cId="3809211666" sldId="4823"/>
            <ac:picMk id="20" creationId="{AEC748F1-F981-654E-FB5F-48F7AE1B54BE}"/>
          </ac:picMkLst>
        </pc:picChg>
      </pc:sldChg>
      <pc:sldChg chg="addSp modSp">
        <pc:chgData name="Tian Yuanhe" userId="8b41a650fa060b16" providerId="Windows Live" clId="Web-{005F4B08-5360-4847-A5CE-5FE77B668DE2}" dt="2025-04-17T06:41:31.293" v="63" actId="1076"/>
        <pc:sldMkLst>
          <pc:docMk/>
          <pc:sldMk cId="233406121" sldId="4825"/>
        </pc:sldMkLst>
        <pc:spChg chg="add mod">
          <ac:chgData name="Tian Yuanhe" userId="8b41a650fa060b16" providerId="Windows Live" clId="Web-{005F4B08-5360-4847-A5CE-5FE77B668DE2}" dt="2025-04-17T06:41:31.293" v="63" actId="1076"/>
          <ac:spMkLst>
            <pc:docMk/>
            <pc:sldMk cId="233406121" sldId="4825"/>
            <ac:spMk id="14" creationId="{C117012C-3B56-24D9-92C8-2F22ABECC12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9EC146-7103-4549-868D-FD3600C3A425}" type="datetimeFigureOut">
              <a:rPr lang="zh-CN" altLang="en-US" smtClean="0"/>
              <a:t>2026/10/12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76AA05-AB2B-4215-978B-A09B2D34874E}" type="slidenum">
              <a:rPr lang="zh-CN" altLang="en-US" smtClean="0"/>
              <a:t>‹#›</a:t>
            </a:fld>
            <a:endParaRPr lang="zh-CN" altLang="en-US"/>
          </a:p>
        </p:txBody>
      </p:sp>
    </p:spTree>
    <p:extLst>
      <p:ext uri="{BB962C8B-B14F-4D97-AF65-F5344CB8AC3E}">
        <p14:creationId xmlns:p14="http://schemas.microsoft.com/office/powerpoint/2010/main" val="27125196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82B69B-4CDB-45EF-AF2E-DEBF6EE82A6D}" type="slidenum">
              <a:rPr kumimoji="0" lang="en-US" sz="1200" b="0" i="0" u="none" strike="noStrike" kern="1200" cap="none" spc="0" normalizeH="0" baseline="0" noProof="0" smtClean="0">
                <a:ln>
                  <a:noFill/>
                </a:ln>
                <a:solidFill>
                  <a:prstClr val="black"/>
                </a:solidFill>
                <a:effectLst/>
                <a:uLnTx/>
                <a:uFillTx/>
                <a:latin typeface="等线"/>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等线"/>
              <a:ea typeface="+mn-ea"/>
              <a:cs typeface="+mn-cs"/>
            </a:endParaRPr>
          </a:p>
        </p:txBody>
      </p:sp>
    </p:spTree>
    <p:extLst>
      <p:ext uri="{BB962C8B-B14F-4D97-AF65-F5344CB8AC3E}">
        <p14:creationId xmlns:p14="http://schemas.microsoft.com/office/powerpoint/2010/main" val="18144924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本课程重点是 “自注意力”</a:t>
            </a:r>
          </a:p>
        </p:txBody>
      </p:sp>
      <p:sp>
        <p:nvSpPr>
          <p:cNvPr id="4" name="灯片编号占位符 3"/>
          <p:cNvSpPr>
            <a:spLocks noGrp="1"/>
          </p:cNvSpPr>
          <p:nvPr>
            <p:ph type="sldNum" sz="quarter" idx="5"/>
          </p:nvPr>
        </p:nvSpPr>
        <p:spPr/>
        <p:txBody>
          <a:bodyPr/>
          <a:lstStyle/>
          <a:p>
            <a:fld id="{2B735503-9D21-443F-BC18-5459550EB72F}" type="slidenum">
              <a:rPr lang="zh-CN" altLang="en-US" smtClean="0"/>
              <a:t>2</a:t>
            </a:fld>
            <a:endParaRPr lang="zh-CN" altLang="en-US"/>
          </a:p>
        </p:txBody>
      </p:sp>
    </p:spTree>
    <p:extLst>
      <p:ext uri="{BB962C8B-B14F-4D97-AF65-F5344CB8AC3E}">
        <p14:creationId xmlns:p14="http://schemas.microsoft.com/office/powerpoint/2010/main" val="39190076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EA33E-0A7D-CD0D-1FA3-61483AE7F55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C1798A1-6764-D95B-35D8-71195EDF378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1B07937-A293-FF97-A231-3CCEDB16A6FC}"/>
              </a:ext>
            </a:extLst>
          </p:cNvPr>
          <p:cNvSpPr>
            <a:spLocks noGrp="1"/>
          </p:cNvSpPr>
          <p:nvPr>
            <p:ph type="body" idx="1"/>
          </p:nvPr>
        </p:nvSpPr>
        <p:spPr/>
        <p:txBody>
          <a:bodyPr/>
          <a:lstStyle/>
          <a:p>
            <a:r>
              <a:rPr lang="en-US" err="1"/>
              <a:t>语言本质的特点</a:t>
            </a:r>
            <a:r>
              <a:rPr lang="zh-CN" altLang="en-US"/>
              <a:t>（词在时间序列上展开）导致我们可以用</a:t>
            </a:r>
            <a:r>
              <a:rPr lang="en-US" altLang="zh-CN"/>
              <a:t>RNN</a:t>
            </a:r>
          </a:p>
          <a:p>
            <a:endParaRPr lang="en-US"/>
          </a:p>
          <a:p>
            <a:r>
              <a:rPr lang="en-US" err="1"/>
              <a:t>与NLM相比</a:t>
            </a:r>
            <a:r>
              <a:rPr lang="zh-CN" altLang="en-US"/>
              <a:t>，</a:t>
            </a:r>
            <a:r>
              <a:rPr lang="en-US" altLang="zh-CN"/>
              <a:t>RNN</a:t>
            </a:r>
            <a:r>
              <a:rPr lang="zh-CN" altLang="en-US"/>
              <a:t>可以</a:t>
            </a:r>
            <a:r>
              <a:rPr lang="en-US" altLang="zh-CN"/>
              <a:t>technically</a:t>
            </a:r>
            <a:r>
              <a:rPr lang="zh-CN" altLang="en-US"/>
              <a:t>让现在的词受到之前更多词信息的影响，而不再受限于</a:t>
            </a:r>
            <a:r>
              <a:rPr lang="en-US" altLang="zh-CN"/>
              <a:t>NLM</a:t>
            </a:r>
            <a:r>
              <a:rPr lang="zh-CN" altLang="en-US"/>
              <a:t>中固定的</a:t>
            </a:r>
            <a:r>
              <a:rPr lang="en-US" altLang="zh-CN"/>
              <a:t>window</a:t>
            </a:r>
            <a:r>
              <a:rPr lang="zh-CN" altLang="en-US"/>
              <a:t>长度</a:t>
            </a:r>
            <a:endParaRPr lang="en-US"/>
          </a:p>
          <a:p>
            <a:endParaRPr lang="zh-CN" altLang="en-US" b="0"/>
          </a:p>
        </p:txBody>
      </p:sp>
      <p:sp>
        <p:nvSpPr>
          <p:cNvPr id="4" name="灯片编号占位符 3">
            <a:extLst>
              <a:ext uri="{FF2B5EF4-FFF2-40B4-BE49-F238E27FC236}">
                <a16:creationId xmlns:a16="http://schemas.microsoft.com/office/drawing/2014/main" id="{481BBF8C-BCF2-34FE-642F-CC3904BA2F3E}"/>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49EC6D-DB1F-44A4-BAF7-4CD4248B20AA}"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9379611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RNN</a:t>
            </a:r>
            <a:r>
              <a:rPr lang="zh-CN" altLang="en-US"/>
              <a:t> 的基本单元如图所示，其核心 </a:t>
            </a:r>
            <a:r>
              <a:rPr lang="en-US" altLang="zh-CN"/>
              <a:t>idea</a:t>
            </a:r>
            <a:r>
              <a:rPr lang="zh-CN" altLang="en-US"/>
              <a:t> 是有一个内部的状态，在序列逐步处理的时候不断更新</a:t>
            </a:r>
            <a:endParaRPr lang="en-US"/>
          </a:p>
        </p:txBody>
      </p:sp>
      <p:sp>
        <p:nvSpPr>
          <p:cNvPr id="4" name="Slide Number Placeholder 3"/>
          <p:cNvSpPr>
            <a:spLocks noGrp="1"/>
          </p:cNvSpPr>
          <p:nvPr>
            <p:ph type="sldNum" sz="quarter" idx="5"/>
          </p:nvPr>
        </p:nvSpPr>
        <p:spPr/>
        <p:txBody>
          <a:bodyPr/>
          <a:lstStyle/>
          <a:p>
            <a:fld id="{5C462CDA-D861-044D-AFAA-0EA850D445BD}" type="slidenum">
              <a:rPr lang="en-US" smtClean="0"/>
              <a:t>4</a:t>
            </a:fld>
            <a:endParaRPr lang="en-US"/>
          </a:p>
        </p:txBody>
      </p:sp>
    </p:spTree>
    <p:extLst>
      <p:ext uri="{BB962C8B-B14F-4D97-AF65-F5344CB8AC3E}">
        <p14:creationId xmlns:p14="http://schemas.microsoft.com/office/powerpoint/2010/main" val="24416589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这里讲公式是怎样的</a:t>
            </a:r>
            <a:endParaRPr lang="en-US"/>
          </a:p>
          <a:p>
            <a:endParaRPr lang="en-US"/>
          </a:p>
          <a:p>
            <a:r>
              <a:rPr lang="en-US" err="1"/>
              <a:t>需要强调的是</a:t>
            </a:r>
            <a:r>
              <a:rPr lang="zh-CN" altLang="en-US"/>
              <a:t>，</a:t>
            </a:r>
            <a:r>
              <a:rPr lang="en-US" altLang="zh-CN"/>
              <a:t>W</a:t>
            </a:r>
            <a:r>
              <a:rPr lang="zh-CN" altLang="en-US"/>
              <a:t>在所有的</a:t>
            </a:r>
            <a:r>
              <a:rPr lang="en-US" altLang="zh-CN"/>
              <a:t>time</a:t>
            </a:r>
            <a:r>
              <a:rPr lang="zh-CN" altLang="en-US"/>
              <a:t> </a:t>
            </a:r>
            <a:r>
              <a:rPr lang="en-US" altLang="zh-CN"/>
              <a:t>step</a:t>
            </a:r>
            <a:r>
              <a:rPr lang="zh-CN" altLang="en-US"/>
              <a:t>是共用的</a:t>
            </a:r>
            <a:endParaRPr lang="en-US"/>
          </a:p>
        </p:txBody>
      </p:sp>
      <p:sp>
        <p:nvSpPr>
          <p:cNvPr id="4" name="Slide Number Placeholder 3"/>
          <p:cNvSpPr>
            <a:spLocks noGrp="1"/>
          </p:cNvSpPr>
          <p:nvPr>
            <p:ph type="sldNum" sz="quarter" idx="5"/>
          </p:nvPr>
        </p:nvSpPr>
        <p:spPr/>
        <p:txBody>
          <a:bodyPr/>
          <a:lstStyle/>
          <a:p>
            <a:fld id="{5C462CDA-D861-044D-AFAA-0EA850D445BD}" type="slidenum">
              <a:rPr lang="en-US" smtClean="0"/>
              <a:t>5</a:t>
            </a:fld>
            <a:endParaRPr lang="en-US"/>
          </a:p>
        </p:txBody>
      </p:sp>
    </p:spTree>
    <p:extLst>
      <p:ext uri="{BB962C8B-B14F-4D97-AF65-F5344CB8AC3E}">
        <p14:creationId xmlns:p14="http://schemas.microsoft.com/office/powerpoint/2010/main" val="15585723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通过动画一步一步演示</a:t>
            </a:r>
            <a:r>
              <a:rPr lang="zh-CN" altLang="en-US"/>
              <a:t>，从 </a:t>
            </a:r>
            <a:r>
              <a:rPr lang="en-US" altLang="zh-CN"/>
              <a:t>h_0</a:t>
            </a:r>
            <a:r>
              <a:rPr lang="zh-CN" altLang="en-US"/>
              <a:t> 一直到 </a:t>
            </a:r>
            <a:r>
              <a:rPr lang="en-US" altLang="zh-CN" err="1"/>
              <a:t>h_T</a:t>
            </a:r>
            <a:r>
              <a:rPr lang="zh-CN" altLang="en-US"/>
              <a:t> 的过程</a:t>
            </a:r>
            <a:endParaRPr lang="en-US"/>
          </a:p>
        </p:txBody>
      </p:sp>
      <p:sp>
        <p:nvSpPr>
          <p:cNvPr id="4" name="Slide Number Placeholder 3"/>
          <p:cNvSpPr>
            <a:spLocks noGrp="1"/>
          </p:cNvSpPr>
          <p:nvPr>
            <p:ph type="sldNum" sz="quarter" idx="5"/>
          </p:nvPr>
        </p:nvSpPr>
        <p:spPr/>
        <p:txBody>
          <a:bodyPr/>
          <a:lstStyle/>
          <a:p>
            <a:fld id="{5C462CDA-D861-044D-AFAA-0EA850D445BD}" type="slidenum">
              <a:rPr lang="en-US" smtClean="0"/>
              <a:t>6</a:t>
            </a:fld>
            <a:endParaRPr lang="en-US"/>
          </a:p>
        </p:txBody>
      </p:sp>
    </p:spTree>
    <p:extLst>
      <p:ext uri="{BB962C8B-B14F-4D97-AF65-F5344CB8AC3E}">
        <p14:creationId xmlns:p14="http://schemas.microsoft.com/office/powerpoint/2010/main" val="5784918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4AEDD-B049-B3D0-B605-4555451ED3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BCDC28-9939-F6F1-A3BF-E237FD3352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213B41-37E5-B7BD-4111-F380815ED8C7}"/>
              </a:ext>
            </a:extLst>
          </p:cNvPr>
          <p:cNvSpPr>
            <a:spLocks noGrp="1"/>
          </p:cNvSpPr>
          <p:nvPr>
            <p:ph type="body" idx="1"/>
          </p:nvPr>
        </p:nvSpPr>
        <p:spPr/>
        <p:txBody>
          <a:bodyPr/>
          <a:lstStyle/>
          <a:p>
            <a:r>
              <a:rPr lang="en-US" dirty="0" err="1"/>
              <a:t>从RNN的编码到RNN的解码过程的过渡</a:t>
            </a:r>
            <a:endParaRPr lang="en-US" dirty="0"/>
          </a:p>
        </p:txBody>
      </p:sp>
      <p:sp>
        <p:nvSpPr>
          <p:cNvPr id="4" name="Slide Number Placeholder 3">
            <a:extLst>
              <a:ext uri="{FF2B5EF4-FFF2-40B4-BE49-F238E27FC236}">
                <a16:creationId xmlns:a16="http://schemas.microsoft.com/office/drawing/2014/main" id="{1B070CA0-2980-DED6-0E27-7C4F51F28558}"/>
              </a:ext>
            </a:extLst>
          </p:cNvPr>
          <p:cNvSpPr>
            <a:spLocks noGrp="1"/>
          </p:cNvSpPr>
          <p:nvPr>
            <p:ph type="sldNum" sz="quarter" idx="5"/>
          </p:nvPr>
        </p:nvSpPr>
        <p:spPr/>
        <p:txBody>
          <a:bodyPr/>
          <a:lstStyle/>
          <a:p>
            <a:fld id="{5C462CDA-D861-044D-AFAA-0EA850D445BD}" type="slidenum">
              <a:rPr lang="en-US" smtClean="0"/>
              <a:t>7</a:t>
            </a:fld>
            <a:endParaRPr lang="en-US"/>
          </a:p>
        </p:txBody>
      </p:sp>
    </p:spTree>
    <p:extLst>
      <p:ext uri="{BB962C8B-B14F-4D97-AF65-F5344CB8AC3E}">
        <p14:creationId xmlns:p14="http://schemas.microsoft.com/office/powerpoint/2010/main" val="31940496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动画演示</a:t>
            </a:r>
            <a:r>
              <a:rPr lang="zh-CN" altLang="en-US"/>
              <a:t> 多对多的情况下 </a:t>
            </a:r>
            <a:r>
              <a:rPr lang="en-US" err="1"/>
              <a:t>loss计算的过程</a:t>
            </a:r>
            <a:r>
              <a:rPr lang="zh-CN" altLang="en-US"/>
              <a:t>，即，每一步都有一个 </a:t>
            </a:r>
            <a:r>
              <a:rPr lang="en-US" altLang="zh-CN"/>
              <a:t>loss</a:t>
            </a:r>
            <a:r>
              <a:rPr lang="zh-CN" altLang="en-US"/>
              <a:t>，这些 </a:t>
            </a:r>
            <a:r>
              <a:rPr lang="en-US" altLang="zh-CN"/>
              <a:t>loss</a:t>
            </a:r>
            <a:r>
              <a:rPr lang="zh-CN" altLang="en-US"/>
              <a:t> 合在一起，形成了 总的 </a:t>
            </a:r>
            <a:r>
              <a:rPr lang="en-US" altLang="zh-CN"/>
              <a:t>loss</a:t>
            </a:r>
            <a:endParaRPr lang="en-US"/>
          </a:p>
        </p:txBody>
      </p:sp>
      <p:sp>
        <p:nvSpPr>
          <p:cNvPr id="4" name="Slide Number Placeholder 3"/>
          <p:cNvSpPr>
            <a:spLocks noGrp="1"/>
          </p:cNvSpPr>
          <p:nvPr>
            <p:ph type="sldNum" sz="quarter" idx="5"/>
          </p:nvPr>
        </p:nvSpPr>
        <p:spPr/>
        <p:txBody>
          <a:bodyPr/>
          <a:lstStyle/>
          <a:p>
            <a:fld id="{5C462CDA-D861-044D-AFAA-0EA850D445BD}" type="slidenum">
              <a:rPr lang="en-US" smtClean="0"/>
              <a:t>8</a:t>
            </a:fld>
            <a:endParaRPr lang="en-US"/>
          </a:p>
        </p:txBody>
      </p:sp>
    </p:spTree>
    <p:extLst>
      <p:ext uri="{BB962C8B-B14F-4D97-AF65-F5344CB8AC3E}">
        <p14:creationId xmlns:p14="http://schemas.microsoft.com/office/powerpoint/2010/main" val="6067571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这是</a:t>
            </a:r>
            <a:r>
              <a:rPr lang="zh-CN" altLang="en-US" dirty="0"/>
              <a:t> </a:t>
            </a:r>
            <a:r>
              <a:rPr lang="en-US" altLang="zh-CN" dirty="0"/>
              <a:t>“</a:t>
            </a:r>
            <a:r>
              <a:rPr lang="zh-CN" altLang="en-US" dirty="0"/>
              <a:t>一对多</a:t>
            </a:r>
            <a:r>
              <a:rPr lang="en-US" altLang="zh-CN" dirty="0"/>
              <a:t>”</a:t>
            </a:r>
            <a:r>
              <a:rPr lang="zh-CN" altLang="en-US" dirty="0"/>
              <a:t> 的情况</a:t>
            </a:r>
            <a:endParaRPr lang="en-US" dirty="0"/>
          </a:p>
        </p:txBody>
      </p:sp>
      <p:sp>
        <p:nvSpPr>
          <p:cNvPr id="4" name="Slide Number Placeholder 3"/>
          <p:cNvSpPr>
            <a:spLocks noGrp="1"/>
          </p:cNvSpPr>
          <p:nvPr>
            <p:ph type="sldNum" sz="quarter" idx="5"/>
          </p:nvPr>
        </p:nvSpPr>
        <p:spPr/>
        <p:txBody>
          <a:bodyPr/>
          <a:lstStyle/>
          <a:p>
            <a:fld id="{5C462CDA-D861-044D-AFAA-0EA850D445BD}" type="slidenum">
              <a:rPr lang="en-US" smtClean="0"/>
              <a:t>9</a:t>
            </a:fld>
            <a:endParaRPr lang="en-US"/>
          </a:p>
        </p:txBody>
      </p:sp>
    </p:spTree>
    <p:extLst>
      <p:ext uri="{BB962C8B-B14F-4D97-AF65-F5344CB8AC3E}">
        <p14:creationId xmlns:p14="http://schemas.microsoft.com/office/powerpoint/2010/main" val="15731282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LSTM的起源</a:t>
            </a:r>
            <a:r>
              <a:rPr lang="zh-CN" altLang="en-US" dirty="0"/>
              <a:t>，历史</a:t>
            </a:r>
            <a:endParaRPr lang="en-US" altLang="zh-CN" dirty="0"/>
          </a:p>
          <a:p>
            <a:endParaRPr lang="en-US" dirty="0"/>
          </a:p>
          <a:p>
            <a:r>
              <a:rPr lang="zh-CN" altLang="en-US" dirty="0"/>
              <a:t>很早就提出的方法，但是在</a:t>
            </a:r>
            <a:r>
              <a:rPr lang="en-US" altLang="zh-CN" dirty="0"/>
              <a:t>15</a:t>
            </a:r>
            <a:r>
              <a:rPr lang="zh-CN" altLang="en-US" dirty="0"/>
              <a:t>年后才变得知名</a:t>
            </a:r>
            <a:endParaRPr lang="en-US" dirty="0"/>
          </a:p>
        </p:txBody>
      </p:sp>
      <p:sp>
        <p:nvSpPr>
          <p:cNvPr id="4" name="Slide Number Placeholder 3"/>
          <p:cNvSpPr>
            <a:spLocks noGrp="1"/>
          </p:cNvSpPr>
          <p:nvPr>
            <p:ph type="sldNum" sz="quarter" idx="5"/>
          </p:nvPr>
        </p:nvSpPr>
        <p:spPr/>
        <p:txBody>
          <a:bodyPr/>
          <a:lstStyle/>
          <a:p>
            <a:fld id="{5C462CDA-D861-044D-AFAA-0EA850D445BD}" type="slidenum">
              <a:rPr lang="en-US" smtClean="0"/>
              <a:t>10</a:t>
            </a:fld>
            <a:endParaRPr lang="en-US"/>
          </a:p>
        </p:txBody>
      </p:sp>
    </p:spTree>
    <p:extLst>
      <p:ext uri="{BB962C8B-B14F-4D97-AF65-F5344CB8AC3E}">
        <p14:creationId xmlns:p14="http://schemas.microsoft.com/office/powerpoint/2010/main" val="11350565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CFE09-AD6E-EB25-B669-E59CD49A08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73B834-8F32-164B-4DC3-CC60716D99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BC391A-4C8F-D423-8D3B-55C16AC2D518}"/>
              </a:ext>
            </a:extLst>
          </p:cNvPr>
          <p:cNvSpPr>
            <a:spLocks noGrp="1"/>
          </p:cNvSpPr>
          <p:nvPr>
            <p:ph type="body" idx="1"/>
          </p:nvPr>
        </p:nvSpPr>
        <p:spPr/>
        <p:txBody>
          <a:bodyPr/>
          <a:lstStyle/>
          <a:p>
            <a:r>
              <a:rPr lang="en-US" dirty="0" err="1"/>
              <a:t>作为回顾总结的一部分</a:t>
            </a:r>
            <a:r>
              <a:rPr lang="zh-CN" altLang="en-US" dirty="0"/>
              <a:t>，对比 </a:t>
            </a:r>
            <a:r>
              <a:rPr lang="en-US" altLang="zh-CN" dirty="0"/>
              <a:t>RNN</a:t>
            </a:r>
            <a:r>
              <a:rPr lang="zh-CN" altLang="en-US" dirty="0"/>
              <a:t> 和 </a:t>
            </a:r>
            <a:r>
              <a:rPr lang="en-US" altLang="zh-CN" dirty="0"/>
              <a:t>LSTM</a:t>
            </a:r>
            <a:endParaRPr lang="en-US" dirty="0"/>
          </a:p>
        </p:txBody>
      </p:sp>
      <p:sp>
        <p:nvSpPr>
          <p:cNvPr id="4" name="Slide Number Placeholder 3">
            <a:extLst>
              <a:ext uri="{FF2B5EF4-FFF2-40B4-BE49-F238E27FC236}">
                <a16:creationId xmlns:a16="http://schemas.microsoft.com/office/drawing/2014/main" id="{4D84C23F-07B1-364B-3C54-E97920467A74}"/>
              </a:ext>
            </a:extLst>
          </p:cNvPr>
          <p:cNvSpPr>
            <a:spLocks noGrp="1"/>
          </p:cNvSpPr>
          <p:nvPr>
            <p:ph type="sldNum" sz="quarter" idx="5"/>
          </p:nvPr>
        </p:nvSpPr>
        <p:spPr/>
        <p:txBody>
          <a:bodyPr/>
          <a:lstStyle/>
          <a:p>
            <a:fld id="{5C462CDA-D861-044D-AFAA-0EA850D445BD}" type="slidenum">
              <a:rPr lang="en-US" smtClean="0"/>
              <a:t>11</a:t>
            </a:fld>
            <a:endParaRPr lang="en-US"/>
          </a:p>
        </p:txBody>
      </p:sp>
    </p:spTree>
    <p:extLst>
      <p:ext uri="{BB962C8B-B14F-4D97-AF65-F5344CB8AC3E}">
        <p14:creationId xmlns:p14="http://schemas.microsoft.com/office/powerpoint/2010/main" val="39802559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6B607-91AD-842D-6BA3-84340E2092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6DA770-1F0F-D4C7-3343-A3BF441017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F12D68-654F-255D-2A9D-5F66A9FA94C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latin typeface="Helvetica" pitchFamily="2" charset="0"/>
              </a:rPr>
              <a:t>Interpolated Kneser-Ney 5-gram (</a:t>
            </a:r>
            <a:r>
              <a:rPr lang="en-US" dirty="0" err="1">
                <a:effectLst/>
                <a:latin typeface="Helvetica" pitchFamily="2" charset="0"/>
              </a:rPr>
              <a:t>Chelba</a:t>
            </a:r>
            <a:r>
              <a:rPr lang="en-US" dirty="0">
                <a:effectLst/>
                <a:latin typeface="Helvetica" pitchFamily="2" charset="0"/>
              </a:rPr>
              <a:t> et al., 2013)</a:t>
            </a:r>
          </a:p>
          <a:p>
            <a:r>
              <a:rPr lang="en-US" altLang="zh-CN" dirty="0"/>
              <a:t>5-gram</a:t>
            </a:r>
            <a:r>
              <a:rPr lang="zh-CN" altLang="en-US" dirty="0"/>
              <a:t> 模型</a:t>
            </a:r>
            <a:endParaRPr lang="en-US" altLang="zh-CN"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latin typeface="Helvetica" pitchFamily="2" charset="0"/>
              </a:rPr>
              <a:t>RNN-1024 + </a:t>
            </a:r>
            <a:r>
              <a:rPr lang="en-US" dirty="0" err="1">
                <a:effectLst/>
                <a:latin typeface="Helvetica" pitchFamily="2" charset="0"/>
              </a:rPr>
              <a:t>MaxEnt</a:t>
            </a:r>
            <a:r>
              <a:rPr lang="en-US" dirty="0">
                <a:effectLst/>
                <a:latin typeface="Helvetica" pitchFamily="2" charset="0"/>
              </a:rPr>
              <a:t> 9-gram (</a:t>
            </a:r>
            <a:r>
              <a:rPr lang="en-US" dirty="0" err="1">
                <a:effectLst/>
                <a:latin typeface="Helvetica" pitchFamily="2" charset="0"/>
              </a:rPr>
              <a:t>Chelba</a:t>
            </a:r>
            <a:r>
              <a:rPr lang="en-US" dirty="0">
                <a:effectLst/>
                <a:latin typeface="Helvetica" pitchFamily="2" charset="0"/>
              </a:rPr>
              <a:t> et al., 2013)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effectLst/>
                <a:latin typeface="Helvetica" pitchFamily="2" charset="0"/>
              </a:rPr>
              <a:t>1024</a:t>
            </a:r>
            <a:r>
              <a:rPr lang="zh-CN" altLang="en-US" dirty="0">
                <a:effectLst/>
                <a:latin typeface="Helvetica" pitchFamily="2" charset="0"/>
              </a:rPr>
              <a:t> </a:t>
            </a:r>
            <a:r>
              <a:rPr lang="en-US" altLang="zh-CN" dirty="0">
                <a:effectLst/>
                <a:latin typeface="Helvetica" pitchFamily="2" charset="0"/>
              </a:rPr>
              <a:t>hidden</a:t>
            </a:r>
            <a:r>
              <a:rPr lang="zh-CN" altLang="en-US" dirty="0">
                <a:effectLst/>
                <a:latin typeface="Helvetica" pitchFamily="2" charset="0"/>
              </a:rPr>
              <a:t> </a:t>
            </a:r>
            <a:r>
              <a:rPr lang="en-US" altLang="zh-CN" dirty="0">
                <a:effectLst/>
                <a:latin typeface="Helvetica" pitchFamily="2" charset="0"/>
              </a:rPr>
              <a:t>state</a:t>
            </a:r>
            <a:r>
              <a:rPr lang="zh-CN" altLang="en-US" dirty="0">
                <a:effectLst/>
                <a:latin typeface="Helvetica" pitchFamily="2" charset="0"/>
              </a:rPr>
              <a:t> </a:t>
            </a:r>
            <a:r>
              <a:rPr lang="en-US" altLang="zh-CN" dirty="0">
                <a:effectLst/>
                <a:latin typeface="Helvetica" pitchFamily="2" charset="0"/>
              </a:rPr>
              <a:t>size</a:t>
            </a:r>
            <a:r>
              <a:rPr lang="zh-CN" altLang="en-US" dirty="0">
                <a:effectLst/>
                <a:latin typeface="Helvetica" pitchFamily="2" charset="0"/>
              </a:rPr>
              <a:t> 的 </a:t>
            </a:r>
            <a:r>
              <a:rPr lang="en-US" altLang="zh-CN" dirty="0">
                <a:effectLst/>
                <a:latin typeface="Helvetica" pitchFamily="2" charset="0"/>
              </a:rPr>
              <a:t>RNN</a:t>
            </a:r>
            <a:r>
              <a:rPr lang="zh-CN" altLang="en-US" dirty="0">
                <a:effectLst/>
                <a:latin typeface="Helvetica" pitchFamily="2" charset="0"/>
              </a:rPr>
              <a:t> </a:t>
            </a:r>
            <a:r>
              <a:rPr lang="zh-CN" altLang="en-US" dirty="0"/>
              <a:t>与 </a:t>
            </a:r>
            <a:r>
              <a:rPr lang="en-US" altLang="zh-CN" dirty="0"/>
              <a:t>9-gram</a:t>
            </a:r>
            <a:r>
              <a:rPr lang="zh-CN" altLang="en-US" dirty="0"/>
              <a:t> 的 </a:t>
            </a:r>
            <a:r>
              <a:rPr lang="en-US" altLang="zh-CN" dirty="0"/>
              <a:t>ensemble</a:t>
            </a:r>
            <a:r>
              <a:rPr lang="zh-CN" altLang="en-US" dirty="0"/>
              <a:t> 模型</a:t>
            </a:r>
            <a:endParaRPr lang="en-US" altLang="zh-CN"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latin typeface="Helvetica" pitchFamily="2" charset="0"/>
              </a:rPr>
              <a:t>RNN-2048 + </a:t>
            </a:r>
            <a:r>
              <a:rPr lang="en-US" dirty="0" err="1">
                <a:effectLst/>
                <a:latin typeface="Helvetica" pitchFamily="2" charset="0"/>
              </a:rPr>
              <a:t>BlackOut</a:t>
            </a:r>
            <a:r>
              <a:rPr lang="en-US" dirty="0">
                <a:effectLst/>
                <a:latin typeface="Helvetica" pitchFamily="2" charset="0"/>
              </a:rPr>
              <a:t> sampling (Ji et al., 2015)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effectLst/>
                <a:latin typeface="Helvetica" pitchFamily="2" charset="0"/>
              </a:rPr>
              <a:t>2048</a:t>
            </a:r>
            <a:r>
              <a:rPr lang="zh-CN" altLang="en-US" dirty="0">
                <a:effectLst/>
                <a:latin typeface="Helvetica" pitchFamily="2" charset="0"/>
              </a:rPr>
              <a:t> </a:t>
            </a:r>
            <a:r>
              <a:rPr lang="en-US" altLang="zh-CN" dirty="0">
                <a:effectLst/>
                <a:latin typeface="Helvetica" pitchFamily="2" charset="0"/>
              </a:rPr>
              <a:t>hidden</a:t>
            </a:r>
            <a:r>
              <a:rPr lang="zh-CN" altLang="en-US" dirty="0">
                <a:effectLst/>
                <a:latin typeface="Helvetica" pitchFamily="2" charset="0"/>
              </a:rPr>
              <a:t> </a:t>
            </a:r>
            <a:r>
              <a:rPr lang="en-US" altLang="zh-CN" dirty="0">
                <a:effectLst/>
                <a:latin typeface="Helvetica" pitchFamily="2" charset="0"/>
              </a:rPr>
              <a:t>state</a:t>
            </a:r>
            <a:r>
              <a:rPr lang="zh-CN" altLang="en-US" dirty="0">
                <a:effectLst/>
                <a:latin typeface="Helvetica" pitchFamily="2" charset="0"/>
              </a:rPr>
              <a:t> </a:t>
            </a:r>
            <a:r>
              <a:rPr lang="en-US" altLang="zh-CN" dirty="0">
                <a:effectLst/>
                <a:latin typeface="Helvetica" pitchFamily="2" charset="0"/>
              </a:rPr>
              <a:t>size</a:t>
            </a:r>
            <a:r>
              <a:rPr lang="zh-CN" altLang="en-US" dirty="0">
                <a:effectLst/>
                <a:latin typeface="Helvetica" pitchFamily="2" charset="0"/>
              </a:rPr>
              <a:t> 的 </a:t>
            </a:r>
            <a:r>
              <a:rPr lang="en-US" altLang="zh-CN" dirty="0">
                <a:effectLst/>
                <a:latin typeface="Helvetica" pitchFamily="2" charset="0"/>
              </a:rPr>
              <a:t>RNN</a:t>
            </a:r>
            <a:r>
              <a:rPr lang="zh-CN" altLang="en-US" dirty="0">
                <a:effectLst/>
                <a:latin typeface="Helvetica" pitchFamily="2" charset="0"/>
              </a:rPr>
              <a:t> </a:t>
            </a:r>
            <a:r>
              <a:rPr lang="en-US" altLang="zh-CN" dirty="0">
                <a:effectLst/>
                <a:latin typeface="Helvetica" pitchFamily="2" charset="0"/>
              </a:rPr>
              <a:t>+</a:t>
            </a:r>
            <a:r>
              <a:rPr lang="zh-CN" altLang="en-US" dirty="0">
                <a:effectLst/>
                <a:latin typeface="Helvetica" pitchFamily="2" charset="0"/>
              </a:rPr>
              <a:t> </a:t>
            </a:r>
            <a:r>
              <a:rPr lang="en-US" dirty="0" err="1">
                <a:effectLst/>
                <a:latin typeface="Helvetica" pitchFamily="2" charset="0"/>
              </a:rPr>
              <a:t>BlackOut</a:t>
            </a:r>
            <a:r>
              <a:rPr lang="en-US" dirty="0">
                <a:effectLst/>
                <a:latin typeface="Helvetica" pitchFamily="2" charset="0"/>
              </a:rPr>
              <a:t> sampling</a:t>
            </a:r>
            <a:r>
              <a:rPr lang="zh-CN" altLang="en-US" dirty="0">
                <a:effectLst/>
                <a:latin typeface="Helvetica" pitchFamily="2" charset="0"/>
              </a:rPr>
              <a:t> </a:t>
            </a:r>
            <a:r>
              <a:rPr lang="en-US" altLang="zh-CN" dirty="0">
                <a:effectLst/>
                <a:latin typeface="Helvetica" pitchFamily="2" charset="0"/>
              </a:rPr>
              <a:t>(</a:t>
            </a:r>
            <a:r>
              <a:rPr lang="zh-CN" altLang="en-US" dirty="0">
                <a:effectLst/>
                <a:latin typeface="Helvetica" pitchFamily="2" charset="0"/>
              </a:rPr>
              <a:t>可以视为一种类似 </a:t>
            </a:r>
            <a:r>
              <a:rPr lang="en-US" altLang="zh-CN" dirty="0">
                <a:effectLst/>
                <a:latin typeface="Helvetica" pitchFamily="2" charset="0"/>
              </a:rPr>
              <a:t>dropout</a:t>
            </a:r>
            <a:r>
              <a:rPr lang="zh-CN" altLang="en-US" dirty="0">
                <a:effectLst/>
                <a:latin typeface="Helvetica" pitchFamily="2" charset="0"/>
              </a:rPr>
              <a:t> 的改进版方法</a:t>
            </a:r>
            <a:r>
              <a:rPr lang="en-US" altLang="zh-CN" dirty="0">
                <a:effectLst/>
                <a:latin typeface="Helvetica" pitchFamily="2" charset="0"/>
              </a:rPr>
              <a:t>)</a:t>
            </a:r>
            <a:endParaRPr lang="en-US" dirty="0">
              <a:effectLst/>
              <a:latin typeface="Helvetica" pitchFamily="2" charset="0"/>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latin typeface="Helvetica" pitchFamily="2" charset="0"/>
              </a:rPr>
              <a:t>Sparse Non-negative Matrix factorization (</a:t>
            </a:r>
            <a:r>
              <a:rPr lang="en-US" dirty="0" err="1">
                <a:effectLst/>
                <a:latin typeface="Helvetica" pitchFamily="2" charset="0"/>
              </a:rPr>
              <a:t>Shazeer</a:t>
            </a:r>
            <a:r>
              <a:rPr lang="en-US" dirty="0">
                <a:effectLst/>
                <a:latin typeface="Helvetica" pitchFamily="2" charset="0"/>
              </a:rPr>
              <a:t> et al., 2015)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effectLst/>
                <a:latin typeface="Helvetica" pitchFamily="2" charset="0"/>
              </a:rPr>
              <a:t>一种使用</a:t>
            </a:r>
            <a:r>
              <a:rPr lang="zh-CN" altLang="en-US" dirty="0">
                <a:effectLst/>
                <a:latin typeface="Helvetica" pitchFamily="2" charset="0"/>
              </a:rPr>
              <a:t> </a:t>
            </a:r>
            <a:r>
              <a:rPr lang="en-US" altLang="zh-CN" dirty="0">
                <a:effectLst/>
                <a:latin typeface="Helvetica" pitchFamily="2" charset="0"/>
              </a:rPr>
              <a:t>skip-gram</a:t>
            </a:r>
            <a:r>
              <a:rPr lang="zh-CN" altLang="en-US" dirty="0">
                <a:effectLst/>
                <a:latin typeface="Helvetica" pitchFamily="2" charset="0"/>
              </a:rPr>
              <a:t> </a:t>
            </a:r>
            <a:r>
              <a:rPr lang="en-US" altLang="zh-CN" dirty="0">
                <a:effectLst/>
                <a:latin typeface="Helvetica" pitchFamily="2" charset="0"/>
              </a:rPr>
              <a:t>feature</a:t>
            </a:r>
            <a:r>
              <a:rPr lang="zh-CN" altLang="en-US" dirty="0">
                <a:effectLst/>
                <a:latin typeface="Helvetica" pitchFamily="2" charset="0"/>
              </a:rPr>
              <a:t> 的语言模型训练方法</a:t>
            </a:r>
            <a:endParaRPr lang="en-US" dirty="0">
              <a:effectLst/>
              <a:latin typeface="Helvetica" pitchFamily="2" charset="0"/>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latin typeface="Helvetica" pitchFamily="2" charset="0"/>
              </a:rPr>
              <a:t>LSTM-2048 (Jozefowicz et al., 2016)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effectLst/>
                <a:latin typeface="Helvetica" pitchFamily="2" charset="0"/>
              </a:rPr>
              <a:t>2048</a:t>
            </a:r>
            <a:r>
              <a:rPr lang="zh-CN" altLang="en-US" dirty="0">
                <a:effectLst/>
                <a:latin typeface="Helvetica" pitchFamily="2" charset="0"/>
              </a:rPr>
              <a:t> </a:t>
            </a:r>
            <a:r>
              <a:rPr lang="en-US" altLang="zh-CN" dirty="0">
                <a:effectLst/>
                <a:latin typeface="Helvetica" pitchFamily="2" charset="0"/>
              </a:rPr>
              <a:t>hidden</a:t>
            </a:r>
            <a:r>
              <a:rPr lang="zh-CN" altLang="en-US" dirty="0">
                <a:effectLst/>
                <a:latin typeface="Helvetica" pitchFamily="2" charset="0"/>
              </a:rPr>
              <a:t> </a:t>
            </a:r>
            <a:r>
              <a:rPr lang="en-US" altLang="zh-CN" dirty="0">
                <a:effectLst/>
                <a:latin typeface="Helvetica" pitchFamily="2" charset="0"/>
              </a:rPr>
              <a:t>state</a:t>
            </a:r>
            <a:r>
              <a:rPr lang="zh-CN" altLang="en-US" dirty="0">
                <a:effectLst/>
                <a:latin typeface="Helvetica" pitchFamily="2" charset="0"/>
              </a:rPr>
              <a:t> </a:t>
            </a:r>
            <a:r>
              <a:rPr lang="en-US" altLang="zh-CN" dirty="0">
                <a:effectLst/>
                <a:latin typeface="Helvetica" pitchFamily="2" charset="0"/>
              </a:rPr>
              <a:t>size</a:t>
            </a:r>
            <a:r>
              <a:rPr lang="zh-CN" altLang="en-US" dirty="0">
                <a:effectLst/>
                <a:latin typeface="Helvetica" pitchFamily="2" charset="0"/>
              </a:rPr>
              <a:t> 的 </a:t>
            </a:r>
            <a:r>
              <a:rPr lang="en-US" altLang="zh-CN" dirty="0">
                <a:effectLst/>
                <a:latin typeface="Helvetica" pitchFamily="2" charset="0"/>
              </a:rPr>
              <a:t>LSTM</a:t>
            </a:r>
            <a:endParaRPr lang="en-US" dirty="0">
              <a:effectLst/>
              <a:latin typeface="Helvetica" pitchFamily="2" charset="0"/>
            </a:endParaRPr>
          </a:p>
          <a:p>
            <a:endParaRPr lang="en-US" dirty="0"/>
          </a:p>
          <a:p>
            <a:r>
              <a:rPr lang="en-US" dirty="0">
                <a:effectLst/>
                <a:latin typeface="Helvetica" pitchFamily="2" charset="0"/>
              </a:rPr>
              <a:t>2-layer LSTM-8192 (Jozefowicz et al.,, 2016)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effectLst/>
                <a:latin typeface="Helvetica" pitchFamily="2" charset="0"/>
              </a:rPr>
              <a:t>8192</a:t>
            </a:r>
            <a:r>
              <a:rPr lang="zh-CN" altLang="en-US" dirty="0">
                <a:effectLst/>
                <a:latin typeface="Helvetica" pitchFamily="2" charset="0"/>
              </a:rPr>
              <a:t> </a:t>
            </a:r>
            <a:r>
              <a:rPr lang="en-US" altLang="zh-CN" dirty="0">
                <a:effectLst/>
                <a:latin typeface="Helvetica" pitchFamily="2" charset="0"/>
              </a:rPr>
              <a:t>hidden</a:t>
            </a:r>
            <a:r>
              <a:rPr lang="zh-CN" altLang="en-US" dirty="0">
                <a:effectLst/>
                <a:latin typeface="Helvetica" pitchFamily="2" charset="0"/>
              </a:rPr>
              <a:t> </a:t>
            </a:r>
            <a:r>
              <a:rPr lang="en-US" altLang="zh-CN" dirty="0">
                <a:effectLst/>
                <a:latin typeface="Helvetica" pitchFamily="2" charset="0"/>
              </a:rPr>
              <a:t>state</a:t>
            </a:r>
            <a:r>
              <a:rPr lang="zh-CN" altLang="en-US" dirty="0">
                <a:effectLst/>
                <a:latin typeface="Helvetica" pitchFamily="2" charset="0"/>
              </a:rPr>
              <a:t> </a:t>
            </a:r>
            <a:r>
              <a:rPr lang="en-US" altLang="zh-CN" dirty="0">
                <a:effectLst/>
                <a:latin typeface="Helvetica" pitchFamily="2" charset="0"/>
              </a:rPr>
              <a:t>size</a:t>
            </a:r>
            <a:r>
              <a:rPr lang="zh-CN" altLang="en-US" dirty="0">
                <a:effectLst/>
                <a:latin typeface="Helvetica" pitchFamily="2" charset="0"/>
              </a:rPr>
              <a:t> 的 </a:t>
            </a:r>
            <a:r>
              <a:rPr lang="en-US" altLang="zh-CN" dirty="0">
                <a:effectLst/>
                <a:latin typeface="Helvetica" pitchFamily="2" charset="0"/>
              </a:rPr>
              <a:t>LSTM</a:t>
            </a:r>
            <a:endParaRPr lang="en-US" dirty="0">
              <a:effectLst/>
              <a:latin typeface="Helvetica" pitchFamily="2" charset="0"/>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latin typeface="Helvetica" pitchFamily="2" charset="0"/>
              </a:rPr>
              <a:t>Ours small (LSTM-2048)</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effectLst/>
                <a:latin typeface="Helvetica" pitchFamily="2" charset="0"/>
              </a:rPr>
              <a:t>2048</a:t>
            </a:r>
            <a:r>
              <a:rPr lang="zh-CN" altLang="en-US" dirty="0">
                <a:effectLst/>
                <a:latin typeface="Helvetica" pitchFamily="2" charset="0"/>
              </a:rPr>
              <a:t> </a:t>
            </a:r>
            <a:r>
              <a:rPr lang="en-US" altLang="zh-CN" dirty="0">
                <a:effectLst/>
                <a:latin typeface="Helvetica" pitchFamily="2" charset="0"/>
              </a:rPr>
              <a:t>hidden</a:t>
            </a:r>
            <a:r>
              <a:rPr lang="zh-CN" altLang="en-US" dirty="0">
                <a:effectLst/>
                <a:latin typeface="Helvetica" pitchFamily="2" charset="0"/>
              </a:rPr>
              <a:t> </a:t>
            </a:r>
            <a:r>
              <a:rPr lang="en-US" altLang="zh-CN" dirty="0">
                <a:effectLst/>
                <a:latin typeface="Helvetica" pitchFamily="2" charset="0"/>
              </a:rPr>
              <a:t>state</a:t>
            </a:r>
            <a:r>
              <a:rPr lang="zh-CN" altLang="en-US" dirty="0">
                <a:effectLst/>
                <a:latin typeface="Helvetica" pitchFamily="2" charset="0"/>
              </a:rPr>
              <a:t> </a:t>
            </a:r>
            <a:r>
              <a:rPr lang="en-US" altLang="zh-CN" dirty="0">
                <a:effectLst/>
                <a:latin typeface="Helvetica" pitchFamily="2" charset="0"/>
              </a:rPr>
              <a:t>size</a:t>
            </a:r>
            <a:r>
              <a:rPr lang="zh-CN" altLang="en-US" dirty="0">
                <a:effectLst/>
                <a:latin typeface="Helvetica" pitchFamily="2" charset="0"/>
              </a:rPr>
              <a:t> 的 </a:t>
            </a:r>
            <a:r>
              <a:rPr lang="en-US" altLang="zh-CN" dirty="0">
                <a:effectLst/>
                <a:latin typeface="Helvetica" pitchFamily="2" charset="0"/>
              </a:rPr>
              <a:t>LSTM</a:t>
            </a:r>
            <a:endParaRPr lang="en-US" dirty="0">
              <a:effectLst/>
              <a:latin typeface="Helvetica" pitchFamily="2" charset="0"/>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latin typeface="Helvetica" pitchFamily="2" charset="0"/>
              </a:rPr>
              <a:t>Ours large (2-layer LSTM-2048)</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effectLst/>
                <a:latin typeface="Helvetica" pitchFamily="2" charset="0"/>
              </a:rPr>
              <a:t>2048</a:t>
            </a:r>
            <a:r>
              <a:rPr lang="zh-CN" altLang="en-US" dirty="0">
                <a:effectLst/>
                <a:latin typeface="Helvetica" pitchFamily="2" charset="0"/>
              </a:rPr>
              <a:t> </a:t>
            </a:r>
            <a:r>
              <a:rPr lang="en-US" altLang="zh-CN" dirty="0">
                <a:effectLst/>
                <a:latin typeface="Helvetica" pitchFamily="2" charset="0"/>
              </a:rPr>
              <a:t>hidden</a:t>
            </a:r>
            <a:r>
              <a:rPr lang="zh-CN" altLang="en-US" dirty="0">
                <a:effectLst/>
                <a:latin typeface="Helvetica" pitchFamily="2" charset="0"/>
              </a:rPr>
              <a:t> </a:t>
            </a:r>
            <a:r>
              <a:rPr lang="en-US" altLang="zh-CN" dirty="0">
                <a:effectLst/>
                <a:latin typeface="Helvetica" pitchFamily="2" charset="0"/>
              </a:rPr>
              <a:t>state</a:t>
            </a:r>
            <a:r>
              <a:rPr lang="zh-CN" altLang="en-US" dirty="0">
                <a:effectLst/>
                <a:latin typeface="Helvetica" pitchFamily="2" charset="0"/>
              </a:rPr>
              <a:t> </a:t>
            </a:r>
            <a:r>
              <a:rPr lang="en-US" altLang="zh-CN" dirty="0">
                <a:effectLst/>
                <a:latin typeface="Helvetica" pitchFamily="2" charset="0"/>
              </a:rPr>
              <a:t>size</a:t>
            </a:r>
            <a:r>
              <a:rPr lang="zh-CN" altLang="en-US" dirty="0">
                <a:effectLst/>
                <a:latin typeface="Helvetica" pitchFamily="2" charset="0"/>
              </a:rPr>
              <a:t> 的 双层</a:t>
            </a:r>
            <a:r>
              <a:rPr lang="en-US" altLang="zh-CN" dirty="0">
                <a:effectLst/>
                <a:latin typeface="Helvetica" pitchFamily="2" charset="0"/>
              </a:rPr>
              <a:t>LSTM</a:t>
            </a:r>
            <a:endParaRPr lang="en-US" dirty="0">
              <a:effectLst/>
              <a:latin typeface="Helvetica"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latin typeface="Helvetica" pitchFamily="2" charset="0"/>
            </a:endParaRPr>
          </a:p>
          <a:p>
            <a:endParaRPr lang="en-US" dirty="0"/>
          </a:p>
        </p:txBody>
      </p:sp>
      <p:sp>
        <p:nvSpPr>
          <p:cNvPr id="4" name="Slide Number Placeholder 3">
            <a:extLst>
              <a:ext uri="{FF2B5EF4-FFF2-40B4-BE49-F238E27FC236}">
                <a16:creationId xmlns:a16="http://schemas.microsoft.com/office/drawing/2014/main" id="{678E9D20-03A1-0E4D-A31B-2DF1E8D4E4EC}"/>
              </a:ext>
            </a:extLst>
          </p:cNvPr>
          <p:cNvSpPr>
            <a:spLocks noGrp="1"/>
          </p:cNvSpPr>
          <p:nvPr>
            <p:ph type="sldNum" sz="quarter" idx="5"/>
          </p:nvPr>
        </p:nvSpPr>
        <p:spPr/>
        <p:txBody>
          <a:bodyPr/>
          <a:lstStyle/>
          <a:p>
            <a:fld id="{5C462CDA-D861-044D-AFAA-0EA850D445BD}" type="slidenum">
              <a:rPr lang="en-US" smtClean="0"/>
              <a:t>12</a:t>
            </a:fld>
            <a:endParaRPr lang="en-US"/>
          </a:p>
        </p:txBody>
      </p:sp>
    </p:spTree>
    <p:extLst>
      <p:ext uri="{BB962C8B-B14F-4D97-AF65-F5344CB8AC3E}">
        <p14:creationId xmlns:p14="http://schemas.microsoft.com/office/powerpoint/2010/main" val="22933738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7E870-4CCD-2256-8D86-20EEB6EA122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7D4040E-BE77-0EB0-DF1D-7A83BE0D653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9A08864-6015-7A2A-DD3D-4D36AD0AA92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D8271A5-7243-5A87-08CB-2883E4535810}"/>
              </a:ext>
            </a:extLst>
          </p:cNvPr>
          <p:cNvSpPr>
            <a:spLocks noGrp="1"/>
          </p:cNvSpPr>
          <p:nvPr>
            <p:ph type="sldNum" sz="quarter" idx="5"/>
          </p:nvPr>
        </p:nvSpPr>
        <p:spPr/>
        <p:txBody>
          <a:bodyPr/>
          <a:lstStyle/>
          <a:p>
            <a:fld id="{2B735503-9D21-443F-BC18-5459550EB72F}" type="slidenum">
              <a:rPr lang="zh-CN" altLang="en-US" smtClean="0"/>
              <a:t>13</a:t>
            </a:fld>
            <a:endParaRPr lang="zh-CN" altLang="en-US"/>
          </a:p>
        </p:txBody>
      </p:sp>
    </p:spTree>
    <p:extLst>
      <p:ext uri="{BB962C8B-B14F-4D97-AF65-F5344CB8AC3E}">
        <p14:creationId xmlns:p14="http://schemas.microsoft.com/office/powerpoint/2010/main" val="30028073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输入中的特定部分对某些任务</a:t>
            </a:r>
            <a:r>
              <a:rPr lang="zh-CN" altLang="en-US"/>
              <a:t>（例如翻译）可能很重要</a:t>
            </a:r>
            <a:endParaRPr lang="en-US" altLang="zh-CN"/>
          </a:p>
          <a:p>
            <a:r>
              <a:rPr lang="zh-CN" altLang="en-US"/>
              <a:t>当这些部分距离较远时，</a:t>
            </a:r>
            <a:r>
              <a:rPr lang="en-US" altLang="zh-CN"/>
              <a:t>RNN</a:t>
            </a:r>
            <a:r>
              <a:rPr lang="zh-CN" altLang="en-US"/>
              <a:t>无法处理</a:t>
            </a:r>
            <a:endParaRPr lang="en-US" altLang="zh-CN"/>
          </a:p>
          <a:p>
            <a:r>
              <a:rPr lang="zh-CN" altLang="en-US"/>
              <a:t>因此提出 </a:t>
            </a:r>
            <a:r>
              <a:rPr lang="en-US" altLang="zh-CN"/>
              <a:t>attention</a:t>
            </a:r>
            <a:r>
              <a:rPr lang="zh-CN" altLang="en-US"/>
              <a:t> 直接去建模这些重要的部分</a:t>
            </a:r>
            <a:endParaRPr lang="en-US"/>
          </a:p>
        </p:txBody>
      </p:sp>
      <p:sp>
        <p:nvSpPr>
          <p:cNvPr id="4" name="Slide Number Placeholder 3"/>
          <p:cNvSpPr>
            <a:spLocks noGrp="1"/>
          </p:cNvSpPr>
          <p:nvPr>
            <p:ph type="sldNum" sz="quarter" idx="5"/>
          </p:nvPr>
        </p:nvSpPr>
        <p:spPr/>
        <p:txBody>
          <a:bodyPr/>
          <a:lstStyle/>
          <a:p>
            <a:fld id="{997DF73A-65DB-6E41-B185-11DF594A0732}" type="slidenum">
              <a:rPr lang="en-US" smtClean="0"/>
              <a:t>14</a:t>
            </a:fld>
            <a:endParaRPr lang="en-US"/>
          </a:p>
        </p:txBody>
      </p:sp>
    </p:spTree>
    <p:extLst>
      <p:ext uri="{BB962C8B-B14F-4D97-AF65-F5344CB8AC3E}">
        <p14:creationId xmlns:p14="http://schemas.microsoft.com/office/powerpoint/2010/main" val="35081131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最简单的attention</a:t>
            </a:r>
            <a:r>
              <a:rPr lang="zh-CN" altLang="en-US"/>
              <a:t>：</a:t>
            </a:r>
            <a:r>
              <a:rPr lang="en-US" altLang="zh-CN"/>
              <a:t>feed</a:t>
            </a:r>
            <a:r>
              <a:rPr lang="zh-CN" altLang="en-US"/>
              <a:t> </a:t>
            </a:r>
            <a:r>
              <a:rPr lang="en-US" altLang="zh-CN"/>
              <a:t>forward</a:t>
            </a:r>
            <a:r>
              <a:rPr lang="zh-CN" altLang="en-US"/>
              <a:t> </a:t>
            </a:r>
            <a:r>
              <a:rPr lang="en-US" altLang="zh-CN"/>
              <a:t>attention</a:t>
            </a:r>
          </a:p>
          <a:p>
            <a:r>
              <a:rPr lang="en-US" err="1"/>
              <a:t>其中</a:t>
            </a:r>
            <a:r>
              <a:rPr lang="zh-CN" altLang="en-US"/>
              <a:t> </a:t>
            </a:r>
            <a:r>
              <a:rPr lang="en-US" altLang="zh-CN"/>
              <a:t>attention</a:t>
            </a:r>
            <a:r>
              <a:rPr lang="zh-CN" altLang="en-US"/>
              <a:t> 的形式如公式所示</a:t>
            </a:r>
            <a:endParaRPr lang="en-US" altLang="zh-CN"/>
          </a:p>
          <a:p>
            <a:r>
              <a:rPr lang="zh-CN" altLang="en-US"/>
              <a:t>其核心是计算输入向量（也就是隐向量）的加权平均，从而得到 </a:t>
            </a:r>
            <a:r>
              <a:rPr lang="en-US" altLang="zh-CN"/>
              <a:t>context</a:t>
            </a:r>
            <a:r>
              <a:rPr lang="zh-CN" altLang="en-US"/>
              <a:t> 向量</a:t>
            </a:r>
            <a:endParaRPr lang="en-US" altLang="zh-CN"/>
          </a:p>
        </p:txBody>
      </p:sp>
      <p:sp>
        <p:nvSpPr>
          <p:cNvPr id="4" name="Slide Number Placeholder 3"/>
          <p:cNvSpPr>
            <a:spLocks noGrp="1"/>
          </p:cNvSpPr>
          <p:nvPr>
            <p:ph type="sldNum" sz="quarter" idx="5"/>
          </p:nvPr>
        </p:nvSpPr>
        <p:spPr/>
        <p:txBody>
          <a:bodyPr/>
          <a:lstStyle/>
          <a:p>
            <a:fld id="{997DF73A-65DB-6E41-B185-11DF594A0732}" type="slidenum">
              <a:rPr lang="en-US" smtClean="0"/>
              <a:t>15</a:t>
            </a:fld>
            <a:endParaRPr lang="en-US"/>
          </a:p>
        </p:txBody>
      </p:sp>
    </p:spTree>
    <p:extLst>
      <p:ext uri="{BB962C8B-B14F-4D97-AF65-F5344CB8AC3E}">
        <p14:creationId xmlns:p14="http://schemas.microsoft.com/office/powerpoint/2010/main" val="27542756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Attention</a:t>
            </a:r>
            <a:r>
              <a:rPr lang="zh-CN" altLang="en-US"/>
              <a:t>公式的解读，</a:t>
            </a:r>
            <a:r>
              <a:rPr lang="en-US" altLang="zh-CN"/>
              <a:t>1.</a:t>
            </a:r>
            <a:r>
              <a:rPr lang="zh-CN" altLang="en-US"/>
              <a:t> 可以编码长距离；</a:t>
            </a:r>
            <a:r>
              <a:rPr lang="en-US" altLang="zh-CN"/>
              <a:t>2.</a:t>
            </a:r>
            <a:r>
              <a:rPr lang="zh-CN" altLang="en-US"/>
              <a:t>输入之间的 </a:t>
            </a:r>
            <a:r>
              <a:rPr lang="en-US" altLang="zh-CN"/>
              <a:t>order</a:t>
            </a:r>
            <a:r>
              <a:rPr lang="zh-CN" altLang="en-US"/>
              <a:t> 信息无法编码</a:t>
            </a: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Attention</a:t>
            </a:r>
            <a:r>
              <a:rPr lang="zh-CN" altLang="en-US"/>
              <a:t>中有一个很重要的点，就是 </a:t>
            </a:r>
            <a:r>
              <a:rPr lang="en-US" altLang="zh-CN"/>
              <a:t>attention</a:t>
            </a:r>
            <a:r>
              <a:rPr lang="zh-CN" altLang="en-US"/>
              <a:t> 权重是怎么算的</a:t>
            </a:r>
            <a:endParaRPr lang="en-US"/>
          </a:p>
          <a:p>
            <a:endParaRPr lang="en-US"/>
          </a:p>
        </p:txBody>
      </p:sp>
      <p:sp>
        <p:nvSpPr>
          <p:cNvPr id="4" name="Slide Number Placeholder 3"/>
          <p:cNvSpPr>
            <a:spLocks noGrp="1"/>
          </p:cNvSpPr>
          <p:nvPr>
            <p:ph type="sldNum" sz="quarter" idx="5"/>
          </p:nvPr>
        </p:nvSpPr>
        <p:spPr/>
        <p:txBody>
          <a:bodyPr/>
          <a:lstStyle/>
          <a:p>
            <a:fld id="{997DF73A-65DB-6E41-B185-11DF594A0732}" type="slidenum">
              <a:rPr lang="en-US" smtClean="0"/>
              <a:t>16</a:t>
            </a:fld>
            <a:endParaRPr lang="en-US"/>
          </a:p>
        </p:txBody>
      </p:sp>
    </p:spTree>
    <p:extLst>
      <p:ext uri="{BB962C8B-B14F-4D97-AF65-F5344CB8AC3E}">
        <p14:creationId xmlns:p14="http://schemas.microsoft.com/office/powerpoint/2010/main" val="32530029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在</a:t>
            </a:r>
            <a:r>
              <a:rPr lang="zh-CN" altLang="en-US"/>
              <a:t> </a:t>
            </a:r>
            <a:r>
              <a:rPr lang="en-US" altLang="zh-CN" err="1"/>
              <a:t>ffa</a:t>
            </a:r>
            <a:r>
              <a:rPr lang="zh-CN" altLang="en-US"/>
              <a:t> 中，直接通过一个全连接层，也就是两个向量内积计算</a:t>
            </a:r>
            <a:endParaRPr lang="en-US" altLang="zh-CN"/>
          </a:p>
          <a:p>
            <a:r>
              <a:rPr lang="zh-CN" altLang="en-US"/>
              <a:t>其中向量 </a:t>
            </a:r>
            <a:r>
              <a:rPr lang="en-US" altLang="zh-CN"/>
              <a:t>w</a:t>
            </a:r>
            <a:r>
              <a:rPr lang="zh-CN" altLang="en-US"/>
              <a:t> 是可训练的</a:t>
            </a:r>
            <a:endParaRPr lang="en-US" altLang="zh-CN"/>
          </a:p>
          <a:p>
            <a:r>
              <a:rPr lang="en-US" err="1"/>
              <a:t>通过对每一个隐向量的分析</a:t>
            </a:r>
            <a:r>
              <a:rPr lang="zh-CN" altLang="en-US"/>
              <a:t>，可以发现，与 </a:t>
            </a:r>
            <a:r>
              <a:rPr lang="en-US" altLang="zh-CN"/>
              <a:t>w</a:t>
            </a:r>
            <a:r>
              <a:rPr lang="zh-CN" altLang="en-US"/>
              <a:t> 相近的，权重就高</a:t>
            </a:r>
            <a:endParaRPr lang="en-US" altLang="zh-CN"/>
          </a:p>
          <a:p>
            <a:r>
              <a:rPr lang="zh-CN" altLang="en-US"/>
              <a:t>（接下一页进一步解读 </a:t>
            </a:r>
            <a:r>
              <a:rPr lang="en-US" altLang="zh-CN"/>
              <a:t>w</a:t>
            </a:r>
            <a:r>
              <a:rPr lang="zh-CN" altLang="en-US"/>
              <a:t>）</a:t>
            </a:r>
            <a:endParaRPr lang="en-US" altLang="zh-CN"/>
          </a:p>
          <a:p>
            <a:endParaRPr lang="en-US" altLang="zh-CN"/>
          </a:p>
        </p:txBody>
      </p:sp>
      <p:sp>
        <p:nvSpPr>
          <p:cNvPr id="4" name="Slide Number Placeholder 3"/>
          <p:cNvSpPr>
            <a:spLocks noGrp="1"/>
          </p:cNvSpPr>
          <p:nvPr>
            <p:ph type="sldNum" sz="quarter" idx="5"/>
          </p:nvPr>
        </p:nvSpPr>
        <p:spPr/>
        <p:txBody>
          <a:bodyPr/>
          <a:lstStyle/>
          <a:p>
            <a:fld id="{997DF73A-65DB-6E41-B185-11DF594A0732}" type="slidenum">
              <a:rPr lang="en-US" smtClean="0"/>
              <a:t>17</a:t>
            </a:fld>
            <a:endParaRPr lang="en-US"/>
          </a:p>
        </p:txBody>
      </p:sp>
    </p:spTree>
    <p:extLst>
      <p:ext uri="{BB962C8B-B14F-4D97-AF65-F5344CB8AC3E}">
        <p14:creationId xmlns:p14="http://schemas.microsoft.com/office/powerpoint/2010/main" val="42532015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所以在训练的过程中</a:t>
            </a:r>
            <a:r>
              <a:rPr lang="zh-CN" altLang="en-US"/>
              <a:t>，会学习这个</a:t>
            </a:r>
            <a:r>
              <a:rPr lang="en-US" altLang="zh-CN"/>
              <a:t>w</a:t>
            </a:r>
            <a:r>
              <a:rPr lang="zh-CN" altLang="en-US"/>
              <a:t>，学习怎么去选择重要的 </a:t>
            </a:r>
            <a:r>
              <a:rPr lang="en-US" altLang="zh-CN"/>
              <a:t>hidden</a:t>
            </a:r>
            <a:r>
              <a:rPr lang="zh-CN" altLang="en-US"/>
              <a:t> </a:t>
            </a:r>
            <a:r>
              <a:rPr lang="en-US" altLang="zh-CN"/>
              <a:t>vector</a:t>
            </a:r>
          </a:p>
          <a:p>
            <a:endParaRPr lang="en-US"/>
          </a:p>
          <a:p>
            <a:r>
              <a:rPr lang="en-US" err="1"/>
              <a:t>下面通过</a:t>
            </a:r>
            <a:r>
              <a:rPr lang="zh-CN" altLang="en-US"/>
              <a:t> </a:t>
            </a:r>
            <a:r>
              <a:rPr lang="en-US" altLang="zh-CN" err="1"/>
              <a:t>ffa</a:t>
            </a:r>
            <a:r>
              <a:rPr lang="zh-CN" altLang="en-US"/>
              <a:t> 在 </a:t>
            </a:r>
            <a:r>
              <a:rPr lang="en-US" altLang="zh-CN"/>
              <a:t>RNN</a:t>
            </a:r>
            <a:r>
              <a:rPr lang="zh-CN" altLang="en-US"/>
              <a:t> 中做机器翻译的例子，来直观看看 </a:t>
            </a:r>
            <a:r>
              <a:rPr lang="en-US" altLang="zh-CN"/>
              <a:t>attention</a:t>
            </a:r>
            <a:r>
              <a:rPr lang="zh-CN" altLang="en-US"/>
              <a:t> 是如何应用的</a:t>
            </a:r>
            <a:endParaRPr lang="en-US"/>
          </a:p>
        </p:txBody>
      </p:sp>
      <p:sp>
        <p:nvSpPr>
          <p:cNvPr id="4" name="Slide Number Placeholder 3"/>
          <p:cNvSpPr>
            <a:spLocks noGrp="1"/>
          </p:cNvSpPr>
          <p:nvPr>
            <p:ph type="sldNum" sz="quarter" idx="5"/>
          </p:nvPr>
        </p:nvSpPr>
        <p:spPr/>
        <p:txBody>
          <a:bodyPr/>
          <a:lstStyle/>
          <a:p>
            <a:fld id="{997DF73A-65DB-6E41-B185-11DF594A0732}" type="slidenum">
              <a:rPr lang="en-US" smtClean="0"/>
              <a:t>18</a:t>
            </a:fld>
            <a:endParaRPr lang="en-US"/>
          </a:p>
        </p:txBody>
      </p:sp>
    </p:spTree>
    <p:extLst>
      <p:ext uri="{BB962C8B-B14F-4D97-AF65-F5344CB8AC3E}">
        <p14:creationId xmlns:p14="http://schemas.microsoft.com/office/powerpoint/2010/main" val="13047743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AB863-B9AF-10B9-FC70-940303DC10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421556-CD48-85DE-CD1A-6A58BD6219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AF078C-ABF3-CBE2-645D-A58F4F83ED9E}"/>
              </a:ext>
            </a:extLst>
          </p:cNvPr>
          <p:cNvSpPr>
            <a:spLocks noGrp="1"/>
          </p:cNvSpPr>
          <p:nvPr>
            <p:ph type="body" idx="1"/>
          </p:nvPr>
        </p:nvSpPr>
        <p:spPr/>
        <p:txBody>
          <a:bodyPr/>
          <a:lstStyle/>
          <a:p>
            <a:r>
              <a:rPr lang="en-US" err="1"/>
              <a:t>任务是英语到法语的翻译</a:t>
            </a:r>
            <a:endParaRPr lang="en-US"/>
          </a:p>
          <a:p>
            <a:endParaRPr lang="en-US"/>
          </a:p>
          <a:p>
            <a:r>
              <a:rPr lang="en-US" err="1"/>
              <a:t>目前状态已经编码完毕</a:t>
            </a:r>
            <a:r>
              <a:rPr lang="zh-CN" altLang="en-US"/>
              <a:t>，下一步开始解码，解码过程用到 </a:t>
            </a:r>
            <a:r>
              <a:rPr lang="en-US" altLang="zh-CN"/>
              <a:t>attention</a:t>
            </a:r>
          </a:p>
          <a:p>
            <a:endParaRPr lang="en-US"/>
          </a:p>
          <a:p>
            <a:r>
              <a:rPr lang="en-US" err="1"/>
              <a:t>可以解释一下为什么翻译会用到</a:t>
            </a:r>
            <a:r>
              <a:rPr lang="zh-CN" altLang="en-US"/>
              <a:t> </a:t>
            </a:r>
            <a:r>
              <a:rPr lang="en-US" altLang="zh-CN"/>
              <a:t>attention</a:t>
            </a:r>
            <a:r>
              <a:rPr lang="zh-CN" altLang="en-US"/>
              <a:t>，因为翻译的两种语言的单位（词、短语）之间有明显的对应关系，借助 </a:t>
            </a:r>
            <a:r>
              <a:rPr lang="en-US" altLang="zh-CN"/>
              <a:t>attention</a:t>
            </a:r>
            <a:r>
              <a:rPr lang="zh-CN" altLang="en-US"/>
              <a:t> 可以选择那些具有很强对应关系的单位，帮助翻译的效果</a:t>
            </a:r>
            <a:endParaRPr lang="en-US"/>
          </a:p>
        </p:txBody>
      </p:sp>
      <p:sp>
        <p:nvSpPr>
          <p:cNvPr id="4" name="Slide Number Placeholder 3">
            <a:extLst>
              <a:ext uri="{FF2B5EF4-FFF2-40B4-BE49-F238E27FC236}">
                <a16:creationId xmlns:a16="http://schemas.microsoft.com/office/drawing/2014/main" id="{7E8D09A1-DC84-B2C4-338C-C137369046F1}"/>
              </a:ext>
            </a:extLst>
          </p:cNvPr>
          <p:cNvSpPr>
            <a:spLocks noGrp="1"/>
          </p:cNvSpPr>
          <p:nvPr>
            <p:ph type="sldNum" sz="quarter" idx="5"/>
          </p:nvPr>
        </p:nvSpPr>
        <p:spPr/>
        <p:txBody>
          <a:bodyPr/>
          <a:lstStyle/>
          <a:p>
            <a:fld id="{997DF73A-65DB-6E41-B185-11DF594A0732}" type="slidenum">
              <a:rPr lang="en-US" smtClean="0"/>
              <a:t>19</a:t>
            </a:fld>
            <a:endParaRPr lang="en-US"/>
          </a:p>
        </p:txBody>
      </p:sp>
    </p:spTree>
    <p:extLst>
      <p:ext uri="{BB962C8B-B14F-4D97-AF65-F5344CB8AC3E}">
        <p14:creationId xmlns:p14="http://schemas.microsoft.com/office/powerpoint/2010/main" val="38719610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A43D0-76F4-542F-DF2E-77EE4340B5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2103EE-97CF-7D1D-B89B-4E272BDD66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AA88E2-12B4-A851-D7D9-1228B0E397DA}"/>
              </a:ext>
            </a:extLst>
          </p:cNvPr>
          <p:cNvSpPr>
            <a:spLocks noGrp="1"/>
          </p:cNvSpPr>
          <p:nvPr>
            <p:ph type="body" idx="1"/>
          </p:nvPr>
        </p:nvSpPr>
        <p:spPr/>
        <p:txBody>
          <a:bodyPr/>
          <a:lstStyle/>
          <a:p>
            <a:r>
              <a:rPr lang="en-US" dirty="0" err="1"/>
              <a:t>这里完全</a:t>
            </a:r>
            <a:r>
              <a:rPr lang="zh-CN" altLang="en-US" dirty="0"/>
              <a:t> </a:t>
            </a:r>
            <a:r>
              <a:rPr lang="en-US" altLang="zh-CN" dirty="0"/>
              <a:t>follow</a:t>
            </a:r>
            <a:r>
              <a:rPr lang="zh-CN" altLang="en-US" dirty="0"/>
              <a:t> </a:t>
            </a:r>
            <a:r>
              <a:rPr lang="en-US" altLang="zh-CN" dirty="0" err="1"/>
              <a:t>ffw</a:t>
            </a:r>
            <a:r>
              <a:rPr lang="zh-CN" altLang="en-US" dirty="0"/>
              <a:t> 的计算方法，通过全连接计算对齐分数</a:t>
            </a:r>
            <a:endParaRPr lang="en-US" dirty="0"/>
          </a:p>
        </p:txBody>
      </p:sp>
      <p:sp>
        <p:nvSpPr>
          <p:cNvPr id="4" name="Slide Number Placeholder 3">
            <a:extLst>
              <a:ext uri="{FF2B5EF4-FFF2-40B4-BE49-F238E27FC236}">
                <a16:creationId xmlns:a16="http://schemas.microsoft.com/office/drawing/2014/main" id="{76B1BE68-D625-042F-36F4-762AB7FE0F10}"/>
              </a:ext>
            </a:extLst>
          </p:cNvPr>
          <p:cNvSpPr>
            <a:spLocks noGrp="1"/>
          </p:cNvSpPr>
          <p:nvPr>
            <p:ph type="sldNum" sz="quarter" idx="5"/>
          </p:nvPr>
        </p:nvSpPr>
        <p:spPr/>
        <p:txBody>
          <a:bodyPr/>
          <a:lstStyle/>
          <a:p>
            <a:fld id="{997DF73A-65DB-6E41-B185-11DF594A0732}" type="slidenum">
              <a:rPr lang="en-US" smtClean="0"/>
              <a:t>20</a:t>
            </a:fld>
            <a:endParaRPr lang="en-US"/>
          </a:p>
        </p:txBody>
      </p:sp>
    </p:spTree>
    <p:extLst>
      <p:ext uri="{BB962C8B-B14F-4D97-AF65-F5344CB8AC3E}">
        <p14:creationId xmlns:p14="http://schemas.microsoft.com/office/powerpoint/2010/main" val="5687670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第二步</a:t>
            </a:r>
            <a:r>
              <a:rPr lang="zh-CN" altLang="en-US"/>
              <a:t> </a:t>
            </a:r>
            <a:r>
              <a:rPr lang="en-US" altLang="zh-CN" err="1"/>
              <a:t>softmaz</a:t>
            </a:r>
            <a:endParaRPr lang="en-US"/>
          </a:p>
        </p:txBody>
      </p:sp>
      <p:sp>
        <p:nvSpPr>
          <p:cNvPr id="4" name="Slide Number Placeholder 3"/>
          <p:cNvSpPr>
            <a:spLocks noGrp="1"/>
          </p:cNvSpPr>
          <p:nvPr>
            <p:ph type="sldNum" sz="quarter" idx="5"/>
          </p:nvPr>
        </p:nvSpPr>
        <p:spPr/>
        <p:txBody>
          <a:bodyPr/>
          <a:lstStyle/>
          <a:p>
            <a:fld id="{997DF73A-65DB-6E41-B185-11DF594A0732}" type="slidenum">
              <a:rPr lang="en-US" smtClean="0"/>
              <a:t>21</a:t>
            </a:fld>
            <a:endParaRPr lang="en-US"/>
          </a:p>
        </p:txBody>
      </p:sp>
    </p:spTree>
    <p:extLst>
      <p:ext uri="{BB962C8B-B14F-4D97-AF65-F5344CB8AC3E}">
        <p14:creationId xmlns:p14="http://schemas.microsoft.com/office/powerpoint/2010/main" val="33109556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第三步是加权整合源语言的</a:t>
            </a:r>
            <a:r>
              <a:rPr lang="zh-CN" altLang="en-US"/>
              <a:t> </a:t>
            </a:r>
            <a:r>
              <a:rPr lang="en-US" altLang="zh-CN"/>
              <a:t>hidden</a:t>
            </a:r>
            <a:r>
              <a:rPr lang="zh-CN" altLang="en-US"/>
              <a:t> </a:t>
            </a:r>
            <a:r>
              <a:rPr lang="en-US" altLang="zh-CN"/>
              <a:t>states</a:t>
            </a:r>
            <a:r>
              <a:rPr lang="zh-CN" altLang="en-US"/>
              <a:t>，形成当前时刻的 </a:t>
            </a:r>
            <a:r>
              <a:rPr lang="en-US" altLang="zh-CN"/>
              <a:t>context</a:t>
            </a:r>
            <a:r>
              <a:rPr lang="zh-CN" altLang="en-US"/>
              <a:t> </a:t>
            </a:r>
            <a:r>
              <a:rPr lang="en-US" altLang="zh-CN"/>
              <a:t>vector</a:t>
            </a:r>
            <a:endParaRPr lang="en-US"/>
          </a:p>
        </p:txBody>
      </p:sp>
      <p:sp>
        <p:nvSpPr>
          <p:cNvPr id="4" name="Slide Number Placeholder 3"/>
          <p:cNvSpPr>
            <a:spLocks noGrp="1"/>
          </p:cNvSpPr>
          <p:nvPr>
            <p:ph type="sldNum" sz="quarter" idx="5"/>
          </p:nvPr>
        </p:nvSpPr>
        <p:spPr/>
        <p:txBody>
          <a:bodyPr/>
          <a:lstStyle/>
          <a:p>
            <a:fld id="{997DF73A-65DB-6E41-B185-11DF594A0732}" type="slidenum">
              <a:rPr lang="en-US" smtClean="0"/>
              <a:t>22</a:t>
            </a:fld>
            <a:endParaRPr lang="en-US"/>
          </a:p>
        </p:txBody>
      </p:sp>
    </p:spTree>
    <p:extLst>
      <p:ext uri="{BB962C8B-B14F-4D97-AF65-F5344CB8AC3E}">
        <p14:creationId xmlns:p14="http://schemas.microsoft.com/office/powerpoint/2010/main" val="9416721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238C3-3CB8-8A60-BE07-5DB96CC33F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8051A1-603C-3EEB-6A5E-CA45A8C471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152AD0-BB3A-6876-E6E0-FF41555F136F}"/>
              </a:ext>
            </a:extLst>
          </p:cNvPr>
          <p:cNvSpPr>
            <a:spLocks noGrp="1"/>
          </p:cNvSpPr>
          <p:nvPr>
            <p:ph type="body" idx="1"/>
          </p:nvPr>
        </p:nvSpPr>
        <p:spPr/>
        <p:txBody>
          <a:bodyPr/>
          <a:lstStyle/>
          <a:p>
            <a:r>
              <a:rPr lang="en-US" dirty="0" err="1"/>
              <a:t>然后</a:t>
            </a:r>
            <a:r>
              <a:rPr lang="zh-CN" altLang="en-US" dirty="0"/>
              <a:t> </a:t>
            </a:r>
            <a:r>
              <a:rPr lang="en-US" altLang="zh-CN" dirty="0"/>
              <a:t>context</a:t>
            </a:r>
            <a:r>
              <a:rPr lang="zh-CN" altLang="en-US" dirty="0"/>
              <a:t> </a:t>
            </a:r>
            <a:r>
              <a:rPr lang="en-US" altLang="zh-CN" dirty="0"/>
              <a:t>vector</a:t>
            </a:r>
            <a:r>
              <a:rPr lang="zh-CN" altLang="en-US" dirty="0"/>
              <a:t> 和 </a:t>
            </a:r>
            <a:r>
              <a:rPr lang="en-US" altLang="zh-CN" dirty="0"/>
              <a:t>y</a:t>
            </a:r>
            <a:r>
              <a:rPr lang="zh-CN" altLang="en-US" dirty="0"/>
              <a:t> 一起输入 </a:t>
            </a:r>
            <a:r>
              <a:rPr lang="en-US" altLang="zh-CN" dirty="0"/>
              <a:t>RNN</a:t>
            </a:r>
            <a:r>
              <a:rPr lang="zh-CN" altLang="en-US" dirty="0"/>
              <a:t>，得到输出</a:t>
            </a:r>
            <a:endParaRPr lang="en-US" altLang="zh-CN" dirty="0"/>
          </a:p>
          <a:p>
            <a:r>
              <a:rPr lang="zh-CN" altLang="en-US" dirty="0"/>
              <a:t>这里，理想情况下，与当前要输出的法语翻译对应的词应当获得更高的权重</a:t>
            </a:r>
            <a:endParaRPr lang="en-US" altLang="zh-CN" dirty="0"/>
          </a:p>
          <a:p>
            <a:endParaRPr lang="en-US" dirty="0"/>
          </a:p>
          <a:p>
            <a:r>
              <a:rPr lang="zh-CN" altLang="en-US" dirty="0"/>
              <a:t>到这一步，我们生成第一个词的过程就完成了，下面是生成第二个词</a:t>
            </a:r>
            <a:endParaRPr lang="en-US" altLang="zh-CN" dirty="0"/>
          </a:p>
          <a:p>
            <a:r>
              <a:rPr lang="zh-CN" altLang="en-US" dirty="0"/>
              <a:t>在这之前，需要注意一下 </a:t>
            </a:r>
            <a:r>
              <a:rPr lang="en-US" altLang="zh-CN" dirty="0" err="1"/>
              <a:t>c_i</a:t>
            </a:r>
            <a:r>
              <a:rPr lang="zh-CN" altLang="en-US" dirty="0"/>
              <a:t> 通过所有 </a:t>
            </a:r>
            <a:r>
              <a:rPr lang="en-US" altLang="zh-CN" dirty="0"/>
              <a:t>h</a:t>
            </a:r>
            <a:r>
              <a:rPr lang="zh-CN" altLang="en-US" dirty="0"/>
              <a:t> 以及前一个状态 </a:t>
            </a:r>
            <a:r>
              <a:rPr lang="en-US" altLang="zh-CN" dirty="0"/>
              <a:t>s</a:t>
            </a:r>
            <a:r>
              <a:rPr lang="zh-CN" altLang="en-US" dirty="0"/>
              <a:t> 计算得到</a:t>
            </a:r>
            <a:endParaRPr lang="en-US" dirty="0"/>
          </a:p>
        </p:txBody>
      </p:sp>
      <p:sp>
        <p:nvSpPr>
          <p:cNvPr id="4" name="Slide Number Placeholder 3">
            <a:extLst>
              <a:ext uri="{FF2B5EF4-FFF2-40B4-BE49-F238E27FC236}">
                <a16:creationId xmlns:a16="http://schemas.microsoft.com/office/drawing/2014/main" id="{528D219A-6394-E031-18BD-141A20C4B367}"/>
              </a:ext>
            </a:extLst>
          </p:cNvPr>
          <p:cNvSpPr>
            <a:spLocks noGrp="1"/>
          </p:cNvSpPr>
          <p:nvPr>
            <p:ph type="sldNum" sz="quarter" idx="5"/>
          </p:nvPr>
        </p:nvSpPr>
        <p:spPr/>
        <p:txBody>
          <a:bodyPr/>
          <a:lstStyle/>
          <a:p>
            <a:fld id="{997DF73A-65DB-6E41-B185-11DF594A0732}" type="slidenum">
              <a:rPr lang="en-US" smtClean="0"/>
              <a:t>23</a:t>
            </a:fld>
            <a:endParaRPr lang="en-US"/>
          </a:p>
        </p:txBody>
      </p:sp>
    </p:spTree>
    <p:extLst>
      <p:ext uri="{BB962C8B-B14F-4D97-AF65-F5344CB8AC3E}">
        <p14:creationId xmlns:p14="http://schemas.microsoft.com/office/powerpoint/2010/main" val="41444367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为了后面的表述方便</a:t>
            </a:r>
            <a:r>
              <a:rPr lang="zh-CN" altLang="en-US"/>
              <a:t>，我们把这一步的过程简化一下。</a:t>
            </a:r>
            <a:endParaRPr lang="en-US" altLang="zh-CN"/>
          </a:p>
          <a:p>
            <a:r>
              <a:rPr lang="zh-CN" altLang="en-US"/>
              <a:t>这里相当于</a:t>
            </a:r>
            <a:r>
              <a:rPr lang="en-US" altLang="zh-CN"/>
              <a:t>s_0</a:t>
            </a:r>
            <a:r>
              <a:rPr lang="zh-CN" altLang="en-US"/>
              <a:t> 和 所有的输入，一起通过 </a:t>
            </a:r>
            <a:r>
              <a:rPr lang="en-US" altLang="zh-CN"/>
              <a:t>attention</a:t>
            </a:r>
            <a:r>
              <a:rPr lang="zh-CN" altLang="en-US"/>
              <a:t>，计算了 </a:t>
            </a:r>
            <a:r>
              <a:rPr lang="en-US" altLang="zh-CN"/>
              <a:t>c_1</a:t>
            </a:r>
            <a:r>
              <a:rPr lang="zh-CN" altLang="en-US"/>
              <a:t> </a:t>
            </a:r>
            <a:endParaRPr lang="en-US"/>
          </a:p>
        </p:txBody>
      </p:sp>
      <p:sp>
        <p:nvSpPr>
          <p:cNvPr id="4" name="Slide Number Placeholder 3"/>
          <p:cNvSpPr>
            <a:spLocks noGrp="1"/>
          </p:cNvSpPr>
          <p:nvPr>
            <p:ph type="sldNum" sz="quarter" idx="5"/>
          </p:nvPr>
        </p:nvSpPr>
        <p:spPr/>
        <p:txBody>
          <a:bodyPr/>
          <a:lstStyle/>
          <a:p>
            <a:fld id="{997DF73A-65DB-6E41-B185-11DF594A0732}" type="slidenum">
              <a:rPr lang="en-US" smtClean="0"/>
              <a:t>24</a:t>
            </a:fld>
            <a:endParaRPr lang="en-US"/>
          </a:p>
        </p:txBody>
      </p:sp>
    </p:spTree>
    <p:extLst>
      <p:ext uri="{BB962C8B-B14F-4D97-AF65-F5344CB8AC3E}">
        <p14:creationId xmlns:p14="http://schemas.microsoft.com/office/powerpoint/2010/main" val="30443888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第二步的过程与第一步一样</a:t>
            </a:r>
            <a:endParaRPr lang="en-US"/>
          </a:p>
          <a:p>
            <a:endParaRPr lang="en-US"/>
          </a:p>
          <a:p>
            <a:r>
              <a:rPr lang="en-US" err="1"/>
              <a:t>需要注意的是</a:t>
            </a:r>
            <a:r>
              <a:rPr lang="zh-CN" altLang="en-US"/>
              <a:t>，第二步的</a:t>
            </a:r>
            <a:r>
              <a:rPr lang="en-US" altLang="zh-CN"/>
              <a:t>context</a:t>
            </a:r>
            <a:r>
              <a:rPr lang="zh-CN" altLang="en-US"/>
              <a:t> </a:t>
            </a:r>
            <a:r>
              <a:rPr lang="en-US" altLang="zh-CN"/>
              <a:t>vector</a:t>
            </a:r>
            <a:r>
              <a:rPr lang="zh-CN" altLang="en-US"/>
              <a:t> 与之前不同了，保证了每个时刻，都会有不同的 </a:t>
            </a:r>
            <a:r>
              <a:rPr lang="en-US" altLang="zh-CN"/>
              <a:t>context</a:t>
            </a:r>
            <a:r>
              <a:rPr lang="zh-CN" altLang="en-US"/>
              <a:t> </a:t>
            </a:r>
            <a:r>
              <a:rPr lang="en-US" altLang="zh-CN"/>
              <a:t>vector</a:t>
            </a:r>
            <a:r>
              <a:rPr lang="zh-CN" altLang="en-US"/>
              <a:t> 帮助预测下一个词</a:t>
            </a:r>
            <a:endParaRPr lang="en-US"/>
          </a:p>
        </p:txBody>
      </p:sp>
      <p:sp>
        <p:nvSpPr>
          <p:cNvPr id="4" name="Slide Number Placeholder 3"/>
          <p:cNvSpPr>
            <a:spLocks noGrp="1"/>
          </p:cNvSpPr>
          <p:nvPr>
            <p:ph type="sldNum" sz="quarter" idx="5"/>
          </p:nvPr>
        </p:nvSpPr>
        <p:spPr/>
        <p:txBody>
          <a:bodyPr/>
          <a:lstStyle/>
          <a:p>
            <a:fld id="{997DF73A-65DB-6E41-B185-11DF594A0732}" type="slidenum">
              <a:rPr lang="en-US" smtClean="0"/>
              <a:t>25</a:t>
            </a:fld>
            <a:endParaRPr lang="en-US"/>
          </a:p>
        </p:txBody>
      </p:sp>
    </p:spTree>
    <p:extLst>
      <p:ext uri="{BB962C8B-B14F-4D97-AF65-F5344CB8AC3E}">
        <p14:creationId xmlns:p14="http://schemas.microsoft.com/office/powerpoint/2010/main" val="14890036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反复重复</a:t>
            </a:r>
            <a:endParaRPr lang="en-US"/>
          </a:p>
        </p:txBody>
      </p:sp>
      <p:sp>
        <p:nvSpPr>
          <p:cNvPr id="4" name="Slide Number Placeholder 3"/>
          <p:cNvSpPr>
            <a:spLocks noGrp="1"/>
          </p:cNvSpPr>
          <p:nvPr>
            <p:ph type="sldNum" sz="quarter" idx="5"/>
          </p:nvPr>
        </p:nvSpPr>
        <p:spPr/>
        <p:txBody>
          <a:bodyPr/>
          <a:lstStyle/>
          <a:p>
            <a:fld id="{997DF73A-65DB-6E41-B185-11DF594A0732}" type="slidenum">
              <a:rPr lang="en-US" smtClean="0"/>
              <a:t>26</a:t>
            </a:fld>
            <a:endParaRPr lang="en-US"/>
          </a:p>
        </p:txBody>
      </p:sp>
    </p:spTree>
    <p:extLst>
      <p:ext uri="{BB962C8B-B14F-4D97-AF65-F5344CB8AC3E}">
        <p14:creationId xmlns:p14="http://schemas.microsoft.com/office/powerpoint/2010/main" val="39967531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与之前对</a:t>
            </a:r>
            <a:r>
              <a:rPr lang="zh-CN" altLang="en-US"/>
              <a:t> </a:t>
            </a:r>
            <a:r>
              <a:rPr lang="en-US" altLang="zh-CN" err="1"/>
              <a:t>ffa</a:t>
            </a:r>
            <a:r>
              <a:rPr lang="zh-CN" altLang="en-US"/>
              <a:t> 的分析类似，我们再分析一下 </a:t>
            </a:r>
            <a:r>
              <a:rPr lang="en-US" altLang="zh-CN"/>
              <a:t>attention</a:t>
            </a:r>
            <a:r>
              <a:rPr lang="zh-CN" altLang="en-US"/>
              <a:t> 是怎么计算的</a:t>
            </a:r>
            <a:endParaRPr lang="en-US" altLang="zh-CN"/>
          </a:p>
          <a:p>
            <a:r>
              <a:rPr lang="zh-CN" altLang="en-US"/>
              <a:t>同样，</a:t>
            </a:r>
            <a:r>
              <a:rPr lang="en-US" altLang="zh-CN"/>
              <a:t>w</a:t>
            </a:r>
            <a:r>
              <a:rPr lang="zh-CN" altLang="en-US"/>
              <a:t>参数选择哪些输入重要</a:t>
            </a:r>
            <a:endParaRPr lang="en-US" altLang="zh-CN"/>
          </a:p>
          <a:p>
            <a:r>
              <a:rPr lang="zh-CN" altLang="en-US"/>
              <a:t>训练过程中，</a:t>
            </a:r>
            <a:r>
              <a:rPr lang="en-US" altLang="zh-CN"/>
              <a:t>w</a:t>
            </a:r>
            <a:r>
              <a:rPr lang="zh-CN" altLang="en-US"/>
              <a:t>就会专门针对英语到法语的翻译做优化，从翻译角度，专门选择重要的输入</a:t>
            </a:r>
            <a:endParaRPr lang="en-US"/>
          </a:p>
        </p:txBody>
      </p:sp>
      <p:sp>
        <p:nvSpPr>
          <p:cNvPr id="4" name="Slide Number Placeholder 3"/>
          <p:cNvSpPr>
            <a:spLocks noGrp="1"/>
          </p:cNvSpPr>
          <p:nvPr>
            <p:ph type="sldNum" sz="quarter" idx="5"/>
          </p:nvPr>
        </p:nvSpPr>
        <p:spPr/>
        <p:txBody>
          <a:bodyPr/>
          <a:lstStyle/>
          <a:p>
            <a:fld id="{997DF73A-65DB-6E41-B185-11DF594A0732}" type="slidenum">
              <a:rPr lang="en-US" smtClean="0"/>
              <a:t>27</a:t>
            </a:fld>
            <a:endParaRPr lang="en-US"/>
          </a:p>
        </p:txBody>
      </p:sp>
    </p:spTree>
    <p:extLst>
      <p:ext uri="{BB962C8B-B14F-4D97-AF65-F5344CB8AC3E}">
        <p14:creationId xmlns:p14="http://schemas.microsoft.com/office/powerpoint/2010/main" val="14376130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为了直观理解</a:t>
            </a:r>
            <a:r>
              <a:rPr lang="zh-CN" altLang="en-US"/>
              <a:t>，这里做了权重的可视化</a:t>
            </a:r>
            <a:endParaRPr lang="en-US"/>
          </a:p>
        </p:txBody>
      </p:sp>
      <p:sp>
        <p:nvSpPr>
          <p:cNvPr id="4" name="Slide Number Placeholder 3"/>
          <p:cNvSpPr>
            <a:spLocks noGrp="1"/>
          </p:cNvSpPr>
          <p:nvPr>
            <p:ph type="sldNum" sz="quarter" idx="5"/>
          </p:nvPr>
        </p:nvSpPr>
        <p:spPr/>
        <p:txBody>
          <a:bodyPr/>
          <a:lstStyle/>
          <a:p>
            <a:fld id="{997DF73A-65DB-6E41-B185-11DF594A0732}" type="slidenum">
              <a:rPr lang="en-US" smtClean="0"/>
              <a:t>28</a:t>
            </a:fld>
            <a:endParaRPr lang="en-US"/>
          </a:p>
        </p:txBody>
      </p:sp>
    </p:spTree>
    <p:extLst>
      <p:ext uri="{BB962C8B-B14F-4D97-AF65-F5344CB8AC3E}">
        <p14:creationId xmlns:p14="http://schemas.microsoft.com/office/powerpoint/2010/main" val="7064637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5C206-A524-1E45-B3B3-7CFF180A44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0246AC-A217-5183-8210-F286BD4448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F577F2-6D54-8B8B-1CB7-F0E58825A760}"/>
              </a:ext>
            </a:extLst>
          </p:cNvPr>
          <p:cNvSpPr>
            <a:spLocks noGrp="1"/>
          </p:cNvSpPr>
          <p:nvPr>
            <p:ph type="body" idx="1"/>
          </p:nvPr>
        </p:nvSpPr>
        <p:spPr/>
        <p:txBody>
          <a:bodyPr/>
          <a:lstStyle/>
          <a:p>
            <a:pPr>
              <a:buNone/>
            </a:pPr>
            <a:r>
              <a:rPr lang="zh-CN" altLang="en-US" dirty="0"/>
              <a:t>前馈注意力能够高度并行，正是因为它在每个位置都使用相同的非线性变换，彼此之间没有依赖关系，这让模型可以在硬件上同时处理所有 </a:t>
            </a:r>
            <a:r>
              <a:rPr lang="en-US" dirty="0"/>
              <a:t>token</a:t>
            </a:r>
          </a:p>
          <a:p>
            <a:pPr>
              <a:buNone/>
            </a:pPr>
            <a:r>
              <a:rPr lang="zh-CN" altLang="en-US" dirty="0"/>
              <a:t>同时，通过两层线性映射与激活函数的串联，它具备了丰富的局部非线性映射能力</a:t>
            </a:r>
            <a:endParaRPr lang="en-US" altLang="zh-CN" dirty="0"/>
          </a:p>
          <a:p>
            <a:pPr>
              <a:buNone/>
            </a:pPr>
            <a:endParaRPr lang="en-US" dirty="0"/>
          </a:p>
          <a:p>
            <a:pPr>
              <a:buNone/>
            </a:pPr>
            <a:r>
              <a:rPr lang="zh-CN" altLang="en-US" dirty="0"/>
              <a:t>然而，由于它完全依赖于外部计算好的注意力权重输入，可能会出现不同向量空间之间的不一致，使得融合效果受限</a:t>
            </a:r>
            <a:endParaRPr lang="en-US" altLang="zh-CN" dirty="0"/>
          </a:p>
          <a:p>
            <a:pPr>
              <a:buNone/>
            </a:pPr>
            <a:r>
              <a:rPr lang="zh-CN" altLang="en-US" dirty="0"/>
              <a:t>此外，单一的参数映射缺乏多角度表示和全局上下文的信息汇聚能力，因而无法捕捉序列中的长距离依赖。</a:t>
            </a:r>
            <a:endParaRPr lang="en-US" dirty="0"/>
          </a:p>
        </p:txBody>
      </p:sp>
      <p:sp>
        <p:nvSpPr>
          <p:cNvPr id="4" name="Slide Number Placeholder 3">
            <a:extLst>
              <a:ext uri="{FF2B5EF4-FFF2-40B4-BE49-F238E27FC236}">
                <a16:creationId xmlns:a16="http://schemas.microsoft.com/office/drawing/2014/main" id="{009EE221-3F8A-2E9B-2426-CD51485041AB}"/>
              </a:ext>
            </a:extLst>
          </p:cNvPr>
          <p:cNvSpPr>
            <a:spLocks noGrp="1"/>
          </p:cNvSpPr>
          <p:nvPr>
            <p:ph type="sldNum" sz="quarter" idx="5"/>
          </p:nvPr>
        </p:nvSpPr>
        <p:spPr/>
        <p:txBody>
          <a:bodyPr/>
          <a:lstStyle/>
          <a:p>
            <a:fld id="{997DF73A-65DB-6E41-B185-11DF594A0732}" type="slidenum">
              <a:rPr lang="en-US" smtClean="0"/>
              <a:t>29</a:t>
            </a:fld>
            <a:endParaRPr lang="en-US"/>
          </a:p>
        </p:txBody>
      </p:sp>
    </p:spTree>
    <p:extLst>
      <p:ext uri="{BB962C8B-B14F-4D97-AF65-F5344CB8AC3E}">
        <p14:creationId xmlns:p14="http://schemas.microsoft.com/office/powerpoint/2010/main" val="41718890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88345-9A1E-2298-CAFC-D09A32962A0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04E54EF-BE5C-65FA-59A9-3049569557B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0331CB0-C449-B2B9-6640-5C2200CBB58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C65C6D4-9E3F-C052-BD2B-CC7A9A1F783B}"/>
              </a:ext>
            </a:extLst>
          </p:cNvPr>
          <p:cNvSpPr>
            <a:spLocks noGrp="1"/>
          </p:cNvSpPr>
          <p:nvPr>
            <p:ph type="sldNum" sz="quarter" idx="5"/>
          </p:nvPr>
        </p:nvSpPr>
        <p:spPr/>
        <p:txBody>
          <a:bodyPr/>
          <a:lstStyle/>
          <a:p>
            <a:fld id="{2B735503-9D21-443F-BC18-5459550EB72F}" type="slidenum">
              <a:rPr lang="zh-CN" altLang="en-US" smtClean="0"/>
              <a:t>30</a:t>
            </a:fld>
            <a:endParaRPr lang="zh-CN" altLang="en-US"/>
          </a:p>
        </p:txBody>
      </p:sp>
    </p:spTree>
    <p:extLst>
      <p:ext uri="{BB962C8B-B14F-4D97-AF65-F5344CB8AC3E}">
        <p14:creationId xmlns:p14="http://schemas.microsoft.com/office/powerpoint/2010/main" val="3152271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输入</a:t>
            </a:r>
            <a:r>
              <a:rPr lang="zh-CN" altLang="en-US"/>
              <a:t>、</a:t>
            </a:r>
            <a:r>
              <a:rPr lang="en-US" altLang="zh-CN"/>
              <a:t>Q</a:t>
            </a:r>
            <a:r>
              <a:rPr lang="zh-CN" altLang="en-US"/>
              <a:t>，</a:t>
            </a:r>
            <a:r>
              <a:rPr lang="en-US" altLang="zh-CN"/>
              <a:t>K</a:t>
            </a:r>
            <a:r>
              <a:rPr lang="zh-CN" altLang="en-US"/>
              <a:t>，</a:t>
            </a:r>
            <a:r>
              <a:rPr lang="en-US" altLang="zh-CN"/>
              <a:t>V</a:t>
            </a:r>
            <a:r>
              <a:rPr lang="zh-CN" altLang="en-US"/>
              <a:t> 每个都是行向量</a:t>
            </a:r>
            <a:endParaRPr lang="en-US"/>
          </a:p>
        </p:txBody>
      </p:sp>
      <p:sp>
        <p:nvSpPr>
          <p:cNvPr id="4" name="Slide Number Placeholder 3"/>
          <p:cNvSpPr>
            <a:spLocks noGrp="1"/>
          </p:cNvSpPr>
          <p:nvPr>
            <p:ph type="sldNum" sz="quarter" idx="5"/>
          </p:nvPr>
        </p:nvSpPr>
        <p:spPr/>
        <p:txBody>
          <a:bodyPr/>
          <a:lstStyle/>
          <a:p>
            <a:fld id="{997DF73A-65DB-6E41-B185-11DF594A0732}" type="slidenum">
              <a:rPr lang="en-US" smtClean="0"/>
              <a:t>31</a:t>
            </a:fld>
            <a:endParaRPr lang="en-US"/>
          </a:p>
        </p:txBody>
      </p:sp>
    </p:spTree>
    <p:extLst>
      <p:ext uri="{BB962C8B-B14F-4D97-AF65-F5344CB8AC3E}">
        <p14:creationId xmlns:p14="http://schemas.microsoft.com/office/powerpoint/2010/main" val="33114631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Attention</a:t>
            </a:r>
            <a:r>
              <a:rPr lang="zh-CN" altLang="en-US" dirty="0"/>
              <a:t> 矩阵，明面上是 </a:t>
            </a:r>
            <a:r>
              <a:rPr lang="en-US" altLang="zh-CN" dirty="0"/>
              <a:t>K</a:t>
            </a:r>
            <a:r>
              <a:rPr lang="zh-CN" altLang="en-US" dirty="0"/>
              <a:t> 和 </a:t>
            </a:r>
            <a:r>
              <a:rPr lang="en-US" altLang="zh-CN" dirty="0"/>
              <a:t>Q</a:t>
            </a:r>
            <a:r>
              <a:rPr lang="zh-CN" altLang="en-US" dirty="0"/>
              <a:t> 之间的权重，本质可以理解为输入 </a:t>
            </a:r>
            <a:r>
              <a:rPr lang="en-US" altLang="zh-CN" dirty="0"/>
              <a:t>x</a:t>
            </a:r>
            <a:r>
              <a:rPr lang="zh-CN" altLang="en-US" dirty="0"/>
              <a:t> 之间的权重，因为 </a:t>
            </a:r>
            <a:r>
              <a:rPr lang="en-US" altLang="zh-CN" dirty="0"/>
              <a:t>K</a:t>
            </a:r>
            <a:r>
              <a:rPr lang="zh-CN" altLang="en-US" dirty="0"/>
              <a:t> 和 </a:t>
            </a:r>
            <a:r>
              <a:rPr lang="en-US" altLang="zh-CN" dirty="0"/>
              <a:t>Q</a:t>
            </a:r>
            <a:r>
              <a:rPr lang="zh-CN" altLang="en-US" dirty="0"/>
              <a:t> 都是从 </a:t>
            </a:r>
            <a:r>
              <a:rPr lang="en-US" altLang="zh-CN" dirty="0"/>
              <a:t>X</a:t>
            </a:r>
            <a:r>
              <a:rPr lang="zh-CN" altLang="en-US" dirty="0"/>
              <a:t> 来的</a:t>
            </a:r>
            <a:endParaRPr lang="en-US" dirty="0"/>
          </a:p>
        </p:txBody>
      </p:sp>
      <p:sp>
        <p:nvSpPr>
          <p:cNvPr id="4" name="Slide Number Placeholder 3"/>
          <p:cNvSpPr>
            <a:spLocks noGrp="1"/>
          </p:cNvSpPr>
          <p:nvPr>
            <p:ph type="sldNum" sz="quarter" idx="5"/>
          </p:nvPr>
        </p:nvSpPr>
        <p:spPr/>
        <p:txBody>
          <a:bodyPr/>
          <a:lstStyle/>
          <a:p>
            <a:fld id="{997DF73A-65DB-6E41-B185-11DF594A0732}" type="slidenum">
              <a:rPr lang="en-US" smtClean="0"/>
              <a:t>33</a:t>
            </a:fld>
            <a:endParaRPr lang="en-US"/>
          </a:p>
        </p:txBody>
      </p:sp>
    </p:spTree>
    <p:extLst>
      <p:ext uri="{BB962C8B-B14F-4D97-AF65-F5344CB8AC3E}">
        <p14:creationId xmlns:p14="http://schemas.microsoft.com/office/powerpoint/2010/main" val="29072325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上半部分是矩阵形式的写法</a:t>
            </a:r>
            <a:endParaRPr lang="en-US"/>
          </a:p>
          <a:p>
            <a:endParaRPr lang="en-US"/>
          </a:p>
          <a:p>
            <a:r>
              <a:rPr lang="en-US" err="1"/>
              <a:t>下半部分通过仔细看其中一个向量</a:t>
            </a:r>
            <a:r>
              <a:rPr lang="zh-CN" altLang="en-US"/>
              <a:t>，分析到底是怎么加权的</a:t>
            </a:r>
            <a:endParaRPr lang="en-US"/>
          </a:p>
        </p:txBody>
      </p:sp>
      <p:sp>
        <p:nvSpPr>
          <p:cNvPr id="4" name="Slide Number Placeholder 3"/>
          <p:cNvSpPr>
            <a:spLocks noGrp="1"/>
          </p:cNvSpPr>
          <p:nvPr>
            <p:ph type="sldNum" sz="quarter" idx="5"/>
          </p:nvPr>
        </p:nvSpPr>
        <p:spPr/>
        <p:txBody>
          <a:bodyPr/>
          <a:lstStyle/>
          <a:p>
            <a:fld id="{997DF73A-65DB-6E41-B185-11DF594A0732}" type="slidenum">
              <a:rPr lang="en-US" smtClean="0"/>
              <a:t>34</a:t>
            </a:fld>
            <a:endParaRPr lang="en-US"/>
          </a:p>
        </p:txBody>
      </p:sp>
    </p:spTree>
    <p:extLst>
      <p:ext uri="{BB962C8B-B14F-4D97-AF65-F5344CB8AC3E}">
        <p14:creationId xmlns:p14="http://schemas.microsoft.com/office/powerpoint/2010/main" val="7253510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zh-CN" altLang="en-US" dirty="0"/>
                  <a:t>自注意力的核心流程通过 </a:t>
                </a:r>
                <a:r>
                  <a:rPr lang="en-US" altLang="zh-CN" dirty="0"/>
                  <a:t>$</a:t>
                </a:r>
                <a:r>
                  <a:rPr lang="en-US" dirty="0"/>
                  <a:t>Q,K,V$ </a:t>
                </a:r>
                <a:r>
                  <a:rPr lang="zh-CN" altLang="en-US" dirty="0"/>
                  <a:t>三个矩阵投影完成“提问</a:t>
                </a:r>
                <a:r>
                  <a:rPr lang="en-US" altLang="zh-CN" dirty="0"/>
                  <a:t>—</a:t>
                </a:r>
                <a:r>
                  <a:rPr lang="zh-CN" altLang="en-US" dirty="0"/>
                  <a:t>匹配</a:t>
                </a:r>
                <a:r>
                  <a:rPr lang="en-US" altLang="zh-CN" dirty="0"/>
                  <a:t>—</a:t>
                </a:r>
                <a:r>
                  <a:rPr lang="zh-CN" altLang="en-US" dirty="0"/>
                  <a:t>聚合”的操作。</a:t>
                </a:r>
              </a:p>
              <a:p>
                <a:r>
                  <a:rPr lang="zh-CN" altLang="en-US" dirty="0"/>
                  <a:t>自注意力能够根据输入动态分配权重，显式建模序列中任意位置的长程依赖。</a:t>
                </a:r>
              </a:p>
            </p:txBody>
          </p:sp>
        </mc:Choice>
        <mc:Fallback xmlns="">
          <p:sp>
            <p:nvSpPr>
              <p:cNvPr id="3" name="Notes Placeholder 2"/>
              <p:cNvSpPr>
                <a:spLocks noGrp="1"/>
              </p:cNvSpPr>
              <p:nvPr>
                <p:ph type="body" idx="1"/>
              </p:nvPr>
            </p:nvSpPr>
            <p:spPr/>
            <p:txBody>
              <a:bodyPr/>
              <a:lstStyle/>
              <a:p>
                <a:r>
                  <a:rPr lang="en-US" altLang="zh-CN" b="0" i="0">
                    <a:latin typeface="Cambria Math" panose="02040503050406030204" pitchFamily="18" charset="0"/>
                  </a:rPr>
                  <a:t>𝑊^𝑄</a:t>
                </a:r>
                <a:r>
                  <a:rPr lang="zh-CN" altLang="en-US"/>
                  <a:t> 计算特定 </a:t>
                </a:r>
                <a:r>
                  <a:rPr lang="en-US" altLang="zh-CN"/>
                  <a:t>angle</a:t>
                </a:r>
                <a:r>
                  <a:rPr lang="zh-CN" altLang="en-US"/>
                  <a:t> 的 </a:t>
                </a:r>
                <a:r>
                  <a:rPr lang="en-US" altLang="zh-CN"/>
                  <a:t>query</a:t>
                </a:r>
              </a:p>
              <a:p>
                <a:r>
                  <a:rPr lang="en-US" altLang="zh-CN" b="0" i="0">
                    <a:latin typeface="Cambria Math" panose="02040503050406030204" pitchFamily="18" charset="0"/>
                  </a:rPr>
                  <a:t>𝑊^𝐾</a:t>
                </a:r>
                <a:r>
                  <a:rPr lang="zh-CN" altLang="en-US"/>
                  <a:t> 计算某个输入有多么 </a:t>
                </a:r>
                <a:r>
                  <a:rPr lang="en-US" altLang="zh-CN"/>
                  <a:t>close</a:t>
                </a:r>
                <a:r>
                  <a:rPr lang="zh-CN" altLang="en-US"/>
                  <a:t> </a:t>
                </a:r>
                <a:r>
                  <a:rPr lang="en-US" altLang="zh-CN"/>
                  <a:t>to</a:t>
                </a:r>
                <a:r>
                  <a:rPr lang="zh-CN" altLang="en-US"/>
                  <a:t> 这个 </a:t>
                </a:r>
                <a:r>
                  <a:rPr lang="en-US" altLang="zh-CN"/>
                  <a:t>angle</a:t>
                </a:r>
              </a:p>
              <a:p>
                <a:r>
                  <a:rPr lang="en-US" altLang="zh-CN" b="0" i="0">
                    <a:latin typeface="Cambria Math" panose="02040503050406030204" pitchFamily="18" charset="0"/>
                  </a:rPr>
                  <a:t>𝑊^𝑉</a:t>
                </a:r>
                <a:r>
                  <a:rPr lang="zh-CN" altLang="en-US"/>
                  <a:t> 计算需要加权输出的信息</a:t>
                </a:r>
                <a:endParaRPr lang="en-US"/>
              </a:p>
            </p:txBody>
          </p:sp>
        </mc:Fallback>
      </mc:AlternateContent>
      <p:sp>
        <p:nvSpPr>
          <p:cNvPr id="4" name="Slide Number Placeholder 3"/>
          <p:cNvSpPr>
            <a:spLocks noGrp="1"/>
          </p:cNvSpPr>
          <p:nvPr>
            <p:ph type="sldNum" sz="quarter" idx="5"/>
          </p:nvPr>
        </p:nvSpPr>
        <p:spPr/>
        <p:txBody>
          <a:bodyPr/>
          <a:lstStyle/>
          <a:p>
            <a:fld id="{997DF73A-65DB-6E41-B185-11DF594A0732}" type="slidenum">
              <a:rPr lang="en-US" smtClean="0"/>
              <a:t>35</a:t>
            </a:fld>
            <a:endParaRPr lang="en-US"/>
          </a:p>
        </p:txBody>
      </p:sp>
    </p:spTree>
    <p:extLst>
      <p:ext uri="{BB962C8B-B14F-4D97-AF65-F5344CB8AC3E}">
        <p14:creationId xmlns:p14="http://schemas.microsoft.com/office/powerpoint/2010/main" val="29700711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6FC68-3855-4E7F-C590-4841D8592D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87E3C1-D34E-C732-3021-88699AD82FA7}"/>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53B26FAE-636C-0C53-1B80-4B90E2DA30E6}"/>
                  </a:ext>
                </a:extLst>
              </p:cNvPr>
              <p:cNvSpPr>
                <a:spLocks noGrp="1"/>
              </p:cNvSpPr>
              <p:nvPr>
                <p:ph type="body" idx="1"/>
              </p:nvPr>
            </p:nvSpPr>
            <p:spPr/>
            <p:txBody>
              <a:bodyPr/>
              <a:lstStyle/>
              <a:p>
                <a:pPr>
                  <a:buNone/>
                </a:pPr>
                <a:r>
                  <a:rPr lang="zh-CN" altLang="en-US" dirty="0"/>
                  <a:t>通过投影到一致的查询</a:t>
                </a:r>
                <a:r>
                  <a:rPr lang="en-US" altLang="zh-CN" dirty="0"/>
                  <a:t>/</a:t>
                </a:r>
                <a:r>
                  <a:rPr lang="zh-CN" altLang="en-US" dirty="0"/>
                  <a:t>键空间，自注意力消除了特征维度不匹配的问题，使得不同位置间的相似度计算更加可靠。</a:t>
                </a:r>
              </a:p>
              <a:p>
                <a:pPr>
                  <a:buNone/>
                </a:pPr>
                <a:r>
                  <a:rPr lang="zh-CN" altLang="en-US" dirty="0"/>
                  <a:t>动态分配的注意力权重能够针对每个输入自适应关注最相关的上下文，从而高效捕捉长程依赖结构。</a:t>
                </a:r>
              </a:p>
              <a:p>
                <a:r>
                  <a:rPr lang="zh-CN" altLang="en-US" dirty="0"/>
                  <a:t>加权求和值操作将序列全局信息汇聚到每个位置的表示中，实现对关键信息的灵活再分配，提升特征表达的语义一致性与丰富度。</a:t>
                </a:r>
              </a:p>
            </p:txBody>
          </p:sp>
        </mc:Choice>
        <mc:Fallback xmlns="">
          <p:sp>
            <p:nvSpPr>
              <p:cNvPr id="3" name="Notes Placeholder 2"/>
              <p:cNvSpPr>
                <a:spLocks noGrp="1"/>
              </p:cNvSpPr>
              <p:nvPr>
                <p:ph type="body" idx="1"/>
              </p:nvPr>
            </p:nvSpPr>
            <p:spPr/>
            <p:txBody>
              <a:bodyPr/>
              <a:lstStyle/>
              <a:p>
                <a:r>
                  <a:rPr lang="en-US" altLang="zh-CN" b="0" i="0">
                    <a:latin typeface="Cambria Math" panose="02040503050406030204" pitchFamily="18" charset="0"/>
                  </a:rPr>
                  <a:t>𝑊^𝑄</a:t>
                </a:r>
                <a:r>
                  <a:rPr lang="zh-CN" altLang="en-US"/>
                  <a:t> 计算特定 </a:t>
                </a:r>
                <a:r>
                  <a:rPr lang="en-US" altLang="zh-CN"/>
                  <a:t>angle</a:t>
                </a:r>
                <a:r>
                  <a:rPr lang="zh-CN" altLang="en-US"/>
                  <a:t> 的 </a:t>
                </a:r>
                <a:r>
                  <a:rPr lang="en-US" altLang="zh-CN"/>
                  <a:t>query</a:t>
                </a:r>
              </a:p>
              <a:p>
                <a:r>
                  <a:rPr lang="en-US" altLang="zh-CN" b="0" i="0">
                    <a:latin typeface="Cambria Math" panose="02040503050406030204" pitchFamily="18" charset="0"/>
                  </a:rPr>
                  <a:t>𝑊^𝐾</a:t>
                </a:r>
                <a:r>
                  <a:rPr lang="zh-CN" altLang="en-US"/>
                  <a:t> 计算某个输入有多么 </a:t>
                </a:r>
                <a:r>
                  <a:rPr lang="en-US" altLang="zh-CN"/>
                  <a:t>close</a:t>
                </a:r>
                <a:r>
                  <a:rPr lang="zh-CN" altLang="en-US"/>
                  <a:t> </a:t>
                </a:r>
                <a:r>
                  <a:rPr lang="en-US" altLang="zh-CN"/>
                  <a:t>to</a:t>
                </a:r>
                <a:r>
                  <a:rPr lang="zh-CN" altLang="en-US"/>
                  <a:t> 这个 </a:t>
                </a:r>
                <a:r>
                  <a:rPr lang="en-US" altLang="zh-CN"/>
                  <a:t>angle</a:t>
                </a:r>
              </a:p>
              <a:p>
                <a:r>
                  <a:rPr lang="en-US" altLang="zh-CN" b="0" i="0">
                    <a:latin typeface="Cambria Math" panose="02040503050406030204" pitchFamily="18" charset="0"/>
                  </a:rPr>
                  <a:t>𝑊^𝑉</a:t>
                </a:r>
                <a:r>
                  <a:rPr lang="zh-CN" altLang="en-US"/>
                  <a:t> 计算需要加权输出的信息</a:t>
                </a:r>
                <a:endParaRPr lang="en-US"/>
              </a:p>
            </p:txBody>
          </p:sp>
        </mc:Fallback>
      </mc:AlternateContent>
      <p:sp>
        <p:nvSpPr>
          <p:cNvPr id="4" name="Slide Number Placeholder 3">
            <a:extLst>
              <a:ext uri="{FF2B5EF4-FFF2-40B4-BE49-F238E27FC236}">
                <a16:creationId xmlns:a16="http://schemas.microsoft.com/office/drawing/2014/main" id="{CD8ED381-AED0-9AE9-A336-17424F3C2136}"/>
              </a:ext>
            </a:extLst>
          </p:cNvPr>
          <p:cNvSpPr>
            <a:spLocks noGrp="1"/>
          </p:cNvSpPr>
          <p:nvPr>
            <p:ph type="sldNum" sz="quarter" idx="5"/>
          </p:nvPr>
        </p:nvSpPr>
        <p:spPr/>
        <p:txBody>
          <a:bodyPr/>
          <a:lstStyle/>
          <a:p>
            <a:fld id="{997DF73A-65DB-6E41-B185-11DF594A0732}" type="slidenum">
              <a:rPr lang="en-US" smtClean="0"/>
              <a:t>36</a:t>
            </a:fld>
            <a:endParaRPr lang="en-US"/>
          </a:p>
        </p:txBody>
      </p:sp>
    </p:spTree>
    <p:extLst>
      <p:ext uri="{BB962C8B-B14F-4D97-AF65-F5344CB8AC3E}">
        <p14:creationId xmlns:p14="http://schemas.microsoft.com/office/powerpoint/2010/main" val="354797770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F416B-08D2-02FA-E9E4-210F8E8895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42CBE4-E59E-1D5F-CB20-319B0B4B1B30}"/>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509FBE90-7779-165F-50DF-3D422623CC64}"/>
                  </a:ext>
                </a:extLst>
              </p:cNvPr>
              <p:cNvSpPr>
                <a:spLocks noGrp="1"/>
              </p:cNvSpPr>
              <p:nvPr>
                <p:ph type="body" idx="1"/>
              </p:nvPr>
            </p:nvSpPr>
            <p:spPr/>
            <p:txBody>
              <a:bodyPr/>
              <a:lstStyle/>
              <a:p>
                <a:r>
                  <a:rPr lang="zh-CN" altLang="en-US" dirty="0"/>
                  <a:t>从几何角度看，</a:t>
                </a:r>
                <a:r>
                  <a:rPr lang="en-US" altLang="zh-CN" dirty="0"/>
                  <a:t>$</a:t>
                </a:r>
                <a:r>
                  <a:rPr lang="en-US" dirty="0"/>
                  <a:t>QK^T$ </a:t>
                </a:r>
                <a:r>
                  <a:rPr lang="zh-CN" altLang="en-US" dirty="0"/>
                  <a:t>相当于在高维特征空间中测量“向量角度”或“距离”，决定重要的输入。</a:t>
                </a:r>
              </a:p>
              <a:p>
                <a:r>
                  <a:rPr lang="zh-CN" altLang="en-US" dirty="0"/>
                  <a:t>动态上下文塑形部分，可以类比为社交网络中影响力随场景与节点变化而实时调整，每个位置都能“问”不同的问题。</a:t>
                </a:r>
              </a:p>
              <a:p>
                <a:r>
                  <a:rPr lang="zh-CN" altLang="en-US" dirty="0"/>
                  <a:t>最后说明在某些任务里，加入位置编码或图结构先验能够引导注意力更聚焦于合理的邻域，从而提升模型鲁棒性。</a:t>
                </a:r>
              </a:p>
            </p:txBody>
          </p:sp>
        </mc:Choice>
        <mc:Fallback xmlns="">
          <p:sp>
            <p:nvSpPr>
              <p:cNvPr id="3" name="Notes Placeholder 2"/>
              <p:cNvSpPr>
                <a:spLocks noGrp="1"/>
              </p:cNvSpPr>
              <p:nvPr>
                <p:ph type="body" idx="1"/>
              </p:nvPr>
            </p:nvSpPr>
            <p:spPr/>
            <p:txBody>
              <a:bodyPr/>
              <a:lstStyle/>
              <a:p>
                <a:r>
                  <a:rPr lang="en-US" altLang="zh-CN" b="0" i="0">
                    <a:latin typeface="Cambria Math" panose="02040503050406030204" pitchFamily="18" charset="0"/>
                  </a:rPr>
                  <a:t>𝑊^𝑄</a:t>
                </a:r>
                <a:r>
                  <a:rPr lang="zh-CN" altLang="en-US"/>
                  <a:t> 计算特定 </a:t>
                </a:r>
                <a:r>
                  <a:rPr lang="en-US" altLang="zh-CN"/>
                  <a:t>angle</a:t>
                </a:r>
                <a:r>
                  <a:rPr lang="zh-CN" altLang="en-US"/>
                  <a:t> 的 </a:t>
                </a:r>
                <a:r>
                  <a:rPr lang="en-US" altLang="zh-CN"/>
                  <a:t>query</a:t>
                </a:r>
              </a:p>
              <a:p>
                <a:r>
                  <a:rPr lang="en-US" altLang="zh-CN" b="0" i="0">
                    <a:latin typeface="Cambria Math" panose="02040503050406030204" pitchFamily="18" charset="0"/>
                  </a:rPr>
                  <a:t>𝑊^𝐾</a:t>
                </a:r>
                <a:r>
                  <a:rPr lang="zh-CN" altLang="en-US"/>
                  <a:t> 计算某个输入有多么 </a:t>
                </a:r>
                <a:r>
                  <a:rPr lang="en-US" altLang="zh-CN"/>
                  <a:t>close</a:t>
                </a:r>
                <a:r>
                  <a:rPr lang="zh-CN" altLang="en-US"/>
                  <a:t> </a:t>
                </a:r>
                <a:r>
                  <a:rPr lang="en-US" altLang="zh-CN"/>
                  <a:t>to</a:t>
                </a:r>
                <a:r>
                  <a:rPr lang="zh-CN" altLang="en-US"/>
                  <a:t> 这个 </a:t>
                </a:r>
                <a:r>
                  <a:rPr lang="en-US" altLang="zh-CN"/>
                  <a:t>angle</a:t>
                </a:r>
              </a:p>
              <a:p>
                <a:r>
                  <a:rPr lang="en-US" altLang="zh-CN" b="0" i="0">
                    <a:latin typeface="Cambria Math" panose="02040503050406030204" pitchFamily="18" charset="0"/>
                  </a:rPr>
                  <a:t>𝑊^𝑉</a:t>
                </a:r>
                <a:r>
                  <a:rPr lang="zh-CN" altLang="en-US"/>
                  <a:t> 计算需要加权输出的信息</a:t>
                </a:r>
                <a:endParaRPr lang="en-US"/>
              </a:p>
            </p:txBody>
          </p:sp>
        </mc:Fallback>
      </mc:AlternateContent>
      <p:sp>
        <p:nvSpPr>
          <p:cNvPr id="4" name="Slide Number Placeholder 3">
            <a:extLst>
              <a:ext uri="{FF2B5EF4-FFF2-40B4-BE49-F238E27FC236}">
                <a16:creationId xmlns:a16="http://schemas.microsoft.com/office/drawing/2014/main" id="{FB7BCF54-41ED-F3BF-A009-8A95FDC8C6DE}"/>
              </a:ext>
            </a:extLst>
          </p:cNvPr>
          <p:cNvSpPr>
            <a:spLocks noGrp="1"/>
          </p:cNvSpPr>
          <p:nvPr>
            <p:ph type="sldNum" sz="quarter" idx="5"/>
          </p:nvPr>
        </p:nvSpPr>
        <p:spPr/>
        <p:txBody>
          <a:bodyPr/>
          <a:lstStyle/>
          <a:p>
            <a:fld id="{997DF73A-65DB-6E41-B185-11DF594A0732}" type="slidenum">
              <a:rPr lang="en-US" smtClean="0"/>
              <a:t>37</a:t>
            </a:fld>
            <a:endParaRPr lang="en-US"/>
          </a:p>
        </p:txBody>
      </p:sp>
    </p:spTree>
    <p:extLst>
      <p:ext uri="{BB962C8B-B14F-4D97-AF65-F5344CB8AC3E}">
        <p14:creationId xmlns:p14="http://schemas.microsoft.com/office/powerpoint/2010/main" val="9838608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Self</a:t>
            </a:r>
            <a:r>
              <a:rPr lang="en-US" altLang="zh-CN"/>
              <a:t>-attention</a:t>
            </a:r>
            <a:r>
              <a:rPr lang="zh-CN" altLang="en-US"/>
              <a:t> 部分，左边是矩阵写法，右边是针对每个向量的写法（得到 </a:t>
            </a:r>
            <a:r>
              <a:rPr lang="en-US" altLang="zh-CN" err="1"/>
              <a:t>z_i</a:t>
            </a:r>
            <a:r>
              <a:rPr lang="zh-CN" altLang="en-US"/>
              <a:t> 的过程）</a:t>
            </a:r>
            <a:endParaRPr lang="en-US" altLang="zh-CN"/>
          </a:p>
          <a:p>
            <a:r>
              <a:rPr lang="en-US" altLang="zh-CN"/>
              <a:t>FFA</a:t>
            </a:r>
            <a:r>
              <a:rPr lang="zh-CN" altLang="en-US"/>
              <a:t> 部分，是每个向量的写法</a:t>
            </a:r>
            <a:endParaRPr lang="en-US"/>
          </a:p>
          <a:p>
            <a:endParaRPr lang="en-US"/>
          </a:p>
          <a:p>
            <a:r>
              <a:rPr lang="en-US" err="1"/>
              <a:t>对比两边针对向量的写法</a:t>
            </a:r>
            <a:r>
              <a:rPr lang="zh-CN" altLang="en-US"/>
              <a:t>，发现</a:t>
            </a:r>
            <a:endParaRPr lang="en-US" altLang="zh-CN"/>
          </a:p>
          <a:p>
            <a:r>
              <a:rPr lang="en-US" altLang="zh-CN" err="1"/>
              <a:t>q_i</a:t>
            </a:r>
            <a:r>
              <a:rPr lang="zh-CN" altLang="en-US"/>
              <a:t>  对应 </a:t>
            </a:r>
            <a:r>
              <a:rPr lang="en-US" altLang="zh-CN"/>
              <a:t>w</a:t>
            </a:r>
            <a:r>
              <a:rPr lang="zh-CN" altLang="en-US"/>
              <a:t>，</a:t>
            </a:r>
            <a:r>
              <a:rPr lang="en-US" altLang="zh-CN" err="1"/>
              <a:t>k_t</a:t>
            </a:r>
            <a:r>
              <a:rPr lang="zh-CN" altLang="en-US"/>
              <a:t> 对应 </a:t>
            </a:r>
            <a:r>
              <a:rPr lang="en-US" altLang="zh-CN" err="1"/>
              <a:t>h_t</a:t>
            </a:r>
            <a:r>
              <a:rPr lang="zh-CN" altLang="en-US"/>
              <a:t> </a:t>
            </a:r>
            <a:r>
              <a:rPr lang="en-US" altLang="zh-CN"/>
              <a:t>(</a:t>
            </a:r>
            <a:r>
              <a:rPr lang="zh-CN" altLang="en-US"/>
              <a:t>这里需要回忆一下 </a:t>
            </a:r>
            <a:r>
              <a:rPr lang="en-US" altLang="zh-CN" err="1"/>
              <a:t>q_i</a:t>
            </a:r>
            <a:r>
              <a:rPr lang="zh-CN" altLang="en-US"/>
              <a:t> 和 </a:t>
            </a:r>
            <a:r>
              <a:rPr lang="en-US" altLang="zh-CN" err="1"/>
              <a:t>k_t</a:t>
            </a:r>
            <a:r>
              <a:rPr lang="zh-CN" altLang="en-US"/>
              <a:t> 都是行向量</a:t>
            </a:r>
            <a:r>
              <a:rPr lang="en-US" altLang="zh-CN"/>
              <a:t>)</a:t>
            </a:r>
          </a:p>
          <a:p>
            <a:r>
              <a:rPr lang="zh-CN" altLang="en-US"/>
              <a:t>计算权重是一样的</a:t>
            </a:r>
            <a:endParaRPr lang="en-US" altLang="zh-CN"/>
          </a:p>
          <a:p>
            <a:r>
              <a:rPr lang="en-US" altLang="zh-CN" err="1"/>
              <a:t>v_t</a:t>
            </a:r>
            <a:r>
              <a:rPr lang="zh-CN" altLang="en-US"/>
              <a:t> 对应 </a:t>
            </a:r>
            <a:r>
              <a:rPr lang="en-US" altLang="zh-CN" err="1"/>
              <a:t>h_t</a:t>
            </a:r>
            <a:endParaRPr lang="en-US" altLang="zh-CN"/>
          </a:p>
        </p:txBody>
      </p:sp>
      <p:sp>
        <p:nvSpPr>
          <p:cNvPr id="4" name="Slide Number Placeholder 3"/>
          <p:cNvSpPr>
            <a:spLocks noGrp="1"/>
          </p:cNvSpPr>
          <p:nvPr>
            <p:ph type="sldNum" sz="quarter" idx="5"/>
          </p:nvPr>
        </p:nvSpPr>
        <p:spPr/>
        <p:txBody>
          <a:bodyPr/>
          <a:lstStyle/>
          <a:p>
            <a:fld id="{997DF73A-65DB-6E41-B185-11DF594A0732}" type="slidenum">
              <a:rPr lang="en-US" smtClean="0"/>
              <a:t>38</a:t>
            </a:fld>
            <a:endParaRPr lang="en-US"/>
          </a:p>
        </p:txBody>
      </p:sp>
    </p:spTree>
    <p:extLst>
      <p:ext uri="{BB962C8B-B14F-4D97-AF65-F5344CB8AC3E}">
        <p14:creationId xmlns:p14="http://schemas.microsoft.com/office/powerpoint/2010/main" val="23121759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287D0-EF86-949A-E4D3-82FC952B5B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2367E8-6CAA-3531-974A-6231DAE5C8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DDD8F2-4579-E9E4-5232-D01F14D1392D}"/>
              </a:ext>
            </a:extLst>
          </p:cNvPr>
          <p:cNvSpPr>
            <a:spLocks noGrp="1"/>
          </p:cNvSpPr>
          <p:nvPr>
            <p:ph type="body" idx="1"/>
          </p:nvPr>
        </p:nvSpPr>
        <p:spPr/>
        <p:txBody>
          <a:bodyPr/>
          <a:lstStyle/>
          <a:p>
            <a:r>
              <a:rPr lang="en-US"/>
              <a:t>Self</a:t>
            </a:r>
            <a:r>
              <a:rPr lang="en-US" altLang="zh-CN"/>
              <a:t>-attention</a:t>
            </a:r>
            <a:r>
              <a:rPr lang="zh-CN" altLang="en-US"/>
              <a:t> 部分，左边是矩阵写法，右边是针对每个向量的写法（得到 </a:t>
            </a:r>
            <a:r>
              <a:rPr lang="en-US" altLang="zh-CN" err="1"/>
              <a:t>z_i</a:t>
            </a:r>
            <a:r>
              <a:rPr lang="zh-CN" altLang="en-US"/>
              <a:t> 的过程）</a:t>
            </a:r>
            <a:endParaRPr lang="en-US" altLang="zh-CN"/>
          </a:p>
          <a:p>
            <a:r>
              <a:rPr lang="en-US" altLang="zh-CN"/>
              <a:t>FFA</a:t>
            </a:r>
            <a:r>
              <a:rPr lang="zh-CN" altLang="en-US"/>
              <a:t> 部分，是每个向量的写法</a:t>
            </a:r>
            <a:endParaRPr lang="en-US"/>
          </a:p>
          <a:p>
            <a:endParaRPr lang="en-US"/>
          </a:p>
          <a:p>
            <a:r>
              <a:rPr lang="en-US" err="1"/>
              <a:t>对比两边针对向量的写法</a:t>
            </a:r>
            <a:r>
              <a:rPr lang="zh-CN" altLang="en-US"/>
              <a:t>，发现</a:t>
            </a:r>
            <a:endParaRPr lang="en-US" altLang="zh-CN"/>
          </a:p>
          <a:p>
            <a:r>
              <a:rPr lang="en-US" altLang="zh-CN" err="1"/>
              <a:t>q_i</a:t>
            </a:r>
            <a:r>
              <a:rPr lang="zh-CN" altLang="en-US"/>
              <a:t>  对应 </a:t>
            </a:r>
            <a:r>
              <a:rPr lang="en-US" altLang="zh-CN"/>
              <a:t>w</a:t>
            </a:r>
            <a:r>
              <a:rPr lang="zh-CN" altLang="en-US"/>
              <a:t>，</a:t>
            </a:r>
            <a:r>
              <a:rPr lang="en-US" altLang="zh-CN" err="1"/>
              <a:t>k_t</a:t>
            </a:r>
            <a:r>
              <a:rPr lang="zh-CN" altLang="en-US"/>
              <a:t> 对应 </a:t>
            </a:r>
            <a:r>
              <a:rPr lang="en-US" altLang="zh-CN" err="1"/>
              <a:t>h_t</a:t>
            </a:r>
            <a:r>
              <a:rPr lang="zh-CN" altLang="en-US"/>
              <a:t> </a:t>
            </a:r>
            <a:r>
              <a:rPr lang="en-US" altLang="zh-CN"/>
              <a:t>(</a:t>
            </a:r>
            <a:r>
              <a:rPr lang="zh-CN" altLang="en-US"/>
              <a:t>这里需要回忆一下 </a:t>
            </a:r>
            <a:r>
              <a:rPr lang="en-US" altLang="zh-CN" err="1"/>
              <a:t>q_i</a:t>
            </a:r>
            <a:r>
              <a:rPr lang="zh-CN" altLang="en-US"/>
              <a:t> 和 </a:t>
            </a:r>
            <a:r>
              <a:rPr lang="en-US" altLang="zh-CN" err="1"/>
              <a:t>k_t</a:t>
            </a:r>
            <a:r>
              <a:rPr lang="zh-CN" altLang="en-US"/>
              <a:t> 都是行向量</a:t>
            </a:r>
            <a:r>
              <a:rPr lang="en-US" altLang="zh-CN"/>
              <a:t>)</a:t>
            </a:r>
          </a:p>
          <a:p>
            <a:r>
              <a:rPr lang="zh-CN" altLang="en-US"/>
              <a:t>计算权重是一样的</a:t>
            </a:r>
            <a:endParaRPr lang="en-US" altLang="zh-CN"/>
          </a:p>
          <a:p>
            <a:r>
              <a:rPr lang="en-US" altLang="zh-CN" err="1"/>
              <a:t>v_t</a:t>
            </a:r>
            <a:r>
              <a:rPr lang="zh-CN" altLang="en-US"/>
              <a:t> 对应 </a:t>
            </a:r>
            <a:r>
              <a:rPr lang="en-US" altLang="zh-CN" err="1"/>
              <a:t>h_t</a:t>
            </a:r>
            <a:endParaRPr lang="en-US" altLang="zh-CN"/>
          </a:p>
        </p:txBody>
      </p:sp>
      <p:sp>
        <p:nvSpPr>
          <p:cNvPr id="4" name="Slide Number Placeholder 3">
            <a:extLst>
              <a:ext uri="{FF2B5EF4-FFF2-40B4-BE49-F238E27FC236}">
                <a16:creationId xmlns:a16="http://schemas.microsoft.com/office/drawing/2014/main" id="{9128FFD9-2576-57EB-5A33-A4BBB5A52582}"/>
              </a:ext>
            </a:extLst>
          </p:cNvPr>
          <p:cNvSpPr>
            <a:spLocks noGrp="1"/>
          </p:cNvSpPr>
          <p:nvPr>
            <p:ph type="sldNum" sz="quarter" idx="5"/>
          </p:nvPr>
        </p:nvSpPr>
        <p:spPr/>
        <p:txBody>
          <a:bodyPr/>
          <a:lstStyle/>
          <a:p>
            <a:fld id="{997DF73A-65DB-6E41-B185-11DF594A0732}" type="slidenum">
              <a:rPr lang="en-US" smtClean="0"/>
              <a:t>39</a:t>
            </a:fld>
            <a:endParaRPr lang="en-US"/>
          </a:p>
        </p:txBody>
      </p:sp>
    </p:spTree>
    <p:extLst>
      <p:ext uri="{BB962C8B-B14F-4D97-AF65-F5344CB8AC3E}">
        <p14:creationId xmlns:p14="http://schemas.microsoft.com/office/powerpoint/2010/main" val="357848886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RNN </a:t>
            </a:r>
            <a:r>
              <a:rPr lang="zh-CN" altLang="en-US" dirty="0"/>
              <a:t>与前馈注意力为何在长文本上表现有限，引出注意力机制的重要性。</a:t>
            </a:r>
            <a:endParaRPr lang="en-US" altLang="zh-CN" dirty="0"/>
          </a:p>
          <a:p>
            <a:pPr>
              <a:buNone/>
            </a:pPr>
            <a:r>
              <a:rPr lang="zh-CN" altLang="en-US" dirty="0"/>
              <a:t>自注意力的基本流程</a:t>
            </a:r>
          </a:p>
          <a:p>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40</a:t>
            </a:fld>
            <a:endParaRPr lang="zh-CN" altLang="en-US"/>
          </a:p>
        </p:txBody>
      </p:sp>
    </p:spTree>
    <p:extLst>
      <p:ext uri="{BB962C8B-B14F-4D97-AF65-F5344CB8AC3E}">
        <p14:creationId xmlns:p14="http://schemas.microsoft.com/office/powerpoint/2010/main" val="236436699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AE382-8C90-F613-8E7A-DA7E2DD711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1384F1-5807-833C-A479-19A30124FD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09687B-555E-971C-18EE-E22F35EF87C9}"/>
              </a:ext>
            </a:extLst>
          </p:cNvPr>
          <p:cNvSpPr>
            <a:spLocks noGrp="1"/>
          </p:cNvSpPr>
          <p:nvPr>
            <p:ph type="body" idx="1"/>
          </p:nvPr>
        </p:nvSpPr>
        <p:spPr/>
        <p:txBody>
          <a:bodyPr/>
          <a:lstStyle/>
          <a:p>
            <a:r>
              <a:rPr lang="en-US" dirty="0" err="1"/>
              <a:t>优点和局限</a:t>
            </a:r>
            <a:r>
              <a:rPr lang="zh-CN" altLang="en-US" dirty="0"/>
              <a:t>，这些局限正是后续 </a:t>
            </a:r>
            <a:r>
              <a:rPr lang="en-US" dirty="0"/>
              <a:t>Transformer </a:t>
            </a:r>
            <a:r>
              <a:rPr lang="zh-CN" altLang="en-US" dirty="0"/>
              <a:t>架构中加入位置编码、多头注意、前馈网络、堆叠层及残差</a:t>
            </a:r>
            <a:r>
              <a:rPr lang="en-US" altLang="zh-CN" dirty="0"/>
              <a:t>/</a:t>
            </a:r>
            <a:r>
              <a:rPr lang="en-US" dirty="0" err="1"/>
              <a:t>LayerNorm</a:t>
            </a:r>
            <a:r>
              <a:rPr lang="en-US" dirty="0"/>
              <a:t> </a:t>
            </a:r>
            <a:r>
              <a:rPr lang="zh-CN" altLang="en-US" dirty="0"/>
              <a:t>的直接动因。</a:t>
            </a:r>
            <a:endParaRPr lang="en-US" dirty="0"/>
          </a:p>
        </p:txBody>
      </p:sp>
      <p:sp>
        <p:nvSpPr>
          <p:cNvPr id="4" name="Slide Number Placeholder 3">
            <a:extLst>
              <a:ext uri="{FF2B5EF4-FFF2-40B4-BE49-F238E27FC236}">
                <a16:creationId xmlns:a16="http://schemas.microsoft.com/office/drawing/2014/main" id="{FA04C75C-71EA-C451-2F02-FE12523EBA96}"/>
              </a:ext>
            </a:extLst>
          </p:cNvPr>
          <p:cNvSpPr>
            <a:spLocks noGrp="1"/>
          </p:cNvSpPr>
          <p:nvPr>
            <p:ph type="sldNum" sz="quarter" idx="5"/>
          </p:nvPr>
        </p:nvSpPr>
        <p:spPr/>
        <p:txBody>
          <a:bodyPr/>
          <a:lstStyle/>
          <a:p>
            <a:fld id="{2E76AA05-AB2B-4215-978B-A09B2D34874E}" type="slidenum">
              <a:rPr lang="zh-CN" altLang="en-US" smtClean="0"/>
              <a:t>41</a:t>
            </a:fld>
            <a:endParaRPr lang="zh-CN" altLang="en-US"/>
          </a:p>
        </p:txBody>
      </p:sp>
    </p:spTree>
    <p:extLst>
      <p:ext uri="{BB962C8B-B14F-4D97-AF65-F5344CB8AC3E}">
        <p14:creationId xmlns:p14="http://schemas.microsoft.com/office/powerpoint/2010/main" val="347635778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F29F8-757D-FF8E-12E3-D3921F1222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8BEC24-D6F6-DEFB-A552-577DF73407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96062C-7645-C6FC-6F2E-7076DC25DA21}"/>
              </a:ext>
            </a:extLst>
          </p:cNvPr>
          <p:cNvSpPr>
            <a:spLocks noGrp="1"/>
          </p:cNvSpPr>
          <p:nvPr>
            <p:ph type="body" idx="1"/>
          </p:nvPr>
        </p:nvSpPr>
        <p:spPr/>
        <p:txBody>
          <a:bodyPr/>
          <a:lstStyle/>
          <a:p>
            <a:r>
              <a:rPr lang="en-US" dirty="0" err="1"/>
              <a:t>使用或提出RNN和LSTM的早期研究</a:t>
            </a:r>
            <a:endParaRPr lang="en-US" dirty="0"/>
          </a:p>
        </p:txBody>
      </p:sp>
      <p:sp>
        <p:nvSpPr>
          <p:cNvPr id="4" name="Slide Number Placeholder 3">
            <a:extLst>
              <a:ext uri="{FF2B5EF4-FFF2-40B4-BE49-F238E27FC236}">
                <a16:creationId xmlns:a16="http://schemas.microsoft.com/office/drawing/2014/main" id="{195E6475-84A7-F53A-823A-6CFC39AFA02D}"/>
              </a:ext>
            </a:extLst>
          </p:cNvPr>
          <p:cNvSpPr>
            <a:spLocks noGrp="1"/>
          </p:cNvSpPr>
          <p:nvPr>
            <p:ph type="sldNum" sz="quarter" idx="5"/>
          </p:nvPr>
        </p:nvSpPr>
        <p:spPr/>
        <p:txBody>
          <a:bodyPr/>
          <a:lstStyle/>
          <a:p>
            <a:fld id="{2E76AA05-AB2B-4215-978B-A09B2D34874E}" type="slidenum">
              <a:rPr lang="zh-CN" altLang="en-US" smtClean="0"/>
              <a:t>42</a:t>
            </a:fld>
            <a:endParaRPr lang="zh-CN" altLang="en-US"/>
          </a:p>
        </p:txBody>
      </p:sp>
    </p:spTree>
    <p:extLst>
      <p:ext uri="{BB962C8B-B14F-4D97-AF65-F5344CB8AC3E}">
        <p14:creationId xmlns:p14="http://schemas.microsoft.com/office/powerpoint/2010/main" val="8946127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D2210-ABCD-15DE-790B-512DA3B2BE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A43D19-5E78-AD51-EAEF-2150F74E71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2B5401-1C8B-7E43-26C7-9EE0705D47AF}"/>
              </a:ext>
            </a:extLst>
          </p:cNvPr>
          <p:cNvSpPr>
            <a:spLocks noGrp="1"/>
          </p:cNvSpPr>
          <p:nvPr>
            <p:ph type="body" idx="1"/>
          </p:nvPr>
        </p:nvSpPr>
        <p:spPr/>
        <p:txBody>
          <a:bodyPr/>
          <a:lstStyle/>
          <a:p>
            <a:r>
              <a:rPr lang="en-US" dirty="0" err="1"/>
              <a:t>使用或提出RNN和LSTM的早期研究</a:t>
            </a:r>
            <a:endParaRPr lang="en-US" dirty="0"/>
          </a:p>
        </p:txBody>
      </p:sp>
      <p:sp>
        <p:nvSpPr>
          <p:cNvPr id="4" name="Slide Number Placeholder 3">
            <a:extLst>
              <a:ext uri="{FF2B5EF4-FFF2-40B4-BE49-F238E27FC236}">
                <a16:creationId xmlns:a16="http://schemas.microsoft.com/office/drawing/2014/main" id="{59A97E6C-BA74-B76E-8654-13ECCBA289C7}"/>
              </a:ext>
            </a:extLst>
          </p:cNvPr>
          <p:cNvSpPr>
            <a:spLocks noGrp="1"/>
          </p:cNvSpPr>
          <p:nvPr>
            <p:ph type="sldNum" sz="quarter" idx="5"/>
          </p:nvPr>
        </p:nvSpPr>
        <p:spPr/>
        <p:txBody>
          <a:bodyPr/>
          <a:lstStyle/>
          <a:p>
            <a:fld id="{2E76AA05-AB2B-4215-978B-A09B2D34874E}" type="slidenum">
              <a:rPr lang="zh-CN" altLang="en-US" smtClean="0"/>
              <a:t>43</a:t>
            </a:fld>
            <a:endParaRPr lang="zh-CN" altLang="en-US"/>
          </a:p>
        </p:txBody>
      </p:sp>
    </p:spTree>
    <p:extLst>
      <p:ext uri="{BB962C8B-B14F-4D97-AF65-F5344CB8AC3E}">
        <p14:creationId xmlns:p14="http://schemas.microsoft.com/office/powerpoint/2010/main" val="205443788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7D1A6-1787-9F6C-449B-1B51955A62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0E5A43-C645-8756-183D-BAB775DEC4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10F20-F59B-C976-2D5E-096314B361C2}"/>
              </a:ext>
            </a:extLst>
          </p:cNvPr>
          <p:cNvSpPr>
            <a:spLocks noGrp="1"/>
          </p:cNvSpPr>
          <p:nvPr>
            <p:ph type="body" idx="1"/>
          </p:nvPr>
        </p:nvSpPr>
        <p:spPr/>
        <p:txBody>
          <a:bodyPr/>
          <a:lstStyle/>
          <a:p>
            <a:r>
              <a:rPr lang="en-US" dirty="0" err="1"/>
              <a:t>使用或提出RNN和LSTM的早期研究</a:t>
            </a:r>
            <a:endParaRPr lang="en-US" dirty="0"/>
          </a:p>
        </p:txBody>
      </p:sp>
      <p:sp>
        <p:nvSpPr>
          <p:cNvPr id="4" name="Slide Number Placeholder 3">
            <a:extLst>
              <a:ext uri="{FF2B5EF4-FFF2-40B4-BE49-F238E27FC236}">
                <a16:creationId xmlns:a16="http://schemas.microsoft.com/office/drawing/2014/main" id="{7D3A737D-58F1-53E7-2952-5D55954C6203}"/>
              </a:ext>
            </a:extLst>
          </p:cNvPr>
          <p:cNvSpPr>
            <a:spLocks noGrp="1"/>
          </p:cNvSpPr>
          <p:nvPr>
            <p:ph type="sldNum" sz="quarter" idx="5"/>
          </p:nvPr>
        </p:nvSpPr>
        <p:spPr/>
        <p:txBody>
          <a:bodyPr/>
          <a:lstStyle/>
          <a:p>
            <a:fld id="{2E76AA05-AB2B-4215-978B-A09B2D34874E}" type="slidenum">
              <a:rPr lang="zh-CN" altLang="en-US" smtClean="0"/>
              <a:t>44</a:t>
            </a:fld>
            <a:endParaRPr lang="zh-CN" altLang="en-US"/>
          </a:p>
        </p:txBody>
      </p:sp>
    </p:spTree>
    <p:extLst>
      <p:ext uri="{BB962C8B-B14F-4D97-AF65-F5344CB8AC3E}">
        <p14:creationId xmlns:p14="http://schemas.microsoft.com/office/powerpoint/2010/main" val="240906128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9F940-DA56-8D43-8475-64226A30F2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1E749-F4BA-031D-CF17-F3E5C0A1A5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093C55-12CD-C580-2881-3801069C124F}"/>
              </a:ext>
            </a:extLst>
          </p:cNvPr>
          <p:cNvSpPr>
            <a:spLocks noGrp="1"/>
          </p:cNvSpPr>
          <p:nvPr>
            <p:ph type="body" idx="1"/>
          </p:nvPr>
        </p:nvSpPr>
        <p:spPr/>
        <p:txBody>
          <a:bodyPr/>
          <a:lstStyle/>
          <a:p>
            <a:r>
              <a:rPr lang="en-US" dirty="0" err="1"/>
              <a:t>提出注意力以及自注意力的研究</a:t>
            </a:r>
            <a:endParaRPr lang="en-US" dirty="0"/>
          </a:p>
        </p:txBody>
      </p:sp>
      <p:sp>
        <p:nvSpPr>
          <p:cNvPr id="4" name="Slide Number Placeholder 3">
            <a:extLst>
              <a:ext uri="{FF2B5EF4-FFF2-40B4-BE49-F238E27FC236}">
                <a16:creationId xmlns:a16="http://schemas.microsoft.com/office/drawing/2014/main" id="{08F15D31-DA18-2D3A-CF2A-AF1E35C0E996}"/>
              </a:ext>
            </a:extLst>
          </p:cNvPr>
          <p:cNvSpPr>
            <a:spLocks noGrp="1"/>
          </p:cNvSpPr>
          <p:nvPr>
            <p:ph type="sldNum" sz="quarter" idx="5"/>
          </p:nvPr>
        </p:nvSpPr>
        <p:spPr/>
        <p:txBody>
          <a:bodyPr/>
          <a:lstStyle/>
          <a:p>
            <a:fld id="{2E76AA05-AB2B-4215-978B-A09B2D34874E}" type="slidenum">
              <a:rPr lang="zh-CN" altLang="en-US" smtClean="0"/>
              <a:t>45</a:t>
            </a:fld>
            <a:endParaRPr lang="zh-CN" altLang="en-US"/>
          </a:p>
        </p:txBody>
      </p:sp>
    </p:spTree>
    <p:extLst>
      <p:ext uri="{BB962C8B-B14F-4D97-AF65-F5344CB8AC3E}">
        <p14:creationId xmlns:p14="http://schemas.microsoft.com/office/powerpoint/2010/main" val="83758888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75CB4-93D8-F2C9-69E1-24772888DB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4EC9E9-A0F9-EF7A-A44D-1FCD47D38C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CBFBF6-C814-D98C-374E-F351C39235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3297F5-5E4C-A938-F81C-441407026660}"/>
              </a:ext>
            </a:extLst>
          </p:cNvPr>
          <p:cNvSpPr>
            <a:spLocks noGrp="1"/>
          </p:cNvSpPr>
          <p:nvPr>
            <p:ph type="sldNum" sz="quarter" idx="5"/>
          </p:nvPr>
        </p:nvSpPr>
        <p:spPr/>
        <p:txBody>
          <a:bodyPr/>
          <a:lstStyle/>
          <a:p>
            <a:fld id="{2E76AA05-AB2B-4215-978B-A09B2D34874E}" type="slidenum">
              <a:rPr lang="zh-CN" altLang="en-US" smtClean="0"/>
              <a:t>46</a:t>
            </a:fld>
            <a:endParaRPr lang="zh-CN" altLang="en-US"/>
          </a:p>
        </p:txBody>
      </p:sp>
    </p:spTree>
    <p:extLst>
      <p:ext uri="{BB962C8B-B14F-4D97-AF65-F5344CB8AC3E}">
        <p14:creationId xmlns:p14="http://schemas.microsoft.com/office/powerpoint/2010/main" val="40170701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CED6292-6C13-4F21-ABA9-7D7BEAFB5B41}" type="datetimeFigureOut">
              <a:rPr lang="zh-CN" altLang="en-US" smtClean="0"/>
              <a:t>2026/10/12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D11B20-7BE2-4D3A-BBD1-988185DBD1E4}" type="slidenum">
              <a:rPr lang="zh-CN" altLang="en-US" smtClean="0"/>
              <a:t>‹#›</a:t>
            </a:fld>
            <a:endParaRPr lang="zh-CN" altLang="en-US"/>
          </a:p>
        </p:txBody>
      </p:sp>
    </p:spTree>
    <p:extLst>
      <p:ext uri="{BB962C8B-B14F-4D97-AF65-F5344CB8AC3E}">
        <p14:creationId xmlns:p14="http://schemas.microsoft.com/office/powerpoint/2010/main" val="37583040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57774" y="1386348"/>
            <a:ext cx="10696026" cy="4790615"/>
          </a:xfrm>
        </p:spPr>
        <p:txBody>
          <a:bodyPr/>
          <a:lstStyle>
            <a:lvl1pPr marL="228600" indent="-228600">
              <a:defRPr kumimoji="0" lang="zh-CN" altLang="en-US" sz="2400" b="1" i="0" u="none" strike="noStrike" kern="100" cap="none" spc="0" normalizeH="0" baseline="0" dirty="0">
                <a:ln>
                  <a:noFill/>
                </a:ln>
                <a:solidFill>
                  <a:prstClr val="black"/>
                </a:solidFill>
                <a:effectLst/>
                <a:uLnTx/>
                <a:uFillTx/>
                <a:latin typeface="+mn-lt"/>
                <a:ea typeface="+mn-ea"/>
                <a:cs typeface="+mn-ea"/>
              </a:defRPr>
            </a:lvl1pPr>
          </a:lstStyle>
          <a:p>
            <a:pPr marL="457200" marR="0" lvl="0" indent="-457200" algn="just"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CED6292-6C13-4F21-ABA9-7D7BEAFB5B41}" type="datetimeFigureOut">
              <a:rPr lang="zh-CN" altLang="en-US" smtClean="0"/>
              <a:t>2026/10/12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D11B20-7BE2-4D3A-BBD1-988185DBD1E4}" type="slidenum">
              <a:rPr lang="zh-CN" altLang="en-US" smtClean="0"/>
              <a:t>‹#›</a:t>
            </a:fld>
            <a:endParaRPr lang="zh-CN" altLang="en-US"/>
          </a:p>
        </p:txBody>
      </p:sp>
      <p:sp>
        <p:nvSpPr>
          <p:cNvPr id="2" name="标题 1"/>
          <p:cNvSpPr>
            <a:spLocks noGrp="1"/>
          </p:cNvSpPr>
          <p:nvPr>
            <p:ph type="title"/>
          </p:nvPr>
        </p:nvSpPr>
        <p:spPr>
          <a:xfrm>
            <a:off x="350438" y="86797"/>
            <a:ext cx="11259397" cy="591626"/>
          </a:xfrm>
        </p:spPr>
        <p:txBody>
          <a:bodyPr>
            <a:normAutofit/>
          </a:bodyPr>
          <a:lstStyle>
            <a:lvl1pPr>
              <a:defRPr kumimoji="0" lang="zh-CN" altLang="en-US" sz="2800" b="1" i="0" u="none" strike="noStrike" kern="1200" cap="none" spc="0" normalizeH="0" baseline="0" dirty="0">
                <a:ln>
                  <a:noFill/>
                </a:ln>
                <a:solidFill>
                  <a:schemeClr val="tx1"/>
                </a:solidFill>
                <a:effectLst/>
                <a:uLnTx/>
                <a:uFillTx/>
                <a:latin typeface="+mn-lt"/>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单击此处编辑母版标题样式</a:t>
            </a:r>
          </a:p>
        </p:txBody>
      </p:sp>
    </p:spTree>
    <p:extLst>
      <p:ext uri="{BB962C8B-B14F-4D97-AF65-F5344CB8AC3E}">
        <p14:creationId xmlns:p14="http://schemas.microsoft.com/office/powerpoint/2010/main" val="2326375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CED6292-6C13-4F21-ABA9-7D7BEAFB5B41}" type="datetimeFigureOut">
              <a:rPr lang="zh-CN" altLang="en-US" smtClean="0"/>
              <a:t>2026/10/12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D11B20-7BE2-4D3A-BBD1-988185DBD1E4}" type="slidenum">
              <a:rPr lang="zh-CN" altLang="en-US" smtClean="0"/>
              <a:t>‹#›</a:t>
            </a:fld>
            <a:endParaRPr lang="zh-CN" altLang="en-US"/>
          </a:p>
        </p:txBody>
      </p:sp>
    </p:spTree>
    <p:extLst>
      <p:ext uri="{BB962C8B-B14F-4D97-AF65-F5344CB8AC3E}">
        <p14:creationId xmlns:p14="http://schemas.microsoft.com/office/powerpoint/2010/main" val="1096751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4CED6292-6C13-4F21-ABA9-7D7BEAFB5B41}" type="datetimeFigureOut">
              <a:rPr lang="zh-CN" altLang="en-US" smtClean="0"/>
              <a:t>2026/10/12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6D11B20-7BE2-4D3A-BBD1-988185DBD1E4}" type="slidenum">
              <a:rPr lang="zh-CN" altLang="en-US" smtClean="0"/>
              <a:t>‹#›</a:t>
            </a:fld>
            <a:endParaRPr lang="zh-CN" altLang="en-US"/>
          </a:p>
        </p:txBody>
      </p:sp>
    </p:spTree>
    <p:extLst>
      <p:ext uri="{BB962C8B-B14F-4D97-AF65-F5344CB8AC3E}">
        <p14:creationId xmlns:p14="http://schemas.microsoft.com/office/powerpoint/2010/main" val="3472338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4CED6292-6C13-4F21-ABA9-7D7BEAFB5B41}" type="datetimeFigureOut">
              <a:rPr lang="zh-CN" altLang="en-US" smtClean="0"/>
              <a:t>2026/10/12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6D11B20-7BE2-4D3A-BBD1-988185DBD1E4}" type="slidenum">
              <a:rPr lang="zh-CN" altLang="en-US" smtClean="0"/>
              <a:t>‹#›</a:t>
            </a:fld>
            <a:endParaRPr lang="zh-CN" altLang="en-US"/>
          </a:p>
        </p:txBody>
      </p:sp>
    </p:spTree>
    <p:extLst>
      <p:ext uri="{BB962C8B-B14F-4D97-AF65-F5344CB8AC3E}">
        <p14:creationId xmlns:p14="http://schemas.microsoft.com/office/powerpoint/2010/main" val="402735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CED6292-6C13-4F21-ABA9-7D7BEAFB5B41}" type="datetimeFigureOut">
              <a:rPr lang="zh-CN" altLang="en-US" smtClean="0"/>
              <a:t>2026/10/12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6D11B20-7BE2-4D3A-BBD1-988185DBD1E4}" type="slidenum">
              <a:rPr lang="zh-CN" altLang="en-US" smtClean="0"/>
              <a:t>‹#›</a:t>
            </a:fld>
            <a:endParaRPr lang="zh-CN" altLang="en-US"/>
          </a:p>
        </p:txBody>
      </p:sp>
    </p:spTree>
    <p:extLst>
      <p:ext uri="{BB962C8B-B14F-4D97-AF65-F5344CB8AC3E}">
        <p14:creationId xmlns:p14="http://schemas.microsoft.com/office/powerpoint/2010/main" val="31843662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CED6292-6C13-4F21-ABA9-7D7BEAFB5B41}" type="datetimeFigureOut">
              <a:rPr lang="zh-CN" altLang="en-US" smtClean="0"/>
              <a:t>2026/10/12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6D11B20-7BE2-4D3A-BBD1-988185DBD1E4}" type="slidenum">
              <a:rPr lang="zh-CN" altLang="en-US" smtClean="0"/>
              <a:t>‹#›</a:t>
            </a:fld>
            <a:endParaRPr lang="zh-CN" altLang="en-US"/>
          </a:p>
        </p:txBody>
      </p:sp>
    </p:spTree>
    <p:extLst>
      <p:ext uri="{BB962C8B-B14F-4D97-AF65-F5344CB8AC3E}">
        <p14:creationId xmlns:p14="http://schemas.microsoft.com/office/powerpoint/2010/main" val="1831718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CED6292-6C13-4F21-ABA9-7D7BEAFB5B41}" type="datetimeFigureOut">
              <a:rPr lang="zh-CN" altLang="en-US" smtClean="0"/>
              <a:t>2026/10/12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6D11B20-7BE2-4D3A-BBD1-988185DBD1E4}" type="slidenum">
              <a:rPr lang="zh-CN" altLang="en-US" smtClean="0"/>
              <a:t>‹#›</a:t>
            </a:fld>
            <a:endParaRPr lang="zh-CN" altLang="en-US"/>
          </a:p>
        </p:txBody>
      </p:sp>
    </p:spTree>
    <p:extLst>
      <p:ext uri="{BB962C8B-B14F-4D97-AF65-F5344CB8AC3E}">
        <p14:creationId xmlns:p14="http://schemas.microsoft.com/office/powerpoint/2010/main" val="222564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CED6292-6C13-4F21-ABA9-7D7BEAFB5B41}" type="datetimeFigureOut">
              <a:rPr lang="zh-CN" altLang="en-US" smtClean="0"/>
              <a:t>2026/10/12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6D11B20-7BE2-4D3A-BBD1-988185DBD1E4}" type="slidenum">
              <a:rPr lang="zh-CN" altLang="en-US" smtClean="0"/>
              <a:t>‹#›</a:t>
            </a:fld>
            <a:endParaRPr lang="zh-CN" altLang="en-US"/>
          </a:p>
        </p:txBody>
      </p:sp>
    </p:spTree>
    <p:extLst>
      <p:ext uri="{BB962C8B-B14F-4D97-AF65-F5344CB8AC3E}">
        <p14:creationId xmlns:p14="http://schemas.microsoft.com/office/powerpoint/2010/main" val="1535223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CED6292-6C13-4F21-ABA9-7D7BEAFB5B41}" type="datetimeFigureOut">
              <a:rPr lang="zh-CN" altLang="en-US" smtClean="0"/>
              <a:t>2026/10/12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D11B20-7BE2-4D3A-BBD1-988185DBD1E4}" type="slidenum">
              <a:rPr lang="zh-CN" altLang="en-US" smtClean="0"/>
              <a:t>‹#›</a:t>
            </a:fld>
            <a:endParaRPr lang="zh-CN" altLang="en-US"/>
          </a:p>
        </p:txBody>
      </p:sp>
    </p:spTree>
    <p:extLst>
      <p:ext uri="{BB962C8B-B14F-4D97-AF65-F5344CB8AC3E}">
        <p14:creationId xmlns:p14="http://schemas.microsoft.com/office/powerpoint/2010/main" val="1392604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CED6292-6C13-4F21-ABA9-7D7BEAFB5B41}" type="datetimeFigureOut">
              <a:rPr lang="zh-CN" altLang="en-US" smtClean="0"/>
              <a:t>2026/10/12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D11B20-7BE2-4D3A-BBD1-988185DBD1E4}" type="slidenum">
              <a:rPr lang="zh-CN" altLang="en-US" smtClean="0"/>
              <a:t>‹#›</a:t>
            </a:fld>
            <a:endParaRPr lang="zh-CN" altLang="en-US"/>
          </a:p>
        </p:txBody>
      </p:sp>
    </p:spTree>
    <p:extLst>
      <p:ext uri="{BB962C8B-B14F-4D97-AF65-F5344CB8AC3E}">
        <p14:creationId xmlns:p14="http://schemas.microsoft.com/office/powerpoint/2010/main" val="28717972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1946899"/>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内容4">
    <p:bg>
      <p:bgPr>
        <a:solidFill>
          <a:schemeClr val="bg1"/>
        </a:solidFill>
        <a:effectLst/>
      </p:bgPr>
    </p:bg>
    <p:spTree>
      <p:nvGrpSpPr>
        <p:cNvPr id="1" name=""/>
        <p:cNvGrpSpPr/>
        <p:nvPr/>
      </p:nvGrpSpPr>
      <p:grpSpPr>
        <a:xfrm>
          <a:off x="0" y="0"/>
          <a:ext cx="0" cy="0"/>
          <a:chOff x="0" y="0"/>
          <a:chExt cx="0" cy="0"/>
        </a:xfrm>
      </p:grpSpPr>
      <p:sp>
        <p:nvSpPr>
          <p:cNvPr id="3" name="圆角矩形 2"/>
          <p:cNvSpPr/>
          <p:nvPr userDrawn="1"/>
        </p:nvSpPr>
        <p:spPr>
          <a:xfrm>
            <a:off x="344170" y="258445"/>
            <a:ext cx="360000" cy="107950"/>
          </a:xfrm>
          <a:prstGeom prst="roundRect">
            <a:avLst>
              <a:gd name="adj" fmla="val 27634"/>
            </a:avLst>
          </a:prstGeom>
          <a:solidFill>
            <a:srgbClr val="9F27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4"/>
          <p:cNvSpPr/>
          <p:nvPr userDrawn="1"/>
        </p:nvSpPr>
        <p:spPr>
          <a:xfrm>
            <a:off x="344170" y="418465"/>
            <a:ext cx="252095" cy="179705"/>
          </a:xfrm>
          <a:prstGeom prst="roundRect">
            <a:avLst/>
          </a:prstGeom>
          <a:solidFill>
            <a:srgbClr val="7BC1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BE6F7"/>
              </a:solidFill>
            </a:endParaRPr>
          </a:p>
        </p:txBody>
      </p:sp>
      <p:sp>
        <p:nvSpPr>
          <p:cNvPr id="66" name="标题 65"/>
          <p:cNvSpPr>
            <a:spLocks noGrp="1"/>
          </p:cNvSpPr>
          <p:nvPr>
            <p:ph type="title"/>
          </p:nvPr>
        </p:nvSpPr>
        <p:spPr>
          <a:xfrm>
            <a:off x="838200" y="199390"/>
            <a:ext cx="10515600" cy="507365"/>
          </a:xfrm>
        </p:spPr>
        <p:txBody>
          <a:bodyPr/>
          <a:lstStyle>
            <a:lvl1pPr>
              <a:defRPr sz="2400" b="1">
                <a:solidFill>
                  <a:srgbClr val="9B1F24"/>
                </a:solidFill>
                <a:latin typeface="Microsoft YaHei Semibold" panose="020B0502040204020203" charset="-122"/>
                <a:ea typeface="Microsoft YaHei Semibold" panose="020B0502040204020203" charset="-122"/>
              </a:defRPr>
            </a:lvl1pPr>
          </a:lstStyle>
          <a:p>
            <a:r>
              <a:rPr lang="zh-CN" altLang="en-US"/>
              <a:t>单击此处编辑母版标题样式</a:t>
            </a:r>
          </a:p>
        </p:txBody>
      </p:sp>
      <p:sp>
        <p:nvSpPr>
          <p:cNvPr id="7" name="圆角矩形 6"/>
          <p:cNvSpPr/>
          <p:nvPr userDrawn="1"/>
        </p:nvSpPr>
        <p:spPr>
          <a:xfrm>
            <a:off x="10511790" y="6602095"/>
            <a:ext cx="180000" cy="108000"/>
          </a:xfrm>
          <a:prstGeom prst="roundRect">
            <a:avLst>
              <a:gd name="adj" fmla="val 50000"/>
            </a:avLst>
          </a:prstGeom>
          <a:solidFill>
            <a:srgbClr val="2E75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userDrawn="1"/>
        </p:nvSpPr>
        <p:spPr>
          <a:xfrm>
            <a:off x="10030460" y="6602095"/>
            <a:ext cx="360000" cy="108000"/>
          </a:xfrm>
          <a:prstGeom prst="roundRect">
            <a:avLst>
              <a:gd name="adj" fmla="val 50000"/>
            </a:avLst>
          </a:prstGeom>
          <a:solidFill>
            <a:srgbClr val="7BC1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矩形 8"/>
          <p:cNvSpPr/>
          <p:nvPr userDrawn="1"/>
        </p:nvSpPr>
        <p:spPr>
          <a:xfrm>
            <a:off x="10778490" y="6602095"/>
            <a:ext cx="108000" cy="108000"/>
          </a:xfrm>
          <a:prstGeom prst="roundRect">
            <a:avLst>
              <a:gd name="adj" fmla="val 50000"/>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459660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Blank-OfficePLUS">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34827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2675912"/>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内容4">
    <p:bg>
      <p:bgPr>
        <a:solidFill>
          <a:schemeClr val="bg1"/>
        </a:solidFill>
        <a:effectLst/>
      </p:bgPr>
    </p:bg>
    <p:spTree>
      <p:nvGrpSpPr>
        <p:cNvPr id="1" name=""/>
        <p:cNvGrpSpPr/>
        <p:nvPr/>
      </p:nvGrpSpPr>
      <p:grpSpPr>
        <a:xfrm>
          <a:off x="0" y="0"/>
          <a:ext cx="0" cy="0"/>
          <a:chOff x="0" y="0"/>
          <a:chExt cx="0" cy="0"/>
        </a:xfrm>
      </p:grpSpPr>
      <p:sp>
        <p:nvSpPr>
          <p:cNvPr id="3" name="圆角矩形 2"/>
          <p:cNvSpPr/>
          <p:nvPr userDrawn="1"/>
        </p:nvSpPr>
        <p:spPr>
          <a:xfrm>
            <a:off x="344170" y="258445"/>
            <a:ext cx="360000" cy="107950"/>
          </a:xfrm>
          <a:prstGeom prst="roundRect">
            <a:avLst>
              <a:gd name="adj" fmla="val 27634"/>
            </a:avLst>
          </a:prstGeom>
          <a:solidFill>
            <a:srgbClr val="9F27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4"/>
          <p:cNvSpPr/>
          <p:nvPr userDrawn="1"/>
        </p:nvSpPr>
        <p:spPr>
          <a:xfrm>
            <a:off x="344170" y="418465"/>
            <a:ext cx="252095" cy="179705"/>
          </a:xfrm>
          <a:prstGeom prst="roundRect">
            <a:avLst/>
          </a:prstGeom>
          <a:solidFill>
            <a:srgbClr val="7BC1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BE6F7"/>
              </a:solidFill>
            </a:endParaRPr>
          </a:p>
        </p:txBody>
      </p:sp>
      <p:sp>
        <p:nvSpPr>
          <p:cNvPr id="66" name="标题 65"/>
          <p:cNvSpPr>
            <a:spLocks noGrp="1"/>
          </p:cNvSpPr>
          <p:nvPr>
            <p:ph type="title"/>
          </p:nvPr>
        </p:nvSpPr>
        <p:spPr>
          <a:xfrm>
            <a:off x="838200" y="199390"/>
            <a:ext cx="10515600" cy="507365"/>
          </a:xfrm>
        </p:spPr>
        <p:txBody>
          <a:bodyPr/>
          <a:lstStyle>
            <a:lvl1pPr>
              <a:defRPr sz="2400" b="1">
                <a:solidFill>
                  <a:srgbClr val="9B1F24"/>
                </a:solidFill>
                <a:latin typeface="Microsoft YaHei Semibold" panose="020B0502040204020203" charset="-122"/>
                <a:ea typeface="Microsoft YaHei Semibold" panose="020B0502040204020203" charset="-122"/>
              </a:defRPr>
            </a:lvl1pPr>
          </a:lstStyle>
          <a:p>
            <a:r>
              <a:rPr lang="zh-CN" altLang="en-US"/>
              <a:t>单击此处编辑母版标题样式</a:t>
            </a:r>
          </a:p>
        </p:txBody>
      </p:sp>
      <p:sp>
        <p:nvSpPr>
          <p:cNvPr id="7" name="圆角矩形 6"/>
          <p:cNvSpPr/>
          <p:nvPr userDrawn="1"/>
        </p:nvSpPr>
        <p:spPr>
          <a:xfrm>
            <a:off x="10511790" y="6602095"/>
            <a:ext cx="180000" cy="108000"/>
          </a:xfrm>
          <a:prstGeom prst="roundRect">
            <a:avLst>
              <a:gd name="adj" fmla="val 50000"/>
            </a:avLst>
          </a:prstGeom>
          <a:solidFill>
            <a:srgbClr val="2E75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userDrawn="1"/>
        </p:nvSpPr>
        <p:spPr>
          <a:xfrm>
            <a:off x="10030460" y="6602095"/>
            <a:ext cx="360000" cy="108000"/>
          </a:xfrm>
          <a:prstGeom prst="roundRect">
            <a:avLst>
              <a:gd name="adj" fmla="val 50000"/>
            </a:avLst>
          </a:prstGeom>
          <a:solidFill>
            <a:srgbClr val="7BC1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矩形 8"/>
          <p:cNvSpPr/>
          <p:nvPr userDrawn="1"/>
        </p:nvSpPr>
        <p:spPr>
          <a:xfrm>
            <a:off x="10778490" y="6602095"/>
            <a:ext cx="108000" cy="108000"/>
          </a:xfrm>
          <a:prstGeom prst="roundRect">
            <a:avLst>
              <a:gd name="adj" fmla="val 50000"/>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073983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ED6292-6C13-4F21-ABA9-7D7BEAFB5B41}" type="datetimeFigureOut">
              <a:rPr lang="zh-CN" altLang="en-US" smtClean="0"/>
              <a:t>2026/10/12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D11B20-7BE2-4D3A-BBD1-988185DBD1E4}" type="slidenum">
              <a:rPr lang="zh-CN" altLang="en-US" smtClean="0"/>
              <a:t>‹#›</a:t>
            </a:fld>
            <a:endParaRPr lang="zh-CN" altLang="en-US"/>
          </a:p>
        </p:txBody>
      </p:sp>
    </p:spTree>
    <p:extLst>
      <p:ext uri="{BB962C8B-B14F-4D97-AF65-F5344CB8AC3E}">
        <p14:creationId xmlns:p14="http://schemas.microsoft.com/office/powerpoint/2010/main" val="5102543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87" r:id="rId15"/>
    <p:sldLayoutId id="2147483688"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4.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7"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NULL"/><Relationship Id="rId9"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www.bioinf.jku.at/publications/older/2604.pdf"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hyperlink" Target="http://www.cs.toronto.edu/~graves/icml_2006.pdf"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5.jpg"/></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hyperlink" Target="https://engineering.fb.com/2016/10/25/ml-applications/building-an-efficient-neural-language-model-over-a-billion-words/" TargetMode="Externa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4.xml"/><Relationship Id="rId1" Type="http://schemas.openxmlformats.org/officeDocument/2006/relationships/tags" Target="../tags/tag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710.png"/><Relationship Id="rId5" Type="http://schemas.openxmlformats.org/officeDocument/2006/relationships/image" Target="../media/image610.png"/><Relationship Id="rId4" Type="http://schemas.openxmlformats.org/officeDocument/2006/relationships/image" Target="../media/image510.png"/></Relationships>
</file>

<file path=ppt/slides/_rels/slide17.xml.rels><?xml version="1.0" encoding="UTF-8" standalone="yes"?>
<Relationships xmlns="http://schemas.openxmlformats.org/package/2006/relationships"><Relationship Id="rId8" Type="http://schemas.openxmlformats.org/officeDocument/2006/relationships/image" Target="../media/image1310.png"/><Relationship Id="rId3" Type="http://schemas.openxmlformats.org/officeDocument/2006/relationships/image" Target="../media/image14.png"/><Relationship Id="rId7" Type="http://schemas.openxmlformats.org/officeDocument/2006/relationships/image" Target="../media/image1210.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111.png"/><Relationship Id="rId11" Type="http://schemas.openxmlformats.org/officeDocument/2006/relationships/image" Target="../media/image16.png"/><Relationship Id="rId5" Type="http://schemas.openxmlformats.org/officeDocument/2006/relationships/image" Target="../media/image1010.png"/><Relationship Id="rId10" Type="http://schemas.openxmlformats.org/officeDocument/2006/relationships/image" Target="../media/image150.png"/><Relationship Id="rId4" Type="http://schemas.openxmlformats.org/officeDocument/2006/relationships/image" Target="../media/image910.png"/><Relationship Id="rId9" Type="http://schemas.openxmlformats.org/officeDocument/2006/relationships/image" Target="../media/image145.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s>
</file>

<file path=ppt/slides/_rels/slide20.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18" Type="http://schemas.openxmlformats.org/officeDocument/2006/relationships/image" Target="../media/image34.png"/><Relationship Id="rId3" Type="http://schemas.openxmlformats.org/officeDocument/2006/relationships/image" Target="../media/image31.png"/><Relationship Id="rId21" Type="http://schemas.openxmlformats.org/officeDocument/2006/relationships/image" Target="../media/image37.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33.png"/><Relationship Id="rId2" Type="http://schemas.openxmlformats.org/officeDocument/2006/relationships/notesSlide" Target="../notesSlides/notesSlide20.xml"/><Relationship Id="rId16" Type="http://schemas.openxmlformats.org/officeDocument/2006/relationships/image" Target="../media/image30.png"/><Relationship Id="rId20"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png"/><Relationship Id="rId19" Type="http://schemas.openxmlformats.org/officeDocument/2006/relationships/image" Target="../media/image35.png"/><Relationship Id="rId4" Type="http://schemas.openxmlformats.org/officeDocument/2006/relationships/image" Target="../media/image32.png"/><Relationship Id="rId9" Type="http://schemas.openxmlformats.org/officeDocument/2006/relationships/image" Target="../media/image23.png"/><Relationship Id="rId14" Type="http://schemas.openxmlformats.org/officeDocument/2006/relationships/image" Target="../media/image28.png"/></Relationships>
</file>

<file path=ppt/slides/_rels/slide21.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18" Type="http://schemas.openxmlformats.org/officeDocument/2006/relationships/image" Target="../media/image33.png"/><Relationship Id="rId26" Type="http://schemas.openxmlformats.org/officeDocument/2006/relationships/image" Target="../media/image42.png"/><Relationship Id="rId3" Type="http://schemas.openxmlformats.org/officeDocument/2006/relationships/image" Target="../media/image38.png"/><Relationship Id="rId21" Type="http://schemas.openxmlformats.org/officeDocument/2006/relationships/image" Target="../media/image36.png"/><Relationship Id="rId7" Type="http://schemas.openxmlformats.org/officeDocument/2006/relationships/image" Target="../media/image20.png"/><Relationship Id="rId12" Type="http://schemas.openxmlformats.org/officeDocument/2006/relationships/image" Target="../media/image25.png"/><Relationship Id="rId17" Type="http://schemas.openxmlformats.org/officeDocument/2006/relationships/image" Target="../media/image30.png"/><Relationship Id="rId25" Type="http://schemas.openxmlformats.org/officeDocument/2006/relationships/image" Target="../media/image41.png"/><Relationship Id="rId2" Type="http://schemas.openxmlformats.org/officeDocument/2006/relationships/notesSlide" Target="../notesSlides/notesSlide21.xml"/><Relationship Id="rId16" Type="http://schemas.openxmlformats.org/officeDocument/2006/relationships/image" Target="../media/image29.png"/><Relationship Id="rId20"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4.png"/><Relationship Id="rId24" Type="http://schemas.openxmlformats.org/officeDocument/2006/relationships/image" Target="../media/image40.png"/><Relationship Id="rId5" Type="http://schemas.openxmlformats.org/officeDocument/2006/relationships/image" Target="../media/image32.png"/><Relationship Id="rId15" Type="http://schemas.openxmlformats.org/officeDocument/2006/relationships/image" Target="../media/image28.png"/><Relationship Id="rId23" Type="http://schemas.openxmlformats.org/officeDocument/2006/relationships/image" Target="../media/image39.png"/><Relationship Id="rId10" Type="http://schemas.openxmlformats.org/officeDocument/2006/relationships/image" Target="../media/image23.png"/><Relationship Id="rId19" Type="http://schemas.openxmlformats.org/officeDocument/2006/relationships/image" Target="../media/image34.png"/><Relationship Id="rId4" Type="http://schemas.openxmlformats.org/officeDocument/2006/relationships/image" Target="../media/image31.png"/><Relationship Id="rId9" Type="http://schemas.openxmlformats.org/officeDocument/2006/relationships/image" Target="../media/image22.png"/><Relationship Id="rId14" Type="http://schemas.openxmlformats.org/officeDocument/2006/relationships/image" Target="../media/image27.png"/><Relationship Id="rId22" Type="http://schemas.openxmlformats.org/officeDocument/2006/relationships/image" Target="../media/image37.png"/><Relationship Id="rId27" Type="http://schemas.openxmlformats.org/officeDocument/2006/relationships/image" Target="../media/image43.png"/></Relationships>
</file>

<file path=ppt/slides/_rels/slide22.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18" Type="http://schemas.openxmlformats.org/officeDocument/2006/relationships/image" Target="../media/image30.png"/><Relationship Id="rId26" Type="http://schemas.openxmlformats.org/officeDocument/2006/relationships/image" Target="../media/image41.png"/><Relationship Id="rId3" Type="http://schemas.openxmlformats.org/officeDocument/2006/relationships/image" Target="../media/image44.png"/><Relationship Id="rId21" Type="http://schemas.openxmlformats.org/officeDocument/2006/relationships/image" Target="../media/image35.png"/><Relationship Id="rId7" Type="http://schemas.openxmlformats.org/officeDocument/2006/relationships/image" Target="../media/image19.png"/><Relationship Id="rId12" Type="http://schemas.openxmlformats.org/officeDocument/2006/relationships/image" Target="../media/image24.png"/><Relationship Id="rId17" Type="http://schemas.openxmlformats.org/officeDocument/2006/relationships/image" Target="../media/image29.png"/><Relationship Id="rId25" Type="http://schemas.openxmlformats.org/officeDocument/2006/relationships/image" Target="../media/image40.png"/><Relationship Id="rId2" Type="http://schemas.openxmlformats.org/officeDocument/2006/relationships/notesSlide" Target="../notesSlides/notesSlide22.xml"/><Relationship Id="rId16" Type="http://schemas.openxmlformats.org/officeDocument/2006/relationships/image" Target="../media/image28.png"/><Relationship Id="rId20" Type="http://schemas.openxmlformats.org/officeDocument/2006/relationships/image" Target="../media/image34.png"/><Relationship Id="rId29"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32.png"/><Relationship Id="rId11" Type="http://schemas.openxmlformats.org/officeDocument/2006/relationships/image" Target="../media/image23.png"/><Relationship Id="rId24" Type="http://schemas.openxmlformats.org/officeDocument/2006/relationships/image" Target="../media/image45.png"/><Relationship Id="rId32" Type="http://schemas.openxmlformats.org/officeDocument/2006/relationships/image" Target="../media/image49.png"/><Relationship Id="rId5" Type="http://schemas.openxmlformats.org/officeDocument/2006/relationships/image" Target="../media/image31.png"/><Relationship Id="rId15" Type="http://schemas.openxmlformats.org/officeDocument/2006/relationships/image" Target="../media/image27.png"/><Relationship Id="rId23" Type="http://schemas.openxmlformats.org/officeDocument/2006/relationships/image" Target="../media/image37.png"/><Relationship Id="rId28" Type="http://schemas.openxmlformats.org/officeDocument/2006/relationships/image" Target="../media/image43.png"/><Relationship Id="rId10" Type="http://schemas.openxmlformats.org/officeDocument/2006/relationships/image" Target="../media/image22.png"/><Relationship Id="rId19" Type="http://schemas.openxmlformats.org/officeDocument/2006/relationships/image" Target="../media/image33.png"/><Relationship Id="rId31" Type="http://schemas.openxmlformats.org/officeDocument/2006/relationships/image" Target="../media/image48.png"/><Relationship Id="rId4" Type="http://schemas.openxmlformats.org/officeDocument/2006/relationships/image" Target="../media/image38.png"/><Relationship Id="rId9" Type="http://schemas.openxmlformats.org/officeDocument/2006/relationships/image" Target="../media/image21.png"/><Relationship Id="rId14" Type="http://schemas.openxmlformats.org/officeDocument/2006/relationships/image" Target="../media/image26.png"/><Relationship Id="rId22" Type="http://schemas.openxmlformats.org/officeDocument/2006/relationships/image" Target="../media/image36.png"/><Relationship Id="rId27" Type="http://schemas.openxmlformats.org/officeDocument/2006/relationships/image" Target="../media/image42.png"/><Relationship Id="rId30" Type="http://schemas.openxmlformats.org/officeDocument/2006/relationships/image" Target="../media/image47.png"/></Relationships>
</file>

<file path=ppt/slides/_rels/slide23.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18" Type="http://schemas.openxmlformats.org/officeDocument/2006/relationships/image" Target="../media/image30.png"/><Relationship Id="rId26" Type="http://schemas.openxmlformats.org/officeDocument/2006/relationships/image" Target="../media/image41.png"/><Relationship Id="rId3" Type="http://schemas.openxmlformats.org/officeDocument/2006/relationships/image" Target="../media/image44.png"/><Relationship Id="rId21" Type="http://schemas.openxmlformats.org/officeDocument/2006/relationships/image" Target="../media/image35.png"/><Relationship Id="rId7" Type="http://schemas.openxmlformats.org/officeDocument/2006/relationships/image" Target="../media/image19.png"/><Relationship Id="rId12" Type="http://schemas.openxmlformats.org/officeDocument/2006/relationships/image" Target="../media/image24.png"/><Relationship Id="rId17" Type="http://schemas.openxmlformats.org/officeDocument/2006/relationships/image" Target="../media/image29.png"/><Relationship Id="rId25" Type="http://schemas.openxmlformats.org/officeDocument/2006/relationships/image" Target="../media/image40.png"/><Relationship Id="rId2" Type="http://schemas.openxmlformats.org/officeDocument/2006/relationships/notesSlide" Target="../notesSlides/notesSlide23.xml"/><Relationship Id="rId16" Type="http://schemas.openxmlformats.org/officeDocument/2006/relationships/image" Target="../media/image28.png"/><Relationship Id="rId20" Type="http://schemas.openxmlformats.org/officeDocument/2006/relationships/image" Target="../media/image34.png"/><Relationship Id="rId29"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32.png"/><Relationship Id="rId11" Type="http://schemas.openxmlformats.org/officeDocument/2006/relationships/image" Target="../media/image23.png"/><Relationship Id="rId24" Type="http://schemas.openxmlformats.org/officeDocument/2006/relationships/image" Target="../media/image45.png"/><Relationship Id="rId32" Type="http://schemas.openxmlformats.org/officeDocument/2006/relationships/image" Target="../media/image49.png"/><Relationship Id="rId5" Type="http://schemas.openxmlformats.org/officeDocument/2006/relationships/image" Target="../media/image31.png"/><Relationship Id="rId15" Type="http://schemas.openxmlformats.org/officeDocument/2006/relationships/image" Target="../media/image27.png"/><Relationship Id="rId23" Type="http://schemas.openxmlformats.org/officeDocument/2006/relationships/image" Target="../media/image37.png"/><Relationship Id="rId28" Type="http://schemas.openxmlformats.org/officeDocument/2006/relationships/image" Target="../media/image43.png"/><Relationship Id="rId10" Type="http://schemas.openxmlformats.org/officeDocument/2006/relationships/image" Target="../media/image22.png"/><Relationship Id="rId19" Type="http://schemas.openxmlformats.org/officeDocument/2006/relationships/image" Target="../media/image33.png"/><Relationship Id="rId31" Type="http://schemas.openxmlformats.org/officeDocument/2006/relationships/image" Target="../media/image48.png"/><Relationship Id="rId4" Type="http://schemas.openxmlformats.org/officeDocument/2006/relationships/image" Target="../media/image38.png"/><Relationship Id="rId9" Type="http://schemas.openxmlformats.org/officeDocument/2006/relationships/image" Target="../media/image21.png"/><Relationship Id="rId14" Type="http://schemas.openxmlformats.org/officeDocument/2006/relationships/image" Target="../media/image26.png"/><Relationship Id="rId22" Type="http://schemas.openxmlformats.org/officeDocument/2006/relationships/image" Target="../media/image36.png"/><Relationship Id="rId27" Type="http://schemas.openxmlformats.org/officeDocument/2006/relationships/image" Target="../media/image42.png"/><Relationship Id="rId30" Type="http://schemas.openxmlformats.org/officeDocument/2006/relationships/image" Target="../media/image47.png"/></Relationships>
</file>

<file path=ppt/slides/_rels/slide24.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18" Type="http://schemas.openxmlformats.org/officeDocument/2006/relationships/image" Target="../media/image49.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png"/><Relationship Id="rId17" Type="http://schemas.openxmlformats.org/officeDocument/2006/relationships/image" Target="../media/image48.png"/><Relationship Id="rId2" Type="http://schemas.openxmlformats.org/officeDocument/2006/relationships/notesSlide" Target="../notesSlides/notesSlide24.xml"/><Relationship Id="rId16"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5" Type="http://schemas.openxmlformats.org/officeDocument/2006/relationships/image" Target="../media/image46.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30.png"/></Relationships>
</file>

<file path=ppt/slides/_rels/slide25.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18" Type="http://schemas.openxmlformats.org/officeDocument/2006/relationships/image" Target="../media/image53.png"/><Relationship Id="rId26" Type="http://schemas.openxmlformats.org/officeDocument/2006/relationships/image" Target="../media/image47.png"/><Relationship Id="rId3" Type="http://schemas.openxmlformats.org/officeDocument/2006/relationships/image" Target="../media/image19.png"/><Relationship Id="rId21" Type="http://schemas.openxmlformats.org/officeDocument/2006/relationships/image" Target="../media/image54.png"/><Relationship Id="rId7" Type="http://schemas.openxmlformats.org/officeDocument/2006/relationships/image" Target="../media/image23.png"/><Relationship Id="rId12" Type="http://schemas.openxmlformats.org/officeDocument/2006/relationships/image" Target="../media/image28.png"/><Relationship Id="rId17" Type="http://schemas.openxmlformats.org/officeDocument/2006/relationships/image" Target="../media/image52.png"/><Relationship Id="rId25" Type="http://schemas.openxmlformats.org/officeDocument/2006/relationships/image" Target="../media/image46.png"/><Relationship Id="rId2" Type="http://schemas.openxmlformats.org/officeDocument/2006/relationships/notesSlide" Target="../notesSlides/notesSlide25.xml"/><Relationship Id="rId16" Type="http://schemas.openxmlformats.org/officeDocument/2006/relationships/image" Target="../media/image51.png"/><Relationship Id="rId20" Type="http://schemas.openxmlformats.org/officeDocument/2006/relationships/image" Target="../media/image45.png"/><Relationship Id="rId29"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png"/><Relationship Id="rId24" Type="http://schemas.openxmlformats.org/officeDocument/2006/relationships/image" Target="../media/image57.png"/><Relationship Id="rId32" Type="http://schemas.openxmlformats.org/officeDocument/2006/relationships/image" Target="../media/image61.png"/><Relationship Id="rId5" Type="http://schemas.openxmlformats.org/officeDocument/2006/relationships/image" Target="../media/image21.png"/><Relationship Id="rId15" Type="http://schemas.openxmlformats.org/officeDocument/2006/relationships/image" Target="../media/image50.png"/><Relationship Id="rId23" Type="http://schemas.openxmlformats.org/officeDocument/2006/relationships/image" Target="../media/image56.png"/><Relationship Id="rId28" Type="http://schemas.openxmlformats.org/officeDocument/2006/relationships/image" Target="../media/image49.png"/><Relationship Id="rId10" Type="http://schemas.openxmlformats.org/officeDocument/2006/relationships/image" Target="../media/image26.png"/><Relationship Id="rId19" Type="http://schemas.openxmlformats.org/officeDocument/2006/relationships/image" Target="../media/image37.png"/><Relationship Id="rId31" Type="http://schemas.openxmlformats.org/officeDocument/2006/relationships/image" Target="../media/image60.pn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30.png"/><Relationship Id="rId22" Type="http://schemas.openxmlformats.org/officeDocument/2006/relationships/image" Target="../media/image55.png"/><Relationship Id="rId27" Type="http://schemas.openxmlformats.org/officeDocument/2006/relationships/image" Target="../media/image48.png"/><Relationship Id="rId30" Type="http://schemas.openxmlformats.org/officeDocument/2006/relationships/image" Target="../media/image59.png"/></Relationships>
</file>

<file path=ppt/slides/_rels/slide26.xml.rels><?xml version="1.0" encoding="UTF-8" standalone="yes"?>
<Relationships xmlns="http://schemas.openxmlformats.org/package/2006/relationships"><Relationship Id="rId13" Type="http://schemas.openxmlformats.org/officeDocument/2006/relationships/image" Target="../media/image20.png"/><Relationship Id="rId18" Type="http://schemas.openxmlformats.org/officeDocument/2006/relationships/image" Target="../media/image25.png"/><Relationship Id="rId26" Type="http://schemas.openxmlformats.org/officeDocument/2006/relationships/image" Target="../media/image48.png"/><Relationship Id="rId21" Type="http://schemas.openxmlformats.org/officeDocument/2006/relationships/image" Target="../media/image28.png"/><Relationship Id="rId34" Type="http://schemas.openxmlformats.org/officeDocument/2006/relationships/image" Target="../media/image68.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47.png"/><Relationship Id="rId33" Type="http://schemas.openxmlformats.org/officeDocument/2006/relationships/image" Target="../media/image67.png"/><Relationship Id="rId2" Type="http://schemas.openxmlformats.org/officeDocument/2006/relationships/notesSlide" Target="../notesSlides/notesSlide26.xml"/><Relationship Id="rId16" Type="http://schemas.openxmlformats.org/officeDocument/2006/relationships/image" Target="../media/image23.png"/><Relationship Id="rId20" Type="http://schemas.openxmlformats.org/officeDocument/2006/relationships/image" Target="../media/image27.png"/><Relationship Id="rId29" Type="http://schemas.openxmlformats.org/officeDocument/2006/relationships/image" Target="../media/image63.png"/><Relationship Id="rId1" Type="http://schemas.openxmlformats.org/officeDocument/2006/relationships/slideLayout" Target="../slideLayouts/slideLayout2.xml"/><Relationship Id="rId11" Type="http://schemas.openxmlformats.org/officeDocument/2006/relationships/image" Target="../media/image450.png"/><Relationship Id="rId24" Type="http://schemas.openxmlformats.org/officeDocument/2006/relationships/image" Target="../media/image46.png"/><Relationship Id="rId32" Type="http://schemas.openxmlformats.org/officeDocument/2006/relationships/image" Target="../media/image66.png"/><Relationship Id="rId37" Type="http://schemas.openxmlformats.org/officeDocument/2006/relationships/image" Target="../media/image71.png"/><Relationship Id="rId15" Type="http://schemas.openxmlformats.org/officeDocument/2006/relationships/image" Target="../media/image22.png"/><Relationship Id="rId23" Type="http://schemas.openxmlformats.org/officeDocument/2006/relationships/image" Target="../media/image30.png"/><Relationship Id="rId28" Type="http://schemas.openxmlformats.org/officeDocument/2006/relationships/image" Target="../media/image62.png"/><Relationship Id="rId36" Type="http://schemas.openxmlformats.org/officeDocument/2006/relationships/image" Target="../media/image70.png"/><Relationship Id="rId10" Type="http://schemas.openxmlformats.org/officeDocument/2006/relationships/image" Target="../media/image440.png"/><Relationship Id="rId19" Type="http://schemas.openxmlformats.org/officeDocument/2006/relationships/image" Target="../media/image26.png"/><Relationship Id="rId31" Type="http://schemas.openxmlformats.org/officeDocument/2006/relationships/image" Target="../media/image65.png"/><Relationship Id="rId9" Type="http://schemas.openxmlformats.org/officeDocument/2006/relationships/image" Target="../media/image430.png"/><Relationship Id="rId14" Type="http://schemas.openxmlformats.org/officeDocument/2006/relationships/image" Target="../media/image21.png"/><Relationship Id="rId22" Type="http://schemas.openxmlformats.org/officeDocument/2006/relationships/image" Target="../media/image29.png"/><Relationship Id="rId27" Type="http://schemas.openxmlformats.org/officeDocument/2006/relationships/image" Target="../media/image49.png"/><Relationship Id="rId30" Type="http://schemas.openxmlformats.org/officeDocument/2006/relationships/image" Target="../media/image64.png"/><Relationship Id="rId35" Type="http://schemas.openxmlformats.org/officeDocument/2006/relationships/image" Target="../media/image69.png"/></Relationships>
</file>

<file path=ppt/slides/_rels/slide2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4.xml"/><Relationship Id="rId1" Type="http://schemas.openxmlformats.org/officeDocument/2006/relationships/tags" Target="../tags/tag4.xml"/></Relationships>
</file>

<file path=ppt/slides/_rels/slide31.xml.rels><?xml version="1.0" encoding="UTF-8" standalone="yes"?>
<Relationships xmlns="http://schemas.openxmlformats.org/package/2006/relationships"><Relationship Id="rId8" Type="http://schemas.openxmlformats.org/officeDocument/2006/relationships/image" Target="../media/image520.png"/><Relationship Id="rId13" Type="http://schemas.openxmlformats.org/officeDocument/2006/relationships/image" Target="../media/image570.png"/><Relationship Id="rId18" Type="http://schemas.openxmlformats.org/officeDocument/2006/relationships/image" Target="../media/image620.png"/><Relationship Id="rId3" Type="http://schemas.openxmlformats.org/officeDocument/2006/relationships/image" Target="../media/image9.png"/><Relationship Id="rId21" Type="http://schemas.openxmlformats.org/officeDocument/2006/relationships/image" Target="../media/image650.png"/><Relationship Id="rId7" Type="http://schemas.openxmlformats.org/officeDocument/2006/relationships/image" Target="../media/image511.png"/><Relationship Id="rId12" Type="http://schemas.openxmlformats.org/officeDocument/2006/relationships/image" Target="../media/image560.png"/><Relationship Id="rId17" Type="http://schemas.openxmlformats.org/officeDocument/2006/relationships/image" Target="../media/image611.png"/><Relationship Id="rId2" Type="http://schemas.openxmlformats.org/officeDocument/2006/relationships/notesSlide" Target="../notesSlides/notesSlide31.xml"/><Relationship Id="rId16" Type="http://schemas.openxmlformats.org/officeDocument/2006/relationships/image" Target="../media/image600.png"/><Relationship Id="rId20" Type="http://schemas.openxmlformats.org/officeDocument/2006/relationships/image" Target="../media/image640.png"/><Relationship Id="rId1" Type="http://schemas.openxmlformats.org/officeDocument/2006/relationships/slideLayout" Target="../slideLayouts/slideLayout2.xml"/><Relationship Id="rId6" Type="http://schemas.openxmlformats.org/officeDocument/2006/relationships/image" Target="../media/image500.png"/><Relationship Id="rId11" Type="http://schemas.openxmlformats.org/officeDocument/2006/relationships/image" Target="../media/image550.png"/><Relationship Id="rId5" Type="http://schemas.openxmlformats.org/officeDocument/2006/relationships/image" Target="../media/image490.png"/><Relationship Id="rId15" Type="http://schemas.openxmlformats.org/officeDocument/2006/relationships/image" Target="../media/image590.png"/><Relationship Id="rId10" Type="http://schemas.openxmlformats.org/officeDocument/2006/relationships/image" Target="../media/image540.png"/><Relationship Id="rId19" Type="http://schemas.openxmlformats.org/officeDocument/2006/relationships/image" Target="../media/image630.png"/><Relationship Id="rId4" Type="http://schemas.openxmlformats.org/officeDocument/2006/relationships/image" Target="../media/image480.png"/><Relationship Id="rId9" Type="http://schemas.openxmlformats.org/officeDocument/2006/relationships/image" Target="../media/image530.png"/><Relationship Id="rId14" Type="http://schemas.openxmlformats.org/officeDocument/2006/relationships/image" Target="../media/image580.png"/><Relationship Id="rId22" Type="http://schemas.openxmlformats.org/officeDocument/2006/relationships/image" Target="../media/image660.png"/></Relationships>
</file>

<file path=ppt/slides/_rels/slide3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3" Type="http://schemas.openxmlformats.org/officeDocument/2006/relationships/image" Target="../media/image93.png"/><Relationship Id="rId18" Type="http://schemas.openxmlformats.org/officeDocument/2006/relationships/image" Target="../media/image98.png"/><Relationship Id="rId26" Type="http://schemas.openxmlformats.org/officeDocument/2006/relationships/image" Target="../media/image106.png"/><Relationship Id="rId39" Type="http://schemas.openxmlformats.org/officeDocument/2006/relationships/image" Target="../media/image83.png"/><Relationship Id="rId21" Type="http://schemas.openxmlformats.org/officeDocument/2006/relationships/image" Target="../media/image101.png"/><Relationship Id="rId34" Type="http://schemas.openxmlformats.org/officeDocument/2006/relationships/image" Target="../media/image73.png"/><Relationship Id="rId42" Type="http://schemas.openxmlformats.org/officeDocument/2006/relationships/image" Target="../media/image110.png"/><Relationship Id="rId47" Type="http://schemas.openxmlformats.org/officeDocument/2006/relationships/image" Target="../media/image115.png"/><Relationship Id="rId50" Type="http://schemas.openxmlformats.org/officeDocument/2006/relationships/image" Target="../media/image118.png"/><Relationship Id="rId55" Type="http://schemas.openxmlformats.org/officeDocument/2006/relationships/image" Target="../media/image123.png"/><Relationship Id="rId7" Type="http://schemas.openxmlformats.org/officeDocument/2006/relationships/image" Target="../media/image87.png"/><Relationship Id="rId2" Type="http://schemas.openxmlformats.org/officeDocument/2006/relationships/notesSlide" Target="../notesSlides/notesSlide32.xml"/><Relationship Id="rId16" Type="http://schemas.openxmlformats.org/officeDocument/2006/relationships/image" Target="../media/image96.png"/><Relationship Id="rId29" Type="http://schemas.openxmlformats.org/officeDocument/2006/relationships/image" Target="../media/image109.png"/><Relationship Id="rId11" Type="http://schemas.openxmlformats.org/officeDocument/2006/relationships/image" Target="../media/image91.png"/><Relationship Id="rId24" Type="http://schemas.openxmlformats.org/officeDocument/2006/relationships/image" Target="../media/image104.png"/><Relationship Id="rId32" Type="http://schemas.openxmlformats.org/officeDocument/2006/relationships/image" Target="../media/image13.png"/><Relationship Id="rId37" Type="http://schemas.openxmlformats.org/officeDocument/2006/relationships/image" Target="../media/image81.png"/><Relationship Id="rId40" Type="http://schemas.openxmlformats.org/officeDocument/2006/relationships/image" Target="../media/image84.png"/><Relationship Id="rId45" Type="http://schemas.openxmlformats.org/officeDocument/2006/relationships/image" Target="../media/image113.png"/><Relationship Id="rId53" Type="http://schemas.openxmlformats.org/officeDocument/2006/relationships/image" Target="../media/image121.png"/><Relationship Id="rId58" Type="http://schemas.openxmlformats.org/officeDocument/2006/relationships/image" Target="../media/image126.png"/><Relationship Id="rId10" Type="http://schemas.openxmlformats.org/officeDocument/2006/relationships/image" Target="../media/image90.png"/><Relationship Id="rId19" Type="http://schemas.openxmlformats.org/officeDocument/2006/relationships/image" Target="../media/image99.png"/><Relationship Id="rId31" Type="http://schemas.openxmlformats.org/officeDocument/2006/relationships/image" Target="../media/image79.png"/><Relationship Id="rId44" Type="http://schemas.openxmlformats.org/officeDocument/2006/relationships/image" Target="../media/image112.png"/><Relationship Id="rId52" Type="http://schemas.openxmlformats.org/officeDocument/2006/relationships/image" Target="../media/image120.png"/><Relationship Id="rId9" Type="http://schemas.openxmlformats.org/officeDocument/2006/relationships/image" Target="../media/image89.png"/><Relationship Id="rId14" Type="http://schemas.openxmlformats.org/officeDocument/2006/relationships/image" Target="../media/image94.png"/><Relationship Id="rId22" Type="http://schemas.openxmlformats.org/officeDocument/2006/relationships/image" Target="../media/image102.png"/><Relationship Id="rId27" Type="http://schemas.openxmlformats.org/officeDocument/2006/relationships/image" Target="../media/image107.png"/><Relationship Id="rId30" Type="http://schemas.openxmlformats.org/officeDocument/2006/relationships/image" Target="../media/image78.png"/><Relationship Id="rId35" Type="http://schemas.openxmlformats.org/officeDocument/2006/relationships/image" Target="../media/image77.png"/><Relationship Id="rId43" Type="http://schemas.openxmlformats.org/officeDocument/2006/relationships/image" Target="../media/image111.png"/><Relationship Id="rId48" Type="http://schemas.openxmlformats.org/officeDocument/2006/relationships/image" Target="../media/image116.png"/><Relationship Id="rId56" Type="http://schemas.openxmlformats.org/officeDocument/2006/relationships/image" Target="../media/image124.png"/><Relationship Id="rId8" Type="http://schemas.openxmlformats.org/officeDocument/2006/relationships/image" Target="../media/image88.png"/><Relationship Id="rId51" Type="http://schemas.openxmlformats.org/officeDocument/2006/relationships/image" Target="../media/image119.png"/><Relationship Id="rId3" Type="http://schemas.openxmlformats.org/officeDocument/2006/relationships/image" Target="../media/image911.png"/><Relationship Id="rId12" Type="http://schemas.openxmlformats.org/officeDocument/2006/relationships/image" Target="../media/image92.png"/><Relationship Id="rId17" Type="http://schemas.openxmlformats.org/officeDocument/2006/relationships/image" Target="../media/image97.png"/><Relationship Id="rId25" Type="http://schemas.openxmlformats.org/officeDocument/2006/relationships/image" Target="../media/image105.png"/><Relationship Id="rId33" Type="http://schemas.openxmlformats.org/officeDocument/2006/relationships/image" Target="../media/image17.png"/><Relationship Id="rId38" Type="http://schemas.openxmlformats.org/officeDocument/2006/relationships/image" Target="../media/image82.png"/><Relationship Id="rId46" Type="http://schemas.openxmlformats.org/officeDocument/2006/relationships/image" Target="../media/image114.png"/><Relationship Id="rId20" Type="http://schemas.openxmlformats.org/officeDocument/2006/relationships/image" Target="../media/image100.png"/><Relationship Id="rId41" Type="http://schemas.openxmlformats.org/officeDocument/2006/relationships/image" Target="../media/image85.png"/><Relationship Id="rId54" Type="http://schemas.openxmlformats.org/officeDocument/2006/relationships/image" Target="../media/image122.png"/><Relationship Id="rId1" Type="http://schemas.openxmlformats.org/officeDocument/2006/relationships/slideLayout" Target="../slideLayouts/slideLayout2.xml"/><Relationship Id="rId6" Type="http://schemas.openxmlformats.org/officeDocument/2006/relationships/image" Target="../media/image86.png"/><Relationship Id="rId15" Type="http://schemas.openxmlformats.org/officeDocument/2006/relationships/image" Target="../media/image95.png"/><Relationship Id="rId23" Type="http://schemas.openxmlformats.org/officeDocument/2006/relationships/image" Target="../media/image103.png"/><Relationship Id="rId28" Type="http://schemas.openxmlformats.org/officeDocument/2006/relationships/image" Target="../media/image108.png"/><Relationship Id="rId36" Type="http://schemas.openxmlformats.org/officeDocument/2006/relationships/image" Target="../media/image80.png"/><Relationship Id="rId49" Type="http://schemas.openxmlformats.org/officeDocument/2006/relationships/image" Target="../media/image117.png"/><Relationship Id="rId57" Type="http://schemas.openxmlformats.org/officeDocument/2006/relationships/image" Target="../media/image125.png"/></Relationships>
</file>

<file path=ppt/slides/_rels/slide34.xml.rels><?xml version="1.0" encoding="UTF-8" standalone="yes"?>
<Relationships xmlns="http://schemas.openxmlformats.org/package/2006/relationships"><Relationship Id="rId8" Type="http://schemas.openxmlformats.org/officeDocument/2006/relationships/image" Target="../media/image1100.png"/><Relationship Id="rId13" Type="http://schemas.openxmlformats.org/officeDocument/2006/relationships/image" Target="../media/image1150.png"/><Relationship Id="rId18" Type="http://schemas.openxmlformats.org/officeDocument/2006/relationships/image" Target="../media/image1200.png"/><Relationship Id="rId26" Type="http://schemas.openxmlformats.org/officeDocument/2006/relationships/image" Target="../media/image380.png"/><Relationship Id="rId3" Type="http://schemas.openxmlformats.org/officeDocument/2006/relationships/image" Target="../media/image74.png"/><Relationship Id="rId21" Type="http://schemas.openxmlformats.org/officeDocument/2006/relationships/image" Target="../media/image330.png"/><Relationship Id="rId12" Type="http://schemas.openxmlformats.org/officeDocument/2006/relationships/image" Target="../media/image1140.png"/><Relationship Id="rId17" Type="http://schemas.openxmlformats.org/officeDocument/2006/relationships/image" Target="../media/image1190.png"/><Relationship Id="rId25" Type="http://schemas.openxmlformats.org/officeDocument/2006/relationships/image" Target="../media/image370.png"/><Relationship Id="rId2" Type="http://schemas.openxmlformats.org/officeDocument/2006/relationships/notesSlide" Target="../notesSlides/notesSlide33.xml"/><Relationship Id="rId16" Type="http://schemas.openxmlformats.org/officeDocument/2006/relationships/image" Target="../media/image1180.png"/><Relationship Id="rId20" Type="http://schemas.openxmlformats.org/officeDocument/2006/relationships/image" Target="../media/image320.png"/><Relationship Id="rId29" Type="http://schemas.openxmlformats.org/officeDocument/2006/relationships/image" Target="../media/image820.png"/><Relationship Id="rId1" Type="http://schemas.openxmlformats.org/officeDocument/2006/relationships/slideLayout" Target="../slideLayouts/slideLayout2.xml"/><Relationship Id="rId11" Type="http://schemas.openxmlformats.org/officeDocument/2006/relationships/image" Target="../media/image1130.png"/><Relationship Id="rId24" Type="http://schemas.openxmlformats.org/officeDocument/2006/relationships/image" Target="../media/image360.png"/><Relationship Id="rId15" Type="http://schemas.openxmlformats.org/officeDocument/2006/relationships/image" Target="../media/image1170.png"/><Relationship Id="rId23" Type="http://schemas.openxmlformats.org/officeDocument/2006/relationships/image" Target="../media/image350.png"/><Relationship Id="rId28" Type="http://schemas.openxmlformats.org/officeDocument/2006/relationships/image" Target="../media/image78.png"/><Relationship Id="rId10" Type="http://schemas.openxmlformats.org/officeDocument/2006/relationships/image" Target="../media/image1120.png"/><Relationship Id="rId19" Type="http://schemas.openxmlformats.org/officeDocument/2006/relationships/image" Target="../media/image1211.png"/><Relationship Id="rId4" Type="http://schemas.openxmlformats.org/officeDocument/2006/relationships/image" Target="../media/image810.png"/><Relationship Id="rId9" Type="http://schemas.openxmlformats.org/officeDocument/2006/relationships/image" Target="../media/image1110.png"/><Relationship Id="rId14" Type="http://schemas.openxmlformats.org/officeDocument/2006/relationships/image" Target="../media/image1160.png"/><Relationship Id="rId22" Type="http://schemas.openxmlformats.org/officeDocument/2006/relationships/image" Target="../media/image340.png"/><Relationship Id="rId27" Type="http://schemas.openxmlformats.org/officeDocument/2006/relationships/image" Target="../media/image390.png"/><Relationship Id="rId30" Type="http://schemas.openxmlformats.org/officeDocument/2006/relationships/image" Target="../media/image830.png"/></Relationships>
</file>

<file path=ppt/slides/_rels/slide35.xml.rels><?xml version="1.0" encoding="UTF-8" standalone="yes"?>
<Relationships xmlns="http://schemas.openxmlformats.org/package/2006/relationships"><Relationship Id="rId3" Type="http://schemas.openxmlformats.org/officeDocument/2006/relationships/image" Target="../media/image84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850.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1112.png"/><Relationship Id="rId4" Type="http://schemas.openxmlformats.org/officeDocument/2006/relationships/image" Target="../media/image1101.png"/></Relationships>
</file>

<file path=ppt/slides/_rels/slide38.xml.rels><?xml version="1.0" encoding="UTF-8" standalone="yes"?>
<Relationships xmlns="http://schemas.openxmlformats.org/package/2006/relationships"><Relationship Id="rId8" Type="http://schemas.openxmlformats.org/officeDocument/2006/relationships/image" Target="../media/image1250.png"/><Relationship Id="rId13" Type="http://schemas.openxmlformats.org/officeDocument/2006/relationships/image" Target="../media/image129.png"/><Relationship Id="rId18" Type="http://schemas.openxmlformats.org/officeDocument/2006/relationships/image" Target="../media/image134.png"/><Relationship Id="rId26" Type="http://schemas.openxmlformats.org/officeDocument/2006/relationships/image" Target="../media/image142.png"/><Relationship Id="rId3" Type="http://schemas.openxmlformats.org/officeDocument/2006/relationships/notesSlide" Target="../notesSlides/notesSlide37.xml"/><Relationship Id="rId21" Type="http://schemas.openxmlformats.org/officeDocument/2006/relationships/image" Target="../media/image137.png"/><Relationship Id="rId7" Type="http://schemas.openxmlformats.org/officeDocument/2006/relationships/image" Target="../media/image1240.png"/><Relationship Id="rId12" Type="http://schemas.openxmlformats.org/officeDocument/2006/relationships/image" Target="../media/image1280.png"/><Relationship Id="rId17" Type="http://schemas.openxmlformats.org/officeDocument/2006/relationships/image" Target="../media/image133.png"/><Relationship Id="rId25" Type="http://schemas.openxmlformats.org/officeDocument/2006/relationships/image" Target="../media/image141.png"/><Relationship Id="rId2" Type="http://schemas.openxmlformats.org/officeDocument/2006/relationships/slideLayout" Target="../slideLayouts/slideLayout2.xml"/><Relationship Id="rId16" Type="http://schemas.openxmlformats.org/officeDocument/2006/relationships/image" Target="../media/image132.png"/><Relationship Id="rId20" Type="http://schemas.openxmlformats.org/officeDocument/2006/relationships/image" Target="../media/image128.png"/><Relationship Id="rId1" Type="http://schemas.openxmlformats.org/officeDocument/2006/relationships/tags" Target="../tags/tag5.xml"/><Relationship Id="rId6" Type="http://schemas.openxmlformats.org/officeDocument/2006/relationships/image" Target="../media/image1230.png"/><Relationship Id="rId11" Type="http://schemas.openxmlformats.org/officeDocument/2006/relationships/image" Target="../media/image1270.png"/><Relationship Id="rId24" Type="http://schemas.openxmlformats.org/officeDocument/2006/relationships/image" Target="../media/image140.png"/><Relationship Id="rId5" Type="http://schemas.openxmlformats.org/officeDocument/2006/relationships/image" Target="../media/image7.png"/><Relationship Id="rId15" Type="http://schemas.openxmlformats.org/officeDocument/2006/relationships/image" Target="../media/image131.png"/><Relationship Id="rId23" Type="http://schemas.openxmlformats.org/officeDocument/2006/relationships/image" Target="../media/image139.png"/><Relationship Id="rId10" Type="http://schemas.openxmlformats.org/officeDocument/2006/relationships/image" Target="../media/image74.png"/><Relationship Id="rId19" Type="http://schemas.openxmlformats.org/officeDocument/2006/relationships/image" Target="../media/image135.png"/><Relationship Id="rId4" Type="http://schemas.openxmlformats.org/officeDocument/2006/relationships/image" Target="../media/image127.png"/><Relationship Id="rId9" Type="http://schemas.openxmlformats.org/officeDocument/2006/relationships/image" Target="../media/image1260.png"/><Relationship Id="rId14" Type="http://schemas.openxmlformats.org/officeDocument/2006/relationships/image" Target="../media/image130.png"/><Relationship Id="rId22" Type="http://schemas.openxmlformats.org/officeDocument/2006/relationships/image" Target="../media/image138.png"/><Relationship Id="rId27" Type="http://schemas.openxmlformats.org/officeDocument/2006/relationships/image" Target="../media/image143.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0" y="0"/>
            <a:ext cx="12192000" cy="6858000"/>
          </a:xfrm>
          <a:prstGeom prst="rect">
            <a:avLst/>
          </a:prstGeom>
          <a:solidFill>
            <a:srgbClr val="203864"/>
          </a:solidFill>
          <a:ln w="57150">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6" name="矩形 5"/>
          <p:cNvSpPr/>
          <p:nvPr/>
        </p:nvSpPr>
        <p:spPr>
          <a:xfrm>
            <a:off x="167679" y="1321633"/>
            <a:ext cx="11856641" cy="2607807"/>
          </a:xfrm>
          <a:prstGeom prst="rect">
            <a:avLst/>
          </a:prstGeom>
        </p:spPr>
        <p:txBody>
          <a:bodyPr wrap="square" lIns="87545" tIns="43772" rIns="87545" bIns="43772">
            <a:spAutoFit/>
          </a:bodyPr>
          <a:lstStyle/>
          <a:p>
            <a:pPr marL="0" marR="0" lvl="0" indent="0" algn="ctr" defTabSz="1750695" rtl="0" eaLnBrk="1" fontAlgn="auto" latinLnBrk="0" hangingPunct="1">
              <a:lnSpc>
                <a:spcPct val="120000"/>
              </a:lnSpc>
              <a:spcBef>
                <a:spcPts val="600"/>
              </a:spcBef>
              <a:spcAft>
                <a:spcPts val="0"/>
              </a:spcAft>
              <a:buClrTx/>
              <a:buSzTx/>
              <a:buFontTx/>
              <a:buNone/>
              <a:tabLst/>
              <a:defRPr/>
            </a:pPr>
            <a:r>
              <a:rPr kumimoji="1" lang="en-US" altLang="zh-CN" sz="2400" b="1" dirty="0">
                <a:solidFill>
                  <a:schemeClr val="bg1"/>
                </a:solidFill>
                <a:latin typeface="Microsoft YaHei" panose="020B0503020204020204" pitchFamily="34" charset="-122"/>
                <a:ea typeface="Microsoft YaHei" panose="020B0503020204020204" pitchFamily="34" charset="-122"/>
              </a:rPr>
              <a:t>《</a:t>
            </a:r>
            <a:r>
              <a:rPr kumimoji="1" lang="zh-CN" altLang="en-US" sz="2400" b="1" dirty="0">
                <a:solidFill>
                  <a:schemeClr val="bg1"/>
                </a:solidFill>
                <a:latin typeface="Microsoft YaHei" panose="020B0503020204020204" pitchFamily="34" charset="-122"/>
                <a:ea typeface="Microsoft YaHei" panose="020B0503020204020204" pitchFamily="34" charset="-122"/>
              </a:rPr>
              <a:t>人工智能数学原理与算法</a:t>
            </a:r>
            <a:r>
              <a:rPr kumimoji="1" lang="en-US" altLang="zh-CN" sz="2400" b="1" dirty="0">
                <a:solidFill>
                  <a:schemeClr val="bg1"/>
                </a:solidFill>
                <a:latin typeface="Microsoft YaHei" panose="020B0503020204020204" pitchFamily="34" charset="-122"/>
                <a:ea typeface="Microsoft YaHei" panose="020B0503020204020204" pitchFamily="34" charset="-122"/>
              </a:rPr>
              <a:t>》</a:t>
            </a:r>
            <a:endParaRPr kumimoji="0" lang="en-US" altLang="zh-CN" sz="2400" b="1" i="0" u="none" strike="noStrike" kern="1200" cap="none" spc="4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1750695" rtl="0" eaLnBrk="1" fontAlgn="auto" latinLnBrk="0" hangingPunct="1">
              <a:lnSpc>
                <a:spcPct val="120000"/>
              </a:lnSpc>
              <a:spcBef>
                <a:spcPts val="600"/>
              </a:spcBef>
              <a:spcAft>
                <a:spcPts val="0"/>
              </a:spcAft>
              <a:buClrTx/>
              <a:buSzTx/>
              <a:buFontTx/>
              <a:buNone/>
              <a:tabLst/>
              <a:defRPr/>
            </a:pPr>
            <a:r>
              <a:rPr kumimoji="0" lang="zh-CN" altLang="en-US" sz="3200" b="1" i="0" u="none" strike="noStrike" kern="1200" cap="none" spc="4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第</a:t>
            </a:r>
            <a:r>
              <a:rPr kumimoji="0" lang="en-US" altLang="zh-CN" sz="3200" b="1" i="0" u="none" strike="noStrike" kern="1200" cap="none" spc="4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5</a:t>
            </a:r>
            <a:r>
              <a:rPr kumimoji="0" lang="zh-CN" altLang="en-US" sz="3200" b="1" i="0" u="none" strike="noStrike" kern="1200" cap="none" spc="4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章 </a:t>
            </a:r>
            <a:r>
              <a:rPr kumimoji="0" lang="en-US" altLang="zh-CN" sz="3200" b="1" i="0" u="none" strike="noStrike" kern="1200" cap="none" spc="4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Transformer</a:t>
            </a:r>
          </a:p>
          <a:p>
            <a:pPr marL="0" marR="0" lvl="0" indent="0" algn="ctr" defTabSz="1750695" rtl="0" eaLnBrk="1" fontAlgn="auto" latinLnBrk="0" hangingPunct="1">
              <a:lnSpc>
                <a:spcPct val="120000"/>
              </a:lnSpc>
              <a:spcBef>
                <a:spcPts val="600"/>
              </a:spcBef>
              <a:spcAft>
                <a:spcPts val="0"/>
              </a:spcAft>
              <a:buClrTx/>
              <a:buSzTx/>
              <a:buFontTx/>
              <a:buNone/>
              <a:tabLst/>
              <a:defRPr/>
            </a:pPr>
            <a:endParaRPr kumimoji="0" lang="en-US" altLang="zh-CN" sz="2400" b="1" i="0" u="none" strike="noStrike" kern="1200" cap="none" spc="4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algn="ctr" defTabSz="1750695">
              <a:lnSpc>
                <a:spcPct val="120000"/>
              </a:lnSpc>
              <a:spcBef>
                <a:spcPts val="600"/>
              </a:spcBef>
              <a:defRPr/>
            </a:pPr>
            <a:r>
              <a:rPr lang="en-US" altLang="zh-CN" sz="4800" b="1" spc="400" dirty="0">
                <a:solidFill>
                  <a:prstClr val="white"/>
                </a:solidFill>
                <a:latin typeface="微软雅黑" panose="020B0503020204020204" pitchFamily="34" charset="-122"/>
                <a:ea typeface="微软雅黑" panose="020B0503020204020204" pitchFamily="34" charset="-122"/>
              </a:rPr>
              <a:t>5.1</a:t>
            </a:r>
            <a:r>
              <a:rPr lang="zh-CN" altLang="en-US" sz="4800" b="1" spc="400" dirty="0">
                <a:solidFill>
                  <a:prstClr val="white"/>
                </a:solidFill>
                <a:latin typeface="微软雅黑" panose="020B0503020204020204" pitchFamily="34" charset="-122"/>
                <a:ea typeface="微软雅黑" panose="020B0503020204020204" pitchFamily="34" charset="-122"/>
              </a:rPr>
              <a:t>注意力与自注意力机制 </a:t>
            </a:r>
            <a:endParaRPr kumimoji="0" lang="en-US" altLang="zh-CN" sz="4800" b="1" i="0" u="none" strike="noStrike" kern="1200" cap="none" spc="4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3" name="图片 2"/>
          <p:cNvPicPr>
            <a:picLocks noChangeAspect="1"/>
          </p:cNvPicPr>
          <p:nvPr/>
        </p:nvPicPr>
        <p:blipFill>
          <a:blip r:embed="rId3" cstate="print">
            <a:duotone>
              <a:schemeClr val="bg2">
                <a:shade val="45000"/>
                <a:satMod val="135000"/>
              </a:schemeClr>
              <a:prstClr val="white"/>
            </a:duotone>
          </a:blip>
          <a:stretch>
            <a:fillRect/>
          </a:stretch>
        </p:blipFill>
        <p:spPr>
          <a:xfrm>
            <a:off x="8550616" y="376157"/>
            <a:ext cx="3400585" cy="569319"/>
          </a:xfrm>
          <a:prstGeom prst="rect">
            <a:avLst/>
          </a:prstGeom>
        </p:spPr>
      </p:pic>
      <p:sp>
        <p:nvSpPr>
          <p:cNvPr id="4" name="矩形 1">
            <a:extLst>
              <a:ext uri="{FF2B5EF4-FFF2-40B4-BE49-F238E27FC236}">
                <a16:creationId xmlns:a16="http://schemas.microsoft.com/office/drawing/2014/main" id="{9DCCB397-71B1-413D-1B9B-DEBA4528B454}"/>
              </a:ext>
            </a:extLst>
          </p:cNvPr>
          <p:cNvSpPr/>
          <p:nvPr/>
        </p:nvSpPr>
        <p:spPr>
          <a:xfrm>
            <a:off x="3627188" y="4463916"/>
            <a:ext cx="5404863" cy="1381060"/>
          </a:xfrm>
          <a:prstGeom prst="rect">
            <a:avLst/>
          </a:prstGeom>
        </p:spPr>
        <p:txBody>
          <a:bodyPr wrap="square" lIns="87545" tIns="43772" rIns="87545" bIns="43772">
            <a:spAutoFit/>
          </a:bodyPr>
          <a:lstStyle/>
          <a:p>
            <a:pPr marL="0" marR="0" lvl="0" indent="0" algn="ctr" defTabSz="1750695" rtl="0" eaLnBrk="1" fontAlgn="auto" latinLnBrk="0" hangingPunct="1">
              <a:lnSpc>
                <a:spcPct val="100000"/>
              </a:lnSpc>
              <a:spcBef>
                <a:spcPts val="0"/>
              </a:spcBef>
              <a:spcAft>
                <a:spcPts val="0"/>
              </a:spcAft>
              <a:buClrTx/>
              <a:buSzTx/>
              <a:buFontTx/>
              <a:buNone/>
              <a:tabLst/>
              <a:defRPr/>
            </a:pPr>
            <a:endParaRPr kumimoji="0" lang="en-US" altLang="zh-CN"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ctr" defTabSz="1750695" rtl="0" eaLnBrk="1" fontAlgn="auto" latinLnBrk="0" hangingPunct="1">
              <a:lnSpc>
                <a:spcPct val="100000"/>
              </a:lnSpc>
              <a:spcBef>
                <a:spcPts val="0"/>
              </a:spcBef>
              <a:spcAft>
                <a:spcPts val="0"/>
              </a:spcAft>
              <a:buClrTx/>
              <a:buSzTx/>
              <a:buFontTx/>
              <a:buNone/>
              <a:tabLst/>
              <a:defRPr/>
            </a:pPr>
            <a:r>
              <a:rPr lang="zh-CN" altLang="en-US" sz="2800" b="1"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康奇宇</a:t>
            </a:r>
            <a:endParaRPr kumimoji="0" lang="en-US" altLang="zh-CN"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ctr" defTabSz="1750695" rtl="0" eaLnBrk="1" fontAlgn="auto" latinLnBrk="0" hangingPunct="1">
              <a:lnSpc>
                <a:spcPct val="100000"/>
              </a:lnSpc>
              <a:spcBef>
                <a:spcPts val="0"/>
              </a:spcBef>
              <a:spcAft>
                <a:spcPts val="0"/>
              </a:spcAft>
              <a:buClrTx/>
              <a:buSzTx/>
              <a:buFontTx/>
              <a:buNone/>
              <a:tabLst/>
              <a:defRPr/>
            </a:pPr>
            <a:r>
              <a:rPr lang="en-US" altLang="zh-CN" sz="2800" b="1" dirty="0" err="1">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qiyukang@ustc.edu.cn</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advTm="1191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9784EADF-E15C-75FE-866C-153D28CA7587}"/>
              </a:ext>
            </a:extLst>
          </p:cNvPr>
          <p:cNvGrpSpPr/>
          <p:nvPr/>
        </p:nvGrpSpPr>
        <p:grpSpPr>
          <a:xfrm>
            <a:off x="0" y="0"/>
            <a:ext cx="12192000" cy="6858000"/>
            <a:chOff x="0" y="0"/>
            <a:chExt cx="12192000" cy="6858000"/>
          </a:xfrm>
        </p:grpSpPr>
        <p:sp>
          <p:nvSpPr>
            <p:cNvPr id="38" name="任意多边形: 形状 37">
              <a:extLst>
                <a:ext uri="{FF2B5EF4-FFF2-40B4-BE49-F238E27FC236}">
                  <a16:creationId xmlns:a16="http://schemas.microsoft.com/office/drawing/2014/main" id="{32166C21-2F25-D43F-50AE-BC66DFC3D520}"/>
                </a:ext>
              </a:extLst>
            </p:cNvPr>
            <p:cNvSpPr/>
            <p:nvPr/>
          </p:nvSpPr>
          <p:spPr>
            <a:xfrm>
              <a:off x="0" y="0"/>
              <a:ext cx="1819275" cy="1819275"/>
            </a:xfrm>
            <a:custGeom>
              <a:avLst/>
              <a:gdLst>
                <a:gd name="connsiteX0" fmla="*/ 0 w 3638550"/>
                <a:gd name="connsiteY0" fmla="*/ 1819275 h 3638550"/>
                <a:gd name="connsiteX1" fmla="*/ 1819275 w 3638550"/>
                <a:gd name="connsiteY1" fmla="*/ 0 h 3638550"/>
                <a:gd name="connsiteX2" fmla="*/ 3638550 w 3638550"/>
                <a:gd name="connsiteY2" fmla="*/ 1819275 h 3638550"/>
                <a:gd name="connsiteX3" fmla="*/ 1819275 w 3638550"/>
                <a:gd name="connsiteY3" fmla="*/ 3638550 h 3638550"/>
                <a:gd name="connsiteX4" fmla="*/ 0 w 3638550"/>
                <a:gd name="connsiteY4" fmla="*/ 1819275 h 3638550"/>
                <a:gd name="connsiteX0" fmla="*/ 1819275 w 3638550"/>
                <a:gd name="connsiteY0" fmla="*/ 0 h 3638550"/>
                <a:gd name="connsiteX1" fmla="*/ 3638550 w 3638550"/>
                <a:gd name="connsiteY1" fmla="*/ 1819275 h 3638550"/>
                <a:gd name="connsiteX2" fmla="*/ 1819275 w 3638550"/>
                <a:gd name="connsiteY2" fmla="*/ 3638550 h 3638550"/>
                <a:gd name="connsiteX3" fmla="*/ 0 w 3638550"/>
                <a:gd name="connsiteY3" fmla="*/ 1819275 h 3638550"/>
                <a:gd name="connsiteX4" fmla="*/ 1910715 w 3638550"/>
                <a:gd name="connsiteY4" fmla="*/ 91440 h 3638550"/>
                <a:gd name="connsiteX0" fmla="*/ 1819275 w 3638550"/>
                <a:gd name="connsiteY0" fmla="*/ 0 h 3638550"/>
                <a:gd name="connsiteX1" fmla="*/ 3638550 w 3638550"/>
                <a:gd name="connsiteY1" fmla="*/ 1819275 h 3638550"/>
                <a:gd name="connsiteX2" fmla="*/ 1819275 w 3638550"/>
                <a:gd name="connsiteY2" fmla="*/ 3638550 h 3638550"/>
                <a:gd name="connsiteX3" fmla="*/ 0 w 3638550"/>
                <a:gd name="connsiteY3" fmla="*/ 1819275 h 3638550"/>
                <a:gd name="connsiteX0" fmla="*/ 3638550 w 3638550"/>
                <a:gd name="connsiteY0" fmla="*/ 0 h 1819275"/>
                <a:gd name="connsiteX1" fmla="*/ 1819275 w 3638550"/>
                <a:gd name="connsiteY1" fmla="*/ 1819275 h 1819275"/>
                <a:gd name="connsiteX2" fmla="*/ 0 w 3638550"/>
                <a:gd name="connsiteY2" fmla="*/ 0 h 1819275"/>
                <a:gd name="connsiteX0" fmla="*/ 1819275 w 1819275"/>
                <a:gd name="connsiteY0" fmla="*/ 0 h 1819275"/>
                <a:gd name="connsiteX1" fmla="*/ 0 w 1819275"/>
                <a:gd name="connsiteY1" fmla="*/ 1819275 h 1819275"/>
              </a:gdLst>
              <a:ahLst/>
              <a:cxnLst>
                <a:cxn ang="0">
                  <a:pos x="connsiteX0" y="connsiteY0"/>
                </a:cxn>
                <a:cxn ang="0">
                  <a:pos x="connsiteX1" y="connsiteY1"/>
                </a:cxn>
              </a:cxnLst>
              <a:rect l="l" t="t" r="r" b="b"/>
              <a:pathLst>
                <a:path w="1819275" h="1819275">
                  <a:moveTo>
                    <a:pt x="1819275" y="0"/>
                  </a:moveTo>
                  <a:cubicBezTo>
                    <a:pt x="1819275" y="1004758"/>
                    <a:pt x="1004758" y="1819275"/>
                    <a:pt x="0" y="1819275"/>
                  </a:cubicBezTo>
                </a:path>
              </a:pathLst>
            </a:custGeom>
            <a:noFill/>
            <a:ln w="381000">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9" name="组合 38">
              <a:extLst>
                <a:ext uri="{FF2B5EF4-FFF2-40B4-BE49-F238E27FC236}">
                  <a16:creationId xmlns:a16="http://schemas.microsoft.com/office/drawing/2014/main" id="{78C5DF4B-3528-4D02-38E8-F1A3EB4B6D10}"/>
                </a:ext>
              </a:extLst>
            </p:cNvPr>
            <p:cNvGrpSpPr/>
            <p:nvPr/>
          </p:nvGrpSpPr>
          <p:grpSpPr>
            <a:xfrm>
              <a:off x="1727455" y="1321568"/>
              <a:ext cx="5663945" cy="716782"/>
              <a:chOff x="1727455" y="1321568"/>
              <a:chExt cx="5663945" cy="716782"/>
            </a:xfrm>
          </p:grpSpPr>
          <p:sp>
            <p:nvSpPr>
              <p:cNvPr id="61" name="文本框 60">
                <a:extLst>
                  <a:ext uri="{FF2B5EF4-FFF2-40B4-BE49-F238E27FC236}">
                    <a16:creationId xmlns:a16="http://schemas.microsoft.com/office/drawing/2014/main" id="{B164EE8A-09A1-A494-DC62-6CDCBABBDD68}"/>
                  </a:ext>
                </a:extLst>
              </p:cNvPr>
              <p:cNvSpPr txBox="1">
                <a:spLocks/>
              </p:cNvSpPr>
              <p:nvPr/>
            </p:nvSpPr>
            <p:spPr>
              <a:xfrm>
                <a:off x="2573268" y="1323975"/>
                <a:ext cx="4818132" cy="461665"/>
              </a:xfrm>
              <a:prstGeom prst="rect">
                <a:avLst/>
              </a:prstGeom>
              <a:noFill/>
            </p:spPr>
            <p:txBody>
              <a:bodyPr wrap="square" rtlCol="0">
                <a:spAutoFit/>
              </a:bodyPr>
              <a:lstStyle/>
              <a:p>
                <a:pPr>
                  <a:buSzPct val="25000"/>
                </a:pPr>
                <a:r>
                  <a:rPr lang="zh-CN" altLang="en-US" sz="2400" b="1" dirty="0">
                    <a:solidFill>
                      <a:srgbClr val="0070C0"/>
                    </a:solidFill>
                    <a:latin typeface="Arial" panose="020B0604020202020204" pitchFamily="34" charset="0"/>
                    <a:ea typeface="微软雅黑" panose="020B0503020204020204" pitchFamily="34" charset="-122"/>
                  </a:rPr>
                  <a:t>循环神经网络</a:t>
                </a:r>
              </a:p>
            </p:txBody>
          </p:sp>
          <p:sp>
            <p:nvSpPr>
              <p:cNvPr id="63" name="椭圆 62">
                <a:extLst>
                  <a:ext uri="{FF2B5EF4-FFF2-40B4-BE49-F238E27FC236}">
                    <a16:creationId xmlns:a16="http://schemas.microsoft.com/office/drawing/2014/main" id="{3D2AB357-C908-5824-397C-F8D83F703679}"/>
                  </a:ext>
                </a:extLst>
              </p:cNvPr>
              <p:cNvSpPr/>
              <p:nvPr/>
            </p:nvSpPr>
            <p:spPr>
              <a:xfrm>
                <a:off x="1727455" y="1321568"/>
                <a:ext cx="716782" cy="716782"/>
              </a:xfrm>
              <a:prstGeom prst="ellipse">
                <a:avLst/>
              </a:prstGeom>
              <a:noFill/>
              <a:ln w="25400">
                <a:gradFill>
                  <a:gsLst>
                    <a:gs pos="76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zh-CN" sz="2800" b="1">
                    <a:solidFill>
                      <a:schemeClr val="accent1"/>
                    </a:solidFill>
                    <a:latin typeface="Arial" panose="020B0604020202020204" pitchFamily="34" charset="0"/>
                    <a:ea typeface="微软雅黑" panose="020B0503020204020204" pitchFamily="34" charset="-122"/>
                  </a:rPr>
                  <a:t>01</a:t>
                </a:r>
              </a:p>
            </p:txBody>
          </p:sp>
        </p:grpSp>
        <p:grpSp>
          <p:nvGrpSpPr>
            <p:cNvPr id="40" name="组合 39">
              <a:extLst>
                <a:ext uri="{FF2B5EF4-FFF2-40B4-BE49-F238E27FC236}">
                  <a16:creationId xmlns:a16="http://schemas.microsoft.com/office/drawing/2014/main" id="{FAD37D50-FA12-F8F8-B895-9CAC6F0EDD60}"/>
                </a:ext>
              </a:extLst>
            </p:cNvPr>
            <p:cNvGrpSpPr/>
            <p:nvPr/>
          </p:nvGrpSpPr>
          <p:grpSpPr>
            <a:xfrm>
              <a:off x="7540339" y="0"/>
              <a:ext cx="4651661" cy="6858000"/>
              <a:chOff x="7540339" y="0"/>
              <a:chExt cx="4651661" cy="6858000"/>
            </a:xfrm>
          </p:grpSpPr>
          <p:sp>
            <p:nvSpPr>
              <p:cNvPr id="60" name="任意多边形: 形状 59">
                <a:extLst>
                  <a:ext uri="{FF2B5EF4-FFF2-40B4-BE49-F238E27FC236}">
                    <a16:creationId xmlns:a16="http://schemas.microsoft.com/office/drawing/2014/main" id="{9797E39A-883B-B0B4-0F07-EB9619A5A4A2}"/>
                  </a:ext>
                </a:extLst>
              </p:cNvPr>
              <p:cNvSpPr/>
              <p:nvPr/>
            </p:nvSpPr>
            <p:spPr>
              <a:xfrm>
                <a:off x="7779658" y="0"/>
                <a:ext cx="4412342" cy="6858000"/>
              </a:xfrm>
              <a:custGeom>
                <a:avLst/>
                <a:gdLst>
                  <a:gd name="connsiteX0" fmla="*/ 1295690 w 4412342"/>
                  <a:gd name="connsiteY0" fmla="*/ 0 h 6858000"/>
                  <a:gd name="connsiteX1" fmla="*/ 4412342 w 4412342"/>
                  <a:gd name="connsiteY1" fmla="*/ 0 h 6858000"/>
                  <a:gd name="connsiteX2" fmla="*/ 4412342 w 4412342"/>
                  <a:gd name="connsiteY2" fmla="*/ 1636729 h 6858000"/>
                  <a:gd name="connsiteX3" fmla="*/ 4272563 w 4412342"/>
                  <a:gd name="connsiteY3" fmla="*/ 1672670 h 6858000"/>
                  <a:gd name="connsiteX4" fmla="*/ 3111228 w 4412342"/>
                  <a:gd name="connsiteY4" fmla="*/ 3251199 h 6858000"/>
                  <a:gd name="connsiteX5" fmla="*/ 4272563 w 4412342"/>
                  <a:gd name="connsiteY5" fmla="*/ 4829728 h 6858000"/>
                  <a:gd name="connsiteX6" fmla="*/ 4412342 w 4412342"/>
                  <a:gd name="connsiteY6" fmla="*/ 4865669 h 6858000"/>
                  <a:gd name="connsiteX7" fmla="*/ 4412342 w 4412342"/>
                  <a:gd name="connsiteY7" fmla="*/ 6858000 h 6858000"/>
                  <a:gd name="connsiteX8" fmla="*/ 1670654 w 4412342"/>
                  <a:gd name="connsiteY8" fmla="*/ 6858000 h 6858000"/>
                  <a:gd name="connsiteX9" fmla="*/ 1550198 w 4412342"/>
                  <a:gd name="connsiteY9" fmla="*/ 6753659 h 6858000"/>
                  <a:gd name="connsiteX10" fmla="*/ 0 w 4412342"/>
                  <a:gd name="connsiteY10" fmla="*/ 3251200 h 6858000"/>
                  <a:gd name="connsiteX11" fmla="*/ 1229199 w 4412342"/>
                  <a:gd name="connsiteY11" fmla="*/ 6974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412342" h="6858000">
                    <a:moveTo>
                      <a:pt x="1295690" y="0"/>
                    </a:moveTo>
                    <a:lnTo>
                      <a:pt x="4412342" y="0"/>
                    </a:lnTo>
                    <a:lnTo>
                      <a:pt x="4412342" y="1636729"/>
                    </a:lnTo>
                    <a:lnTo>
                      <a:pt x="4272563" y="1672670"/>
                    </a:lnTo>
                    <a:cubicBezTo>
                      <a:pt x="3599745" y="1881938"/>
                      <a:pt x="3111228" y="2509519"/>
                      <a:pt x="3111228" y="3251199"/>
                    </a:cubicBezTo>
                    <a:cubicBezTo>
                      <a:pt x="3111228" y="3992879"/>
                      <a:pt x="3599745" y="4620460"/>
                      <a:pt x="4272563" y="4829728"/>
                    </a:cubicBezTo>
                    <a:lnTo>
                      <a:pt x="4412342" y="4865669"/>
                    </a:lnTo>
                    <a:lnTo>
                      <a:pt x="4412342" y="6858000"/>
                    </a:lnTo>
                    <a:lnTo>
                      <a:pt x="1670654" y="6858000"/>
                    </a:lnTo>
                    <a:lnTo>
                      <a:pt x="1550198" y="6753659"/>
                    </a:lnTo>
                    <a:cubicBezTo>
                      <a:pt x="597879" y="5888107"/>
                      <a:pt x="0" y="4639475"/>
                      <a:pt x="0" y="3251200"/>
                    </a:cubicBezTo>
                    <a:cubicBezTo>
                      <a:pt x="0" y="2026252"/>
                      <a:pt x="465477" y="910022"/>
                      <a:pt x="1229199" y="69741"/>
                    </a:cubicBezTo>
                    <a:close/>
                  </a:path>
                </a:pathLst>
              </a:custGeom>
              <a:solidFill>
                <a:schemeClr val="accent1">
                  <a:alpha val="5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58" name="矩形 57">
                <a:extLst>
                  <a:ext uri="{FF2B5EF4-FFF2-40B4-BE49-F238E27FC236}">
                    <a16:creationId xmlns:a16="http://schemas.microsoft.com/office/drawing/2014/main" id="{B2ED94F8-074A-35A6-A675-0D0A960CD68D}"/>
                  </a:ext>
                </a:extLst>
              </p:cNvPr>
              <p:cNvSpPr/>
              <p:nvPr/>
            </p:nvSpPr>
            <p:spPr>
              <a:xfrm>
                <a:off x="7540339" y="3124369"/>
                <a:ext cx="3592287" cy="10156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r>
                  <a:rPr kumimoji="1" lang="zh-CN" altLang="en-US" sz="6000" b="1" dirty="0">
                    <a:solidFill>
                      <a:schemeClr val="tx1"/>
                    </a:solidFill>
                    <a:latin typeface="Arial" panose="020B0604020202020204" pitchFamily="34" charset="0"/>
                    <a:ea typeface="微软雅黑" panose="020B0503020204020204" pitchFamily="34" charset="-122"/>
                    <a:sym typeface="Arial" panose="020B0604020202020204" pitchFamily="34" charset="0"/>
                  </a:rPr>
                  <a:t>本课重点</a:t>
                </a:r>
                <a:endParaRPr kumimoji="1" lang="en-US" altLang="zh-CN" sz="6000" b="1"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41" name="组合 40">
              <a:extLst>
                <a:ext uri="{FF2B5EF4-FFF2-40B4-BE49-F238E27FC236}">
                  <a16:creationId xmlns:a16="http://schemas.microsoft.com/office/drawing/2014/main" id="{6F458834-3E00-4672-43CE-C49DF554E0A4}"/>
                </a:ext>
              </a:extLst>
            </p:cNvPr>
            <p:cNvGrpSpPr/>
            <p:nvPr/>
          </p:nvGrpSpPr>
          <p:grpSpPr>
            <a:xfrm>
              <a:off x="1727455" y="2333605"/>
              <a:ext cx="5663945" cy="716782"/>
              <a:chOff x="1727455" y="2419283"/>
              <a:chExt cx="5663945" cy="716782"/>
            </a:xfrm>
          </p:grpSpPr>
          <p:sp>
            <p:nvSpPr>
              <p:cNvPr id="54" name="文本框 53">
                <a:extLst>
                  <a:ext uri="{FF2B5EF4-FFF2-40B4-BE49-F238E27FC236}">
                    <a16:creationId xmlns:a16="http://schemas.microsoft.com/office/drawing/2014/main" id="{A0214C84-7FDD-9F55-5484-2B580276E49B}"/>
                  </a:ext>
                </a:extLst>
              </p:cNvPr>
              <p:cNvSpPr txBox="1">
                <a:spLocks/>
              </p:cNvSpPr>
              <p:nvPr/>
            </p:nvSpPr>
            <p:spPr>
              <a:xfrm>
                <a:off x="2573268" y="2421690"/>
                <a:ext cx="4818132" cy="461665"/>
              </a:xfrm>
              <a:prstGeom prst="rect">
                <a:avLst/>
              </a:prstGeom>
              <a:noFill/>
            </p:spPr>
            <p:txBody>
              <a:bodyPr wrap="square" rtlCol="0">
                <a:spAutoFit/>
              </a:bodyPr>
              <a:lstStyle/>
              <a:p>
                <a:pPr>
                  <a:buSzPct val="25000"/>
                </a:pPr>
                <a:r>
                  <a:rPr lang="zh-CN" altLang="en-US" sz="2400" b="1" dirty="0">
                    <a:latin typeface="Arial" panose="020B0604020202020204" pitchFamily="34" charset="0"/>
                    <a:ea typeface="微软雅黑" panose="020B0503020204020204" pitchFamily="34" charset="-122"/>
                  </a:rPr>
                  <a:t>注意力</a:t>
                </a:r>
              </a:p>
            </p:txBody>
          </p:sp>
          <p:sp>
            <p:nvSpPr>
              <p:cNvPr id="56" name="椭圆 55">
                <a:extLst>
                  <a:ext uri="{FF2B5EF4-FFF2-40B4-BE49-F238E27FC236}">
                    <a16:creationId xmlns:a16="http://schemas.microsoft.com/office/drawing/2014/main" id="{8949CE15-86BE-830F-1E86-8976980A8CBE}"/>
                  </a:ext>
                </a:extLst>
              </p:cNvPr>
              <p:cNvSpPr/>
              <p:nvPr/>
            </p:nvSpPr>
            <p:spPr>
              <a:xfrm>
                <a:off x="1727455" y="2419283"/>
                <a:ext cx="716782" cy="716782"/>
              </a:xfrm>
              <a:prstGeom prst="ellipse">
                <a:avLst/>
              </a:prstGeom>
              <a:noFill/>
              <a:ln w="25400">
                <a:gradFill>
                  <a:gsLst>
                    <a:gs pos="76000">
                      <a:schemeClr val="tx2">
                        <a:alpha val="0"/>
                      </a:schemeClr>
                    </a:gs>
                    <a:gs pos="100000">
                      <a:schemeClr val="tx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zh-CN" sz="2800" b="1">
                    <a:solidFill>
                      <a:srgbClr val="4472C4"/>
                    </a:solidFill>
                    <a:latin typeface="Arial" panose="020B0604020202020204" pitchFamily="34" charset="0"/>
                    <a:ea typeface="微软雅黑" panose="020B0503020204020204" pitchFamily="34" charset="-122"/>
                  </a:rPr>
                  <a:t>02</a:t>
                </a:r>
              </a:p>
            </p:txBody>
          </p:sp>
        </p:grpSp>
      </p:grpSp>
      <p:sp>
        <p:nvSpPr>
          <p:cNvPr id="3" name="文本框 53">
            <a:extLst>
              <a:ext uri="{FF2B5EF4-FFF2-40B4-BE49-F238E27FC236}">
                <a16:creationId xmlns:a16="http://schemas.microsoft.com/office/drawing/2014/main" id="{A63A4CB0-E1B4-00A6-3824-64178AB419CA}"/>
              </a:ext>
            </a:extLst>
          </p:cNvPr>
          <p:cNvSpPr txBox="1">
            <a:spLocks/>
          </p:cNvSpPr>
          <p:nvPr/>
        </p:nvSpPr>
        <p:spPr>
          <a:xfrm>
            <a:off x="2573268" y="3359918"/>
            <a:ext cx="4818132" cy="461665"/>
          </a:xfrm>
          <a:prstGeom prst="rect">
            <a:avLst/>
          </a:prstGeom>
          <a:noFill/>
        </p:spPr>
        <p:txBody>
          <a:bodyPr wrap="square" rtlCol="0">
            <a:spAutoFit/>
          </a:bodyPr>
          <a:lstStyle/>
          <a:p>
            <a:pPr>
              <a:buSzPct val="25000"/>
            </a:pPr>
            <a:r>
              <a:rPr lang="zh-CN" altLang="en-US" sz="2400" b="1">
                <a:latin typeface="Arial" panose="020B0604020202020204" pitchFamily="34" charset="0"/>
                <a:ea typeface="微软雅黑" panose="020B0503020204020204" pitchFamily="34" charset="-122"/>
              </a:rPr>
              <a:t>自注意力</a:t>
            </a:r>
          </a:p>
        </p:txBody>
      </p:sp>
      <p:sp>
        <p:nvSpPr>
          <p:cNvPr id="4" name="椭圆 55">
            <a:extLst>
              <a:ext uri="{FF2B5EF4-FFF2-40B4-BE49-F238E27FC236}">
                <a16:creationId xmlns:a16="http://schemas.microsoft.com/office/drawing/2014/main" id="{699B56D8-E36D-157D-DBD5-6102B50B62C0}"/>
              </a:ext>
            </a:extLst>
          </p:cNvPr>
          <p:cNvSpPr/>
          <p:nvPr/>
        </p:nvSpPr>
        <p:spPr>
          <a:xfrm>
            <a:off x="1727455" y="3357511"/>
            <a:ext cx="716782" cy="716782"/>
          </a:xfrm>
          <a:prstGeom prst="ellipse">
            <a:avLst/>
          </a:prstGeom>
          <a:noFill/>
          <a:ln w="25400">
            <a:gradFill>
              <a:gsLst>
                <a:gs pos="76000">
                  <a:schemeClr val="tx2">
                    <a:alpha val="0"/>
                  </a:schemeClr>
                </a:gs>
                <a:gs pos="100000">
                  <a:schemeClr val="tx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zh-CN" sz="2800" b="1" dirty="0">
                <a:solidFill>
                  <a:srgbClr val="4472C4"/>
                </a:solidFill>
                <a:latin typeface="Arial" panose="020B0604020202020204" pitchFamily="34" charset="0"/>
                <a:ea typeface="微软雅黑" panose="020B0503020204020204" pitchFamily="34" charset="-122"/>
              </a:rPr>
              <a:t>03</a:t>
            </a:r>
          </a:p>
        </p:txBody>
      </p:sp>
    </p:spTree>
    <p:custDataLst>
      <p:tags r:id="rId1"/>
    </p:custDataLst>
    <p:extLst>
      <p:ext uri="{BB962C8B-B14F-4D97-AF65-F5344CB8AC3E}">
        <p14:creationId xmlns:p14="http://schemas.microsoft.com/office/powerpoint/2010/main" val="10267725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A04FB-9B30-6769-D38F-BC303584C112}"/>
            </a:ext>
          </a:extLst>
        </p:cNvPr>
        <p:cNvGrpSpPr/>
        <p:nvPr/>
      </p:nvGrpSpPr>
      <p:grpSpPr>
        <a:xfrm>
          <a:off x="0" y="0"/>
          <a:ext cx="0" cy="0"/>
          <a:chOff x="0" y="0"/>
          <a:chExt cx="0" cy="0"/>
        </a:xfrm>
      </p:grpSpPr>
      <p:grpSp>
        <p:nvGrpSpPr>
          <p:cNvPr id="14" name="Group 9">
            <a:extLst>
              <a:ext uri="{FF2B5EF4-FFF2-40B4-BE49-F238E27FC236}">
                <a16:creationId xmlns:a16="http://schemas.microsoft.com/office/drawing/2014/main" id="{F02D0701-0A51-1E3E-1307-210F7CB6D83D}"/>
              </a:ext>
            </a:extLst>
          </p:cNvPr>
          <p:cNvGrpSpPr>
            <a:grpSpLocks noChangeAspect="1"/>
          </p:cNvGrpSpPr>
          <p:nvPr/>
        </p:nvGrpSpPr>
        <p:grpSpPr bwMode="auto">
          <a:xfrm>
            <a:off x="0" y="-1589"/>
            <a:ext cx="12191999" cy="767234"/>
            <a:chOff x="-1" y="-1"/>
            <a:chExt cx="7719" cy="568"/>
          </a:xfrm>
        </p:grpSpPr>
        <p:sp>
          <p:nvSpPr>
            <p:cNvPr id="17" name="Freeform 11">
              <a:extLst>
                <a:ext uri="{FF2B5EF4-FFF2-40B4-BE49-F238E27FC236}">
                  <a16:creationId xmlns:a16="http://schemas.microsoft.com/office/drawing/2014/main" id="{08A9AB8D-B156-7167-DD4D-1CBF1A1B07C7}"/>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a:extLst>
                <a:ext uri="{FF2B5EF4-FFF2-40B4-BE49-F238E27FC236}">
                  <a16:creationId xmlns:a16="http://schemas.microsoft.com/office/drawing/2014/main" id="{FCEF13C8-CE29-EDEB-0F83-16C5997C9FAB}"/>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13" name="任意多边形: 形状 12">
            <a:extLst>
              <a:ext uri="{FF2B5EF4-FFF2-40B4-BE49-F238E27FC236}">
                <a16:creationId xmlns:a16="http://schemas.microsoft.com/office/drawing/2014/main" id="{68B27E9A-BDCA-E457-2944-0BA07D6FB8E8}"/>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9" name="文本框 18">
            <a:extLst>
              <a:ext uri="{FF2B5EF4-FFF2-40B4-BE49-F238E27FC236}">
                <a16:creationId xmlns:a16="http://schemas.microsoft.com/office/drawing/2014/main" id="{4C56778E-2590-9611-9483-4AD64ED99D37}"/>
              </a:ext>
            </a:extLst>
          </p:cNvPr>
          <p:cNvSpPr txBox="1"/>
          <p:nvPr/>
        </p:nvSpPr>
        <p:spPr>
          <a:xfrm>
            <a:off x="350439" y="120418"/>
            <a:ext cx="345799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1">
                <a:solidFill>
                  <a:prstClr val="white"/>
                </a:solidFill>
                <a:cs typeface="+mn-ea"/>
                <a:sym typeface="+mn-lt"/>
              </a:rPr>
              <a:t>循环神经网络</a:t>
            </a:r>
            <a:r>
              <a:rPr kumimoji="0" lang="en-US" altLang="zh-CN" sz="2800" b="1" i="0" u="none" strike="noStrike" kern="1200" cap="none" spc="0" normalizeH="0" baseline="0" noProof="0">
                <a:ln>
                  <a:noFill/>
                </a:ln>
                <a:solidFill>
                  <a:prstClr val="white"/>
                </a:solidFill>
                <a:effectLst/>
                <a:uLnTx/>
                <a:uFillTx/>
                <a:cs typeface="+mn-ea"/>
                <a:sym typeface="+mn-lt"/>
              </a:rPr>
              <a:t>(RNN)</a:t>
            </a:r>
            <a:endParaRPr kumimoji="0" lang="zh-CN" altLang="en-US" sz="2800" b="1" i="0" u="none" strike="noStrike" kern="1200" cap="none" spc="0" normalizeH="0" baseline="0" noProof="0">
              <a:ln>
                <a:noFill/>
              </a:ln>
              <a:solidFill>
                <a:prstClr val="white"/>
              </a:solidFill>
              <a:effectLst/>
              <a:uLnTx/>
              <a:uFillTx/>
              <a:cs typeface="+mn-ea"/>
              <a:sym typeface="+mn-lt"/>
            </a:endParaRPr>
          </a:p>
        </p:txBody>
      </p:sp>
      <p:sp>
        <p:nvSpPr>
          <p:cNvPr id="25" name="文本框 24">
            <a:extLst>
              <a:ext uri="{FF2B5EF4-FFF2-40B4-BE49-F238E27FC236}">
                <a16:creationId xmlns:a16="http://schemas.microsoft.com/office/drawing/2014/main" id="{04E949A3-FB52-9A1F-64E1-13D1B6CE6051}"/>
              </a:ext>
            </a:extLst>
          </p:cNvPr>
          <p:cNvSpPr txBox="1"/>
          <p:nvPr/>
        </p:nvSpPr>
        <p:spPr>
          <a:xfrm>
            <a:off x="657774" y="841589"/>
            <a:ext cx="10723240" cy="5012398"/>
          </a:xfrm>
          <a:prstGeom prst="rect">
            <a:avLst/>
          </a:prstGeom>
          <a:noFill/>
          <a:ln w="19050">
            <a:noFill/>
          </a:ln>
        </p:spPr>
        <p:txBody>
          <a:bodyPr wrap="square" lIns="91440" tIns="45720" rIns="91440" bIns="45720" anchor="t">
            <a:spAutoFit/>
          </a:bodyPr>
          <a:lstStyle/>
          <a:p>
            <a:pPr marL="457200" indent="-457200" algn="just">
              <a:lnSpc>
                <a:spcPct val="150000"/>
              </a:lnSpc>
              <a:buFont typeface="Wingdings" panose="05000000000000000000" pitchFamily="2" charset="2"/>
              <a:buChar char="p"/>
              <a:defRPr/>
            </a:pPr>
            <a:r>
              <a:rPr lang="zh-CN" altLang="en-US" sz="2400" b="1" kern="100" dirty="0">
                <a:solidFill>
                  <a:prstClr val="black"/>
                </a:solidFill>
                <a:cs typeface="+mn-ea"/>
              </a:rPr>
              <a:t>到目前为止，我们介绍了基本的神经网络以及图神经网络。除了这些网络之外，还有其他类型的神经网络。</a:t>
            </a:r>
            <a:endParaRPr lang="zh-CN" altLang="en-US" sz="2400" b="1" kern="100" dirty="0">
              <a:solidFill>
                <a:prstClr val="black"/>
              </a:solidFill>
              <a:cs typeface="+mn-ea"/>
              <a:sym typeface="+mn-lt"/>
            </a:endParaRPr>
          </a:p>
          <a:p>
            <a:pPr marL="457200" marR="0" lvl="0" indent="-457200" algn="just" defTabSz="914400">
              <a:lnSpc>
                <a:spcPct val="150000"/>
              </a:lnSpc>
              <a:spcBef>
                <a:spcPts val="0"/>
              </a:spcBef>
              <a:spcAft>
                <a:spcPts val="0"/>
              </a:spcAft>
              <a:buClrTx/>
              <a:buSzTx/>
              <a:buFont typeface="Wingdings" panose="05000000000000000000" pitchFamily="2" charset="2"/>
              <a:buChar char="p"/>
              <a:tabLst/>
              <a:defRPr/>
            </a:pPr>
            <a:endParaRPr lang="zh-CN" altLang="en-US" sz="2400" b="1" i="0" u="none" strike="noStrike" kern="100" cap="none" spc="0" normalizeH="0" baseline="0" noProof="0" dirty="0">
              <a:ln>
                <a:noFill/>
              </a:ln>
              <a:solidFill>
                <a:prstClr val="black"/>
              </a:solidFill>
              <a:effectLst/>
              <a:uLnTx/>
              <a:uFillTx/>
              <a:cs typeface="+mn-ea"/>
            </a:endParaRPr>
          </a:p>
          <a:p>
            <a:pPr marL="457200" indent="-457200" algn="just">
              <a:lnSpc>
                <a:spcPct val="150000"/>
              </a:lnSpc>
              <a:buFont typeface="Wingdings" panose="05000000000000000000" pitchFamily="2" charset="2"/>
              <a:buChar char="p"/>
              <a:defRPr/>
            </a:pPr>
            <a:r>
              <a:rPr kumimoji="0" lang="zh-CN" altLang="en-US" sz="2400" b="1" i="0" u="none" strike="noStrike" kern="100" cap="none" spc="0" normalizeH="0" baseline="0" noProof="0" dirty="0">
                <a:ln>
                  <a:noFill/>
                </a:ln>
                <a:solidFill>
                  <a:prstClr val="black"/>
                </a:solidFill>
                <a:effectLst/>
                <a:uLnTx/>
                <a:uFillTx/>
                <a:cs typeface="+mn-ea"/>
                <a:sym typeface="+mn-lt"/>
              </a:rPr>
              <a:t>循环神经网络（</a:t>
            </a:r>
            <a:r>
              <a:rPr kumimoji="0" lang="en-US" altLang="zh-CN" sz="2400" b="1" i="0" u="none" strike="noStrike" kern="100" cap="none" spc="0" normalizeH="0" baseline="0" noProof="0" dirty="0">
                <a:ln>
                  <a:noFill/>
                </a:ln>
                <a:solidFill>
                  <a:prstClr val="black"/>
                </a:solidFill>
                <a:effectLst/>
                <a:uLnTx/>
                <a:uFillTx/>
                <a:cs typeface="+mn-ea"/>
                <a:sym typeface="+mn-lt"/>
              </a:rPr>
              <a:t>Recurrent Neural Networks</a:t>
            </a:r>
            <a:r>
              <a:rPr kumimoji="0" lang="zh-CN" altLang="en-US" sz="2400" b="1" i="0" u="none" strike="noStrike" kern="100" cap="none" spc="0" normalizeH="0" baseline="0" noProof="0" dirty="0">
                <a:ln>
                  <a:noFill/>
                </a:ln>
                <a:solidFill>
                  <a:prstClr val="black"/>
                </a:solidFill>
                <a:effectLst/>
                <a:uLnTx/>
                <a:uFillTx/>
                <a:cs typeface="+mn-ea"/>
                <a:sym typeface="+mn-lt"/>
              </a:rPr>
              <a:t>，</a:t>
            </a:r>
            <a:r>
              <a:rPr kumimoji="0" lang="en-US" altLang="zh-CN" sz="2400" b="1" i="0" u="none" strike="noStrike" kern="100" cap="none" spc="0" normalizeH="0" baseline="0" noProof="0" dirty="0">
                <a:ln>
                  <a:noFill/>
                </a:ln>
                <a:solidFill>
                  <a:prstClr val="black"/>
                </a:solidFill>
                <a:effectLst/>
                <a:uLnTx/>
                <a:uFillTx/>
                <a:cs typeface="+mn-ea"/>
                <a:sym typeface="+mn-lt"/>
              </a:rPr>
              <a:t>RNN</a:t>
            </a:r>
            <a:r>
              <a:rPr kumimoji="0" lang="zh-CN" altLang="en-US" sz="2400" b="1" i="0" u="none" strike="noStrike" kern="100" cap="none" spc="0" normalizeH="0" baseline="0" noProof="0" dirty="0">
                <a:ln>
                  <a:noFill/>
                </a:ln>
                <a:solidFill>
                  <a:prstClr val="black"/>
                </a:solidFill>
                <a:effectLst/>
                <a:uLnTx/>
                <a:uFillTx/>
                <a:cs typeface="+mn-ea"/>
                <a:sym typeface="+mn-lt"/>
              </a:rPr>
              <a:t>）使用一种</a:t>
            </a:r>
            <a:r>
              <a:rPr lang="zh-CN" altLang="en-US" sz="2400" b="1" kern="100" dirty="0">
                <a:solidFill>
                  <a:prstClr val="black"/>
                </a:solidFill>
                <a:cs typeface="+mn-ea"/>
                <a:sym typeface="+mn-lt"/>
              </a:rPr>
              <a:t>自我迭代使用的</a:t>
            </a:r>
            <a:r>
              <a:rPr kumimoji="0" lang="zh-CN" altLang="en-US" sz="2400" b="1" i="0" u="none" strike="noStrike" kern="100" cap="none" spc="0" normalizeH="0" baseline="0" noProof="0" dirty="0">
                <a:ln>
                  <a:noFill/>
                </a:ln>
                <a:solidFill>
                  <a:prstClr val="black"/>
                </a:solidFill>
                <a:effectLst/>
                <a:uLnTx/>
                <a:uFillTx/>
                <a:cs typeface="+mn-ea"/>
                <a:sym typeface="+mn-lt"/>
              </a:rPr>
              <a:t>机制，使其无需</a:t>
            </a:r>
            <a:r>
              <a:rPr lang="zh-CN" altLang="en-US" sz="2400" b="1" kern="100" dirty="0">
                <a:solidFill>
                  <a:prstClr val="black"/>
                </a:solidFill>
                <a:cs typeface="+mn-ea"/>
                <a:sym typeface="+mn-lt"/>
              </a:rPr>
              <a:t>指定</a:t>
            </a:r>
            <a:r>
              <a:rPr kumimoji="0" lang="zh-CN" altLang="en-US" sz="2400" b="1" i="0" u="none" strike="noStrike" kern="100" cap="none" spc="0" normalizeH="0" baseline="0" noProof="0" dirty="0">
                <a:ln>
                  <a:noFill/>
                </a:ln>
                <a:solidFill>
                  <a:prstClr val="black"/>
                </a:solidFill>
                <a:effectLst/>
                <a:uLnTx/>
                <a:uFillTx/>
                <a:cs typeface="+mn-ea"/>
                <a:sym typeface="+mn-lt"/>
              </a:rPr>
              <a:t>任意固定大小的输入长度，也能处理一维线性序列数据（例如文本）。</a:t>
            </a:r>
          </a:p>
          <a:p>
            <a:pPr marL="457200" marR="0" lvl="0" indent="-457200" algn="just"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endParaRPr kumimoji="0" lang="zh-CN" altLang="en-US" sz="2400" b="1" i="0" u="none" strike="noStrike" kern="100" cap="none" spc="0" normalizeH="0" baseline="0" noProof="0" dirty="0">
              <a:ln>
                <a:noFill/>
              </a:ln>
              <a:solidFill>
                <a:prstClr val="black"/>
              </a:solidFill>
              <a:effectLst/>
              <a:uLnTx/>
              <a:uFillTx/>
              <a:cs typeface="+mn-ea"/>
              <a:sym typeface="+mn-lt"/>
            </a:endParaRPr>
          </a:p>
          <a:p>
            <a:pPr marL="457200" marR="0" lvl="0" indent="-457200" algn="just"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en-US" altLang="zh-CN" sz="2400" b="1" i="0" u="none" strike="noStrike" kern="100" cap="none" spc="0" normalizeH="0" baseline="0" noProof="0" dirty="0">
                <a:ln>
                  <a:noFill/>
                </a:ln>
                <a:solidFill>
                  <a:prstClr val="black"/>
                </a:solidFill>
                <a:effectLst/>
                <a:uLnTx/>
                <a:uFillTx/>
                <a:cs typeface="+mn-ea"/>
                <a:sym typeface="+mn-lt"/>
              </a:rPr>
              <a:t>RNN</a:t>
            </a:r>
            <a:r>
              <a:rPr kumimoji="0" lang="zh-CN" altLang="en-US" sz="2400" b="1" i="0" u="none" strike="noStrike" kern="100" cap="none" spc="0" normalizeH="0" baseline="0" noProof="0" dirty="0">
                <a:ln>
                  <a:noFill/>
                </a:ln>
                <a:solidFill>
                  <a:prstClr val="black"/>
                </a:solidFill>
                <a:effectLst/>
                <a:uLnTx/>
                <a:uFillTx/>
                <a:cs typeface="+mn-ea"/>
                <a:sym typeface="+mn-lt"/>
              </a:rPr>
              <a:t>提供了一种新的方法建模线性序列数据，使得模型的输出可以迭代式</a:t>
            </a:r>
            <a:r>
              <a:rPr kumimoji="0" lang="zh-CN" altLang="en-US" sz="2400" b="1" i="0" u="none" strike="noStrike" kern="100" cap="none" spc="0" normalizeH="0" baseline="0" noProof="0">
                <a:ln>
                  <a:noFill/>
                </a:ln>
                <a:solidFill>
                  <a:prstClr val="black"/>
                </a:solidFill>
                <a:effectLst/>
                <a:uLnTx/>
                <a:uFillTx/>
                <a:cs typeface="+mn-ea"/>
                <a:sym typeface="+mn-lt"/>
              </a:rPr>
              <a:t>依赖于历史信息</a:t>
            </a:r>
            <a:r>
              <a:rPr kumimoji="0" lang="zh-CN" altLang="en-US" sz="2400" b="1" i="0" u="none" strike="noStrike" kern="100" cap="none" spc="0" normalizeH="0" baseline="0" noProof="0" dirty="0">
                <a:ln>
                  <a:noFill/>
                </a:ln>
                <a:solidFill>
                  <a:prstClr val="black"/>
                </a:solidFill>
                <a:effectLst/>
                <a:uLnTx/>
                <a:uFillTx/>
                <a:cs typeface="+mn-ea"/>
                <a:sym typeface="+mn-lt"/>
              </a:rPr>
              <a:t>。</a:t>
            </a:r>
            <a:endParaRPr kumimoji="0" lang="en-US" altLang="zh-CN" sz="2400" b="1" i="0" u="none" strike="noStrike" kern="100" cap="none" spc="0" normalizeH="0" baseline="0" noProof="0" dirty="0">
              <a:ln>
                <a:noFill/>
              </a:ln>
              <a:solidFill>
                <a:prstClr val="black"/>
              </a:solidFill>
              <a:effectLst/>
              <a:uLnTx/>
              <a:uFillTx/>
              <a:cs typeface="+mn-ea"/>
              <a:sym typeface="+mn-lt"/>
            </a:endParaRPr>
          </a:p>
        </p:txBody>
      </p:sp>
    </p:spTree>
    <p:extLst>
      <p:ext uri="{BB962C8B-B14F-4D97-AF65-F5344CB8AC3E}">
        <p14:creationId xmlns:p14="http://schemas.microsoft.com/office/powerpoint/2010/main" val="23394848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a:extLst>
              <a:ext uri="{FF2B5EF4-FFF2-40B4-BE49-F238E27FC236}">
                <a16:creationId xmlns:a16="http://schemas.microsoft.com/office/drawing/2014/main" id="{1F1714F8-2502-7186-C90B-84BF9541C3A5}"/>
              </a:ext>
            </a:extLst>
          </p:cNvPr>
          <p:cNvSpPr txBox="1"/>
          <p:nvPr/>
        </p:nvSpPr>
        <p:spPr>
          <a:xfrm>
            <a:off x="1247106" y="4587805"/>
            <a:ext cx="560070" cy="1221105"/>
          </a:xfrm>
          <a:prstGeom prst="rect">
            <a:avLst/>
          </a:prstGeom>
          <a:solidFill>
            <a:srgbClr val="F4CCCC"/>
          </a:solidFill>
          <a:ln w="9525">
            <a:solidFill>
              <a:srgbClr val="000000"/>
            </a:solidFill>
          </a:ln>
        </p:spPr>
        <p:txBody>
          <a:bodyPr vert="horz" wrap="square" lIns="0" tIns="4445" rIns="0" bIns="0" rtlCol="0">
            <a:spAutoFit/>
          </a:bodyPr>
          <a:lstStyle/>
          <a:p>
            <a:pPr>
              <a:lnSpc>
                <a:spcPct val="100000"/>
              </a:lnSpc>
              <a:spcBef>
                <a:spcPts val="35"/>
              </a:spcBef>
            </a:pPr>
            <a:endParaRPr sz="2750">
              <a:latin typeface="Times New Roman"/>
              <a:cs typeface="Times New Roman"/>
            </a:endParaRPr>
          </a:p>
          <a:p>
            <a:pPr algn="ctr">
              <a:lnSpc>
                <a:spcPct val="100000"/>
              </a:lnSpc>
            </a:pPr>
            <a:r>
              <a:rPr sz="2400" spc="-165">
                <a:latin typeface="Arial"/>
                <a:cs typeface="Arial"/>
              </a:rPr>
              <a:t>x</a:t>
            </a:r>
            <a:endParaRPr sz="2400">
              <a:latin typeface="Arial"/>
              <a:cs typeface="Arial"/>
            </a:endParaRPr>
          </a:p>
        </p:txBody>
      </p:sp>
      <p:sp>
        <p:nvSpPr>
          <p:cNvPr id="6" name="object 5">
            <a:extLst>
              <a:ext uri="{FF2B5EF4-FFF2-40B4-BE49-F238E27FC236}">
                <a16:creationId xmlns:a16="http://schemas.microsoft.com/office/drawing/2014/main" id="{4EC5DC13-D3D6-08D3-DA4C-7145E3C2574D}"/>
              </a:ext>
            </a:extLst>
          </p:cNvPr>
          <p:cNvSpPr txBox="1"/>
          <p:nvPr/>
        </p:nvSpPr>
        <p:spPr>
          <a:xfrm>
            <a:off x="1232943" y="1067285"/>
            <a:ext cx="560070" cy="1221105"/>
          </a:xfrm>
          <a:prstGeom prst="rect">
            <a:avLst/>
          </a:prstGeom>
          <a:solidFill>
            <a:srgbClr val="C9DAF8"/>
          </a:solidFill>
          <a:ln w="9525">
            <a:solidFill>
              <a:srgbClr val="000000"/>
            </a:solidFill>
          </a:ln>
        </p:spPr>
        <p:txBody>
          <a:bodyPr vert="horz" wrap="square" lIns="0" tIns="4445" rIns="0" bIns="0" rtlCol="0">
            <a:spAutoFit/>
          </a:bodyPr>
          <a:lstStyle/>
          <a:p>
            <a:pPr>
              <a:lnSpc>
                <a:spcPct val="100000"/>
              </a:lnSpc>
              <a:spcBef>
                <a:spcPts val="35"/>
              </a:spcBef>
            </a:pPr>
            <a:endParaRPr sz="2750" dirty="0">
              <a:latin typeface="Times New Roman"/>
              <a:cs typeface="Times New Roman"/>
            </a:endParaRPr>
          </a:p>
          <a:p>
            <a:pPr algn="ctr">
              <a:lnSpc>
                <a:spcPct val="100000"/>
              </a:lnSpc>
            </a:pPr>
            <a:r>
              <a:rPr sz="2400" spc="-114" dirty="0">
                <a:latin typeface="Arial"/>
                <a:cs typeface="Arial"/>
              </a:rPr>
              <a:t>y</a:t>
            </a:r>
            <a:endParaRPr sz="2400" dirty="0">
              <a:latin typeface="Arial"/>
              <a:cs typeface="Arial"/>
            </a:endParaRPr>
          </a:p>
        </p:txBody>
      </p:sp>
      <p:sp>
        <p:nvSpPr>
          <p:cNvPr id="7" name="object 6">
            <a:extLst>
              <a:ext uri="{FF2B5EF4-FFF2-40B4-BE49-F238E27FC236}">
                <a16:creationId xmlns:a16="http://schemas.microsoft.com/office/drawing/2014/main" id="{A31714B6-029C-9DB7-919C-601A04733745}"/>
              </a:ext>
            </a:extLst>
          </p:cNvPr>
          <p:cNvSpPr/>
          <p:nvPr/>
        </p:nvSpPr>
        <p:spPr>
          <a:xfrm>
            <a:off x="1488848" y="2289181"/>
            <a:ext cx="76200" cy="464820"/>
          </a:xfrm>
          <a:custGeom>
            <a:avLst/>
            <a:gdLst/>
            <a:ahLst/>
            <a:cxnLst/>
            <a:rect l="l" t="t" r="r" b="b"/>
            <a:pathLst>
              <a:path w="76200" h="464819">
                <a:moveTo>
                  <a:pt x="38100" y="0"/>
                </a:moveTo>
                <a:lnTo>
                  <a:pt x="0" y="76200"/>
                </a:lnTo>
                <a:lnTo>
                  <a:pt x="28575" y="76200"/>
                </a:lnTo>
                <a:lnTo>
                  <a:pt x="28576" y="464790"/>
                </a:lnTo>
                <a:lnTo>
                  <a:pt x="47626" y="464790"/>
                </a:lnTo>
                <a:lnTo>
                  <a:pt x="47625" y="76200"/>
                </a:lnTo>
                <a:lnTo>
                  <a:pt x="76200" y="76200"/>
                </a:lnTo>
                <a:lnTo>
                  <a:pt x="38100" y="0"/>
                </a:lnTo>
                <a:close/>
              </a:path>
            </a:pathLst>
          </a:custGeom>
          <a:solidFill>
            <a:srgbClr val="000000"/>
          </a:solidFill>
        </p:spPr>
        <p:txBody>
          <a:bodyPr wrap="square" lIns="0" tIns="0" rIns="0" bIns="0" rtlCol="0"/>
          <a:lstStyle/>
          <a:p>
            <a:endParaRPr/>
          </a:p>
        </p:txBody>
      </p:sp>
      <p:sp>
        <p:nvSpPr>
          <p:cNvPr id="8" name="object 7">
            <a:extLst>
              <a:ext uri="{FF2B5EF4-FFF2-40B4-BE49-F238E27FC236}">
                <a16:creationId xmlns:a16="http://schemas.microsoft.com/office/drawing/2014/main" id="{7FEB83E7-6B02-8393-4F07-405E9D7E970D}"/>
              </a:ext>
            </a:extLst>
          </p:cNvPr>
          <p:cNvSpPr/>
          <p:nvPr/>
        </p:nvSpPr>
        <p:spPr>
          <a:xfrm>
            <a:off x="1488848" y="4099817"/>
            <a:ext cx="76200" cy="488315"/>
          </a:xfrm>
          <a:custGeom>
            <a:avLst/>
            <a:gdLst/>
            <a:ahLst/>
            <a:cxnLst/>
            <a:rect l="l" t="t" r="r" b="b"/>
            <a:pathLst>
              <a:path w="76200" h="488314">
                <a:moveTo>
                  <a:pt x="38100" y="0"/>
                </a:moveTo>
                <a:lnTo>
                  <a:pt x="0" y="76200"/>
                </a:lnTo>
                <a:lnTo>
                  <a:pt x="28575" y="76200"/>
                </a:lnTo>
                <a:lnTo>
                  <a:pt x="28576" y="487987"/>
                </a:lnTo>
                <a:lnTo>
                  <a:pt x="47626" y="487987"/>
                </a:lnTo>
                <a:lnTo>
                  <a:pt x="47625" y="76200"/>
                </a:lnTo>
                <a:lnTo>
                  <a:pt x="76200" y="76200"/>
                </a:lnTo>
                <a:lnTo>
                  <a:pt x="38100" y="0"/>
                </a:lnTo>
                <a:close/>
              </a:path>
            </a:pathLst>
          </a:custGeom>
          <a:solidFill>
            <a:srgbClr val="000000"/>
          </a:solidFill>
        </p:spPr>
        <p:txBody>
          <a:bodyPr wrap="square" lIns="0" tIns="0" rIns="0" bIns="0" rtlCol="0"/>
          <a:lstStyle/>
          <a:p>
            <a:endParaRPr/>
          </a:p>
        </p:txBody>
      </p:sp>
      <p:grpSp>
        <p:nvGrpSpPr>
          <p:cNvPr id="9" name="object 8">
            <a:extLst>
              <a:ext uri="{FF2B5EF4-FFF2-40B4-BE49-F238E27FC236}">
                <a16:creationId xmlns:a16="http://schemas.microsoft.com/office/drawing/2014/main" id="{70FE52D2-9247-DE17-5248-82C3FF0AFF01}"/>
              </a:ext>
            </a:extLst>
          </p:cNvPr>
          <p:cNvGrpSpPr/>
          <p:nvPr/>
        </p:nvGrpSpPr>
        <p:grpSpPr>
          <a:xfrm>
            <a:off x="2187756" y="2770817"/>
            <a:ext cx="1276457" cy="1090433"/>
            <a:chOff x="2187756" y="2770817"/>
            <a:chExt cx="1276457" cy="1090433"/>
          </a:xfrm>
        </p:grpSpPr>
        <p:sp>
          <p:nvSpPr>
            <p:cNvPr id="10" name="object 9">
              <a:extLst>
                <a:ext uri="{FF2B5EF4-FFF2-40B4-BE49-F238E27FC236}">
                  <a16:creationId xmlns:a16="http://schemas.microsoft.com/office/drawing/2014/main" id="{D8CDEDE7-6999-8869-80EB-94E9D21D306D}"/>
                </a:ext>
              </a:extLst>
            </p:cNvPr>
            <p:cNvSpPr/>
            <p:nvPr/>
          </p:nvSpPr>
          <p:spPr>
            <a:xfrm>
              <a:off x="2187756" y="2913496"/>
              <a:ext cx="737235" cy="947754"/>
            </a:xfrm>
            <a:custGeom>
              <a:avLst/>
              <a:gdLst/>
              <a:ahLst/>
              <a:cxnLst/>
              <a:rect l="l" t="t" r="r" b="b"/>
              <a:pathLst>
                <a:path w="737235" h="424814">
                  <a:moveTo>
                    <a:pt x="33712" y="0"/>
                  </a:moveTo>
                  <a:lnTo>
                    <a:pt x="91998" y="35880"/>
                  </a:lnTo>
                  <a:lnTo>
                    <a:pt x="301339" y="87915"/>
                  </a:lnTo>
                  <a:lnTo>
                    <a:pt x="361697" y="103248"/>
                  </a:lnTo>
                  <a:lnTo>
                    <a:pt x="422160" y="119108"/>
                  </a:lnTo>
                  <a:lnTo>
                    <a:pt x="481172" y="135289"/>
                  </a:lnTo>
                  <a:lnTo>
                    <a:pt x="537169" y="151584"/>
                  </a:lnTo>
                  <a:lnTo>
                    <a:pt x="588584" y="167786"/>
                  </a:lnTo>
                  <a:lnTo>
                    <a:pt x="633735" y="183640"/>
                  </a:lnTo>
                  <a:lnTo>
                    <a:pt x="671131" y="198945"/>
                  </a:lnTo>
                  <a:lnTo>
                    <a:pt x="708684" y="219986"/>
                  </a:lnTo>
                  <a:lnTo>
                    <a:pt x="717444" y="231065"/>
                  </a:lnTo>
                  <a:lnTo>
                    <a:pt x="716742" y="233032"/>
                  </a:lnTo>
                  <a:lnTo>
                    <a:pt x="681484" y="254267"/>
                  </a:lnTo>
                  <a:lnTo>
                    <a:pt x="625812" y="272719"/>
                  </a:lnTo>
                  <a:lnTo>
                    <a:pt x="578421" y="285092"/>
                  </a:lnTo>
                  <a:lnTo>
                    <a:pt x="524753" y="297342"/>
                  </a:lnTo>
                  <a:lnTo>
                    <a:pt x="466570" y="309332"/>
                  </a:lnTo>
                  <a:lnTo>
                    <a:pt x="405394" y="320988"/>
                  </a:lnTo>
                  <a:lnTo>
                    <a:pt x="342817" y="332218"/>
                  </a:lnTo>
                  <a:lnTo>
                    <a:pt x="280424" y="342933"/>
                  </a:lnTo>
                  <a:lnTo>
                    <a:pt x="162511" y="362480"/>
                  </a:lnTo>
                  <a:lnTo>
                    <a:pt x="73097" y="377545"/>
                  </a:lnTo>
                  <a:lnTo>
                    <a:pt x="67736" y="349363"/>
                  </a:lnTo>
                  <a:lnTo>
                    <a:pt x="0" y="401032"/>
                  </a:lnTo>
                  <a:lnTo>
                    <a:pt x="81977" y="424219"/>
                  </a:lnTo>
                  <a:lnTo>
                    <a:pt x="76658" y="396260"/>
                  </a:lnTo>
                  <a:lnTo>
                    <a:pt x="89438" y="393946"/>
                  </a:lnTo>
                  <a:lnTo>
                    <a:pt x="283649" y="361708"/>
                  </a:lnTo>
                  <a:lnTo>
                    <a:pt x="346181" y="350968"/>
                  </a:lnTo>
                  <a:lnTo>
                    <a:pt x="408959" y="339702"/>
                  </a:lnTo>
                  <a:lnTo>
                    <a:pt x="470415" y="327990"/>
                  </a:lnTo>
                  <a:lnTo>
                    <a:pt x="528994" y="315915"/>
                  </a:lnTo>
                  <a:lnTo>
                    <a:pt x="583067" y="303566"/>
                  </a:lnTo>
                  <a:lnTo>
                    <a:pt x="631243" y="290978"/>
                  </a:lnTo>
                  <a:lnTo>
                    <a:pt x="672011" y="278184"/>
                  </a:lnTo>
                  <a:lnTo>
                    <a:pt x="716621" y="258117"/>
                  </a:lnTo>
                  <a:lnTo>
                    <a:pt x="736967" y="231677"/>
                  </a:lnTo>
                  <a:lnTo>
                    <a:pt x="735181" y="222450"/>
                  </a:lnTo>
                  <a:lnTo>
                    <a:pt x="694623" y="189119"/>
                  </a:lnTo>
                  <a:lnTo>
                    <a:pt x="640228" y="165731"/>
                  </a:lnTo>
                  <a:lnTo>
                    <a:pt x="594307" y="149616"/>
                  </a:lnTo>
                  <a:lnTo>
                    <a:pt x="542491" y="133292"/>
                  </a:lnTo>
                  <a:lnTo>
                    <a:pt x="486209" y="116917"/>
                  </a:lnTo>
                  <a:lnTo>
                    <a:pt x="426993" y="100681"/>
                  </a:lnTo>
                  <a:lnTo>
                    <a:pt x="366387" y="84785"/>
                  </a:lnTo>
                  <a:lnTo>
                    <a:pt x="305939" y="69428"/>
                  </a:lnTo>
                  <a:lnTo>
                    <a:pt x="141062" y="28614"/>
                  </a:lnTo>
                  <a:lnTo>
                    <a:pt x="77566" y="12435"/>
                  </a:lnTo>
                  <a:lnTo>
                    <a:pt x="45937" y="3719"/>
                  </a:lnTo>
                  <a:lnTo>
                    <a:pt x="33712" y="0"/>
                  </a:lnTo>
                  <a:close/>
                </a:path>
              </a:pathLst>
            </a:custGeom>
            <a:solidFill>
              <a:srgbClr val="000000"/>
            </a:solidFill>
          </p:spPr>
          <p:txBody>
            <a:bodyPr wrap="square" lIns="0" tIns="0" rIns="0" bIns="0" rtlCol="0"/>
            <a:lstStyle/>
            <a:p>
              <a:endParaRPr/>
            </a:p>
          </p:txBody>
        </p:sp>
        <p:sp>
          <p:nvSpPr>
            <p:cNvPr id="11" name="object 10">
              <a:extLst>
                <a:ext uri="{FF2B5EF4-FFF2-40B4-BE49-F238E27FC236}">
                  <a16:creationId xmlns:a16="http://schemas.microsoft.com/office/drawing/2014/main" id="{FE6D3D5D-032D-507C-38AA-0DC59CBDDAAC}"/>
                </a:ext>
              </a:extLst>
            </p:cNvPr>
            <p:cNvSpPr/>
            <p:nvPr/>
          </p:nvSpPr>
          <p:spPr>
            <a:xfrm>
              <a:off x="2924991" y="2770817"/>
              <a:ext cx="539222" cy="444102"/>
            </a:xfrm>
            <a:custGeom>
              <a:avLst/>
              <a:gdLst/>
              <a:ahLst/>
              <a:cxnLst/>
              <a:rect l="l" t="t" r="r" b="b"/>
              <a:pathLst>
                <a:path w="487045" h="421004">
                  <a:moveTo>
                    <a:pt x="474060" y="0"/>
                  </a:moveTo>
                  <a:lnTo>
                    <a:pt x="51532" y="363774"/>
                  </a:lnTo>
                  <a:lnTo>
                    <a:pt x="32889" y="342120"/>
                  </a:lnTo>
                  <a:lnTo>
                    <a:pt x="0" y="420710"/>
                  </a:lnTo>
                  <a:lnTo>
                    <a:pt x="82605" y="399865"/>
                  </a:lnTo>
                  <a:lnTo>
                    <a:pt x="63962" y="378211"/>
                  </a:lnTo>
                  <a:lnTo>
                    <a:pt x="486490" y="14436"/>
                  </a:lnTo>
                  <a:lnTo>
                    <a:pt x="474060" y="0"/>
                  </a:lnTo>
                  <a:close/>
                </a:path>
              </a:pathLst>
            </a:custGeom>
            <a:solidFill>
              <a:schemeClr val="accent1"/>
            </a:solidFill>
          </p:spPr>
          <p:txBody>
            <a:bodyPr wrap="square" lIns="0" tIns="0" rIns="0" bIns="0" rtlCol="0"/>
            <a:lstStyle/>
            <a:p>
              <a:endParaRPr dirty="0"/>
            </a:p>
          </p:txBody>
        </p:sp>
      </p:grpSp>
      <p:sp>
        <p:nvSpPr>
          <p:cNvPr id="13" name="Rectangle 12">
            <a:extLst>
              <a:ext uri="{FF2B5EF4-FFF2-40B4-BE49-F238E27FC236}">
                <a16:creationId xmlns:a16="http://schemas.microsoft.com/office/drawing/2014/main" id="{94678CBF-C4E5-F631-823B-19CFF5520392}"/>
              </a:ext>
            </a:extLst>
          </p:cNvPr>
          <p:cNvSpPr/>
          <p:nvPr/>
        </p:nvSpPr>
        <p:spPr>
          <a:xfrm>
            <a:off x="838200" y="2770817"/>
            <a:ext cx="1349556" cy="1329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nvGrpSpPr>
          <p:cNvPr id="14" name="Group 9">
            <a:extLst>
              <a:ext uri="{FF2B5EF4-FFF2-40B4-BE49-F238E27FC236}">
                <a16:creationId xmlns:a16="http://schemas.microsoft.com/office/drawing/2014/main" id="{484D6D0C-D05F-C07E-E3E9-889D25907C5C}"/>
              </a:ext>
            </a:extLst>
          </p:cNvPr>
          <p:cNvGrpSpPr>
            <a:grpSpLocks noChangeAspect="1"/>
          </p:cNvGrpSpPr>
          <p:nvPr/>
        </p:nvGrpSpPr>
        <p:grpSpPr bwMode="auto">
          <a:xfrm>
            <a:off x="0" y="-1589"/>
            <a:ext cx="12191999" cy="767234"/>
            <a:chOff x="-1" y="-1"/>
            <a:chExt cx="7719" cy="568"/>
          </a:xfrm>
        </p:grpSpPr>
        <p:sp>
          <p:nvSpPr>
            <p:cNvPr id="15" name="Freeform 14">
              <a:extLst>
                <a:ext uri="{FF2B5EF4-FFF2-40B4-BE49-F238E27FC236}">
                  <a16:creationId xmlns:a16="http://schemas.microsoft.com/office/drawing/2014/main" id="{8FE6099C-55FB-5F3D-8342-378AF12B5B65}"/>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6" name="AutoShape 8">
              <a:extLst>
                <a:ext uri="{FF2B5EF4-FFF2-40B4-BE49-F238E27FC236}">
                  <a16:creationId xmlns:a16="http://schemas.microsoft.com/office/drawing/2014/main" id="{3F65F95C-AF0E-321B-1A0B-585E2EFFA421}"/>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17" name="任意多边形: 形状 12">
            <a:extLst>
              <a:ext uri="{FF2B5EF4-FFF2-40B4-BE49-F238E27FC236}">
                <a16:creationId xmlns:a16="http://schemas.microsoft.com/office/drawing/2014/main" id="{0DA10985-A343-362C-FC2B-1D900644F564}"/>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8" name="文本框 18">
            <a:extLst>
              <a:ext uri="{FF2B5EF4-FFF2-40B4-BE49-F238E27FC236}">
                <a16:creationId xmlns:a16="http://schemas.microsoft.com/office/drawing/2014/main" id="{6E9A897F-2247-D682-242D-344F39A18AB0}"/>
              </a:ext>
            </a:extLst>
          </p:cNvPr>
          <p:cNvSpPr txBox="1"/>
          <p:nvPr/>
        </p:nvSpPr>
        <p:spPr>
          <a:xfrm>
            <a:off x="350439" y="120418"/>
            <a:ext cx="335861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1">
                <a:solidFill>
                  <a:prstClr val="white"/>
                </a:solidFill>
                <a:cs typeface="+mn-ea"/>
                <a:sym typeface="+mn-lt"/>
              </a:rPr>
              <a:t>循环神经网络</a:t>
            </a:r>
            <a:r>
              <a:rPr kumimoji="0" lang="en-US" altLang="zh-CN" sz="2800" b="1" i="0" u="none" strike="noStrike" kern="1200" cap="none" spc="0" normalizeH="0" baseline="0" noProof="0">
                <a:ln>
                  <a:noFill/>
                </a:ln>
                <a:solidFill>
                  <a:prstClr val="white"/>
                </a:solidFill>
                <a:effectLst/>
                <a:uLnTx/>
                <a:uFillTx/>
                <a:cs typeface="+mn-ea"/>
                <a:sym typeface="+mn-lt"/>
              </a:rPr>
              <a:t>(RNN)</a:t>
            </a:r>
            <a:endParaRPr kumimoji="0" lang="zh-CN" altLang="en-US" sz="2800" b="1" i="0" u="none" strike="noStrike" kern="1200" cap="none" spc="0" normalizeH="0" baseline="0" noProof="0">
              <a:ln>
                <a:noFill/>
              </a:ln>
              <a:solidFill>
                <a:prstClr val="white"/>
              </a:solidFill>
              <a:effectLst/>
              <a:uLnTx/>
              <a:uFillTx/>
              <a:cs typeface="+mn-ea"/>
              <a:sym typeface="+mn-lt"/>
            </a:endParaRPr>
          </a:p>
        </p:txBody>
      </p:sp>
      <p:sp>
        <p:nvSpPr>
          <p:cNvPr id="2" name="object 11">
            <a:extLst>
              <a:ext uri="{FF2B5EF4-FFF2-40B4-BE49-F238E27FC236}">
                <a16:creationId xmlns:a16="http://schemas.microsoft.com/office/drawing/2014/main" id="{4BE13CAC-6824-808B-E777-BAB439048EF7}"/>
              </a:ext>
            </a:extLst>
          </p:cNvPr>
          <p:cNvSpPr txBox="1"/>
          <p:nvPr/>
        </p:nvSpPr>
        <p:spPr>
          <a:xfrm>
            <a:off x="3464213" y="2371097"/>
            <a:ext cx="2918460" cy="843821"/>
          </a:xfrm>
          <a:prstGeom prst="rect">
            <a:avLst/>
          </a:prstGeom>
        </p:spPr>
        <p:txBody>
          <a:bodyPr vert="horz" wrap="square" lIns="0" tIns="12700" rIns="0" bIns="0" rtlCol="0">
            <a:spAutoFit/>
          </a:bodyPr>
          <a:lstStyle/>
          <a:p>
            <a:pPr algn="l"/>
            <a:r>
              <a:rPr lang="zh-CN" altLang="en-US" sz="1800" b="1" dirty="0">
                <a:solidFill>
                  <a:srgbClr val="000000"/>
                </a:solidFill>
                <a:latin typeface="+mn-ea"/>
              </a:rPr>
              <a:t>核心思想：</a:t>
            </a:r>
            <a:r>
              <a:rPr lang="en-US" sz="1800" b="1" dirty="0">
                <a:solidFill>
                  <a:srgbClr val="000000"/>
                </a:solidFill>
                <a:latin typeface="+mn-ea"/>
              </a:rPr>
              <a:t>RNN</a:t>
            </a:r>
            <a:r>
              <a:rPr lang="zh-CN" altLang="en-US" sz="1800" b="1" dirty="0">
                <a:solidFill>
                  <a:srgbClr val="000000"/>
                </a:solidFill>
                <a:latin typeface="+mn-ea"/>
              </a:rPr>
              <a:t>具有一种在处理序列时不断更新的“内部状态”。</a:t>
            </a:r>
          </a:p>
        </p:txBody>
      </p:sp>
      <p:sp>
        <p:nvSpPr>
          <p:cNvPr id="5" name="Rectangle 4">
            <a:extLst>
              <a:ext uri="{FF2B5EF4-FFF2-40B4-BE49-F238E27FC236}">
                <a16:creationId xmlns:a16="http://schemas.microsoft.com/office/drawing/2014/main" id="{F02EA62B-53A3-D562-3E78-6595C2765575}"/>
              </a:ext>
            </a:extLst>
          </p:cNvPr>
          <p:cNvSpPr/>
          <p:nvPr/>
        </p:nvSpPr>
        <p:spPr>
          <a:xfrm>
            <a:off x="473725" y="903536"/>
            <a:ext cx="2710150" cy="5144877"/>
          </a:xfrm>
          <a:prstGeom prst="rect">
            <a:avLst/>
          </a:prstGeom>
          <a:noFill/>
          <a:ln>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435B37E5-7249-AA98-98D0-00BBB804D2C7}"/>
              </a:ext>
            </a:extLst>
          </p:cNvPr>
          <p:cNvSpPr txBox="1"/>
          <p:nvPr/>
        </p:nvSpPr>
        <p:spPr>
          <a:xfrm>
            <a:off x="2544324" y="6048413"/>
            <a:ext cx="684803" cy="369332"/>
          </a:xfrm>
          <a:prstGeom prst="rect">
            <a:avLst/>
          </a:prstGeom>
          <a:noFill/>
        </p:spPr>
        <p:txBody>
          <a:bodyPr wrap="none" rtlCol="0">
            <a:spAutoFit/>
          </a:bodyPr>
          <a:lstStyle/>
          <a:p>
            <a:r>
              <a:rPr lang="en-US" dirty="0"/>
              <a:t>RNN</a:t>
            </a:r>
          </a:p>
        </p:txBody>
      </p:sp>
      <p:pic>
        <p:nvPicPr>
          <p:cNvPr id="21" name="Picture 20">
            <a:extLst>
              <a:ext uri="{FF2B5EF4-FFF2-40B4-BE49-F238E27FC236}">
                <a16:creationId xmlns:a16="http://schemas.microsoft.com/office/drawing/2014/main" id="{F254ED02-79A8-0AA1-990B-71A32A9AE1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1008387" y="2785685"/>
            <a:ext cx="1031007" cy="1286628"/>
          </a:xfrm>
          <a:prstGeom prst="rect">
            <a:avLst/>
          </a:prstGeom>
        </p:spPr>
      </p:pic>
      <p:sp>
        <p:nvSpPr>
          <p:cNvPr id="23" name="TextBox 22">
            <a:extLst>
              <a:ext uri="{FF2B5EF4-FFF2-40B4-BE49-F238E27FC236}">
                <a16:creationId xmlns:a16="http://schemas.microsoft.com/office/drawing/2014/main" id="{8B7814EB-DEAB-D6C7-22BC-6A935911CF0C}"/>
              </a:ext>
            </a:extLst>
          </p:cNvPr>
          <p:cNvSpPr txBox="1"/>
          <p:nvPr/>
        </p:nvSpPr>
        <p:spPr>
          <a:xfrm>
            <a:off x="1539029" y="4087183"/>
            <a:ext cx="859317" cy="369332"/>
          </a:xfrm>
          <a:prstGeom prst="rect">
            <a:avLst/>
          </a:prstGeom>
          <a:noFill/>
        </p:spPr>
        <p:txBody>
          <a:bodyPr wrap="square">
            <a:spAutoFit/>
          </a:bodyPr>
          <a:lstStyle/>
          <a:p>
            <a:pPr algn="ctr"/>
            <a:r>
              <a:rPr lang="en-US" sz="1800" dirty="0">
                <a:solidFill>
                  <a:schemeClr val="tx1"/>
                </a:solidFill>
              </a:rPr>
              <a:t>NN</a:t>
            </a:r>
            <a:endParaRPr lang="en-US" dirty="0">
              <a:solidFill>
                <a:schemeClr val="tx1"/>
              </a:solidFill>
            </a:endParaRPr>
          </a:p>
        </p:txBody>
      </p:sp>
    </p:spTree>
    <p:extLst>
      <p:ext uri="{BB962C8B-B14F-4D97-AF65-F5344CB8AC3E}">
        <p14:creationId xmlns:p14="http://schemas.microsoft.com/office/powerpoint/2010/main" val="2317583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bject 12">
            <a:extLst>
              <a:ext uri="{FF2B5EF4-FFF2-40B4-BE49-F238E27FC236}">
                <a16:creationId xmlns:a16="http://schemas.microsoft.com/office/drawing/2014/main" id="{5B30E18C-A078-CBC5-69FF-7A221FF8F2E6}"/>
              </a:ext>
            </a:extLst>
          </p:cNvPr>
          <p:cNvSpPr/>
          <p:nvPr/>
        </p:nvSpPr>
        <p:spPr>
          <a:xfrm>
            <a:off x="3626203" y="2768606"/>
            <a:ext cx="827405" cy="819150"/>
          </a:xfrm>
          <a:custGeom>
            <a:avLst/>
            <a:gdLst/>
            <a:ahLst/>
            <a:cxnLst/>
            <a:rect l="l" t="t" r="r" b="b"/>
            <a:pathLst>
              <a:path w="827404" h="819150">
                <a:moveTo>
                  <a:pt x="0" y="0"/>
                </a:moveTo>
                <a:lnTo>
                  <a:pt x="827384" y="0"/>
                </a:lnTo>
                <a:lnTo>
                  <a:pt x="827384" y="818587"/>
                </a:lnTo>
                <a:lnTo>
                  <a:pt x="0" y="818587"/>
                </a:lnTo>
                <a:lnTo>
                  <a:pt x="0" y="0"/>
                </a:lnTo>
                <a:close/>
              </a:path>
            </a:pathLst>
          </a:custGeom>
          <a:ln w="19050">
            <a:solidFill>
              <a:srgbClr val="0000FF"/>
            </a:solidFill>
          </a:ln>
        </p:spPr>
        <p:txBody>
          <a:bodyPr wrap="square" lIns="0" tIns="0" rIns="0" bIns="0" rtlCol="0"/>
          <a:lstStyle/>
          <a:p>
            <a:endParaRPr/>
          </a:p>
        </p:txBody>
      </p:sp>
      <p:sp>
        <p:nvSpPr>
          <p:cNvPr id="16" name="object 13">
            <a:extLst>
              <a:ext uri="{FF2B5EF4-FFF2-40B4-BE49-F238E27FC236}">
                <a16:creationId xmlns:a16="http://schemas.microsoft.com/office/drawing/2014/main" id="{BF893CF7-85B7-724C-0677-08819A654465}"/>
              </a:ext>
            </a:extLst>
          </p:cNvPr>
          <p:cNvSpPr/>
          <p:nvPr/>
        </p:nvSpPr>
        <p:spPr>
          <a:xfrm>
            <a:off x="6053075" y="2796132"/>
            <a:ext cx="1416356" cy="819150"/>
          </a:xfrm>
          <a:custGeom>
            <a:avLst/>
            <a:gdLst/>
            <a:ahLst/>
            <a:cxnLst/>
            <a:rect l="l" t="t" r="r" b="b"/>
            <a:pathLst>
              <a:path w="1252220" h="819150">
                <a:moveTo>
                  <a:pt x="0" y="0"/>
                </a:moveTo>
                <a:lnTo>
                  <a:pt x="1252074" y="0"/>
                </a:lnTo>
                <a:lnTo>
                  <a:pt x="1252074" y="818587"/>
                </a:lnTo>
                <a:lnTo>
                  <a:pt x="0" y="818587"/>
                </a:lnTo>
                <a:lnTo>
                  <a:pt x="0" y="0"/>
                </a:lnTo>
                <a:close/>
              </a:path>
            </a:pathLst>
          </a:custGeom>
          <a:ln w="19050">
            <a:solidFill>
              <a:srgbClr val="38761D"/>
            </a:solidFill>
          </a:ln>
        </p:spPr>
        <p:txBody>
          <a:bodyPr wrap="square" lIns="0" tIns="0" rIns="0" bIns="0" rtlCol="0"/>
          <a:lstStyle/>
          <a:p>
            <a:endParaRPr/>
          </a:p>
        </p:txBody>
      </p:sp>
      <p:sp>
        <p:nvSpPr>
          <p:cNvPr id="17" name="object 14">
            <a:extLst>
              <a:ext uri="{FF2B5EF4-FFF2-40B4-BE49-F238E27FC236}">
                <a16:creationId xmlns:a16="http://schemas.microsoft.com/office/drawing/2014/main" id="{1F0CEC70-4724-2583-6CD3-F2A24D5E92B1}"/>
              </a:ext>
            </a:extLst>
          </p:cNvPr>
          <p:cNvSpPr/>
          <p:nvPr/>
        </p:nvSpPr>
        <p:spPr>
          <a:xfrm>
            <a:off x="7702181" y="2796132"/>
            <a:ext cx="827405" cy="819150"/>
          </a:xfrm>
          <a:custGeom>
            <a:avLst/>
            <a:gdLst/>
            <a:ahLst/>
            <a:cxnLst/>
            <a:rect l="l" t="t" r="r" b="b"/>
            <a:pathLst>
              <a:path w="731520" h="819150">
                <a:moveTo>
                  <a:pt x="0" y="0"/>
                </a:moveTo>
                <a:lnTo>
                  <a:pt x="731409" y="0"/>
                </a:lnTo>
                <a:lnTo>
                  <a:pt x="731409" y="818587"/>
                </a:lnTo>
                <a:lnTo>
                  <a:pt x="0" y="818587"/>
                </a:lnTo>
                <a:lnTo>
                  <a:pt x="0" y="0"/>
                </a:lnTo>
                <a:close/>
              </a:path>
            </a:pathLst>
          </a:custGeom>
          <a:ln w="19050">
            <a:solidFill>
              <a:srgbClr val="FF0000"/>
            </a:solidFill>
          </a:ln>
        </p:spPr>
        <p:txBody>
          <a:bodyPr wrap="square" lIns="0" tIns="0" rIns="0" bIns="0" rtlCol="0"/>
          <a:lstStyle/>
          <a:p>
            <a:endParaRPr/>
          </a:p>
        </p:txBody>
      </p:sp>
      <p:sp>
        <p:nvSpPr>
          <p:cNvPr id="18" name="object 15">
            <a:extLst>
              <a:ext uri="{FF2B5EF4-FFF2-40B4-BE49-F238E27FC236}">
                <a16:creationId xmlns:a16="http://schemas.microsoft.com/office/drawing/2014/main" id="{6EC1AED4-6E0F-2C54-57EB-B48C3F5CB474}"/>
              </a:ext>
            </a:extLst>
          </p:cNvPr>
          <p:cNvSpPr/>
          <p:nvPr/>
        </p:nvSpPr>
        <p:spPr>
          <a:xfrm>
            <a:off x="5105807" y="2768606"/>
            <a:ext cx="728313" cy="819150"/>
          </a:xfrm>
          <a:custGeom>
            <a:avLst/>
            <a:gdLst/>
            <a:ahLst/>
            <a:cxnLst/>
            <a:rect l="l" t="t" r="r" b="b"/>
            <a:pathLst>
              <a:path w="959484" h="819150">
                <a:moveTo>
                  <a:pt x="0" y="0"/>
                </a:moveTo>
                <a:lnTo>
                  <a:pt x="959350" y="0"/>
                </a:lnTo>
                <a:lnTo>
                  <a:pt x="959350" y="818587"/>
                </a:lnTo>
                <a:lnTo>
                  <a:pt x="0" y="818587"/>
                </a:lnTo>
                <a:lnTo>
                  <a:pt x="0" y="0"/>
                </a:lnTo>
                <a:close/>
              </a:path>
            </a:pathLst>
          </a:custGeom>
          <a:ln w="19050">
            <a:solidFill>
              <a:srgbClr val="9900FF"/>
            </a:solidFill>
          </a:ln>
        </p:spPr>
        <p:txBody>
          <a:bodyPr wrap="square" lIns="0" tIns="0" rIns="0" bIns="0" rtlCol="0"/>
          <a:lstStyle/>
          <a:p>
            <a:endParaRPr/>
          </a:p>
        </p:txBody>
      </p:sp>
      <p:sp>
        <p:nvSpPr>
          <p:cNvPr id="21" name="object 18">
            <a:extLst>
              <a:ext uri="{FF2B5EF4-FFF2-40B4-BE49-F238E27FC236}">
                <a16:creationId xmlns:a16="http://schemas.microsoft.com/office/drawing/2014/main" id="{7A53EE68-22E4-AE17-E2EB-1EF1B363176F}"/>
              </a:ext>
            </a:extLst>
          </p:cNvPr>
          <p:cNvSpPr/>
          <p:nvPr/>
        </p:nvSpPr>
        <p:spPr>
          <a:xfrm>
            <a:off x="5408371" y="3688766"/>
            <a:ext cx="227965" cy="907415"/>
          </a:xfrm>
          <a:custGeom>
            <a:avLst/>
            <a:gdLst/>
            <a:ahLst/>
            <a:cxnLst/>
            <a:rect l="l" t="t" r="r" b="b"/>
            <a:pathLst>
              <a:path w="227965" h="907414">
                <a:moveTo>
                  <a:pt x="0" y="906964"/>
                </a:moveTo>
                <a:lnTo>
                  <a:pt x="227941" y="0"/>
                </a:lnTo>
              </a:path>
            </a:pathLst>
          </a:custGeom>
          <a:ln w="9525">
            <a:solidFill>
              <a:srgbClr val="9900FF"/>
            </a:solidFill>
          </a:ln>
        </p:spPr>
        <p:txBody>
          <a:bodyPr wrap="square" lIns="0" tIns="0" rIns="0" bIns="0" rtlCol="0"/>
          <a:lstStyle/>
          <a:p>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A0B3FC-D593-8E5B-EB42-23D0A59AB813}"/>
                  </a:ext>
                </a:extLst>
              </p:cNvPr>
              <p:cNvSpPr txBox="1"/>
              <p:nvPr/>
            </p:nvSpPr>
            <p:spPr>
              <a:xfrm>
                <a:off x="3167245" y="2791309"/>
                <a:ext cx="6100900" cy="8153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sz="4400" i="1" smtClean="0">
                              <a:latin typeface="Cambria Math" panose="02040503050406030204" pitchFamily="18" charset="0"/>
                            </a:rPr>
                          </m:ctrlPr>
                        </m:sSupPr>
                        <m:e>
                          <m:r>
                            <a:rPr lang="en-US" altLang="zh-CN" sz="4400" i="1">
                              <a:latin typeface="Cambria Math" panose="02040503050406030204" pitchFamily="18" charset="0"/>
                            </a:rPr>
                            <m:t>h</m:t>
                          </m:r>
                        </m:e>
                        <m:sup>
                          <m:r>
                            <a:rPr lang="en-US" altLang="zh-CN" sz="4400" i="1">
                              <a:latin typeface="Cambria Math" panose="02040503050406030204" pitchFamily="18" charset="0"/>
                            </a:rPr>
                            <m:t>(</m:t>
                          </m:r>
                          <m:r>
                            <a:rPr lang="en-US" altLang="zh-CN" sz="4400" i="1">
                              <a:latin typeface="Cambria Math" panose="02040503050406030204" pitchFamily="18" charset="0"/>
                            </a:rPr>
                            <m:t>𝑡</m:t>
                          </m:r>
                          <m:r>
                            <a:rPr lang="en-US" altLang="zh-CN" sz="4400" i="1">
                              <a:latin typeface="Cambria Math" panose="02040503050406030204" pitchFamily="18" charset="0"/>
                            </a:rPr>
                            <m:t>)</m:t>
                          </m:r>
                        </m:sup>
                      </m:sSup>
                      <m:r>
                        <a:rPr lang="en-US" altLang="zh-CN" sz="4400" b="0" i="1" smtClean="0">
                          <a:latin typeface="Cambria Math" panose="02040503050406030204" pitchFamily="18" charset="0"/>
                        </a:rPr>
                        <m:t>=</m:t>
                      </m:r>
                      <m:sSub>
                        <m:sSubPr>
                          <m:ctrlPr>
                            <a:rPr lang="en-US" altLang="zh-CN" sz="4400" b="0" i="1" smtClean="0">
                              <a:latin typeface="Cambria Math" panose="02040503050406030204" pitchFamily="18" charset="0"/>
                            </a:rPr>
                          </m:ctrlPr>
                        </m:sSubPr>
                        <m:e>
                          <m:r>
                            <a:rPr lang="en-US" altLang="zh-CN" sz="4400" b="0" i="1" smtClean="0">
                              <a:latin typeface="Cambria Math" panose="02040503050406030204" pitchFamily="18" charset="0"/>
                            </a:rPr>
                            <m:t>𝑓</m:t>
                          </m:r>
                        </m:e>
                        <m:sub>
                          <m:r>
                            <a:rPr lang="en-US" altLang="zh-CN" sz="4400" b="0" i="1" smtClean="0">
                              <a:latin typeface="Cambria Math" panose="02040503050406030204" pitchFamily="18" charset="0"/>
                            </a:rPr>
                            <m:t>𝑊</m:t>
                          </m:r>
                        </m:sub>
                      </m:sSub>
                      <m:r>
                        <a:rPr lang="en-US" altLang="zh-CN" sz="4400" b="0" i="1" smtClean="0">
                          <a:latin typeface="Cambria Math" panose="02040503050406030204" pitchFamily="18" charset="0"/>
                        </a:rPr>
                        <m:t>(</m:t>
                      </m:r>
                      <m:sSup>
                        <m:sSupPr>
                          <m:ctrlPr>
                            <a:rPr lang="en-US" altLang="zh-CN" sz="4400" i="1">
                              <a:latin typeface="Cambria Math" panose="02040503050406030204" pitchFamily="18" charset="0"/>
                            </a:rPr>
                          </m:ctrlPr>
                        </m:sSupPr>
                        <m:e>
                          <m:r>
                            <a:rPr lang="en-US" altLang="zh-CN" sz="4400" i="1">
                              <a:latin typeface="Cambria Math" panose="02040503050406030204" pitchFamily="18" charset="0"/>
                            </a:rPr>
                            <m:t>h</m:t>
                          </m:r>
                        </m:e>
                        <m:sup>
                          <m:d>
                            <m:dPr>
                              <m:ctrlPr>
                                <a:rPr lang="en-US" altLang="zh-CN" sz="4400" i="1">
                                  <a:latin typeface="Cambria Math" panose="02040503050406030204" pitchFamily="18" charset="0"/>
                                </a:rPr>
                              </m:ctrlPr>
                            </m:dPr>
                            <m:e>
                              <m:r>
                                <a:rPr lang="en-US" altLang="zh-CN" sz="4400" i="1">
                                  <a:latin typeface="Cambria Math" panose="02040503050406030204" pitchFamily="18" charset="0"/>
                                </a:rPr>
                                <m:t>𝑡</m:t>
                              </m:r>
                              <m:r>
                                <a:rPr lang="en-US" altLang="zh-CN" sz="4400" i="1">
                                  <a:latin typeface="Cambria Math" panose="02040503050406030204" pitchFamily="18" charset="0"/>
                                </a:rPr>
                                <m:t>−1</m:t>
                              </m:r>
                            </m:e>
                          </m:d>
                        </m:sup>
                      </m:sSup>
                      <m:r>
                        <a:rPr lang="en-US" altLang="zh-CN" sz="4400" b="0" i="1" smtClean="0">
                          <a:latin typeface="Cambria Math" panose="02040503050406030204" pitchFamily="18" charset="0"/>
                        </a:rPr>
                        <m:t>,</m:t>
                      </m:r>
                      <m:sSup>
                        <m:sSupPr>
                          <m:ctrlPr>
                            <a:rPr lang="en-US" altLang="zh-CN" sz="4400" i="1">
                              <a:latin typeface="Cambria Math" panose="02040503050406030204" pitchFamily="18" charset="0"/>
                            </a:rPr>
                          </m:ctrlPr>
                        </m:sSupPr>
                        <m:e>
                          <m:r>
                            <a:rPr lang="en-US" altLang="zh-CN" sz="4400" i="1">
                              <a:latin typeface="Cambria Math" panose="02040503050406030204" pitchFamily="18" charset="0"/>
                            </a:rPr>
                            <m:t>𝑥</m:t>
                          </m:r>
                        </m:e>
                        <m:sup>
                          <m:r>
                            <a:rPr lang="en-US" altLang="zh-CN" sz="4400" i="1">
                              <a:latin typeface="Cambria Math" panose="02040503050406030204" pitchFamily="18" charset="0"/>
                            </a:rPr>
                            <m:t>(</m:t>
                          </m:r>
                          <m:r>
                            <a:rPr lang="en-US" altLang="zh-CN" sz="4400" i="1">
                              <a:latin typeface="Cambria Math" panose="02040503050406030204" pitchFamily="18" charset="0"/>
                            </a:rPr>
                            <m:t>𝑡</m:t>
                          </m:r>
                          <m:r>
                            <a:rPr lang="en-US" altLang="zh-CN" sz="4400" i="1">
                              <a:latin typeface="Cambria Math" panose="02040503050406030204" pitchFamily="18" charset="0"/>
                            </a:rPr>
                            <m:t>)</m:t>
                          </m:r>
                        </m:sup>
                      </m:sSup>
                      <m:r>
                        <a:rPr lang="en-US" altLang="zh-CN" sz="4400" b="0" i="1" smtClean="0">
                          <a:latin typeface="Cambria Math" panose="02040503050406030204" pitchFamily="18" charset="0"/>
                        </a:rPr>
                        <m:t>)</m:t>
                      </m:r>
                    </m:oMath>
                  </m:oMathPara>
                </a14:m>
                <a:endParaRPr lang="en-US" sz="4400"/>
              </a:p>
            </p:txBody>
          </p:sp>
        </mc:Choice>
        <mc:Fallback xmlns="">
          <p:sp>
            <p:nvSpPr>
              <p:cNvPr id="10" name="TextBox 9">
                <a:extLst>
                  <a:ext uri="{FF2B5EF4-FFF2-40B4-BE49-F238E27FC236}">
                    <a16:creationId xmlns:a16="http://schemas.microsoft.com/office/drawing/2014/main" id="{15A0B3FC-D593-8E5B-EB42-23D0A59AB813}"/>
                  </a:ext>
                </a:extLst>
              </p:cNvPr>
              <p:cNvSpPr txBox="1">
                <a:spLocks noRot="1" noChangeAspect="1" noMove="1" noResize="1" noEditPoints="1" noAdjustHandles="1" noChangeArrowheads="1" noChangeShapeType="1" noTextEdit="1"/>
              </p:cNvSpPr>
              <p:nvPr/>
            </p:nvSpPr>
            <p:spPr>
              <a:xfrm>
                <a:off x="3167245" y="2791309"/>
                <a:ext cx="6100900" cy="815351"/>
              </a:xfrm>
              <a:prstGeom prst="rect">
                <a:avLst/>
              </a:prstGeom>
              <a:blipFill>
                <a:blip r:embed="rId5"/>
                <a:stretch>
                  <a:fillRect b="-22727"/>
                </a:stretch>
              </a:blipFill>
            </p:spPr>
            <p:txBody>
              <a:bodyPr/>
              <a:lstStyle/>
              <a:p>
                <a:r>
                  <a:rPr lang="en-US">
                    <a:noFill/>
                  </a:rPr>
                  <a:t> </a:t>
                </a:r>
              </a:p>
            </p:txBody>
          </p:sp>
        </mc:Fallback>
      </mc:AlternateContent>
      <p:grpSp>
        <p:nvGrpSpPr>
          <p:cNvPr id="27" name="Group 26">
            <a:extLst>
              <a:ext uri="{FF2B5EF4-FFF2-40B4-BE49-F238E27FC236}">
                <a16:creationId xmlns:a16="http://schemas.microsoft.com/office/drawing/2014/main" id="{08DC8BE7-53E2-0E52-3FD1-56733F02693F}"/>
              </a:ext>
            </a:extLst>
          </p:cNvPr>
          <p:cNvGrpSpPr/>
          <p:nvPr/>
        </p:nvGrpSpPr>
        <p:grpSpPr>
          <a:xfrm>
            <a:off x="0" y="-1589"/>
            <a:ext cx="12191999" cy="768585"/>
            <a:chOff x="0" y="-1589"/>
            <a:chExt cx="12191999" cy="768585"/>
          </a:xfrm>
        </p:grpSpPr>
        <p:grpSp>
          <p:nvGrpSpPr>
            <p:cNvPr id="5" name="Group 9">
              <a:extLst>
                <a:ext uri="{FF2B5EF4-FFF2-40B4-BE49-F238E27FC236}">
                  <a16:creationId xmlns:a16="http://schemas.microsoft.com/office/drawing/2014/main" id="{055F9AD4-D3B1-FB5E-E40F-92CA2E23D91C}"/>
                </a:ext>
              </a:extLst>
            </p:cNvPr>
            <p:cNvGrpSpPr>
              <a:grpSpLocks noChangeAspect="1"/>
            </p:cNvGrpSpPr>
            <p:nvPr/>
          </p:nvGrpSpPr>
          <p:grpSpPr bwMode="auto">
            <a:xfrm>
              <a:off x="0" y="-1589"/>
              <a:ext cx="12191999" cy="767234"/>
              <a:chOff x="-1" y="-1"/>
              <a:chExt cx="7719" cy="568"/>
            </a:xfrm>
          </p:grpSpPr>
          <p:sp>
            <p:nvSpPr>
              <p:cNvPr id="11" name="Freeform 10">
                <a:extLst>
                  <a:ext uri="{FF2B5EF4-FFF2-40B4-BE49-F238E27FC236}">
                    <a16:creationId xmlns:a16="http://schemas.microsoft.com/office/drawing/2014/main" id="{AF91DE41-EBC4-A0D8-FF9A-868E5C83F0F9}"/>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2" name="AutoShape 8">
                <a:extLst>
                  <a:ext uri="{FF2B5EF4-FFF2-40B4-BE49-F238E27FC236}">
                    <a16:creationId xmlns:a16="http://schemas.microsoft.com/office/drawing/2014/main" id="{12C92241-88D5-3BD2-9C44-1A66078319D8}"/>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14" name="任意多边形: 形状 12">
              <a:extLst>
                <a:ext uri="{FF2B5EF4-FFF2-40B4-BE49-F238E27FC236}">
                  <a16:creationId xmlns:a16="http://schemas.microsoft.com/office/drawing/2014/main" id="{80FB56ED-8E45-0E3E-9001-C4DC21DB219D}"/>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23" name="文本框 18">
              <a:extLst>
                <a:ext uri="{FF2B5EF4-FFF2-40B4-BE49-F238E27FC236}">
                  <a16:creationId xmlns:a16="http://schemas.microsoft.com/office/drawing/2014/main" id="{663142C1-7226-EDED-ECAF-3295D4554091}"/>
                </a:ext>
              </a:extLst>
            </p:cNvPr>
            <p:cNvSpPr txBox="1"/>
            <p:nvPr/>
          </p:nvSpPr>
          <p:spPr>
            <a:xfrm>
              <a:off x="350439" y="120418"/>
              <a:ext cx="335861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1">
                  <a:solidFill>
                    <a:prstClr val="white"/>
                  </a:solidFill>
                  <a:cs typeface="+mn-ea"/>
                  <a:sym typeface="+mn-lt"/>
                </a:rPr>
                <a:t>循环神经网络</a:t>
              </a:r>
              <a:r>
                <a:rPr kumimoji="0" lang="en-US" altLang="zh-CN" sz="2800" b="1" i="0" u="none" strike="noStrike" kern="1200" cap="none" spc="0" normalizeH="0" baseline="0" noProof="0">
                  <a:ln>
                    <a:noFill/>
                  </a:ln>
                  <a:solidFill>
                    <a:prstClr val="white"/>
                  </a:solidFill>
                  <a:effectLst/>
                  <a:uLnTx/>
                  <a:uFillTx/>
                  <a:cs typeface="+mn-ea"/>
                  <a:sym typeface="+mn-lt"/>
                </a:rPr>
                <a:t>(RNN)</a:t>
              </a:r>
              <a:endParaRPr kumimoji="0" lang="zh-CN" altLang="en-US" sz="2800" b="1" i="0" u="none" strike="noStrike" kern="1200" cap="none" spc="0" normalizeH="0" baseline="0" noProof="0">
                <a:ln>
                  <a:noFill/>
                </a:ln>
                <a:solidFill>
                  <a:prstClr val="white"/>
                </a:solidFill>
                <a:effectLst/>
                <a:uLnTx/>
                <a:uFillTx/>
                <a:cs typeface="+mn-ea"/>
                <a:sym typeface="+mn-lt"/>
              </a:endParaRPr>
            </a:p>
          </p:txBody>
        </p:sp>
      </p:grpSp>
      <mc:AlternateContent xmlns:mc="http://schemas.openxmlformats.org/markup-compatibility/2006" xmlns:a14="http://schemas.microsoft.com/office/drawing/2010/main">
        <mc:Choice Requires="a14">
          <p:sp>
            <p:nvSpPr>
              <p:cNvPr id="2" name="object 9">
                <a:extLst>
                  <a:ext uri="{FF2B5EF4-FFF2-40B4-BE49-F238E27FC236}">
                    <a16:creationId xmlns:a16="http://schemas.microsoft.com/office/drawing/2014/main" id="{6BD50410-F75E-0C25-52DA-281292361B1B}"/>
                  </a:ext>
                </a:extLst>
              </p:cNvPr>
              <p:cNvSpPr txBox="1"/>
              <p:nvPr/>
            </p:nvSpPr>
            <p:spPr>
              <a:xfrm>
                <a:off x="3626203" y="1320879"/>
                <a:ext cx="8600353" cy="382156"/>
              </a:xfrm>
              <a:prstGeom prst="rect">
                <a:avLst/>
              </a:prstGeom>
            </p:spPr>
            <p:txBody>
              <a:bodyPr vert="horz" wrap="square" lIns="0" tIns="12700" rIns="0" bIns="0" rtlCol="0">
                <a:spAutoFit/>
              </a:bodyPr>
              <a:lstStyle/>
              <a:p>
                <a:pPr marL="12700" algn="l">
                  <a:lnSpc>
                    <a:spcPct val="100000"/>
                  </a:lnSpc>
                  <a:spcBef>
                    <a:spcPts val="100"/>
                  </a:spcBef>
                </a:pPr>
                <a:r>
                  <a:rPr lang="zh-CN" altLang="en-US" sz="2400" b="1" dirty="0">
                    <a:solidFill>
                      <a:srgbClr val="000000"/>
                    </a:solidFill>
                    <a:latin typeface="Arial"/>
                    <a:cs typeface="Arial"/>
                  </a:rPr>
                  <a:t>通过在每个时间步骤应用递归公式处理向量 </a:t>
                </a:r>
                <a14:m>
                  <m:oMath xmlns:m="http://schemas.openxmlformats.org/officeDocument/2006/math">
                    <m:r>
                      <a:rPr lang="en-US" sz="2400" b="1" i="1" dirty="0" smtClean="0">
                        <a:solidFill>
                          <a:srgbClr val="000000"/>
                        </a:solidFill>
                        <a:latin typeface="Cambria Math" panose="02040503050406030204" pitchFamily="18" charset="0"/>
                        <a:cs typeface="Arial"/>
                      </a:rPr>
                      <m:t>𝒙</m:t>
                    </m:r>
                  </m:oMath>
                </a14:m>
                <a:r>
                  <a:rPr lang="en-US" sz="2400" b="1" dirty="0">
                    <a:solidFill>
                      <a:srgbClr val="000000"/>
                    </a:solidFill>
                    <a:latin typeface="Arial"/>
                    <a:cs typeface="Arial"/>
                  </a:rPr>
                  <a:t> </a:t>
                </a:r>
                <a:r>
                  <a:rPr lang="zh-CN" altLang="en-US" sz="2400" b="1" dirty="0">
                    <a:solidFill>
                      <a:srgbClr val="000000"/>
                    </a:solidFill>
                    <a:latin typeface="Arial"/>
                    <a:cs typeface="Arial"/>
                  </a:rPr>
                  <a:t>序列：</a:t>
                </a:r>
                <a:endParaRPr lang="en-US" sz="3200" dirty="0">
                  <a:cs typeface="Arial"/>
                </a:endParaRPr>
              </a:p>
            </p:txBody>
          </p:sp>
        </mc:Choice>
        <mc:Fallback xmlns="">
          <p:sp>
            <p:nvSpPr>
              <p:cNvPr id="2" name="object 9">
                <a:extLst>
                  <a:ext uri="{FF2B5EF4-FFF2-40B4-BE49-F238E27FC236}">
                    <a16:creationId xmlns:a16="http://schemas.microsoft.com/office/drawing/2014/main" id="{6BD50410-F75E-0C25-52DA-281292361B1B}"/>
                  </a:ext>
                </a:extLst>
              </p:cNvPr>
              <p:cNvSpPr txBox="1">
                <a:spLocks noRot="1" noChangeAspect="1" noMove="1" noResize="1" noEditPoints="1" noAdjustHandles="1" noChangeArrowheads="1" noChangeShapeType="1" noTextEdit="1"/>
              </p:cNvSpPr>
              <p:nvPr/>
            </p:nvSpPr>
            <p:spPr>
              <a:xfrm>
                <a:off x="3626203" y="1320879"/>
                <a:ext cx="8600353" cy="382156"/>
              </a:xfrm>
              <a:prstGeom prst="rect">
                <a:avLst/>
              </a:prstGeom>
              <a:blipFill>
                <a:blip r:embed="rId6"/>
                <a:stretch>
                  <a:fillRect l="-2065" t="-23333"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object 17">
                <a:extLst>
                  <a:ext uri="{FF2B5EF4-FFF2-40B4-BE49-F238E27FC236}">
                    <a16:creationId xmlns:a16="http://schemas.microsoft.com/office/drawing/2014/main" id="{98D96EC9-2C20-DB33-C0A3-3D946EDF307E}"/>
                  </a:ext>
                </a:extLst>
              </p:cNvPr>
              <p:cNvSpPr txBox="1"/>
              <p:nvPr/>
            </p:nvSpPr>
            <p:spPr>
              <a:xfrm>
                <a:off x="7891752" y="3686390"/>
                <a:ext cx="2660309" cy="382156"/>
              </a:xfrm>
              <a:prstGeom prst="rect">
                <a:avLst/>
              </a:prstGeom>
            </p:spPr>
            <p:txBody>
              <a:bodyPr vert="horz" wrap="square" lIns="0" tIns="12700" rIns="0" bIns="0" rtlCol="0">
                <a:spAutoFit/>
              </a:bodyPr>
              <a:lstStyle/>
              <a:p>
                <a:pPr marL="12700" marR="5080" algn="l">
                  <a:lnSpc>
                    <a:spcPct val="100000"/>
                  </a:lnSpc>
                  <a:spcBef>
                    <a:spcPts val="100"/>
                  </a:spcBef>
                </a:pPr>
                <a14:m>
                  <m:oMath xmlns:m="http://schemas.openxmlformats.org/officeDocument/2006/math">
                    <m:r>
                      <a:rPr lang="en-US" sz="2400" b="1" i="1" spc="-30" dirty="0" smtClean="0">
                        <a:solidFill>
                          <a:srgbClr val="000000"/>
                        </a:solidFill>
                        <a:latin typeface="Cambria Math" panose="02040503050406030204" pitchFamily="18" charset="0"/>
                        <a:cs typeface="Arial"/>
                      </a:rPr>
                      <m:t>𝒕</m:t>
                    </m:r>
                  </m:oMath>
                </a14:m>
                <a:r>
                  <a:rPr lang="en-US" sz="2400" b="1" spc="-30" dirty="0" err="1">
                    <a:solidFill>
                      <a:srgbClr val="000000"/>
                    </a:solidFill>
                    <a:latin typeface="Arial"/>
                    <a:cs typeface="Arial"/>
                  </a:rPr>
                  <a:t>时间步的输入向量</a:t>
                </a:r>
                <a:endParaRPr sz="3200" dirty="0">
                  <a:latin typeface="Arial"/>
                  <a:cs typeface="Arial"/>
                </a:endParaRPr>
              </a:p>
            </p:txBody>
          </p:sp>
        </mc:Choice>
        <mc:Fallback xmlns="">
          <p:sp>
            <p:nvSpPr>
              <p:cNvPr id="19" name="object 17">
                <a:extLst>
                  <a:ext uri="{FF2B5EF4-FFF2-40B4-BE49-F238E27FC236}">
                    <a16:creationId xmlns:a16="http://schemas.microsoft.com/office/drawing/2014/main" id="{98D96EC9-2C20-DB33-C0A3-3D946EDF307E}"/>
                  </a:ext>
                </a:extLst>
              </p:cNvPr>
              <p:cNvSpPr txBox="1">
                <a:spLocks noRot="1" noChangeAspect="1" noMove="1" noResize="1" noEditPoints="1" noAdjustHandles="1" noChangeArrowheads="1" noChangeShapeType="1" noTextEdit="1"/>
              </p:cNvSpPr>
              <p:nvPr/>
            </p:nvSpPr>
            <p:spPr>
              <a:xfrm>
                <a:off x="7891752" y="3686390"/>
                <a:ext cx="2660309" cy="382156"/>
              </a:xfrm>
              <a:prstGeom prst="rect">
                <a:avLst/>
              </a:prstGeom>
              <a:blipFill>
                <a:blip r:embed="rId7"/>
                <a:stretch>
                  <a:fillRect l="-3333" t="-22581" r="-2857" b="-48387"/>
                </a:stretch>
              </a:blipFill>
            </p:spPr>
            <p:txBody>
              <a:bodyPr/>
              <a:lstStyle/>
              <a:p>
                <a:r>
                  <a:rPr lang="en-US">
                    <a:noFill/>
                  </a:rPr>
                  <a:t> </a:t>
                </a:r>
              </a:p>
            </p:txBody>
          </p:sp>
        </mc:Fallback>
      </mc:AlternateContent>
      <p:sp>
        <p:nvSpPr>
          <p:cNvPr id="25" name="object 19">
            <a:extLst>
              <a:ext uri="{FF2B5EF4-FFF2-40B4-BE49-F238E27FC236}">
                <a16:creationId xmlns:a16="http://schemas.microsoft.com/office/drawing/2014/main" id="{4F09AD6D-B973-EDED-30DA-E3CE282564D0}"/>
              </a:ext>
            </a:extLst>
          </p:cNvPr>
          <p:cNvSpPr txBox="1"/>
          <p:nvPr/>
        </p:nvSpPr>
        <p:spPr>
          <a:xfrm>
            <a:off x="4065225" y="5808910"/>
            <a:ext cx="7773628" cy="381515"/>
          </a:xfrm>
          <a:prstGeom prst="rect">
            <a:avLst/>
          </a:prstGeom>
        </p:spPr>
        <p:txBody>
          <a:bodyPr vert="horz" wrap="square" lIns="0" tIns="12065" rIns="0" bIns="0" rtlCol="0">
            <a:spAutoFit/>
          </a:bodyPr>
          <a:lstStyle/>
          <a:p>
            <a:pPr marL="12700" marR="5080" algn="l">
              <a:lnSpc>
                <a:spcPct val="100099"/>
              </a:lnSpc>
              <a:spcBef>
                <a:spcPts val="95"/>
              </a:spcBef>
            </a:pPr>
            <a:r>
              <a:rPr lang="zh-CN" altLang="en-US" sz="2400" b="1" dirty="0">
                <a:solidFill>
                  <a:srgbClr val="000000"/>
                </a:solidFill>
                <a:latin typeface="Arial"/>
                <a:cs typeface="Arial"/>
              </a:rPr>
              <a:t>注意：</a:t>
            </a:r>
            <a:r>
              <a:rPr lang="zh-CN" altLang="en-US" sz="2400" dirty="0">
                <a:solidFill>
                  <a:srgbClr val="000000"/>
                </a:solidFill>
                <a:latin typeface="Arial"/>
                <a:cs typeface="Arial"/>
              </a:rPr>
              <a:t>每个时间步骤都使用相同的函数和同一组参数。</a:t>
            </a:r>
            <a:endParaRPr lang="en-US" sz="3200" dirty="0">
              <a:cs typeface="Arial"/>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6020E4B-ECD7-F5CF-65E0-1D51EE915372}"/>
                  </a:ext>
                </a:extLst>
              </p:cNvPr>
              <p:cNvSpPr txBox="1"/>
              <p:nvPr/>
            </p:nvSpPr>
            <p:spPr>
              <a:xfrm>
                <a:off x="9157855" y="2258536"/>
                <a:ext cx="1665328" cy="461665"/>
              </a:xfrm>
              <a:prstGeom prst="rect">
                <a:avLst/>
              </a:prstGeom>
              <a:noFill/>
            </p:spPr>
            <p:txBody>
              <a:bodyPr wrap="none" rtlCol="0">
                <a:spAutoFit/>
              </a:bodyPr>
              <a:lstStyle/>
              <a:p>
                <a14:m>
                  <m:oMath xmlns:m="http://schemas.openxmlformats.org/officeDocument/2006/math">
                    <m:r>
                      <a:rPr lang="en-US" altLang="zh-CN" sz="2400" b="0" i="1" smtClean="0">
                        <a:latin typeface="Cambria Math" panose="02040503050406030204" pitchFamily="18" charset="0"/>
                      </a:rPr>
                      <m:t>𝑡</m:t>
                    </m:r>
                  </m:oMath>
                </a14:m>
                <a:r>
                  <a:rPr lang="zh-CN" altLang="en-US" sz="2400" dirty="0"/>
                  <a:t> 是时间步</a:t>
                </a:r>
                <a:endParaRPr lang="en-US" sz="2400" dirty="0"/>
              </a:p>
            </p:txBody>
          </p:sp>
        </mc:Choice>
        <mc:Fallback xmlns="">
          <p:sp>
            <p:nvSpPr>
              <p:cNvPr id="26" name="TextBox 25">
                <a:extLst>
                  <a:ext uri="{FF2B5EF4-FFF2-40B4-BE49-F238E27FC236}">
                    <a16:creationId xmlns:a16="http://schemas.microsoft.com/office/drawing/2014/main" id="{A6020E4B-ECD7-F5CF-65E0-1D51EE915372}"/>
                  </a:ext>
                </a:extLst>
              </p:cNvPr>
              <p:cNvSpPr txBox="1">
                <a:spLocks noRot="1" noChangeAspect="1" noMove="1" noResize="1" noEditPoints="1" noAdjustHandles="1" noChangeArrowheads="1" noChangeShapeType="1" noTextEdit="1"/>
              </p:cNvSpPr>
              <p:nvPr/>
            </p:nvSpPr>
            <p:spPr>
              <a:xfrm>
                <a:off x="9157855" y="2258536"/>
                <a:ext cx="1665328" cy="461665"/>
              </a:xfrm>
              <a:prstGeom prst="rect">
                <a:avLst/>
              </a:prstGeom>
              <a:blipFill>
                <a:blip r:embed="rId8"/>
                <a:stretch>
                  <a:fillRect t="-10526" r="-2256" b="-28947"/>
                </a:stretch>
              </a:blipFill>
            </p:spPr>
            <p:txBody>
              <a:bodyPr/>
              <a:lstStyle/>
              <a:p>
                <a:r>
                  <a:rPr lang="en-US">
                    <a:noFill/>
                  </a:rPr>
                  <a:t> </a:t>
                </a:r>
              </a:p>
            </p:txBody>
          </p:sp>
        </mc:Fallback>
      </mc:AlternateContent>
      <p:sp>
        <p:nvSpPr>
          <p:cNvPr id="31" name="object 17">
            <a:extLst>
              <a:ext uri="{FF2B5EF4-FFF2-40B4-BE49-F238E27FC236}">
                <a16:creationId xmlns:a16="http://schemas.microsoft.com/office/drawing/2014/main" id="{0849C81C-DA0E-E0B1-0885-F993FDAD9658}"/>
              </a:ext>
            </a:extLst>
          </p:cNvPr>
          <p:cNvSpPr txBox="1"/>
          <p:nvPr/>
        </p:nvSpPr>
        <p:spPr>
          <a:xfrm>
            <a:off x="3582169" y="3655594"/>
            <a:ext cx="1088968" cy="382156"/>
          </a:xfrm>
          <a:prstGeom prst="rect">
            <a:avLst/>
          </a:prstGeom>
        </p:spPr>
        <p:txBody>
          <a:bodyPr vert="horz" wrap="square" lIns="0" tIns="12700" rIns="0" bIns="0" rtlCol="0">
            <a:spAutoFit/>
          </a:bodyPr>
          <a:lstStyle/>
          <a:p>
            <a:pPr marL="12700" marR="5080" algn="l">
              <a:lnSpc>
                <a:spcPct val="100000"/>
              </a:lnSpc>
              <a:spcBef>
                <a:spcPts val="100"/>
              </a:spcBef>
            </a:pPr>
            <a:r>
              <a:rPr lang="en-US" sz="2400" b="1" spc="-30" dirty="0" err="1">
                <a:solidFill>
                  <a:srgbClr val="000000"/>
                </a:solidFill>
                <a:latin typeface="Arial"/>
                <a:cs typeface="Arial"/>
              </a:rPr>
              <a:t>新状态</a:t>
            </a:r>
            <a:endParaRPr sz="3200" dirty="0">
              <a:solidFill>
                <a:srgbClr val="4472C4"/>
              </a:solidFill>
              <a:latin typeface="Arial"/>
              <a:cs typeface="Arial"/>
            </a:endParaRPr>
          </a:p>
        </p:txBody>
      </p:sp>
      <p:sp>
        <p:nvSpPr>
          <p:cNvPr id="32" name="object 17">
            <a:extLst>
              <a:ext uri="{FF2B5EF4-FFF2-40B4-BE49-F238E27FC236}">
                <a16:creationId xmlns:a16="http://schemas.microsoft.com/office/drawing/2014/main" id="{D5CA6496-EB18-CCC4-841E-C4E847C1AF80}"/>
              </a:ext>
            </a:extLst>
          </p:cNvPr>
          <p:cNvSpPr txBox="1"/>
          <p:nvPr/>
        </p:nvSpPr>
        <p:spPr>
          <a:xfrm>
            <a:off x="4700193" y="4732252"/>
            <a:ext cx="1416355" cy="382156"/>
          </a:xfrm>
          <a:prstGeom prst="rect">
            <a:avLst/>
          </a:prstGeom>
        </p:spPr>
        <p:txBody>
          <a:bodyPr vert="horz" wrap="square" lIns="0" tIns="12700" rIns="0" bIns="0" rtlCol="0">
            <a:spAutoFit/>
          </a:bodyPr>
          <a:lstStyle/>
          <a:p>
            <a:pPr marL="12700" marR="5080" algn="l">
              <a:lnSpc>
                <a:spcPct val="100000"/>
              </a:lnSpc>
              <a:spcBef>
                <a:spcPts val="100"/>
              </a:spcBef>
            </a:pPr>
            <a:r>
              <a:rPr lang="en-US" sz="2400" b="1" spc="-30" err="1">
                <a:solidFill>
                  <a:srgbClr val="000000"/>
                </a:solidFill>
                <a:latin typeface="Arial"/>
                <a:cs typeface="Arial"/>
              </a:rPr>
              <a:t>一个函数</a:t>
            </a:r>
            <a:endParaRPr sz="3200">
              <a:solidFill>
                <a:srgbClr val="7030A0"/>
              </a:solidFill>
              <a:latin typeface="Arial"/>
              <a:cs typeface="Arial"/>
            </a:endParaRPr>
          </a:p>
        </p:txBody>
      </p:sp>
      <p:sp>
        <p:nvSpPr>
          <p:cNvPr id="33" name="object 17">
            <a:extLst>
              <a:ext uri="{FF2B5EF4-FFF2-40B4-BE49-F238E27FC236}">
                <a16:creationId xmlns:a16="http://schemas.microsoft.com/office/drawing/2014/main" id="{6B308BD3-C3C7-C239-F295-9FCD4CFC4405}"/>
              </a:ext>
            </a:extLst>
          </p:cNvPr>
          <p:cNvSpPr txBox="1"/>
          <p:nvPr/>
        </p:nvSpPr>
        <p:spPr>
          <a:xfrm>
            <a:off x="6118149" y="3677768"/>
            <a:ext cx="1416355" cy="382156"/>
          </a:xfrm>
          <a:prstGeom prst="rect">
            <a:avLst/>
          </a:prstGeom>
        </p:spPr>
        <p:txBody>
          <a:bodyPr vert="horz" wrap="square" lIns="0" tIns="12700" rIns="0" bIns="0" rtlCol="0">
            <a:spAutoFit/>
          </a:bodyPr>
          <a:lstStyle/>
          <a:p>
            <a:pPr marL="12700" marR="5080" algn="l">
              <a:lnSpc>
                <a:spcPct val="100000"/>
              </a:lnSpc>
              <a:spcBef>
                <a:spcPts val="100"/>
              </a:spcBef>
            </a:pPr>
            <a:r>
              <a:rPr lang="en-US" sz="2400" b="1" spc="-30" err="1">
                <a:solidFill>
                  <a:srgbClr val="000000"/>
                </a:solidFill>
                <a:latin typeface="Arial"/>
                <a:cs typeface="Arial"/>
              </a:rPr>
              <a:t>旧状态</a:t>
            </a:r>
            <a:endParaRPr sz="3200">
              <a:solidFill>
                <a:srgbClr val="7030A0"/>
              </a:solidFill>
              <a:latin typeface="Arial"/>
              <a:cs typeface="Arial"/>
            </a:endParaRPr>
          </a:p>
        </p:txBody>
      </p:sp>
      <p:sp>
        <p:nvSpPr>
          <p:cNvPr id="34" name="object 3">
            <a:extLst>
              <a:ext uri="{FF2B5EF4-FFF2-40B4-BE49-F238E27FC236}">
                <a16:creationId xmlns:a16="http://schemas.microsoft.com/office/drawing/2014/main" id="{1EE00CC8-0581-9B86-8AB9-67DD15F3E8B5}"/>
              </a:ext>
            </a:extLst>
          </p:cNvPr>
          <p:cNvSpPr txBox="1"/>
          <p:nvPr/>
        </p:nvSpPr>
        <p:spPr>
          <a:xfrm>
            <a:off x="1247106" y="4587805"/>
            <a:ext cx="560070" cy="1221105"/>
          </a:xfrm>
          <a:prstGeom prst="rect">
            <a:avLst/>
          </a:prstGeom>
          <a:solidFill>
            <a:srgbClr val="F4CCCC"/>
          </a:solidFill>
          <a:ln w="9525">
            <a:solidFill>
              <a:srgbClr val="000000"/>
            </a:solidFill>
          </a:ln>
        </p:spPr>
        <p:txBody>
          <a:bodyPr vert="horz" wrap="square" lIns="0" tIns="4445" rIns="0" bIns="0" rtlCol="0">
            <a:spAutoFit/>
          </a:bodyPr>
          <a:lstStyle/>
          <a:p>
            <a:pPr>
              <a:lnSpc>
                <a:spcPct val="100000"/>
              </a:lnSpc>
              <a:spcBef>
                <a:spcPts val="35"/>
              </a:spcBef>
            </a:pPr>
            <a:endParaRPr sz="2750">
              <a:latin typeface="Times New Roman"/>
              <a:cs typeface="Times New Roman"/>
            </a:endParaRPr>
          </a:p>
          <a:p>
            <a:pPr algn="ctr">
              <a:lnSpc>
                <a:spcPct val="100000"/>
              </a:lnSpc>
            </a:pPr>
            <a:r>
              <a:rPr sz="2400" spc="-165">
                <a:latin typeface="Arial"/>
                <a:cs typeface="Arial"/>
              </a:rPr>
              <a:t>x</a:t>
            </a:r>
            <a:endParaRPr sz="2400">
              <a:latin typeface="Arial"/>
              <a:cs typeface="Arial"/>
            </a:endParaRPr>
          </a:p>
        </p:txBody>
      </p:sp>
      <p:sp>
        <p:nvSpPr>
          <p:cNvPr id="35" name="object 5">
            <a:extLst>
              <a:ext uri="{FF2B5EF4-FFF2-40B4-BE49-F238E27FC236}">
                <a16:creationId xmlns:a16="http://schemas.microsoft.com/office/drawing/2014/main" id="{D4215053-0C76-986E-3364-55A97E7CFC4D}"/>
              </a:ext>
            </a:extLst>
          </p:cNvPr>
          <p:cNvSpPr txBox="1"/>
          <p:nvPr/>
        </p:nvSpPr>
        <p:spPr>
          <a:xfrm>
            <a:off x="1232943" y="1067285"/>
            <a:ext cx="560070" cy="1221105"/>
          </a:xfrm>
          <a:prstGeom prst="rect">
            <a:avLst/>
          </a:prstGeom>
          <a:solidFill>
            <a:srgbClr val="C9DAF8"/>
          </a:solidFill>
          <a:ln w="9525">
            <a:solidFill>
              <a:srgbClr val="000000"/>
            </a:solidFill>
          </a:ln>
        </p:spPr>
        <p:txBody>
          <a:bodyPr vert="horz" wrap="square" lIns="0" tIns="4445" rIns="0" bIns="0" rtlCol="0">
            <a:spAutoFit/>
          </a:bodyPr>
          <a:lstStyle/>
          <a:p>
            <a:pPr>
              <a:lnSpc>
                <a:spcPct val="100000"/>
              </a:lnSpc>
              <a:spcBef>
                <a:spcPts val="35"/>
              </a:spcBef>
            </a:pPr>
            <a:endParaRPr sz="2750" dirty="0">
              <a:latin typeface="Times New Roman"/>
              <a:cs typeface="Times New Roman"/>
            </a:endParaRPr>
          </a:p>
          <a:p>
            <a:pPr algn="ctr">
              <a:lnSpc>
                <a:spcPct val="100000"/>
              </a:lnSpc>
            </a:pPr>
            <a:r>
              <a:rPr sz="2400" spc="-114" dirty="0">
                <a:latin typeface="Arial"/>
                <a:cs typeface="Arial"/>
              </a:rPr>
              <a:t>y</a:t>
            </a:r>
            <a:endParaRPr sz="2400" dirty="0">
              <a:latin typeface="Arial"/>
              <a:cs typeface="Arial"/>
            </a:endParaRPr>
          </a:p>
        </p:txBody>
      </p:sp>
      <p:sp>
        <p:nvSpPr>
          <p:cNvPr id="36" name="object 6">
            <a:extLst>
              <a:ext uri="{FF2B5EF4-FFF2-40B4-BE49-F238E27FC236}">
                <a16:creationId xmlns:a16="http://schemas.microsoft.com/office/drawing/2014/main" id="{8EDE79A3-7D2C-5F65-0523-9CE26A3C2F0E}"/>
              </a:ext>
            </a:extLst>
          </p:cNvPr>
          <p:cNvSpPr/>
          <p:nvPr/>
        </p:nvSpPr>
        <p:spPr>
          <a:xfrm>
            <a:off x="1488848" y="2289181"/>
            <a:ext cx="76200" cy="464820"/>
          </a:xfrm>
          <a:custGeom>
            <a:avLst/>
            <a:gdLst/>
            <a:ahLst/>
            <a:cxnLst/>
            <a:rect l="l" t="t" r="r" b="b"/>
            <a:pathLst>
              <a:path w="76200" h="464819">
                <a:moveTo>
                  <a:pt x="38100" y="0"/>
                </a:moveTo>
                <a:lnTo>
                  <a:pt x="0" y="76200"/>
                </a:lnTo>
                <a:lnTo>
                  <a:pt x="28575" y="76200"/>
                </a:lnTo>
                <a:lnTo>
                  <a:pt x="28576" y="464790"/>
                </a:lnTo>
                <a:lnTo>
                  <a:pt x="47626" y="464790"/>
                </a:lnTo>
                <a:lnTo>
                  <a:pt x="47625" y="76200"/>
                </a:lnTo>
                <a:lnTo>
                  <a:pt x="76200" y="76200"/>
                </a:lnTo>
                <a:lnTo>
                  <a:pt x="38100" y="0"/>
                </a:lnTo>
                <a:close/>
              </a:path>
            </a:pathLst>
          </a:custGeom>
          <a:solidFill>
            <a:srgbClr val="000000"/>
          </a:solidFill>
        </p:spPr>
        <p:txBody>
          <a:bodyPr wrap="square" lIns="0" tIns="0" rIns="0" bIns="0" rtlCol="0"/>
          <a:lstStyle/>
          <a:p>
            <a:endParaRPr/>
          </a:p>
        </p:txBody>
      </p:sp>
      <p:sp>
        <p:nvSpPr>
          <p:cNvPr id="37" name="object 7">
            <a:extLst>
              <a:ext uri="{FF2B5EF4-FFF2-40B4-BE49-F238E27FC236}">
                <a16:creationId xmlns:a16="http://schemas.microsoft.com/office/drawing/2014/main" id="{D85E4BB9-EC1B-EFAE-8748-7E5938439F7B}"/>
              </a:ext>
            </a:extLst>
          </p:cNvPr>
          <p:cNvSpPr/>
          <p:nvPr/>
        </p:nvSpPr>
        <p:spPr>
          <a:xfrm>
            <a:off x="1488848" y="4099817"/>
            <a:ext cx="76200" cy="488315"/>
          </a:xfrm>
          <a:custGeom>
            <a:avLst/>
            <a:gdLst/>
            <a:ahLst/>
            <a:cxnLst/>
            <a:rect l="l" t="t" r="r" b="b"/>
            <a:pathLst>
              <a:path w="76200" h="488314">
                <a:moveTo>
                  <a:pt x="38100" y="0"/>
                </a:moveTo>
                <a:lnTo>
                  <a:pt x="0" y="76200"/>
                </a:lnTo>
                <a:lnTo>
                  <a:pt x="28575" y="76200"/>
                </a:lnTo>
                <a:lnTo>
                  <a:pt x="28576" y="487987"/>
                </a:lnTo>
                <a:lnTo>
                  <a:pt x="47626" y="487987"/>
                </a:lnTo>
                <a:lnTo>
                  <a:pt x="47625" y="76200"/>
                </a:lnTo>
                <a:lnTo>
                  <a:pt x="76200" y="76200"/>
                </a:lnTo>
                <a:lnTo>
                  <a:pt x="38100" y="0"/>
                </a:lnTo>
                <a:close/>
              </a:path>
            </a:pathLst>
          </a:custGeom>
          <a:solidFill>
            <a:srgbClr val="000000"/>
          </a:solidFill>
        </p:spPr>
        <p:txBody>
          <a:bodyPr wrap="square" lIns="0" tIns="0" rIns="0" bIns="0" rtlCol="0"/>
          <a:lstStyle/>
          <a:p>
            <a:endParaRPr/>
          </a:p>
        </p:txBody>
      </p:sp>
      <p:sp>
        <p:nvSpPr>
          <p:cNvPr id="39" name="object 9">
            <a:extLst>
              <a:ext uri="{FF2B5EF4-FFF2-40B4-BE49-F238E27FC236}">
                <a16:creationId xmlns:a16="http://schemas.microsoft.com/office/drawing/2014/main" id="{17ABFDBA-65CD-D665-C08A-3F3012FF89BE}"/>
              </a:ext>
            </a:extLst>
          </p:cNvPr>
          <p:cNvSpPr/>
          <p:nvPr/>
        </p:nvSpPr>
        <p:spPr>
          <a:xfrm>
            <a:off x="2187756" y="2913496"/>
            <a:ext cx="737235" cy="947754"/>
          </a:xfrm>
          <a:custGeom>
            <a:avLst/>
            <a:gdLst/>
            <a:ahLst/>
            <a:cxnLst/>
            <a:rect l="l" t="t" r="r" b="b"/>
            <a:pathLst>
              <a:path w="737235" h="424814">
                <a:moveTo>
                  <a:pt x="33712" y="0"/>
                </a:moveTo>
                <a:lnTo>
                  <a:pt x="91998" y="35880"/>
                </a:lnTo>
                <a:lnTo>
                  <a:pt x="301339" y="87915"/>
                </a:lnTo>
                <a:lnTo>
                  <a:pt x="361697" y="103248"/>
                </a:lnTo>
                <a:lnTo>
                  <a:pt x="422160" y="119108"/>
                </a:lnTo>
                <a:lnTo>
                  <a:pt x="481172" y="135289"/>
                </a:lnTo>
                <a:lnTo>
                  <a:pt x="537169" y="151584"/>
                </a:lnTo>
                <a:lnTo>
                  <a:pt x="588584" y="167786"/>
                </a:lnTo>
                <a:lnTo>
                  <a:pt x="633735" y="183640"/>
                </a:lnTo>
                <a:lnTo>
                  <a:pt x="671131" y="198945"/>
                </a:lnTo>
                <a:lnTo>
                  <a:pt x="708684" y="219986"/>
                </a:lnTo>
                <a:lnTo>
                  <a:pt x="717444" y="231065"/>
                </a:lnTo>
                <a:lnTo>
                  <a:pt x="716742" y="233032"/>
                </a:lnTo>
                <a:lnTo>
                  <a:pt x="681484" y="254267"/>
                </a:lnTo>
                <a:lnTo>
                  <a:pt x="625812" y="272719"/>
                </a:lnTo>
                <a:lnTo>
                  <a:pt x="578421" y="285092"/>
                </a:lnTo>
                <a:lnTo>
                  <a:pt x="524753" y="297342"/>
                </a:lnTo>
                <a:lnTo>
                  <a:pt x="466570" y="309332"/>
                </a:lnTo>
                <a:lnTo>
                  <a:pt x="405394" y="320988"/>
                </a:lnTo>
                <a:lnTo>
                  <a:pt x="342817" y="332218"/>
                </a:lnTo>
                <a:lnTo>
                  <a:pt x="280424" y="342933"/>
                </a:lnTo>
                <a:lnTo>
                  <a:pt x="162511" y="362480"/>
                </a:lnTo>
                <a:lnTo>
                  <a:pt x="73097" y="377545"/>
                </a:lnTo>
                <a:lnTo>
                  <a:pt x="67736" y="349363"/>
                </a:lnTo>
                <a:lnTo>
                  <a:pt x="0" y="401032"/>
                </a:lnTo>
                <a:lnTo>
                  <a:pt x="81977" y="424219"/>
                </a:lnTo>
                <a:lnTo>
                  <a:pt x="76658" y="396260"/>
                </a:lnTo>
                <a:lnTo>
                  <a:pt x="89438" y="393946"/>
                </a:lnTo>
                <a:lnTo>
                  <a:pt x="283649" y="361708"/>
                </a:lnTo>
                <a:lnTo>
                  <a:pt x="346181" y="350968"/>
                </a:lnTo>
                <a:lnTo>
                  <a:pt x="408959" y="339702"/>
                </a:lnTo>
                <a:lnTo>
                  <a:pt x="470415" y="327990"/>
                </a:lnTo>
                <a:lnTo>
                  <a:pt x="528994" y="315915"/>
                </a:lnTo>
                <a:lnTo>
                  <a:pt x="583067" y="303566"/>
                </a:lnTo>
                <a:lnTo>
                  <a:pt x="631243" y="290978"/>
                </a:lnTo>
                <a:lnTo>
                  <a:pt x="672011" y="278184"/>
                </a:lnTo>
                <a:lnTo>
                  <a:pt x="716621" y="258117"/>
                </a:lnTo>
                <a:lnTo>
                  <a:pt x="736967" y="231677"/>
                </a:lnTo>
                <a:lnTo>
                  <a:pt x="735181" y="222450"/>
                </a:lnTo>
                <a:lnTo>
                  <a:pt x="694623" y="189119"/>
                </a:lnTo>
                <a:lnTo>
                  <a:pt x="640228" y="165731"/>
                </a:lnTo>
                <a:lnTo>
                  <a:pt x="594307" y="149616"/>
                </a:lnTo>
                <a:lnTo>
                  <a:pt x="542491" y="133292"/>
                </a:lnTo>
                <a:lnTo>
                  <a:pt x="486209" y="116917"/>
                </a:lnTo>
                <a:lnTo>
                  <a:pt x="426993" y="100681"/>
                </a:lnTo>
                <a:lnTo>
                  <a:pt x="366387" y="84785"/>
                </a:lnTo>
                <a:lnTo>
                  <a:pt x="305939" y="69428"/>
                </a:lnTo>
                <a:lnTo>
                  <a:pt x="141062" y="28614"/>
                </a:lnTo>
                <a:lnTo>
                  <a:pt x="77566" y="12435"/>
                </a:lnTo>
                <a:lnTo>
                  <a:pt x="45937" y="3719"/>
                </a:lnTo>
                <a:lnTo>
                  <a:pt x="33712" y="0"/>
                </a:lnTo>
                <a:close/>
              </a:path>
            </a:pathLst>
          </a:custGeom>
          <a:solidFill>
            <a:srgbClr val="000000"/>
          </a:solidFill>
        </p:spPr>
        <p:txBody>
          <a:bodyPr wrap="square" lIns="0" tIns="0" rIns="0" bIns="0" rtlCol="0"/>
          <a:lstStyle/>
          <a:p>
            <a:endParaRPr/>
          </a:p>
        </p:txBody>
      </p:sp>
      <p:sp>
        <p:nvSpPr>
          <p:cNvPr id="41" name="Rectangle 40">
            <a:extLst>
              <a:ext uri="{FF2B5EF4-FFF2-40B4-BE49-F238E27FC236}">
                <a16:creationId xmlns:a16="http://schemas.microsoft.com/office/drawing/2014/main" id="{A9B0FCDA-F2C4-2F88-8F4C-4C30BDF6AC63}"/>
              </a:ext>
            </a:extLst>
          </p:cNvPr>
          <p:cNvSpPr/>
          <p:nvPr/>
        </p:nvSpPr>
        <p:spPr>
          <a:xfrm>
            <a:off x="838200" y="2770817"/>
            <a:ext cx="1349556" cy="1329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2" name="Rectangle 41">
            <a:extLst>
              <a:ext uri="{FF2B5EF4-FFF2-40B4-BE49-F238E27FC236}">
                <a16:creationId xmlns:a16="http://schemas.microsoft.com/office/drawing/2014/main" id="{0F843B06-5AE7-D3EB-C43B-56751556CD24}"/>
              </a:ext>
            </a:extLst>
          </p:cNvPr>
          <p:cNvSpPr/>
          <p:nvPr/>
        </p:nvSpPr>
        <p:spPr>
          <a:xfrm>
            <a:off x="473725" y="903536"/>
            <a:ext cx="2710150" cy="5144877"/>
          </a:xfrm>
          <a:prstGeom prst="rect">
            <a:avLst/>
          </a:prstGeom>
          <a:noFill/>
          <a:ln>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DDA725B0-7936-E99A-230F-9D8DD7428053}"/>
              </a:ext>
            </a:extLst>
          </p:cNvPr>
          <p:cNvSpPr txBox="1"/>
          <p:nvPr/>
        </p:nvSpPr>
        <p:spPr>
          <a:xfrm>
            <a:off x="2544324" y="6048413"/>
            <a:ext cx="684803" cy="369332"/>
          </a:xfrm>
          <a:prstGeom prst="rect">
            <a:avLst/>
          </a:prstGeom>
          <a:noFill/>
        </p:spPr>
        <p:txBody>
          <a:bodyPr wrap="none" rtlCol="0">
            <a:spAutoFit/>
          </a:bodyPr>
          <a:lstStyle/>
          <a:p>
            <a:r>
              <a:rPr lang="en-US" dirty="0"/>
              <a:t>RNN</a:t>
            </a:r>
          </a:p>
        </p:txBody>
      </p:sp>
      <p:pic>
        <p:nvPicPr>
          <p:cNvPr id="44" name="Picture 43">
            <a:extLst>
              <a:ext uri="{FF2B5EF4-FFF2-40B4-BE49-F238E27FC236}">
                <a16:creationId xmlns:a16="http://schemas.microsoft.com/office/drawing/2014/main" id="{EF630598-D0EA-DD83-4EB3-F20F2DE504E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6200000">
            <a:off x="1008387" y="2785685"/>
            <a:ext cx="1031007" cy="1286628"/>
          </a:xfrm>
          <a:prstGeom prst="rect">
            <a:avLst/>
          </a:prstGeom>
        </p:spPr>
      </p:pic>
      <p:sp>
        <p:nvSpPr>
          <p:cNvPr id="45" name="TextBox 44">
            <a:extLst>
              <a:ext uri="{FF2B5EF4-FFF2-40B4-BE49-F238E27FC236}">
                <a16:creationId xmlns:a16="http://schemas.microsoft.com/office/drawing/2014/main" id="{0B3A2CC2-1118-BB5C-D036-848D0160C36F}"/>
              </a:ext>
            </a:extLst>
          </p:cNvPr>
          <p:cNvSpPr txBox="1"/>
          <p:nvPr/>
        </p:nvSpPr>
        <p:spPr>
          <a:xfrm>
            <a:off x="1539029" y="4087183"/>
            <a:ext cx="859317" cy="369332"/>
          </a:xfrm>
          <a:prstGeom prst="rect">
            <a:avLst/>
          </a:prstGeom>
          <a:noFill/>
        </p:spPr>
        <p:txBody>
          <a:bodyPr wrap="square">
            <a:spAutoFit/>
          </a:bodyPr>
          <a:lstStyle/>
          <a:p>
            <a:pPr algn="ctr"/>
            <a:r>
              <a:rPr lang="en-US" sz="1800" dirty="0">
                <a:solidFill>
                  <a:schemeClr val="tx1"/>
                </a:solidFill>
              </a:rPr>
              <a:t>NN</a:t>
            </a:r>
            <a:endParaRPr lang="en-US" dirty="0">
              <a:solidFill>
                <a:schemeClr val="tx1"/>
              </a:solidFill>
            </a:endParaRPr>
          </a:p>
        </p:txBody>
      </p:sp>
    </p:spTree>
    <p:extLst>
      <p:ext uri="{BB962C8B-B14F-4D97-AF65-F5344CB8AC3E}">
        <p14:creationId xmlns:p14="http://schemas.microsoft.com/office/powerpoint/2010/main" val="3834428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a:extLst>
              <a:ext uri="{FF2B5EF4-FFF2-40B4-BE49-F238E27FC236}">
                <a16:creationId xmlns:a16="http://schemas.microsoft.com/office/drawing/2014/main" id="{30D36A0D-993E-0FD5-424A-3A1A9084EE1F}"/>
              </a:ext>
            </a:extLst>
          </p:cNvPr>
          <p:cNvGrpSpPr/>
          <p:nvPr/>
        </p:nvGrpSpPr>
        <p:grpSpPr>
          <a:xfrm>
            <a:off x="1127979" y="2402051"/>
            <a:ext cx="537845" cy="1047115"/>
            <a:chOff x="1189567" y="3088297"/>
            <a:chExt cx="537845" cy="1047115"/>
          </a:xfrm>
        </p:grpSpPr>
        <p:sp>
          <p:nvSpPr>
            <p:cNvPr id="5" name="object 4">
              <a:extLst>
                <a:ext uri="{FF2B5EF4-FFF2-40B4-BE49-F238E27FC236}">
                  <a16:creationId xmlns:a16="http://schemas.microsoft.com/office/drawing/2014/main" id="{3E2B78E1-4C0E-2973-A8BE-D84AC28669AA}"/>
                </a:ext>
              </a:extLst>
            </p:cNvPr>
            <p:cNvSpPr/>
            <p:nvPr/>
          </p:nvSpPr>
          <p:spPr>
            <a:xfrm>
              <a:off x="1194330" y="3093059"/>
              <a:ext cx="528320" cy="1037590"/>
            </a:xfrm>
            <a:custGeom>
              <a:avLst/>
              <a:gdLst/>
              <a:ahLst/>
              <a:cxnLst/>
              <a:rect l="l" t="t" r="r" b="b"/>
              <a:pathLst>
                <a:path w="528319" h="1037589">
                  <a:moveTo>
                    <a:pt x="527862" y="0"/>
                  </a:moveTo>
                  <a:lnTo>
                    <a:pt x="0" y="0"/>
                  </a:lnTo>
                  <a:lnTo>
                    <a:pt x="0" y="1037330"/>
                  </a:lnTo>
                  <a:lnTo>
                    <a:pt x="527862" y="1037330"/>
                  </a:lnTo>
                  <a:lnTo>
                    <a:pt x="527862" y="0"/>
                  </a:lnTo>
                  <a:close/>
                </a:path>
              </a:pathLst>
            </a:custGeom>
            <a:solidFill>
              <a:srgbClr val="D9EAD3"/>
            </a:solidFill>
          </p:spPr>
          <p:txBody>
            <a:bodyPr wrap="square" lIns="0" tIns="0" rIns="0" bIns="0" rtlCol="0"/>
            <a:lstStyle/>
            <a:p>
              <a:endParaRPr/>
            </a:p>
          </p:txBody>
        </p:sp>
        <p:sp>
          <p:nvSpPr>
            <p:cNvPr id="11" name="object 5">
              <a:extLst>
                <a:ext uri="{FF2B5EF4-FFF2-40B4-BE49-F238E27FC236}">
                  <a16:creationId xmlns:a16="http://schemas.microsoft.com/office/drawing/2014/main" id="{68C3DBA6-08CF-C97E-C0EE-A1A74CEE02C3}"/>
                </a:ext>
              </a:extLst>
            </p:cNvPr>
            <p:cNvSpPr/>
            <p:nvPr/>
          </p:nvSpPr>
          <p:spPr>
            <a:xfrm>
              <a:off x="1194330" y="3093059"/>
              <a:ext cx="528320" cy="1037590"/>
            </a:xfrm>
            <a:custGeom>
              <a:avLst/>
              <a:gdLst/>
              <a:ahLst/>
              <a:cxnLst/>
              <a:rect l="l" t="t" r="r" b="b"/>
              <a:pathLst>
                <a:path w="528319" h="1037589">
                  <a:moveTo>
                    <a:pt x="0" y="0"/>
                  </a:moveTo>
                  <a:lnTo>
                    <a:pt x="527863" y="0"/>
                  </a:lnTo>
                  <a:lnTo>
                    <a:pt x="527863" y="1037330"/>
                  </a:lnTo>
                  <a:lnTo>
                    <a:pt x="0" y="1037330"/>
                  </a:lnTo>
                  <a:lnTo>
                    <a:pt x="0" y="0"/>
                  </a:lnTo>
                  <a:close/>
                </a:path>
              </a:pathLst>
            </a:custGeom>
            <a:ln w="9525">
              <a:solidFill>
                <a:srgbClr val="000000"/>
              </a:solidFill>
            </a:ln>
          </p:spPr>
          <p:txBody>
            <a:bodyPr wrap="square" lIns="0" tIns="0" rIns="0" bIns="0" rtlCol="0"/>
            <a:lstStyle/>
            <a:p>
              <a:endParaRPr/>
            </a:p>
          </p:txBody>
        </p:sp>
      </p:grpSp>
      <p:sp>
        <p:nvSpPr>
          <p:cNvPr id="14" name="object 6">
            <a:extLst>
              <a:ext uri="{FF2B5EF4-FFF2-40B4-BE49-F238E27FC236}">
                <a16:creationId xmlns:a16="http://schemas.microsoft.com/office/drawing/2014/main" id="{69F023C6-70B5-EF8F-2E85-C5F7B8502139}"/>
              </a:ext>
            </a:extLst>
          </p:cNvPr>
          <p:cNvSpPr txBox="1"/>
          <p:nvPr/>
        </p:nvSpPr>
        <p:spPr>
          <a:xfrm>
            <a:off x="1226810" y="2708817"/>
            <a:ext cx="339725" cy="391160"/>
          </a:xfrm>
          <a:prstGeom prst="rect">
            <a:avLst/>
          </a:prstGeom>
        </p:spPr>
        <p:txBody>
          <a:bodyPr vert="horz" wrap="square" lIns="0" tIns="12700" rIns="0" bIns="0" rtlCol="0">
            <a:spAutoFit/>
          </a:bodyPr>
          <a:lstStyle/>
          <a:p>
            <a:pPr marL="38100">
              <a:lnSpc>
                <a:spcPct val="100000"/>
              </a:lnSpc>
              <a:spcBef>
                <a:spcPts val="100"/>
              </a:spcBef>
            </a:pPr>
            <a:r>
              <a:rPr sz="2400" spc="-25">
                <a:latin typeface="Arial"/>
                <a:cs typeface="Arial"/>
              </a:rPr>
              <a:t>h</a:t>
            </a:r>
            <a:r>
              <a:rPr sz="2400" spc="-37" baseline="-19097">
                <a:latin typeface="Arial"/>
                <a:cs typeface="Arial"/>
              </a:rPr>
              <a:t>0</a:t>
            </a:r>
            <a:endParaRPr sz="2400" baseline="-19097">
              <a:latin typeface="Arial"/>
              <a:cs typeface="Arial"/>
            </a:endParaRPr>
          </a:p>
        </p:txBody>
      </p:sp>
      <p:grpSp>
        <p:nvGrpSpPr>
          <p:cNvPr id="15" name="object 7">
            <a:extLst>
              <a:ext uri="{FF2B5EF4-FFF2-40B4-BE49-F238E27FC236}">
                <a16:creationId xmlns:a16="http://schemas.microsoft.com/office/drawing/2014/main" id="{43E8FC29-6F7B-A0CD-64CE-C10A87EDB66D}"/>
              </a:ext>
            </a:extLst>
          </p:cNvPr>
          <p:cNvGrpSpPr/>
          <p:nvPr/>
        </p:nvGrpSpPr>
        <p:grpSpPr>
          <a:xfrm>
            <a:off x="2132269" y="2580698"/>
            <a:ext cx="717550" cy="690245"/>
            <a:chOff x="2193857" y="3266944"/>
            <a:chExt cx="717550" cy="690245"/>
          </a:xfrm>
        </p:grpSpPr>
        <p:sp>
          <p:nvSpPr>
            <p:cNvPr id="16" name="object 8">
              <a:extLst>
                <a:ext uri="{FF2B5EF4-FFF2-40B4-BE49-F238E27FC236}">
                  <a16:creationId xmlns:a16="http://schemas.microsoft.com/office/drawing/2014/main" id="{08D63383-6C75-C7D3-DC8E-6A7677A06F30}"/>
                </a:ext>
              </a:extLst>
            </p:cNvPr>
            <p:cNvSpPr/>
            <p:nvPr/>
          </p:nvSpPr>
          <p:spPr>
            <a:xfrm>
              <a:off x="2198620" y="3271706"/>
              <a:ext cx="708025" cy="680720"/>
            </a:xfrm>
            <a:custGeom>
              <a:avLst/>
              <a:gdLst/>
              <a:ahLst/>
              <a:cxnLst/>
              <a:rect l="l" t="t" r="r" b="b"/>
              <a:pathLst>
                <a:path w="708025" h="680720">
                  <a:moveTo>
                    <a:pt x="707815" y="0"/>
                  </a:moveTo>
                  <a:lnTo>
                    <a:pt x="0" y="0"/>
                  </a:lnTo>
                  <a:lnTo>
                    <a:pt x="0" y="680223"/>
                  </a:lnTo>
                  <a:lnTo>
                    <a:pt x="707815" y="680223"/>
                  </a:lnTo>
                  <a:lnTo>
                    <a:pt x="707815" y="0"/>
                  </a:lnTo>
                  <a:close/>
                </a:path>
              </a:pathLst>
            </a:custGeom>
            <a:solidFill>
              <a:srgbClr val="E7E6E6"/>
            </a:solidFill>
          </p:spPr>
          <p:txBody>
            <a:bodyPr wrap="square" lIns="0" tIns="0" rIns="0" bIns="0" rtlCol="0"/>
            <a:lstStyle/>
            <a:p>
              <a:endParaRPr/>
            </a:p>
          </p:txBody>
        </p:sp>
        <p:sp>
          <p:nvSpPr>
            <p:cNvPr id="17" name="object 9">
              <a:extLst>
                <a:ext uri="{FF2B5EF4-FFF2-40B4-BE49-F238E27FC236}">
                  <a16:creationId xmlns:a16="http://schemas.microsoft.com/office/drawing/2014/main" id="{AFA8C145-54C4-3984-2E6E-C89037079CCA}"/>
                </a:ext>
              </a:extLst>
            </p:cNvPr>
            <p:cNvSpPr/>
            <p:nvPr/>
          </p:nvSpPr>
          <p:spPr>
            <a:xfrm>
              <a:off x="2198620" y="3271706"/>
              <a:ext cx="708025" cy="680720"/>
            </a:xfrm>
            <a:custGeom>
              <a:avLst/>
              <a:gdLst/>
              <a:ahLst/>
              <a:cxnLst/>
              <a:rect l="l" t="t" r="r" b="b"/>
              <a:pathLst>
                <a:path w="708025" h="680720">
                  <a:moveTo>
                    <a:pt x="0" y="0"/>
                  </a:moveTo>
                  <a:lnTo>
                    <a:pt x="707816" y="0"/>
                  </a:lnTo>
                  <a:lnTo>
                    <a:pt x="707816" y="680223"/>
                  </a:lnTo>
                  <a:lnTo>
                    <a:pt x="0" y="680223"/>
                  </a:lnTo>
                  <a:lnTo>
                    <a:pt x="0" y="0"/>
                  </a:lnTo>
                  <a:close/>
                </a:path>
              </a:pathLst>
            </a:custGeom>
            <a:ln w="9525">
              <a:solidFill>
                <a:srgbClr val="44546A"/>
              </a:solidFill>
            </a:ln>
          </p:spPr>
          <p:txBody>
            <a:bodyPr wrap="square" lIns="0" tIns="0" rIns="0" bIns="0" rtlCol="0"/>
            <a:lstStyle/>
            <a:p>
              <a:endParaRPr/>
            </a:p>
          </p:txBody>
        </p:sp>
      </p:grpSp>
      <p:sp>
        <p:nvSpPr>
          <p:cNvPr id="18" name="object 10">
            <a:extLst>
              <a:ext uri="{FF2B5EF4-FFF2-40B4-BE49-F238E27FC236}">
                <a16:creationId xmlns:a16="http://schemas.microsoft.com/office/drawing/2014/main" id="{5A2CF9F1-A904-BA8E-9CAE-E52110244496}"/>
              </a:ext>
            </a:extLst>
          </p:cNvPr>
          <p:cNvSpPr txBox="1"/>
          <p:nvPr/>
        </p:nvSpPr>
        <p:spPr>
          <a:xfrm>
            <a:off x="2116394" y="2643696"/>
            <a:ext cx="749300" cy="513080"/>
          </a:xfrm>
          <a:prstGeom prst="rect">
            <a:avLst/>
          </a:prstGeom>
        </p:spPr>
        <p:txBody>
          <a:bodyPr vert="horz" wrap="square" lIns="0" tIns="12700" rIns="0" bIns="0" rtlCol="0">
            <a:spAutoFit/>
          </a:bodyPr>
          <a:lstStyle/>
          <a:p>
            <a:pPr marL="142240">
              <a:lnSpc>
                <a:spcPct val="100000"/>
              </a:lnSpc>
              <a:spcBef>
                <a:spcPts val="100"/>
              </a:spcBef>
            </a:pPr>
            <a:r>
              <a:rPr sz="3200" spc="-25">
                <a:latin typeface="Arial"/>
                <a:cs typeface="Arial"/>
              </a:rPr>
              <a:t>f</a:t>
            </a:r>
            <a:r>
              <a:rPr sz="3150" spc="-37" baseline="-19841">
                <a:latin typeface="Arial"/>
                <a:cs typeface="Arial"/>
              </a:rPr>
              <a:t>W</a:t>
            </a:r>
            <a:endParaRPr sz="3150" baseline="-19841">
              <a:latin typeface="Arial"/>
              <a:cs typeface="Arial"/>
            </a:endParaRPr>
          </a:p>
        </p:txBody>
      </p:sp>
      <p:grpSp>
        <p:nvGrpSpPr>
          <p:cNvPr id="19" name="object 11">
            <a:extLst>
              <a:ext uri="{FF2B5EF4-FFF2-40B4-BE49-F238E27FC236}">
                <a16:creationId xmlns:a16="http://schemas.microsoft.com/office/drawing/2014/main" id="{8D408687-7719-4156-87C8-72DA5E99CBD9}"/>
              </a:ext>
            </a:extLst>
          </p:cNvPr>
          <p:cNvGrpSpPr/>
          <p:nvPr/>
        </p:nvGrpSpPr>
        <p:grpSpPr>
          <a:xfrm>
            <a:off x="3368097" y="2402051"/>
            <a:ext cx="537845" cy="1047115"/>
            <a:chOff x="3429685" y="3088297"/>
            <a:chExt cx="537845" cy="1047115"/>
          </a:xfrm>
        </p:grpSpPr>
        <p:sp>
          <p:nvSpPr>
            <p:cNvPr id="20" name="object 12">
              <a:extLst>
                <a:ext uri="{FF2B5EF4-FFF2-40B4-BE49-F238E27FC236}">
                  <a16:creationId xmlns:a16="http://schemas.microsoft.com/office/drawing/2014/main" id="{4972CA5C-118C-88B5-0F8B-6C81D24EC408}"/>
                </a:ext>
              </a:extLst>
            </p:cNvPr>
            <p:cNvSpPr/>
            <p:nvPr/>
          </p:nvSpPr>
          <p:spPr>
            <a:xfrm>
              <a:off x="3434448" y="3093059"/>
              <a:ext cx="528320" cy="1037590"/>
            </a:xfrm>
            <a:custGeom>
              <a:avLst/>
              <a:gdLst/>
              <a:ahLst/>
              <a:cxnLst/>
              <a:rect l="l" t="t" r="r" b="b"/>
              <a:pathLst>
                <a:path w="528320" h="1037589">
                  <a:moveTo>
                    <a:pt x="527862" y="0"/>
                  </a:moveTo>
                  <a:lnTo>
                    <a:pt x="0" y="0"/>
                  </a:lnTo>
                  <a:lnTo>
                    <a:pt x="0" y="1037330"/>
                  </a:lnTo>
                  <a:lnTo>
                    <a:pt x="527862" y="1037330"/>
                  </a:lnTo>
                  <a:lnTo>
                    <a:pt x="527862" y="0"/>
                  </a:lnTo>
                  <a:close/>
                </a:path>
              </a:pathLst>
            </a:custGeom>
            <a:solidFill>
              <a:srgbClr val="D9EAD3"/>
            </a:solidFill>
          </p:spPr>
          <p:txBody>
            <a:bodyPr wrap="square" lIns="0" tIns="0" rIns="0" bIns="0" rtlCol="0"/>
            <a:lstStyle/>
            <a:p>
              <a:endParaRPr/>
            </a:p>
          </p:txBody>
        </p:sp>
        <p:sp>
          <p:nvSpPr>
            <p:cNvPr id="21" name="object 13">
              <a:extLst>
                <a:ext uri="{FF2B5EF4-FFF2-40B4-BE49-F238E27FC236}">
                  <a16:creationId xmlns:a16="http://schemas.microsoft.com/office/drawing/2014/main" id="{34B53C6F-0BE8-B2C9-376E-774EB25AE787}"/>
                </a:ext>
              </a:extLst>
            </p:cNvPr>
            <p:cNvSpPr/>
            <p:nvPr/>
          </p:nvSpPr>
          <p:spPr>
            <a:xfrm>
              <a:off x="3434448" y="3093059"/>
              <a:ext cx="528320" cy="1037590"/>
            </a:xfrm>
            <a:custGeom>
              <a:avLst/>
              <a:gdLst/>
              <a:ahLst/>
              <a:cxnLst/>
              <a:rect l="l" t="t" r="r" b="b"/>
              <a:pathLst>
                <a:path w="528320" h="1037589">
                  <a:moveTo>
                    <a:pt x="0" y="0"/>
                  </a:moveTo>
                  <a:lnTo>
                    <a:pt x="527863" y="0"/>
                  </a:lnTo>
                  <a:lnTo>
                    <a:pt x="527863" y="1037330"/>
                  </a:lnTo>
                  <a:lnTo>
                    <a:pt x="0" y="1037330"/>
                  </a:lnTo>
                  <a:lnTo>
                    <a:pt x="0" y="0"/>
                  </a:lnTo>
                  <a:close/>
                </a:path>
              </a:pathLst>
            </a:custGeom>
            <a:ln w="9525">
              <a:solidFill>
                <a:srgbClr val="000000"/>
              </a:solidFill>
            </a:ln>
          </p:spPr>
          <p:txBody>
            <a:bodyPr wrap="square" lIns="0" tIns="0" rIns="0" bIns="0" rtlCol="0"/>
            <a:lstStyle/>
            <a:p>
              <a:endParaRPr/>
            </a:p>
          </p:txBody>
        </p:sp>
      </p:grpSp>
      <p:sp>
        <p:nvSpPr>
          <p:cNvPr id="22" name="object 14">
            <a:extLst>
              <a:ext uri="{FF2B5EF4-FFF2-40B4-BE49-F238E27FC236}">
                <a16:creationId xmlns:a16="http://schemas.microsoft.com/office/drawing/2014/main" id="{B945FAEB-A862-6115-429C-75E8B18F6B62}"/>
              </a:ext>
            </a:extLst>
          </p:cNvPr>
          <p:cNvSpPr txBox="1"/>
          <p:nvPr/>
        </p:nvSpPr>
        <p:spPr>
          <a:xfrm>
            <a:off x="3466929" y="2708817"/>
            <a:ext cx="339725" cy="391160"/>
          </a:xfrm>
          <a:prstGeom prst="rect">
            <a:avLst/>
          </a:prstGeom>
        </p:spPr>
        <p:txBody>
          <a:bodyPr vert="horz" wrap="square" lIns="0" tIns="12700" rIns="0" bIns="0" rtlCol="0">
            <a:spAutoFit/>
          </a:bodyPr>
          <a:lstStyle/>
          <a:p>
            <a:pPr marL="38100">
              <a:lnSpc>
                <a:spcPct val="100000"/>
              </a:lnSpc>
              <a:spcBef>
                <a:spcPts val="100"/>
              </a:spcBef>
            </a:pPr>
            <a:r>
              <a:rPr sz="2400" spc="-25">
                <a:latin typeface="Arial"/>
                <a:cs typeface="Arial"/>
              </a:rPr>
              <a:t>h</a:t>
            </a:r>
            <a:r>
              <a:rPr sz="2400" spc="-37" baseline="-19097">
                <a:latin typeface="Arial"/>
                <a:cs typeface="Arial"/>
              </a:rPr>
              <a:t>1</a:t>
            </a:r>
            <a:endParaRPr sz="2400" baseline="-19097">
              <a:latin typeface="Arial"/>
              <a:cs typeface="Arial"/>
            </a:endParaRPr>
          </a:p>
        </p:txBody>
      </p:sp>
      <p:sp>
        <p:nvSpPr>
          <p:cNvPr id="27" name="object 16">
            <a:extLst>
              <a:ext uri="{FF2B5EF4-FFF2-40B4-BE49-F238E27FC236}">
                <a16:creationId xmlns:a16="http://schemas.microsoft.com/office/drawing/2014/main" id="{731B7A62-26C5-DF84-87FC-0C66426EA7DC}"/>
              </a:ext>
            </a:extLst>
          </p:cNvPr>
          <p:cNvSpPr/>
          <p:nvPr/>
        </p:nvSpPr>
        <p:spPr>
          <a:xfrm>
            <a:off x="1660595" y="2887381"/>
            <a:ext cx="1712595" cy="979169"/>
          </a:xfrm>
          <a:custGeom>
            <a:avLst/>
            <a:gdLst/>
            <a:ahLst/>
            <a:cxnLst/>
            <a:rect l="l" t="t" r="r" b="b"/>
            <a:pathLst>
              <a:path w="1712595" h="979170">
                <a:moveTo>
                  <a:pt x="476275" y="38100"/>
                </a:moveTo>
                <a:lnTo>
                  <a:pt x="400075" y="0"/>
                </a:lnTo>
                <a:lnTo>
                  <a:pt x="400075" y="28575"/>
                </a:lnTo>
                <a:lnTo>
                  <a:pt x="0" y="28575"/>
                </a:lnTo>
                <a:lnTo>
                  <a:pt x="0" y="47625"/>
                </a:lnTo>
                <a:lnTo>
                  <a:pt x="400075" y="47625"/>
                </a:lnTo>
                <a:lnTo>
                  <a:pt x="400075" y="76200"/>
                </a:lnTo>
                <a:lnTo>
                  <a:pt x="476275" y="38100"/>
                </a:lnTo>
                <a:close/>
              </a:path>
              <a:path w="1712595" h="979170">
                <a:moveTo>
                  <a:pt x="868451" y="454647"/>
                </a:moveTo>
                <a:lnTo>
                  <a:pt x="830351" y="378447"/>
                </a:lnTo>
                <a:lnTo>
                  <a:pt x="792251" y="454647"/>
                </a:lnTo>
                <a:lnTo>
                  <a:pt x="820826" y="454647"/>
                </a:lnTo>
                <a:lnTo>
                  <a:pt x="820826" y="978687"/>
                </a:lnTo>
                <a:lnTo>
                  <a:pt x="839876" y="978687"/>
                </a:lnTo>
                <a:lnTo>
                  <a:pt x="839876" y="454647"/>
                </a:lnTo>
                <a:lnTo>
                  <a:pt x="868451" y="454647"/>
                </a:lnTo>
                <a:close/>
              </a:path>
              <a:path w="1712595" h="979170">
                <a:moveTo>
                  <a:pt x="1712112" y="38201"/>
                </a:moveTo>
                <a:lnTo>
                  <a:pt x="1635912" y="101"/>
                </a:lnTo>
                <a:lnTo>
                  <a:pt x="1635912" y="28676"/>
                </a:lnTo>
                <a:lnTo>
                  <a:pt x="1184249" y="28676"/>
                </a:lnTo>
                <a:lnTo>
                  <a:pt x="1184249" y="47726"/>
                </a:lnTo>
                <a:lnTo>
                  <a:pt x="1635912" y="47726"/>
                </a:lnTo>
                <a:lnTo>
                  <a:pt x="1635912" y="76301"/>
                </a:lnTo>
                <a:lnTo>
                  <a:pt x="1712112" y="38201"/>
                </a:lnTo>
                <a:close/>
              </a:path>
            </a:pathLst>
          </a:custGeom>
          <a:solidFill>
            <a:srgbClr val="44546A"/>
          </a:solidFill>
        </p:spPr>
        <p:txBody>
          <a:bodyPr wrap="square" lIns="0" tIns="0" rIns="0" bIns="0" rtlCol="0"/>
          <a:lstStyle/>
          <a:p>
            <a:endParaRPr/>
          </a:p>
        </p:txBody>
      </p:sp>
      <p:sp>
        <p:nvSpPr>
          <p:cNvPr id="28" name="object 17">
            <a:extLst>
              <a:ext uri="{FF2B5EF4-FFF2-40B4-BE49-F238E27FC236}">
                <a16:creationId xmlns:a16="http://schemas.microsoft.com/office/drawing/2014/main" id="{6FFF53E0-188B-8084-A742-D07DB3FA7906}"/>
              </a:ext>
            </a:extLst>
          </p:cNvPr>
          <p:cNvSpPr/>
          <p:nvPr/>
        </p:nvSpPr>
        <p:spPr>
          <a:xfrm>
            <a:off x="4377139" y="2585460"/>
            <a:ext cx="708025" cy="680720"/>
          </a:xfrm>
          <a:custGeom>
            <a:avLst/>
            <a:gdLst/>
            <a:ahLst/>
            <a:cxnLst/>
            <a:rect l="l" t="t" r="r" b="b"/>
            <a:pathLst>
              <a:path w="708025" h="680720">
                <a:moveTo>
                  <a:pt x="707815" y="0"/>
                </a:moveTo>
                <a:lnTo>
                  <a:pt x="0" y="0"/>
                </a:lnTo>
                <a:lnTo>
                  <a:pt x="0" y="680223"/>
                </a:lnTo>
                <a:lnTo>
                  <a:pt x="707815" y="680223"/>
                </a:lnTo>
                <a:lnTo>
                  <a:pt x="707815" y="0"/>
                </a:lnTo>
                <a:close/>
              </a:path>
            </a:pathLst>
          </a:custGeom>
          <a:solidFill>
            <a:srgbClr val="E7E6E6"/>
          </a:solidFill>
        </p:spPr>
        <p:txBody>
          <a:bodyPr wrap="square" lIns="0" tIns="0" rIns="0" bIns="0" rtlCol="0"/>
          <a:lstStyle/>
          <a:p>
            <a:endParaRPr/>
          </a:p>
        </p:txBody>
      </p:sp>
      <p:sp>
        <p:nvSpPr>
          <p:cNvPr id="29" name="object 18">
            <a:extLst>
              <a:ext uri="{FF2B5EF4-FFF2-40B4-BE49-F238E27FC236}">
                <a16:creationId xmlns:a16="http://schemas.microsoft.com/office/drawing/2014/main" id="{20DAE0A0-404F-0D22-C628-6DE7DBB5E22F}"/>
              </a:ext>
            </a:extLst>
          </p:cNvPr>
          <p:cNvSpPr/>
          <p:nvPr/>
        </p:nvSpPr>
        <p:spPr>
          <a:xfrm>
            <a:off x="4377139" y="2585460"/>
            <a:ext cx="708025" cy="680720"/>
          </a:xfrm>
          <a:custGeom>
            <a:avLst/>
            <a:gdLst/>
            <a:ahLst/>
            <a:cxnLst/>
            <a:rect l="l" t="t" r="r" b="b"/>
            <a:pathLst>
              <a:path w="708025" h="680720">
                <a:moveTo>
                  <a:pt x="0" y="0"/>
                </a:moveTo>
                <a:lnTo>
                  <a:pt x="707816" y="0"/>
                </a:lnTo>
                <a:lnTo>
                  <a:pt x="707816" y="680223"/>
                </a:lnTo>
                <a:lnTo>
                  <a:pt x="0" y="680223"/>
                </a:lnTo>
                <a:lnTo>
                  <a:pt x="0" y="0"/>
                </a:lnTo>
                <a:close/>
              </a:path>
            </a:pathLst>
          </a:custGeom>
          <a:ln w="9525">
            <a:solidFill>
              <a:srgbClr val="44546A"/>
            </a:solidFill>
          </a:ln>
        </p:spPr>
        <p:txBody>
          <a:bodyPr wrap="square" lIns="0" tIns="0" rIns="0" bIns="0" rtlCol="0"/>
          <a:lstStyle/>
          <a:p>
            <a:endParaRPr/>
          </a:p>
        </p:txBody>
      </p:sp>
      <p:sp>
        <p:nvSpPr>
          <p:cNvPr id="30" name="object 19">
            <a:extLst>
              <a:ext uri="{FF2B5EF4-FFF2-40B4-BE49-F238E27FC236}">
                <a16:creationId xmlns:a16="http://schemas.microsoft.com/office/drawing/2014/main" id="{A139C12A-285F-3E94-C5A4-96B98B9AD73C}"/>
              </a:ext>
            </a:extLst>
          </p:cNvPr>
          <p:cNvSpPr txBox="1"/>
          <p:nvPr/>
        </p:nvSpPr>
        <p:spPr>
          <a:xfrm>
            <a:off x="4356502" y="2643696"/>
            <a:ext cx="749300" cy="513080"/>
          </a:xfrm>
          <a:prstGeom prst="rect">
            <a:avLst/>
          </a:prstGeom>
        </p:spPr>
        <p:txBody>
          <a:bodyPr vert="horz" wrap="square" lIns="0" tIns="12700" rIns="0" bIns="0" rtlCol="0">
            <a:spAutoFit/>
          </a:bodyPr>
          <a:lstStyle/>
          <a:p>
            <a:pPr marL="142240">
              <a:lnSpc>
                <a:spcPct val="100000"/>
              </a:lnSpc>
              <a:spcBef>
                <a:spcPts val="100"/>
              </a:spcBef>
            </a:pPr>
            <a:r>
              <a:rPr sz="3200" spc="-25">
                <a:latin typeface="Arial"/>
                <a:cs typeface="Arial"/>
              </a:rPr>
              <a:t>f</a:t>
            </a:r>
            <a:r>
              <a:rPr sz="3150" spc="-37" baseline="-19841">
                <a:latin typeface="Arial"/>
                <a:cs typeface="Arial"/>
              </a:rPr>
              <a:t>W</a:t>
            </a:r>
            <a:endParaRPr sz="3150" baseline="-19841">
              <a:latin typeface="Arial"/>
              <a:cs typeface="Arial"/>
            </a:endParaRPr>
          </a:p>
        </p:txBody>
      </p:sp>
      <p:grpSp>
        <p:nvGrpSpPr>
          <p:cNvPr id="31" name="object 20">
            <a:extLst>
              <a:ext uri="{FF2B5EF4-FFF2-40B4-BE49-F238E27FC236}">
                <a16:creationId xmlns:a16="http://schemas.microsoft.com/office/drawing/2014/main" id="{1A9EBB1B-D34B-900B-5866-70CCD6350A2A}"/>
              </a:ext>
            </a:extLst>
          </p:cNvPr>
          <p:cNvGrpSpPr/>
          <p:nvPr/>
        </p:nvGrpSpPr>
        <p:grpSpPr>
          <a:xfrm>
            <a:off x="5608177" y="2402051"/>
            <a:ext cx="577215" cy="1047115"/>
            <a:chOff x="5669765" y="3088297"/>
            <a:chExt cx="577215" cy="1047115"/>
          </a:xfrm>
        </p:grpSpPr>
        <p:sp>
          <p:nvSpPr>
            <p:cNvPr id="32" name="object 21">
              <a:extLst>
                <a:ext uri="{FF2B5EF4-FFF2-40B4-BE49-F238E27FC236}">
                  <a16:creationId xmlns:a16="http://schemas.microsoft.com/office/drawing/2014/main" id="{489220DF-FFF1-E8EB-04B7-D5E914009E75}"/>
                </a:ext>
              </a:extLst>
            </p:cNvPr>
            <p:cNvSpPr/>
            <p:nvPr/>
          </p:nvSpPr>
          <p:spPr>
            <a:xfrm>
              <a:off x="5674527" y="3093059"/>
              <a:ext cx="567690" cy="1037590"/>
            </a:xfrm>
            <a:custGeom>
              <a:avLst/>
              <a:gdLst/>
              <a:ahLst/>
              <a:cxnLst/>
              <a:rect l="l" t="t" r="r" b="b"/>
              <a:pathLst>
                <a:path w="567689" h="1037589">
                  <a:moveTo>
                    <a:pt x="567451" y="0"/>
                  </a:moveTo>
                  <a:lnTo>
                    <a:pt x="0" y="0"/>
                  </a:lnTo>
                  <a:lnTo>
                    <a:pt x="0" y="1037330"/>
                  </a:lnTo>
                  <a:lnTo>
                    <a:pt x="567451" y="1037330"/>
                  </a:lnTo>
                  <a:lnTo>
                    <a:pt x="567451" y="0"/>
                  </a:lnTo>
                  <a:close/>
                </a:path>
              </a:pathLst>
            </a:custGeom>
            <a:solidFill>
              <a:srgbClr val="D9EAD3"/>
            </a:solidFill>
          </p:spPr>
          <p:txBody>
            <a:bodyPr wrap="square" lIns="0" tIns="0" rIns="0" bIns="0" rtlCol="0"/>
            <a:lstStyle/>
            <a:p>
              <a:endParaRPr/>
            </a:p>
          </p:txBody>
        </p:sp>
        <p:sp>
          <p:nvSpPr>
            <p:cNvPr id="33" name="object 22">
              <a:extLst>
                <a:ext uri="{FF2B5EF4-FFF2-40B4-BE49-F238E27FC236}">
                  <a16:creationId xmlns:a16="http://schemas.microsoft.com/office/drawing/2014/main" id="{10EA53B8-F6C9-0BB6-6101-392B02BED6D0}"/>
                </a:ext>
              </a:extLst>
            </p:cNvPr>
            <p:cNvSpPr/>
            <p:nvPr/>
          </p:nvSpPr>
          <p:spPr>
            <a:xfrm>
              <a:off x="5674527" y="3093059"/>
              <a:ext cx="567690" cy="1037590"/>
            </a:xfrm>
            <a:custGeom>
              <a:avLst/>
              <a:gdLst/>
              <a:ahLst/>
              <a:cxnLst/>
              <a:rect l="l" t="t" r="r" b="b"/>
              <a:pathLst>
                <a:path w="567689" h="1037589">
                  <a:moveTo>
                    <a:pt x="0" y="0"/>
                  </a:moveTo>
                  <a:lnTo>
                    <a:pt x="567452" y="0"/>
                  </a:lnTo>
                  <a:lnTo>
                    <a:pt x="567452" y="1037330"/>
                  </a:lnTo>
                  <a:lnTo>
                    <a:pt x="0" y="1037330"/>
                  </a:lnTo>
                  <a:lnTo>
                    <a:pt x="0" y="0"/>
                  </a:lnTo>
                  <a:close/>
                </a:path>
              </a:pathLst>
            </a:custGeom>
            <a:ln w="9525">
              <a:solidFill>
                <a:srgbClr val="000000"/>
              </a:solidFill>
            </a:ln>
          </p:spPr>
          <p:txBody>
            <a:bodyPr wrap="square" lIns="0" tIns="0" rIns="0" bIns="0" rtlCol="0"/>
            <a:lstStyle/>
            <a:p>
              <a:endParaRPr/>
            </a:p>
          </p:txBody>
        </p:sp>
      </p:grpSp>
      <p:sp>
        <p:nvSpPr>
          <p:cNvPr id="34" name="object 23">
            <a:extLst>
              <a:ext uri="{FF2B5EF4-FFF2-40B4-BE49-F238E27FC236}">
                <a16:creationId xmlns:a16="http://schemas.microsoft.com/office/drawing/2014/main" id="{6E07BA31-AE61-3613-3EB1-7319262302F8}"/>
              </a:ext>
            </a:extLst>
          </p:cNvPr>
          <p:cNvSpPr txBox="1"/>
          <p:nvPr/>
        </p:nvSpPr>
        <p:spPr>
          <a:xfrm>
            <a:off x="5726802" y="2708817"/>
            <a:ext cx="339725" cy="391160"/>
          </a:xfrm>
          <a:prstGeom prst="rect">
            <a:avLst/>
          </a:prstGeom>
        </p:spPr>
        <p:txBody>
          <a:bodyPr vert="horz" wrap="square" lIns="0" tIns="12700" rIns="0" bIns="0" rtlCol="0">
            <a:spAutoFit/>
          </a:bodyPr>
          <a:lstStyle/>
          <a:p>
            <a:pPr marL="38100">
              <a:lnSpc>
                <a:spcPct val="100000"/>
              </a:lnSpc>
              <a:spcBef>
                <a:spcPts val="100"/>
              </a:spcBef>
            </a:pPr>
            <a:r>
              <a:rPr sz="2400" spc="-25">
                <a:latin typeface="Arial"/>
                <a:cs typeface="Arial"/>
              </a:rPr>
              <a:t>h</a:t>
            </a:r>
            <a:r>
              <a:rPr sz="2400" spc="-37" baseline="-19097">
                <a:latin typeface="Arial"/>
                <a:cs typeface="Arial"/>
              </a:rPr>
              <a:t>2</a:t>
            </a:r>
            <a:endParaRPr sz="2400" baseline="-19097">
              <a:latin typeface="Arial"/>
              <a:cs typeface="Arial"/>
            </a:endParaRPr>
          </a:p>
        </p:txBody>
      </p:sp>
      <p:sp>
        <p:nvSpPr>
          <p:cNvPr id="35" name="object 24">
            <a:extLst>
              <a:ext uri="{FF2B5EF4-FFF2-40B4-BE49-F238E27FC236}">
                <a16:creationId xmlns:a16="http://schemas.microsoft.com/office/drawing/2014/main" id="{7AFEE87B-DE0A-DE3B-A42D-4FE2D3DD4E70}"/>
              </a:ext>
            </a:extLst>
          </p:cNvPr>
          <p:cNvSpPr/>
          <p:nvPr/>
        </p:nvSpPr>
        <p:spPr>
          <a:xfrm>
            <a:off x="3900710" y="2887381"/>
            <a:ext cx="1712595" cy="979169"/>
          </a:xfrm>
          <a:custGeom>
            <a:avLst/>
            <a:gdLst/>
            <a:ahLst/>
            <a:cxnLst/>
            <a:rect l="l" t="t" r="r" b="b"/>
            <a:pathLst>
              <a:path w="1712595" h="979170">
                <a:moveTo>
                  <a:pt x="476288" y="38100"/>
                </a:moveTo>
                <a:lnTo>
                  <a:pt x="400088" y="0"/>
                </a:lnTo>
                <a:lnTo>
                  <a:pt x="400088" y="28575"/>
                </a:lnTo>
                <a:lnTo>
                  <a:pt x="0" y="28575"/>
                </a:lnTo>
                <a:lnTo>
                  <a:pt x="0" y="47625"/>
                </a:lnTo>
                <a:lnTo>
                  <a:pt x="400088" y="47625"/>
                </a:lnTo>
                <a:lnTo>
                  <a:pt x="400088" y="76200"/>
                </a:lnTo>
                <a:lnTo>
                  <a:pt x="476288" y="38100"/>
                </a:lnTo>
                <a:close/>
              </a:path>
              <a:path w="1712595" h="979170">
                <a:moveTo>
                  <a:pt x="868438" y="454647"/>
                </a:moveTo>
                <a:lnTo>
                  <a:pt x="830338" y="378447"/>
                </a:lnTo>
                <a:lnTo>
                  <a:pt x="792238" y="454647"/>
                </a:lnTo>
                <a:lnTo>
                  <a:pt x="820813" y="454647"/>
                </a:lnTo>
                <a:lnTo>
                  <a:pt x="820813" y="978687"/>
                </a:lnTo>
                <a:lnTo>
                  <a:pt x="839863" y="978687"/>
                </a:lnTo>
                <a:lnTo>
                  <a:pt x="839863" y="454647"/>
                </a:lnTo>
                <a:lnTo>
                  <a:pt x="868438" y="454647"/>
                </a:lnTo>
                <a:close/>
              </a:path>
              <a:path w="1712595" h="979170">
                <a:moveTo>
                  <a:pt x="1712099" y="38201"/>
                </a:moveTo>
                <a:lnTo>
                  <a:pt x="1635899" y="101"/>
                </a:lnTo>
                <a:lnTo>
                  <a:pt x="1635899" y="28676"/>
                </a:lnTo>
                <a:lnTo>
                  <a:pt x="1184236" y="28676"/>
                </a:lnTo>
                <a:lnTo>
                  <a:pt x="1184236" y="47726"/>
                </a:lnTo>
                <a:lnTo>
                  <a:pt x="1635899" y="47726"/>
                </a:lnTo>
                <a:lnTo>
                  <a:pt x="1635899" y="76301"/>
                </a:lnTo>
                <a:lnTo>
                  <a:pt x="1712099" y="38201"/>
                </a:lnTo>
                <a:close/>
              </a:path>
            </a:pathLst>
          </a:custGeom>
          <a:solidFill>
            <a:srgbClr val="44546A"/>
          </a:solidFill>
        </p:spPr>
        <p:txBody>
          <a:bodyPr wrap="square" lIns="0" tIns="0" rIns="0" bIns="0" rtlCol="0"/>
          <a:lstStyle/>
          <a:p>
            <a:endParaRPr/>
          </a:p>
        </p:txBody>
      </p:sp>
      <p:sp>
        <p:nvSpPr>
          <p:cNvPr id="36" name="object 25">
            <a:extLst>
              <a:ext uri="{FF2B5EF4-FFF2-40B4-BE49-F238E27FC236}">
                <a16:creationId xmlns:a16="http://schemas.microsoft.com/office/drawing/2014/main" id="{DB2554E6-B95B-F042-AB2E-3C31B8E43ADA}"/>
              </a:ext>
            </a:extLst>
          </p:cNvPr>
          <p:cNvSpPr txBox="1"/>
          <p:nvPr/>
        </p:nvSpPr>
        <p:spPr>
          <a:xfrm>
            <a:off x="6617247" y="2585460"/>
            <a:ext cx="708025" cy="680720"/>
          </a:xfrm>
          <a:prstGeom prst="rect">
            <a:avLst/>
          </a:prstGeom>
          <a:solidFill>
            <a:srgbClr val="E7E6E6"/>
          </a:solidFill>
          <a:ln w="9525">
            <a:solidFill>
              <a:srgbClr val="44546A"/>
            </a:solidFill>
          </a:ln>
        </p:spPr>
        <p:txBody>
          <a:bodyPr vert="horz" wrap="square" lIns="0" tIns="70485" rIns="0" bIns="0" rtlCol="0">
            <a:spAutoFit/>
          </a:bodyPr>
          <a:lstStyle/>
          <a:p>
            <a:pPr marL="121285">
              <a:lnSpc>
                <a:spcPct val="100000"/>
              </a:lnSpc>
              <a:spcBef>
                <a:spcPts val="555"/>
              </a:spcBef>
            </a:pPr>
            <a:r>
              <a:rPr sz="3200" spc="-25">
                <a:latin typeface="Arial"/>
                <a:cs typeface="Arial"/>
              </a:rPr>
              <a:t>f</a:t>
            </a:r>
            <a:r>
              <a:rPr sz="3150" spc="-37" baseline="-19841">
                <a:latin typeface="Arial"/>
                <a:cs typeface="Arial"/>
              </a:rPr>
              <a:t>W</a:t>
            </a:r>
            <a:endParaRPr sz="3150" baseline="-19841">
              <a:latin typeface="Arial"/>
              <a:cs typeface="Arial"/>
            </a:endParaRPr>
          </a:p>
        </p:txBody>
      </p:sp>
      <p:sp>
        <p:nvSpPr>
          <p:cNvPr id="37" name="object 26">
            <a:extLst>
              <a:ext uri="{FF2B5EF4-FFF2-40B4-BE49-F238E27FC236}">
                <a16:creationId xmlns:a16="http://schemas.microsoft.com/office/drawing/2014/main" id="{521329CC-D38F-3545-EA4B-24331414B340}"/>
              </a:ext>
            </a:extLst>
          </p:cNvPr>
          <p:cNvSpPr txBox="1"/>
          <p:nvPr/>
        </p:nvSpPr>
        <p:spPr>
          <a:xfrm>
            <a:off x="7853056" y="2406813"/>
            <a:ext cx="567690" cy="1037590"/>
          </a:xfrm>
          <a:prstGeom prst="rect">
            <a:avLst/>
          </a:prstGeom>
          <a:solidFill>
            <a:srgbClr val="D9EAD3"/>
          </a:solidFill>
          <a:ln w="9525">
            <a:solidFill>
              <a:srgbClr val="000000"/>
            </a:solidFill>
          </a:ln>
        </p:spPr>
        <p:txBody>
          <a:bodyPr vert="horz" wrap="square" lIns="0" tIns="314325" rIns="0" bIns="0" rtlCol="0">
            <a:spAutoFit/>
          </a:bodyPr>
          <a:lstStyle/>
          <a:p>
            <a:pPr marL="151765">
              <a:lnSpc>
                <a:spcPct val="100000"/>
              </a:lnSpc>
              <a:spcBef>
                <a:spcPts val="2475"/>
              </a:spcBef>
            </a:pPr>
            <a:r>
              <a:rPr sz="2400" spc="-25">
                <a:latin typeface="Arial"/>
                <a:cs typeface="Arial"/>
              </a:rPr>
              <a:t>h</a:t>
            </a:r>
            <a:r>
              <a:rPr sz="2400" spc="-37" baseline="-19097">
                <a:latin typeface="Arial"/>
                <a:cs typeface="Arial"/>
              </a:rPr>
              <a:t>3</a:t>
            </a:r>
            <a:endParaRPr sz="2400" baseline="-19097">
              <a:latin typeface="Arial"/>
              <a:cs typeface="Arial"/>
            </a:endParaRPr>
          </a:p>
        </p:txBody>
      </p:sp>
      <p:grpSp>
        <p:nvGrpSpPr>
          <p:cNvPr id="38" name="object 27">
            <a:extLst>
              <a:ext uri="{FF2B5EF4-FFF2-40B4-BE49-F238E27FC236}">
                <a16:creationId xmlns:a16="http://schemas.microsoft.com/office/drawing/2014/main" id="{F8FCBA9E-F261-9376-97A1-C9F9F5304311}"/>
              </a:ext>
            </a:extLst>
          </p:cNvPr>
          <p:cNvGrpSpPr/>
          <p:nvPr/>
        </p:nvGrpSpPr>
        <p:grpSpPr>
          <a:xfrm>
            <a:off x="6702262" y="3861303"/>
            <a:ext cx="537845" cy="1047115"/>
            <a:chOff x="6763850" y="4547549"/>
            <a:chExt cx="537845" cy="1047115"/>
          </a:xfrm>
        </p:grpSpPr>
        <p:sp>
          <p:nvSpPr>
            <p:cNvPr id="39" name="object 28">
              <a:extLst>
                <a:ext uri="{FF2B5EF4-FFF2-40B4-BE49-F238E27FC236}">
                  <a16:creationId xmlns:a16="http://schemas.microsoft.com/office/drawing/2014/main" id="{25BC0F4B-41DD-B718-51D6-A1607692D864}"/>
                </a:ext>
              </a:extLst>
            </p:cNvPr>
            <p:cNvSpPr/>
            <p:nvPr/>
          </p:nvSpPr>
          <p:spPr>
            <a:xfrm>
              <a:off x="6768613" y="4552312"/>
              <a:ext cx="528320" cy="1037590"/>
            </a:xfrm>
            <a:custGeom>
              <a:avLst/>
              <a:gdLst/>
              <a:ahLst/>
              <a:cxnLst/>
              <a:rect l="l" t="t" r="r" b="b"/>
              <a:pathLst>
                <a:path w="528320" h="1037589">
                  <a:moveTo>
                    <a:pt x="528261" y="0"/>
                  </a:moveTo>
                  <a:lnTo>
                    <a:pt x="0" y="0"/>
                  </a:lnTo>
                  <a:lnTo>
                    <a:pt x="0" y="1037330"/>
                  </a:lnTo>
                  <a:lnTo>
                    <a:pt x="528261" y="1037330"/>
                  </a:lnTo>
                  <a:lnTo>
                    <a:pt x="528261" y="0"/>
                  </a:lnTo>
                  <a:close/>
                </a:path>
              </a:pathLst>
            </a:custGeom>
            <a:solidFill>
              <a:srgbClr val="F4CCCC"/>
            </a:solidFill>
          </p:spPr>
          <p:txBody>
            <a:bodyPr wrap="square" lIns="0" tIns="0" rIns="0" bIns="0" rtlCol="0"/>
            <a:lstStyle/>
            <a:p>
              <a:endParaRPr/>
            </a:p>
          </p:txBody>
        </p:sp>
        <p:sp>
          <p:nvSpPr>
            <p:cNvPr id="40" name="object 29">
              <a:extLst>
                <a:ext uri="{FF2B5EF4-FFF2-40B4-BE49-F238E27FC236}">
                  <a16:creationId xmlns:a16="http://schemas.microsoft.com/office/drawing/2014/main" id="{802F5302-BB69-9564-ABC5-30162F1FDAA7}"/>
                </a:ext>
              </a:extLst>
            </p:cNvPr>
            <p:cNvSpPr/>
            <p:nvPr/>
          </p:nvSpPr>
          <p:spPr>
            <a:xfrm>
              <a:off x="6768613" y="4552312"/>
              <a:ext cx="528320" cy="1037590"/>
            </a:xfrm>
            <a:custGeom>
              <a:avLst/>
              <a:gdLst/>
              <a:ahLst/>
              <a:cxnLst/>
              <a:rect l="l" t="t" r="r" b="b"/>
              <a:pathLst>
                <a:path w="528320" h="1037589">
                  <a:moveTo>
                    <a:pt x="0" y="0"/>
                  </a:moveTo>
                  <a:lnTo>
                    <a:pt x="528262" y="0"/>
                  </a:lnTo>
                  <a:lnTo>
                    <a:pt x="528262" y="1037330"/>
                  </a:lnTo>
                  <a:lnTo>
                    <a:pt x="0" y="1037330"/>
                  </a:lnTo>
                  <a:lnTo>
                    <a:pt x="0" y="0"/>
                  </a:lnTo>
                  <a:close/>
                </a:path>
              </a:pathLst>
            </a:custGeom>
            <a:ln w="9525">
              <a:solidFill>
                <a:srgbClr val="000000"/>
              </a:solidFill>
            </a:ln>
          </p:spPr>
          <p:txBody>
            <a:bodyPr wrap="square" lIns="0" tIns="0" rIns="0" bIns="0" rtlCol="0"/>
            <a:lstStyle/>
            <a:p>
              <a:endParaRPr/>
            </a:p>
          </p:txBody>
        </p:sp>
      </p:grpSp>
      <p:sp>
        <p:nvSpPr>
          <p:cNvPr id="41" name="object 30">
            <a:extLst>
              <a:ext uri="{FF2B5EF4-FFF2-40B4-BE49-F238E27FC236}">
                <a16:creationId xmlns:a16="http://schemas.microsoft.com/office/drawing/2014/main" id="{8AEE3930-8B2A-BD20-2ECC-13D2BD6452CB}"/>
              </a:ext>
            </a:extLst>
          </p:cNvPr>
          <p:cNvSpPr txBox="1"/>
          <p:nvPr/>
        </p:nvSpPr>
        <p:spPr>
          <a:xfrm>
            <a:off x="6707025" y="3866066"/>
            <a:ext cx="528320" cy="1037590"/>
          </a:xfrm>
          <a:prstGeom prst="rect">
            <a:avLst/>
          </a:prstGeom>
        </p:spPr>
        <p:txBody>
          <a:bodyPr vert="horz" wrap="square" lIns="0" tIns="314325" rIns="0" bIns="0" rtlCol="0">
            <a:spAutoFit/>
          </a:bodyPr>
          <a:lstStyle/>
          <a:p>
            <a:pPr marL="146050">
              <a:lnSpc>
                <a:spcPct val="100000"/>
              </a:lnSpc>
              <a:spcBef>
                <a:spcPts val="2475"/>
              </a:spcBef>
            </a:pPr>
            <a:r>
              <a:rPr sz="2400" spc="-25">
                <a:latin typeface="Arial"/>
                <a:cs typeface="Arial"/>
              </a:rPr>
              <a:t>x</a:t>
            </a:r>
            <a:r>
              <a:rPr sz="2400" spc="-37" baseline="-19097">
                <a:latin typeface="Arial"/>
                <a:cs typeface="Arial"/>
              </a:rPr>
              <a:t>3</a:t>
            </a:r>
            <a:endParaRPr sz="2400" baseline="-19097">
              <a:latin typeface="Arial"/>
              <a:cs typeface="Arial"/>
            </a:endParaRPr>
          </a:p>
        </p:txBody>
      </p:sp>
      <p:sp>
        <p:nvSpPr>
          <p:cNvPr id="42" name="object 31">
            <a:extLst>
              <a:ext uri="{FF2B5EF4-FFF2-40B4-BE49-F238E27FC236}">
                <a16:creationId xmlns:a16="http://schemas.microsoft.com/office/drawing/2014/main" id="{B4B9C289-F5F4-DC43-9585-FCAC0DE141E1}"/>
              </a:ext>
            </a:extLst>
          </p:cNvPr>
          <p:cNvSpPr/>
          <p:nvPr/>
        </p:nvSpPr>
        <p:spPr>
          <a:xfrm>
            <a:off x="7325063" y="2887473"/>
            <a:ext cx="528320" cy="76200"/>
          </a:xfrm>
          <a:custGeom>
            <a:avLst/>
            <a:gdLst/>
            <a:ahLst/>
            <a:cxnLst/>
            <a:rect l="l" t="t" r="r" b="b"/>
            <a:pathLst>
              <a:path w="528320" h="76200">
                <a:moveTo>
                  <a:pt x="451662" y="0"/>
                </a:moveTo>
                <a:lnTo>
                  <a:pt x="451662" y="28575"/>
                </a:lnTo>
                <a:lnTo>
                  <a:pt x="0" y="28573"/>
                </a:lnTo>
                <a:lnTo>
                  <a:pt x="0" y="47623"/>
                </a:lnTo>
                <a:lnTo>
                  <a:pt x="451662" y="47625"/>
                </a:lnTo>
                <a:lnTo>
                  <a:pt x="451662" y="76200"/>
                </a:lnTo>
                <a:lnTo>
                  <a:pt x="527862" y="38100"/>
                </a:lnTo>
                <a:lnTo>
                  <a:pt x="451662" y="0"/>
                </a:lnTo>
                <a:close/>
              </a:path>
            </a:pathLst>
          </a:custGeom>
          <a:solidFill>
            <a:srgbClr val="44546A"/>
          </a:solidFill>
        </p:spPr>
        <p:txBody>
          <a:bodyPr wrap="square" lIns="0" tIns="0" rIns="0" bIns="0" rtlCol="0"/>
          <a:lstStyle/>
          <a:p>
            <a:endParaRPr/>
          </a:p>
        </p:txBody>
      </p:sp>
      <p:sp>
        <p:nvSpPr>
          <p:cNvPr id="45" name="object 34">
            <a:extLst>
              <a:ext uri="{FF2B5EF4-FFF2-40B4-BE49-F238E27FC236}">
                <a16:creationId xmlns:a16="http://schemas.microsoft.com/office/drawing/2014/main" id="{1063C778-FAA5-1115-A948-91850624C6E7}"/>
              </a:ext>
            </a:extLst>
          </p:cNvPr>
          <p:cNvSpPr/>
          <p:nvPr/>
        </p:nvSpPr>
        <p:spPr>
          <a:xfrm>
            <a:off x="6180390" y="2887380"/>
            <a:ext cx="436880" cy="76200"/>
          </a:xfrm>
          <a:custGeom>
            <a:avLst/>
            <a:gdLst/>
            <a:ahLst/>
            <a:cxnLst/>
            <a:rect l="l" t="t" r="r" b="b"/>
            <a:pathLst>
              <a:path w="436879" h="76200">
                <a:moveTo>
                  <a:pt x="360486" y="0"/>
                </a:moveTo>
                <a:lnTo>
                  <a:pt x="360486" y="28575"/>
                </a:lnTo>
                <a:lnTo>
                  <a:pt x="0" y="28573"/>
                </a:lnTo>
                <a:lnTo>
                  <a:pt x="0" y="47623"/>
                </a:lnTo>
                <a:lnTo>
                  <a:pt x="360485" y="47625"/>
                </a:lnTo>
                <a:lnTo>
                  <a:pt x="360485" y="76200"/>
                </a:lnTo>
                <a:lnTo>
                  <a:pt x="436685" y="38100"/>
                </a:lnTo>
                <a:lnTo>
                  <a:pt x="360486" y="0"/>
                </a:lnTo>
                <a:close/>
              </a:path>
            </a:pathLst>
          </a:custGeom>
          <a:solidFill>
            <a:srgbClr val="44546A"/>
          </a:solidFill>
        </p:spPr>
        <p:txBody>
          <a:bodyPr wrap="square" lIns="0" tIns="0" rIns="0" bIns="0" rtlCol="0"/>
          <a:lstStyle/>
          <a:p>
            <a:endParaRPr/>
          </a:p>
        </p:txBody>
      </p:sp>
      <p:sp>
        <p:nvSpPr>
          <p:cNvPr id="46" name="object 35">
            <a:extLst>
              <a:ext uri="{FF2B5EF4-FFF2-40B4-BE49-F238E27FC236}">
                <a16:creationId xmlns:a16="http://schemas.microsoft.com/office/drawing/2014/main" id="{4D63DE75-FB23-4CC6-A397-087F3B6DAD11}"/>
              </a:ext>
            </a:extLst>
          </p:cNvPr>
          <p:cNvSpPr/>
          <p:nvPr/>
        </p:nvSpPr>
        <p:spPr>
          <a:xfrm>
            <a:off x="4466924" y="3866066"/>
            <a:ext cx="528320" cy="1037590"/>
          </a:xfrm>
          <a:custGeom>
            <a:avLst/>
            <a:gdLst/>
            <a:ahLst/>
            <a:cxnLst/>
            <a:rect l="l" t="t" r="r" b="b"/>
            <a:pathLst>
              <a:path w="528320" h="1037589">
                <a:moveTo>
                  <a:pt x="528261" y="0"/>
                </a:moveTo>
                <a:lnTo>
                  <a:pt x="0" y="0"/>
                </a:lnTo>
                <a:lnTo>
                  <a:pt x="0" y="1037330"/>
                </a:lnTo>
                <a:lnTo>
                  <a:pt x="528261" y="1037330"/>
                </a:lnTo>
                <a:lnTo>
                  <a:pt x="528261" y="0"/>
                </a:lnTo>
                <a:close/>
              </a:path>
            </a:pathLst>
          </a:custGeom>
          <a:solidFill>
            <a:srgbClr val="F4CCCC"/>
          </a:solidFill>
        </p:spPr>
        <p:txBody>
          <a:bodyPr wrap="square" lIns="0" tIns="0" rIns="0" bIns="0" rtlCol="0"/>
          <a:lstStyle/>
          <a:p>
            <a:endParaRPr/>
          </a:p>
        </p:txBody>
      </p:sp>
      <p:sp>
        <p:nvSpPr>
          <p:cNvPr id="47" name="object 36">
            <a:extLst>
              <a:ext uri="{FF2B5EF4-FFF2-40B4-BE49-F238E27FC236}">
                <a16:creationId xmlns:a16="http://schemas.microsoft.com/office/drawing/2014/main" id="{17895EB9-CC43-1825-4A69-7847328CDF7C}"/>
              </a:ext>
            </a:extLst>
          </p:cNvPr>
          <p:cNvSpPr/>
          <p:nvPr/>
        </p:nvSpPr>
        <p:spPr>
          <a:xfrm>
            <a:off x="4466924" y="3866066"/>
            <a:ext cx="528320" cy="1037590"/>
          </a:xfrm>
          <a:custGeom>
            <a:avLst/>
            <a:gdLst/>
            <a:ahLst/>
            <a:cxnLst/>
            <a:rect l="l" t="t" r="r" b="b"/>
            <a:pathLst>
              <a:path w="528320" h="1037589">
                <a:moveTo>
                  <a:pt x="0" y="0"/>
                </a:moveTo>
                <a:lnTo>
                  <a:pt x="528262" y="0"/>
                </a:lnTo>
                <a:lnTo>
                  <a:pt x="528262" y="1037330"/>
                </a:lnTo>
                <a:lnTo>
                  <a:pt x="0" y="1037330"/>
                </a:lnTo>
                <a:lnTo>
                  <a:pt x="0" y="0"/>
                </a:lnTo>
                <a:close/>
              </a:path>
            </a:pathLst>
          </a:custGeom>
          <a:ln w="9525">
            <a:solidFill>
              <a:srgbClr val="000000"/>
            </a:solidFill>
          </a:ln>
        </p:spPr>
        <p:txBody>
          <a:bodyPr wrap="square" lIns="0" tIns="0" rIns="0" bIns="0" rtlCol="0"/>
          <a:lstStyle/>
          <a:p>
            <a:endParaRPr/>
          </a:p>
        </p:txBody>
      </p:sp>
      <p:sp>
        <p:nvSpPr>
          <p:cNvPr id="48" name="object 37">
            <a:extLst>
              <a:ext uri="{FF2B5EF4-FFF2-40B4-BE49-F238E27FC236}">
                <a16:creationId xmlns:a16="http://schemas.microsoft.com/office/drawing/2014/main" id="{7CDC75DC-6567-9A06-BE3E-62371453A464}"/>
              </a:ext>
            </a:extLst>
          </p:cNvPr>
          <p:cNvSpPr/>
          <p:nvPr/>
        </p:nvSpPr>
        <p:spPr>
          <a:xfrm>
            <a:off x="6933055" y="3265823"/>
            <a:ext cx="76200" cy="600710"/>
          </a:xfrm>
          <a:custGeom>
            <a:avLst/>
            <a:gdLst/>
            <a:ahLst/>
            <a:cxnLst/>
            <a:rect l="l" t="t" r="r" b="b"/>
            <a:pathLst>
              <a:path w="76200" h="600710">
                <a:moveTo>
                  <a:pt x="38100" y="0"/>
                </a:moveTo>
                <a:lnTo>
                  <a:pt x="0" y="76200"/>
                </a:lnTo>
                <a:lnTo>
                  <a:pt x="28575" y="76200"/>
                </a:lnTo>
                <a:lnTo>
                  <a:pt x="28576" y="600243"/>
                </a:lnTo>
                <a:lnTo>
                  <a:pt x="47626" y="600243"/>
                </a:lnTo>
                <a:lnTo>
                  <a:pt x="47625" y="76200"/>
                </a:lnTo>
                <a:lnTo>
                  <a:pt x="76200" y="76200"/>
                </a:lnTo>
                <a:lnTo>
                  <a:pt x="38100" y="0"/>
                </a:lnTo>
                <a:close/>
              </a:path>
            </a:pathLst>
          </a:custGeom>
          <a:solidFill>
            <a:srgbClr val="44546A"/>
          </a:solidFill>
        </p:spPr>
        <p:txBody>
          <a:bodyPr wrap="square" lIns="0" tIns="0" rIns="0" bIns="0" rtlCol="0"/>
          <a:lstStyle/>
          <a:p>
            <a:endParaRPr/>
          </a:p>
        </p:txBody>
      </p:sp>
      <p:sp>
        <p:nvSpPr>
          <p:cNvPr id="50" name="object 39">
            <a:extLst>
              <a:ext uri="{FF2B5EF4-FFF2-40B4-BE49-F238E27FC236}">
                <a16:creationId xmlns:a16="http://schemas.microsoft.com/office/drawing/2014/main" id="{557CB6F2-C892-4C31-5848-11FDACCF9459}"/>
              </a:ext>
            </a:extLst>
          </p:cNvPr>
          <p:cNvSpPr txBox="1"/>
          <p:nvPr/>
        </p:nvSpPr>
        <p:spPr>
          <a:xfrm>
            <a:off x="4466924" y="3866066"/>
            <a:ext cx="528320" cy="1037590"/>
          </a:xfrm>
          <a:prstGeom prst="rect">
            <a:avLst/>
          </a:prstGeom>
        </p:spPr>
        <p:txBody>
          <a:bodyPr vert="horz" wrap="square" lIns="0" tIns="314325" rIns="0" bIns="0" rtlCol="0">
            <a:spAutoFit/>
          </a:bodyPr>
          <a:lstStyle/>
          <a:p>
            <a:pPr marL="146050">
              <a:lnSpc>
                <a:spcPct val="100000"/>
              </a:lnSpc>
              <a:spcBef>
                <a:spcPts val="2475"/>
              </a:spcBef>
            </a:pPr>
            <a:r>
              <a:rPr sz="2400" spc="-25">
                <a:latin typeface="Arial"/>
                <a:cs typeface="Arial"/>
              </a:rPr>
              <a:t>x</a:t>
            </a:r>
            <a:r>
              <a:rPr sz="2400" spc="-37" baseline="-19097">
                <a:latin typeface="Arial"/>
                <a:cs typeface="Arial"/>
              </a:rPr>
              <a:t>2</a:t>
            </a:r>
            <a:endParaRPr sz="2400" baseline="-19097">
              <a:latin typeface="Arial"/>
              <a:cs typeface="Arial"/>
            </a:endParaRPr>
          </a:p>
        </p:txBody>
      </p:sp>
      <p:grpSp>
        <p:nvGrpSpPr>
          <p:cNvPr id="51" name="object 40">
            <a:extLst>
              <a:ext uri="{FF2B5EF4-FFF2-40B4-BE49-F238E27FC236}">
                <a16:creationId xmlns:a16="http://schemas.microsoft.com/office/drawing/2014/main" id="{98FFE532-7294-1614-911F-41CA523342AE}"/>
              </a:ext>
            </a:extLst>
          </p:cNvPr>
          <p:cNvGrpSpPr/>
          <p:nvPr/>
        </p:nvGrpSpPr>
        <p:grpSpPr>
          <a:xfrm>
            <a:off x="2222062" y="3861303"/>
            <a:ext cx="537845" cy="1047115"/>
            <a:chOff x="2283650" y="4547549"/>
            <a:chExt cx="537845" cy="1047115"/>
          </a:xfrm>
        </p:grpSpPr>
        <p:sp>
          <p:nvSpPr>
            <p:cNvPr id="52" name="object 41">
              <a:extLst>
                <a:ext uri="{FF2B5EF4-FFF2-40B4-BE49-F238E27FC236}">
                  <a16:creationId xmlns:a16="http://schemas.microsoft.com/office/drawing/2014/main" id="{0995AF0E-24B9-075F-7382-9C6689298F09}"/>
                </a:ext>
              </a:extLst>
            </p:cNvPr>
            <p:cNvSpPr/>
            <p:nvPr/>
          </p:nvSpPr>
          <p:spPr>
            <a:xfrm>
              <a:off x="2288413" y="4552312"/>
              <a:ext cx="528320" cy="1037590"/>
            </a:xfrm>
            <a:custGeom>
              <a:avLst/>
              <a:gdLst/>
              <a:ahLst/>
              <a:cxnLst/>
              <a:rect l="l" t="t" r="r" b="b"/>
              <a:pathLst>
                <a:path w="528319" h="1037589">
                  <a:moveTo>
                    <a:pt x="528261" y="0"/>
                  </a:moveTo>
                  <a:lnTo>
                    <a:pt x="0" y="0"/>
                  </a:lnTo>
                  <a:lnTo>
                    <a:pt x="0" y="1037330"/>
                  </a:lnTo>
                  <a:lnTo>
                    <a:pt x="528261" y="1037330"/>
                  </a:lnTo>
                  <a:lnTo>
                    <a:pt x="528261" y="0"/>
                  </a:lnTo>
                  <a:close/>
                </a:path>
              </a:pathLst>
            </a:custGeom>
            <a:solidFill>
              <a:srgbClr val="F4CCCC"/>
            </a:solidFill>
          </p:spPr>
          <p:txBody>
            <a:bodyPr wrap="square" lIns="0" tIns="0" rIns="0" bIns="0" rtlCol="0"/>
            <a:lstStyle/>
            <a:p>
              <a:endParaRPr/>
            </a:p>
          </p:txBody>
        </p:sp>
        <p:sp>
          <p:nvSpPr>
            <p:cNvPr id="53" name="object 42">
              <a:extLst>
                <a:ext uri="{FF2B5EF4-FFF2-40B4-BE49-F238E27FC236}">
                  <a16:creationId xmlns:a16="http://schemas.microsoft.com/office/drawing/2014/main" id="{DFC944F6-C6C3-AE70-A7D2-E710A1C74FDF}"/>
                </a:ext>
              </a:extLst>
            </p:cNvPr>
            <p:cNvSpPr/>
            <p:nvPr/>
          </p:nvSpPr>
          <p:spPr>
            <a:xfrm>
              <a:off x="2288413" y="4552312"/>
              <a:ext cx="528320" cy="1037590"/>
            </a:xfrm>
            <a:custGeom>
              <a:avLst/>
              <a:gdLst/>
              <a:ahLst/>
              <a:cxnLst/>
              <a:rect l="l" t="t" r="r" b="b"/>
              <a:pathLst>
                <a:path w="528319" h="1037589">
                  <a:moveTo>
                    <a:pt x="0" y="0"/>
                  </a:moveTo>
                  <a:lnTo>
                    <a:pt x="528262" y="0"/>
                  </a:lnTo>
                  <a:lnTo>
                    <a:pt x="528262" y="1037330"/>
                  </a:lnTo>
                  <a:lnTo>
                    <a:pt x="0" y="1037330"/>
                  </a:lnTo>
                  <a:lnTo>
                    <a:pt x="0" y="0"/>
                  </a:lnTo>
                  <a:close/>
                </a:path>
              </a:pathLst>
            </a:custGeom>
            <a:ln w="9525">
              <a:solidFill>
                <a:srgbClr val="000000"/>
              </a:solidFill>
            </a:ln>
          </p:spPr>
          <p:txBody>
            <a:bodyPr wrap="square" lIns="0" tIns="0" rIns="0" bIns="0" rtlCol="0"/>
            <a:lstStyle/>
            <a:p>
              <a:endParaRPr/>
            </a:p>
          </p:txBody>
        </p:sp>
      </p:grpSp>
      <p:sp>
        <p:nvSpPr>
          <p:cNvPr id="54" name="object 43">
            <a:extLst>
              <a:ext uri="{FF2B5EF4-FFF2-40B4-BE49-F238E27FC236}">
                <a16:creationId xmlns:a16="http://schemas.microsoft.com/office/drawing/2014/main" id="{B5CF8249-7CC3-8477-4C9D-489377C43146}"/>
              </a:ext>
            </a:extLst>
          </p:cNvPr>
          <p:cNvSpPr txBox="1"/>
          <p:nvPr/>
        </p:nvSpPr>
        <p:spPr>
          <a:xfrm>
            <a:off x="2226825" y="3866066"/>
            <a:ext cx="528320" cy="1037590"/>
          </a:xfrm>
          <a:prstGeom prst="rect">
            <a:avLst/>
          </a:prstGeom>
        </p:spPr>
        <p:txBody>
          <a:bodyPr vert="horz" wrap="square" lIns="0" tIns="314325" rIns="0" bIns="0" rtlCol="0">
            <a:spAutoFit/>
          </a:bodyPr>
          <a:lstStyle/>
          <a:p>
            <a:pPr marL="146050">
              <a:lnSpc>
                <a:spcPct val="100000"/>
              </a:lnSpc>
              <a:spcBef>
                <a:spcPts val="2475"/>
              </a:spcBef>
            </a:pPr>
            <a:r>
              <a:rPr sz="2400" spc="-25">
                <a:latin typeface="Arial"/>
                <a:cs typeface="Arial"/>
              </a:rPr>
              <a:t>x</a:t>
            </a:r>
            <a:r>
              <a:rPr sz="2400" spc="-37" baseline="-19097">
                <a:latin typeface="Arial"/>
                <a:cs typeface="Arial"/>
              </a:rPr>
              <a:t>1</a:t>
            </a:r>
            <a:endParaRPr sz="2400" baseline="-19097">
              <a:latin typeface="Arial"/>
              <a:cs typeface="Arial"/>
            </a:endParaRPr>
          </a:p>
        </p:txBody>
      </p:sp>
      <p:grpSp>
        <p:nvGrpSpPr>
          <p:cNvPr id="55" name="object 44">
            <a:extLst>
              <a:ext uri="{FF2B5EF4-FFF2-40B4-BE49-F238E27FC236}">
                <a16:creationId xmlns:a16="http://schemas.microsoft.com/office/drawing/2014/main" id="{2B5AB366-D292-5399-5706-2DFB6399FFB2}"/>
              </a:ext>
            </a:extLst>
          </p:cNvPr>
          <p:cNvGrpSpPr/>
          <p:nvPr/>
        </p:nvGrpSpPr>
        <p:grpSpPr>
          <a:xfrm>
            <a:off x="915428" y="4304448"/>
            <a:ext cx="717550" cy="690245"/>
            <a:chOff x="977016" y="4990694"/>
            <a:chExt cx="717550" cy="690245"/>
          </a:xfrm>
        </p:grpSpPr>
        <p:sp>
          <p:nvSpPr>
            <p:cNvPr id="56" name="object 45">
              <a:extLst>
                <a:ext uri="{FF2B5EF4-FFF2-40B4-BE49-F238E27FC236}">
                  <a16:creationId xmlns:a16="http://schemas.microsoft.com/office/drawing/2014/main" id="{7470FB57-1FFE-2B50-F7BF-11D80DA48EA4}"/>
                </a:ext>
              </a:extLst>
            </p:cNvPr>
            <p:cNvSpPr/>
            <p:nvPr/>
          </p:nvSpPr>
          <p:spPr>
            <a:xfrm>
              <a:off x="981779" y="4995457"/>
              <a:ext cx="708025" cy="680720"/>
            </a:xfrm>
            <a:custGeom>
              <a:avLst/>
              <a:gdLst/>
              <a:ahLst/>
              <a:cxnLst/>
              <a:rect l="l" t="t" r="r" b="b"/>
              <a:pathLst>
                <a:path w="708025" h="680720">
                  <a:moveTo>
                    <a:pt x="707816" y="0"/>
                  </a:moveTo>
                  <a:lnTo>
                    <a:pt x="0" y="0"/>
                  </a:lnTo>
                  <a:lnTo>
                    <a:pt x="0" y="680223"/>
                  </a:lnTo>
                  <a:lnTo>
                    <a:pt x="707816" y="680223"/>
                  </a:lnTo>
                  <a:lnTo>
                    <a:pt x="707816" y="0"/>
                  </a:lnTo>
                  <a:close/>
                </a:path>
              </a:pathLst>
            </a:custGeom>
            <a:solidFill>
              <a:srgbClr val="FCE5CD"/>
            </a:solidFill>
          </p:spPr>
          <p:txBody>
            <a:bodyPr wrap="square" lIns="0" tIns="0" rIns="0" bIns="0" rtlCol="0"/>
            <a:lstStyle/>
            <a:p>
              <a:endParaRPr/>
            </a:p>
          </p:txBody>
        </p:sp>
        <p:sp>
          <p:nvSpPr>
            <p:cNvPr id="57" name="object 46">
              <a:extLst>
                <a:ext uri="{FF2B5EF4-FFF2-40B4-BE49-F238E27FC236}">
                  <a16:creationId xmlns:a16="http://schemas.microsoft.com/office/drawing/2014/main" id="{08EF75C6-528C-3631-0CA9-B3B042D5A381}"/>
                </a:ext>
              </a:extLst>
            </p:cNvPr>
            <p:cNvSpPr/>
            <p:nvPr/>
          </p:nvSpPr>
          <p:spPr>
            <a:xfrm>
              <a:off x="981779" y="4995457"/>
              <a:ext cx="708025" cy="680720"/>
            </a:xfrm>
            <a:custGeom>
              <a:avLst/>
              <a:gdLst/>
              <a:ahLst/>
              <a:cxnLst/>
              <a:rect l="l" t="t" r="r" b="b"/>
              <a:pathLst>
                <a:path w="708025" h="680720">
                  <a:moveTo>
                    <a:pt x="0" y="0"/>
                  </a:moveTo>
                  <a:lnTo>
                    <a:pt x="707816" y="0"/>
                  </a:lnTo>
                  <a:lnTo>
                    <a:pt x="707816" y="680223"/>
                  </a:lnTo>
                  <a:lnTo>
                    <a:pt x="0" y="680223"/>
                  </a:lnTo>
                  <a:lnTo>
                    <a:pt x="0" y="0"/>
                  </a:lnTo>
                  <a:close/>
                </a:path>
              </a:pathLst>
            </a:custGeom>
            <a:ln w="9525">
              <a:solidFill>
                <a:srgbClr val="44546A"/>
              </a:solidFill>
            </a:ln>
          </p:spPr>
          <p:txBody>
            <a:bodyPr wrap="square" lIns="0" tIns="0" rIns="0" bIns="0" rtlCol="0"/>
            <a:lstStyle/>
            <a:p>
              <a:endParaRPr/>
            </a:p>
          </p:txBody>
        </p:sp>
      </p:grpSp>
      <p:sp>
        <p:nvSpPr>
          <p:cNvPr id="58" name="object 47">
            <a:extLst>
              <a:ext uri="{FF2B5EF4-FFF2-40B4-BE49-F238E27FC236}">
                <a16:creationId xmlns:a16="http://schemas.microsoft.com/office/drawing/2014/main" id="{378A8707-3843-314E-7194-66105E30BBBF}"/>
              </a:ext>
            </a:extLst>
          </p:cNvPr>
          <p:cNvSpPr txBox="1"/>
          <p:nvPr/>
        </p:nvSpPr>
        <p:spPr>
          <a:xfrm>
            <a:off x="1029359" y="4367447"/>
            <a:ext cx="387350" cy="513080"/>
          </a:xfrm>
          <a:prstGeom prst="rect">
            <a:avLst/>
          </a:prstGeom>
        </p:spPr>
        <p:txBody>
          <a:bodyPr vert="horz" wrap="square" lIns="0" tIns="12700" rIns="0" bIns="0" rtlCol="0">
            <a:spAutoFit/>
          </a:bodyPr>
          <a:lstStyle/>
          <a:p>
            <a:pPr marL="12700">
              <a:lnSpc>
                <a:spcPct val="100000"/>
              </a:lnSpc>
              <a:spcBef>
                <a:spcPts val="100"/>
              </a:spcBef>
            </a:pPr>
            <a:r>
              <a:rPr sz="3200" spc="-175" dirty="0">
                <a:latin typeface="Arial"/>
                <a:cs typeface="Arial"/>
              </a:rPr>
              <a:t>W</a:t>
            </a:r>
            <a:endParaRPr sz="3200" dirty="0">
              <a:latin typeface="Arial"/>
              <a:cs typeface="Arial"/>
            </a:endParaRPr>
          </a:p>
        </p:txBody>
      </p:sp>
      <p:sp>
        <p:nvSpPr>
          <p:cNvPr id="59" name="object 48">
            <a:extLst>
              <a:ext uri="{FF2B5EF4-FFF2-40B4-BE49-F238E27FC236}">
                <a16:creationId xmlns:a16="http://schemas.microsoft.com/office/drawing/2014/main" id="{03F9A3AB-0C01-9ADC-94D2-319CCA8AF782}"/>
              </a:ext>
            </a:extLst>
          </p:cNvPr>
          <p:cNvSpPr/>
          <p:nvPr/>
        </p:nvSpPr>
        <p:spPr>
          <a:xfrm>
            <a:off x="1264584" y="3241101"/>
            <a:ext cx="8132445" cy="2306320"/>
          </a:xfrm>
          <a:custGeom>
            <a:avLst/>
            <a:gdLst/>
            <a:ahLst/>
            <a:cxnLst/>
            <a:rect l="l" t="t" r="r" b="b"/>
            <a:pathLst>
              <a:path w="8132445" h="2306320">
                <a:moveTo>
                  <a:pt x="925969" y="119697"/>
                </a:moveTo>
                <a:lnTo>
                  <a:pt x="894880" y="40386"/>
                </a:lnTo>
                <a:lnTo>
                  <a:pt x="850087" y="112852"/>
                </a:lnTo>
                <a:lnTo>
                  <a:pt x="878065" y="115379"/>
                </a:lnTo>
                <a:lnTo>
                  <a:pt x="875703" y="133883"/>
                </a:lnTo>
                <a:lnTo>
                  <a:pt x="864006" y="180047"/>
                </a:lnTo>
                <a:lnTo>
                  <a:pt x="848156" y="225145"/>
                </a:lnTo>
                <a:lnTo>
                  <a:pt x="828459" y="268782"/>
                </a:lnTo>
                <a:lnTo>
                  <a:pt x="805256" y="310591"/>
                </a:lnTo>
                <a:lnTo>
                  <a:pt x="778852" y="350177"/>
                </a:lnTo>
                <a:lnTo>
                  <a:pt x="749592" y="387159"/>
                </a:lnTo>
                <a:lnTo>
                  <a:pt x="717804" y="421144"/>
                </a:lnTo>
                <a:lnTo>
                  <a:pt x="683818" y="451777"/>
                </a:lnTo>
                <a:lnTo>
                  <a:pt x="647992" y="478675"/>
                </a:lnTo>
                <a:lnTo>
                  <a:pt x="610654" y="501484"/>
                </a:lnTo>
                <a:lnTo>
                  <a:pt x="572147" y="519836"/>
                </a:lnTo>
                <a:lnTo>
                  <a:pt x="532815" y="533387"/>
                </a:lnTo>
                <a:lnTo>
                  <a:pt x="492963" y="541794"/>
                </a:lnTo>
                <a:lnTo>
                  <a:pt x="408800" y="547878"/>
                </a:lnTo>
                <a:lnTo>
                  <a:pt x="366534" y="556780"/>
                </a:lnTo>
                <a:lnTo>
                  <a:pt x="325056" y="571055"/>
                </a:lnTo>
                <a:lnTo>
                  <a:pt x="284695" y="590270"/>
                </a:lnTo>
                <a:lnTo>
                  <a:pt x="245732" y="614057"/>
                </a:lnTo>
                <a:lnTo>
                  <a:pt x="208483" y="642010"/>
                </a:lnTo>
                <a:lnTo>
                  <a:pt x="173266" y="673760"/>
                </a:lnTo>
                <a:lnTo>
                  <a:pt x="140385" y="708914"/>
                </a:lnTo>
                <a:lnTo>
                  <a:pt x="110147" y="747115"/>
                </a:lnTo>
                <a:lnTo>
                  <a:pt x="82892" y="787984"/>
                </a:lnTo>
                <a:lnTo>
                  <a:pt x="58915" y="831151"/>
                </a:lnTo>
                <a:lnTo>
                  <a:pt x="38569" y="876261"/>
                </a:lnTo>
                <a:lnTo>
                  <a:pt x="22161" y="922934"/>
                </a:lnTo>
                <a:lnTo>
                  <a:pt x="10045" y="970813"/>
                </a:lnTo>
                <a:lnTo>
                  <a:pt x="2540" y="1019505"/>
                </a:lnTo>
                <a:lnTo>
                  <a:pt x="0" y="1067612"/>
                </a:lnTo>
                <a:lnTo>
                  <a:pt x="19024" y="1068616"/>
                </a:lnTo>
                <a:lnTo>
                  <a:pt x="21564" y="1020508"/>
                </a:lnTo>
                <a:lnTo>
                  <a:pt x="28867" y="973721"/>
                </a:lnTo>
                <a:lnTo>
                  <a:pt x="40627" y="927633"/>
                </a:lnTo>
                <a:lnTo>
                  <a:pt x="56540" y="882599"/>
                </a:lnTo>
                <a:lnTo>
                  <a:pt x="76276" y="839000"/>
                </a:lnTo>
                <a:lnTo>
                  <a:pt x="99542" y="797242"/>
                </a:lnTo>
                <a:lnTo>
                  <a:pt x="125996" y="757694"/>
                </a:lnTo>
                <a:lnTo>
                  <a:pt x="155308" y="720750"/>
                </a:lnTo>
                <a:lnTo>
                  <a:pt x="187172" y="686777"/>
                </a:lnTo>
                <a:lnTo>
                  <a:pt x="221234" y="656170"/>
                </a:lnTo>
                <a:lnTo>
                  <a:pt x="257149" y="629297"/>
                </a:lnTo>
                <a:lnTo>
                  <a:pt x="294601" y="606539"/>
                </a:lnTo>
                <a:lnTo>
                  <a:pt x="333235" y="588264"/>
                </a:lnTo>
                <a:lnTo>
                  <a:pt x="372706" y="574802"/>
                </a:lnTo>
                <a:lnTo>
                  <a:pt x="412699" y="566521"/>
                </a:lnTo>
                <a:lnTo>
                  <a:pt x="494322" y="560806"/>
                </a:lnTo>
                <a:lnTo>
                  <a:pt x="536714" y="552030"/>
                </a:lnTo>
                <a:lnTo>
                  <a:pt x="578319" y="537857"/>
                </a:lnTo>
                <a:lnTo>
                  <a:pt x="618832" y="518693"/>
                </a:lnTo>
                <a:lnTo>
                  <a:pt x="657898" y="494957"/>
                </a:lnTo>
                <a:lnTo>
                  <a:pt x="695248" y="467029"/>
                </a:lnTo>
                <a:lnTo>
                  <a:pt x="730542" y="435305"/>
                </a:lnTo>
                <a:lnTo>
                  <a:pt x="763485" y="400177"/>
                </a:lnTo>
                <a:lnTo>
                  <a:pt x="793775" y="362013"/>
                </a:lnTo>
                <a:lnTo>
                  <a:pt x="821093" y="321170"/>
                </a:lnTo>
                <a:lnTo>
                  <a:pt x="845108" y="278041"/>
                </a:lnTo>
                <a:lnTo>
                  <a:pt x="865517" y="232994"/>
                </a:lnTo>
                <a:lnTo>
                  <a:pt x="881976" y="186385"/>
                </a:lnTo>
                <a:lnTo>
                  <a:pt x="894168" y="138582"/>
                </a:lnTo>
                <a:lnTo>
                  <a:pt x="897001" y="117081"/>
                </a:lnTo>
                <a:lnTo>
                  <a:pt x="925969" y="119697"/>
                </a:lnTo>
                <a:close/>
              </a:path>
              <a:path w="8132445" h="2306320">
                <a:moveTo>
                  <a:pt x="8132026" y="376910"/>
                </a:moveTo>
                <a:lnTo>
                  <a:pt x="8098206" y="298716"/>
                </a:lnTo>
                <a:lnTo>
                  <a:pt x="8055940" y="372694"/>
                </a:lnTo>
                <a:lnTo>
                  <a:pt x="8084198" y="374256"/>
                </a:lnTo>
                <a:lnTo>
                  <a:pt x="8082928" y="390880"/>
                </a:lnTo>
                <a:lnTo>
                  <a:pt x="8075765" y="437083"/>
                </a:lnTo>
                <a:lnTo>
                  <a:pt x="8065821" y="483247"/>
                </a:lnTo>
                <a:lnTo>
                  <a:pt x="8053108" y="529348"/>
                </a:lnTo>
                <a:lnTo>
                  <a:pt x="8037690" y="575360"/>
                </a:lnTo>
                <a:lnTo>
                  <a:pt x="8019593" y="621271"/>
                </a:lnTo>
                <a:lnTo>
                  <a:pt x="7998879" y="667054"/>
                </a:lnTo>
                <a:lnTo>
                  <a:pt x="7975574" y="712673"/>
                </a:lnTo>
                <a:lnTo>
                  <a:pt x="7949730" y="758126"/>
                </a:lnTo>
                <a:lnTo>
                  <a:pt x="7921396" y="803376"/>
                </a:lnTo>
                <a:lnTo>
                  <a:pt x="7890599" y="848385"/>
                </a:lnTo>
                <a:lnTo>
                  <a:pt x="7857401" y="893152"/>
                </a:lnTo>
                <a:lnTo>
                  <a:pt x="7821841" y="937653"/>
                </a:lnTo>
                <a:lnTo>
                  <a:pt x="7783970" y="981837"/>
                </a:lnTo>
                <a:lnTo>
                  <a:pt x="7743812" y="1025702"/>
                </a:lnTo>
                <a:lnTo>
                  <a:pt x="7701445" y="1069225"/>
                </a:lnTo>
                <a:lnTo>
                  <a:pt x="7656881" y="1112367"/>
                </a:lnTo>
                <a:lnTo>
                  <a:pt x="7610195" y="1155115"/>
                </a:lnTo>
                <a:lnTo>
                  <a:pt x="7561427" y="1197432"/>
                </a:lnTo>
                <a:lnTo>
                  <a:pt x="7510602" y="1239304"/>
                </a:lnTo>
                <a:lnTo>
                  <a:pt x="7457795" y="1280718"/>
                </a:lnTo>
                <a:lnTo>
                  <a:pt x="7403033" y="1321625"/>
                </a:lnTo>
                <a:lnTo>
                  <a:pt x="7346378" y="1362024"/>
                </a:lnTo>
                <a:lnTo>
                  <a:pt x="7287857" y="1401876"/>
                </a:lnTo>
                <a:lnTo>
                  <a:pt x="7227532" y="1441170"/>
                </a:lnTo>
                <a:lnTo>
                  <a:pt x="7165441" y="1479880"/>
                </a:lnTo>
                <a:lnTo>
                  <a:pt x="7101637" y="1517967"/>
                </a:lnTo>
                <a:lnTo>
                  <a:pt x="7036168" y="1555419"/>
                </a:lnTo>
                <a:lnTo>
                  <a:pt x="6969138" y="1592186"/>
                </a:lnTo>
                <a:lnTo>
                  <a:pt x="6830263" y="1663725"/>
                </a:lnTo>
                <a:lnTo>
                  <a:pt x="6685458" y="1732343"/>
                </a:lnTo>
                <a:lnTo>
                  <a:pt x="6535077" y="1797875"/>
                </a:lnTo>
                <a:lnTo>
                  <a:pt x="6379515" y="1860118"/>
                </a:lnTo>
                <a:lnTo>
                  <a:pt x="6219139" y="1918893"/>
                </a:lnTo>
                <a:lnTo>
                  <a:pt x="6054318" y="1974024"/>
                </a:lnTo>
                <a:lnTo>
                  <a:pt x="5885408" y="2025332"/>
                </a:lnTo>
                <a:lnTo>
                  <a:pt x="5712815" y="2072601"/>
                </a:lnTo>
                <a:lnTo>
                  <a:pt x="5536870" y="2115693"/>
                </a:lnTo>
                <a:lnTo>
                  <a:pt x="5357977" y="2154390"/>
                </a:lnTo>
                <a:lnTo>
                  <a:pt x="5176494" y="2188514"/>
                </a:lnTo>
                <a:lnTo>
                  <a:pt x="4992789" y="2217902"/>
                </a:lnTo>
                <a:lnTo>
                  <a:pt x="4807242" y="2242350"/>
                </a:lnTo>
                <a:lnTo>
                  <a:pt x="4620222" y="2261679"/>
                </a:lnTo>
                <a:lnTo>
                  <a:pt x="4432084" y="2275725"/>
                </a:lnTo>
                <a:lnTo>
                  <a:pt x="4243222" y="2284285"/>
                </a:lnTo>
                <a:lnTo>
                  <a:pt x="4053890" y="2287168"/>
                </a:lnTo>
                <a:lnTo>
                  <a:pt x="3864457" y="2286381"/>
                </a:lnTo>
                <a:lnTo>
                  <a:pt x="3675418" y="2284031"/>
                </a:lnTo>
                <a:lnTo>
                  <a:pt x="3299828" y="2274862"/>
                </a:lnTo>
                <a:lnTo>
                  <a:pt x="3114090" y="2268143"/>
                </a:lnTo>
                <a:lnTo>
                  <a:pt x="2930207" y="2260079"/>
                </a:lnTo>
                <a:lnTo>
                  <a:pt x="2748534" y="2250706"/>
                </a:lnTo>
                <a:lnTo>
                  <a:pt x="2569464" y="2240076"/>
                </a:lnTo>
                <a:lnTo>
                  <a:pt x="2393353" y="2228240"/>
                </a:lnTo>
                <a:lnTo>
                  <a:pt x="2220569" y="2215248"/>
                </a:lnTo>
                <a:lnTo>
                  <a:pt x="2051494" y="2201151"/>
                </a:lnTo>
                <a:lnTo>
                  <a:pt x="1886496" y="2186013"/>
                </a:lnTo>
                <a:lnTo>
                  <a:pt x="1725955" y="2169858"/>
                </a:lnTo>
                <a:lnTo>
                  <a:pt x="1570215" y="2152764"/>
                </a:lnTo>
                <a:lnTo>
                  <a:pt x="1419682" y="2134755"/>
                </a:lnTo>
                <a:lnTo>
                  <a:pt x="1274699" y="2115909"/>
                </a:lnTo>
                <a:lnTo>
                  <a:pt x="1135621" y="2096249"/>
                </a:lnTo>
                <a:lnTo>
                  <a:pt x="1068438" y="2086140"/>
                </a:lnTo>
                <a:lnTo>
                  <a:pt x="1002880" y="2075840"/>
                </a:lnTo>
                <a:lnTo>
                  <a:pt x="938987" y="2065375"/>
                </a:lnTo>
                <a:lnTo>
                  <a:pt x="876820" y="2054733"/>
                </a:lnTo>
                <a:lnTo>
                  <a:pt x="816406" y="2043938"/>
                </a:lnTo>
                <a:lnTo>
                  <a:pt x="757809" y="2032990"/>
                </a:lnTo>
                <a:lnTo>
                  <a:pt x="701065" y="2021878"/>
                </a:lnTo>
                <a:lnTo>
                  <a:pt x="646214" y="2010638"/>
                </a:lnTo>
                <a:lnTo>
                  <a:pt x="593331" y="1999259"/>
                </a:lnTo>
                <a:lnTo>
                  <a:pt x="542442" y="1987753"/>
                </a:lnTo>
                <a:lnTo>
                  <a:pt x="493585" y="1976120"/>
                </a:lnTo>
                <a:lnTo>
                  <a:pt x="473151" y="1970989"/>
                </a:lnTo>
                <a:lnTo>
                  <a:pt x="496290" y="1975878"/>
                </a:lnTo>
                <a:lnTo>
                  <a:pt x="552538" y="1986826"/>
                </a:lnTo>
                <a:lnTo>
                  <a:pt x="610933" y="1997290"/>
                </a:lnTo>
                <a:lnTo>
                  <a:pt x="664387" y="2006079"/>
                </a:lnTo>
                <a:lnTo>
                  <a:pt x="666013" y="2006371"/>
                </a:lnTo>
                <a:lnTo>
                  <a:pt x="754329" y="2021471"/>
                </a:lnTo>
                <a:lnTo>
                  <a:pt x="846810" y="2036013"/>
                </a:lnTo>
                <a:lnTo>
                  <a:pt x="943216" y="2049957"/>
                </a:lnTo>
                <a:lnTo>
                  <a:pt x="1043292" y="2063267"/>
                </a:lnTo>
                <a:lnTo>
                  <a:pt x="1146810" y="2075903"/>
                </a:lnTo>
                <a:lnTo>
                  <a:pt x="1253515" y="2087841"/>
                </a:lnTo>
                <a:lnTo>
                  <a:pt x="1363167" y="2099043"/>
                </a:lnTo>
                <a:lnTo>
                  <a:pt x="1475511" y="2109457"/>
                </a:lnTo>
                <a:lnTo>
                  <a:pt x="1590319" y="2119045"/>
                </a:lnTo>
                <a:lnTo>
                  <a:pt x="1707337" y="2127796"/>
                </a:lnTo>
                <a:lnTo>
                  <a:pt x="1826310" y="2135657"/>
                </a:lnTo>
                <a:lnTo>
                  <a:pt x="1947011" y="2142579"/>
                </a:lnTo>
                <a:lnTo>
                  <a:pt x="2192540" y="2153501"/>
                </a:lnTo>
                <a:lnTo>
                  <a:pt x="2442045" y="2160282"/>
                </a:lnTo>
                <a:lnTo>
                  <a:pt x="2693517" y="2162606"/>
                </a:lnTo>
                <a:lnTo>
                  <a:pt x="2819616" y="2159482"/>
                </a:lnTo>
                <a:lnTo>
                  <a:pt x="2945612" y="2150224"/>
                </a:lnTo>
                <a:lnTo>
                  <a:pt x="3071101" y="2135035"/>
                </a:lnTo>
                <a:lnTo>
                  <a:pt x="3195828" y="2114118"/>
                </a:lnTo>
                <a:lnTo>
                  <a:pt x="3319564" y="2087651"/>
                </a:lnTo>
                <a:lnTo>
                  <a:pt x="3442055" y="2055850"/>
                </a:lnTo>
                <a:lnTo>
                  <a:pt x="3563061" y="2018919"/>
                </a:lnTo>
                <a:lnTo>
                  <a:pt x="3682339" y="1977034"/>
                </a:lnTo>
                <a:lnTo>
                  <a:pt x="3799624" y="1930412"/>
                </a:lnTo>
                <a:lnTo>
                  <a:pt x="3914698" y="1879244"/>
                </a:lnTo>
                <a:lnTo>
                  <a:pt x="4027297" y="1823720"/>
                </a:lnTo>
                <a:lnTo>
                  <a:pt x="4137190" y="1764055"/>
                </a:lnTo>
                <a:lnTo>
                  <a:pt x="4244124" y="1700428"/>
                </a:lnTo>
                <a:lnTo>
                  <a:pt x="4347857" y="1633042"/>
                </a:lnTo>
                <a:lnTo>
                  <a:pt x="4448137" y="1562100"/>
                </a:lnTo>
                <a:lnTo>
                  <a:pt x="4544733" y="1487792"/>
                </a:lnTo>
                <a:lnTo>
                  <a:pt x="4637392" y="1410309"/>
                </a:lnTo>
                <a:lnTo>
                  <a:pt x="4725873" y="1329855"/>
                </a:lnTo>
                <a:lnTo>
                  <a:pt x="4809922" y="1246619"/>
                </a:lnTo>
                <a:lnTo>
                  <a:pt x="4889297" y="1160805"/>
                </a:lnTo>
                <a:lnTo>
                  <a:pt x="4963757" y="1072591"/>
                </a:lnTo>
                <a:lnTo>
                  <a:pt x="5033048" y="982192"/>
                </a:lnTo>
                <a:lnTo>
                  <a:pt x="5096929" y="889787"/>
                </a:lnTo>
                <a:lnTo>
                  <a:pt x="5155146" y="795591"/>
                </a:lnTo>
                <a:lnTo>
                  <a:pt x="5207457" y="699770"/>
                </a:lnTo>
                <a:lnTo>
                  <a:pt x="5231384" y="651192"/>
                </a:lnTo>
                <a:lnTo>
                  <a:pt x="5253672" y="602411"/>
                </a:lnTo>
                <a:lnTo>
                  <a:pt x="5274361" y="553313"/>
                </a:lnTo>
                <a:lnTo>
                  <a:pt x="5293423" y="503948"/>
                </a:lnTo>
                <a:lnTo>
                  <a:pt x="5310810" y="454317"/>
                </a:lnTo>
                <a:lnTo>
                  <a:pt x="5326507" y="404456"/>
                </a:lnTo>
                <a:lnTo>
                  <a:pt x="5340477" y="354380"/>
                </a:lnTo>
                <a:lnTo>
                  <a:pt x="5352681" y="304126"/>
                </a:lnTo>
                <a:lnTo>
                  <a:pt x="5363108" y="253720"/>
                </a:lnTo>
                <a:lnTo>
                  <a:pt x="5371706" y="203174"/>
                </a:lnTo>
                <a:lnTo>
                  <a:pt x="5378450" y="152527"/>
                </a:lnTo>
                <a:lnTo>
                  <a:pt x="5383301" y="101790"/>
                </a:lnTo>
                <a:lnTo>
                  <a:pt x="5384558" y="76454"/>
                </a:lnTo>
                <a:lnTo>
                  <a:pt x="5413324" y="77381"/>
                </a:lnTo>
                <a:lnTo>
                  <a:pt x="5377713" y="0"/>
                </a:lnTo>
                <a:lnTo>
                  <a:pt x="5337162" y="74917"/>
                </a:lnTo>
                <a:lnTo>
                  <a:pt x="5365521" y="75844"/>
                </a:lnTo>
                <a:lnTo>
                  <a:pt x="5364340" y="99974"/>
                </a:lnTo>
                <a:lnTo>
                  <a:pt x="5359565" y="150012"/>
                </a:lnTo>
                <a:lnTo>
                  <a:pt x="5352923" y="199986"/>
                </a:lnTo>
                <a:lnTo>
                  <a:pt x="5344452" y="249872"/>
                </a:lnTo>
                <a:lnTo>
                  <a:pt x="5334178" y="299631"/>
                </a:lnTo>
                <a:lnTo>
                  <a:pt x="5322125" y="349262"/>
                </a:lnTo>
                <a:lnTo>
                  <a:pt x="5308333" y="398741"/>
                </a:lnTo>
                <a:lnTo>
                  <a:pt x="5292839" y="448017"/>
                </a:lnTo>
                <a:lnTo>
                  <a:pt x="5275643" y="497090"/>
                </a:lnTo>
                <a:lnTo>
                  <a:pt x="5256809" y="545922"/>
                </a:lnTo>
                <a:lnTo>
                  <a:pt x="5236349" y="594499"/>
                </a:lnTo>
                <a:lnTo>
                  <a:pt x="5214290" y="642785"/>
                </a:lnTo>
                <a:lnTo>
                  <a:pt x="5190744" y="690638"/>
                </a:lnTo>
                <a:lnTo>
                  <a:pt x="5138940" y="785571"/>
                </a:lnTo>
                <a:lnTo>
                  <a:pt x="5081257" y="878967"/>
                </a:lnTo>
                <a:lnTo>
                  <a:pt x="5017922" y="970610"/>
                </a:lnTo>
                <a:lnTo>
                  <a:pt x="4949202" y="1060310"/>
                </a:lnTo>
                <a:lnTo>
                  <a:pt x="4875314" y="1147864"/>
                </a:lnTo>
                <a:lnTo>
                  <a:pt x="4796510" y="1233081"/>
                </a:lnTo>
                <a:lnTo>
                  <a:pt x="4713059" y="1315758"/>
                </a:lnTo>
                <a:lnTo>
                  <a:pt x="4625175" y="1395691"/>
                </a:lnTo>
                <a:lnTo>
                  <a:pt x="4533125" y="1472692"/>
                </a:lnTo>
                <a:lnTo>
                  <a:pt x="4437138" y="1546555"/>
                </a:lnTo>
                <a:lnTo>
                  <a:pt x="4337482" y="1617065"/>
                </a:lnTo>
                <a:lnTo>
                  <a:pt x="4234383" y="1684058"/>
                </a:lnTo>
                <a:lnTo>
                  <a:pt x="4128097" y="1747316"/>
                </a:lnTo>
                <a:lnTo>
                  <a:pt x="4018877" y="1806638"/>
                </a:lnTo>
                <a:lnTo>
                  <a:pt x="3906951" y="1861832"/>
                </a:lnTo>
                <a:lnTo>
                  <a:pt x="3792588" y="1912708"/>
                </a:lnTo>
                <a:lnTo>
                  <a:pt x="3676027" y="1959063"/>
                </a:lnTo>
                <a:lnTo>
                  <a:pt x="3557498" y="2000694"/>
                </a:lnTo>
                <a:lnTo>
                  <a:pt x="3437267" y="2037410"/>
                </a:lnTo>
                <a:lnTo>
                  <a:pt x="3315589" y="2069020"/>
                </a:lnTo>
                <a:lnTo>
                  <a:pt x="3192678" y="2095322"/>
                </a:lnTo>
                <a:lnTo>
                  <a:pt x="3068815" y="2116124"/>
                </a:lnTo>
                <a:lnTo>
                  <a:pt x="2944215" y="2131225"/>
                </a:lnTo>
                <a:lnTo>
                  <a:pt x="2819146" y="2140432"/>
                </a:lnTo>
                <a:lnTo>
                  <a:pt x="2693695" y="2143556"/>
                </a:lnTo>
                <a:lnTo>
                  <a:pt x="2442565" y="2141232"/>
                </a:lnTo>
                <a:lnTo>
                  <a:pt x="2193379" y="2134476"/>
                </a:lnTo>
                <a:lnTo>
                  <a:pt x="1948103" y="2123567"/>
                </a:lnTo>
                <a:lnTo>
                  <a:pt x="1827568" y="2116645"/>
                </a:lnTo>
                <a:lnTo>
                  <a:pt x="1708746" y="2108797"/>
                </a:lnTo>
                <a:lnTo>
                  <a:pt x="1591906" y="2100072"/>
                </a:lnTo>
                <a:lnTo>
                  <a:pt x="1477276" y="2090483"/>
                </a:lnTo>
                <a:lnTo>
                  <a:pt x="1365097" y="2080082"/>
                </a:lnTo>
                <a:lnTo>
                  <a:pt x="1255636" y="2068906"/>
                </a:lnTo>
                <a:lnTo>
                  <a:pt x="1211160" y="2063940"/>
                </a:lnTo>
                <a:lnTo>
                  <a:pt x="1281214" y="2068131"/>
                </a:lnTo>
                <a:lnTo>
                  <a:pt x="1426718" y="2073452"/>
                </a:lnTo>
                <a:lnTo>
                  <a:pt x="1573377" y="2075281"/>
                </a:lnTo>
                <a:lnTo>
                  <a:pt x="1647177" y="2072271"/>
                </a:lnTo>
                <a:lnTo>
                  <a:pt x="1721078" y="2063356"/>
                </a:lnTo>
                <a:lnTo>
                  <a:pt x="1794662" y="2048713"/>
                </a:lnTo>
                <a:lnTo>
                  <a:pt x="1867763" y="2028532"/>
                </a:lnTo>
                <a:lnTo>
                  <a:pt x="1940242" y="2003031"/>
                </a:lnTo>
                <a:lnTo>
                  <a:pt x="2011959" y="1972386"/>
                </a:lnTo>
                <a:lnTo>
                  <a:pt x="2082774" y="1936800"/>
                </a:lnTo>
                <a:lnTo>
                  <a:pt x="2152548" y="1896478"/>
                </a:lnTo>
                <a:lnTo>
                  <a:pt x="2221128" y="1851596"/>
                </a:lnTo>
                <a:lnTo>
                  <a:pt x="2288387" y="1802358"/>
                </a:lnTo>
                <a:lnTo>
                  <a:pt x="2354173" y="1748955"/>
                </a:lnTo>
                <a:lnTo>
                  <a:pt x="2418359" y="1691576"/>
                </a:lnTo>
                <a:lnTo>
                  <a:pt x="2480792" y="1630413"/>
                </a:lnTo>
                <a:lnTo>
                  <a:pt x="2541346" y="1565656"/>
                </a:lnTo>
                <a:lnTo>
                  <a:pt x="2599867" y="1497482"/>
                </a:lnTo>
                <a:lnTo>
                  <a:pt x="2656217" y="1426108"/>
                </a:lnTo>
                <a:lnTo>
                  <a:pt x="2710269" y="1351699"/>
                </a:lnTo>
                <a:lnTo>
                  <a:pt x="2761869" y="1274445"/>
                </a:lnTo>
                <a:lnTo>
                  <a:pt x="2810865" y="1194536"/>
                </a:lnTo>
                <a:lnTo>
                  <a:pt x="2857131" y="1112177"/>
                </a:lnTo>
                <a:lnTo>
                  <a:pt x="2900527" y="1027544"/>
                </a:lnTo>
                <a:lnTo>
                  <a:pt x="2940888" y="940816"/>
                </a:lnTo>
                <a:lnTo>
                  <a:pt x="2978099" y="852195"/>
                </a:lnTo>
                <a:lnTo>
                  <a:pt x="3012008" y="761860"/>
                </a:lnTo>
                <a:lnTo>
                  <a:pt x="3042462" y="670001"/>
                </a:lnTo>
                <a:lnTo>
                  <a:pt x="3069323" y="576821"/>
                </a:lnTo>
                <a:lnTo>
                  <a:pt x="3092450" y="482485"/>
                </a:lnTo>
                <a:lnTo>
                  <a:pt x="3111703" y="387184"/>
                </a:lnTo>
                <a:lnTo>
                  <a:pt x="3126930" y="291134"/>
                </a:lnTo>
                <a:lnTo>
                  <a:pt x="3137979" y="194487"/>
                </a:lnTo>
                <a:lnTo>
                  <a:pt x="3144723" y="97459"/>
                </a:lnTo>
                <a:lnTo>
                  <a:pt x="3145231" y="76390"/>
                </a:lnTo>
                <a:lnTo>
                  <a:pt x="3173793" y="77063"/>
                </a:lnTo>
                <a:lnTo>
                  <a:pt x="3137497" y="0"/>
                </a:lnTo>
                <a:lnTo>
                  <a:pt x="3097619" y="75285"/>
                </a:lnTo>
                <a:lnTo>
                  <a:pt x="3126194" y="75946"/>
                </a:lnTo>
                <a:lnTo>
                  <a:pt x="3125724" y="96139"/>
                </a:lnTo>
                <a:lnTo>
                  <a:pt x="3119056" y="192328"/>
                </a:lnTo>
                <a:lnTo>
                  <a:pt x="3108109" y="288150"/>
                </a:lnTo>
                <a:lnTo>
                  <a:pt x="3093034" y="383425"/>
                </a:lnTo>
                <a:lnTo>
                  <a:pt x="3073946" y="477951"/>
                </a:lnTo>
                <a:lnTo>
                  <a:pt x="3051022" y="571538"/>
                </a:lnTo>
                <a:lnTo>
                  <a:pt x="3024378" y="664006"/>
                </a:lnTo>
                <a:lnTo>
                  <a:pt x="2994164" y="755167"/>
                </a:lnTo>
                <a:lnTo>
                  <a:pt x="2960535" y="844816"/>
                </a:lnTo>
                <a:lnTo>
                  <a:pt x="2923629" y="932776"/>
                </a:lnTo>
                <a:lnTo>
                  <a:pt x="2883573" y="1018857"/>
                </a:lnTo>
                <a:lnTo>
                  <a:pt x="2840520" y="1102855"/>
                </a:lnTo>
                <a:lnTo>
                  <a:pt x="2794622" y="1184579"/>
                </a:lnTo>
                <a:lnTo>
                  <a:pt x="2746019" y="1263865"/>
                </a:lnTo>
                <a:lnTo>
                  <a:pt x="2694851" y="1340497"/>
                </a:lnTo>
                <a:lnTo>
                  <a:pt x="2641269" y="1414297"/>
                </a:lnTo>
                <a:lnTo>
                  <a:pt x="2585415" y="1485074"/>
                </a:lnTo>
                <a:lnTo>
                  <a:pt x="2527427" y="1552638"/>
                </a:lnTo>
                <a:lnTo>
                  <a:pt x="2467457" y="1616798"/>
                </a:lnTo>
                <a:lnTo>
                  <a:pt x="2405659" y="1677377"/>
                </a:lnTo>
                <a:lnTo>
                  <a:pt x="2342172" y="1734159"/>
                </a:lnTo>
                <a:lnTo>
                  <a:pt x="2277135" y="1786991"/>
                </a:lnTo>
                <a:lnTo>
                  <a:pt x="2210701" y="1835658"/>
                </a:lnTo>
                <a:lnTo>
                  <a:pt x="2143010" y="1879981"/>
                </a:lnTo>
                <a:lnTo>
                  <a:pt x="2074227" y="1919782"/>
                </a:lnTo>
                <a:lnTo>
                  <a:pt x="2004479" y="1954872"/>
                </a:lnTo>
                <a:lnTo>
                  <a:pt x="1933917" y="1985060"/>
                </a:lnTo>
                <a:lnTo>
                  <a:pt x="1862683" y="2010168"/>
                </a:lnTo>
                <a:lnTo>
                  <a:pt x="1790928" y="2030031"/>
                </a:lnTo>
                <a:lnTo>
                  <a:pt x="1718792" y="2044446"/>
                </a:lnTo>
                <a:lnTo>
                  <a:pt x="1646402" y="2053247"/>
                </a:lnTo>
                <a:lnTo>
                  <a:pt x="1573618" y="2056231"/>
                </a:lnTo>
                <a:lnTo>
                  <a:pt x="1427416" y="2054415"/>
                </a:lnTo>
                <a:lnTo>
                  <a:pt x="1282344" y="2049119"/>
                </a:lnTo>
                <a:lnTo>
                  <a:pt x="1139571" y="2040572"/>
                </a:lnTo>
                <a:lnTo>
                  <a:pt x="1000226" y="2029002"/>
                </a:lnTo>
                <a:lnTo>
                  <a:pt x="865428" y="2014651"/>
                </a:lnTo>
                <a:lnTo>
                  <a:pt x="800125" y="2006498"/>
                </a:lnTo>
                <a:lnTo>
                  <a:pt x="736409" y="1997748"/>
                </a:lnTo>
                <a:lnTo>
                  <a:pt x="674420" y="1988413"/>
                </a:lnTo>
                <a:lnTo>
                  <a:pt x="585901" y="1972081"/>
                </a:lnTo>
                <a:lnTo>
                  <a:pt x="506984" y="1956041"/>
                </a:lnTo>
                <a:lnTo>
                  <a:pt x="433006" y="1939569"/>
                </a:lnTo>
                <a:lnTo>
                  <a:pt x="364236" y="1922691"/>
                </a:lnTo>
                <a:lnTo>
                  <a:pt x="300901" y="1905469"/>
                </a:lnTo>
                <a:lnTo>
                  <a:pt x="243281" y="1887943"/>
                </a:lnTo>
                <a:lnTo>
                  <a:pt x="191516" y="1870125"/>
                </a:lnTo>
                <a:lnTo>
                  <a:pt x="146088" y="1852142"/>
                </a:lnTo>
                <a:lnTo>
                  <a:pt x="107188" y="1834032"/>
                </a:lnTo>
                <a:lnTo>
                  <a:pt x="61747" y="1806943"/>
                </a:lnTo>
                <a:lnTo>
                  <a:pt x="32689" y="1780730"/>
                </a:lnTo>
                <a:lnTo>
                  <a:pt x="18986" y="1747380"/>
                </a:lnTo>
                <a:lnTo>
                  <a:pt x="18973" y="1747253"/>
                </a:lnTo>
                <a:lnTo>
                  <a:pt x="18923" y="1746897"/>
                </a:lnTo>
                <a:lnTo>
                  <a:pt x="9563" y="1748332"/>
                </a:lnTo>
                <a:lnTo>
                  <a:pt x="9207" y="1748383"/>
                </a:lnTo>
                <a:lnTo>
                  <a:pt x="38" y="1749310"/>
                </a:lnTo>
                <a:lnTo>
                  <a:pt x="1016" y="1758797"/>
                </a:lnTo>
                <a:lnTo>
                  <a:pt x="1193" y="1759432"/>
                </a:lnTo>
                <a:lnTo>
                  <a:pt x="1600" y="1762950"/>
                </a:lnTo>
                <a:lnTo>
                  <a:pt x="6362" y="1777111"/>
                </a:lnTo>
                <a:lnTo>
                  <a:pt x="38849" y="1819224"/>
                </a:lnTo>
                <a:lnTo>
                  <a:pt x="73990" y="1845767"/>
                </a:lnTo>
                <a:lnTo>
                  <a:pt x="119341" y="1871637"/>
                </a:lnTo>
                <a:lnTo>
                  <a:pt x="174625" y="1897049"/>
                </a:lnTo>
                <a:lnTo>
                  <a:pt x="239560" y="1922056"/>
                </a:lnTo>
                <a:lnTo>
                  <a:pt x="313817" y="1946668"/>
                </a:lnTo>
                <a:lnTo>
                  <a:pt x="354330" y="1958809"/>
                </a:lnTo>
                <a:lnTo>
                  <a:pt x="397065" y="1970849"/>
                </a:lnTo>
                <a:lnTo>
                  <a:pt x="441947" y="1982787"/>
                </a:lnTo>
                <a:lnTo>
                  <a:pt x="488950" y="1994598"/>
                </a:lnTo>
                <a:lnTo>
                  <a:pt x="538022" y="2006282"/>
                </a:lnTo>
                <a:lnTo>
                  <a:pt x="589127" y="2017839"/>
                </a:lnTo>
                <a:lnTo>
                  <a:pt x="642213" y="2029256"/>
                </a:lnTo>
                <a:lnTo>
                  <a:pt x="697230" y="2040547"/>
                </a:lnTo>
                <a:lnTo>
                  <a:pt x="754151" y="2051685"/>
                </a:lnTo>
                <a:lnTo>
                  <a:pt x="812901" y="2062670"/>
                </a:lnTo>
                <a:lnTo>
                  <a:pt x="873467" y="2073490"/>
                </a:lnTo>
                <a:lnTo>
                  <a:pt x="935774" y="2084146"/>
                </a:lnTo>
                <a:lnTo>
                  <a:pt x="999807" y="2094636"/>
                </a:lnTo>
                <a:lnTo>
                  <a:pt x="1065491" y="2104948"/>
                </a:lnTo>
                <a:lnTo>
                  <a:pt x="1132789" y="2115083"/>
                </a:lnTo>
                <a:lnTo>
                  <a:pt x="1272032" y="2134768"/>
                </a:lnTo>
                <a:lnTo>
                  <a:pt x="1417218" y="2153653"/>
                </a:lnTo>
                <a:lnTo>
                  <a:pt x="1567954" y="2171674"/>
                </a:lnTo>
                <a:lnTo>
                  <a:pt x="1723872" y="2188794"/>
                </a:lnTo>
                <a:lnTo>
                  <a:pt x="1884591" y="2204961"/>
                </a:lnTo>
                <a:lnTo>
                  <a:pt x="2049754" y="2220125"/>
                </a:lnTo>
                <a:lnTo>
                  <a:pt x="2218994" y="2234234"/>
                </a:lnTo>
                <a:lnTo>
                  <a:pt x="2391918" y="2247227"/>
                </a:lnTo>
                <a:lnTo>
                  <a:pt x="2568181" y="2259076"/>
                </a:lnTo>
                <a:lnTo>
                  <a:pt x="2747403" y="2269718"/>
                </a:lnTo>
                <a:lnTo>
                  <a:pt x="2929217" y="2279104"/>
                </a:lnTo>
                <a:lnTo>
                  <a:pt x="3113252" y="2287181"/>
                </a:lnTo>
                <a:lnTo>
                  <a:pt x="3299142" y="2293899"/>
                </a:lnTo>
                <a:lnTo>
                  <a:pt x="3674961" y="2303081"/>
                </a:lnTo>
                <a:lnTo>
                  <a:pt x="3864216" y="2305431"/>
                </a:lnTo>
                <a:lnTo>
                  <a:pt x="4053814" y="2306218"/>
                </a:lnTo>
                <a:lnTo>
                  <a:pt x="4243514" y="2303322"/>
                </a:lnTo>
                <a:lnTo>
                  <a:pt x="4432947" y="2294750"/>
                </a:lnTo>
                <a:lnTo>
                  <a:pt x="4621631" y="2280678"/>
                </a:lnTo>
                <a:lnTo>
                  <a:pt x="4809198" y="2261298"/>
                </a:lnTo>
                <a:lnTo>
                  <a:pt x="4995278" y="2236787"/>
                </a:lnTo>
                <a:lnTo>
                  <a:pt x="5179504" y="2207323"/>
                </a:lnTo>
                <a:lnTo>
                  <a:pt x="5361495" y="2173109"/>
                </a:lnTo>
                <a:lnTo>
                  <a:pt x="5540908" y="2134311"/>
                </a:lnTo>
                <a:lnTo>
                  <a:pt x="5717337" y="2091105"/>
                </a:lnTo>
                <a:lnTo>
                  <a:pt x="5890450" y="2043696"/>
                </a:lnTo>
                <a:lnTo>
                  <a:pt x="6059856" y="1992261"/>
                </a:lnTo>
                <a:lnTo>
                  <a:pt x="6225184" y="1936965"/>
                </a:lnTo>
                <a:lnTo>
                  <a:pt x="6386081" y="1877999"/>
                </a:lnTo>
                <a:lnTo>
                  <a:pt x="6542164" y="1815553"/>
                </a:lnTo>
                <a:lnTo>
                  <a:pt x="6693065" y="1749806"/>
                </a:lnTo>
                <a:lnTo>
                  <a:pt x="6838416" y="1680933"/>
                </a:lnTo>
                <a:lnTo>
                  <a:pt x="6977862" y="1609128"/>
                </a:lnTo>
                <a:lnTo>
                  <a:pt x="7045325" y="1572133"/>
                </a:lnTo>
                <a:lnTo>
                  <a:pt x="7111098" y="1534502"/>
                </a:lnTo>
                <a:lnTo>
                  <a:pt x="7175208" y="1496237"/>
                </a:lnTo>
                <a:lnTo>
                  <a:pt x="7237603" y="1457337"/>
                </a:lnTo>
                <a:lnTo>
                  <a:pt x="7298258" y="1417840"/>
                </a:lnTo>
                <a:lnTo>
                  <a:pt x="7357097" y="1377772"/>
                </a:lnTo>
                <a:lnTo>
                  <a:pt x="7414095" y="1337144"/>
                </a:lnTo>
                <a:lnTo>
                  <a:pt x="7469200" y="1295984"/>
                </a:lnTo>
                <a:lnTo>
                  <a:pt x="7522362" y="1254302"/>
                </a:lnTo>
                <a:lnTo>
                  <a:pt x="7573543" y="1212138"/>
                </a:lnTo>
                <a:lnTo>
                  <a:pt x="7622680" y="1169504"/>
                </a:lnTo>
                <a:lnTo>
                  <a:pt x="7669746" y="1126413"/>
                </a:lnTo>
                <a:lnTo>
                  <a:pt x="7714691" y="1082903"/>
                </a:lnTo>
                <a:lnTo>
                  <a:pt x="7757465" y="1038999"/>
                </a:lnTo>
                <a:lnTo>
                  <a:pt x="7798016" y="994702"/>
                </a:lnTo>
                <a:lnTo>
                  <a:pt x="7836306" y="950048"/>
                </a:lnTo>
                <a:lnTo>
                  <a:pt x="7872285" y="905052"/>
                </a:lnTo>
                <a:lnTo>
                  <a:pt x="7905902" y="859739"/>
                </a:lnTo>
                <a:lnTo>
                  <a:pt x="7937119" y="814133"/>
                </a:lnTo>
                <a:lnTo>
                  <a:pt x="7965884" y="768235"/>
                </a:lnTo>
                <a:lnTo>
                  <a:pt x="7992135" y="722096"/>
                </a:lnTo>
                <a:lnTo>
                  <a:pt x="8015846" y="675716"/>
                </a:lnTo>
                <a:lnTo>
                  <a:pt x="8036954" y="629132"/>
                </a:lnTo>
                <a:lnTo>
                  <a:pt x="8055407" y="582358"/>
                </a:lnTo>
                <a:lnTo>
                  <a:pt x="8071167" y="535406"/>
                </a:lnTo>
                <a:lnTo>
                  <a:pt x="8084185" y="488315"/>
                </a:lnTo>
                <a:lnTo>
                  <a:pt x="8094396" y="441109"/>
                </a:lnTo>
                <a:lnTo>
                  <a:pt x="8101749" y="393801"/>
                </a:lnTo>
                <a:lnTo>
                  <a:pt x="8103209" y="375310"/>
                </a:lnTo>
                <a:lnTo>
                  <a:pt x="8132026" y="376910"/>
                </a:lnTo>
                <a:close/>
              </a:path>
            </a:pathLst>
          </a:custGeom>
          <a:solidFill>
            <a:srgbClr val="44546A"/>
          </a:solidFill>
        </p:spPr>
        <p:txBody>
          <a:bodyPr wrap="square" lIns="0" tIns="0" rIns="0" bIns="0" rtlCol="0"/>
          <a:lstStyle/>
          <a:p>
            <a:endParaRPr/>
          </a:p>
        </p:txBody>
      </p:sp>
      <p:grpSp>
        <p:nvGrpSpPr>
          <p:cNvPr id="63" name="Group 62">
            <a:extLst>
              <a:ext uri="{FF2B5EF4-FFF2-40B4-BE49-F238E27FC236}">
                <a16:creationId xmlns:a16="http://schemas.microsoft.com/office/drawing/2014/main" id="{125D5BE4-1B63-D986-3C8E-B5C9C5A48569}"/>
              </a:ext>
            </a:extLst>
          </p:cNvPr>
          <p:cNvGrpSpPr/>
          <p:nvPr/>
        </p:nvGrpSpPr>
        <p:grpSpPr>
          <a:xfrm>
            <a:off x="8420509" y="2369806"/>
            <a:ext cx="2319034" cy="1074597"/>
            <a:chOff x="8482097" y="3056052"/>
            <a:chExt cx="2319034" cy="1074597"/>
          </a:xfrm>
        </p:grpSpPr>
        <p:sp>
          <p:nvSpPr>
            <p:cNvPr id="43" name="object 32">
              <a:extLst>
                <a:ext uri="{FF2B5EF4-FFF2-40B4-BE49-F238E27FC236}">
                  <a16:creationId xmlns:a16="http://schemas.microsoft.com/office/drawing/2014/main" id="{24FDE510-99E8-F43B-419C-519A5CE0A26A}"/>
                </a:ext>
              </a:extLst>
            </p:cNvPr>
            <p:cNvSpPr/>
            <p:nvPr/>
          </p:nvSpPr>
          <p:spPr>
            <a:xfrm>
              <a:off x="8482097" y="3573626"/>
              <a:ext cx="415290" cy="76200"/>
            </a:xfrm>
            <a:custGeom>
              <a:avLst/>
              <a:gdLst/>
              <a:ahLst/>
              <a:cxnLst/>
              <a:rect l="l" t="t" r="r" b="b"/>
              <a:pathLst>
                <a:path w="415290" h="76200">
                  <a:moveTo>
                    <a:pt x="338891" y="0"/>
                  </a:moveTo>
                  <a:lnTo>
                    <a:pt x="338891" y="28575"/>
                  </a:lnTo>
                  <a:lnTo>
                    <a:pt x="0" y="28573"/>
                  </a:lnTo>
                  <a:lnTo>
                    <a:pt x="0" y="47623"/>
                  </a:lnTo>
                  <a:lnTo>
                    <a:pt x="338891" y="47625"/>
                  </a:lnTo>
                  <a:lnTo>
                    <a:pt x="338891" y="76200"/>
                  </a:lnTo>
                  <a:lnTo>
                    <a:pt x="415091" y="38100"/>
                  </a:lnTo>
                  <a:lnTo>
                    <a:pt x="338891" y="0"/>
                  </a:lnTo>
                  <a:close/>
                </a:path>
              </a:pathLst>
            </a:custGeom>
            <a:solidFill>
              <a:srgbClr val="44546A"/>
            </a:solidFill>
          </p:spPr>
          <p:txBody>
            <a:bodyPr wrap="square" lIns="0" tIns="0" rIns="0" bIns="0" rtlCol="0"/>
            <a:lstStyle/>
            <a:p>
              <a:endParaRPr/>
            </a:p>
          </p:txBody>
        </p:sp>
        <p:sp>
          <p:nvSpPr>
            <p:cNvPr id="49" name="object 38">
              <a:extLst>
                <a:ext uri="{FF2B5EF4-FFF2-40B4-BE49-F238E27FC236}">
                  <a16:creationId xmlns:a16="http://schemas.microsoft.com/office/drawing/2014/main" id="{D2F7DFC5-76AF-892A-0625-69084EAA62A1}"/>
                </a:ext>
              </a:extLst>
            </p:cNvPr>
            <p:cNvSpPr txBox="1"/>
            <p:nvPr/>
          </p:nvSpPr>
          <p:spPr>
            <a:xfrm>
              <a:off x="8955271" y="3056052"/>
              <a:ext cx="586740" cy="1000760"/>
            </a:xfrm>
            <a:prstGeom prst="rect">
              <a:avLst/>
            </a:prstGeom>
          </p:spPr>
          <p:txBody>
            <a:bodyPr vert="horz" wrap="square" lIns="0" tIns="12700" rIns="0" bIns="0" rtlCol="0">
              <a:spAutoFit/>
            </a:bodyPr>
            <a:lstStyle/>
            <a:p>
              <a:pPr marL="12700">
                <a:lnSpc>
                  <a:spcPct val="100000"/>
                </a:lnSpc>
                <a:spcBef>
                  <a:spcPts val="100"/>
                </a:spcBef>
              </a:pPr>
              <a:r>
                <a:rPr sz="6400" spc="-1985">
                  <a:latin typeface="Arial"/>
                  <a:cs typeface="Arial"/>
                </a:rPr>
                <a:t>…</a:t>
              </a:r>
              <a:endParaRPr sz="6400">
                <a:latin typeface="Arial"/>
                <a:cs typeface="Arial"/>
              </a:endParaRPr>
            </a:p>
          </p:txBody>
        </p:sp>
        <p:sp>
          <p:nvSpPr>
            <p:cNvPr id="60" name="object 49">
              <a:extLst>
                <a:ext uri="{FF2B5EF4-FFF2-40B4-BE49-F238E27FC236}">
                  <a16:creationId xmlns:a16="http://schemas.microsoft.com/office/drawing/2014/main" id="{7E463D7A-EBC5-4671-B440-6113F22A783B}"/>
                </a:ext>
              </a:extLst>
            </p:cNvPr>
            <p:cNvSpPr txBox="1"/>
            <p:nvPr/>
          </p:nvSpPr>
          <p:spPr>
            <a:xfrm>
              <a:off x="10233441" y="3093059"/>
              <a:ext cx="567690" cy="1037590"/>
            </a:xfrm>
            <a:prstGeom prst="rect">
              <a:avLst/>
            </a:prstGeom>
            <a:solidFill>
              <a:srgbClr val="D9EAD3"/>
            </a:solidFill>
            <a:ln w="9525">
              <a:solidFill>
                <a:srgbClr val="000000"/>
              </a:solidFill>
            </a:ln>
          </p:spPr>
          <p:txBody>
            <a:bodyPr vert="horz" wrap="square" lIns="0" tIns="314325" rIns="0" bIns="0" rtlCol="0">
              <a:spAutoFit/>
            </a:bodyPr>
            <a:lstStyle/>
            <a:p>
              <a:pPr marL="154305">
                <a:lnSpc>
                  <a:spcPct val="100000"/>
                </a:lnSpc>
                <a:spcBef>
                  <a:spcPts val="2475"/>
                </a:spcBef>
              </a:pPr>
              <a:r>
                <a:rPr sz="2400" spc="-25">
                  <a:latin typeface="Arial"/>
                  <a:cs typeface="Arial"/>
                </a:rPr>
                <a:t>h</a:t>
              </a:r>
              <a:r>
                <a:rPr sz="2400" spc="-37" baseline="-19097">
                  <a:latin typeface="Arial"/>
                  <a:cs typeface="Arial"/>
                </a:rPr>
                <a:t>T</a:t>
              </a:r>
              <a:endParaRPr sz="2400" baseline="-19097">
                <a:latin typeface="Arial"/>
                <a:cs typeface="Arial"/>
              </a:endParaRPr>
            </a:p>
          </p:txBody>
        </p:sp>
        <p:sp>
          <p:nvSpPr>
            <p:cNvPr id="61" name="object 50">
              <a:extLst>
                <a:ext uri="{FF2B5EF4-FFF2-40B4-BE49-F238E27FC236}">
                  <a16:creationId xmlns:a16="http://schemas.microsoft.com/office/drawing/2014/main" id="{9059EB4C-03A8-6000-9C41-3DFD7B30F5BF}"/>
                </a:ext>
              </a:extLst>
            </p:cNvPr>
            <p:cNvSpPr/>
            <p:nvPr/>
          </p:nvSpPr>
          <p:spPr>
            <a:xfrm>
              <a:off x="9839077" y="3573626"/>
              <a:ext cx="415290" cy="76200"/>
            </a:xfrm>
            <a:custGeom>
              <a:avLst/>
              <a:gdLst/>
              <a:ahLst/>
              <a:cxnLst/>
              <a:rect l="l" t="t" r="r" b="b"/>
              <a:pathLst>
                <a:path w="415290" h="76200">
                  <a:moveTo>
                    <a:pt x="338891" y="0"/>
                  </a:moveTo>
                  <a:lnTo>
                    <a:pt x="338891" y="28575"/>
                  </a:lnTo>
                  <a:lnTo>
                    <a:pt x="0" y="28573"/>
                  </a:lnTo>
                  <a:lnTo>
                    <a:pt x="0" y="47623"/>
                  </a:lnTo>
                  <a:lnTo>
                    <a:pt x="338891" y="47625"/>
                  </a:lnTo>
                  <a:lnTo>
                    <a:pt x="338891" y="76200"/>
                  </a:lnTo>
                  <a:lnTo>
                    <a:pt x="415091" y="38100"/>
                  </a:lnTo>
                  <a:lnTo>
                    <a:pt x="338891" y="0"/>
                  </a:lnTo>
                  <a:close/>
                </a:path>
              </a:pathLst>
            </a:custGeom>
            <a:solidFill>
              <a:srgbClr val="44546A"/>
            </a:solidFill>
          </p:spPr>
          <p:txBody>
            <a:bodyPr wrap="square" lIns="0" tIns="0" rIns="0" bIns="0" rtlCol="0"/>
            <a:lstStyle/>
            <a:p>
              <a:endParaRPr/>
            </a:p>
          </p:txBody>
        </p:sp>
      </p:grpSp>
      <p:sp>
        <p:nvSpPr>
          <p:cNvPr id="62" name="object 51">
            <a:extLst>
              <a:ext uri="{FF2B5EF4-FFF2-40B4-BE49-F238E27FC236}">
                <a16:creationId xmlns:a16="http://schemas.microsoft.com/office/drawing/2014/main" id="{81C57A7E-A371-6599-CE84-790469691F97}"/>
              </a:ext>
            </a:extLst>
          </p:cNvPr>
          <p:cNvSpPr txBox="1"/>
          <p:nvPr/>
        </p:nvSpPr>
        <p:spPr>
          <a:xfrm>
            <a:off x="2198620" y="1147834"/>
            <a:ext cx="8540923" cy="443711"/>
          </a:xfrm>
          <a:prstGeom prst="rect">
            <a:avLst/>
          </a:prstGeom>
        </p:spPr>
        <p:txBody>
          <a:bodyPr vert="horz" wrap="square" lIns="0" tIns="12700" rIns="0" bIns="0" rtlCol="0">
            <a:spAutoFit/>
          </a:bodyPr>
          <a:lstStyle/>
          <a:p>
            <a:pPr marL="12700">
              <a:lnSpc>
                <a:spcPct val="100000"/>
              </a:lnSpc>
              <a:spcBef>
                <a:spcPts val="100"/>
              </a:spcBef>
            </a:pPr>
            <a:r>
              <a:rPr lang="zh-CN" altLang="en-US" sz="2800" dirty="0">
                <a:cs typeface="Arial"/>
              </a:rPr>
              <a:t>在每个时间步重复使用相同的权重矩阵</a:t>
            </a:r>
            <a:endParaRPr lang="en-US" sz="2800" dirty="0">
              <a:cs typeface="Arial"/>
            </a:endParaRPr>
          </a:p>
        </p:txBody>
      </p:sp>
      <p:grpSp>
        <p:nvGrpSpPr>
          <p:cNvPr id="7" name="Group 6">
            <a:extLst>
              <a:ext uri="{FF2B5EF4-FFF2-40B4-BE49-F238E27FC236}">
                <a16:creationId xmlns:a16="http://schemas.microsoft.com/office/drawing/2014/main" id="{E6BA565C-4BB3-CD7D-3C91-410E035FE980}"/>
              </a:ext>
            </a:extLst>
          </p:cNvPr>
          <p:cNvGrpSpPr/>
          <p:nvPr/>
        </p:nvGrpSpPr>
        <p:grpSpPr>
          <a:xfrm>
            <a:off x="0" y="-1589"/>
            <a:ext cx="12191999" cy="768585"/>
            <a:chOff x="0" y="-1589"/>
            <a:chExt cx="12191999" cy="768585"/>
          </a:xfrm>
        </p:grpSpPr>
        <p:grpSp>
          <p:nvGrpSpPr>
            <p:cNvPr id="8" name="Group 9">
              <a:extLst>
                <a:ext uri="{FF2B5EF4-FFF2-40B4-BE49-F238E27FC236}">
                  <a16:creationId xmlns:a16="http://schemas.microsoft.com/office/drawing/2014/main" id="{B0187B35-A952-3F44-3D2F-108168621D9D}"/>
                </a:ext>
              </a:extLst>
            </p:cNvPr>
            <p:cNvGrpSpPr>
              <a:grpSpLocks noChangeAspect="1"/>
            </p:cNvGrpSpPr>
            <p:nvPr/>
          </p:nvGrpSpPr>
          <p:grpSpPr bwMode="auto">
            <a:xfrm>
              <a:off x="0" y="-1589"/>
              <a:ext cx="12191999" cy="767234"/>
              <a:chOff x="-1" y="-1"/>
              <a:chExt cx="7719" cy="568"/>
            </a:xfrm>
          </p:grpSpPr>
          <p:sp>
            <p:nvSpPr>
              <p:cNvPr id="12" name="Freeform 11">
                <a:extLst>
                  <a:ext uri="{FF2B5EF4-FFF2-40B4-BE49-F238E27FC236}">
                    <a16:creationId xmlns:a16="http://schemas.microsoft.com/office/drawing/2014/main" id="{F1A7D75E-FF39-A3EC-EA5C-75403031E206}"/>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3" name="AutoShape 8">
                <a:extLst>
                  <a:ext uri="{FF2B5EF4-FFF2-40B4-BE49-F238E27FC236}">
                    <a16:creationId xmlns:a16="http://schemas.microsoft.com/office/drawing/2014/main" id="{D35A4BCA-6AF5-4DFB-E3A1-D4D18390783A}"/>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9" name="任意多边形: 形状 12">
              <a:extLst>
                <a:ext uri="{FF2B5EF4-FFF2-40B4-BE49-F238E27FC236}">
                  <a16:creationId xmlns:a16="http://schemas.microsoft.com/office/drawing/2014/main" id="{F671209B-4504-FD3D-8473-79A32DB62532}"/>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0" name="文本框 18">
              <a:extLst>
                <a:ext uri="{FF2B5EF4-FFF2-40B4-BE49-F238E27FC236}">
                  <a16:creationId xmlns:a16="http://schemas.microsoft.com/office/drawing/2014/main" id="{E7DF0AA4-C94D-0983-FC56-6B812579EAB2}"/>
                </a:ext>
              </a:extLst>
            </p:cNvPr>
            <p:cNvSpPr txBox="1"/>
            <p:nvPr/>
          </p:nvSpPr>
          <p:spPr>
            <a:xfrm>
              <a:off x="350439" y="120418"/>
              <a:ext cx="335861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1">
                  <a:solidFill>
                    <a:prstClr val="white"/>
                  </a:solidFill>
                  <a:cs typeface="+mn-ea"/>
                  <a:sym typeface="+mn-lt"/>
                </a:rPr>
                <a:t>循环神经网络</a:t>
              </a:r>
              <a:r>
                <a:rPr kumimoji="0" lang="en-US" altLang="zh-CN" sz="2800" b="1" i="0" u="none" strike="noStrike" kern="1200" cap="none" spc="0" normalizeH="0" baseline="0" noProof="0">
                  <a:ln>
                    <a:noFill/>
                  </a:ln>
                  <a:solidFill>
                    <a:prstClr val="white"/>
                  </a:solidFill>
                  <a:effectLst/>
                  <a:uLnTx/>
                  <a:uFillTx/>
                  <a:cs typeface="+mn-ea"/>
                  <a:sym typeface="+mn-lt"/>
                </a:rPr>
                <a:t>(RNN)</a:t>
              </a:r>
              <a:endParaRPr kumimoji="0" lang="zh-CN" altLang="en-US" sz="2800" b="1" i="0" u="none" strike="noStrike" kern="1200" cap="none" spc="0" normalizeH="0" baseline="0" noProof="0">
                <a:ln>
                  <a:noFill/>
                </a:ln>
                <a:solidFill>
                  <a:prstClr val="white"/>
                </a:solidFill>
                <a:effectLst/>
                <a:uLnTx/>
                <a:uFillTx/>
                <a:cs typeface="+mn-ea"/>
                <a:sym typeface="+mn-lt"/>
              </a:endParaRPr>
            </a:p>
          </p:txBody>
        </p:sp>
      </p:grpSp>
    </p:spTree>
    <p:extLst>
      <p:ext uri="{BB962C8B-B14F-4D97-AF65-F5344CB8AC3E}">
        <p14:creationId xmlns:p14="http://schemas.microsoft.com/office/powerpoint/2010/main" val="2096869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2" grpId="0"/>
      <p:bldP spid="27" grpId="0" animBg="1"/>
      <p:bldP spid="28" grpId="0" animBg="1"/>
      <p:bldP spid="29" grpId="0" animBg="1"/>
      <p:bldP spid="30" grpId="0"/>
      <p:bldP spid="34" grpId="0"/>
      <p:bldP spid="35" grpId="0" animBg="1"/>
      <p:bldP spid="36" grpId="0" animBg="1"/>
      <p:bldP spid="37" grpId="0" animBg="1"/>
      <p:bldP spid="41" grpId="0"/>
      <p:bldP spid="42" grpId="0" animBg="1"/>
      <p:bldP spid="45" grpId="0" animBg="1"/>
      <p:bldP spid="46" grpId="0" animBg="1"/>
      <p:bldP spid="47" grpId="0" animBg="1"/>
      <p:bldP spid="48" grpId="0" animBg="1"/>
      <p:bldP spid="50" grpId="0"/>
      <p:bldP spid="58" grpId="0"/>
      <p:bldP spid="59" grpId="0" animBg="1"/>
      <p:bldP spid="6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FDB5A-3326-8AA8-12EC-C3A450F89416}"/>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2ECA467F-C271-0174-43E2-7057FC75F18D}"/>
              </a:ext>
            </a:extLst>
          </p:cNvPr>
          <p:cNvGrpSpPr/>
          <p:nvPr/>
        </p:nvGrpSpPr>
        <p:grpSpPr>
          <a:xfrm>
            <a:off x="0" y="-1589"/>
            <a:ext cx="12191999" cy="768585"/>
            <a:chOff x="0" y="-1589"/>
            <a:chExt cx="12191999" cy="768585"/>
          </a:xfrm>
        </p:grpSpPr>
        <p:grpSp>
          <p:nvGrpSpPr>
            <p:cNvPr id="8" name="Group 9">
              <a:extLst>
                <a:ext uri="{FF2B5EF4-FFF2-40B4-BE49-F238E27FC236}">
                  <a16:creationId xmlns:a16="http://schemas.microsoft.com/office/drawing/2014/main" id="{B3DFE5F1-82EE-07B0-8A92-3065E93260E2}"/>
                </a:ext>
              </a:extLst>
            </p:cNvPr>
            <p:cNvGrpSpPr>
              <a:grpSpLocks noChangeAspect="1"/>
            </p:cNvGrpSpPr>
            <p:nvPr/>
          </p:nvGrpSpPr>
          <p:grpSpPr bwMode="auto">
            <a:xfrm>
              <a:off x="0" y="-1589"/>
              <a:ext cx="12191999" cy="767234"/>
              <a:chOff x="-1" y="-1"/>
              <a:chExt cx="7719" cy="568"/>
            </a:xfrm>
          </p:grpSpPr>
          <p:sp>
            <p:nvSpPr>
              <p:cNvPr id="12" name="Freeform 11">
                <a:extLst>
                  <a:ext uri="{FF2B5EF4-FFF2-40B4-BE49-F238E27FC236}">
                    <a16:creationId xmlns:a16="http://schemas.microsoft.com/office/drawing/2014/main" id="{93606A2B-94CB-45EF-34F2-4DF46792A62E}"/>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3" name="AutoShape 8">
                <a:extLst>
                  <a:ext uri="{FF2B5EF4-FFF2-40B4-BE49-F238E27FC236}">
                    <a16:creationId xmlns:a16="http://schemas.microsoft.com/office/drawing/2014/main" id="{68B705AE-C522-E311-96F5-8A7EC7527E90}"/>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9" name="任意多边形: 形状 12">
              <a:extLst>
                <a:ext uri="{FF2B5EF4-FFF2-40B4-BE49-F238E27FC236}">
                  <a16:creationId xmlns:a16="http://schemas.microsoft.com/office/drawing/2014/main" id="{84A9B7C2-6EED-201B-1B85-38E71BA87776}"/>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0" name="文本框 18">
              <a:extLst>
                <a:ext uri="{FF2B5EF4-FFF2-40B4-BE49-F238E27FC236}">
                  <a16:creationId xmlns:a16="http://schemas.microsoft.com/office/drawing/2014/main" id="{3F8C52A7-D0CD-06E5-3B4C-F8DB9532A3E1}"/>
                </a:ext>
              </a:extLst>
            </p:cNvPr>
            <p:cNvSpPr txBox="1"/>
            <p:nvPr/>
          </p:nvSpPr>
          <p:spPr>
            <a:xfrm>
              <a:off x="350439" y="120418"/>
              <a:ext cx="335861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1">
                  <a:solidFill>
                    <a:prstClr val="white"/>
                  </a:solidFill>
                  <a:cs typeface="+mn-ea"/>
                  <a:sym typeface="+mn-lt"/>
                </a:rPr>
                <a:t>循环神经网络</a:t>
              </a:r>
              <a:r>
                <a:rPr kumimoji="0" lang="en-US" altLang="zh-CN" sz="2800" b="1" i="0" u="none" strike="noStrike" kern="1200" cap="none" spc="0" normalizeH="0" baseline="0" noProof="0">
                  <a:ln>
                    <a:noFill/>
                  </a:ln>
                  <a:solidFill>
                    <a:prstClr val="white"/>
                  </a:solidFill>
                  <a:effectLst/>
                  <a:uLnTx/>
                  <a:uFillTx/>
                  <a:cs typeface="+mn-ea"/>
                  <a:sym typeface="+mn-lt"/>
                </a:rPr>
                <a:t>(RNN)</a:t>
              </a:r>
              <a:endParaRPr kumimoji="0" lang="zh-CN" altLang="en-US" sz="2800" b="1" i="0" u="none" strike="noStrike" kern="1200" cap="none" spc="0" normalizeH="0" baseline="0" noProof="0">
                <a:ln>
                  <a:noFill/>
                </a:ln>
                <a:solidFill>
                  <a:prstClr val="white"/>
                </a:solidFill>
                <a:effectLst/>
                <a:uLnTx/>
                <a:uFillTx/>
                <a:cs typeface="+mn-ea"/>
                <a:sym typeface="+mn-lt"/>
              </a:endParaRPr>
            </a:p>
          </p:txBody>
        </p:sp>
      </p:gr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EF49564-9255-8B31-7260-222B9BF79AA1}"/>
                  </a:ext>
                </a:extLst>
              </p:cNvPr>
              <p:cNvSpPr txBox="1"/>
              <p:nvPr/>
            </p:nvSpPr>
            <p:spPr>
              <a:xfrm>
                <a:off x="350438" y="886301"/>
                <a:ext cx="11356457" cy="4474943"/>
              </a:xfrm>
              <a:prstGeom prst="rect">
                <a:avLst/>
              </a:prstGeom>
              <a:noFill/>
            </p:spPr>
            <p:txBody>
              <a:bodyPr wrap="square">
                <a:spAutoFit/>
              </a:bodyPr>
              <a:lstStyle/>
              <a:p>
                <a:pPr marL="457200" indent="-457200" algn="just">
                  <a:lnSpc>
                    <a:spcPct val="150000"/>
                  </a:lnSpc>
                  <a:buFont typeface="Wingdings" panose="05000000000000000000" pitchFamily="2" charset="2"/>
                  <a:buChar char="p"/>
                  <a:defRPr/>
                </a:pPr>
                <a:r>
                  <a:rPr lang="zh-CN" altLang="en-US" sz="2400" b="1" kern="100" dirty="0">
                    <a:solidFill>
                      <a:prstClr val="black"/>
                    </a:solidFill>
                    <a:cs typeface="+mn-ea"/>
                  </a:rPr>
                  <a:t>上述过程展现了</a:t>
                </a:r>
                <a:r>
                  <a:rPr lang="en-US" altLang="zh-CN" sz="2400" b="1" kern="100" dirty="0">
                    <a:solidFill>
                      <a:prstClr val="black"/>
                    </a:solidFill>
                    <a:cs typeface="+mn-ea"/>
                  </a:rPr>
                  <a:t>RNN</a:t>
                </a:r>
                <a:r>
                  <a:rPr lang="zh-CN" altLang="en-US" sz="2400" b="1" kern="100" dirty="0">
                    <a:solidFill>
                      <a:prstClr val="black"/>
                    </a:solidFill>
                    <a:cs typeface="+mn-ea"/>
                  </a:rPr>
                  <a:t>编码序列的过程。</a:t>
                </a:r>
                <a:endParaRPr lang="en-US" altLang="zh-CN" sz="2400" b="1" kern="100" dirty="0">
                  <a:solidFill>
                    <a:prstClr val="black"/>
                  </a:solidFill>
                  <a:cs typeface="+mn-ea"/>
                </a:endParaRPr>
              </a:p>
              <a:p>
                <a:pPr marL="914400" lvl="1" indent="-457200" algn="just">
                  <a:lnSpc>
                    <a:spcPct val="150000"/>
                  </a:lnSpc>
                  <a:buFont typeface="Wingdings" panose="05000000000000000000" pitchFamily="2" charset="2"/>
                  <a:buChar char="p"/>
                  <a:defRPr/>
                </a:pPr>
                <a:r>
                  <a:rPr lang="zh-CN" altLang="en-US" b="1" dirty="0"/>
                  <a:t>编码阶段（</a:t>
                </a:r>
                <a:r>
                  <a:rPr lang="en-US" b="1" dirty="0"/>
                  <a:t>Encoding）</a:t>
                </a:r>
                <a:r>
                  <a:rPr lang="zh-CN" altLang="en-US" b="1" dirty="0"/>
                  <a:t>：</a:t>
                </a:r>
                <a:r>
                  <a:rPr lang="zh-CN" altLang="en-US" dirty="0"/>
                  <a:t>在每个时间步 </a:t>
                </a:r>
                <a14:m>
                  <m:oMath xmlns:m="http://schemas.openxmlformats.org/officeDocument/2006/math">
                    <m:r>
                      <a:rPr lang="en-US" i="1" dirty="0" smtClean="0">
                        <a:latin typeface="Cambria Math" panose="02040503050406030204" pitchFamily="18" charset="0"/>
                      </a:rPr>
                      <m:t>𝑡</m:t>
                    </m:r>
                  </m:oMath>
                </a14:m>
                <a:r>
                  <a:rPr lang="en-US" dirty="0" err="1"/>
                  <a:t>，RNN</a:t>
                </a:r>
                <a:r>
                  <a:rPr lang="en-US" dirty="0"/>
                  <a:t> </a:t>
                </a:r>
                <a:r>
                  <a:rPr lang="zh-CN" altLang="en-US" dirty="0"/>
                  <a:t>单元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𝑓</m:t>
                        </m:r>
                      </m:e>
                      <m:sub>
                        <m:r>
                          <a:rPr lang="en-US" i="1" dirty="0" smtClean="0">
                            <a:latin typeface="Cambria Math" panose="02040503050406030204" pitchFamily="18" charset="0"/>
                          </a:rPr>
                          <m:t>𝑊</m:t>
                        </m:r>
                      </m:sub>
                    </m:sSub>
                  </m:oMath>
                </a14:m>
                <a:r>
                  <a:rPr lang="en-US" dirty="0"/>
                  <a:t> </a:t>
                </a:r>
                <a:r>
                  <a:rPr lang="zh-CN" altLang="en-US" dirty="0"/>
                  <a:t>根据当前输入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𝑡</m:t>
                        </m:r>
                      </m:sub>
                    </m:sSub>
                  </m:oMath>
                </a14:m>
                <a:r>
                  <a:rPr lang="en-US" dirty="0"/>
                  <a:t> </a:t>
                </a:r>
                <a:r>
                  <a:rPr lang="zh-CN" altLang="en-US" dirty="0"/>
                  <a:t>与上一隐藏状态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h</m:t>
                        </m:r>
                      </m:e>
                      <m:sub>
                        <m:r>
                          <a:rPr lang="en-US" i="1" dirty="0">
                            <a:latin typeface="Cambria Math" panose="02040503050406030204" pitchFamily="18" charset="0"/>
                          </a:rPr>
                          <m:t>𝑡</m:t>
                        </m:r>
                        <m:r>
                          <a:rPr lang="en-US" i="1" dirty="0">
                            <a:latin typeface="Cambria Math" panose="02040503050406030204" pitchFamily="18" charset="0"/>
                          </a:rPr>
                          <m:t>−1</m:t>
                        </m:r>
                      </m:sub>
                    </m:sSub>
                  </m:oMath>
                </a14:m>
                <a:r>
                  <a:rPr lang="zh-CN" altLang="en-US" dirty="0"/>
                  <a:t>更新隐藏状态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h</m:t>
                        </m:r>
                      </m:e>
                      <m:sub>
                        <m:r>
                          <a:rPr lang="en-US" i="1" dirty="0" smtClean="0">
                            <a:latin typeface="Cambria Math" panose="02040503050406030204" pitchFamily="18" charset="0"/>
                          </a:rPr>
                          <m:t>𝑡</m:t>
                        </m:r>
                      </m:sub>
                    </m:sSub>
                  </m:oMath>
                </a14:m>
                <a:r>
                  <a:rPr lang="en-US" dirty="0"/>
                  <a:t>，</a:t>
                </a:r>
                <a:r>
                  <a:rPr lang="zh-CN" altLang="en-US" dirty="0"/>
                  <a:t>从而逐步聚合序列上下文。</a:t>
                </a:r>
                <a:endParaRPr lang="en-US" altLang="zh-CN" dirty="0"/>
              </a:p>
              <a:p>
                <a:pPr marL="914400" lvl="1" indent="-457200" algn="just">
                  <a:lnSpc>
                    <a:spcPct val="150000"/>
                  </a:lnSpc>
                  <a:buFont typeface="Wingdings" panose="05000000000000000000" pitchFamily="2" charset="2"/>
                  <a:buChar char="p"/>
                  <a:defRPr/>
                </a:pPr>
                <a:r>
                  <a:rPr lang="zh-CN" altLang="en-US" b="1" dirty="0"/>
                  <a:t>汇聚表示（</a:t>
                </a:r>
                <a:r>
                  <a:rPr lang="en-US" b="1" dirty="0"/>
                  <a:t>Context Vector）</a:t>
                </a:r>
                <a:r>
                  <a:rPr lang="zh-CN" altLang="en-US" b="1" dirty="0"/>
                  <a:t>：</a:t>
                </a:r>
                <a:r>
                  <a:rPr lang="zh-CN" altLang="en-US" dirty="0"/>
                  <a:t>最终隐藏状态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h</m:t>
                        </m:r>
                      </m:e>
                      <m:sub>
                        <m:r>
                          <a:rPr lang="en-US" i="1" dirty="0" smtClean="0">
                            <a:latin typeface="Cambria Math" panose="02040503050406030204" pitchFamily="18" charset="0"/>
                          </a:rPr>
                          <m:t>𝑇</m:t>
                        </m:r>
                      </m:sub>
                    </m:sSub>
                  </m:oMath>
                </a14:m>
                <a:r>
                  <a:rPr lang="en-US" dirty="0"/>
                  <a:t> </a:t>
                </a:r>
                <a:r>
                  <a:rPr lang="zh-CN" altLang="en-US" dirty="0"/>
                  <a:t>汇集了整条输入序列的信息，常作为解码器的初始上下文或语义表示。</a:t>
                </a:r>
              </a:p>
              <a:p>
                <a:pPr marL="457200" indent="-457200" algn="just">
                  <a:lnSpc>
                    <a:spcPct val="150000"/>
                  </a:lnSpc>
                  <a:buFont typeface="Wingdings" panose="05000000000000000000" pitchFamily="2" charset="2"/>
                  <a:buChar char="p"/>
                  <a:defRPr/>
                </a:pPr>
                <a:r>
                  <a:rPr lang="zh-CN" altLang="en-US" sz="2400" b="1" kern="100" dirty="0">
                    <a:solidFill>
                      <a:prstClr val="black"/>
                    </a:solidFill>
                    <a:cs typeface="+mn-ea"/>
                  </a:rPr>
                  <a:t>除了编码序列，</a:t>
                </a:r>
                <a:r>
                  <a:rPr lang="en-US" altLang="zh-CN" sz="2400" b="1" kern="100" dirty="0">
                    <a:solidFill>
                      <a:prstClr val="black"/>
                    </a:solidFill>
                    <a:cs typeface="+mn-ea"/>
                  </a:rPr>
                  <a:t>RNN</a:t>
                </a:r>
                <a:r>
                  <a:rPr lang="zh-CN" altLang="en-US" sz="2400" b="1" kern="100" dirty="0">
                    <a:solidFill>
                      <a:prstClr val="black"/>
                    </a:solidFill>
                    <a:cs typeface="+mn-ea"/>
                  </a:rPr>
                  <a:t>还可以进行解码生成</a:t>
                </a:r>
                <a:endParaRPr lang="en-US" altLang="zh-CN" sz="2400" b="1" kern="100" dirty="0">
                  <a:solidFill>
                    <a:prstClr val="black"/>
                  </a:solidFill>
                  <a:cs typeface="+mn-ea"/>
                </a:endParaRPr>
              </a:p>
              <a:p>
                <a:pPr marL="914400" lvl="1" indent="-457200" algn="just">
                  <a:lnSpc>
                    <a:spcPct val="150000"/>
                  </a:lnSpc>
                  <a:buFont typeface="Wingdings" panose="05000000000000000000" pitchFamily="2" charset="2"/>
                  <a:buChar char="p"/>
                  <a:defRPr/>
                </a:pPr>
                <a:r>
                  <a:rPr lang="zh-CN" altLang="en-US" b="1" dirty="0"/>
                  <a:t>解码初始化（</a:t>
                </a:r>
                <a:r>
                  <a:rPr lang="en-US" b="1" dirty="0"/>
                  <a:t>Decoder Initialization）</a:t>
                </a:r>
                <a:r>
                  <a:rPr lang="zh-CN" altLang="en-US" b="1" dirty="0"/>
                  <a:t>：</a:t>
                </a:r>
                <a:r>
                  <a:rPr lang="zh-CN" altLang="en-US" dirty="0"/>
                  <a:t>将编码得到的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h</m:t>
                        </m:r>
                      </m:e>
                      <m:sub>
                        <m:r>
                          <a:rPr lang="en-US" i="1" dirty="0" smtClean="0">
                            <a:latin typeface="Cambria Math" panose="02040503050406030204" pitchFamily="18" charset="0"/>
                          </a:rPr>
                          <m:t>𝑇</m:t>
                        </m:r>
                      </m:sub>
                    </m:sSub>
                  </m:oMath>
                </a14:m>
                <a:r>
                  <a:rPr lang="en-US" dirty="0"/>
                  <a:t> </a:t>
                </a:r>
                <a:r>
                  <a:rPr lang="zh-CN" altLang="en-US" dirty="0"/>
                  <a:t>传入解码器，作为初始隐藏状态，或与其他神经网络结合，指导后续生成。</a:t>
                </a:r>
                <a:endParaRPr lang="en-US" altLang="zh-CN" dirty="0"/>
              </a:p>
              <a:p>
                <a:pPr marL="914400" lvl="1" indent="-457200" algn="just">
                  <a:lnSpc>
                    <a:spcPct val="150000"/>
                  </a:lnSpc>
                  <a:buFont typeface="Wingdings" panose="05000000000000000000" pitchFamily="2" charset="2"/>
                  <a:buChar char="p"/>
                  <a:defRPr/>
                </a:pPr>
                <a:r>
                  <a:rPr lang="zh-CN" altLang="en-US" b="1" dirty="0"/>
                  <a:t>逐步生成（</a:t>
                </a:r>
                <a:r>
                  <a:rPr lang="en-US" b="1" dirty="0"/>
                  <a:t>Step-by-Step Generation）</a:t>
                </a:r>
                <a:r>
                  <a:rPr lang="zh-CN" altLang="en-US" b="1" dirty="0"/>
                  <a:t>：</a:t>
                </a:r>
                <a:r>
                  <a:rPr lang="zh-CN" altLang="en-US" dirty="0"/>
                  <a:t>在解码阶段，每一步由解码器根据前一输出（或真实标签）</a:t>
                </a:r>
                <a:r>
                  <a:rPr lang="en-US" dirty="0"/>
                  <a:t> </a:t>
                </a:r>
                <a14:m>
                  <m:oMath xmlns:m="http://schemas.openxmlformats.org/officeDocument/2006/math">
                    <m:sSub>
                      <m:sSubPr>
                        <m:ctrlPr>
                          <a:rPr lang="en-US" i="1" dirty="0" smtClean="0">
                            <a:latin typeface="Cambria Math" panose="02040503050406030204" pitchFamily="18" charset="0"/>
                          </a:rPr>
                        </m:ctrlPr>
                      </m:sSubPr>
                      <m:e>
                        <m:r>
                          <m:rPr>
                            <m:sty m:val="p"/>
                          </m:rPr>
                          <a:rPr lang="en-US" altLang="zh-CN" b="0" i="0" dirty="0" smtClean="0">
                            <a:latin typeface="Cambria Math" panose="02040503050406030204" pitchFamily="18" charset="0"/>
                          </a:rPr>
                          <m:t>y</m:t>
                        </m:r>
                      </m:e>
                      <m:sub>
                        <m:r>
                          <a:rPr lang="en-US" i="1" dirty="0">
                            <a:latin typeface="Cambria Math" panose="02040503050406030204" pitchFamily="18" charset="0"/>
                          </a:rPr>
                          <m:t>𝑡</m:t>
                        </m:r>
                        <m:r>
                          <a:rPr lang="en-US" i="1" dirty="0">
                            <a:latin typeface="Cambria Math" panose="02040503050406030204" pitchFamily="18" charset="0"/>
                          </a:rPr>
                          <m:t>−1</m:t>
                        </m:r>
                      </m:sub>
                    </m:sSub>
                  </m:oMath>
                </a14:m>
                <a:r>
                  <a:rPr lang="zh-CN" altLang="en-US" dirty="0"/>
                  <a:t>和当前隐藏状态预测下一输出 </a:t>
                </a:r>
                <a14:m>
                  <m:oMath xmlns:m="http://schemas.openxmlformats.org/officeDocument/2006/math">
                    <m:sSub>
                      <m:sSubPr>
                        <m:ctrlPr>
                          <a:rPr lang="en-US" i="1" dirty="0">
                            <a:latin typeface="Cambria Math" panose="02040503050406030204" pitchFamily="18" charset="0"/>
                          </a:rPr>
                        </m:ctrlPr>
                      </m:sSubPr>
                      <m:e>
                        <m:r>
                          <m:rPr>
                            <m:sty m:val="p"/>
                          </m:rPr>
                          <a:rPr lang="en-US" altLang="zh-CN" dirty="0">
                            <a:latin typeface="Cambria Math" panose="02040503050406030204" pitchFamily="18" charset="0"/>
                          </a:rPr>
                          <m:t>y</m:t>
                        </m:r>
                      </m:e>
                      <m:sub>
                        <m:r>
                          <a:rPr lang="en-US" i="1" dirty="0">
                            <a:latin typeface="Cambria Math" panose="02040503050406030204" pitchFamily="18" charset="0"/>
                          </a:rPr>
                          <m:t>𝑡</m:t>
                        </m:r>
                      </m:sub>
                    </m:sSub>
                  </m:oMath>
                </a14:m>
                <a:r>
                  <a:rPr lang="en-US" dirty="0"/>
                  <a:t>，</a:t>
                </a:r>
                <a:r>
                  <a:rPr lang="zh-CN" altLang="en-US" dirty="0"/>
                  <a:t>并更新隐藏状态。</a:t>
                </a:r>
              </a:p>
            </p:txBody>
          </p:sp>
        </mc:Choice>
        <mc:Fallback xmlns="">
          <p:sp>
            <p:nvSpPr>
              <p:cNvPr id="4" name="TextBox 3">
                <a:extLst>
                  <a:ext uri="{FF2B5EF4-FFF2-40B4-BE49-F238E27FC236}">
                    <a16:creationId xmlns:a16="http://schemas.microsoft.com/office/drawing/2014/main" id="{DEF49564-9255-8B31-7260-222B9BF79AA1}"/>
                  </a:ext>
                </a:extLst>
              </p:cNvPr>
              <p:cNvSpPr txBox="1">
                <a:spLocks noRot="1" noChangeAspect="1" noMove="1" noResize="1" noEditPoints="1" noAdjustHandles="1" noChangeArrowheads="1" noChangeShapeType="1" noTextEdit="1"/>
              </p:cNvSpPr>
              <p:nvPr/>
            </p:nvSpPr>
            <p:spPr>
              <a:xfrm>
                <a:off x="350438" y="886301"/>
                <a:ext cx="11356457" cy="4474943"/>
              </a:xfrm>
              <a:prstGeom prst="rect">
                <a:avLst/>
              </a:prstGeom>
              <a:blipFill>
                <a:blip r:embed="rId3"/>
                <a:stretch>
                  <a:fillRect l="-698" r="-483" b="-122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38149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object 60">
            <a:extLst>
              <a:ext uri="{FF2B5EF4-FFF2-40B4-BE49-F238E27FC236}">
                <a16:creationId xmlns:a16="http://schemas.microsoft.com/office/drawing/2014/main" id="{48B7CFC8-4211-4549-F3A8-306DB0887B75}"/>
              </a:ext>
            </a:extLst>
          </p:cNvPr>
          <p:cNvSpPr/>
          <p:nvPr/>
        </p:nvSpPr>
        <p:spPr>
          <a:xfrm>
            <a:off x="10207739" y="1123449"/>
            <a:ext cx="567690" cy="1037590"/>
          </a:xfrm>
          <a:custGeom>
            <a:avLst/>
            <a:gdLst/>
            <a:ahLst/>
            <a:cxnLst/>
            <a:rect l="l" t="t" r="r" b="b"/>
            <a:pathLst>
              <a:path w="567689" h="1037589">
                <a:moveTo>
                  <a:pt x="567452" y="0"/>
                </a:moveTo>
                <a:lnTo>
                  <a:pt x="0" y="0"/>
                </a:lnTo>
                <a:lnTo>
                  <a:pt x="0" y="1037329"/>
                </a:lnTo>
                <a:lnTo>
                  <a:pt x="567452" y="1037329"/>
                </a:lnTo>
                <a:lnTo>
                  <a:pt x="567452" y="0"/>
                </a:lnTo>
                <a:close/>
              </a:path>
            </a:pathLst>
          </a:custGeom>
          <a:solidFill>
            <a:srgbClr val="CFE2F3"/>
          </a:solidFill>
          <a:ln>
            <a:solidFill>
              <a:srgbClr val="000000"/>
            </a:solidFill>
          </a:ln>
        </p:spPr>
        <p:txBody>
          <a:bodyPr wrap="square" lIns="0" tIns="0" rIns="0" bIns="0" rtlCol="0"/>
          <a:lstStyle/>
          <a:p>
            <a:endParaRPr/>
          </a:p>
        </p:txBody>
      </p:sp>
      <p:sp>
        <p:nvSpPr>
          <p:cNvPr id="62" name="object 60">
            <a:extLst>
              <a:ext uri="{FF2B5EF4-FFF2-40B4-BE49-F238E27FC236}">
                <a16:creationId xmlns:a16="http://schemas.microsoft.com/office/drawing/2014/main" id="{57BEBF7E-8B73-C230-6420-76749078B839}"/>
              </a:ext>
            </a:extLst>
          </p:cNvPr>
          <p:cNvSpPr/>
          <p:nvPr/>
        </p:nvSpPr>
        <p:spPr>
          <a:xfrm>
            <a:off x="7897185" y="1144662"/>
            <a:ext cx="567690" cy="1037590"/>
          </a:xfrm>
          <a:custGeom>
            <a:avLst/>
            <a:gdLst/>
            <a:ahLst/>
            <a:cxnLst/>
            <a:rect l="l" t="t" r="r" b="b"/>
            <a:pathLst>
              <a:path w="567689" h="1037589">
                <a:moveTo>
                  <a:pt x="567452" y="0"/>
                </a:moveTo>
                <a:lnTo>
                  <a:pt x="0" y="0"/>
                </a:lnTo>
                <a:lnTo>
                  <a:pt x="0" y="1037329"/>
                </a:lnTo>
                <a:lnTo>
                  <a:pt x="567452" y="1037329"/>
                </a:lnTo>
                <a:lnTo>
                  <a:pt x="567452" y="0"/>
                </a:lnTo>
                <a:close/>
              </a:path>
            </a:pathLst>
          </a:custGeom>
          <a:solidFill>
            <a:srgbClr val="CFE2F3"/>
          </a:solidFill>
          <a:ln>
            <a:solidFill>
              <a:srgbClr val="000000"/>
            </a:solidFill>
          </a:ln>
        </p:spPr>
        <p:txBody>
          <a:bodyPr wrap="square" lIns="0" tIns="0" rIns="0" bIns="0" rtlCol="0"/>
          <a:lstStyle/>
          <a:p>
            <a:endParaRPr/>
          </a:p>
        </p:txBody>
      </p:sp>
      <p:grpSp>
        <p:nvGrpSpPr>
          <p:cNvPr id="3" name="object 3">
            <a:extLst>
              <a:ext uri="{FF2B5EF4-FFF2-40B4-BE49-F238E27FC236}">
                <a16:creationId xmlns:a16="http://schemas.microsoft.com/office/drawing/2014/main" id="{30D36A0D-993E-0FD5-424A-3A1A9084EE1F}"/>
              </a:ext>
            </a:extLst>
          </p:cNvPr>
          <p:cNvGrpSpPr/>
          <p:nvPr/>
        </p:nvGrpSpPr>
        <p:grpSpPr>
          <a:xfrm>
            <a:off x="1176867" y="2681897"/>
            <a:ext cx="537845" cy="1047115"/>
            <a:chOff x="1189567" y="3088297"/>
            <a:chExt cx="537845" cy="1047115"/>
          </a:xfrm>
        </p:grpSpPr>
        <p:sp>
          <p:nvSpPr>
            <p:cNvPr id="5" name="object 4">
              <a:extLst>
                <a:ext uri="{FF2B5EF4-FFF2-40B4-BE49-F238E27FC236}">
                  <a16:creationId xmlns:a16="http://schemas.microsoft.com/office/drawing/2014/main" id="{3E2B78E1-4C0E-2973-A8BE-D84AC28669AA}"/>
                </a:ext>
              </a:extLst>
            </p:cNvPr>
            <p:cNvSpPr/>
            <p:nvPr/>
          </p:nvSpPr>
          <p:spPr>
            <a:xfrm>
              <a:off x="1194330" y="3093059"/>
              <a:ext cx="528320" cy="1037590"/>
            </a:xfrm>
            <a:custGeom>
              <a:avLst/>
              <a:gdLst/>
              <a:ahLst/>
              <a:cxnLst/>
              <a:rect l="l" t="t" r="r" b="b"/>
              <a:pathLst>
                <a:path w="528319" h="1037589">
                  <a:moveTo>
                    <a:pt x="527862" y="0"/>
                  </a:moveTo>
                  <a:lnTo>
                    <a:pt x="0" y="0"/>
                  </a:lnTo>
                  <a:lnTo>
                    <a:pt x="0" y="1037330"/>
                  </a:lnTo>
                  <a:lnTo>
                    <a:pt x="527862" y="1037330"/>
                  </a:lnTo>
                  <a:lnTo>
                    <a:pt x="527862" y="0"/>
                  </a:lnTo>
                  <a:close/>
                </a:path>
              </a:pathLst>
            </a:custGeom>
            <a:solidFill>
              <a:srgbClr val="D9EAD3"/>
            </a:solidFill>
          </p:spPr>
          <p:txBody>
            <a:bodyPr wrap="square" lIns="0" tIns="0" rIns="0" bIns="0" rtlCol="0"/>
            <a:lstStyle/>
            <a:p>
              <a:endParaRPr/>
            </a:p>
          </p:txBody>
        </p:sp>
        <p:sp>
          <p:nvSpPr>
            <p:cNvPr id="11" name="object 5">
              <a:extLst>
                <a:ext uri="{FF2B5EF4-FFF2-40B4-BE49-F238E27FC236}">
                  <a16:creationId xmlns:a16="http://schemas.microsoft.com/office/drawing/2014/main" id="{68C3DBA6-08CF-C97E-C0EE-A1A74CEE02C3}"/>
                </a:ext>
              </a:extLst>
            </p:cNvPr>
            <p:cNvSpPr/>
            <p:nvPr/>
          </p:nvSpPr>
          <p:spPr>
            <a:xfrm>
              <a:off x="1194330" y="3093059"/>
              <a:ext cx="528320" cy="1037590"/>
            </a:xfrm>
            <a:custGeom>
              <a:avLst/>
              <a:gdLst/>
              <a:ahLst/>
              <a:cxnLst/>
              <a:rect l="l" t="t" r="r" b="b"/>
              <a:pathLst>
                <a:path w="528319" h="1037589">
                  <a:moveTo>
                    <a:pt x="0" y="0"/>
                  </a:moveTo>
                  <a:lnTo>
                    <a:pt x="527863" y="0"/>
                  </a:lnTo>
                  <a:lnTo>
                    <a:pt x="527863" y="1037330"/>
                  </a:lnTo>
                  <a:lnTo>
                    <a:pt x="0" y="1037330"/>
                  </a:lnTo>
                  <a:lnTo>
                    <a:pt x="0" y="0"/>
                  </a:lnTo>
                  <a:close/>
                </a:path>
              </a:pathLst>
            </a:custGeom>
            <a:ln w="9525">
              <a:solidFill>
                <a:srgbClr val="000000"/>
              </a:solidFill>
            </a:ln>
          </p:spPr>
          <p:txBody>
            <a:bodyPr wrap="square" lIns="0" tIns="0" rIns="0" bIns="0" rtlCol="0"/>
            <a:lstStyle/>
            <a:p>
              <a:endParaRPr/>
            </a:p>
          </p:txBody>
        </p:sp>
      </p:grpSp>
      <p:sp>
        <p:nvSpPr>
          <p:cNvPr id="14" name="object 6">
            <a:extLst>
              <a:ext uri="{FF2B5EF4-FFF2-40B4-BE49-F238E27FC236}">
                <a16:creationId xmlns:a16="http://schemas.microsoft.com/office/drawing/2014/main" id="{69F023C6-70B5-EF8F-2E85-C5F7B8502139}"/>
              </a:ext>
            </a:extLst>
          </p:cNvPr>
          <p:cNvSpPr txBox="1"/>
          <p:nvPr/>
        </p:nvSpPr>
        <p:spPr>
          <a:xfrm>
            <a:off x="1275698" y="2988663"/>
            <a:ext cx="339725" cy="391160"/>
          </a:xfrm>
          <a:prstGeom prst="rect">
            <a:avLst/>
          </a:prstGeom>
        </p:spPr>
        <p:txBody>
          <a:bodyPr vert="horz" wrap="square" lIns="0" tIns="12700" rIns="0" bIns="0" rtlCol="0">
            <a:spAutoFit/>
          </a:bodyPr>
          <a:lstStyle/>
          <a:p>
            <a:pPr marL="38100">
              <a:lnSpc>
                <a:spcPct val="100000"/>
              </a:lnSpc>
              <a:spcBef>
                <a:spcPts val="100"/>
              </a:spcBef>
            </a:pPr>
            <a:r>
              <a:rPr sz="2400" spc="-25">
                <a:latin typeface="Arial"/>
                <a:cs typeface="Arial"/>
              </a:rPr>
              <a:t>h</a:t>
            </a:r>
            <a:r>
              <a:rPr sz="2400" spc="-37" baseline="-19097">
                <a:latin typeface="Arial"/>
                <a:cs typeface="Arial"/>
              </a:rPr>
              <a:t>0</a:t>
            </a:r>
            <a:endParaRPr sz="2400" baseline="-19097">
              <a:latin typeface="Arial"/>
              <a:cs typeface="Arial"/>
            </a:endParaRPr>
          </a:p>
        </p:txBody>
      </p:sp>
      <p:grpSp>
        <p:nvGrpSpPr>
          <p:cNvPr id="15" name="object 7">
            <a:extLst>
              <a:ext uri="{FF2B5EF4-FFF2-40B4-BE49-F238E27FC236}">
                <a16:creationId xmlns:a16="http://schemas.microsoft.com/office/drawing/2014/main" id="{43E8FC29-6F7B-A0CD-64CE-C10A87EDB66D}"/>
              </a:ext>
            </a:extLst>
          </p:cNvPr>
          <p:cNvGrpSpPr/>
          <p:nvPr/>
        </p:nvGrpSpPr>
        <p:grpSpPr>
          <a:xfrm>
            <a:off x="2181157" y="2860544"/>
            <a:ext cx="717550" cy="690245"/>
            <a:chOff x="2193857" y="3266944"/>
            <a:chExt cx="717550" cy="690245"/>
          </a:xfrm>
        </p:grpSpPr>
        <p:sp>
          <p:nvSpPr>
            <p:cNvPr id="16" name="object 8">
              <a:extLst>
                <a:ext uri="{FF2B5EF4-FFF2-40B4-BE49-F238E27FC236}">
                  <a16:creationId xmlns:a16="http://schemas.microsoft.com/office/drawing/2014/main" id="{08D63383-6C75-C7D3-DC8E-6A7677A06F30}"/>
                </a:ext>
              </a:extLst>
            </p:cNvPr>
            <p:cNvSpPr/>
            <p:nvPr/>
          </p:nvSpPr>
          <p:spPr>
            <a:xfrm>
              <a:off x="2198620" y="3271706"/>
              <a:ext cx="708025" cy="680720"/>
            </a:xfrm>
            <a:custGeom>
              <a:avLst/>
              <a:gdLst/>
              <a:ahLst/>
              <a:cxnLst/>
              <a:rect l="l" t="t" r="r" b="b"/>
              <a:pathLst>
                <a:path w="708025" h="680720">
                  <a:moveTo>
                    <a:pt x="707815" y="0"/>
                  </a:moveTo>
                  <a:lnTo>
                    <a:pt x="0" y="0"/>
                  </a:lnTo>
                  <a:lnTo>
                    <a:pt x="0" y="680223"/>
                  </a:lnTo>
                  <a:lnTo>
                    <a:pt x="707815" y="680223"/>
                  </a:lnTo>
                  <a:lnTo>
                    <a:pt x="707815" y="0"/>
                  </a:lnTo>
                  <a:close/>
                </a:path>
              </a:pathLst>
            </a:custGeom>
            <a:solidFill>
              <a:srgbClr val="E7E6E6"/>
            </a:solidFill>
          </p:spPr>
          <p:txBody>
            <a:bodyPr wrap="square" lIns="0" tIns="0" rIns="0" bIns="0" rtlCol="0"/>
            <a:lstStyle/>
            <a:p>
              <a:endParaRPr/>
            </a:p>
          </p:txBody>
        </p:sp>
        <p:sp>
          <p:nvSpPr>
            <p:cNvPr id="17" name="object 9">
              <a:extLst>
                <a:ext uri="{FF2B5EF4-FFF2-40B4-BE49-F238E27FC236}">
                  <a16:creationId xmlns:a16="http://schemas.microsoft.com/office/drawing/2014/main" id="{AFA8C145-54C4-3984-2E6E-C89037079CCA}"/>
                </a:ext>
              </a:extLst>
            </p:cNvPr>
            <p:cNvSpPr/>
            <p:nvPr/>
          </p:nvSpPr>
          <p:spPr>
            <a:xfrm>
              <a:off x="2198620" y="3271706"/>
              <a:ext cx="708025" cy="680720"/>
            </a:xfrm>
            <a:custGeom>
              <a:avLst/>
              <a:gdLst/>
              <a:ahLst/>
              <a:cxnLst/>
              <a:rect l="l" t="t" r="r" b="b"/>
              <a:pathLst>
                <a:path w="708025" h="680720">
                  <a:moveTo>
                    <a:pt x="0" y="0"/>
                  </a:moveTo>
                  <a:lnTo>
                    <a:pt x="707816" y="0"/>
                  </a:lnTo>
                  <a:lnTo>
                    <a:pt x="707816" y="680223"/>
                  </a:lnTo>
                  <a:lnTo>
                    <a:pt x="0" y="680223"/>
                  </a:lnTo>
                  <a:lnTo>
                    <a:pt x="0" y="0"/>
                  </a:lnTo>
                  <a:close/>
                </a:path>
              </a:pathLst>
            </a:custGeom>
            <a:ln w="9525">
              <a:solidFill>
                <a:srgbClr val="44546A"/>
              </a:solidFill>
            </a:ln>
          </p:spPr>
          <p:txBody>
            <a:bodyPr wrap="square" lIns="0" tIns="0" rIns="0" bIns="0" rtlCol="0"/>
            <a:lstStyle/>
            <a:p>
              <a:endParaRPr/>
            </a:p>
          </p:txBody>
        </p:sp>
      </p:grpSp>
      <p:sp>
        <p:nvSpPr>
          <p:cNvPr id="18" name="object 10">
            <a:extLst>
              <a:ext uri="{FF2B5EF4-FFF2-40B4-BE49-F238E27FC236}">
                <a16:creationId xmlns:a16="http://schemas.microsoft.com/office/drawing/2014/main" id="{5A2CF9F1-A904-BA8E-9CAE-E52110244496}"/>
              </a:ext>
            </a:extLst>
          </p:cNvPr>
          <p:cNvSpPr txBox="1"/>
          <p:nvPr/>
        </p:nvSpPr>
        <p:spPr>
          <a:xfrm>
            <a:off x="2165282" y="2923542"/>
            <a:ext cx="749300" cy="513080"/>
          </a:xfrm>
          <a:prstGeom prst="rect">
            <a:avLst/>
          </a:prstGeom>
        </p:spPr>
        <p:txBody>
          <a:bodyPr vert="horz" wrap="square" lIns="0" tIns="12700" rIns="0" bIns="0" rtlCol="0">
            <a:spAutoFit/>
          </a:bodyPr>
          <a:lstStyle/>
          <a:p>
            <a:pPr marL="142240">
              <a:lnSpc>
                <a:spcPct val="100000"/>
              </a:lnSpc>
              <a:spcBef>
                <a:spcPts val="100"/>
              </a:spcBef>
            </a:pPr>
            <a:r>
              <a:rPr sz="3200" spc="-25">
                <a:latin typeface="Arial"/>
                <a:cs typeface="Arial"/>
              </a:rPr>
              <a:t>f</a:t>
            </a:r>
            <a:r>
              <a:rPr sz="3150" spc="-37" baseline="-19841">
                <a:latin typeface="Arial"/>
                <a:cs typeface="Arial"/>
              </a:rPr>
              <a:t>W</a:t>
            </a:r>
            <a:endParaRPr sz="3150" baseline="-19841">
              <a:latin typeface="Arial"/>
              <a:cs typeface="Arial"/>
            </a:endParaRPr>
          </a:p>
        </p:txBody>
      </p:sp>
      <p:grpSp>
        <p:nvGrpSpPr>
          <p:cNvPr id="19" name="object 11">
            <a:extLst>
              <a:ext uri="{FF2B5EF4-FFF2-40B4-BE49-F238E27FC236}">
                <a16:creationId xmlns:a16="http://schemas.microsoft.com/office/drawing/2014/main" id="{8D408687-7719-4156-87C8-72DA5E99CBD9}"/>
              </a:ext>
            </a:extLst>
          </p:cNvPr>
          <p:cNvGrpSpPr/>
          <p:nvPr/>
        </p:nvGrpSpPr>
        <p:grpSpPr>
          <a:xfrm>
            <a:off x="3416985" y="2681897"/>
            <a:ext cx="537845" cy="1047115"/>
            <a:chOff x="3429685" y="3088297"/>
            <a:chExt cx="537845" cy="1047115"/>
          </a:xfrm>
        </p:grpSpPr>
        <p:sp>
          <p:nvSpPr>
            <p:cNvPr id="20" name="object 12">
              <a:extLst>
                <a:ext uri="{FF2B5EF4-FFF2-40B4-BE49-F238E27FC236}">
                  <a16:creationId xmlns:a16="http://schemas.microsoft.com/office/drawing/2014/main" id="{4972CA5C-118C-88B5-0F8B-6C81D24EC408}"/>
                </a:ext>
              </a:extLst>
            </p:cNvPr>
            <p:cNvSpPr/>
            <p:nvPr/>
          </p:nvSpPr>
          <p:spPr>
            <a:xfrm>
              <a:off x="3434448" y="3093059"/>
              <a:ext cx="528320" cy="1037590"/>
            </a:xfrm>
            <a:custGeom>
              <a:avLst/>
              <a:gdLst/>
              <a:ahLst/>
              <a:cxnLst/>
              <a:rect l="l" t="t" r="r" b="b"/>
              <a:pathLst>
                <a:path w="528320" h="1037589">
                  <a:moveTo>
                    <a:pt x="527862" y="0"/>
                  </a:moveTo>
                  <a:lnTo>
                    <a:pt x="0" y="0"/>
                  </a:lnTo>
                  <a:lnTo>
                    <a:pt x="0" y="1037330"/>
                  </a:lnTo>
                  <a:lnTo>
                    <a:pt x="527862" y="1037330"/>
                  </a:lnTo>
                  <a:lnTo>
                    <a:pt x="527862" y="0"/>
                  </a:lnTo>
                  <a:close/>
                </a:path>
              </a:pathLst>
            </a:custGeom>
            <a:solidFill>
              <a:srgbClr val="D9EAD3"/>
            </a:solidFill>
          </p:spPr>
          <p:txBody>
            <a:bodyPr wrap="square" lIns="0" tIns="0" rIns="0" bIns="0" rtlCol="0"/>
            <a:lstStyle/>
            <a:p>
              <a:endParaRPr/>
            </a:p>
          </p:txBody>
        </p:sp>
        <p:sp>
          <p:nvSpPr>
            <p:cNvPr id="21" name="object 13">
              <a:extLst>
                <a:ext uri="{FF2B5EF4-FFF2-40B4-BE49-F238E27FC236}">
                  <a16:creationId xmlns:a16="http://schemas.microsoft.com/office/drawing/2014/main" id="{34B53C6F-0BE8-B2C9-376E-774EB25AE787}"/>
                </a:ext>
              </a:extLst>
            </p:cNvPr>
            <p:cNvSpPr/>
            <p:nvPr/>
          </p:nvSpPr>
          <p:spPr>
            <a:xfrm>
              <a:off x="3434448" y="3093059"/>
              <a:ext cx="528320" cy="1037590"/>
            </a:xfrm>
            <a:custGeom>
              <a:avLst/>
              <a:gdLst/>
              <a:ahLst/>
              <a:cxnLst/>
              <a:rect l="l" t="t" r="r" b="b"/>
              <a:pathLst>
                <a:path w="528320" h="1037589">
                  <a:moveTo>
                    <a:pt x="0" y="0"/>
                  </a:moveTo>
                  <a:lnTo>
                    <a:pt x="527863" y="0"/>
                  </a:lnTo>
                  <a:lnTo>
                    <a:pt x="527863" y="1037330"/>
                  </a:lnTo>
                  <a:lnTo>
                    <a:pt x="0" y="1037330"/>
                  </a:lnTo>
                  <a:lnTo>
                    <a:pt x="0" y="0"/>
                  </a:lnTo>
                  <a:close/>
                </a:path>
              </a:pathLst>
            </a:custGeom>
            <a:ln w="9525">
              <a:solidFill>
                <a:srgbClr val="000000"/>
              </a:solidFill>
            </a:ln>
          </p:spPr>
          <p:txBody>
            <a:bodyPr wrap="square" lIns="0" tIns="0" rIns="0" bIns="0" rtlCol="0"/>
            <a:lstStyle/>
            <a:p>
              <a:endParaRPr/>
            </a:p>
          </p:txBody>
        </p:sp>
      </p:grpSp>
      <p:sp>
        <p:nvSpPr>
          <p:cNvPr id="22" name="object 14">
            <a:extLst>
              <a:ext uri="{FF2B5EF4-FFF2-40B4-BE49-F238E27FC236}">
                <a16:creationId xmlns:a16="http://schemas.microsoft.com/office/drawing/2014/main" id="{B945FAEB-A862-6115-429C-75E8B18F6B62}"/>
              </a:ext>
            </a:extLst>
          </p:cNvPr>
          <p:cNvSpPr txBox="1"/>
          <p:nvPr/>
        </p:nvSpPr>
        <p:spPr>
          <a:xfrm>
            <a:off x="3515817" y="2988663"/>
            <a:ext cx="339725" cy="391160"/>
          </a:xfrm>
          <a:prstGeom prst="rect">
            <a:avLst/>
          </a:prstGeom>
        </p:spPr>
        <p:txBody>
          <a:bodyPr vert="horz" wrap="square" lIns="0" tIns="12700" rIns="0" bIns="0" rtlCol="0">
            <a:spAutoFit/>
          </a:bodyPr>
          <a:lstStyle/>
          <a:p>
            <a:pPr marL="38100">
              <a:lnSpc>
                <a:spcPct val="100000"/>
              </a:lnSpc>
              <a:spcBef>
                <a:spcPts val="100"/>
              </a:spcBef>
            </a:pPr>
            <a:r>
              <a:rPr sz="2400" spc="-25">
                <a:latin typeface="Arial"/>
                <a:cs typeface="Arial"/>
              </a:rPr>
              <a:t>h</a:t>
            </a:r>
            <a:r>
              <a:rPr sz="2400" spc="-37" baseline="-19097">
                <a:latin typeface="Arial"/>
                <a:cs typeface="Arial"/>
              </a:rPr>
              <a:t>1</a:t>
            </a:r>
            <a:endParaRPr sz="2400" baseline="-19097">
              <a:latin typeface="Arial"/>
              <a:cs typeface="Arial"/>
            </a:endParaRPr>
          </a:p>
        </p:txBody>
      </p:sp>
      <p:sp>
        <p:nvSpPr>
          <p:cNvPr id="27" name="object 16">
            <a:extLst>
              <a:ext uri="{FF2B5EF4-FFF2-40B4-BE49-F238E27FC236}">
                <a16:creationId xmlns:a16="http://schemas.microsoft.com/office/drawing/2014/main" id="{731B7A62-26C5-DF84-87FC-0C66426EA7DC}"/>
              </a:ext>
            </a:extLst>
          </p:cNvPr>
          <p:cNvSpPr/>
          <p:nvPr/>
        </p:nvSpPr>
        <p:spPr>
          <a:xfrm>
            <a:off x="1709483" y="3167227"/>
            <a:ext cx="1712595" cy="979169"/>
          </a:xfrm>
          <a:custGeom>
            <a:avLst/>
            <a:gdLst/>
            <a:ahLst/>
            <a:cxnLst/>
            <a:rect l="l" t="t" r="r" b="b"/>
            <a:pathLst>
              <a:path w="1712595" h="979170">
                <a:moveTo>
                  <a:pt x="476275" y="38100"/>
                </a:moveTo>
                <a:lnTo>
                  <a:pt x="400075" y="0"/>
                </a:lnTo>
                <a:lnTo>
                  <a:pt x="400075" y="28575"/>
                </a:lnTo>
                <a:lnTo>
                  <a:pt x="0" y="28575"/>
                </a:lnTo>
                <a:lnTo>
                  <a:pt x="0" y="47625"/>
                </a:lnTo>
                <a:lnTo>
                  <a:pt x="400075" y="47625"/>
                </a:lnTo>
                <a:lnTo>
                  <a:pt x="400075" y="76200"/>
                </a:lnTo>
                <a:lnTo>
                  <a:pt x="476275" y="38100"/>
                </a:lnTo>
                <a:close/>
              </a:path>
              <a:path w="1712595" h="979170">
                <a:moveTo>
                  <a:pt x="868451" y="454647"/>
                </a:moveTo>
                <a:lnTo>
                  <a:pt x="830351" y="378447"/>
                </a:lnTo>
                <a:lnTo>
                  <a:pt x="792251" y="454647"/>
                </a:lnTo>
                <a:lnTo>
                  <a:pt x="820826" y="454647"/>
                </a:lnTo>
                <a:lnTo>
                  <a:pt x="820826" y="978687"/>
                </a:lnTo>
                <a:lnTo>
                  <a:pt x="839876" y="978687"/>
                </a:lnTo>
                <a:lnTo>
                  <a:pt x="839876" y="454647"/>
                </a:lnTo>
                <a:lnTo>
                  <a:pt x="868451" y="454647"/>
                </a:lnTo>
                <a:close/>
              </a:path>
              <a:path w="1712595" h="979170">
                <a:moveTo>
                  <a:pt x="1712112" y="38201"/>
                </a:moveTo>
                <a:lnTo>
                  <a:pt x="1635912" y="101"/>
                </a:lnTo>
                <a:lnTo>
                  <a:pt x="1635912" y="28676"/>
                </a:lnTo>
                <a:lnTo>
                  <a:pt x="1184249" y="28676"/>
                </a:lnTo>
                <a:lnTo>
                  <a:pt x="1184249" y="47726"/>
                </a:lnTo>
                <a:lnTo>
                  <a:pt x="1635912" y="47726"/>
                </a:lnTo>
                <a:lnTo>
                  <a:pt x="1635912" y="76301"/>
                </a:lnTo>
                <a:lnTo>
                  <a:pt x="1712112" y="38201"/>
                </a:lnTo>
                <a:close/>
              </a:path>
            </a:pathLst>
          </a:custGeom>
          <a:solidFill>
            <a:srgbClr val="44546A"/>
          </a:solidFill>
        </p:spPr>
        <p:txBody>
          <a:bodyPr wrap="square" lIns="0" tIns="0" rIns="0" bIns="0" rtlCol="0"/>
          <a:lstStyle/>
          <a:p>
            <a:endParaRPr/>
          </a:p>
        </p:txBody>
      </p:sp>
      <p:sp>
        <p:nvSpPr>
          <p:cNvPr id="28" name="object 17">
            <a:extLst>
              <a:ext uri="{FF2B5EF4-FFF2-40B4-BE49-F238E27FC236}">
                <a16:creationId xmlns:a16="http://schemas.microsoft.com/office/drawing/2014/main" id="{6FFF53E0-188B-8084-A742-D07DB3FA7906}"/>
              </a:ext>
            </a:extLst>
          </p:cNvPr>
          <p:cNvSpPr/>
          <p:nvPr/>
        </p:nvSpPr>
        <p:spPr>
          <a:xfrm>
            <a:off x="4426027" y="2865306"/>
            <a:ext cx="708025" cy="680720"/>
          </a:xfrm>
          <a:custGeom>
            <a:avLst/>
            <a:gdLst/>
            <a:ahLst/>
            <a:cxnLst/>
            <a:rect l="l" t="t" r="r" b="b"/>
            <a:pathLst>
              <a:path w="708025" h="680720">
                <a:moveTo>
                  <a:pt x="707815" y="0"/>
                </a:moveTo>
                <a:lnTo>
                  <a:pt x="0" y="0"/>
                </a:lnTo>
                <a:lnTo>
                  <a:pt x="0" y="680223"/>
                </a:lnTo>
                <a:lnTo>
                  <a:pt x="707815" y="680223"/>
                </a:lnTo>
                <a:lnTo>
                  <a:pt x="707815" y="0"/>
                </a:lnTo>
                <a:close/>
              </a:path>
            </a:pathLst>
          </a:custGeom>
          <a:solidFill>
            <a:srgbClr val="E7E6E6"/>
          </a:solidFill>
        </p:spPr>
        <p:txBody>
          <a:bodyPr wrap="square" lIns="0" tIns="0" rIns="0" bIns="0" rtlCol="0"/>
          <a:lstStyle/>
          <a:p>
            <a:endParaRPr/>
          </a:p>
        </p:txBody>
      </p:sp>
      <p:sp>
        <p:nvSpPr>
          <p:cNvPr id="29" name="object 18">
            <a:extLst>
              <a:ext uri="{FF2B5EF4-FFF2-40B4-BE49-F238E27FC236}">
                <a16:creationId xmlns:a16="http://schemas.microsoft.com/office/drawing/2014/main" id="{20DAE0A0-404F-0D22-C628-6DE7DBB5E22F}"/>
              </a:ext>
            </a:extLst>
          </p:cNvPr>
          <p:cNvSpPr/>
          <p:nvPr/>
        </p:nvSpPr>
        <p:spPr>
          <a:xfrm>
            <a:off x="4426027" y="2865306"/>
            <a:ext cx="708025" cy="680720"/>
          </a:xfrm>
          <a:custGeom>
            <a:avLst/>
            <a:gdLst/>
            <a:ahLst/>
            <a:cxnLst/>
            <a:rect l="l" t="t" r="r" b="b"/>
            <a:pathLst>
              <a:path w="708025" h="680720">
                <a:moveTo>
                  <a:pt x="0" y="0"/>
                </a:moveTo>
                <a:lnTo>
                  <a:pt x="707816" y="0"/>
                </a:lnTo>
                <a:lnTo>
                  <a:pt x="707816" y="680223"/>
                </a:lnTo>
                <a:lnTo>
                  <a:pt x="0" y="680223"/>
                </a:lnTo>
                <a:lnTo>
                  <a:pt x="0" y="0"/>
                </a:lnTo>
                <a:close/>
              </a:path>
            </a:pathLst>
          </a:custGeom>
          <a:ln w="9525">
            <a:solidFill>
              <a:srgbClr val="44546A"/>
            </a:solidFill>
          </a:ln>
        </p:spPr>
        <p:txBody>
          <a:bodyPr wrap="square" lIns="0" tIns="0" rIns="0" bIns="0" rtlCol="0"/>
          <a:lstStyle/>
          <a:p>
            <a:endParaRPr/>
          </a:p>
        </p:txBody>
      </p:sp>
      <p:sp>
        <p:nvSpPr>
          <p:cNvPr id="30" name="object 19">
            <a:extLst>
              <a:ext uri="{FF2B5EF4-FFF2-40B4-BE49-F238E27FC236}">
                <a16:creationId xmlns:a16="http://schemas.microsoft.com/office/drawing/2014/main" id="{A139C12A-285F-3E94-C5A4-96B98B9AD73C}"/>
              </a:ext>
            </a:extLst>
          </p:cNvPr>
          <p:cNvSpPr txBox="1"/>
          <p:nvPr/>
        </p:nvSpPr>
        <p:spPr>
          <a:xfrm>
            <a:off x="4405390" y="2923542"/>
            <a:ext cx="749300" cy="513080"/>
          </a:xfrm>
          <a:prstGeom prst="rect">
            <a:avLst/>
          </a:prstGeom>
        </p:spPr>
        <p:txBody>
          <a:bodyPr vert="horz" wrap="square" lIns="0" tIns="12700" rIns="0" bIns="0" rtlCol="0">
            <a:spAutoFit/>
          </a:bodyPr>
          <a:lstStyle/>
          <a:p>
            <a:pPr marL="142240">
              <a:lnSpc>
                <a:spcPct val="100000"/>
              </a:lnSpc>
              <a:spcBef>
                <a:spcPts val="100"/>
              </a:spcBef>
            </a:pPr>
            <a:r>
              <a:rPr sz="3200" spc="-25">
                <a:latin typeface="Arial"/>
                <a:cs typeface="Arial"/>
              </a:rPr>
              <a:t>f</a:t>
            </a:r>
            <a:r>
              <a:rPr sz="3150" spc="-37" baseline="-19841">
                <a:latin typeface="Arial"/>
                <a:cs typeface="Arial"/>
              </a:rPr>
              <a:t>W</a:t>
            </a:r>
            <a:endParaRPr sz="3150" baseline="-19841">
              <a:latin typeface="Arial"/>
              <a:cs typeface="Arial"/>
            </a:endParaRPr>
          </a:p>
        </p:txBody>
      </p:sp>
      <p:grpSp>
        <p:nvGrpSpPr>
          <p:cNvPr id="31" name="object 20">
            <a:extLst>
              <a:ext uri="{FF2B5EF4-FFF2-40B4-BE49-F238E27FC236}">
                <a16:creationId xmlns:a16="http://schemas.microsoft.com/office/drawing/2014/main" id="{1A9EBB1B-D34B-900B-5866-70CCD6350A2A}"/>
              </a:ext>
            </a:extLst>
          </p:cNvPr>
          <p:cNvGrpSpPr/>
          <p:nvPr/>
        </p:nvGrpSpPr>
        <p:grpSpPr>
          <a:xfrm>
            <a:off x="5657065" y="2681897"/>
            <a:ext cx="577215" cy="1047115"/>
            <a:chOff x="5669765" y="3088297"/>
            <a:chExt cx="577215" cy="1047115"/>
          </a:xfrm>
        </p:grpSpPr>
        <p:sp>
          <p:nvSpPr>
            <p:cNvPr id="32" name="object 21">
              <a:extLst>
                <a:ext uri="{FF2B5EF4-FFF2-40B4-BE49-F238E27FC236}">
                  <a16:creationId xmlns:a16="http://schemas.microsoft.com/office/drawing/2014/main" id="{489220DF-FFF1-E8EB-04B7-D5E914009E75}"/>
                </a:ext>
              </a:extLst>
            </p:cNvPr>
            <p:cNvSpPr/>
            <p:nvPr/>
          </p:nvSpPr>
          <p:spPr>
            <a:xfrm>
              <a:off x="5674527" y="3093059"/>
              <a:ext cx="567690" cy="1037590"/>
            </a:xfrm>
            <a:custGeom>
              <a:avLst/>
              <a:gdLst/>
              <a:ahLst/>
              <a:cxnLst/>
              <a:rect l="l" t="t" r="r" b="b"/>
              <a:pathLst>
                <a:path w="567689" h="1037589">
                  <a:moveTo>
                    <a:pt x="567451" y="0"/>
                  </a:moveTo>
                  <a:lnTo>
                    <a:pt x="0" y="0"/>
                  </a:lnTo>
                  <a:lnTo>
                    <a:pt x="0" y="1037330"/>
                  </a:lnTo>
                  <a:lnTo>
                    <a:pt x="567451" y="1037330"/>
                  </a:lnTo>
                  <a:lnTo>
                    <a:pt x="567451" y="0"/>
                  </a:lnTo>
                  <a:close/>
                </a:path>
              </a:pathLst>
            </a:custGeom>
            <a:solidFill>
              <a:srgbClr val="D9EAD3"/>
            </a:solidFill>
          </p:spPr>
          <p:txBody>
            <a:bodyPr wrap="square" lIns="0" tIns="0" rIns="0" bIns="0" rtlCol="0"/>
            <a:lstStyle/>
            <a:p>
              <a:endParaRPr/>
            </a:p>
          </p:txBody>
        </p:sp>
        <p:sp>
          <p:nvSpPr>
            <p:cNvPr id="33" name="object 22">
              <a:extLst>
                <a:ext uri="{FF2B5EF4-FFF2-40B4-BE49-F238E27FC236}">
                  <a16:creationId xmlns:a16="http://schemas.microsoft.com/office/drawing/2014/main" id="{10EA53B8-F6C9-0BB6-6101-392B02BED6D0}"/>
                </a:ext>
              </a:extLst>
            </p:cNvPr>
            <p:cNvSpPr/>
            <p:nvPr/>
          </p:nvSpPr>
          <p:spPr>
            <a:xfrm>
              <a:off x="5674527" y="3093059"/>
              <a:ext cx="567690" cy="1037590"/>
            </a:xfrm>
            <a:custGeom>
              <a:avLst/>
              <a:gdLst/>
              <a:ahLst/>
              <a:cxnLst/>
              <a:rect l="l" t="t" r="r" b="b"/>
              <a:pathLst>
                <a:path w="567689" h="1037589">
                  <a:moveTo>
                    <a:pt x="0" y="0"/>
                  </a:moveTo>
                  <a:lnTo>
                    <a:pt x="567452" y="0"/>
                  </a:lnTo>
                  <a:lnTo>
                    <a:pt x="567452" y="1037330"/>
                  </a:lnTo>
                  <a:lnTo>
                    <a:pt x="0" y="1037330"/>
                  </a:lnTo>
                  <a:lnTo>
                    <a:pt x="0" y="0"/>
                  </a:lnTo>
                  <a:close/>
                </a:path>
              </a:pathLst>
            </a:custGeom>
            <a:ln w="9525">
              <a:solidFill>
                <a:srgbClr val="000000"/>
              </a:solidFill>
            </a:ln>
          </p:spPr>
          <p:txBody>
            <a:bodyPr wrap="square" lIns="0" tIns="0" rIns="0" bIns="0" rtlCol="0"/>
            <a:lstStyle/>
            <a:p>
              <a:endParaRPr/>
            </a:p>
          </p:txBody>
        </p:sp>
      </p:grpSp>
      <p:sp>
        <p:nvSpPr>
          <p:cNvPr id="34" name="object 23">
            <a:extLst>
              <a:ext uri="{FF2B5EF4-FFF2-40B4-BE49-F238E27FC236}">
                <a16:creationId xmlns:a16="http://schemas.microsoft.com/office/drawing/2014/main" id="{6E07BA31-AE61-3613-3EB1-7319262302F8}"/>
              </a:ext>
            </a:extLst>
          </p:cNvPr>
          <p:cNvSpPr txBox="1"/>
          <p:nvPr/>
        </p:nvSpPr>
        <p:spPr>
          <a:xfrm>
            <a:off x="5775690" y="2988663"/>
            <a:ext cx="339725" cy="391160"/>
          </a:xfrm>
          <a:prstGeom prst="rect">
            <a:avLst/>
          </a:prstGeom>
        </p:spPr>
        <p:txBody>
          <a:bodyPr vert="horz" wrap="square" lIns="0" tIns="12700" rIns="0" bIns="0" rtlCol="0">
            <a:spAutoFit/>
          </a:bodyPr>
          <a:lstStyle/>
          <a:p>
            <a:pPr marL="38100">
              <a:lnSpc>
                <a:spcPct val="100000"/>
              </a:lnSpc>
              <a:spcBef>
                <a:spcPts val="100"/>
              </a:spcBef>
            </a:pPr>
            <a:r>
              <a:rPr sz="2400" spc="-25">
                <a:latin typeface="Arial"/>
                <a:cs typeface="Arial"/>
              </a:rPr>
              <a:t>h</a:t>
            </a:r>
            <a:r>
              <a:rPr sz="2400" spc="-37" baseline="-19097">
                <a:latin typeface="Arial"/>
                <a:cs typeface="Arial"/>
              </a:rPr>
              <a:t>2</a:t>
            </a:r>
            <a:endParaRPr sz="2400" baseline="-19097">
              <a:latin typeface="Arial"/>
              <a:cs typeface="Arial"/>
            </a:endParaRPr>
          </a:p>
        </p:txBody>
      </p:sp>
      <p:sp>
        <p:nvSpPr>
          <p:cNvPr id="35" name="object 24">
            <a:extLst>
              <a:ext uri="{FF2B5EF4-FFF2-40B4-BE49-F238E27FC236}">
                <a16:creationId xmlns:a16="http://schemas.microsoft.com/office/drawing/2014/main" id="{7AFEE87B-DE0A-DE3B-A42D-4FE2D3DD4E70}"/>
              </a:ext>
            </a:extLst>
          </p:cNvPr>
          <p:cNvSpPr/>
          <p:nvPr/>
        </p:nvSpPr>
        <p:spPr>
          <a:xfrm>
            <a:off x="3949598" y="3167227"/>
            <a:ext cx="1712595" cy="979169"/>
          </a:xfrm>
          <a:custGeom>
            <a:avLst/>
            <a:gdLst/>
            <a:ahLst/>
            <a:cxnLst/>
            <a:rect l="l" t="t" r="r" b="b"/>
            <a:pathLst>
              <a:path w="1712595" h="979170">
                <a:moveTo>
                  <a:pt x="476288" y="38100"/>
                </a:moveTo>
                <a:lnTo>
                  <a:pt x="400088" y="0"/>
                </a:lnTo>
                <a:lnTo>
                  <a:pt x="400088" y="28575"/>
                </a:lnTo>
                <a:lnTo>
                  <a:pt x="0" y="28575"/>
                </a:lnTo>
                <a:lnTo>
                  <a:pt x="0" y="47625"/>
                </a:lnTo>
                <a:lnTo>
                  <a:pt x="400088" y="47625"/>
                </a:lnTo>
                <a:lnTo>
                  <a:pt x="400088" y="76200"/>
                </a:lnTo>
                <a:lnTo>
                  <a:pt x="476288" y="38100"/>
                </a:lnTo>
                <a:close/>
              </a:path>
              <a:path w="1712595" h="979170">
                <a:moveTo>
                  <a:pt x="868438" y="454647"/>
                </a:moveTo>
                <a:lnTo>
                  <a:pt x="830338" y="378447"/>
                </a:lnTo>
                <a:lnTo>
                  <a:pt x="792238" y="454647"/>
                </a:lnTo>
                <a:lnTo>
                  <a:pt x="820813" y="454647"/>
                </a:lnTo>
                <a:lnTo>
                  <a:pt x="820813" y="978687"/>
                </a:lnTo>
                <a:lnTo>
                  <a:pt x="839863" y="978687"/>
                </a:lnTo>
                <a:lnTo>
                  <a:pt x="839863" y="454647"/>
                </a:lnTo>
                <a:lnTo>
                  <a:pt x="868438" y="454647"/>
                </a:lnTo>
                <a:close/>
              </a:path>
              <a:path w="1712595" h="979170">
                <a:moveTo>
                  <a:pt x="1712099" y="38201"/>
                </a:moveTo>
                <a:lnTo>
                  <a:pt x="1635899" y="101"/>
                </a:lnTo>
                <a:lnTo>
                  <a:pt x="1635899" y="28676"/>
                </a:lnTo>
                <a:lnTo>
                  <a:pt x="1184236" y="28676"/>
                </a:lnTo>
                <a:lnTo>
                  <a:pt x="1184236" y="47726"/>
                </a:lnTo>
                <a:lnTo>
                  <a:pt x="1635899" y="47726"/>
                </a:lnTo>
                <a:lnTo>
                  <a:pt x="1635899" y="76301"/>
                </a:lnTo>
                <a:lnTo>
                  <a:pt x="1712099" y="38201"/>
                </a:lnTo>
                <a:close/>
              </a:path>
            </a:pathLst>
          </a:custGeom>
          <a:solidFill>
            <a:srgbClr val="44546A"/>
          </a:solidFill>
        </p:spPr>
        <p:txBody>
          <a:bodyPr wrap="square" lIns="0" tIns="0" rIns="0" bIns="0" rtlCol="0"/>
          <a:lstStyle/>
          <a:p>
            <a:endParaRPr/>
          </a:p>
        </p:txBody>
      </p:sp>
      <p:sp>
        <p:nvSpPr>
          <p:cNvPr id="36" name="object 25">
            <a:extLst>
              <a:ext uri="{FF2B5EF4-FFF2-40B4-BE49-F238E27FC236}">
                <a16:creationId xmlns:a16="http://schemas.microsoft.com/office/drawing/2014/main" id="{DB2554E6-B95B-F042-AB2E-3C31B8E43ADA}"/>
              </a:ext>
            </a:extLst>
          </p:cNvPr>
          <p:cNvSpPr txBox="1"/>
          <p:nvPr/>
        </p:nvSpPr>
        <p:spPr>
          <a:xfrm>
            <a:off x="6666135" y="2865306"/>
            <a:ext cx="708025" cy="680720"/>
          </a:xfrm>
          <a:prstGeom prst="rect">
            <a:avLst/>
          </a:prstGeom>
          <a:solidFill>
            <a:srgbClr val="E7E6E6"/>
          </a:solidFill>
          <a:ln w="9525">
            <a:solidFill>
              <a:srgbClr val="44546A"/>
            </a:solidFill>
          </a:ln>
        </p:spPr>
        <p:txBody>
          <a:bodyPr vert="horz" wrap="square" lIns="0" tIns="70485" rIns="0" bIns="0" rtlCol="0">
            <a:spAutoFit/>
          </a:bodyPr>
          <a:lstStyle/>
          <a:p>
            <a:pPr marL="121285">
              <a:lnSpc>
                <a:spcPct val="100000"/>
              </a:lnSpc>
              <a:spcBef>
                <a:spcPts val="555"/>
              </a:spcBef>
            </a:pPr>
            <a:r>
              <a:rPr sz="3200" spc="-25">
                <a:latin typeface="Arial"/>
                <a:cs typeface="Arial"/>
              </a:rPr>
              <a:t>f</a:t>
            </a:r>
            <a:r>
              <a:rPr sz="3150" spc="-37" baseline="-19841">
                <a:latin typeface="Arial"/>
                <a:cs typeface="Arial"/>
              </a:rPr>
              <a:t>W</a:t>
            </a:r>
            <a:endParaRPr sz="3150" baseline="-19841">
              <a:latin typeface="Arial"/>
              <a:cs typeface="Arial"/>
            </a:endParaRPr>
          </a:p>
        </p:txBody>
      </p:sp>
      <p:sp>
        <p:nvSpPr>
          <p:cNvPr id="37" name="object 26">
            <a:extLst>
              <a:ext uri="{FF2B5EF4-FFF2-40B4-BE49-F238E27FC236}">
                <a16:creationId xmlns:a16="http://schemas.microsoft.com/office/drawing/2014/main" id="{521329CC-D38F-3545-EA4B-24331414B340}"/>
              </a:ext>
            </a:extLst>
          </p:cNvPr>
          <p:cNvSpPr txBox="1"/>
          <p:nvPr/>
        </p:nvSpPr>
        <p:spPr>
          <a:xfrm>
            <a:off x="7901944" y="2686659"/>
            <a:ext cx="567690" cy="1037590"/>
          </a:xfrm>
          <a:prstGeom prst="rect">
            <a:avLst/>
          </a:prstGeom>
          <a:solidFill>
            <a:srgbClr val="D9EAD3"/>
          </a:solidFill>
          <a:ln w="9525">
            <a:solidFill>
              <a:srgbClr val="000000"/>
            </a:solidFill>
          </a:ln>
        </p:spPr>
        <p:txBody>
          <a:bodyPr vert="horz" wrap="square" lIns="0" tIns="314325" rIns="0" bIns="0" rtlCol="0">
            <a:spAutoFit/>
          </a:bodyPr>
          <a:lstStyle/>
          <a:p>
            <a:pPr marL="151765">
              <a:lnSpc>
                <a:spcPct val="100000"/>
              </a:lnSpc>
              <a:spcBef>
                <a:spcPts val="2475"/>
              </a:spcBef>
            </a:pPr>
            <a:r>
              <a:rPr sz="2400" spc="-25">
                <a:latin typeface="Arial"/>
                <a:cs typeface="Arial"/>
              </a:rPr>
              <a:t>h</a:t>
            </a:r>
            <a:r>
              <a:rPr sz="2400" spc="-37" baseline="-19097">
                <a:latin typeface="Arial"/>
                <a:cs typeface="Arial"/>
              </a:rPr>
              <a:t>3</a:t>
            </a:r>
            <a:endParaRPr sz="2400" baseline="-19097">
              <a:latin typeface="Arial"/>
              <a:cs typeface="Arial"/>
            </a:endParaRPr>
          </a:p>
        </p:txBody>
      </p:sp>
      <p:grpSp>
        <p:nvGrpSpPr>
          <p:cNvPr id="38" name="object 27">
            <a:extLst>
              <a:ext uri="{FF2B5EF4-FFF2-40B4-BE49-F238E27FC236}">
                <a16:creationId xmlns:a16="http://schemas.microsoft.com/office/drawing/2014/main" id="{F8FCBA9E-F261-9376-97A1-C9F9F5304311}"/>
              </a:ext>
            </a:extLst>
          </p:cNvPr>
          <p:cNvGrpSpPr/>
          <p:nvPr/>
        </p:nvGrpSpPr>
        <p:grpSpPr>
          <a:xfrm>
            <a:off x="6751150" y="4141149"/>
            <a:ext cx="537845" cy="1047115"/>
            <a:chOff x="6763850" y="4547549"/>
            <a:chExt cx="537845" cy="1047115"/>
          </a:xfrm>
        </p:grpSpPr>
        <p:sp>
          <p:nvSpPr>
            <p:cNvPr id="39" name="object 28">
              <a:extLst>
                <a:ext uri="{FF2B5EF4-FFF2-40B4-BE49-F238E27FC236}">
                  <a16:creationId xmlns:a16="http://schemas.microsoft.com/office/drawing/2014/main" id="{25BC0F4B-41DD-B718-51D6-A1607692D864}"/>
                </a:ext>
              </a:extLst>
            </p:cNvPr>
            <p:cNvSpPr/>
            <p:nvPr/>
          </p:nvSpPr>
          <p:spPr>
            <a:xfrm>
              <a:off x="6768613" y="4552312"/>
              <a:ext cx="528320" cy="1037590"/>
            </a:xfrm>
            <a:custGeom>
              <a:avLst/>
              <a:gdLst/>
              <a:ahLst/>
              <a:cxnLst/>
              <a:rect l="l" t="t" r="r" b="b"/>
              <a:pathLst>
                <a:path w="528320" h="1037589">
                  <a:moveTo>
                    <a:pt x="528261" y="0"/>
                  </a:moveTo>
                  <a:lnTo>
                    <a:pt x="0" y="0"/>
                  </a:lnTo>
                  <a:lnTo>
                    <a:pt x="0" y="1037330"/>
                  </a:lnTo>
                  <a:lnTo>
                    <a:pt x="528261" y="1037330"/>
                  </a:lnTo>
                  <a:lnTo>
                    <a:pt x="528261" y="0"/>
                  </a:lnTo>
                  <a:close/>
                </a:path>
              </a:pathLst>
            </a:custGeom>
            <a:solidFill>
              <a:srgbClr val="F4CCCC"/>
            </a:solidFill>
          </p:spPr>
          <p:txBody>
            <a:bodyPr wrap="square" lIns="0" tIns="0" rIns="0" bIns="0" rtlCol="0"/>
            <a:lstStyle/>
            <a:p>
              <a:endParaRPr/>
            </a:p>
          </p:txBody>
        </p:sp>
        <p:sp>
          <p:nvSpPr>
            <p:cNvPr id="40" name="object 29">
              <a:extLst>
                <a:ext uri="{FF2B5EF4-FFF2-40B4-BE49-F238E27FC236}">
                  <a16:creationId xmlns:a16="http://schemas.microsoft.com/office/drawing/2014/main" id="{802F5302-BB69-9564-ABC5-30162F1FDAA7}"/>
                </a:ext>
              </a:extLst>
            </p:cNvPr>
            <p:cNvSpPr/>
            <p:nvPr/>
          </p:nvSpPr>
          <p:spPr>
            <a:xfrm>
              <a:off x="6768613" y="4552312"/>
              <a:ext cx="528320" cy="1037590"/>
            </a:xfrm>
            <a:custGeom>
              <a:avLst/>
              <a:gdLst/>
              <a:ahLst/>
              <a:cxnLst/>
              <a:rect l="l" t="t" r="r" b="b"/>
              <a:pathLst>
                <a:path w="528320" h="1037589">
                  <a:moveTo>
                    <a:pt x="0" y="0"/>
                  </a:moveTo>
                  <a:lnTo>
                    <a:pt x="528262" y="0"/>
                  </a:lnTo>
                  <a:lnTo>
                    <a:pt x="528262" y="1037330"/>
                  </a:lnTo>
                  <a:lnTo>
                    <a:pt x="0" y="1037330"/>
                  </a:lnTo>
                  <a:lnTo>
                    <a:pt x="0" y="0"/>
                  </a:lnTo>
                  <a:close/>
                </a:path>
              </a:pathLst>
            </a:custGeom>
            <a:solidFill>
              <a:srgbClr val="CFE3F3"/>
            </a:solidFill>
            <a:ln w="9525">
              <a:solidFill>
                <a:srgbClr val="000000"/>
              </a:solidFill>
            </a:ln>
          </p:spPr>
          <p:txBody>
            <a:bodyPr wrap="square" lIns="0" tIns="0" rIns="0" bIns="0" rtlCol="0"/>
            <a:lstStyle/>
            <a:p>
              <a:endParaRPr dirty="0"/>
            </a:p>
          </p:txBody>
        </p:sp>
      </p:grpSp>
      <p:sp>
        <p:nvSpPr>
          <p:cNvPr id="41" name="object 30">
            <a:extLst>
              <a:ext uri="{FF2B5EF4-FFF2-40B4-BE49-F238E27FC236}">
                <a16:creationId xmlns:a16="http://schemas.microsoft.com/office/drawing/2014/main" id="{8AEE3930-8B2A-BD20-2ECC-13D2BD6452CB}"/>
              </a:ext>
            </a:extLst>
          </p:cNvPr>
          <p:cNvSpPr txBox="1"/>
          <p:nvPr/>
        </p:nvSpPr>
        <p:spPr>
          <a:xfrm>
            <a:off x="6755913" y="4145912"/>
            <a:ext cx="528320" cy="686726"/>
          </a:xfrm>
          <a:prstGeom prst="rect">
            <a:avLst/>
          </a:prstGeom>
        </p:spPr>
        <p:txBody>
          <a:bodyPr vert="horz" wrap="square" lIns="0" tIns="314325" rIns="0" bIns="0" rtlCol="0">
            <a:spAutoFit/>
          </a:bodyPr>
          <a:lstStyle/>
          <a:p>
            <a:pPr marL="146050">
              <a:lnSpc>
                <a:spcPct val="100000"/>
              </a:lnSpc>
              <a:spcBef>
                <a:spcPts val="2475"/>
              </a:spcBef>
            </a:pPr>
            <a:r>
              <a:rPr lang="en-US" altLang="zh-CN" sz="2400" spc="-25" dirty="0">
                <a:latin typeface="Arial"/>
                <a:cs typeface="Arial"/>
              </a:rPr>
              <a:t>y</a:t>
            </a:r>
            <a:r>
              <a:rPr lang="en-US" altLang="zh-CN" sz="2400" spc="-37" baseline="-19097" dirty="0">
                <a:latin typeface="Arial"/>
                <a:cs typeface="Arial"/>
              </a:rPr>
              <a:t>1</a:t>
            </a:r>
            <a:endParaRPr sz="2400" baseline="-19097" dirty="0">
              <a:latin typeface="Arial"/>
              <a:cs typeface="Arial"/>
            </a:endParaRPr>
          </a:p>
        </p:txBody>
      </p:sp>
      <p:sp>
        <p:nvSpPr>
          <p:cNvPr id="42" name="object 31">
            <a:extLst>
              <a:ext uri="{FF2B5EF4-FFF2-40B4-BE49-F238E27FC236}">
                <a16:creationId xmlns:a16="http://schemas.microsoft.com/office/drawing/2014/main" id="{B4B9C289-F5F4-DC43-9585-FCAC0DE141E1}"/>
              </a:ext>
            </a:extLst>
          </p:cNvPr>
          <p:cNvSpPr/>
          <p:nvPr/>
        </p:nvSpPr>
        <p:spPr>
          <a:xfrm>
            <a:off x="7373951" y="3167319"/>
            <a:ext cx="528320" cy="76200"/>
          </a:xfrm>
          <a:custGeom>
            <a:avLst/>
            <a:gdLst/>
            <a:ahLst/>
            <a:cxnLst/>
            <a:rect l="l" t="t" r="r" b="b"/>
            <a:pathLst>
              <a:path w="528320" h="76200">
                <a:moveTo>
                  <a:pt x="451662" y="0"/>
                </a:moveTo>
                <a:lnTo>
                  <a:pt x="451662" y="28575"/>
                </a:lnTo>
                <a:lnTo>
                  <a:pt x="0" y="28573"/>
                </a:lnTo>
                <a:lnTo>
                  <a:pt x="0" y="47623"/>
                </a:lnTo>
                <a:lnTo>
                  <a:pt x="451662" y="47625"/>
                </a:lnTo>
                <a:lnTo>
                  <a:pt x="451662" y="76200"/>
                </a:lnTo>
                <a:lnTo>
                  <a:pt x="527862" y="38100"/>
                </a:lnTo>
                <a:lnTo>
                  <a:pt x="451662" y="0"/>
                </a:lnTo>
                <a:close/>
              </a:path>
            </a:pathLst>
          </a:custGeom>
          <a:solidFill>
            <a:srgbClr val="44546A"/>
          </a:solidFill>
        </p:spPr>
        <p:txBody>
          <a:bodyPr wrap="square" lIns="0" tIns="0" rIns="0" bIns="0" rtlCol="0"/>
          <a:lstStyle/>
          <a:p>
            <a:endParaRPr/>
          </a:p>
        </p:txBody>
      </p:sp>
      <p:sp>
        <p:nvSpPr>
          <p:cNvPr id="45" name="object 34">
            <a:extLst>
              <a:ext uri="{FF2B5EF4-FFF2-40B4-BE49-F238E27FC236}">
                <a16:creationId xmlns:a16="http://schemas.microsoft.com/office/drawing/2014/main" id="{1063C778-FAA5-1115-A948-91850624C6E7}"/>
              </a:ext>
            </a:extLst>
          </p:cNvPr>
          <p:cNvSpPr/>
          <p:nvPr/>
        </p:nvSpPr>
        <p:spPr>
          <a:xfrm>
            <a:off x="6229278" y="3167226"/>
            <a:ext cx="436880" cy="76200"/>
          </a:xfrm>
          <a:custGeom>
            <a:avLst/>
            <a:gdLst/>
            <a:ahLst/>
            <a:cxnLst/>
            <a:rect l="l" t="t" r="r" b="b"/>
            <a:pathLst>
              <a:path w="436879" h="76200">
                <a:moveTo>
                  <a:pt x="360486" y="0"/>
                </a:moveTo>
                <a:lnTo>
                  <a:pt x="360486" y="28575"/>
                </a:lnTo>
                <a:lnTo>
                  <a:pt x="0" y="28573"/>
                </a:lnTo>
                <a:lnTo>
                  <a:pt x="0" y="47623"/>
                </a:lnTo>
                <a:lnTo>
                  <a:pt x="360485" y="47625"/>
                </a:lnTo>
                <a:lnTo>
                  <a:pt x="360485" y="76200"/>
                </a:lnTo>
                <a:lnTo>
                  <a:pt x="436685" y="38100"/>
                </a:lnTo>
                <a:lnTo>
                  <a:pt x="360486" y="0"/>
                </a:lnTo>
                <a:close/>
              </a:path>
            </a:pathLst>
          </a:custGeom>
          <a:solidFill>
            <a:srgbClr val="44546A"/>
          </a:solidFill>
        </p:spPr>
        <p:txBody>
          <a:bodyPr wrap="square" lIns="0" tIns="0" rIns="0" bIns="0" rtlCol="0"/>
          <a:lstStyle/>
          <a:p>
            <a:endParaRPr/>
          </a:p>
        </p:txBody>
      </p:sp>
      <p:sp>
        <p:nvSpPr>
          <p:cNvPr id="46" name="object 35">
            <a:extLst>
              <a:ext uri="{FF2B5EF4-FFF2-40B4-BE49-F238E27FC236}">
                <a16:creationId xmlns:a16="http://schemas.microsoft.com/office/drawing/2014/main" id="{4D63DE75-FB23-4CC6-A397-087F3B6DAD11}"/>
              </a:ext>
            </a:extLst>
          </p:cNvPr>
          <p:cNvSpPr/>
          <p:nvPr/>
        </p:nvSpPr>
        <p:spPr>
          <a:xfrm>
            <a:off x="4515812" y="4145912"/>
            <a:ext cx="528320" cy="1037590"/>
          </a:xfrm>
          <a:custGeom>
            <a:avLst/>
            <a:gdLst/>
            <a:ahLst/>
            <a:cxnLst/>
            <a:rect l="l" t="t" r="r" b="b"/>
            <a:pathLst>
              <a:path w="528320" h="1037589">
                <a:moveTo>
                  <a:pt x="528261" y="0"/>
                </a:moveTo>
                <a:lnTo>
                  <a:pt x="0" y="0"/>
                </a:lnTo>
                <a:lnTo>
                  <a:pt x="0" y="1037330"/>
                </a:lnTo>
                <a:lnTo>
                  <a:pt x="528261" y="1037330"/>
                </a:lnTo>
                <a:lnTo>
                  <a:pt x="528261" y="0"/>
                </a:lnTo>
                <a:close/>
              </a:path>
            </a:pathLst>
          </a:custGeom>
          <a:solidFill>
            <a:srgbClr val="F4CCCC"/>
          </a:solidFill>
        </p:spPr>
        <p:txBody>
          <a:bodyPr wrap="square" lIns="0" tIns="0" rIns="0" bIns="0" rtlCol="0"/>
          <a:lstStyle/>
          <a:p>
            <a:endParaRPr/>
          </a:p>
        </p:txBody>
      </p:sp>
      <p:sp>
        <p:nvSpPr>
          <p:cNvPr id="47" name="object 36">
            <a:extLst>
              <a:ext uri="{FF2B5EF4-FFF2-40B4-BE49-F238E27FC236}">
                <a16:creationId xmlns:a16="http://schemas.microsoft.com/office/drawing/2014/main" id="{17895EB9-CC43-1825-4A69-7847328CDF7C}"/>
              </a:ext>
            </a:extLst>
          </p:cNvPr>
          <p:cNvSpPr/>
          <p:nvPr/>
        </p:nvSpPr>
        <p:spPr>
          <a:xfrm>
            <a:off x="4515812" y="4145912"/>
            <a:ext cx="528320" cy="1037590"/>
          </a:xfrm>
          <a:custGeom>
            <a:avLst/>
            <a:gdLst/>
            <a:ahLst/>
            <a:cxnLst/>
            <a:rect l="l" t="t" r="r" b="b"/>
            <a:pathLst>
              <a:path w="528320" h="1037589">
                <a:moveTo>
                  <a:pt x="0" y="0"/>
                </a:moveTo>
                <a:lnTo>
                  <a:pt x="528262" y="0"/>
                </a:lnTo>
                <a:lnTo>
                  <a:pt x="528262" y="1037330"/>
                </a:lnTo>
                <a:lnTo>
                  <a:pt x="0" y="1037330"/>
                </a:lnTo>
                <a:lnTo>
                  <a:pt x="0" y="0"/>
                </a:lnTo>
                <a:close/>
              </a:path>
            </a:pathLst>
          </a:custGeom>
          <a:ln w="9525">
            <a:solidFill>
              <a:srgbClr val="000000"/>
            </a:solidFill>
          </a:ln>
        </p:spPr>
        <p:txBody>
          <a:bodyPr wrap="square" lIns="0" tIns="0" rIns="0" bIns="0" rtlCol="0"/>
          <a:lstStyle/>
          <a:p>
            <a:endParaRPr/>
          </a:p>
        </p:txBody>
      </p:sp>
      <p:sp>
        <p:nvSpPr>
          <p:cNvPr id="48" name="object 37">
            <a:extLst>
              <a:ext uri="{FF2B5EF4-FFF2-40B4-BE49-F238E27FC236}">
                <a16:creationId xmlns:a16="http://schemas.microsoft.com/office/drawing/2014/main" id="{7CDC75DC-6567-9A06-BE3E-62371453A464}"/>
              </a:ext>
            </a:extLst>
          </p:cNvPr>
          <p:cNvSpPr/>
          <p:nvPr/>
        </p:nvSpPr>
        <p:spPr>
          <a:xfrm>
            <a:off x="6981943" y="3545669"/>
            <a:ext cx="76200" cy="600710"/>
          </a:xfrm>
          <a:custGeom>
            <a:avLst/>
            <a:gdLst/>
            <a:ahLst/>
            <a:cxnLst/>
            <a:rect l="l" t="t" r="r" b="b"/>
            <a:pathLst>
              <a:path w="76200" h="600710">
                <a:moveTo>
                  <a:pt x="38100" y="0"/>
                </a:moveTo>
                <a:lnTo>
                  <a:pt x="0" y="76200"/>
                </a:lnTo>
                <a:lnTo>
                  <a:pt x="28575" y="76200"/>
                </a:lnTo>
                <a:lnTo>
                  <a:pt x="28576" y="600243"/>
                </a:lnTo>
                <a:lnTo>
                  <a:pt x="47626" y="600243"/>
                </a:lnTo>
                <a:lnTo>
                  <a:pt x="47625" y="76200"/>
                </a:lnTo>
                <a:lnTo>
                  <a:pt x="76200" y="76200"/>
                </a:lnTo>
                <a:lnTo>
                  <a:pt x="38100" y="0"/>
                </a:lnTo>
                <a:close/>
              </a:path>
            </a:pathLst>
          </a:custGeom>
          <a:solidFill>
            <a:srgbClr val="44546A"/>
          </a:solidFill>
        </p:spPr>
        <p:txBody>
          <a:bodyPr wrap="square" lIns="0" tIns="0" rIns="0" bIns="0" rtlCol="0"/>
          <a:lstStyle/>
          <a:p>
            <a:endParaRPr/>
          </a:p>
        </p:txBody>
      </p:sp>
      <p:sp>
        <p:nvSpPr>
          <p:cNvPr id="50" name="object 39">
            <a:extLst>
              <a:ext uri="{FF2B5EF4-FFF2-40B4-BE49-F238E27FC236}">
                <a16:creationId xmlns:a16="http://schemas.microsoft.com/office/drawing/2014/main" id="{557CB6F2-C892-4C31-5848-11FDACCF9459}"/>
              </a:ext>
            </a:extLst>
          </p:cNvPr>
          <p:cNvSpPr txBox="1"/>
          <p:nvPr/>
        </p:nvSpPr>
        <p:spPr>
          <a:xfrm>
            <a:off x="4515812" y="4145912"/>
            <a:ext cx="528320" cy="1037590"/>
          </a:xfrm>
          <a:prstGeom prst="rect">
            <a:avLst/>
          </a:prstGeom>
        </p:spPr>
        <p:txBody>
          <a:bodyPr vert="horz" wrap="square" lIns="0" tIns="314325" rIns="0" bIns="0" rtlCol="0">
            <a:spAutoFit/>
          </a:bodyPr>
          <a:lstStyle/>
          <a:p>
            <a:pPr marL="146050">
              <a:lnSpc>
                <a:spcPct val="100000"/>
              </a:lnSpc>
              <a:spcBef>
                <a:spcPts val="2475"/>
              </a:spcBef>
            </a:pPr>
            <a:r>
              <a:rPr sz="2400" spc="-25">
                <a:latin typeface="Arial"/>
                <a:cs typeface="Arial"/>
              </a:rPr>
              <a:t>x</a:t>
            </a:r>
            <a:r>
              <a:rPr sz="2400" spc="-37" baseline="-19097">
                <a:latin typeface="Arial"/>
                <a:cs typeface="Arial"/>
              </a:rPr>
              <a:t>2</a:t>
            </a:r>
            <a:endParaRPr sz="2400" baseline="-19097">
              <a:latin typeface="Arial"/>
              <a:cs typeface="Arial"/>
            </a:endParaRPr>
          </a:p>
        </p:txBody>
      </p:sp>
      <p:grpSp>
        <p:nvGrpSpPr>
          <p:cNvPr id="51" name="object 40">
            <a:extLst>
              <a:ext uri="{FF2B5EF4-FFF2-40B4-BE49-F238E27FC236}">
                <a16:creationId xmlns:a16="http://schemas.microsoft.com/office/drawing/2014/main" id="{98FFE532-7294-1614-911F-41CA523342AE}"/>
              </a:ext>
            </a:extLst>
          </p:cNvPr>
          <p:cNvGrpSpPr/>
          <p:nvPr/>
        </p:nvGrpSpPr>
        <p:grpSpPr>
          <a:xfrm>
            <a:off x="2270950" y="4141149"/>
            <a:ext cx="537845" cy="1047115"/>
            <a:chOff x="2283650" y="4547549"/>
            <a:chExt cx="537845" cy="1047115"/>
          </a:xfrm>
        </p:grpSpPr>
        <p:sp>
          <p:nvSpPr>
            <p:cNvPr id="52" name="object 41">
              <a:extLst>
                <a:ext uri="{FF2B5EF4-FFF2-40B4-BE49-F238E27FC236}">
                  <a16:creationId xmlns:a16="http://schemas.microsoft.com/office/drawing/2014/main" id="{0995AF0E-24B9-075F-7382-9C6689298F09}"/>
                </a:ext>
              </a:extLst>
            </p:cNvPr>
            <p:cNvSpPr/>
            <p:nvPr/>
          </p:nvSpPr>
          <p:spPr>
            <a:xfrm>
              <a:off x="2288413" y="4552312"/>
              <a:ext cx="528320" cy="1037590"/>
            </a:xfrm>
            <a:custGeom>
              <a:avLst/>
              <a:gdLst/>
              <a:ahLst/>
              <a:cxnLst/>
              <a:rect l="l" t="t" r="r" b="b"/>
              <a:pathLst>
                <a:path w="528319" h="1037589">
                  <a:moveTo>
                    <a:pt x="528261" y="0"/>
                  </a:moveTo>
                  <a:lnTo>
                    <a:pt x="0" y="0"/>
                  </a:lnTo>
                  <a:lnTo>
                    <a:pt x="0" y="1037330"/>
                  </a:lnTo>
                  <a:lnTo>
                    <a:pt x="528261" y="1037330"/>
                  </a:lnTo>
                  <a:lnTo>
                    <a:pt x="528261" y="0"/>
                  </a:lnTo>
                  <a:close/>
                </a:path>
              </a:pathLst>
            </a:custGeom>
            <a:solidFill>
              <a:srgbClr val="F4CCCC"/>
            </a:solidFill>
          </p:spPr>
          <p:txBody>
            <a:bodyPr wrap="square" lIns="0" tIns="0" rIns="0" bIns="0" rtlCol="0"/>
            <a:lstStyle/>
            <a:p>
              <a:endParaRPr/>
            </a:p>
          </p:txBody>
        </p:sp>
        <p:sp>
          <p:nvSpPr>
            <p:cNvPr id="53" name="object 42">
              <a:extLst>
                <a:ext uri="{FF2B5EF4-FFF2-40B4-BE49-F238E27FC236}">
                  <a16:creationId xmlns:a16="http://schemas.microsoft.com/office/drawing/2014/main" id="{DFC944F6-C6C3-AE70-A7D2-E710A1C74FDF}"/>
                </a:ext>
              </a:extLst>
            </p:cNvPr>
            <p:cNvSpPr/>
            <p:nvPr/>
          </p:nvSpPr>
          <p:spPr>
            <a:xfrm>
              <a:off x="2288413" y="4552312"/>
              <a:ext cx="528320" cy="1037590"/>
            </a:xfrm>
            <a:custGeom>
              <a:avLst/>
              <a:gdLst/>
              <a:ahLst/>
              <a:cxnLst/>
              <a:rect l="l" t="t" r="r" b="b"/>
              <a:pathLst>
                <a:path w="528319" h="1037589">
                  <a:moveTo>
                    <a:pt x="0" y="0"/>
                  </a:moveTo>
                  <a:lnTo>
                    <a:pt x="528262" y="0"/>
                  </a:lnTo>
                  <a:lnTo>
                    <a:pt x="528262" y="1037330"/>
                  </a:lnTo>
                  <a:lnTo>
                    <a:pt x="0" y="1037330"/>
                  </a:lnTo>
                  <a:lnTo>
                    <a:pt x="0" y="0"/>
                  </a:lnTo>
                  <a:close/>
                </a:path>
              </a:pathLst>
            </a:custGeom>
            <a:ln w="9525">
              <a:solidFill>
                <a:srgbClr val="000000"/>
              </a:solidFill>
            </a:ln>
          </p:spPr>
          <p:txBody>
            <a:bodyPr wrap="square" lIns="0" tIns="0" rIns="0" bIns="0" rtlCol="0"/>
            <a:lstStyle/>
            <a:p>
              <a:endParaRPr/>
            </a:p>
          </p:txBody>
        </p:sp>
      </p:grpSp>
      <p:sp>
        <p:nvSpPr>
          <p:cNvPr id="54" name="object 43">
            <a:extLst>
              <a:ext uri="{FF2B5EF4-FFF2-40B4-BE49-F238E27FC236}">
                <a16:creationId xmlns:a16="http://schemas.microsoft.com/office/drawing/2014/main" id="{B5CF8249-7CC3-8477-4C9D-489377C43146}"/>
              </a:ext>
            </a:extLst>
          </p:cNvPr>
          <p:cNvSpPr txBox="1"/>
          <p:nvPr/>
        </p:nvSpPr>
        <p:spPr>
          <a:xfrm>
            <a:off x="2275713" y="4145912"/>
            <a:ext cx="528320" cy="1037590"/>
          </a:xfrm>
          <a:prstGeom prst="rect">
            <a:avLst/>
          </a:prstGeom>
        </p:spPr>
        <p:txBody>
          <a:bodyPr vert="horz" wrap="square" lIns="0" tIns="314325" rIns="0" bIns="0" rtlCol="0">
            <a:spAutoFit/>
          </a:bodyPr>
          <a:lstStyle/>
          <a:p>
            <a:pPr marL="146050">
              <a:lnSpc>
                <a:spcPct val="100000"/>
              </a:lnSpc>
              <a:spcBef>
                <a:spcPts val="2475"/>
              </a:spcBef>
            </a:pPr>
            <a:r>
              <a:rPr sz="2400" spc="-25">
                <a:latin typeface="Arial"/>
                <a:cs typeface="Arial"/>
              </a:rPr>
              <a:t>x</a:t>
            </a:r>
            <a:r>
              <a:rPr sz="2400" spc="-37" baseline="-19097">
                <a:latin typeface="Arial"/>
                <a:cs typeface="Arial"/>
              </a:rPr>
              <a:t>1</a:t>
            </a:r>
            <a:endParaRPr sz="2400" baseline="-19097">
              <a:latin typeface="Arial"/>
              <a:cs typeface="Arial"/>
            </a:endParaRPr>
          </a:p>
        </p:txBody>
      </p:sp>
      <p:grpSp>
        <p:nvGrpSpPr>
          <p:cNvPr id="55" name="object 44">
            <a:extLst>
              <a:ext uri="{FF2B5EF4-FFF2-40B4-BE49-F238E27FC236}">
                <a16:creationId xmlns:a16="http://schemas.microsoft.com/office/drawing/2014/main" id="{2B5AB366-D292-5399-5706-2DFB6399FFB2}"/>
              </a:ext>
            </a:extLst>
          </p:cNvPr>
          <p:cNvGrpSpPr/>
          <p:nvPr/>
        </p:nvGrpSpPr>
        <p:grpSpPr>
          <a:xfrm>
            <a:off x="964316" y="4584294"/>
            <a:ext cx="717550" cy="690245"/>
            <a:chOff x="977016" y="4990694"/>
            <a:chExt cx="717550" cy="690245"/>
          </a:xfrm>
        </p:grpSpPr>
        <p:sp>
          <p:nvSpPr>
            <p:cNvPr id="56" name="object 45">
              <a:extLst>
                <a:ext uri="{FF2B5EF4-FFF2-40B4-BE49-F238E27FC236}">
                  <a16:creationId xmlns:a16="http://schemas.microsoft.com/office/drawing/2014/main" id="{7470FB57-1FFE-2B50-F7BF-11D80DA48EA4}"/>
                </a:ext>
              </a:extLst>
            </p:cNvPr>
            <p:cNvSpPr/>
            <p:nvPr/>
          </p:nvSpPr>
          <p:spPr>
            <a:xfrm>
              <a:off x="981779" y="4995457"/>
              <a:ext cx="708025" cy="680720"/>
            </a:xfrm>
            <a:custGeom>
              <a:avLst/>
              <a:gdLst/>
              <a:ahLst/>
              <a:cxnLst/>
              <a:rect l="l" t="t" r="r" b="b"/>
              <a:pathLst>
                <a:path w="708025" h="680720">
                  <a:moveTo>
                    <a:pt x="707816" y="0"/>
                  </a:moveTo>
                  <a:lnTo>
                    <a:pt x="0" y="0"/>
                  </a:lnTo>
                  <a:lnTo>
                    <a:pt x="0" y="680223"/>
                  </a:lnTo>
                  <a:lnTo>
                    <a:pt x="707816" y="680223"/>
                  </a:lnTo>
                  <a:lnTo>
                    <a:pt x="707816" y="0"/>
                  </a:lnTo>
                  <a:close/>
                </a:path>
              </a:pathLst>
            </a:custGeom>
            <a:solidFill>
              <a:srgbClr val="FCE5CD"/>
            </a:solidFill>
          </p:spPr>
          <p:txBody>
            <a:bodyPr wrap="square" lIns="0" tIns="0" rIns="0" bIns="0" rtlCol="0"/>
            <a:lstStyle/>
            <a:p>
              <a:endParaRPr/>
            </a:p>
          </p:txBody>
        </p:sp>
        <p:sp>
          <p:nvSpPr>
            <p:cNvPr id="57" name="object 46">
              <a:extLst>
                <a:ext uri="{FF2B5EF4-FFF2-40B4-BE49-F238E27FC236}">
                  <a16:creationId xmlns:a16="http://schemas.microsoft.com/office/drawing/2014/main" id="{08EF75C6-528C-3631-0CA9-B3B042D5A381}"/>
                </a:ext>
              </a:extLst>
            </p:cNvPr>
            <p:cNvSpPr/>
            <p:nvPr/>
          </p:nvSpPr>
          <p:spPr>
            <a:xfrm>
              <a:off x="981779" y="4995457"/>
              <a:ext cx="708025" cy="680720"/>
            </a:xfrm>
            <a:custGeom>
              <a:avLst/>
              <a:gdLst/>
              <a:ahLst/>
              <a:cxnLst/>
              <a:rect l="l" t="t" r="r" b="b"/>
              <a:pathLst>
                <a:path w="708025" h="680720">
                  <a:moveTo>
                    <a:pt x="0" y="0"/>
                  </a:moveTo>
                  <a:lnTo>
                    <a:pt x="707816" y="0"/>
                  </a:lnTo>
                  <a:lnTo>
                    <a:pt x="707816" y="680223"/>
                  </a:lnTo>
                  <a:lnTo>
                    <a:pt x="0" y="680223"/>
                  </a:lnTo>
                  <a:lnTo>
                    <a:pt x="0" y="0"/>
                  </a:lnTo>
                  <a:close/>
                </a:path>
              </a:pathLst>
            </a:custGeom>
            <a:ln w="9525">
              <a:solidFill>
                <a:srgbClr val="44546A"/>
              </a:solidFill>
            </a:ln>
          </p:spPr>
          <p:txBody>
            <a:bodyPr wrap="square" lIns="0" tIns="0" rIns="0" bIns="0" rtlCol="0"/>
            <a:lstStyle/>
            <a:p>
              <a:endParaRPr/>
            </a:p>
          </p:txBody>
        </p:sp>
      </p:grpSp>
      <p:sp>
        <p:nvSpPr>
          <p:cNvPr id="58" name="object 47">
            <a:extLst>
              <a:ext uri="{FF2B5EF4-FFF2-40B4-BE49-F238E27FC236}">
                <a16:creationId xmlns:a16="http://schemas.microsoft.com/office/drawing/2014/main" id="{378A8707-3843-314E-7194-66105E30BBBF}"/>
              </a:ext>
            </a:extLst>
          </p:cNvPr>
          <p:cNvSpPr txBox="1"/>
          <p:nvPr/>
        </p:nvSpPr>
        <p:spPr>
          <a:xfrm>
            <a:off x="1078247" y="4647293"/>
            <a:ext cx="387350" cy="513080"/>
          </a:xfrm>
          <a:prstGeom prst="rect">
            <a:avLst/>
          </a:prstGeom>
        </p:spPr>
        <p:txBody>
          <a:bodyPr vert="horz" wrap="square" lIns="0" tIns="12700" rIns="0" bIns="0" rtlCol="0">
            <a:spAutoFit/>
          </a:bodyPr>
          <a:lstStyle/>
          <a:p>
            <a:pPr marL="12700">
              <a:lnSpc>
                <a:spcPct val="100000"/>
              </a:lnSpc>
              <a:spcBef>
                <a:spcPts val="100"/>
              </a:spcBef>
            </a:pPr>
            <a:r>
              <a:rPr sz="3200" spc="-175">
                <a:latin typeface="Arial"/>
                <a:cs typeface="Arial"/>
              </a:rPr>
              <a:t>W</a:t>
            </a:r>
            <a:endParaRPr sz="3200">
              <a:latin typeface="Arial"/>
              <a:cs typeface="Arial"/>
            </a:endParaRPr>
          </a:p>
        </p:txBody>
      </p:sp>
      <p:sp>
        <p:nvSpPr>
          <p:cNvPr id="59" name="object 48">
            <a:extLst>
              <a:ext uri="{FF2B5EF4-FFF2-40B4-BE49-F238E27FC236}">
                <a16:creationId xmlns:a16="http://schemas.microsoft.com/office/drawing/2014/main" id="{03F9A3AB-0C01-9ADC-94D2-319CCA8AF782}"/>
              </a:ext>
            </a:extLst>
          </p:cNvPr>
          <p:cNvSpPr/>
          <p:nvPr/>
        </p:nvSpPr>
        <p:spPr>
          <a:xfrm>
            <a:off x="1313472" y="3520947"/>
            <a:ext cx="8132445" cy="2306320"/>
          </a:xfrm>
          <a:custGeom>
            <a:avLst/>
            <a:gdLst/>
            <a:ahLst/>
            <a:cxnLst/>
            <a:rect l="l" t="t" r="r" b="b"/>
            <a:pathLst>
              <a:path w="8132445" h="2306320">
                <a:moveTo>
                  <a:pt x="925969" y="119697"/>
                </a:moveTo>
                <a:lnTo>
                  <a:pt x="894880" y="40386"/>
                </a:lnTo>
                <a:lnTo>
                  <a:pt x="850087" y="112852"/>
                </a:lnTo>
                <a:lnTo>
                  <a:pt x="878065" y="115379"/>
                </a:lnTo>
                <a:lnTo>
                  <a:pt x="875703" y="133883"/>
                </a:lnTo>
                <a:lnTo>
                  <a:pt x="864006" y="180047"/>
                </a:lnTo>
                <a:lnTo>
                  <a:pt x="848156" y="225145"/>
                </a:lnTo>
                <a:lnTo>
                  <a:pt x="828459" y="268782"/>
                </a:lnTo>
                <a:lnTo>
                  <a:pt x="805256" y="310591"/>
                </a:lnTo>
                <a:lnTo>
                  <a:pt x="778852" y="350177"/>
                </a:lnTo>
                <a:lnTo>
                  <a:pt x="749592" y="387159"/>
                </a:lnTo>
                <a:lnTo>
                  <a:pt x="717804" y="421144"/>
                </a:lnTo>
                <a:lnTo>
                  <a:pt x="683818" y="451777"/>
                </a:lnTo>
                <a:lnTo>
                  <a:pt x="647992" y="478675"/>
                </a:lnTo>
                <a:lnTo>
                  <a:pt x="610654" y="501484"/>
                </a:lnTo>
                <a:lnTo>
                  <a:pt x="572147" y="519836"/>
                </a:lnTo>
                <a:lnTo>
                  <a:pt x="532815" y="533387"/>
                </a:lnTo>
                <a:lnTo>
                  <a:pt x="492963" y="541794"/>
                </a:lnTo>
                <a:lnTo>
                  <a:pt x="408800" y="547878"/>
                </a:lnTo>
                <a:lnTo>
                  <a:pt x="366534" y="556780"/>
                </a:lnTo>
                <a:lnTo>
                  <a:pt x="325056" y="571055"/>
                </a:lnTo>
                <a:lnTo>
                  <a:pt x="284695" y="590270"/>
                </a:lnTo>
                <a:lnTo>
                  <a:pt x="245732" y="614057"/>
                </a:lnTo>
                <a:lnTo>
                  <a:pt x="208483" y="642010"/>
                </a:lnTo>
                <a:lnTo>
                  <a:pt x="173266" y="673760"/>
                </a:lnTo>
                <a:lnTo>
                  <a:pt x="140385" y="708914"/>
                </a:lnTo>
                <a:lnTo>
                  <a:pt x="110147" y="747115"/>
                </a:lnTo>
                <a:lnTo>
                  <a:pt x="82892" y="787984"/>
                </a:lnTo>
                <a:lnTo>
                  <a:pt x="58915" y="831151"/>
                </a:lnTo>
                <a:lnTo>
                  <a:pt x="38569" y="876261"/>
                </a:lnTo>
                <a:lnTo>
                  <a:pt x="22161" y="922934"/>
                </a:lnTo>
                <a:lnTo>
                  <a:pt x="10045" y="970813"/>
                </a:lnTo>
                <a:lnTo>
                  <a:pt x="2540" y="1019505"/>
                </a:lnTo>
                <a:lnTo>
                  <a:pt x="0" y="1067612"/>
                </a:lnTo>
                <a:lnTo>
                  <a:pt x="19024" y="1068616"/>
                </a:lnTo>
                <a:lnTo>
                  <a:pt x="21564" y="1020508"/>
                </a:lnTo>
                <a:lnTo>
                  <a:pt x="28867" y="973721"/>
                </a:lnTo>
                <a:lnTo>
                  <a:pt x="40627" y="927633"/>
                </a:lnTo>
                <a:lnTo>
                  <a:pt x="56540" y="882599"/>
                </a:lnTo>
                <a:lnTo>
                  <a:pt x="76276" y="839000"/>
                </a:lnTo>
                <a:lnTo>
                  <a:pt x="99542" y="797242"/>
                </a:lnTo>
                <a:lnTo>
                  <a:pt x="125996" y="757694"/>
                </a:lnTo>
                <a:lnTo>
                  <a:pt x="155308" y="720750"/>
                </a:lnTo>
                <a:lnTo>
                  <a:pt x="187172" y="686777"/>
                </a:lnTo>
                <a:lnTo>
                  <a:pt x="221234" y="656170"/>
                </a:lnTo>
                <a:lnTo>
                  <a:pt x="257149" y="629297"/>
                </a:lnTo>
                <a:lnTo>
                  <a:pt x="294601" y="606539"/>
                </a:lnTo>
                <a:lnTo>
                  <a:pt x="333235" y="588264"/>
                </a:lnTo>
                <a:lnTo>
                  <a:pt x="372706" y="574802"/>
                </a:lnTo>
                <a:lnTo>
                  <a:pt x="412699" y="566521"/>
                </a:lnTo>
                <a:lnTo>
                  <a:pt x="494322" y="560806"/>
                </a:lnTo>
                <a:lnTo>
                  <a:pt x="536714" y="552030"/>
                </a:lnTo>
                <a:lnTo>
                  <a:pt x="578319" y="537857"/>
                </a:lnTo>
                <a:lnTo>
                  <a:pt x="618832" y="518693"/>
                </a:lnTo>
                <a:lnTo>
                  <a:pt x="657898" y="494957"/>
                </a:lnTo>
                <a:lnTo>
                  <a:pt x="695248" y="467029"/>
                </a:lnTo>
                <a:lnTo>
                  <a:pt x="730542" y="435305"/>
                </a:lnTo>
                <a:lnTo>
                  <a:pt x="763485" y="400177"/>
                </a:lnTo>
                <a:lnTo>
                  <a:pt x="793775" y="362013"/>
                </a:lnTo>
                <a:lnTo>
                  <a:pt x="821093" y="321170"/>
                </a:lnTo>
                <a:lnTo>
                  <a:pt x="845108" y="278041"/>
                </a:lnTo>
                <a:lnTo>
                  <a:pt x="865517" y="232994"/>
                </a:lnTo>
                <a:lnTo>
                  <a:pt x="881976" y="186385"/>
                </a:lnTo>
                <a:lnTo>
                  <a:pt x="894168" y="138582"/>
                </a:lnTo>
                <a:lnTo>
                  <a:pt x="897001" y="117081"/>
                </a:lnTo>
                <a:lnTo>
                  <a:pt x="925969" y="119697"/>
                </a:lnTo>
                <a:close/>
              </a:path>
              <a:path w="8132445" h="2306320">
                <a:moveTo>
                  <a:pt x="8132026" y="376910"/>
                </a:moveTo>
                <a:lnTo>
                  <a:pt x="8098206" y="298716"/>
                </a:lnTo>
                <a:lnTo>
                  <a:pt x="8055940" y="372694"/>
                </a:lnTo>
                <a:lnTo>
                  <a:pt x="8084198" y="374256"/>
                </a:lnTo>
                <a:lnTo>
                  <a:pt x="8082928" y="390880"/>
                </a:lnTo>
                <a:lnTo>
                  <a:pt x="8075765" y="437083"/>
                </a:lnTo>
                <a:lnTo>
                  <a:pt x="8065821" y="483247"/>
                </a:lnTo>
                <a:lnTo>
                  <a:pt x="8053108" y="529348"/>
                </a:lnTo>
                <a:lnTo>
                  <a:pt x="8037690" y="575360"/>
                </a:lnTo>
                <a:lnTo>
                  <a:pt x="8019593" y="621271"/>
                </a:lnTo>
                <a:lnTo>
                  <a:pt x="7998879" y="667054"/>
                </a:lnTo>
                <a:lnTo>
                  <a:pt x="7975574" y="712673"/>
                </a:lnTo>
                <a:lnTo>
                  <a:pt x="7949730" y="758126"/>
                </a:lnTo>
                <a:lnTo>
                  <a:pt x="7921396" y="803376"/>
                </a:lnTo>
                <a:lnTo>
                  <a:pt x="7890599" y="848385"/>
                </a:lnTo>
                <a:lnTo>
                  <a:pt x="7857401" y="893152"/>
                </a:lnTo>
                <a:lnTo>
                  <a:pt x="7821841" y="937653"/>
                </a:lnTo>
                <a:lnTo>
                  <a:pt x="7783970" y="981837"/>
                </a:lnTo>
                <a:lnTo>
                  <a:pt x="7743812" y="1025702"/>
                </a:lnTo>
                <a:lnTo>
                  <a:pt x="7701445" y="1069225"/>
                </a:lnTo>
                <a:lnTo>
                  <a:pt x="7656881" y="1112367"/>
                </a:lnTo>
                <a:lnTo>
                  <a:pt x="7610195" y="1155115"/>
                </a:lnTo>
                <a:lnTo>
                  <a:pt x="7561427" y="1197432"/>
                </a:lnTo>
                <a:lnTo>
                  <a:pt x="7510602" y="1239304"/>
                </a:lnTo>
                <a:lnTo>
                  <a:pt x="7457795" y="1280718"/>
                </a:lnTo>
                <a:lnTo>
                  <a:pt x="7403033" y="1321625"/>
                </a:lnTo>
                <a:lnTo>
                  <a:pt x="7346378" y="1362024"/>
                </a:lnTo>
                <a:lnTo>
                  <a:pt x="7287857" y="1401876"/>
                </a:lnTo>
                <a:lnTo>
                  <a:pt x="7227532" y="1441170"/>
                </a:lnTo>
                <a:lnTo>
                  <a:pt x="7165441" y="1479880"/>
                </a:lnTo>
                <a:lnTo>
                  <a:pt x="7101637" y="1517967"/>
                </a:lnTo>
                <a:lnTo>
                  <a:pt x="7036168" y="1555419"/>
                </a:lnTo>
                <a:lnTo>
                  <a:pt x="6969138" y="1592186"/>
                </a:lnTo>
                <a:lnTo>
                  <a:pt x="6830263" y="1663725"/>
                </a:lnTo>
                <a:lnTo>
                  <a:pt x="6685458" y="1732343"/>
                </a:lnTo>
                <a:lnTo>
                  <a:pt x="6535077" y="1797875"/>
                </a:lnTo>
                <a:lnTo>
                  <a:pt x="6379515" y="1860118"/>
                </a:lnTo>
                <a:lnTo>
                  <a:pt x="6219139" y="1918893"/>
                </a:lnTo>
                <a:lnTo>
                  <a:pt x="6054318" y="1974024"/>
                </a:lnTo>
                <a:lnTo>
                  <a:pt x="5885408" y="2025332"/>
                </a:lnTo>
                <a:lnTo>
                  <a:pt x="5712815" y="2072601"/>
                </a:lnTo>
                <a:lnTo>
                  <a:pt x="5536870" y="2115693"/>
                </a:lnTo>
                <a:lnTo>
                  <a:pt x="5357977" y="2154390"/>
                </a:lnTo>
                <a:lnTo>
                  <a:pt x="5176494" y="2188514"/>
                </a:lnTo>
                <a:lnTo>
                  <a:pt x="4992789" y="2217902"/>
                </a:lnTo>
                <a:lnTo>
                  <a:pt x="4807242" y="2242350"/>
                </a:lnTo>
                <a:lnTo>
                  <a:pt x="4620222" y="2261679"/>
                </a:lnTo>
                <a:lnTo>
                  <a:pt x="4432084" y="2275725"/>
                </a:lnTo>
                <a:lnTo>
                  <a:pt x="4243222" y="2284285"/>
                </a:lnTo>
                <a:lnTo>
                  <a:pt x="4053890" y="2287168"/>
                </a:lnTo>
                <a:lnTo>
                  <a:pt x="3864457" y="2286381"/>
                </a:lnTo>
                <a:lnTo>
                  <a:pt x="3675418" y="2284031"/>
                </a:lnTo>
                <a:lnTo>
                  <a:pt x="3299828" y="2274862"/>
                </a:lnTo>
                <a:lnTo>
                  <a:pt x="3114090" y="2268143"/>
                </a:lnTo>
                <a:lnTo>
                  <a:pt x="2930207" y="2260079"/>
                </a:lnTo>
                <a:lnTo>
                  <a:pt x="2748534" y="2250706"/>
                </a:lnTo>
                <a:lnTo>
                  <a:pt x="2569464" y="2240076"/>
                </a:lnTo>
                <a:lnTo>
                  <a:pt x="2393353" y="2228240"/>
                </a:lnTo>
                <a:lnTo>
                  <a:pt x="2220569" y="2215248"/>
                </a:lnTo>
                <a:lnTo>
                  <a:pt x="2051494" y="2201151"/>
                </a:lnTo>
                <a:lnTo>
                  <a:pt x="1886496" y="2186013"/>
                </a:lnTo>
                <a:lnTo>
                  <a:pt x="1725955" y="2169858"/>
                </a:lnTo>
                <a:lnTo>
                  <a:pt x="1570215" y="2152764"/>
                </a:lnTo>
                <a:lnTo>
                  <a:pt x="1419682" y="2134755"/>
                </a:lnTo>
                <a:lnTo>
                  <a:pt x="1274699" y="2115909"/>
                </a:lnTo>
                <a:lnTo>
                  <a:pt x="1135621" y="2096249"/>
                </a:lnTo>
                <a:lnTo>
                  <a:pt x="1068438" y="2086140"/>
                </a:lnTo>
                <a:lnTo>
                  <a:pt x="1002880" y="2075840"/>
                </a:lnTo>
                <a:lnTo>
                  <a:pt x="938987" y="2065375"/>
                </a:lnTo>
                <a:lnTo>
                  <a:pt x="876820" y="2054733"/>
                </a:lnTo>
                <a:lnTo>
                  <a:pt x="816406" y="2043938"/>
                </a:lnTo>
                <a:lnTo>
                  <a:pt x="757809" y="2032990"/>
                </a:lnTo>
                <a:lnTo>
                  <a:pt x="701065" y="2021878"/>
                </a:lnTo>
                <a:lnTo>
                  <a:pt x="646214" y="2010638"/>
                </a:lnTo>
                <a:lnTo>
                  <a:pt x="593331" y="1999259"/>
                </a:lnTo>
                <a:lnTo>
                  <a:pt x="542442" y="1987753"/>
                </a:lnTo>
                <a:lnTo>
                  <a:pt x="493585" y="1976120"/>
                </a:lnTo>
                <a:lnTo>
                  <a:pt x="473151" y="1970989"/>
                </a:lnTo>
                <a:lnTo>
                  <a:pt x="496290" y="1975878"/>
                </a:lnTo>
                <a:lnTo>
                  <a:pt x="552538" y="1986826"/>
                </a:lnTo>
                <a:lnTo>
                  <a:pt x="610933" y="1997290"/>
                </a:lnTo>
                <a:lnTo>
                  <a:pt x="664387" y="2006079"/>
                </a:lnTo>
                <a:lnTo>
                  <a:pt x="666013" y="2006371"/>
                </a:lnTo>
                <a:lnTo>
                  <a:pt x="754329" y="2021471"/>
                </a:lnTo>
                <a:lnTo>
                  <a:pt x="846810" y="2036013"/>
                </a:lnTo>
                <a:lnTo>
                  <a:pt x="943216" y="2049957"/>
                </a:lnTo>
                <a:lnTo>
                  <a:pt x="1043292" y="2063267"/>
                </a:lnTo>
                <a:lnTo>
                  <a:pt x="1146810" y="2075903"/>
                </a:lnTo>
                <a:lnTo>
                  <a:pt x="1253515" y="2087841"/>
                </a:lnTo>
                <a:lnTo>
                  <a:pt x="1363167" y="2099043"/>
                </a:lnTo>
                <a:lnTo>
                  <a:pt x="1475511" y="2109457"/>
                </a:lnTo>
                <a:lnTo>
                  <a:pt x="1590319" y="2119045"/>
                </a:lnTo>
                <a:lnTo>
                  <a:pt x="1707337" y="2127796"/>
                </a:lnTo>
                <a:lnTo>
                  <a:pt x="1826310" y="2135657"/>
                </a:lnTo>
                <a:lnTo>
                  <a:pt x="1947011" y="2142579"/>
                </a:lnTo>
                <a:lnTo>
                  <a:pt x="2192540" y="2153501"/>
                </a:lnTo>
                <a:lnTo>
                  <a:pt x="2442045" y="2160282"/>
                </a:lnTo>
                <a:lnTo>
                  <a:pt x="2693517" y="2162606"/>
                </a:lnTo>
                <a:lnTo>
                  <a:pt x="2819616" y="2159482"/>
                </a:lnTo>
                <a:lnTo>
                  <a:pt x="2945612" y="2150224"/>
                </a:lnTo>
                <a:lnTo>
                  <a:pt x="3071101" y="2135035"/>
                </a:lnTo>
                <a:lnTo>
                  <a:pt x="3195828" y="2114118"/>
                </a:lnTo>
                <a:lnTo>
                  <a:pt x="3319564" y="2087651"/>
                </a:lnTo>
                <a:lnTo>
                  <a:pt x="3442055" y="2055850"/>
                </a:lnTo>
                <a:lnTo>
                  <a:pt x="3563061" y="2018919"/>
                </a:lnTo>
                <a:lnTo>
                  <a:pt x="3682339" y="1977034"/>
                </a:lnTo>
                <a:lnTo>
                  <a:pt x="3799624" y="1930412"/>
                </a:lnTo>
                <a:lnTo>
                  <a:pt x="3914698" y="1879244"/>
                </a:lnTo>
                <a:lnTo>
                  <a:pt x="4027297" y="1823720"/>
                </a:lnTo>
                <a:lnTo>
                  <a:pt x="4137190" y="1764055"/>
                </a:lnTo>
                <a:lnTo>
                  <a:pt x="4244124" y="1700428"/>
                </a:lnTo>
                <a:lnTo>
                  <a:pt x="4347857" y="1633042"/>
                </a:lnTo>
                <a:lnTo>
                  <a:pt x="4448137" y="1562100"/>
                </a:lnTo>
                <a:lnTo>
                  <a:pt x="4544733" y="1487792"/>
                </a:lnTo>
                <a:lnTo>
                  <a:pt x="4637392" y="1410309"/>
                </a:lnTo>
                <a:lnTo>
                  <a:pt x="4725873" y="1329855"/>
                </a:lnTo>
                <a:lnTo>
                  <a:pt x="4809922" y="1246619"/>
                </a:lnTo>
                <a:lnTo>
                  <a:pt x="4889297" y="1160805"/>
                </a:lnTo>
                <a:lnTo>
                  <a:pt x="4963757" y="1072591"/>
                </a:lnTo>
                <a:lnTo>
                  <a:pt x="5033048" y="982192"/>
                </a:lnTo>
                <a:lnTo>
                  <a:pt x="5096929" y="889787"/>
                </a:lnTo>
                <a:lnTo>
                  <a:pt x="5155146" y="795591"/>
                </a:lnTo>
                <a:lnTo>
                  <a:pt x="5207457" y="699770"/>
                </a:lnTo>
                <a:lnTo>
                  <a:pt x="5231384" y="651192"/>
                </a:lnTo>
                <a:lnTo>
                  <a:pt x="5253672" y="602411"/>
                </a:lnTo>
                <a:lnTo>
                  <a:pt x="5274361" y="553313"/>
                </a:lnTo>
                <a:lnTo>
                  <a:pt x="5293423" y="503948"/>
                </a:lnTo>
                <a:lnTo>
                  <a:pt x="5310810" y="454317"/>
                </a:lnTo>
                <a:lnTo>
                  <a:pt x="5326507" y="404456"/>
                </a:lnTo>
                <a:lnTo>
                  <a:pt x="5340477" y="354380"/>
                </a:lnTo>
                <a:lnTo>
                  <a:pt x="5352681" y="304126"/>
                </a:lnTo>
                <a:lnTo>
                  <a:pt x="5363108" y="253720"/>
                </a:lnTo>
                <a:lnTo>
                  <a:pt x="5371706" y="203174"/>
                </a:lnTo>
                <a:lnTo>
                  <a:pt x="5378450" y="152527"/>
                </a:lnTo>
                <a:lnTo>
                  <a:pt x="5383301" y="101790"/>
                </a:lnTo>
                <a:lnTo>
                  <a:pt x="5384558" y="76454"/>
                </a:lnTo>
                <a:lnTo>
                  <a:pt x="5413324" y="77381"/>
                </a:lnTo>
                <a:lnTo>
                  <a:pt x="5377713" y="0"/>
                </a:lnTo>
                <a:lnTo>
                  <a:pt x="5337162" y="74917"/>
                </a:lnTo>
                <a:lnTo>
                  <a:pt x="5365521" y="75844"/>
                </a:lnTo>
                <a:lnTo>
                  <a:pt x="5364340" y="99974"/>
                </a:lnTo>
                <a:lnTo>
                  <a:pt x="5359565" y="150012"/>
                </a:lnTo>
                <a:lnTo>
                  <a:pt x="5352923" y="199986"/>
                </a:lnTo>
                <a:lnTo>
                  <a:pt x="5344452" y="249872"/>
                </a:lnTo>
                <a:lnTo>
                  <a:pt x="5334178" y="299631"/>
                </a:lnTo>
                <a:lnTo>
                  <a:pt x="5322125" y="349262"/>
                </a:lnTo>
                <a:lnTo>
                  <a:pt x="5308333" y="398741"/>
                </a:lnTo>
                <a:lnTo>
                  <a:pt x="5292839" y="448017"/>
                </a:lnTo>
                <a:lnTo>
                  <a:pt x="5275643" y="497090"/>
                </a:lnTo>
                <a:lnTo>
                  <a:pt x="5256809" y="545922"/>
                </a:lnTo>
                <a:lnTo>
                  <a:pt x="5236349" y="594499"/>
                </a:lnTo>
                <a:lnTo>
                  <a:pt x="5214290" y="642785"/>
                </a:lnTo>
                <a:lnTo>
                  <a:pt x="5190744" y="690638"/>
                </a:lnTo>
                <a:lnTo>
                  <a:pt x="5138940" y="785571"/>
                </a:lnTo>
                <a:lnTo>
                  <a:pt x="5081257" y="878967"/>
                </a:lnTo>
                <a:lnTo>
                  <a:pt x="5017922" y="970610"/>
                </a:lnTo>
                <a:lnTo>
                  <a:pt x="4949202" y="1060310"/>
                </a:lnTo>
                <a:lnTo>
                  <a:pt x="4875314" y="1147864"/>
                </a:lnTo>
                <a:lnTo>
                  <a:pt x="4796510" y="1233081"/>
                </a:lnTo>
                <a:lnTo>
                  <a:pt x="4713059" y="1315758"/>
                </a:lnTo>
                <a:lnTo>
                  <a:pt x="4625175" y="1395691"/>
                </a:lnTo>
                <a:lnTo>
                  <a:pt x="4533125" y="1472692"/>
                </a:lnTo>
                <a:lnTo>
                  <a:pt x="4437138" y="1546555"/>
                </a:lnTo>
                <a:lnTo>
                  <a:pt x="4337482" y="1617065"/>
                </a:lnTo>
                <a:lnTo>
                  <a:pt x="4234383" y="1684058"/>
                </a:lnTo>
                <a:lnTo>
                  <a:pt x="4128097" y="1747316"/>
                </a:lnTo>
                <a:lnTo>
                  <a:pt x="4018877" y="1806638"/>
                </a:lnTo>
                <a:lnTo>
                  <a:pt x="3906951" y="1861832"/>
                </a:lnTo>
                <a:lnTo>
                  <a:pt x="3792588" y="1912708"/>
                </a:lnTo>
                <a:lnTo>
                  <a:pt x="3676027" y="1959063"/>
                </a:lnTo>
                <a:lnTo>
                  <a:pt x="3557498" y="2000694"/>
                </a:lnTo>
                <a:lnTo>
                  <a:pt x="3437267" y="2037410"/>
                </a:lnTo>
                <a:lnTo>
                  <a:pt x="3315589" y="2069020"/>
                </a:lnTo>
                <a:lnTo>
                  <a:pt x="3192678" y="2095322"/>
                </a:lnTo>
                <a:lnTo>
                  <a:pt x="3068815" y="2116124"/>
                </a:lnTo>
                <a:lnTo>
                  <a:pt x="2944215" y="2131225"/>
                </a:lnTo>
                <a:lnTo>
                  <a:pt x="2819146" y="2140432"/>
                </a:lnTo>
                <a:lnTo>
                  <a:pt x="2693695" y="2143556"/>
                </a:lnTo>
                <a:lnTo>
                  <a:pt x="2442565" y="2141232"/>
                </a:lnTo>
                <a:lnTo>
                  <a:pt x="2193379" y="2134476"/>
                </a:lnTo>
                <a:lnTo>
                  <a:pt x="1948103" y="2123567"/>
                </a:lnTo>
                <a:lnTo>
                  <a:pt x="1827568" y="2116645"/>
                </a:lnTo>
                <a:lnTo>
                  <a:pt x="1708746" y="2108797"/>
                </a:lnTo>
                <a:lnTo>
                  <a:pt x="1591906" y="2100072"/>
                </a:lnTo>
                <a:lnTo>
                  <a:pt x="1477276" y="2090483"/>
                </a:lnTo>
                <a:lnTo>
                  <a:pt x="1365097" y="2080082"/>
                </a:lnTo>
                <a:lnTo>
                  <a:pt x="1255636" y="2068906"/>
                </a:lnTo>
                <a:lnTo>
                  <a:pt x="1211160" y="2063940"/>
                </a:lnTo>
                <a:lnTo>
                  <a:pt x="1281214" y="2068131"/>
                </a:lnTo>
                <a:lnTo>
                  <a:pt x="1426718" y="2073452"/>
                </a:lnTo>
                <a:lnTo>
                  <a:pt x="1573377" y="2075281"/>
                </a:lnTo>
                <a:lnTo>
                  <a:pt x="1647177" y="2072271"/>
                </a:lnTo>
                <a:lnTo>
                  <a:pt x="1721078" y="2063356"/>
                </a:lnTo>
                <a:lnTo>
                  <a:pt x="1794662" y="2048713"/>
                </a:lnTo>
                <a:lnTo>
                  <a:pt x="1867763" y="2028532"/>
                </a:lnTo>
                <a:lnTo>
                  <a:pt x="1940242" y="2003031"/>
                </a:lnTo>
                <a:lnTo>
                  <a:pt x="2011959" y="1972386"/>
                </a:lnTo>
                <a:lnTo>
                  <a:pt x="2082774" y="1936800"/>
                </a:lnTo>
                <a:lnTo>
                  <a:pt x="2152548" y="1896478"/>
                </a:lnTo>
                <a:lnTo>
                  <a:pt x="2221128" y="1851596"/>
                </a:lnTo>
                <a:lnTo>
                  <a:pt x="2288387" y="1802358"/>
                </a:lnTo>
                <a:lnTo>
                  <a:pt x="2354173" y="1748955"/>
                </a:lnTo>
                <a:lnTo>
                  <a:pt x="2418359" y="1691576"/>
                </a:lnTo>
                <a:lnTo>
                  <a:pt x="2480792" y="1630413"/>
                </a:lnTo>
                <a:lnTo>
                  <a:pt x="2541346" y="1565656"/>
                </a:lnTo>
                <a:lnTo>
                  <a:pt x="2599867" y="1497482"/>
                </a:lnTo>
                <a:lnTo>
                  <a:pt x="2656217" y="1426108"/>
                </a:lnTo>
                <a:lnTo>
                  <a:pt x="2710269" y="1351699"/>
                </a:lnTo>
                <a:lnTo>
                  <a:pt x="2761869" y="1274445"/>
                </a:lnTo>
                <a:lnTo>
                  <a:pt x="2810865" y="1194536"/>
                </a:lnTo>
                <a:lnTo>
                  <a:pt x="2857131" y="1112177"/>
                </a:lnTo>
                <a:lnTo>
                  <a:pt x="2900527" y="1027544"/>
                </a:lnTo>
                <a:lnTo>
                  <a:pt x="2940888" y="940816"/>
                </a:lnTo>
                <a:lnTo>
                  <a:pt x="2978099" y="852195"/>
                </a:lnTo>
                <a:lnTo>
                  <a:pt x="3012008" y="761860"/>
                </a:lnTo>
                <a:lnTo>
                  <a:pt x="3042462" y="670001"/>
                </a:lnTo>
                <a:lnTo>
                  <a:pt x="3069323" y="576821"/>
                </a:lnTo>
                <a:lnTo>
                  <a:pt x="3092450" y="482485"/>
                </a:lnTo>
                <a:lnTo>
                  <a:pt x="3111703" y="387184"/>
                </a:lnTo>
                <a:lnTo>
                  <a:pt x="3126930" y="291134"/>
                </a:lnTo>
                <a:lnTo>
                  <a:pt x="3137979" y="194487"/>
                </a:lnTo>
                <a:lnTo>
                  <a:pt x="3144723" y="97459"/>
                </a:lnTo>
                <a:lnTo>
                  <a:pt x="3145231" y="76390"/>
                </a:lnTo>
                <a:lnTo>
                  <a:pt x="3173793" y="77063"/>
                </a:lnTo>
                <a:lnTo>
                  <a:pt x="3137497" y="0"/>
                </a:lnTo>
                <a:lnTo>
                  <a:pt x="3097619" y="75285"/>
                </a:lnTo>
                <a:lnTo>
                  <a:pt x="3126194" y="75946"/>
                </a:lnTo>
                <a:lnTo>
                  <a:pt x="3125724" y="96139"/>
                </a:lnTo>
                <a:lnTo>
                  <a:pt x="3119056" y="192328"/>
                </a:lnTo>
                <a:lnTo>
                  <a:pt x="3108109" y="288150"/>
                </a:lnTo>
                <a:lnTo>
                  <a:pt x="3093034" y="383425"/>
                </a:lnTo>
                <a:lnTo>
                  <a:pt x="3073946" y="477951"/>
                </a:lnTo>
                <a:lnTo>
                  <a:pt x="3051022" y="571538"/>
                </a:lnTo>
                <a:lnTo>
                  <a:pt x="3024378" y="664006"/>
                </a:lnTo>
                <a:lnTo>
                  <a:pt x="2994164" y="755167"/>
                </a:lnTo>
                <a:lnTo>
                  <a:pt x="2960535" y="844816"/>
                </a:lnTo>
                <a:lnTo>
                  <a:pt x="2923629" y="932776"/>
                </a:lnTo>
                <a:lnTo>
                  <a:pt x="2883573" y="1018857"/>
                </a:lnTo>
                <a:lnTo>
                  <a:pt x="2840520" y="1102855"/>
                </a:lnTo>
                <a:lnTo>
                  <a:pt x="2794622" y="1184579"/>
                </a:lnTo>
                <a:lnTo>
                  <a:pt x="2746019" y="1263865"/>
                </a:lnTo>
                <a:lnTo>
                  <a:pt x="2694851" y="1340497"/>
                </a:lnTo>
                <a:lnTo>
                  <a:pt x="2641269" y="1414297"/>
                </a:lnTo>
                <a:lnTo>
                  <a:pt x="2585415" y="1485074"/>
                </a:lnTo>
                <a:lnTo>
                  <a:pt x="2527427" y="1552638"/>
                </a:lnTo>
                <a:lnTo>
                  <a:pt x="2467457" y="1616798"/>
                </a:lnTo>
                <a:lnTo>
                  <a:pt x="2405659" y="1677377"/>
                </a:lnTo>
                <a:lnTo>
                  <a:pt x="2342172" y="1734159"/>
                </a:lnTo>
                <a:lnTo>
                  <a:pt x="2277135" y="1786991"/>
                </a:lnTo>
                <a:lnTo>
                  <a:pt x="2210701" y="1835658"/>
                </a:lnTo>
                <a:lnTo>
                  <a:pt x="2143010" y="1879981"/>
                </a:lnTo>
                <a:lnTo>
                  <a:pt x="2074227" y="1919782"/>
                </a:lnTo>
                <a:lnTo>
                  <a:pt x="2004479" y="1954872"/>
                </a:lnTo>
                <a:lnTo>
                  <a:pt x="1933917" y="1985060"/>
                </a:lnTo>
                <a:lnTo>
                  <a:pt x="1862683" y="2010168"/>
                </a:lnTo>
                <a:lnTo>
                  <a:pt x="1790928" y="2030031"/>
                </a:lnTo>
                <a:lnTo>
                  <a:pt x="1718792" y="2044446"/>
                </a:lnTo>
                <a:lnTo>
                  <a:pt x="1646402" y="2053247"/>
                </a:lnTo>
                <a:lnTo>
                  <a:pt x="1573618" y="2056231"/>
                </a:lnTo>
                <a:lnTo>
                  <a:pt x="1427416" y="2054415"/>
                </a:lnTo>
                <a:lnTo>
                  <a:pt x="1282344" y="2049119"/>
                </a:lnTo>
                <a:lnTo>
                  <a:pt x="1139571" y="2040572"/>
                </a:lnTo>
                <a:lnTo>
                  <a:pt x="1000226" y="2029002"/>
                </a:lnTo>
                <a:lnTo>
                  <a:pt x="865428" y="2014651"/>
                </a:lnTo>
                <a:lnTo>
                  <a:pt x="800125" y="2006498"/>
                </a:lnTo>
                <a:lnTo>
                  <a:pt x="736409" y="1997748"/>
                </a:lnTo>
                <a:lnTo>
                  <a:pt x="674420" y="1988413"/>
                </a:lnTo>
                <a:lnTo>
                  <a:pt x="585901" y="1972081"/>
                </a:lnTo>
                <a:lnTo>
                  <a:pt x="506984" y="1956041"/>
                </a:lnTo>
                <a:lnTo>
                  <a:pt x="433006" y="1939569"/>
                </a:lnTo>
                <a:lnTo>
                  <a:pt x="364236" y="1922691"/>
                </a:lnTo>
                <a:lnTo>
                  <a:pt x="300901" y="1905469"/>
                </a:lnTo>
                <a:lnTo>
                  <a:pt x="243281" y="1887943"/>
                </a:lnTo>
                <a:lnTo>
                  <a:pt x="191516" y="1870125"/>
                </a:lnTo>
                <a:lnTo>
                  <a:pt x="146088" y="1852142"/>
                </a:lnTo>
                <a:lnTo>
                  <a:pt x="107188" y="1834032"/>
                </a:lnTo>
                <a:lnTo>
                  <a:pt x="61747" y="1806943"/>
                </a:lnTo>
                <a:lnTo>
                  <a:pt x="32689" y="1780730"/>
                </a:lnTo>
                <a:lnTo>
                  <a:pt x="18986" y="1747380"/>
                </a:lnTo>
                <a:lnTo>
                  <a:pt x="18973" y="1747253"/>
                </a:lnTo>
                <a:lnTo>
                  <a:pt x="18923" y="1746897"/>
                </a:lnTo>
                <a:lnTo>
                  <a:pt x="9563" y="1748332"/>
                </a:lnTo>
                <a:lnTo>
                  <a:pt x="9207" y="1748383"/>
                </a:lnTo>
                <a:lnTo>
                  <a:pt x="38" y="1749310"/>
                </a:lnTo>
                <a:lnTo>
                  <a:pt x="1016" y="1758797"/>
                </a:lnTo>
                <a:lnTo>
                  <a:pt x="1193" y="1759432"/>
                </a:lnTo>
                <a:lnTo>
                  <a:pt x="1600" y="1762950"/>
                </a:lnTo>
                <a:lnTo>
                  <a:pt x="6362" y="1777111"/>
                </a:lnTo>
                <a:lnTo>
                  <a:pt x="38849" y="1819224"/>
                </a:lnTo>
                <a:lnTo>
                  <a:pt x="73990" y="1845767"/>
                </a:lnTo>
                <a:lnTo>
                  <a:pt x="119341" y="1871637"/>
                </a:lnTo>
                <a:lnTo>
                  <a:pt x="174625" y="1897049"/>
                </a:lnTo>
                <a:lnTo>
                  <a:pt x="239560" y="1922056"/>
                </a:lnTo>
                <a:lnTo>
                  <a:pt x="313817" y="1946668"/>
                </a:lnTo>
                <a:lnTo>
                  <a:pt x="354330" y="1958809"/>
                </a:lnTo>
                <a:lnTo>
                  <a:pt x="397065" y="1970849"/>
                </a:lnTo>
                <a:lnTo>
                  <a:pt x="441947" y="1982787"/>
                </a:lnTo>
                <a:lnTo>
                  <a:pt x="488950" y="1994598"/>
                </a:lnTo>
                <a:lnTo>
                  <a:pt x="538022" y="2006282"/>
                </a:lnTo>
                <a:lnTo>
                  <a:pt x="589127" y="2017839"/>
                </a:lnTo>
                <a:lnTo>
                  <a:pt x="642213" y="2029256"/>
                </a:lnTo>
                <a:lnTo>
                  <a:pt x="697230" y="2040547"/>
                </a:lnTo>
                <a:lnTo>
                  <a:pt x="754151" y="2051685"/>
                </a:lnTo>
                <a:lnTo>
                  <a:pt x="812901" y="2062670"/>
                </a:lnTo>
                <a:lnTo>
                  <a:pt x="873467" y="2073490"/>
                </a:lnTo>
                <a:lnTo>
                  <a:pt x="935774" y="2084146"/>
                </a:lnTo>
                <a:lnTo>
                  <a:pt x="999807" y="2094636"/>
                </a:lnTo>
                <a:lnTo>
                  <a:pt x="1065491" y="2104948"/>
                </a:lnTo>
                <a:lnTo>
                  <a:pt x="1132789" y="2115083"/>
                </a:lnTo>
                <a:lnTo>
                  <a:pt x="1272032" y="2134768"/>
                </a:lnTo>
                <a:lnTo>
                  <a:pt x="1417218" y="2153653"/>
                </a:lnTo>
                <a:lnTo>
                  <a:pt x="1567954" y="2171674"/>
                </a:lnTo>
                <a:lnTo>
                  <a:pt x="1723872" y="2188794"/>
                </a:lnTo>
                <a:lnTo>
                  <a:pt x="1884591" y="2204961"/>
                </a:lnTo>
                <a:lnTo>
                  <a:pt x="2049754" y="2220125"/>
                </a:lnTo>
                <a:lnTo>
                  <a:pt x="2218994" y="2234234"/>
                </a:lnTo>
                <a:lnTo>
                  <a:pt x="2391918" y="2247227"/>
                </a:lnTo>
                <a:lnTo>
                  <a:pt x="2568181" y="2259076"/>
                </a:lnTo>
                <a:lnTo>
                  <a:pt x="2747403" y="2269718"/>
                </a:lnTo>
                <a:lnTo>
                  <a:pt x="2929217" y="2279104"/>
                </a:lnTo>
                <a:lnTo>
                  <a:pt x="3113252" y="2287181"/>
                </a:lnTo>
                <a:lnTo>
                  <a:pt x="3299142" y="2293899"/>
                </a:lnTo>
                <a:lnTo>
                  <a:pt x="3674961" y="2303081"/>
                </a:lnTo>
                <a:lnTo>
                  <a:pt x="3864216" y="2305431"/>
                </a:lnTo>
                <a:lnTo>
                  <a:pt x="4053814" y="2306218"/>
                </a:lnTo>
                <a:lnTo>
                  <a:pt x="4243514" y="2303322"/>
                </a:lnTo>
                <a:lnTo>
                  <a:pt x="4432947" y="2294750"/>
                </a:lnTo>
                <a:lnTo>
                  <a:pt x="4621631" y="2280678"/>
                </a:lnTo>
                <a:lnTo>
                  <a:pt x="4809198" y="2261298"/>
                </a:lnTo>
                <a:lnTo>
                  <a:pt x="4995278" y="2236787"/>
                </a:lnTo>
                <a:lnTo>
                  <a:pt x="5179504" y="2207323"/>
                </a:lnTo>
                <a:lnTo>
                  <a:pt x="5361495" y="2173109"/>
                </a:lnTo>
                <a:lnTo>
                  <a:pt x="5540908" y="2134311"/>
                </a:lnTo>
                <a:lnTo>
                  <a:pt x="5717337" y="2091105"/>
                </a:lnTo>
                <a:lnTo>
                  <a:pt x="5890450" y="2043696"/>
                </a:lnTo>
                <a:lnTo>
                  <a:pt x="6059856" y="1992261"/>
                </a:lnTo>
                <a:lnTo>
                  <a:pt x="6225184" y="1936965"/>
                </a:lnTo>
                <a:lnTo>
                  <a:pt x="6386081" y="1877999"/>
                </a:lnTo>
                <a:lnTo>
                  <a:pt x="6542164" y="1815553"/>
                </a:lnTo>
                <a:lnTo>
                  <a:pt x="6693065" y="1749806"/>
                </a:lnTo>
                <a:lnTo>
                  <a:pt x="6838416" y="1680933"/>
                </a:lnTo>
                <a:lnTo>
                  <a:pt x="6977862" y="1609128"/>
                </a:lnTo>
                <a:lnTo>
                  <a:pt x="7045325" y="1572133"/>
                </a:lnTo>
                <a:lnTo>
                  <a:pt x="7111098" y="1534502"/>
                </a:lnTo>
                <a:lnTo>
                  <a:pt x="7175208" y="1496237"/>
                </a:lnTo>
                <a:lnTo>
                  <a:pt x="7237603" y="1457337"/>
                </a:lnTo>
                <a:lnTo>
                  <a:pt x="7298258" y="1417840"/>
                </a:lnTo>
                <a:lnTo>
                  <a:pt x="7357097" y="1377772"/>
                </a:lnTo>
                <a:lnTo>
                  <a:pt x="7414095" y="1337144"/>
                </a:lnTo>
                <a:lnTo>
                  <a:pt x="7469200" y="1295984"/>
                </a:lnTo>
                <a:lnTo>
                  <a:pt x="7522362" y="1254302"/>
                </a:lnTo>
                <a:lnTo>
                  <a:pt x="7573543" y="1212138"/>
                </a:lnTo>
                <a:lnTo>
                  <a:pt x="7622680" y="1169504"/>
                </a:lnTo>
                <a:lnTo>
                  <a:pt x="7669746" y="1126413"/>
                </a:lnTo>
                <a:lnTo>
                  <a:pt x="7714691" y="1082903"/>
                </a:lnTo>
                <a:lnTo>
                  <a:pt x="7757465" y="1038999"/>
                </a:lnTo>
                <a:lnTo>
                  <a:pt x="7798016" y="994702"/>
                </a:lnTo>
                <a:lnTo>
                  <a:pt x="7836306" y="950048"/>
                </a:lnTo>
                <a:lnTo>
                  <a:pt x="7872285" y="905052"/>
                </a:lnTo>
                <a:lnTo>
                  <a:pt x="7905902" y="859739"/>
                </a:lnTo>
                <a:lnTo>
                  <a:pt x="7937119" y="814133"/>
                </a:lnTo>
                <a:lnTo>
                  <a:pt x="7965884" y="768235"/>
                </a:lnTo>
                <a:lnTo>
                  <a:pt x="7992135" y="722096"/>
                </a:lnTo>
                <a:lnTo>
                  <a:pt x="8015846" y="675716"/>
                </a:lnTo>
                <a:lnTo>
                  <a:pt x="8036954" y="629132"/>
                </a:lnTo>
                <a:lnTo>
                  <a:pt x="8055407" y="582358"/>
                </a:lnTo>
                <a:lnTo>
                  <a:pt x="8071167" y="535406"/>
                </a:lnTo>
                <a:lnTo>
                  <a:pt x="8084185" y="488315"/>
                </a:lnTo>
                <a:lnTo>
                  <a:pt x="8094396" y="441109"/>
                </a:lnTo>
                <a:lnTo>
                  <a:pt x="8101749" y="393801"/>
                </a:lnTo>
                <a:lnTo>
                  <a:pt x="8103209" y="375310"/>
                </a:lnTo>
                <a:lnTo>
                  <a:pt x="8132026" y="376910"/>
                </a:lnTo>
                <a:close/>
              </a:path>
            </a:pathLst>
          </a:custGeom>
          <a:solidFill>
            <a:srgbClr val="44546A"/>
          </a:solidFill>
        </p:spPr>
        <p:txBody>
          <a:bodyPr wrap="square" lIns="0" tIns="0" rIns="0" bIns="0" rtlCol="0"/>
          <a:lstStyle/>
          <a:p>
            <a:endParaRPr dirty="0"/>
          </a:p>
        </p:txBody>
      </p:sp>
      <p:grpSp>
        <p:nvGrpSpPr>
          <p:cNvPr id="63" name="Group 62">
            <a:extLst>
              <a:ext uri="{FF2B5EF4-FFF2-40B4-BE49-F238E27FC236}">
                <a16:creationId xmlns:a16="http://schemas.microsoft.com/office/drawing/2014/main" id="{125D5BE4-1B63-D986-3C8E-B5C9C5A48569}"/>
              </a:ext>
            </a:extLst>
          </p:cNvPr>
          <p:cNvGrpSpPr/>
          <p:nvPr/>
        </p:nvGrpSpPr>
        <p:grpSpPr>
          <a:xfrm>
            <a:off x="8469397" y="2649652"/>
            <a:ext cx="2319034" cy="1074597"/>
            <a:chOff x="8482097" y="3056052"/>
            <a:chExt cx="2319034" cy="1074597"/>
          </a:xfrm>
        </p:grpSpPr>
        <p:sp>
          <p:nvSpPr>
            <p:cNvPr id="43" name="object 32">
              <a:extLst>
                <a:ext uri="{FF2B5EF4-FFF2-40B4-BE49-F238E27FC236}">
                  <a16:creationId xmlns:a16="http://schemas.microsoft.com/office/drawing/2014/main" id="{24FDE510-99E8-F43B-419C-519A5CE0A26A}"/>
                </a:ext>
              </a:extLst>
            </p:cNvPr>
            <p:cNvSpPr/>
            <p:nvPr/>
          </p:nvSpPr>
          <p:spPr>
            <a:xfrm>
              <a:off x="8482097" y="3573626"/>
              <a:ext cx="415290" cy="76200"/>
            </a:xfrm>
            <a:custGeom>
              <a:avLst/>
              <a:gdLst/>
              <a:ahLst/>
              <a:cxnLst/>
              <a:rect l="l" t="t" r="r" b="b"/>
              <a:pathLst>
                <a:path w="415290" h="76200">
                  <a:moveTo>
                    <a:pt x="338891" y="0"/>
                  </a:moveTo>
                  <a:lnTo>
                    <a:pt x="338891" y="28575"/>
                  </a:lnTo>
                  <a:lnTo>
                    <a:pt x="0" y="28573"/>
                  </a:lnTo>
                  <a:lnTo>
                    <a:pt x="0" y="47623"/>
                  </a:lnTo>
                  <a:lnTo>
                    <a:pt x="338891" y="47625"/>
                  </a:lnTo>
                  <a:lnTo>
                    <a:pt x="338891" y="76200"/>
                  </a:lnTo>
                  <a:lnTo>
                    <a:pt x="415091" y="38100"/>
                  </a:lnTo>
                  <a:lnTo>
                    <a:pt x="338891" y="0"/>
                  </a:lnTo>
                  <a:close/>
                </a:path>
              </a:pathLst>
            </a:custGeom>
            <a:solidFill>
              <a:srgbClr val="44546A"/>
            </a:solidFill>
          </p:spPr>
          <p:txBody>
            <a:bodyPr wrap="square" lIns="0" tIns="0" rIns="0" bIns="0" rtlCol="0"/>
            <a:lstStyle/>
            <a:p>
              <a:endParaRPr/>
            </a:p>
          </p:txBody>
        </p:sp>
        <p:sp>
          <p:nvSpPr>
            <p:cNvPr id="49" name="object 38">
              <a:extLst>
                <a:ext uri="{FF2B5EF4-FFF2-40B4-BE49-F238E27FC236}">
                  <a16:creationId xmlns:a16="http://schemas.microsoft.com/office/drawing/2014/main" id="{D2F7DFC5-76AF-892A-0625-69084EAA62A1}"/>
                </a:ext>
              </a:extLst>
            </p:cNvPr>
            <p:cNvSpPr txBox="1"/>
            <p:nvPr/>
          </p:nvSpPr>
          <p:spPr>
            <a:xfrm>
              <a:off x="8955271" y="3056052"/>
              <a:ext cx="586740" cy="1000760"/>
            </a:xfrm>
            <a:prstGeom prst="rect">
              <a:avLst/>
            </a:prstGeom>
          </p:spPr>
          <p:txBody>
            <a:bodyPr vert="horz" wrap="square" lIns="0" tIns="12700" rIns="0" bIns="0" rtlCol="0">
              <a:spAutoFit/>
            </a:bodyPr>
            <a:lstStyle/>
            <a:p>
              <a:pPr marL="12700">
                <a:lnSpc>
                  <a:spcPct val="100000"/>
                </a:lnSpc>
                <a:spcBef>
                  <a:spcPts val="100"/>
                </a:spcBef>
              </a:pPr>
              <a:r>
                <a:rPr sz="6400" spc="-1985">
                  <a:latin typeface="Arial"/>
                  <a:cs typeface="Arial"/>
                </a:rPr>
                <a:t>…</a:t>
              </a:r>
              <a:endParaRPr sz="6400">
                <a:latin typeface="Arial"/>
                <a:cs typeface="Arial"/>
              </a:endParaRPr>
            </a:p>
          </p:txBody>
        </p:sp>
        <p:sp>
          <p:nvSpPr>
            <p:cNvPr id="60" name="object 49">
              <a:extLst>
                <a:ext uri="{FF2B5EF4-FFF2-40B4-BE49-F238E27FC236}">
                  <a16:creationId xmlns:a16="http://schemas.microsoft.com/office/drawing/2014/main" id="{7E463D7A-EBC5-4671-B440-6113F22A783B}"/>
                </a:ext>
              </a:extLst>
            </p:cNvPr>
            <p:cNvSpPr txBox="1"/>
            <p:nvPr/>
          </p:nvSpPr>
          <p:spPr>
            <a:xfrm>
              <a:off x="10233441" y="3093059"/>
              <a:ext cx="567690" cy="1037590"/>
            </a:xfrm>
            <a:prstGeom prst="rect">
              <a:avLst/>
            </a:prstGeom>
            <a:solidFill>
              <a:srgbClr val="D9EAD3"/>
            </a:solidFill>
            <a:ln w="9525">
              <a:solidFill>
                <a:srgbClr val="000000"/>
              </a:solidFill>
            </a:ln>
          </p:spPr>
          <p:txBody>
            <a:bodyPr vert="horz" wrap="square" lIns="0" tIns="314325" rIns="0" bIns="0" rtlCol="0">
              <a:spAutoFit/>
            </a:bodyPr>
            <a:lstStyle/>
            <a:p>
              <a:pPr marL="154305">
                <a:lnSpc>
                  <a:spcPct val="100000"/>
                </a:lnSpc>
                <a:spcBef>
                  <a:spcPts val="2475"/>
                </a:spcBef>
              </a:pPr>
              <a:r>
                <a:rPr sz="2400" spc="-25">
                  <a:latin typeface="Arial"/>
                  <a:cs typeface="Arial"/>
                </a:rPr>
                <a:t>h</a:t>
              </a:r>
              <a:r>
                <a:rPr sz="2400" spc="-37" baseline="-19097">
                  <a:latin typeface="Arial"/>
                  <a:cs typeface="Arial"/>
                </a:rPr>
                <a:t>T</a:t>
              </a:r>
              <a:endParaRPr sz="2400" baseline="-19097">
                <a:latin typeface="Arial"/>
                <a:cs typeface="Arial"/>
              </a:endParaRPr>
            </a:p>
          </p:txBody>
        </p:sp>
        <p:sp>
          <p:nvSpPr>
            <p:cNvPr id="61" name="object 50">
              <a:extLst>
                <a:ext uri="{FF2B5EF4-FFF2-40B4-BE49-F238E27FC236}">
                  <a16:creationId xmlns:a16="http://schemas.microsoft.com/office/drawing/2014/main" id="{9059EB4C-03A8-6000-9C41-3DFD7B30F5BF}"/>
                </a:ext>
              </a:extLst>
            </p:cNvPr>
            <p:cNvSpPr/>
            <p:nvPr/>
          </p:nvSpPr>
          <p:spPr>
            <a:xfrm>
              <a:off x="9839077" y="3573626"/>
              <a:ext cx="415290" cy="76200"/>
            </a:xfrm>
            <a:custGeom>
              <a:avLst/>
              <a:gdLst/>
              <a:ahLst/>
              <a:cxnLst/>
              <a:rect l="l" t="t" r="r" b="b"/>
              <a:pathLst>
                <a:path w="415290" h="76200">
                  <a:moveTo>
                    <a:pt x="338891" y="0"/>
                  </a:moveTo>
                  <a:lnTo>
                    <a:pt x="338891" y="28575"/>
                  </a:lnTo>
                  <a:lnTo>
                    <a:pt x="0" y="28573"/>
                  </a:lnTo>
                  <a:lnTo>
                    <a:pt x="0" y="47623"/>
                  </a:lnTo>
                  <a:lnTo>
                    <a:pt x="338891" y="47625"/>
                  </a:lnTo>
                  <a:lnTo>
                    <a:pt x="338891" y="76200"/>
                  </a:lnTo>
                  <a:lnTo>
                    <a:pt x="415091" y="38100"/>
                  </a:lnTo>
                  <a:lnTo>
                    <a:pt x="338891" y="0"/>
                  </a:lnTo>
                  <a:close/>
                </a:path>
              </a:pathLst>
            </a:custGeom>
            <a:solidFill>
              <a:srgbClr val="44546A"/>
            </a:solidFill>
          </p:spPr>
          <p:txBody>
            <a:bodyPr wrap="square" lIns="0" tIns="0" rIns="0" bIns="0" rtlCol="0"/>
            <a:lstStyle/>
            <a:p>
              <a:endParaRPr/>
            </a:p>
          </p:txBody>
        </p:sp>
      </p:grpSp>
      <p:sp>
        <p:nvSpPr>
          <p:cNvPr id="4" name="object 36">
            <a:extLst>
              <a:ext uri="{FF2B5EF4-FFF2-40B4-BE49-F238E27FC236}">
                <a16:creationId xmlns:a16="http://schemas.microsoft.com/office/drawing/2014/main" id="{AF5CDC76-E20E-E0C5-CA32-1688B7EB0E5E}"/>
              </a:ext>
            </a:extLst>
          </p:cNvPr>
          <p:cNvSpPr txBox="1"/>
          <p:nvPr/>
        </p:nvSpPr>
        <p:spPr>
          <a:xfrm>
            <a:off x="10348098" y="1446664"/>
            <a:ext cx="313690" cy="391160"/>
          </a:xfrm>
          <a:prstGeom prst="rect">
            <a:avLst/>
          </a:prstGeom>
        </p:spPr>
        <p:txBody>
          <a:bodyPr vert="horz" wrap="square" lIns="0" tIns="12700" rIns="0" bIns="0" rtlCol="0">
            <a:spAutoFit/>
          </a:bodyPr>
          <a:lstStyle/>
          <a:p>
            <a:pPr marL="38100">
              <a:lnSpc>
                <a:spcPct val="100000"/>
              </a:lnSpc>
              <a:spcBef>
                <a:spcPts val="100"/>
              </a:spcBef>
            </a:pPr>
            <a:r>
              <a:rPr sz="2400" spc="-35">
                <a:latin typeface="Arial"/>
                <a:cs typeface="Arial"/>
              </a:rPr>
              <a:t>y</a:t>
            </a:r>
            <a:r>
              <a:rPr sz="2400" spc="-52" baseline="-19097">
                <a:latin typeface="Arial"/>
                <a:cs typeface="Arial"/>
              </a:rPr>
              <a:t>T</a:t>
            </a:r>
            <a:endParaRPr sz="2400" baseline="-19097">
              <a:latin typeface="Arial"/>
              <a:cs typeface="Arial"/>
            </a:endParaRPr>
          </a:p>
        </p:txBody>
      </p:sp>
      <p:sp>
        <p:nvSpPr>
          <p:cNvPr id="6" name="object 58">
            <a:extLst>
              <a:ext uri="{FF2B5EF4-FFF2-40B4-BE49-F238E27FC236}">
                <a16:creationId xmlns:a16="http://schemas.microsoft.com/office/drawing/2014/main" id="{DDE4AE9D-09B3-7BB9-50FC-5AAEA8745188}"/>
              </a:ext>
            </a:extLst>
          </p:cNvPr>
          <p:cNvSpPr txBox="1"/>
          <p:nvPr/>
        </p:nvSpPr>
        <p:spPr>
          <a:xfrm>
            <a:off x="8026920" y="1446664"/>
            <a:ext cx="317500" cy="391160"/>
          </a:xfrm>
          <a:prstGeom prst="rect">
            <a:avLst/>
          </a:prstGeom>
        </p:spPr>
        <p:txBody>
          <a:bodyPr vert="horz" wrap="square" lIns="0" tIns="12700" rIns="0" bIns="0" rtlCol="0">
            <a:spAutoFit/>
          </a:bodyPr>
          <a:lstStyle/>
          <a:p>
            <a:pPr marL="38100">
              <a:lnSpc>
                <a:spcPct val="100000"/>
              </a:lnSpc>
              <a:spcBef>
                <a:spcPts val="100"/>
              </a:spcBef>
            </a:pPr>
            <a:r>
              <a:rPr sz="2400" spc="-25" dirty="0">
                <a:latin typeface="Arial"/>
                <a:cs typeface="Arial"/>
              </a:rPr>
              <a:t>y</a:t>
            </a:r>
            <a:r>
              <a:rPr lang="en-US" altLang="zh-CN" sz="2400" spc="-37" baseline="-19097" dirty="0">
                <a:latin typeface="Arial"/>
                <a:cs typeface="Arial"/>
              </a:rPr>
              <a:t>2</a:t>
            </a:r>
            <a:endParaRPr sz="2400" baseline="-19097" dirty="0">
              <a:latin typeface="Arial"/>
              <a:cs typeface="Arial"/>
            </a:endParaRPr>
          </a:p>
        </p:txBody>
      </p:sp>
      <p:sp>
        <p:nvSpPr>
          <p:cNvPr id="8" name="object 60">
            <a:extLst>
              <a:ext uri="{FF2B5EF4-FFF2-40B4-BE49-F238E27FC236}">
                <a16:creationId xmlns:a16="http://schemas.microsoft.com/office/drawing/2014/main" id="{D4588667-0CAC-FC33-4356-70F76C5EF975}"/>
              </a:ext>
            </a:extLst>
          </p:cNvPr>
          <p:cNvSpPr/>
          <p:nvPr/>
        </p:nvSpPr>
        <p:spPr>
          <a:xfrm>
            <a:off x="5661827" y="1144662"/>
            <a:ext cx="567690" cy="1037590"/>
          </a:xfrm>
          <a:custGeom>
            <a:avLst/>
            <a:gdLst/>
            <a:ahLst/>
            <a:cxnLst/>
            <a:rect l="l" t="t" r="r" b="b"/>
            <a:pathLst>
              <a:path w="567689" h="1037589">
                <a:moveTo>
                  <a:pt x="567452" y="0"/>
                </a:moveTo>
                <a:lnTo>
                  <a:pt x="0" y="0"/>
                </a:lnTo>
                <a:lnTo>
                  <a:pt x="0" y="1037329"/>
                </a:lnTo>
                <a:lnTo>
                  <a:pt x="567452" y="1037329"/>
                </a:lnTo>
                <a:lnTo>
                  <a:pt x="567452" y="0"/>
                </a:lnTo>
                <a:close/>
              </a:path>
            </a:pathLst>
          </a:custGeom>
          <a:solidFill>
            <a:srgbClr val="CFE2F3"/>
          </a:solidFill>
        </p:spPr>
        <p:txBody>
          <a:bodyPr wrap="square" lIns="0" tIns="0" rIns="0" bIns="0" rtlCol="0"/>
          <a:lstStyle/>
          <a:p>
            <a:endParaRPr/>
          </a:p>
        </p:txBody>
      </p:sp>
      <p:sp>
        <p:nvSpPr>
          <p:cNvPr id="9" name="object 61">
            <a:extLst>
              <a:ext uri="{FF2B5EF4-FFF2-40B4-BE49-F238E27FC236}">
                <a16:creationId xmlns:a16="http://schemas.microsoft.com/office/drawing/2014/main" id="{E73177B8-FB51-EFBC-6AB5-487E6A8DE244}"/>
              </a:ext>
            </a:extLst>
          </p:cNvPr>
          <p:cNvSpPr/>
          <p:nvPr/>
        </p:nvSpPr>
        <p:spPr>
          <a:xfrm>
            <a:off x="5661827" y="1144662"/>
            <a:ext cx="567690" cy="1037590"/>
          </a:xfrm>
          <a:custGeom>
            <a:avLst/>
            <a:gdLst/>
            <a:ahLst/>
            <a:cxnLst/>
            <a:rect l="l" t="t" r="r" b="b"/>
            <a:pathLst>
              <a:path w="567689" h="1037589">
                <a:moveTo>
                  <a:pt x="0" y="0"/>
                </a:moveTo>
                <a:lnTo>
                  <a:pt x="567452" y="0"/>
                </a:lnTo>
                <a:lnTo>
                  <a:pt x="567452" y="1037330"/>
                </a:lnTo>
                <a:lnTo>
                  <a:pt x="0" y="1037330"/>
                </a:lnTo>
                <a:lnTo>
                  <a:pt x="0" y="0"/>
                </a:lnTo>
                <a:close/>
              </a:path>
            </a:pathLst>
          </a:custGeom>
          <a:ln w="9525">
            <a:solidFill>
              <a:srgbClr val="000000"/>
            </a:solidFill>
          </a:ln>
        </p:spPr>
        <p:txBody>
          <a:bodyPr wrap="square" lIns="0" tIns="0" rIns="0" bIns="0" rtlCol="0"/>
          <a:lstStyle/>
          <a:p>
            <a:endParaRPr/>
          </a:p>
        </p:txBody>
      </p:sp>
      <p:sp>
        <p:nvSpPr>
          <p:cNvPr id="10" name="object 62">
            <a:extLst>
              <a:ext uri="{FF2B5EF4-FFF2-40B4-BE49-F238E27FC236}">
                <a16:creationId xmlns:a16="http://schemas.microsoft.com/office/drawing/2014/main" id="{8322ACB0-9D9D-2F6B-D85B-9236006F9512}"/>
              </a:ext>
            </a:extLst>
          </p:cNvPr>
          <p:cNvSpPr txBox="1"/>
          <p:nvPr/>
        </p:nvSpPr>
        <p:spPr>
          <a:xfrm>
            <a:off x="5786802" y="1446664"/>
            <a:ext cx="442475" cy="391160"/>
          </a:xfrm>
          <a:prstGeom prst="rect">
            <a:avLst/>
          </a:prstGeom>
        </p:spPr>
        <p:txBody>
          <a:bodyPr vert="horz" wrap="square" lIns="0" tIns="12700" rIns="0" bIns="0" rtlCol="0">
            <a:spAutoFit/>
          </a:bodyPr>
          <a:lstStyle/>
          <a:p>
            <a:pPr marL="38100">
              <a:lnSpc>
                <a:spcPct val="100000"/>
              </a:lnSpc>
              <a:spcBef>
                <a:spcPts val="100"/>
              </a:spcBef>
            </a:pPr>
            <a:r>
              <a:rPr sz="2400" spc="-25" dirty="0">
                <a:latin typeface="Arial"/>
                <a:cs typeface="Arial"/>
              </a:rPr>
              <a:t>y</a:t>
            </a:r>
            <a:r>
              <a:rPr lang="en-US" altLang="zh-CN" sz="2400" spc="-37" baseline="-19097" dirty="0">
                <a:latin typeface="Arial"/>
                <a:cs typeface="Arial"/>
              </a:rPr>
              <a:t>1</a:t>
            </a:r>
            <a:endParaRPr sz="2400" baseline="-19097" dirty="0">
              <a:latin typeface="Arial"/>
              <a:cs typeface="Arial"/>
            </a:endParaRPr>
          </a:p>
        </p:txBody>
      </p:sp>
      <p:cxnSp>
        <p:nvCxnSpPr>
          <p:cNvPr id="74" name="Straight Arrow Connector 73">
            <a:extLst>
              <a:ext uri="{FF2B5EF4-FFF2-40B4-BE49-F238E27FC236}">
                <a16:creationId xmlns:a16="http://schemas.microsoft.com/office/drawing/2014/main" id="{CB5017B2-30BB-136B-6576-0B801D5D601F}"/>
              </a:ext>
            </a:extLst>
          </p:cNvPr>
          <p:cNvCxnSpPr>
            <a:stCxn id="60" idx="0"/>
          </p:cNvCxnSpPr>
          <p:nvPr/>
        </p:nvCxnSpPr>
        <p:spPr>
          <a:xfrm flipV="1">
            <a:off x="10504586" y="2161039"/>
            <a:ext cx="0" cy="52562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C57139C1-E7DB-A8F4-35A2-EAD7504E0552}"/>
              </a:ext>
            </a:extLst>
          </p:cNvPr>
          <p:cNvCxnSpPr/>
          <p:nvPr/>
        </p:nvCxnSpPr>
        <p:spPr>
          <a:xfrm flipV="1">
            <a:off x="5945552" y="2182252"/>
            <a:ext cx="0" cy="52562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B1CC09E1-8891-34F3-7598-9948D897CB10}"/>
              </a:ext>
            </a:extLst>
          </p:cNvPr>
          <p:cNvCxnSpPr/>
          <p:nvPr/>
        </p:nvCxnSpPr>
        <p:spPr>
          <a:xfrm flipV="1">
            <a:off x="8181200" y="2161039"/>
            <a:ext cx="0" cy="52562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8" name="Group 77">
            <a:extLst>
              <a:ext uri="{FF2B5EF4-FFF2-40B4-BE49-F238E27FC236}">
                <a16:creationId xmlns:a16="http://schemas.microsoft.com/office/drawing/2014/main" id="{89B7748F-BDF4-5534-A0CE-B132E7B5B71C}"/>
              </a:ext>
            </a:extLst>
          </p:cNvPr>
          <p:cNvGrpSpPr/>
          <p:nvPr/>
        </p:nvGrpSpPr>
        <p:grpSpPr>
          <a:xfrm>
            <a:off x="0" y="-1589"/>
            <a:ext cx="12191999" cy="768585"/>
            <a:chOff x="0" y="-1589"/>
            <a:chExt cx="12191999" cy="768585"/>
          </a:xfrm>
        </p:grpSpPr>
        <p:grpSp>
          <p:nvGrpSpPr>
            <p:cNvPr id="79" name="Group 9">
              <a:extLst>
                <a:ext uri="{FF2B5EF4-FFF2-40B4-BE49-F238E27FC236}">
                  <a16:creationId xmlns:a16="http://schemas.microsoft.com/office/drawing/2014/main" id="{5EE4BBB5-506A-E56A-6A3C-F54B05338565}"/>
                </a:ext>
              </a:extLst>
            </p:cNvPr>
            <p:cNvGrpSpPr>
              <a:grpSpLocks noChangeAspect="1"/>
            </p:cNvGrpSpPr>
            <p:nvPr/>
          </p:nvGrpSpPr>
          <p:grpSpPr bwMode="auto">
            <a:xfrm>
              <a:off x="0" y="-1589"/>
              <a:ext cx="12191999" cy="767234"/>
              <a:chOff x="-1" y="-1"/>
              <a:chExt cx="7719" cy="568"/>
            </a:xfrm>
          </p:grpSpPr>
          <p:sp>
            <p:nvSpPr>
              <p:cNvPr id="82" name="Freeform 81">
                <a:extLst>
                  <a:ext uri="{FF2B5EF4-FFF2-40B4-BE49-F238E27FC236}">
                    <a16:creationId xmlns:a16="http://schemas.microsoft.com/office/drawing/2014/main" id="{A687999D-0088-56ED-253D-BCFFD3125FD3}"/>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83" name="AutoShape 8">
                <a:extLst>
                  <a:ext uri="{FF2B5EF4-FFF2-40B4-BE49-F238E27FC236}">
                    <a16:creationId xmlns:a16="http://schemas.microsoft.com/office/drawing/2014/main" id="{FEF1FD2E-A496-B683-46A1-4F66F1615B12}"/>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80" name="任意多边形: 形状 12">
              <a:extLst>
                <a:ext uri="{FF2B5EF4-FFF2-40B4-BE49-F238E27FC236}">
                  <a16:creationId xmlns:a16="http://schemas.microsoft.com/office/drawing/2014/main" id="{D8B5981D-E8D0-FA87-392A-B9D91B9FFF33}"/>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81" name="文本框 18">
              <a:extLst>
                <a:ext uri="{FF2B5EF4-FFF2-40B4-BE49-F238E27FC236}">
                  <a16:creationId xmlns:a16="http://schemas.microsoft.com/office/drawing/2014/main" id="{39E3DF1F-B976-9F3E-E283-684FDAB90F01}"/>
                </a:ext>
              </a:extLst>
            </p:cNvPr>
            <p:cNvSpPr txBox="1"/>
            <p:nvPr/>
          </p:nvSpPr>
          <p:spPr>
            <a:xfrm>
              <a:off x="350439" y="120418"/>
              <a:ext cx="335861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1">
                  <a:solidFill>
                    <a:prstClr val="white"/>
                  </a:solidFill>
                  <a:cs typeface="+mn-ea"/>
                  <a:sym typeface="+mn-lt"/>
                </a:rPr>
                <a:t>循环神经网络</a:t>
              </a:r>
              <a:r>
                <a:rPr kumimoji="0" lang="en-US" altLang="zh-CN" sz="2800" b="1" i="0" u="none" strike="noStrike" kern="1200" cap="none" spc="0" normalizeH="0" baseline="0" noProof="0">
                  <a:ln>
                    <a:noFill/>
                  </a:ln>
                  <a:solidFill>
                    <a:prstClr val="white"/>
                  </a:solidFill>
                  <a:effectLst/>
                  <a:uLnTx/>
                  <a:uFillTx/>
                  <a:cs typeface="+mn-ea"/>
                  <a:sym typeface="+mn-lt"/>
                </a:rPr>
                <a:t>(RNN)</a:t>
              </a:r>
              <a:endParaRPr kumimoji="0" lang="zh-CN" altLang="en-US" sz="2800" b="1" i="0" u="none" strike="noStrike" kern="1200" cap="none" spc="0" normalizeH="0" baseline="0" noProof="0">
                <a:ln>
                  <a:noFill/>
                </a:ln>
                <a:solidFill>
                  <a:prstClr val="white"/>
                </a:solidFill>
                <a:effectLst/>
                <a:uLnTx/>
                <a:uFillTx/>
                <a:cs typeface="+mn-ea"/>
                <a:sym typeface="+mn-lt"/>
              </a:endParaRPr>
            </a:p>
          </p:txBody>
        </p:sp>
      </p:grpSp>
      <p:cxnSp>
        <p:nvCxnSpPr>
          <p:cNvPr id="86" name="Curved Connector 85">
            <a:extLst>
              <a:ext uri="{FF2B5EF4-FFF2-40B4-BE49-F238E27FC236}">
                <a16:creationId xmlns:a16="http://schemas.microsoft.com/office/drawing/2014/main" id="{841AE9BB-AA07-9B6D-6D8D-320E07BFBF7B}"/>
              </a:ext>
            </a:extLst>
          </p:cNvPr>
          <p:cNvCxnSpPr>
            <a:cxnSpLocks/>
            <a:stCxn id="10" idx="3"/>
            <a:endCxn id="41" idx="1"/>
          </p:cNvCxnSpPr>
          <p:nvPr/>
        </p:nvCxnSpPr>
        <p:spPr>
          <a:xfrm>
            <a:off x="6229277" y="1642244"/>
            <a:ext cx="526636" cy="2847031"/>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Curved Connector 89">
            <a:extLst>
              <a:ext uri="{FF2B5EF4-FFF2-40B4-BE49-F238E27FC236}">
                <a16:creationId xmlns:a16="http://schemas.microsoft.com/office/drawing/2014/main" id="{FFE3D5EC-991C-CFCB-7E88-692E00090F0E}"/>
              </a:ext>
            </a:extLst>
          </p:cNvPr>
          <p:cNvCxnSpPr>
            <a:cxnSpLocks/>
          </p:cNvCxnSpPr>
          <p:nvPr/>
        </p:nvCxnSpPr>
        <p:spPr>
          <a:xfrm>
            <a:off x="8460457" y="1661784"/>
            <a:ext cx="526636" cy="2847031"/>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244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P spid="62" grpId="0" animBg="1"/>
      <p:bldP spid="4" grpId="0"/>
      <p:bldP spid="6" grpId="0"/>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60733BA-4209-7F46-7A9F-DE7E70227020}"/>
              </a:ext>
            </a:extLst>
          </p:cNvPr>
          <p:cNvGrpSpPr/>
          <p:nvPr/>
        </p:nvGrpSpPr>
        <p:grpSpPr>
          <a:xfrm>
            <a:off x="0" y="-1589"/>
            <a:ext cx="12191999" cy="768585"/>
            <a:chOff x="0" y="-1589"/>
            <a:chExt cx="12191999" cy="768585"/>
          </a:xfrm>
        </p:grpSpPr>
        <p:grpSp>
          <p:nvGrpSpPr>
            <p:cNvPr id="14" name="Group 9">
              <a:extLst>
                <a:ext uri="{FF2B5EF4-FFF2-40B4-BE49-F238E27FC236}">
                  <a16:creationId xmlns:a16="http://schemas.microsoft.com/office/drawing/2014/main" id="{00CFA04F-2433-EB61-EB86-A617D39DE731}"/>
                </a:ext>
              </a:extLst>
            </p:cNvPr>
            <p:cNvGrpSpPr>
              <a:grpSpLocks noChangeAspect="1"/>
            </p:cNvGrpSpPr>
            <p:nvPr/>
          </p:nvGrpSpPr>
          <p:grpSpPr bwMode="auto">
            <a:xfrm>
              <a:off x="0" y="-1589"/>
              <a:ext cx="12191999" cy="767234"/>
              <a:chOff x="-1" y="-1"/>
              <a:chExt cx="7719" cy="568"/>
            </a:xfrm>
          </p:grpSpPr>
          <p:sp>
            <p:nvSpPr>
              <p:cNvPr id="17" name="Freeform 16">
                <a:extLst>
                  <a:ext uri="{FF2B5EF4-FFF2-40B4-BE49-F238E27FC236}">
                    <a16:creationId xmlns:a16="http://schemas.microsoft.com/office/drawing/2014/main" id="{881BAE9B-003D-B0B1-4C23-D62C568F5716}"/>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8" name="AutoShape 8">
                <a:extLst>
                  <a:ext uri="{FF2B5EF4-FFF2-40B4-BE49-F238E27FC236}">
                    <a16:creationId xmlns:a16="http://schemas.microsoft.com/office/drawing/2014/main" id="{F509B09C-669D-29BA-B7AB-2D42251CFF12}"/>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15" name="任意多边形: 形状 12">
              <a:extLst>
                <a:ext uri="{FF2B5EF4-FFF2-40B4-BE49-F238E27FC236}">
                  <a16:creationId xmlns:a16="http://schemas.microsoft.com/office/drawing/2014/main" id="{6DEE9891-C91D-34BA-BB8A-373AA601A023}"/>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6" name="文本框 18">
              <a:extLst>
                <a:ext uri="{FF2B5EF4-FFF2-40B4-BE49-F238E27FC236}">
                  <a16:creationId xmlns:a16="http://schemas.microsoft.com/office/drawing/2014/main" id="{1DD3ACB3-70A7-97C9-A0EA-787AC13500DF}"/>
                </a:ext>
              </a:extLst>
            </p:cNvPr>
            <p:cNvSpPr txBox="1"/>
            <p:nvPr/>
          </p:nvSpPr>
          <p:spPr>
            <a:xfrm>
              <a:off x="350439" y="120418"/>
              <a:ext cx="4435830"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1" dirty="0">
                  <a:solidFill>
                    <a:prstClr val="white"/>
                  </a:solidFill>
                  <a:cs typeface="+mn-ea"/>
                  <a:sym typeface="+mn-lt"/>
                </a:rPr>
                <a:t>循环神经网络</a:t>
              </a:r>
              <a:r>
                <a:rPr kumimoji="0" lang="en-US" altLang="zh-CN" sz="2800" b="1" i="0" u="none" strike="noStrike" kern="1200" cap="none" spc="0" normalizeH="0" baseline="0" noProof="0" dirty="0">
                  <a:ln>
                    <a:noFill/>
                  </a:ln>
                  <a:solidFill>
                    <a:prstClr val="white"/>
                  </a:solidFill>
                  <a:effectLst/>
                  <a:uLnTx/>
                  <a:uFillTx/>
                  <a:cs typeface="+mn-ea"/>
                  <a:sym typeface="+mn-lt"/>
                </a:rPr>
                <a:t>(RNN)</a:t>
              </a:r>
              <a:r>
                <a:rPr kumimoji="0" lang="zh-CN" altLang="en-US" sz="2800" b="1" i="0" u="none" strike="noStrike" kern="1200" cap="none" spc="0" normalizeH="0" baseline="0" noProof="0" dirty="0">
                  <a:ln>
                    <a:noFill/>
                  </a:ln>
                  <a:solidFill>
                    <a:prstClr val="white"/>
                  </a:solidFill>
                  <a:effectLst/>
                  <a:uLnTx/>
                  <a:uFillTx/>
                  <a:cs typeface="+mn-ea"/>
                  <a:sym typeface="+mn-lt"/>
                </a:rPr>
                <a:t>的局限</a:t>
              </a:r>
            </a:p>
          </p:txBody>
        </p:sp>
      </p:grpSp>
      <p:sp>
        <p:nvSpPr>
          <p:cNvPr id="3" name="TextBox 2">
            <a:extLst>
              <a:ext uri="{FF2B5EF4-FFF2-40B4-BE49-F238E27FC236}">
                <a16:creationId xmlns:a16="http://schemas.microsoft.com/office/drawing/2014/main" id="{38610943-0093-850C-0168-2FE5F62E45AD}"/>
              </a:ext>
            </a:extLst>
          </p:cNvPr>
          <p:cNvSpPr txBox="1"/>
          <p:nvPr/>
        </p:nvSpPr>
        <p:spPr>
          <a:xfrm>
            <a:off x="350438" y="886301"/>
            <a:ext cx="11356457" cy="5012398"/>
          </a:xfrm>
          <a:prstGeom prst="rect">
            <a:avLst/>
          </a:prstGeom>
          <a:noFill/>
        </p:spPr>
        <p:txBody>
          <a:bodyPr wrap="square">
            <a:spAutoFit/>
          </a:bodyPr>
          <a:lstStyle/>
          <a:p>
            <a:pPr marL="457200" indent="-457200" algn="just">
              <a:lnSpc>
                <a:spcPct val="150000"/>
              </a:lnSpc>
              <a:buFont typeface="Wingdings" panose="05000000000000000000" pitchFamily="2" charset="2"/>
              <a:buChar char="p"/>
              <a:defRPr/>
            </a:pPr>
            <a:r>
              <a:rPr lang="zh-CN" altLang="en-US" sz="2400" b="1" kern="100" dirty="0">
                <a:solidFill>
                  <a:prstClr val="black"/>
                </a:solidFill>
                <a:cs typeface="+mn-ea"/>
              </a:rPr>
              <a:t>在训练过程中，梯度通过</a:t>
            </a:r>
            <a:r>
              <a:rPr lang="en-US" sz="2400" b="1" kern="100" dirty="0">
                <a:solidFill>
                  <a:prstClr val="black"/>
                </a:solidFill>
                <a:cs typeface="+mn-ea"/>
              </a:rPr>
              <a:t>RNN</a:t>
            </a:r>
            <a:r>
              <a:rPr lang="zh-CN" altLang="en-US" sz="2400" b="1" kern="100" dirty="0">
                <a:solidFill>
                  <a:prstClr val="black"/>
                </a:solidFill>
                <a:cs typeface="+mn-ea"/>
              </a:rPr>
              <a:t>的循环连接向后传播，以更新权重。</a:t>
            </a:r>
          </a:p>
          <a:p>
            <a:pPr marL="457200" indent="-457200" algn="just">
              <a:lnSpc>
                <a:spcPct val="150000"/>
              </a:lnSpc>
              <a:buFont typeface="Wingdings" panose="05000000000000000000" pitchFamily="2" charset="2"/>
              <a:buChar char="p"/>
              <a:defRPr/>
            </a:pPr>
            <a:endParaRPr lang="en-US" altLang="zh-CN" sz="2400" b="1" kern="100" dirty="0">
              <a:solidFill>
                <a:prstClr val="black"/>
              </a:solidFill>
              <a:cs typeface="+mn-ea"/>
            </a:endParaRPr>
          </a:p>
          <a:p>
            <a:pPr marL="457200" indent="-457200" algn="just">
              <a:lnSpc>
                <a:spcPct val="150000"/>
              </a:lnSpc>
              <a:buFont typeface="Wingdings" panose="05000000000000000000" pitchFamily="2" charset="2"/>
              <a:buChar char="p"/>
              <a:defRPr/>
            </a:pPr>
            <a:r>
              <a:rPr lang="zh-CN" altLang="en-US" sz="2400" b="1" kern="100" dirty="0">
                <a:solidFill>
                  <a:prstClr val="black"/>
                </a:solidFill>
                <a:cs typeface="+mn-ea"/>
              </a:rPr>
              <a:t>如果权重矩阵中的数值较小</a:t>
            </a:r>
            <a:endParaRPr lang="en-US" altLang="zh-CN" sz="2400" b="1" kern="100" dirty="0">
              <a:solidFill>
                <a:prstClr val="black"/>
              </a:solidFill>
              <a:cs typeface="+mn-ea"/>
            </a:endParaRPr>
          </a:p>
          <a:p>
            <a:pPr marL="914400" lvl="1" indent="-457200" algn="just">
              <a:lnSpc>
                <a:spcPct val="150000"/>
              </a:lnSpc>
              <a:buFont typeface="Wingdings" panose="05000000000000000000" pitchFamily="2" charset="2"/>
              <a:buChar char="p"/>
              <a:defRPr/>
            </a:pPr>
            <a:r>
              <a:rPr lang="zh-CN" altLang="en-US" sz="2400" kern="100" dirty="0">
                <a:solidFill>
                  <a:prstClr val="black"/>
                </a:solidFill>
                <a:cs typeface="+mn-ea"/>
              </a:rPr>
              <a:t>梯度在经过多次权重矩阵相乘后会变得非常小</a:t>
            </a:r>
            <a:endParaRPr lang="en-US" altLang="zh-CN" sz="2400" kern="100" dirty="0">
              <a:solidFill>
                <a:prstClr val="black"/>
              </a:solidFill>
              <a:cs typeface="+mn-ea"/>
            </a:endParaRPr>
          </a:p>
          <a:p>
            <a:pPr marL="914400" lvl="1" indent="-457200" algn="just">
              <a:lnSpc>
                <a:spcPct val="150000"/>
              </a:lnSpc>
              <a:buFont typeface="Wingdings" panose="05000000000000000000" pitchFamily="2" charset="2"/>
              <a:buChar char="p"/>
              <a:defRPr/>
            </a:pPr>
            <a:r>
              <a:rPr lang="zh-CN" altLang="en-US" sz="2400" kern="100" dirty="0">
                <a:solidFill>
                  <a:prstClr val="black"/>
                </a:solidFill>
                <a:cs typeface="+mn-ea"/>
              </a:rPr>
              <a:t>这将导致梯度消失问题（</a:t>
            </a:r>
            <a:r>
              <a:rPr lang="en-US" sz="2400" kern="100" dirty="0">
                <a:solidFill>
                  <a:prstClr val="black"/>
                </a:solidFill>
                <a:cs typeface="+mn-ea"/>
              </a:rPr>
              <a:t>vanishing gradients problem）。</a:t>
            </a:r>
          </a:p>
          <a:p>
            <a:pPr marL="457200" indent="-457200" algn="just">
              <a:lnSpc>
                <a:spcPct val="150000"/>
              </a:lnSpc>
              <a:buFont typeface="Wingdings" panose="05000000000000000000" pitchFamily="2" charset="2"/>
              <a:buChar char="p"/>
              <a:defRPr/>
            </a:pPr>
            <a:endParaRPr lang="en-US" altLang="zh-CN" sz="2400" b="1" kern="100" dirty="0">
              <a:solidFill>
                <a:prstClr val="black"/>
              </a:solidFill>
              <a:cs typeface="+mn-ea"/>
            </a:endParaRPr>
          </a:p>
          <a:p>
            <a:pPr marL="457200" indent="-457200" algn="just">
              <a:lnSpc>
                <a:spcPct val="150000"/>
              </a:lnSpc>
              <a:buFont typeface="Wingdings" panose="05000000000000000000" pitchFamily="2" charset="2"/>
              <a:buChar char="p"/>
              <a:defRPr/>
            </a:pPr>
            <a:r>
              <a:rPr lang="zh-CN" altLang="en-US" sz="2400" b="1" kern="100" dirty="0">
                <a:solidFill>
                  <a:prstClr val="black"/>
                </a:solidFill>
                <a:cs typeface="+mn-ea"/>
              </a:rPr>
              <a:t>如果权重矩阵中的数值较大</a:t>
            </a:r>
            <a:endParaRPr lang="en-US" altLang="zh-CN" sz="2400" b="1" kern="100" dirty="0">
              <a:solidFill>
                <a:prstClr val="black"/>
              </a:solidFill>
              <a:cs typeface="+mn-ea"/>
            </a:endParaRPr>
          </a:p>
          <a:p>
            <a:pPr marL="914400" lvl="1" indent="-457200" algn="just">
              <a:lnSpc>
                <a:spcPct val="150000"/>
              </a:lnSpc>
              <a:buFont typeface="Wingdings" panose="05000000000000000000" pitchFamily="2" charset="2"/>
              <a:buChar char="p"/>
              <a:defRPr/>
            </a:pPr>
            <a:r>
              <a:rPr lang="zh-CN" altLang="en-US" sz="2400" kern="100" dirty="0">
                <a:solidFill>
                  <a:prstClr val="black"/>
                </a:solidFill>
                <a:cs typeface="+mn-ea"/>
              </a:rPr>
              <a:t>梯度在经过多次权重矩阵相乘后会变得非常大</a:t>
            </a:r>
            <a:endParaRPr lang="en-US" altLang="zh-CN" sz="2400" kern="100" dirty="0">
              <a:solidFill>
                <a:prstClr val="black"/>
              </a:solidFill>
              <a:cs typeface="+mn-ea"/>
            </a:endParaRPr>
          </a:p>
          <a:p>
            <a:pPr marL="914400" lvl="1" indent="-457200" algn="just">
              <a:lnSpc>
                <a:spcPct val="150000"/>
              </a:lnSpc>
              <a:buFont typeface="Wingdings" panose="05000000000000000000" pitchFamily="2" charset="2"/>
              <a:buChar char="p"/>
              <a:defRPr/>
            </a:pPr>
            <a:r>
              <a:rPr lang="zh-CN" altLang="en-US" sz="2400" kern="100" dirty="0">
                <a:solidFill>
                  <a:prstClr val="black"/>
                </a:solidFill>
                <a:cs typeface="+mn-ea"/>
              </a:rPr>
              <a:t>这将导致梯度爆炸问题（</a:t>
            </a:r>
            <a:r>
              <a:rPr lang="en-US" sz="2400" kern="100" dirty="0">
                <a:solidFill>
                  <a:prstClr val="black"/>
                </a:solidFill>
                <a:cs typeface="+mn-ea"/>
              </a:rPr>
              <a:t>exploding gradients problem）。</a:t>
            </a:r>
          </a:p>
        </p:txBody>
      </p:sp>
    </p:spTree>
    <p:extLst>
      <p:ext uri="{BB962C8B-B14F-4D97-AF65-F5344CB8AC3E}">
        <p14:creationId xmlns:p14="http://schemas.microsoft.com/office/powerpoint/2010/main" val="2559610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07B0159F-B05E-F51D-93EC-EEC41B1EB3BC}"/>
              </a:ext>
            </a:extLst>
          </p:cNvPr>
          <p:cNvGrpSpPr/>
          <p:nvPr/>
        </p:nvGrpSpPr>
        <p:grpSpPr>
          <a:xfrm>
            <a:off x="0" y="-1589"/>
            <a:ext cx="12191999" cy="768585"/>
            <a:chOff x="0" y="-1589"/>
            <a:chExt cx="12191999" cy="768585"/>
          </a:xfrm>
        </p:grpSpPr>
        <p:grpSp>
          <p:nvGrpSpPr>
            <p:cNvPr id="8" name="Group 9">
              <a:extLst>
                <a:ext uri="{FF2B5EF4-FFF2-40B4-BE49-F238E27FC236}">
                  <a16:creationId xmlns:a16="http://schemas.microsoft.com/office/drawing/2014/main" id="{0DD6B864-B3C5-A2D4-DF7B-6E9011E7AA27}"/>
                </a:ext>
              </a:extLst>
            </p:cNvPr>
            <p:cNvGrpSpPr>
              <a:grpSpLocks noChangeAspect="1"/>
            </p:cNvGrpSpPr>
            <p:nvPr/>
          </p:nvGrpSpPr>
          <p:grpSpPr bwMode="auto">
            <a:xfrm>
              <a:off x="0" y="-1589"/>
              <a:ext cx="12191999" cy="767234"/>
              <a:chOff x="-1" y="-1"/>
              <a:chExt cx="7719" cy="568"/>
            </a:xfrm>
          </p:grpSpPr>
          <p:sp>
            <p:nvSpPr>
              <p:cNvPr id="12" name="Freeform 11">
                <a:extLst>
                  <a:ext uri="{FF2B5EF4-FFF2-40B4-BE49-F238E27FC236}">
                    <a16:creationId xmlns:a16="http://schemas.microsoft.com/office/drawing/2014/main" id="{AF93A07C-7319-7046-E079-FA806880F98D}"/>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3" name="AutoShape 8">
                <a:extLst>
                  <a:ext uri="{FF2B5EF4-FFF2-40B4-BE49-F238E27FC236}">
                    <a16:creationId xmlns:a16="http://schemas.microsoft.com/office/drawing/2014/main" id="{D8F2F525-1CC8-12D7-8E01-544A0E39CE18}"/>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9" name="任意多边形: 形状 12">
              <a:extLst>
                <a:ext uri="{FF2B5EF4-FFF2-40B4-BE49-F238E27FC236}">
                  <a16:creationId xmlns:a16="http://schemas.microsoft.com/office/drawing/2014/main" id="{06A99C77-69D4-5558-3771-4BDCF5C75BE7}"/>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0" name="文本框 18">
              <a:extLst>
                <a:ext uri="{FF2B5EF4-FFF2-40B4-BE49-F238E27FC236}">
                  <a16:creationId xmlns:a16="http://schemas.microsoft.com/office/drawing/2014/main" id="{727BAB6A-DCB9-7A4E-05FC-3EA9F5594C0B}"/>
                </a:ext>
              </a:extLst>
            </p:cNvPr>
            <p:cNvSpPr txBox="1"/>
            <p:nvPr/>
          </p:nvSpPr>
          <p:spPr>
            <a:xfrm>
              <a:off x="350439" y="120418"/>
              <a:ext cx="5112297"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1" dirty="0">
                  <a:solidFill>
                    <a:prstClr val="white"/>
                  </a:solidFill>
                  <a:cs typeface="+mn-ea"/>
                  <a:sym typeface="+mn-lt"/>
                </a:rPr>
                <a:t>长短期记忆神经网络（</a:t>
              </a:r>
              <a:r>
                <a:rPr lang="en-US" altLang="zh-CN" sz="2800" b="1" dirty="0">
                  <a:solidFill>
                    <a:prstClr val="white"/>
                  </a:solidFill>
                  <a:cs typeface="+mn-ea"/>
                  <a:sym typeface="+mn-lt"/>
                </a:rPr>
                <a:t>LSTM</a:t>
              </a:r>
              <a:r>
                <a:rPr lang="zh-CN" altLang="en-US" sz="2800" b="1" dirty="0">
                  <a:solidFill>
                    <a:prstClr val="white"/>
                  </a:solidFill>
                  <a:cs typeface="+mn-ea"/>
                  <a:sym typeface="+mn-lt"/>
                </a:rPr>
                <a:t>）</a:t>
              </a:r>
              <a:endParaRPr kumimoji="0" lang="zh-CN" altLang="en-US" sz="2800" b="1" i="0" u="none" strike="noStrike" kern="1200" cap="none" spc="0" normalizeH="0" baseline="0" noProof="0" dirty="0">
                <a:ln>
                  <a:noFill/>
                </a:ln>
                <a:solidFill>
                  <a:prstClr val="white"/>
                </a:solidFill>
                <a:effectLst/>
                <a:uLnTx/>
                <a:uFillTx/>
                <a:cs typeface="+mn-ea"/>
                <a:sym typeface="+mn-lt"/>
              </a:endParaRPr>
            </a:p>
          </p:txBody>
        </p:sp>
      </p:grpSp>
      <p:sp>
        <p:nvSpPr>
          <p:cNvPr id="2" name="object 5">
            <a:extLst>
              <a:ext uri="{FF2B5EF4-FFF2-40B4-BE49-F238E27FC236}">
                <a16:creationId xmlns:a16="http://schemas.microsoft.com/office/drawing/2014/main" id="{EE0F8C11-7A9B-5AC8-F4E0-E7444CF188F4}"/>
              </a:ext>
            </a:extLst>
          </p:cNvPr>
          <p:cNvSpPr txBox="1"/>
          <p:nvPr/>
        </p:nvSpPr>
        <p:spPr>
          <a:xfrm>
            <a:off x="1103546" y="5901372"/>
            <a:ext cx="10534650" cy="821055"/>
          </a:xfrm>
          <a:prstGeom prst="rect">
            <a:avLst/>
          </a:prstGeom>
        </p:spPr>
        <p:txBody>
          <a:bodyPr vert="horz" wrap="square" lIns="0" tIns="6350" rIns="0" bIns="0" rtlCol="0">
            <a:spAutoFit/>
          </a:bodyPr>
          <a:lstStyle/>
          <a:p>
            <a:pPr marL="563880" marR="5080" indent="2124710" algn="r">
              <a:lnSpc>
                <a:spcPct val="103099"/>
              </a:lnSpc>
              <a:spcBef>
                <a:spcPts val="50"/>
              </a:spcBef>
            </a:pPr>
            <a:r>
              <a:rPr sz="1300" spc="-45" dirty="0">
                <a:latin typeface="Calibri" panose="020F0502020204030204" pitchFamily="34" charset="0"/>
                <a:cs typeface="Calibri" panose="020F0502020204030204" pitchFamily="34" charset="0"/>
              </a:rPr>
              <a:t>Hochreiter</a:t>
            </a:r>
            <a:r>
              <a:rPr sz="1300" spc="-40" dirty="0">
                <a:latin typeface="Calibri" panose="020F0502020204030204" pitchFamily="34" charset="0"/>
                <a:cs typeface="Calibri" panose="020F0502020204030204" pitchFamily="34" charset="0"/>
              </a:rPr>
              <a:t> </a:t>
            </a:r>
            <a:r>
              <a:rPr sz="1300" spc="-70" dirty="0">
                <a:latin typeface="Calibri" panose="020F0502020204030204" pitchFamily="34" charset="0"/>
                <a:cs typeface="Calibri" panose="020F0502020204030204" pitchFamily="34" charset="0"/>
              </a:rPr>
              <a:t>and</a:t>
            </a:r>
            <a:r>
              <a:rPr sz="1300" spc="-25" dirty="0">
                <a:latin typeface="Calibri" panose="020F0502020204030204" pitchFamily="34" charset="0"/>
                <a:cs typeface="Calibri" panose="020F0502020204030204" pitchFamily="34" charset="0"/>
              </a:rPr>
              <a:t> </a:t>
            </a:r>
            <a:r>
              <a:rPr sz="1300" spc="-75" dirty="0">
                <a:latin typeface="Calibri" panose="020F0502020204030204" pitchFamily="34" charset="0"/>
                <a:cs typeface="Calibri" panose="020F0502020204030204" pitchFamily="34" charset="0"/>
              </a:rPr>
              <a:t>Schmidhuber,</a:t>
            </a:r>
            <a:r>
              <a:rPr sz="1300" spc="-25" dirty="0">
                <a:latin typeface="Calibri" panose="020F0502020204030204" pitchFamily="34" charset="0"/>
                <a:cs typeface="Calibri" panose="020F0502020204030204" pitchFamily="34" charset="0"/>
              </a:rPr>
              <a:t> </a:t>
            </a:r>
            <a:r>
              <a:rPr sz="1300" spc="-60" dirty="0">
                <a:latin typeface="Calibri" panose="020F0502020204030204" pitchFamily="34" charset="0"/>
                <a:cs typeface="Calibri" panose="020F0502020204030204" pitchFamily="34" charset="0"/>
              </a:rPr>
              <a:t>1997.</a:t>
            </a:r>
            <a:r>
              <a:rPr sz="1300" spc="-30" dirty="0">
                <a:latin typeface="Calibri" panose="020F0502020204030204" pitchFamily="34" charset="0"/>
                <a:cs typeface="Calibri" panose="020F0502020204030204" pitchFamily="34" charset="0"/>
              </a:rPr>
              <a:t> </a:t>
            </a:r>
            <a:r>
              <a:rPr sz="1300" spc="-105" dirty="0">
                <a:latin typeface="Calibri" panose="020F0502020204030204" pitchFamily="34" charset="0"/>
                <a:cs typeface="Calibri" panose="020F0502020204030204" pitchFamily="34" charset="0"/>
              </a:rPr>
              <a:t>Long</a:t>
            </a:r>
            <a:r>
              <a:rPr sz="1300" spc="-30" dirty="0">
                <a:latin typeface="Calibri" panose="020F0502020204030204" pitchFamily="34" charset="0"/>
                <a:cs typeface="Calibri" panose="020F0502020204030204" pitchFamily="34" charset="0"/>
              </a:rPr>
              <a:t> </a:t>
            </a:r>
            <a:r>
              <a:rPr sz="1300" spc="-45" dirty="0">
                <a:latin typeface="Calibri" panose="020F0502020204030204" pitchFamily="34" charset="0"/>
                <a:cs typeface="Calibri" panose="020F0502020204030204" pitchFamily="34" charset="0"/>
              </a:rPr>
              <a:t>short-</a:t>
            </a:r>
            <a:r>
              <a:rPr sz="1300" spc="-20" dirty="0">
                <a:latin typeface="Calibri" panose="020F0502020204030204" pitchFamily="34" charset="0"/>
                <a:cs typeface="Calibri" panose="020F0502020204030204" pitchFamily="34" charset="0"/>
              </a:rPr>
              <a:t>term</a:t>
            </a:r>
            <a:r>
              <a:rPr sz="1300" spc="-30" dirty="0">
                <a:latin typeface="Calibri" panose="020F0502020204030204" pitchFamily="34" charset="0"/>
                <a:cs typeface="Calibri" panose="020F0502020204030204" pitchFamily="34" charset="0"/>
              </a:rPr>
              <a:t> </a:t>
            </a:r>
            <a:r>
              <a:rPr sz="1300" spc="-65" dirty="0">
                <a:latin typeface="Calibri" panose="020F0502020204030204" pitchFamily="34" charset="0"/>
                <a:cs typeface="Calibri" panose="020F0502020204030204" pitchFamily="34" charset="0"/>
              </a:rPr>
              <a:t>memory.</a:t>
            </a:r>
            <a:r>
              <a:rPr sz="1300" spc="-30" dirty="0">
                <a:latin typeface="Calibri" panose="020F0502020204030204" pitchFamily="34" charset="0"/>
                <a:cs typeface="Calibri" panose="020F0502020204030204" pitchFamily="34" charset="0"/>
              </a:rPr>
              <a:t> </a:t>
            </a:r>
            <a:r>
              <a:rPr sz="1300" u="sng" spc="-10" dirty="0">
                <a:uFill>
                  <a:solidFill>
                    <a:srgbClr val="4198B5"/>
                  </a:solidFill>
                </a:uFill>
                <a:latin typeface="Calibri" panose="020F0502020204030204" pitchFamily="34" charset="0"/>
                <a:cs typeface="Calibri" panose="020F0502020204030204" pitchFamily="34" charset="0"/>
              </a:rPr>
              <a:t>https://</a:t>
            </a:r>
            <a:r>
              <a:rPr sz="1300" u="sng" spc="-10" dirty="0">
                <a:uFill>
                  <a:solidFill>
                    <a:srgbClr val="4198B5"/>
                  </a:solidFill>
                </a:uFill>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www.bioinf.jku.at/publications/older/2604.pdf</a:t>
            </a:r>
            <a:r>
              <a:rPr sz="1300" spc="-10" dirty="0">
                <a:latin typeface="Calibri" panose="020F0502020204030204" pitchFamily="34" charset="0"/>
                <a:cs typeface="Calibri" panose="020F0502020204030204" pitchFamily="34" charset="0"/>
              </a:rPr>
              <a:t> </a:t>
            </a:r>
            <a:r>
              <a:rPr sz="1300" spc="-95" dirty="0">
                <a:latin typeface="Calibri" panose="020F0502020204030204" pitchFamily="34" charset="0"/>
                <a:cs typeface="Calibri" panose="020F0502020204030204" pitchFamily="34" charset="0"/>
              </a:rPr>
              <a:t>Gers,</a:t>
            </a:r>
            <a:r>
              <a:rPr sz="1300" spc="-45" dirty="0">
                <a:latin typeface="Calibri" panose="020F0502020204030204" pitchFamily="34" charset="0"/>
                <a:cs typeface="Calibri" panose="020F0502020204030204" pitchFamily="34" charset="0"/>
              </a:rPr>
              <a:t> </a:t>
            </a:r>
            <a:r>
              <a:rPr sz="1300" spc="-75" dirty="0">
                <a:latin typeface="Calibri" panose="020F0502020204030204" pitchFamily="34" charset="0"/>
                <a:cs typeface="Calibri" panose="020F0502020204030204" pitchFamily="34" charset="0"/>
              </a:rPr>
              <a:t>Schmidhuber,</a:t>
            </a:r>
            <a:r>
              <a:rPr sz="1300" spc="-35" dirty="0">
                <a:latin typeface="Calibri" panose="020F0502020204030204" pitchFamily="34" charset="0"/>
                <a:cs typeface="Calibri" panose="020F0502020204030204" pitchFamily="34" charset="0"/>
              </a:rPr>
              <a:t> </a:t>
            </a:r>
            <a:r>
              <a:rPr sz="1300" spc="-70" dirty="0">
                <a:latin typeface="Calibri" panose="020F0502020204030204" pitchFamily="34" charset="0"/>
                <a:cs typeface="Calibri" panose="020F0502020204030204" pitchFamily="34" charset="0"/>
              </a:rPr>
              <a:t>and</a:t>
            </a:r>
            <a:r>
              <a:rPr sz="1300" spc="-35" dirty="0">
                <a:latin typeface="Calibri" panose="020F0502020204030204" pitchFamily="34" charset="0"/>
                <a:cs typeface="Calibri" panose="020F0502020204030204" pitchFamily="34" charset="0"/>
              </a:rPr>
              <a:t> </a:t>
            </a:r>
            <a:r>
              <a:rPr sz="1300" spc="-85" dirty="0">
                <a:latin typeface="Calibri" panose="020F0502020204030204" pitchFamily="34" charset="0"/>
                <a:cs typeface="Calibri" panose="020F0502020204030204" pitchFamily="34" charset="0"/>
              </a:rPr>
              <a:t>Cummins,</a:t>
            </a:r>
            <a:r>
              <a:rPr sz="1300" spc="-45" dirty="0">
                <a:latin typeface="Calibri" panose="020F0502020204030204" pitchFamily="34" charset="0"/>
                <a:cs typeface="Calibri" panose="020F0502020204030204" pitchFamily="34" charset="0"/>
              </a:rPr>
              <a:t> </a:t>
            </a:r>
            <a:r>
              <a:rPr sz="1300" spc="-60" dirty="0">
                <a:latin typeface="Calibri" panose="020F0502020204030204" pitchFamily="34" charset="0"/>
                <a:cs typeface="Calibri" panose="020F0502020204030204" pitchFamily="34" charset="0"/>
              </a:rPr>
              <a:t>2000.</a:t>
            </a:r>
            <a:r>
              <a:rPr sz="1300" spc="-40" dirty="0">
                <a:latin typeface="Calibri" panose="020F0502020204030204" pitchFamily="34" charset="0"/>
                <a:cs typeface="Calibri" panose="020F0502020204030204" pitchFamily="34" charset="0"/>
              </a:rPr>
              <a:t> </a:t>
            </a:r>
            <a:r>
              <a:rPr sz="1300" spc="-70" dirty="0">
                <a:latin typeface="Calibri" panose="020F0502020204030204" pitchFamily="34" charset="0"/>
                <a:cs typeface="Calibri" panose="020F0502020204030204" pitchFamily="34" charset="0"/>
              </a:rPr>
              <a:t>Learning</a:t>
            </a:r>
            <a:r>
              <a:rPr sz="1300" spc="-40" dirty="0">
                <a:latin typeface="Calibri" panose="020F0502020204030204" pitchFamily="34" charset="0"/>
                <a:cs typeface="Calibri" panose="020F0502020204030204" pitchFamily="34" charset="0"/>
              </a:rPr>
              <a:t> </a:t>
            </a:r>
            <a:r>
              <a:rPr sz="1300" dirty="0">
                <a:latin typeface="Calibri" panose="020F0502020204030204" pitchFamily="34" charset="0"/>
                <a:cs typeface="Calibri" panose="020F0502020204030204" pitchFamily="34" charset="0"/>
              </a:rPr>
              <a:t>to</a:t>
            </a:r>
            <a:r>
              <a:rPr sz="1300" spc="-40" dirty="0">
                <a:latin typeface="Calibri" panose="020F0502020204030204" pitchFamily="34" charset="0"/>
                <a:cs typeface="Calibri" panose="020F0502020204030204" pitchFamily="34" charset="0"/>
              </a:rPr>
              <a:t> </a:t>
            </a:r>
            <a:r>
              <a:rPr sz="1300" spc="-65" dirty="0">
                <a:latin typeface="Calibri" panose="020F0502020204030204" pitchFamily="34" charset="0"/>
                <a:cs typeface="Calibri" panose="020F0502020204030204" pitchFamily="34" charset="0"/>
              </a:rPr>
              <a:t>Forget:</a:t>
            </a:r>
            <a:r>
              <a:rPr sz="1300" spc="-35" dirty="0">
                <a:latin typeface="Calibri" panose="020F0502020204030204" pitchFamily="34" charset="0"/>
                <a:cs typeface="Calibri" panose="020F0502020204030204" pitchFamily="34" charset="0"/>
              </a:rPr>
              <a:t> </a:t>
            </a:r>
            <a:r>
              <a:rPr sz="1300" spc="-55" dirty="0">
                <a:latin typeface="Calibri" panose="020F0502020204030204" pitchFamily="34" charset="0"/>
                <a:cs typeface="Calibri" panose="020F0502020204030204" pitchFamily="34" charset="0"/>
              </a:rPr>
              <a:t>Continual</a:t>
            </a:r>
            <a:r>
              <a:rPr sz="1300" spc="-35" dirty="0">
                <a:latin typeface="Calibri" panose="020F0502020204030204" pitchFamily="34" charset="0"/>
                <a:cs typeface="Calibri" panose="020F0502020204030204" pitchFamily="34" charset="0"/>
              </a:rPr>
              <a:t> </a:t>
            </a:r>
            <a:r>
              <a:rPr sz="1300" spc="-50" dirty="0">
                <a:latin typeface="Calibri" panose="020F0502020204030204" pitchFamily="34" charset="0"/>
                <a:cs typeface="Calibri" panose="020F0502020204030204" pitchFamily="34" charset="0"/>
              </a:rPr>
              <a:t>Prediction</a:t>
            </a:r>
            <a:r>
              <a:rPr sz="1300" spc="-35" dirty="0">
                <a:latin typeface="Calibri" panose="020F0502020204030204" pitchFamily="34" charset="0"/>
                <a:cs typeface="Calibri" panose="020F0502020204030204" pitchFamily="34" charset="0"/>
              </a:rPr>
              <a:t> </a:t>
            </a:r>
            <a:r>
              <a:rPr sz="1300" dirty="0">
                <a:latin typeface="Calibri" panose="020F0502020204030204" pitchFamily="34" charset="0"/>
                <a:cs typeface="Calibri" panose="020F0502020204030204" pitchFamily="34" charset="0"/>
              </a:rPr>
              <a:t>with</a:t>
            </a:r>
            <a:r>
              <a:rPr sz="1300" spc="-40" dirty="0">
                <a:latin typeface="Calibri" panose="020F0502020204030204" pitchFamily="34" charset="0"/>
                <a:cs typeface="Calibri" panose="020F0502020204030204" pitchFamily="34" charset="0"/>
              </a:rPr>
              <a:t> </a:t>
            </a:r>
            <a:r>
              <a:rPr sz="1300" spc="-130" dirty="0">
                <a:latin typeface="Calibri" panose="020F0502020204030204" pitchFamily="34" charset="0"/>
                <a:cs typeface="Calibri" panose="020F0502020204030204" pitchFamily="34" charset="0"/>
              </a:rPr>
              <a:t>LSTM.</a:t>
            </a:r>
            <a:r>
              <a:rPr sz="1300" spc="-35" dirty="0">
                <a:latin typeface="Calibri" panose="020F0502020204030204" pitchFamily="34" charset="0"/>
                <a:cs typeface="Calibri" panose="020F0502020204030204" pitchFamily="34" charset="0"/>
              </a:rPr>
              <a:t> </a:t>
            </a:r>
            <a:r>
              <a:rPr sz="1300" u="sng" spc="-25" dirty="0">
                <a:uFill>
                  <a:solidFill>
                    <a:srgbClr val="4198B5"/>
                  </a:solidFill>
                </a:uFill>
                <a:latin typeface="Calibri" panose="020F0502020204030204" pitchFamily="34" charset="0"/>
                <a:cs typeface="Calibri" panose="020F0502020204030204" pitchFamily="34" charset="0"/>
              </a:rPr>
              <a:t>https://dl.acm.org/doi/10.1162/089976600300015015</a:t>
            </a:r>
            <a:endParaRPr sz="1300" dirty="0">
              <a:latin typeface="Calibri" panose="020F0502020204030204" pitchFamily="34" charset="0"/>
              <a:cs typeface="Calibri" panose="020F0502020204030204" pitchFamily="34" charset="0"/>
            </a:endParaRPr>
          </a:p>
          <a:p>
            <a:pPr marR="6985" algn="r">
              <a:lnSpc>
                <a:spcPts val="1490"/>
              </a:lnSpc>
            </a:pPr>
            <a:r>
              <a:rPr sz="1300" spc="-100" dirty="0">
                <a:latin typeface="Calibri" panose="020F0502020204030204" pitchFamily="34" charset="0"/>
                <a:cs typeface="Calibri" panose="020F0502020204030204" pitchFamily="34" charset="0"/>
              </a:rPr>
              <a:t>Graves,</a:t>
            </a:r>
            <a:r>
              <a:rPr sz="1300" spc="-30" dirty="0">
                <a:latin typeface="Calibri" panose="020F0502020204030204" pitchFamily="34" charset="0"/>
                <a:cs typeface="Calibri" panose="020F0502020204030204" pitchFamily="34" charset="0"/>
              </a:rPr>
              <a:t> </a:t>
            </a:r>
            <a:r>
              <a:rPr sz="1300" spc="-85" dirty="0">
                <a:latin typeface="Calibri" panose="020F0502020204030204" pitchFamily="34" charset="0"/>
                <a:cs typeface="Calibri" panose="020F0502020204030204" pitchFamily="34" charset="0"/>
              </a:rPr>
              <a:t>Fernandez,</a:t>
            </a:r>
            <a:r>
              <a:rPr sz="1300" spc="-30" dirty="0">
                <a:latin typeface="Calibri" panose="020F0502020204030204" pitchFamily="34" charset="0"/>
                <a:cs typeface="Calibri" panose="020F0502020204030204" pitchFamily="34" charset="0"/>
              </a:rPr>
              <a:t> </a:t>
            </a:r>
            <a:r>
              <a:rPr sz="1300" spc="-95" dirty="0">
                <a:latin typeface="Calibri" panose="020F0502020204030204" pitchFamily="34" charset="0"/>
                <a:cs typeface="Calibri" panose="020F0502020204030204" pitchFamily="34" charset="0"/>
              </a:rPr>
              <a:t>Gomez,</a:t>
            </a:r>
            <a:r>
              <a:rPr sz="1300" spc="-30" dirty="0">
                <a:latin typeface="Calibri" panose="020F0502020204030204" pitchFamily="34" charset="0"/>
                <a:cs typeface="Calibri" panose="020F0502020204030204" pitchFamily="34" charset="0"/>
              </a:rPr>
              <a:t> </a:t>
            </a:r>
            <a:r>
              <a:rPr sz="1300" spc="-70" dirty="0">
                <a:latin typeface="Calibri" panose="020F0502020204030204" pitchFamily="34" charset="0"/>
                <a:cs typeface="Calibri" panose="020F0502020204030204" pitchFamily="34" charset="0"/>
              </a:rPr>
              <a:t>and</a:t>
            </a:r>
            <a:r>
              <a:rPr sz="1300" spc="-30" dirty="0">
                <a:latin typeface="Calibri" panose="020F0502020204030204" pitchFamily="34" charset="0"/>
                <a:cs typeface="Calibri" panose="020F0502020204030204" pitchFamily="34" charset="0"/>
              </a:rPr>
              <a:t> </a:t>
            </a:r>
            <a:r>
              <a:rPr sz="1300" spc="-75" dirty="0">
                <a:latin typeface="Calibri" panose="020F0502020204030204" pitchFamily="34" charset="0"/>
                <a:cs typeface="Calibri" panose="020F0502020204030204" pitchFamily="34" charset="0"/>
              </a:rPr>
              <a:t>Schmidhuber,</a:t>
            </a:r>
            <a:r>
              <a:rPr sz="1300" spc="-35" dirty="0">
                <a:latin typeface="Calibri" panose="020F0502020204030204" pitchFamily="34" charset="0"/>
                <a:cs typeface="Calibri" panose="020F0502020204030204" pitchFamily="34" charset="0"/>
              </a:rPr>
              <a:t> </a:t>
            </a:r>
            <a:r>
              <a:rPr sz="1300" spc="-60" dirty="0">
                <a:latin typeface="Calibri" panose="020F0502020204030204" pitchFamily="34" charset="0"/>
                <a:cs typeface="Calibri" panose="020F0502020204030204" pitchFamily="34" charset="0"/>
              </a:rPr>
              <a:t>2006.</a:t>
            </a:r>
            <a:r>
              <a:rPr sz="1300" spc="-35" dirty="0">
                <a:latin typeface="Calibri" panose="020F0502020204030204" pitchFamily="34" charset="0"/>
                <a:cs typeface="Calibri" panose="020F0502020204030204" pitchFamily="34" charset="0"/>
              </a:rPr>
              <a:t> </a:t>
            </a:r>
            <a:r>
              <a:rPr sz="1300" spc="-55" dirty="0">
                <a:latin typeface="Calibri" panose="020F0502020204030204" pitchFamily="34" charset="0"/>
                <a:cs typeface="Calibri" panose="020F0502020204030204" pitchFamily="34" charset="0"/>
              </a:rPr>
              <a:t>Connectionist</a:t>
            </a:r>
            <a:r>
              <a:rPr sz="1300" spc="-30" dirty="0">
                <a:latin typeface="Calibri" panose="020F0502020204030204" pitchFamily="34" charset="0"/>
                <a:cs typeface="Calibri" panose="020F0502020204030204" pitchFamily="34" charset="0"/>
              </a:rPr>
              <a:t> </a:t>
            </a:r>
            <a:r>
              <a:rPr sz="1300" spc="-40" dirty="0">
                <a:latin typeface="Calibri" panose="020F0502020204030204" pitchFamily="34" charset="0"/>
                <a:cs typeface="Calibri" panose="020F0502020204030204" pitchFamily="34" charset="0"/>
              </a:rPr>
              <a:t>temporal</a:t>
            </a:r>
            <a:r>
              <a:rPr sz="1300" spc="-30" dirty="0">
                <a:latin typeface="Calibri" panose="020F0502020204030204" pitchFamily="34" charset="0"/>
                <a:cs typeface="Calibri" panose="020F0502020204030204" pitchFamily="34" charset="0"/>
              </a:rPr>
              <a:t> </a:t>
            </a:r>
            <a:r>
              <a:rPr sz="1300" spc="-50" dirty="0">
                <a:latin typeface="Calibri" panose="020F0502020204030204" pitchFamily="34" charset="0"/>
                <a:cs typeface="Calibri" panose="020F0502020204030204" pitchFamily="34" charset="0"/>
              </a:rPr>
              <a:t>classification:</a:t>
            </a:r>
            <a:r>
              <a:rPr sz="1300" spc="-30" dirty="0">
                <a:latin typeface="Calibri" panose="020F0502020204030204" pitchFamily="34" charset="0"/>
                <a:cs typeface="Calibri" panose="020F0502020204030204" pitchFamily="34" charset="0"/>
              </a:rPr>
              <a:t> </a:t>
            </a:r>
            <a:r>
              <a:rPr sz="1300" spc="-65" dirty="0">
                <a:latin typeface="Calibri" panose="020F0502020204030204" pitchFamily="34" charset="0"/>
                <a:cs typeface="Calibri" panose="020F0502020204030204" pitchFamily="34" charset="0"/>
              </a:rPr>
              <a:t>Labelling</a:t>
            </a:r>
            <a:r>
              <a:rPr sz="1300" spc="-35" dirty="0">
                <a:latin typeface="Calibri" panose="020F0502020204030204" pitchFamily="34" charset="0"/>
                <a:cs typeface="Calibri" panose="020F0502020204030204" pitchFamily="34" charset="0"/>
              </a:rPr>
              <a:t> </a:t>
            </a:r>
            <a:r>
              <a:rPr sz="1300" spc="-65" dirty="0">
                <a:latin typeface="Calibri" panose="020F0502020204030204" pitchFamily="34" charset="0"/>
                <a:cs typeface="Calibri" panose="020F0502020204030204" pitchFamily="34" charset="0"/>
              </a:rPr>
              <a:t>unsegmented</a:t>
            </a:r>
            <a:r>
              <a:rPr sz="1300" spc="-30" dirty="0">
                <a:latin typeface="Calibri" panose="020F0502020204030204" pitchFamily="34" charset="0"/>
                <a:cs typeface="Calibri" panose="020F0502020204030204" pitchFamily="34" charset="0"/>
              </a:rPr>
              <a:t> </a:t>
            </a:r>
            <a:r>
              <a:rPr sz="1300" spc="-80" dirty="0">
                <a:latin typeface="Calibri" panose="020F0502020204030204" pitchFamily="34" charset="0"/>
                <a:cs typeface="Calibri" panose="020F0502020204030204" pitchFamily="34" charset="0"/>
              </a:rPr>
              <a:t>sequence</a:t>
            </a:r>
            <a:r>
              <a:rPr sz="1300" spc="-30" dirty="0">
                <a:latin typeface="Calibri" panose="020F0502020204030204" pitchFamily="34" charset="0"/>
                <a:cs typeface="Calibri" panose="020F0502020204030204" pitchFamily="34" charset="0"/>
              </a:rPr>
              <a:t> </a:t>
            </a:r>
            <a:r>
              <a:rPr sz="1300" spc="-50" dirty="0">
                <a:latin typeface="Calibri" panose="020F0502020204030204" pitchFamily="34" charset="0"/>
                <a:cs typeface="Calibri" panose="020F0502020204030204" pitchFamily="34" charset="0"/>
              </a:rPr>
              <a:t>data</a:t>
            </a:r>
            <a:r>
              <a:rPr sz="1300" spc="-30" dirty="0">
                <a:latin typeface="Calibri" panose="020F0502020204030204" pitchFamily="34" charset="0"/>
                <a:cs typeface="Calibri" panose="020F0502020204030204" pitchFamily="34" charset="0"/>
              </a:rPr>
              <a:t> </a:t>
            </a:r>
            <a:r>
              <a:rPr sz="1300" dirty="0">
                <a:latin typeface="Calibri" panose="020F0502020204030204" pitchFamily="34" charset="0"/>
                <a:cs typeface="Calibri" panose="020F0502020204030204" pitchFamily="34" charset="0"/>
              </a:rPr>
              <a:t>with</a:t>
            </a:r>
            <a:r>
              <a:rPr sz="1300" spc="-30" dirty="0">
                <a:latin typeface="Calibri" panose="020F0502020204030204" pitchFamily="34" charset="0"/>
                <a:cs typeface="Calibri" panose="020F0502020204030204" pitchFamily="34" charset="0"/>
              </a:rPr>
              <a:t> </a:t>
            </a:r>
            <a:r>
              <a:rPr sz="1300" spc="-35" dirty="0">
                <a:latin typeface="Calibri" panose="020F0502020204030204" pitchFamily="34" charset="0"/>
                <a:cs typeface="Calibri" panose="020F0502020204030204" pitchFamily="34" charset="0"/>
              </a:rPr>
              <a:t>recurrent</a:t>
            </a:r>
            <a:r>
              <a:rPr sz="1300" spc="-30" dirty="0">
                <a:latin typeface="Calibri" panose="020F0502020204030204" pitchFamily="34" charset="0"/>
                <a:cs typeface="Calibri" panose="020F0502020204030204" pitchFamily="34" charset="0"/>
              </a:rPr>
              <a:t> </a:t>
            </a:r>
            <a:r>
              <a:rPr sz="1300" spc="-50" dirty="0">
                <a:latin typeface="Calibri" panose="020F0502020204030204" pitchFamily="34" charset="0"/>
                <a:cs typeface="Calibri" panose="020F0502020204030204" pitchFamily="34" charset="0"/>
              </a:rPr>
              <a:t>neural</a:t>
            </a:r>
            <a:r>
              <a:rPr sz="1300" spc="-30" dirty="0">
                <a:latin typeface="Calibri" panose="020F0502020204030204" pitchFamily="34" charset="0"/>
                <a:cs typeface="Calibri" panose="020F0502020204030204" pitchFamily="34" charset="0"/>
              </a:rPr>
              <a:t> </a:t>
            </a:r>
            <a:r>
              <a:rPr sz="1300" spc="-10" dirty="0">
                <a:latin typeface="Calibri" panose="020F0502020204030204" pitchFamily="34" charset="0"/>
                <a:cs typeface="Calibri" panose="020F0502020204030204" pitchFamily="34" charset="0"/>
              </a:rPr>
              <a:t>nets.</a:t>
            </a:r>
            <a:endParaRPr sz="1300" dirty="0">
              <a:latin typeface="Calibri" panose="020F0502020204030204" pitchFamily="34" charset="0"/>
              <a:cs typeface="Calibri" panose="020F0502020204030204" pitchFamily="34" charset="0"/>
            </a:endParaRPr>
          </a:p>
          <a:p>
            <a:pPr marR="5715" algn="r">
              <a:lnSpc>
                <a:spcPct val="100000"/>
              </a:lnSpc>
              <a:spcBef>
                <a:spcPts val="50"/>
              </a:spcBef>
            </a:pPr>
            <a:r>
              <a:rPr sz="1300" u="sng" spc="-20" dirty="0">
                <a:uFill>
                  <a:solidFill>
                    <a:srgbClr val="4198B5"/>
                  </a:solidFill>
                </a:uFill>
                <a:latin typeface="Calibri" panose="020F0502020204030204" pitchFamily="34" charset="0"/>
                <a:cs typeface="Calibri" panose="020F0502020204030204" pitchFamily="34" charset="0"/>
              </a:rPr>
              <a:t>https://</a:t>
            </a:r>
            <a:r>
              <a:rPr sz="1300" u="sng" spc="-20" dirty="0">
                <a:uFill>
                  <a:solidFill>
                    <a:srgbClr val="4198B5"/>
                  </a:solidFill>
                </a:uFill>
                <a:latin typeface="Calibri" panose="020F0502020204030204" pitchFamily="34" charset="0"/>
                <a:cs typeface="Calibri" panose="020F0502020204030204" pitchFamily="34" charset="0"/>
                <a:hlinkClick r:id="rId4">
                  <a:extLst>
                    <a:ext uri="{A12FA001-AC4F-418D-AE19-62706E023703}">
                      <ahyp:hlinkClr xmlns:ahyp="http://schemas.microsoft.com/office/drawing/2018/hyperlinkcolor" val="tx"/>
                    </a:ext>
                  </a:extLst>
                </a:hlinkClick>
              </a:rPr>
              <a:t>www.cs.toronto.edu/~graves/icml_2006.pdf</a:t>
            </a:r>
            <a:endParaRPr sz="1300" dirty="0">
              <a:latin typeface="Calibri" panose="020F0502020204030204" pitchFamily="34" charset="0"/>
              <a:cs typeface="Calibri" panose="020F0502020204030204" pitchFamily="34" charset="0"/>
            </a:endParaRPr>
          </a:p>
        </p:txBody>
      </p:sp>
      <p:sp>
        <p:nvSpPr>
          <p:cNvPr id="4" name="Content Placeholder 7">
            <a:extLst>
              <a:ext uri="{FF2B5EF4-FFF2-40B4-BE49-F238E27FC236}">
                <a16:creationId xmlns:a16="http://schemas.microsoft.com/office/drawing/2014/main" id="{E7D0DB5C-B6A1-C3B5-86C8-EB27BB2C7672}"/>
              </a:ext>
            </a:extLst>
          </p:cNvPr>
          <p:cNvSpPr>
            <a:spLocks noGrp="1"/>
          </p:cNvSpPr>
          <p:nvPr>
            <p:ph idx="1"/>
          </p:nvPr>
        </p:nvSpPr>
        <p:spPr>
          <a:xfrm>
            <a:off x="567744" y="841567"/>
            <a:ext cx="11070452" cy="5058453"/>
          </a:xfrm>
        </p:spPr>
        <p:txBody>
          <a:bodyPr>
            <a:noAutofit/>
          </a:bodyPr>
          <a:lstStyle/>
          <a:p>
            <a:pPr indent="-457200" algn="just">
              <a:lnSpc>
                <a:spcPct val="100000"/>
              </a:lnSpc>
              <a:buFont typeface="Wingdings" panose="05000000000000000000" pitchFamily="2" charset="2"/>
              <a:buChar char="p"/>
              <a:defRPr/>
            </a:pPr>
            <a:r>
              <a:rPr lang="en-US" dirty="0"/>
              <a:t>Hochreiter </a:t>
            </a:r>
            <a:r>
              <a:rPr lang="zh-CN" altLang="en-US" dirty="0"/>
              <a:t>和 </a:t>
            </a:r>
            <a:r>
              <a:rPr lang="en-US" dirty="0" err="1"/>
              <a:t>Schmidhuber</a:t>
            </a:r>
            <a:r>
              <a:rPr lang="en-US" dirty="0"/>
              <a:t> </a:t>
            </a:r>
            <a:r>
              <a:rPr lang="zh-CN" altLang="en-US" dirty="0"/>
              <a:t>在 </a:t>
            </a:r>
            <a:r>
              <a:rPr lang="en-US" altLang="zh-CN" dirty="0"/>
              <a:t>1997 </a:t>
            </a:r>
            <a:r>
              <a:rPr lang="zh-CN" altLang="en-US" dirty="0"/>
              <a:t>年提出了一种 </a:t>
            </a:r>
            <a:r>
              <a:rPr lang="en-US" dirty="0"/>
              <a:t>RNN </a:t>
            </a:r>
            <a:r>
              <a:rPr lang="zh-CN" altLang="en-US" dirty="0"/>
              <a:t>的变体，用于解决梯度消失问题，即长短期记忆网络（</a:t>
            </a:r>
            <a:r>
              <a:rPr lang="en-US" dirty="0"/>
              <a:t>LSTM）。</a:t>
            </a:r>
          </a:p>
          <a:p>
            <a:pPr indent="-457200" algn="just">
              <a:lnSpc>
                <a:spcPct val="100000"/>
              </a:lnSpc>
              <a:buFont typeface="Wingdings" panose="05000000000000000000" pitchFamily="2" charset="2"/>
              <a:buChar char="p"/>
              <a:defRPr/>
            </a:pPr>
            <a:endParaRPr lang="en-US" altLang="zh-CN" dirty="0"/>
          </a:p>
          <a:p>
            <a:pPr indent="-457200" algn="just">
              <a:lnSpc>
                <a:spcPct val="150000"/>
              </a:lnSpc>
              <a:buFont typeface="Wingdings" panose="05000000000000000000" pitchFamily="2" charset="2"/>
              <a:buChar char="p"/>
              <a:defRPr/>
            </a:pPr>
            <a:endParaRPr lang="en-US" altLang="zh-CN" dirty="0"/>
          </a:p>
          <a:p>
            <a:pPr indent="-457200" algn="just">
              <a:lnSpc>
                <a:spcPct val="150000"/>
              </a:lnSpc>
              <a:buFont typeface="Wingdings" panose="05000000000000000000" pitchFamily="2" charset="2"/>
              <a:buChar char="p"/>
              <a:defRPr/>
            </a:pPr>
            <a:endParaRPr lang="en-US" altLang="zh-CN" dirty="0"/>
          </a:p>
          <a:p>
            <a:pPr indent="-457200" algn="just">
              <a:lnSpc>
                <a:spcPct val="150000"/>
              </a:lnSpc>
              <a:buFont typeface="Wingdings" panose="05000000000000000000" pitchFamily="2" charset="2"/>
              <a:buChar char="p"/>
              <a:defRPr/>
            </a:pPr>
            <a:endParaRPr lang="en-US" altLang="zh-CN" dirty="0"/>
          </a:p>
          <a:p>
            <a:pPr marL="0" indent="0" algn="just">
              <a:lnSpc>
                <a:spcPct val="150000"/>
              </a:lnSpc>
              <a:buNone/>
              <a:defRPr/>
            </a:pPr>
            <a:endParaRPr lang="en-US" altLang="zh-CN" dirty="0"/>
          </a:p>
          <a:p>
            <a:pPr indent="-457200" algn="just">
              <a:lnSpc>
                <a:spcPct val="100000"/>
              </a:lnSpc>
              <a:buFont typeface="Wingdings" panose="05000000000000000000" pitchFamily="2" charset="2"/>
              <a:buChar char="p"/>
              <a:defRPr/>
            </a:pPr>
            <a:r>
              <a:rPr lang="zh-CN" altLang="en-US" dirty="0"/>
              <a:t>但 </a:t>
            </a:r>
            <a:r>
              <a:rPr lang="en-US" dirty="0"/>
              <a:t>LSTM </a:t>
            </a:r>
            <a:r>
              <a:rPr lang="zh-CN" altLang="en-US" dirty="0"/>
              <a:t>真正变得广为人知，则是 </a:t>
            </a:r>
            <a:r>
              <a:rPr lang="en-US" altLang="zh-CN" dirty="0"/>
              <a:t>2013 </a:t>
            </a:r>
            <a:r>
              <a:rPr lang="zh-CN" altLang="en-US" dirty="0"/>
              <a:t>年 </a:t>
            </a:r>
            <a:r>
              <a:rPr lang="en-US" dirty="0"/>
              <a:t>Hinton </a:t>
            </a:r>
            <a:r>
              <a:rPr lang="zh-CN" altLang="en-US" dirty="0"/>
              <a:t>将其引入谷歌之后， 而 </a:t>
            </a:r>
            <a:r>
              <a:rPr lang="en-US" dirty="0"/>
              <a:t>Alex Graves </a:t>
            </a:r>
            <a:r>
              <a:rPr lang="zh-CN" altLang="en-US" dirty="0"/>
              <a:t>此前曾是 </a:t>
            </a:r>
            <a:r>
              <a:rPr lang="en-US" dirty="0"/>
              <a:t>Hinton </a:t>
            </a:r>
            <a:r>
              <a:rPr lang="zh-CN" altLang="en-US" dirty="0"/>
              <a:t>的博士后研究员。</a:t>
            </a:r>
          </a:p>
        </p:txBody>
      </p:sp>
      <p:grpSp>
        <p:nvGrpSpPr>
          <p:cNvPr id="40" name="Group 39">
            <a:extLst>
              <a:ext uri="{FF2B5EF4-FFF2-40B4-BE49-F238E27FC236}">
                <a16:creationId xmlns:a16="http://schemas.microsoft.com/office/drawing/2014/main" id="{0728B451-152D-EE3E-1C70-6387FCC68139}"/>
              </a:ext>
            </a:extLst>
          </p:cNvPr>
          <p:cNvGrpSpPr/>
          <p:nvPr/>
        </p:nvGrpSpPr>
        <p:grpSpPr>
          <a:xfrm>
            <a:off x="2321834" y="1665094"/>
            <a:ext cx="8346165" cy="2952099"/>
            <a:chOff x="2321834" y="1665094"/>
            <a:chExt cx="8346165" cy="2952099"/>
          </a:xfrm>
        </p:grpSpPr>
        <p:pic>
          <p:nvPicPr>
            <p:cNvPr id="3" name="object 2">
              <a:extLst>
                <a:ext uri="{FF2B5EF4-FFF2-40B4-BE49-F238E27FC236}">
                  <a16:creationId xmlns:a16="http://schemas.microsoft.com/office/drawing/2014/main" id="{1E789FCB-A01F-BCA0-B5D8-D5728E3A0C9B}"/>
                </a:ext>
              </a:extLst>
            </p:cNvPr>
            <p:cNvPicPr/>
            <p:nvPr/>
          </p:nvPicPr>
          <p:blipFill>
            <a:blip r:embed="rId5" cstate="print"/>
            <a:stretch>
              <a:fillRect/>
            </a:stretch>
          </p:blipFill>
          <p:spPr>
            <a:xfrm>
              <a:off x="4814700" y="1665094"/>
              <a:ext cx="2826209" cy="2952099"/>
            </a:xfrm>
            <a:prstGeom prst="rect">
              <a:avLst/>
            </a:prstGeom>
          </p:spPr>
        </p:pic>
        <p:sp>
          <p:nvSpPr>
            <p:cNvPr id="5" name="object 3">
              <a:extLst>
                <a:ext uri="{FF2B5EF4-FFF2-40B4-BE49-F238E27FC236}">
                  <a16:creationId xmlns:a16="http://schemas.microsoft.com/office/drawing/2014/main" id="{D84F1636-6C0C-D011-CEE1-C76522867FBD}"/>
                </a:ext>
              </a:extLst>
            </p:cNvPr>
            <p:cNvSpPr txBox="1"/>
            <p:nvPr/>
          </p:nvSpPr>
          <p:spPr>
            <a:xfrm>
              <a:off x="4446764" y="2675254"/>
              <a:ext cx="353817" cy="289823"/>
            </a:xfrm>
            <a:prstGeom prst="rect">
              <a:avLst/>
            </a:prstGeom>
          </p:spPr>
          <p:txBody>
            <a:bodyPr vert="horz" wrap="square" lIns="0" tIns="12700" rIns="0" bIns="0" rtlCol="0">
              <a:spAutoFit/>
            </a:bodyPr>
            <a:lstStyle/>
            <a:p>
              <a:pPr marL="38100">
                <a:lnSpc>
                  <a:spcPct val="100000"/>
                </a:lnSpc>
                <a:spcBef>
                  <a:spcPts val="100"/>
                </a:spcBef>
              </a:pPr>
              <a:r>
                <a:rPr sz="2700" spc="-89" baseline="9259" dirty="0">
                  <a:latin typeface="Arial"/>
                  <a:cs typeface="Arial"/>
                </a:rPr>
                <a:t>c</a:t>
              </a:r>
              <a:r>
                <a:rPr sz="1200" spc="-60" dirty="0">
                  <a:latin typeface="Arial"/>
                  <a:cs typeface="Arial"/>
                </a:rPr>
                <a:t>t-</a:t>
              </a:r>
              <a:r>
                <a:rPr sz="1200" spc="-50" dirty="0">
                  <a:latin typeface="Arial"/>
                  <a:cs typeface="Arial"/>
                </a:rPr>
                <a:t>1</a:t>
              </a:r>
              <a:endParaRPr sz="1200" dirty="0">
                <a:latin typeface="Arial"/>
                <a:cs typeface="Arial"/>
              </a:endParaRPr>
            </a:p>
          </p:txBody>
        </p:sp>
        <p:sp>
          <p:nvSpPr>
            <p:cNvPr id="6" name="object 4">
              <a:extLst>
                <a:ext uri="{FF2B5EF4-FFF2-40B4-BE49-F238E27FC236}">
                  <a16:creationId xmlns:a16="http://schemas.microsoft.com/office/drawing/2014/main" id="{FC8EEA34-85FF-BC90-989B-BDD5002721EF}"/>
                </a:ext>
              </a:extLst>
            </p:cNvPr>
            <p:cNvSpPr txBox="1"/>
            <p:nvPr/>
          </p:nvSpPr>
          <p:spPr>
            <a:xfrm>
              <a:off x="4313446" y="3510463"/>
              <a:ext cx="495809" cy="288541"/>
            </a:xfrm>
            <a:prstGeom prst="rect">
              <a:avLst/>
            </a:prstGeom>
          </p:spPr>
          <p:txBody>
            <a:bodyPr vert="horz" wrap="square" lIns="0" tIns="12700" rIns="0" bIns="0" rtlCol="0">
              <a:spAutoFit/>
            </a:bodyPr>
            <a:lstStyle/>
            <a:p>
              <a:pPr marL="38100">
                <a:lnSpc>
                  <a:spcPct val="100000"/>
                </a:lnSpc>
                <a:spcBef>
                  <a:spcPts val="100"/>
                </a:spcBef>
              </a:pPr>
              <a:r>
                <a:rPr sz="2700" spc="-52" baseline="9259" dirty="0">
                  <a:latin typeface="Arial"/>
                  <a:cs typeface="Arial"/>
                </a:rPr>
                <a:t>h</a:t>
              </a:r>
              <a:r>
                <a:rPr sz="1200" spc="-35" dirty="0">
                  <a:latin typeface="Arial"/>
                  <a:cs typeface="Arial"/>
                </a:rPr>
                <a:t>t-</a:t>
              </a:r>
              <a:r>
                <a:rPr sz="1200" spc="-50" dirty="0">
                  <a:latin typeface="Arial"/>
                  <a:cs typeface="Arial"/>
                </a:rPr>
                <a:t>1</a:t>
              </a:r>
              <a:endParaRPr sz="1200" dirty="0">
                <a:latin typeface="Arial"/>
                <a:cs typeface="Arial"/>
              </a:endParaRPr>
            </a:p>
          </p:txBody>
        </p:sp>
        <p:sp>
          <p:nvSpPr>
            <p:cNvPr id="11" name="object 5">
              <a:extLst>
                <a:ext uri="{FF2B5EF4-FFF2-40B4-BE49-F238E27FC236}">
                  <a16:creationId xmlns:a16="http://schemas.microsoft.com/office/drawing/2014/main" id="{DB42B2C5-2523-9D23-2093-FA372B9CA250}"/>
                </a:ext>
              </a:extLst>
            </p:cNvPr>
            <p:cNvSpPr txBox="1"/>
            <p:nvPr/>
          </p:nvSpPr>
          <p:spPr>
            <a:xfrm>
              <a:off x="7657613" y="2596795"/>
              <a:ext cx="101765" cy="248875"/>
            </a:xfrm>
            <a:prstGeom prst="rect">
              <a:avLst/>
            </a:prstGeom>
          </p:spPr>
          <p:txBody>
            <a:bodyPr vert="horz" wrap="square" lIns="0" tIns="12700" rIns="0" bIns="0" rtlCol="0">
              <a:spAutoFit/>
            </a:bodyPr>
            <a:lstStyle/>
            <a:p>
              <a:pPr marL="12700">
                <a:lnSpc>
                  <a:spcPct val="100000"/>
                </a:lnSpc>
                <a:spcBef>
                  <a:spcPts val="100"/>
                </a:spcBef>
              </a:pPr>
              <a:r>
                <a:rPr sz="1800" spc="-140" dirty="0">
                  <a:latin typeface="Arial"/>
                  <a:cs typeface="Arial"/>
                </a:rPr>
                <a:t>c</a:t>
              </a:r>
              <a:endParaRPr sz="1800">
                <a:latin typeface="Arial"/>
                <a:cs typeface="Arial"/>
              </a:endParaRPr>
            </a:p>
          </p:txBody>
        </p:sp>
        <p:sp>
          <p:nvSpPr>
            <p:cNvPr id="14" name="object 6">
              <a:extLst>
                <a:ext uri="{FF2B5EF4-FFF2-40B4-BE49-F238E27FC236}">
                  <a16:creationId xmlns:a16="http://schemas.microsoft.com/office/drawing/2014/main" id="{8B0A5A9E-8376-DEB0-7288-6534D1F61664}"/>
                </a:ext>
              </a:extLst>
            </p:cNvPr>
            <p:cNvSpPr txBox="1"/>
            <p:nvPr/>
          </p:nvSpPr>
          <p:spPr>
            <a:xfrm>
              <a:off x="7793970" y="2690095"/>
              <a:ext cx="186594" cy="197490"/>
            </a:xfrm>
            <a:prstGeom prst="rect">
              <a:avLst/>
            </a:prstGeom>
          </p:spPr>
          <p:txBody>
            <a:bodyPr vert="horz" wrap="square" lIns="0" tIns="12700" rIns="0" bIns="0" rtlCol="0">
              <a:spAutoFit/>
            </a:bodyPr>
            <a:lstStyle/>
            <a:p>
              <a:pPr marL="12700">
                <a:lnSpc>
                  <a:spcPct val="100000"/>
                </a:lnSpc>
                <a:spcBef>
                  <a:spcPts val="100"/>
                </a:spcBef>
              </a:pPr>
              <a:r>
                <a:rPr sz="1200" spc="65" dirty="0">
                  <a:latin typeface="Arial"/>
                  <a:cs typeface="Arial"/>
                </a:rPr>
                <a:t>t</a:t>
              </a:r>
              <a:endParaRPr sz="1200" dirty="0">
                <a:latin typeface="Arial"/>
                <a:cs typeface="Arial"/>
              </a:endParaRPr>
            </a:p>
          </p:txBody>
        </p:sp>
        <p:sp>
          <p:nvSpPr>
            <p:cNvPr id="15" name="object 7">
              <a:extLst>
                <a:ext uri="{FF2B5EF4-FFF2-40B4-BE49-F238E27FC236}">
                  <a16:creationId xmlns:a16="http://schemas.microsoft.com/office/drawing/2014/main" id="{75BA01B3-07FD-4092-9FEE-461C37C00800}"/>
                </a:ext>
              </a:extLst>
            </p:cNvPr>
            <p:cNvSpPr txBox="1"/>
            <p:nvPr/>
          </p:nvSpPr>
          <p:spPr>
            <a:xfrm>
              <a:off x="7636522" y="3507932"/>
              <a:ext cx="204583" cy="248875"/>
            </a:xfrm>
            <a:prstGeom prst="rect">
              <a:avLst/>
            </a:prstGeom>
          </p:spPr>
          <p:txBody>
            <a:bodyPr vert="horz" wrap="square" lIns="0" tIns="12700" rIns="0" bIns="0" rtlCol="0">
              <a:spAutoFit/>
            </a:bodyPr>
            <a:lstStyle/>
            <a:p>
              <a:pPr marL="38100">
                <a:lnSpc>
                  <a:spcPct val="100000"/>
                </a:lnSpc>
                <a:spcBef>
                  <a:spcPts val="100"/>
                </a:spcBef>
              </a:pPr>
              <a:r>
                <a:rPr sz="1800" spc="-25" dirty="0">
                  <a:latin typeface="Arial"/>
                  <a:cs typeface="Arial"/>
                </a:rPr>
                <a:t>h</a:t>
              </a:r>
              <a:r>
                <a:rPr sz="1800" spc="-37" baseline="-13888" dirty="0">
                  <a:latin typeface="Arial"/>
                  <a:cs typeface="Arial"/>
                </a:rPr>
                <a:t>t</a:t>
              </a:r>
              <a:endParaRPr sz="1800" baseline="-13888">
                <a:latin typeface="Arial"/>
                <a:cs typeface="Arial"/>
              </a:endParaRPr>
            </a:p>
          </p:txBody>
        </p:sp>
        <p:sp>
          <p:nvSpPr>
            <p:cNvPr id="16" name="object 8">
              <a:extLst>
                <a:ext uri="{FF2B5EF4-FFF2-40B4-BE49-F238E27FC236}">
                  <a16:creationId xmlns:a16="http://schemas.microsoft.com/office/drawing/2014/main" id="{0AAC9098-7498-4478-CD57-9103EB423FA1}"/>
                </a:ext>
              </a:extLst>
            </p:cNvPr>
            <p:cNvSpPr txBox="1"/>
            <p:nvPr/>
          </p:nvSpPr>
          <p:spPr>
            <a:xfrm>
              <a:off x="5390487" y="3092015"/>
              <a:ext cx="66437" cy="198257"/>
            </a:xfrm>
            <a:prstGeom prst="rect">
              <a:avLst/>
            </a:prstGeom>
          </p:spPr>
          <p:txBody>
            <a:bodyPr vert="horz" wrap="square" lIns="0" tIns="12700" rIns="0" bIns="0" rtlCol="0">
              <a:spAutoFit/>
            </a:bodyPr>
            <a:lstStyle/>
            <a:p>
              <a:pPr marL="12700">
                <a:lnSpc>
                  <a:spcPct val="100000"/>
                </a:lnSpc>
                <a:spcBef>
                  <a:spcPts val="100"/>
                </a:spcBef>
              </a:pPr>
              <a:r>
                <a:rPr sz="1400" spc="35" dirty="0">
                  <a:latin typeface="Arial"/>
                  <a:cs typeface="Arial"/>
                </a:rPr>
                <a:t>f</a:t>
              </a:r>
              <a:endParaRPr sz="1400">
                <a:latin typeface="Arial"/>
                <a:cs typeface="Arial"/>
              </a:endParaRPr>
            </a:p>
          </p:txBody>
        </p:sp>
        <p:sp>
          <p:nvSpPr>
            <p:cNvPr id="17" name="object 9">
              <a:extLst>
                <a:ext uri="{FF2B5EF4-FFF2-40B4-BE49-F238E27FC236}">
                  <a16:creationId xmlns:a16="http://schemas.microsoft.com/office/drawing/2014/main" id="{63DDAE04-0DA0-A00F-1F66-E1AFF1DD7D22}"/>
                </a:ext>
              </a:extLst>
            </p:cNvPr>
            <p:cNvSpPr txBox="1"/>
            <p:nvPr/>
          </p:nvSpPr>
          <p:spPr>
            <a:xfrm>
              <a:off x="5435305" y="3175113"/>
              <a:ext cx="53255" cy="134983"/>
            </a:xfrm>
            <a:prstGeom prst="rect">
              <a:avLst/>
            </a:prstGeom>
          </p:spPr>
          <p:txBody>
            <a:bodyPr vert="horz" wrap="square" lIns="0" tIns="12700" rIns="0" bIns="0" rtlCol="0">
              <a:spAutoFit/>
            </a:bodyPr>
            <a:lstStyle/>
            <a:p>
              <a:pPr marL="12700">
                <a:lnSpc>
                  <a:spcPct val="100000"/>
                </a:lnSpc>
                <a:spcBef>
                  <a:spcPts val="100"/>
                </a:spcBef>
              </a:pPr>
              <a:r>
                <a:rPr sz="900" spc="50" dirty="0">
                  <a:latin typeface="Arial"/>
                  <a:cs typeface="Arial"/>
                </a:rPr>
                <a:t>t</a:t>
              </a:r>
              <a:endParaRPr sz="900">
                <a:latin typeface="Arial"/>
                <a:cs typeface="Arial"/>
              </a:endParaRPr>
            </a:p>
          </p:txBody>
        </p:sp>
        <p:sp>
          <p:nvSpPr>
            <p:cNvPr id="18" name="object 10">
              <a:extLst>
                <a:ext uri="{FF2B5EF4-FFF2-40B4-BE49-F238E27FC236}">
                  <a16:creationId xmlns:a16="http://schemas.microsoft.com/office/drawing/2014/main" id="{803A441F-AAA8-C8E3-2C55-13ACB093306F}"/>
                </a:ext>
              </a:extLst>
            </p:cNvPr>
            <p:cNvSpPr txBox="1"/>
            <p:nvPr/>
          </p:nvSpPr>
          <p:spPr>
            <a:xfrm>
              <a:off x="5752841" y="2990778"/>
              <a:ext cx="129710" cy="198257"/>
            </a:xfrm>
            <a:prstGeom prst="rect">
              <a:avLst/>
            </a:prstGeom>
          </p:spPr>
          <p:txBody>
            <a:bodyPr vert="horz" wrap="square" lIns="0" tIns="12700" rIns="0" bIns="0" rtlCol="0">
              <a:spAutoFit/>
            </a:bodyPr>
            <a:lstStyle/>
            <a:p>
              <a:pPr marL="38100">
                <a:lnSpc>
                  <a:spcPct val="100000"/>
                </a:lnSpc>
                <a:spcBef>
                  <a:spcPts val="100"/>
                </a:spcBef>
              </a:pPr>
              <a:r>
                <a:rPr sz="1400" spc="-25" dirty="0">
                  <a:latin typeface="Arial"/>
                  <a:cs typeface="Arial"/>
                </a:rPr>
                <a:t>i</a:t>
              </a:r>
              <a:r>
                <a:rPr sz="1350" spc="-37" baseline="-18518" dirty="0">
                  <a:latin typeface="Arial"/>
                  <a:cs typeface="Arial"/>
                </a:rPr>
                <a:t>t</a:t>
              </a:r>
              <a:endParaRPr sz="1350" baseline="-18518">
                <a:latin typeface="Arial"/>
                <a:cs typeface="Arial"/>
              </a:endParaRPr>
            </a:p>
          </p:txBody>
        </p:sp>
        <p:sp>
          <p:nvSpPr>
            <p:cNvPr id="19" name="object 11">
              <a:extLst>
                <a:ext uri="{FF2B5EF4-FFF2-40B4-BE49-F238E27FC236}">
                  <a16:creationId xmlns:a16="http://schemas.microsoft.com/office/drawing/2014/main" id="{29BB5FAD-401F-61DE-6FED-16B0ED456C97}"/>
                </a:ext>
              </a:extLst>
            </p:cNvPr>
            <p:cNvSpPr txBox="1"/>
            <p:nvPr/>
          </p:nvSpPr>
          <p:spPr>
            <a:xfrm>
              <a:off x="6481777" y="2955600"/>
              <a:ext cx="172946" cy="198257"/>
            </a:xfrm>
            <a:prstGeom prst="rect">
              <a:avLst/>
            </a:prstGeom>
          </p:spPr>
          <p:txBody>
            <a:bodyPr vert="horz" wrap="square" lIns="0" tIns="12700" rIns="0" bIns="0" rtlCol="0">
              <a:spAutoFit/>
            </a:bodyPr>
            <a:lstStyle/>
            <a:p>
              <a:pPr marL="38100">
                <a:lnSpc>
                  <a:spcPct val="100000"/>
                </a:lnSpc>
                <a:spcBef>
                  <a:spcPts val="100"/>
                </a:spcBef>
              </a:pPr>
              <a:r>
                <a:rPr sz="1400" spc="-25" dirty="0">
                  <a:latin typeface="Arial"/>
                  <a:cs typeface="Arial"/>
                </a:rPr>
                <a:t>o</a:t>
              </a:r>
              <a:r>
                <a:rPr sz="1350" spc="-37" baseline="-18518" dirty="0">
                  <a:latin typeface="Arial"/>
                  <a:cs typeface="Arial"/>
                </a:rPr>
                <a:t>t</a:t>
              </a:r>
              <a:endParaRPr sz="1350" baseline="-18518" dirty="0">
                <a:latin typeface="Arial"/>
                <a:cs typeface="Arial"/>
              </a:endParaRPr>
            </a:p>
          </p:txBody>
        </p:sp>
        <p:sp>
          <p:nvSpPr>
            <p:cNvPr id="20" name="object 12">
              <a:extLst>
                <a:ext uri="{FF2B5EF4-FFF2-40B4-BE49-F238E27FC236}">
                  <a16:creationId xmlns:a16="http://schemas.microsoft.com/office/drawing/2014/main" id="{044C7341-FA7E-8D05-42A5-21DBA90E053E}"/>
                </a:ext>
              </a:extLst>
            </p:cNvPr>
            <p:cNvSpPr txBox="1"/>
            <p:nvPr/>
          </p:nvSpPr>
          <p:spPr>
            <a:xfrm>
              <a:off x="6434324" y="2512492"/>
              <a:ext cx="287070" cy="228268"/>
            </a:xfrm>
            <a:prstGeom prst="rect">
              <a:avLst/>
            </a:prstGeom>
          </p:spPr>
          <p:txBody>
            <a:bodyPr vert="horz" wrap="square" lIns="0" tIns="12700" rIns="0" bIns="0" rtlCol="0">
              <a:spAutoFit/>
            </a:bodyPr>
            <a:lstStyle/>
            <a:p>
              <a:pPr marL="38100">
                <a:lnSpc>
                  <a:spcPct val="100000"/>
                </a:lnSpc>
                <a:spcBef>
                  <a:spcPts val="100"/>
                </a:spcBef>
              </a:pPr>
              <a:r>
                <a:rPr sz="1400" spc="-25" dirty="0">
                  <a:latin typeface="Arial"/>
                  <a:cs typeface="Arial"/>
                </a:rPr>
                <a:t>c</a:t>
              </a:r>
              <a:r>
                <a:rPr sz="1350" spc="-37" baseline="-18518" dirty="0">
                  <a:latin typeface="Arial"/>
                  <a:cs typeface="Arial"/>
                </a:rPr>
                <a:t>t</a:t>
              </a:r>
              <a:endParaRPr sz="1350" baseline="-18518" dirty="0">
                <a:latin typeface="Arial"/>
                <a:cs typeface="Arial"/>
              </a:endParaRPr>
            </a:p>
          </p:txBody>
        </p:sp>
        <p:sp>
          <p:nvSpPr>
            <p:cNvPr id="21" name="object 13">
              <a:extLst>
                <a:ext uri="{FF2B5EF4-FFF2-40B4-BE49-F238E27FC236}">
                  <a16:creationId xmlns:a16="http://schemas.microsoft.com/office/drawing/2014/main" id="{89D0E59A-A6BC-AE78-E571-C8D666C1B192}"/>
                </a:ext>
              </a:extLst>
            </p:cNvPr>
            <p:cNvSpPr txBox="1"/>
            <p:nvPr/>
          </p:nvSpPr>
          <p:spPr>
            <a:xfrm>
              <a:off x="6255864" y="3253572"/>
              <a:ext cx="53255" cy="134983"/>
            </a:xfrm>
            <a:prstGeom prst="rect">
              <a:avLst/>
            </a:prstGeom>
          </p:spPr>
          <p:txBody>
            <a:bodyPr vert="horz" wrap="square" lIns="0" tIns="12700" rIns="0" bIns="0" rtlCol="0">
              <a:spAutoFit/>
            </a:bodyPr>
            <a:lstStyle/>
            <a:p>
              <a:pPr marL="12700">
                <a:lnSpc>
                  <a:spcPct val="100000"/>
                </a:lnSpc>
                <a:spcBef>
                  <a:spcPts val="100"/>
                </a:spcBef>
              </a:pPr>
              <a:r>
                <a:rPr sz="900" spc="50" dirty="0">
                  <a:latin typeface="Arial"/>
                  <a:cs typeface="Arial"/>
                </a:rPr>
                <a:t>t</a:t>
              </a:r>
              <a:endParaRPr sz="900">
                <a:latin typeface="Arial"/>
                <a:cs typeface="Arial"/>
              </a:endParaRPr>
            </a:p>
          </p:txBody>
        </p:sp>
        <p:sp>
          <p:nvSpPr>
            <p:cNvPr id="22" name="object 14">
              <a:extLst>
                <a:ext uri="{FF2B5EF4-FFF2-40B4-BE49-F238E27FC236}">
                  <a16:creationId xmlns:a16="http://schemas.microsoft.com/office/drawing/2014/main" id="{FCAAF1E4-0C12-5FFA-053F-735B7B39FB6D}"/>
                </a:ext>
              </a:extLst>
            </p:cNvPr>
            <p:cNvSpPr txBox="1"/>
            <p:nvPr/>
          </p:nvSpPr>
          <p:spPr>
            <a:xfrm>
              <a:off x="6172817" y="3127448"/>
              <a:ext cx="253884" cy="228268"/>
            </a:xfrm>
            <a:prstGeom prst="rect">
              <a:avLst/>
            </a:prstGeom>
          </p:spPr>
          <p:txBody>
            <a:bodyPr vert="horz" wrap="square" lIns="0" tIns="12700" rIns="0" bIns="0" rtlCol="0">
              <a:spAutoFit/>
            </a:bodyPr>
            <a:lstStyle/>
            <a:p>
              <a:pPr marL="38100">
                <a:lnSpc>
                  <a:spcPct val="100000"/>
                </a:lnSpc>
                <a:spcBef>
                  <a:spcPts val="100"/>
                </a:spcBef>
              </a:pPr>
              <a:r>
                <a:rPr sz="2100" spc="-1237" baseline="-15873" dirty="0">
                  <a:latin typeface="Arial"/>
                  <a:cs typeface="Arial"/>
                </a:rPr>
                <a:t>c</a:t>
              </a:r>
              <a:r>
                <a:rPr sz="1400" spc="-114" dirty="0">
                  <a:latin typeface="Arial"/>
                  <a:cs typeface="Arial"/>
                </a:rPr>
                <a:t>~</a:t>
              </a:r>
              <a:endParaRPr sz="1400" dirty="0">
                <a:latin typeface="Arial"/>
                <a:cs typeface="Arial"/>
              </a:endParaRPr>
            </a:p>
          </p:txBody>
        </p:sp>
        <p:sp>
          <p:nvSpPr>
            <p:cNvPr id="23" name="object 20">
              <a:extLst>
                <a:ext uri="{FF2B5EF4-FFF2-40B4-BE49-F238E27FC236}">
                  <a16:creationId xmlns:a16="http://schemas.microsoft.com/office/drawing/2014/main" id="{D7D5DE62-46D3-6E6F-C513-D0B8A4B141F3}"/>
                </a:ext>
              </a:extLst>
            </p:cNvPr>
            <p:cNvSpPr txBox="1"/>
            <p:nvPr/>
          </p:nvSpPr>
          <p:spPr>
            <a:xfrm>
              <a:off x="2321834" y="3149352"/>
              <a:ext cx="1690204" cy="287899"/>
            </a:xfrm>
            <a:prstGeom prst="rect">
              <a:avLst/>
            </a:prstGeom>
            <a:ln w="19050">
              <a:solidFill>
                <a:srgbClr val="4285F4"/>
              </a:solidFill>
            </a:ln>
          </p:spPr>
          <p:txBody>
            <a:bodyPr vert="horz" wrap="square" lIns="0" tIns="43815" rIns="0" bIns="0" rtlCol="0" anchor="t">
              <a:spAutoFit/>
            </a:bodyPr>
            <a:lstStyle/>
            <a:p>
              <a:pPr marL="263525" marR="164465" indent="-92075">
                <a:lnSpc>
                  <a:spcPts val="1900"/>
                </a:lnSpc>
                <a:spcBef>
                  <a:spcPts val="345"/>
                </a:spcBef>
              </a:pPr>
              <a:r>
                <a:rPr lang="zh-CN" altLang="en-US" sz="1600" spc="-20" dirty="0">
                  <a:solidFill>
                    <a:srgbClr val="4285F4"/>
                  </a:solidFill>
                  <a:latin typeface="Arial"/>
                  <a:cs typeface="Arial"/>
                </a:rPr>
                <a:t>计算遗忘门</a:t>
              </a:r>
            </a:p>
          </p:txBody>
        </p:sp>
        <p:sp>
          <p:nvSpPr>
            <p:cNvPr id="24" name="object 21">
              <a:extLst>
                <a:ext uri="{FF2B5EF4-FFF2-40B4-BE49-F238E27FC236}">
                  <a16:creationId xmlns:a16="http://schemas.microsoft.com/office/drawing/2014/main" id="{92CB192F-7CB6-F127-7772-A28AFCE735EF}"/>
                </a:ext>
              </a:extLst>
            </p:cNvPr>
            <p:cNvSpPr/>
            <p:nvPr/>
          </p:nvSpPr>
          <p:spPr>
            <a:xfrm>
              <a:off x="4011308" y="3384254"/>
              <a:ext cx="1216957" cy="126547"/>
            </a:xfrm>
            <a:custGeom>
              <a:avLst/>
              <a:gdLst/>
              <a:ahLst/>
              <a:cxnLst/>
              <a:rect l="l" t="t" r="r" b="b"/>
              <a:pathLst>
                <a:path w="1465579" h="152400">
                  <a:moveTo>
                    <a:pt x="1392236" y="75944"/>
                  </a:moveTo>
                  <a:lnTo>
                    <a:pt x="1390093" y="104439"/>
                  </a:lnTo>
                  <a:lnTo>
                    <a:pt x="1402756" y="105392"/>
                  </a:lnTo>
                  <a:lnTo>
                    <a:pt x="1401328" y="124388"/>
                  </a:lnTo>
                  <a:lnTo>
                    <a:pt x="1388592" y="124388"/>
                  </a:lnTo>
                  <a:lnTo>
                    <a:pt x="1386521" y="151930"/>
                  </a:lnTo>
                  <a:lnTo>
                    <a:pt x="1453795" y="124388"/>
                  </a:lnTo>
                  <a:lnTo>
                    <a:pt x="1401328" y="124388"/>
                  </a:lnTo>
                  <a:lnTo>
                    <a:pt x="1388664" y="123436"/>
                  </a:lnTo>
                  <a:lnTo>
                    <a:pt x="1456122" y="123436"/>
                  </a:lnTo>
                  <a:lnTo>
                    <a:pt x="1465364" y="119653"/>
                  </a:lnTo>
                  <a:lnTo>
                    <a:pt x="1392236" y="75944"/>
                  </a:lnTo>
                  <a:close/>
                </a:path>
                <a:path w="1465579" h="152400">
                  <a:moveTo>
                    <a:pt x="1390093" y="104439"/>
                  </a:moveTo>
                  <a:lnTo>
                    <a:pt x="1388664" y="123436"/>
                  </a:lnTo>
                  <a:lnTo>
                    <a:pt x="1401328" y="124388"/>
                  </a:lnTo>
                  <a:lnTo>
                    <a:pt x="1402756" y="105392"/>
                  </a:lnTo>
                  <a:lnTo>
                    <a:pt x="1390093" y="104439"/>
                  </a:lnTo>
                  <a:close/>
                </a:path>
                <a:path w="1465579" h="152400">
                  <a:moveTo>
                    <a:pt x="1428" y="0"/>
                  </a:moveTo>
                  <a:lnTo>
                    <a:pt x="0" y="18996"/>
                  </a:lnTo>
                  <a:lnTo>
                    <a:pt x="1388664" y="123436"/>
                  </a:lnTo>
                  <a:lnTo>
                    <a:pt x="1390093" y="104439"/>
                  </a:lnTo>
                  <a:lnTo>
                    <a:pt x="1428" y="0"/>
                  </a:lnTo>
                  <a:close/>
                </a:path>
              </a:pathLst>
            </a:custGeom>
            <a:solidFill>
              <a:srgbClr val="4285F4"/>
            </a:solidFill>
          </p:spPr>
          <p:txBody>
            <a:bodyPr wrap="square" lIns="0" tIns="0" rIns="0" bIns="0" rtlCol="0"/>
            <a:lstStyle/>
            <a:p>
              <a:endParaRPr/>
            </a:p>
          </p:txBody>
        </p:sp>
        <p:sp>
          <p:nvSpPr>
            <p:cNvPr id="25" name="object 22">
              <a:extLst>
                <a:ext uri="{FF2B5EF4-FFF2-40B4-BE49-F238E27FC236}">
                  <a16:creationId xmlns:a16="http://schemas.microsoft.com/office/drawing/2014/main" id="{89C0ECD4-BA46-0477-56C6-5F0BAAAB44AF}"/>
                </a:ext>
              </a:extLst>
            </p:cNvPr>
            <p:cNvSpPr txBox="1"/>
            <p:nvPr/>
          </p:nvSpPr>
          <p:spPr>
            <a:xfrm>
              <a:off x="2321835" y="2263237"/>
              <a:ext cx="1690204" cy="287258"/>
            </a:xfrm>
            <a:prstGeom prst="rect">
              <a:avLst/>
            </a:prstGeom>
            <a:ln w="19050">
              <a:solidFill>
                <a:srgbClr val="4285F4"/>
              </a:solidFill>
            </a:ln>
          </p:spPr>
          <p:txBody>
            <a:bodyPr vert="horz" wrap="square" lIns="0" tIns="43180" rIns="0" bIns="0" rtlCol="0" anchor="t">
              <a:spAutoFit/>
            </a:bodyPr>
            <a:lstStyle/>
            <a:p>
              <a:pPr marL="229870" marR="191135" indent="-31750">
                <a:lnSpc>
                  <a:spcPts val="1900"/>
                </a:lnSpc>
                <a:spcBef>
                  <a:spcPts val="340"/>
                </a:spcBef>
              </a:pPr>
              <a:r>
                <a:rPr lang="zh-CN" altLang="en-US" sz="1600" spc="-10" dirty="0">
                  <a:solidFill>
                    <a:srgbClr val="4285F4"/>
                  </a:solidFill>
                  <a:latin typeface="Arial"/>
                  <a:cs typeface="Arial"/>
                </a:rPr>
                <a:t>遗忘一些信息</a:t>
              </a:r>
            </a:p>
          </p:txBody>
        </p:sp>
        <p:sp>
          <p:nvSpPr>
            <p:cNvPr id="26" name="object 23">
              <a:extLst>
                <a:ext uri="{FF2B5EF4-FFF2-40B4-BE49-F238E27FC236}">
                  <a16:creationId xmlns:a16="http://schemas.microsoft.com/office/drawing/2014/main" id="{1305B279-918E-2D79-CFBB-04493A7D6A33}"/>
                </a:ext>
              </a:extLst>
            </p:cNvPr>
            <p:cNvSpPr/>
            <p:nvPr/>
          </p:nvSpPr>
          <p:spPr>
            <a:xfrm>
              <a:off x="4010469" y="2481372"/>
              <a:ext cx="1298158" cy="266275"/>
            </a:xfrm>
            <a:custGeom>
              <a:avLst/>
              <a:gdLst/>
              <a:ahLst/>
              <a:cxnLst/>
              <a:rect l="l" t="t" r="r" b="b"/>
              <a:pathLst>
                <a:path w="1563370" h="320675">
                  <a:moveTo>
                    <a:pt x="1486226" y="292156"/>
                  </a:moveTo>
                  <a:lnTo>
                    <a:pt x="1481056" y="320259"/>
                  </a:lnTo>
                  <a:lnTo>
                    <a:pt x="1562892" y="296575"/>
                  </a:lnTo>
                  <a:lnTo>
                    <a:pt x="1560076" y="294454"/>
                  </a:lnTo>
                  <a:lnTo>
                    <a:pt x="1498716" y="294454"/>
                  </a:lnTo>
                  <a:lnTo>
                    <a:pt x="1486226" y="292156"/>
                  </a:lnTo>
                  <a:close/>
                </a:path>
                <a:path w="1563370" h="320675">
                  <a:moveTo>
                    <a:pt x="1489673" y="273420"/>
                  </a:moveTo>
                  <a:lnTo>
                    <a:pt x="1486226" y="292156"/>
                  </a:lnTo>
                  <a:lnTo>
                    <a:pt x="1498716" y="294454"/>
                  </a:lnTo>
                  <a:lnTo>
                    <a:pt x="1502163" y="275718"/>
                  </a:lnTo>
                  <a:lnTo>
                    <a:pt x="1489673" y="273420"/>
                  </a:lnTo>
                  <a:close/>
                </a:path>
                <a:path w="1563370" h="320675">
                  <a:moveTo>
                    <a:pt x="1494843" y="245317"/>
                  </a:moveTo>
                  <a:lnTo>
                    <a:pt x="1489673" y="273420"/>
                  </a:lnTo>
                  <a:lnTo>
                    <a:pt x="1502163" y="275718"/>
                  </a:lnTo>
                  <a:lnTo>
                    <a:pt x="1498716" y="294454"/>
                  </a:lnTo>
                  <a:lnTo>
                    <a:pt x="1560076" y="294454"/>
                  </a:lnTo>
                  <a:lnTo>
                    <a:pt x="1494843" y="245317"/>
                  </a:lnTo>
                  <a:close/>
                </a:path>
                <a:path w="1563370" h="320675">
                  <a:moveTo>
                    <a:pt x="3446" y="0"/>
                  </a:moveTo>
                  <a:lnTo>
                    <a:pt x="0" y="18736"/>
                  </a:lnTo>
                  <a:lnTo>
                    <a:pt x="1486226" y="292156"/>
                  </a:lnTo>
                  <a:lnTo>
                    <a:pt x="1489673" y="273420"/>
                  </a:lnTo>
                  <a:lnTo>
                    <a:pt x="3446" y="0"/>
                  </a:lnTo>
                  <a:close/>
                </a:path>
              </a:pathLst>
            </a:custGeom>
            <a:solidFill>
              <a:srgbClr val="4285F4"/>
            </a:solidFill>
          </p:spPr>
          <p:txBody>
            <a:bodyPr wrap="square" lIns="0" tIns="0" rIns="0" bIns="0" rtlCol="0"/>
            <a:lstStyle/>
            <a:p>
              <a:endParaRPr/>
            </a:p>
          </p:txBody>
        </p:sp>
        <p:sp>
          <p:nvSpPr>
            <p:cNvPr id="27" name="object 24">
              <a:extLst>
                <a:ext uri="{FF2B5EF4-FFF2-40B4-BE49-F238E27FC236}">
                  <a16:creationId xmlns:a16="http://schemas.microsoft.com/office/drawing/2014/main" id="{7A3BFD8D-A8D7-3D07-174C-22E4DFDA0F0F}"/>
                </a:ext>
              </a:extLst>
            </p:cNvPr>
            <p:cNvSpPr txBox="1"/>
            <p:nvPr/>
          </p:nvSpPr>
          <p:spPr>
            <a:xfrm>
              <a:off x="2778888" y="4237378"/>
              <a:ext cx="1539198" cy="288541"/>
            </a:xfrm>
            <a:prstGeom prst="rect">
              <a:avLst/>
            </a:prstGeom>
            <a:ln w="19050">
              <a:solidFill>
                <a:srgbClr val="4285F4"/>
              </a:solidFill>
            </a:ln>
          </p:spPr>
          <p:txBody>
            <a:bodyPr vert="horz" wrap="square" lIns="0" tIns="44450" rIns="0" bIns="0" rtlCol="0" anchor="t">
              <a:spAutoFit/>
            </a:bodyPr>
            <a:lstStyle/>
            <a:p>
              <a:pPr marL="295275" marR="164465" indent="-123825">
                <a:lnSpc>
                  <a:spcPts val="1900"/>
                </a:lnSpc>
                <a:spcBef>
                  <a:spcPts val="350"/>
                </a:spcBef>
              </a:pPr>
              <a:r>
                <a:rPr lang="zh-CN" sz="1600" spc="-20" dirty="0">
                  <a:solidFill>
                    <a:srgbClr val="4285F4"/>
                  </a:solidFill>
                  <a:latin typeface="Arial"/>
                  <a:cs typeface="Arial"/>
                </a:rPr>
                <a:t>计算</a:t>
              </a:r>
              <a:r>
                <a:rPr lang="zh-CN" altLang="en-US" sz="1600" spc="-20" dirty="0">
                  <a:solidFill>
                    <a:srgbClr val="4285F4"/>
                  </a:solidFill>
                  <a:latin typeface="Arial"/>
                  <a:cs typeface="Arial"/>
                </a:rPr>
                <a:t>输入门</a:t>
              </a:r>
              <a:endParaRPr lang="zh-CN" sz="1600" spc="-20" dirty="0">
                <a:solidFill>
                  <a:srgbClr val="4285F4"/>
                </a:solidFill>
                <a:latin typeface="Arial"/>
                <a:cs typeface="Arial"/>
              </a:endParaRPr>
            </a:p>
          </p:txBody>
        </p:sp>
        <p:sp>
          <p:nvSpPr>
            <p:cNvPr id="28" name="object 25">
              <a:extLst>
                <a:ext uri="{FF2B5EF4-FFF2-40B4-BE49-F238E27FC236}">
                  <a16:creationId xmlns:a16="http://schemas.microsoft.com/office/drawing/2014/main" id="{312ECFA1-469D-D68A-EA8C-0665B60AE3A9}"/>
                </a:ext>
              </a:extLst>
            </p:cNvPr>
            <p:cNvSpPr/>
            <p:nvPr/>
          </p:nvSpPr>
          <p:spPr>
            <a:xfrm>
              <a:off x="4313446" y="3572875"/>
              <a:ext cx="1314504" cy="914300"/>
            </a:xfrm>
            <a:custGeom>
              <a:avLst/>
              <a:gdLst/>
              <a:ahLst/>
              <a:cxnLst/>
              <a:rect l="l" t="t" r="r" b="b"/>
              <a:pathLst>
                <a:path w="1583054" h="1101089">
                  <a:moveTo>
                    <a:pt x="1514903" y="35556"/>
                  </a:moveTo>
                  <a:lnTo>
                    <a:pt x="0" y="1084818"/>
                  </a:lnTo>
                  <a:lnTo>
                    <a:pt x="10845" y="1100479"/>
                  </a:lnTo>
                  <a:lnTo>
                    <a:pt x="1525750" y="51217"/>
                  </a:lnTo>
                  <a:lnTo>
                    <a:pt x="1514903" y="35556"/>
                  </a:lnTo>
                  <a:close/>
                </a:path>
                <a:path w="1583054" h="1101089">
                  <a:moveTo>
                    <a:pt x="1567443" y="28324"/>
                  </a:moveTo>
                  <a:lnTo>
                    <a:pt x="1525344" y="28324"/>
                  </a:lnTo>
                  <a:lnTo>
                    <a:pt x="1536192" y="43985"/>
                  </a:lnTo>
                  <a:lnTo>
                    <a:pt x="1525750" y="51217"/>
                  </a:lnTo>
                  <a:lnTo>
                    <a:pt x="1542020" y="74707"/>
                  </a:lnTo>
                  <a:lnTo>
                    <a:pt x="1567443" y="28324"/>
                  </a:lnTo>
                  <a:close/>
                </a:path>
                <a:path w="1583054" h="1101089">
                  <a:moveTo>
                    <a:pt x="1525344" y="28324"/>
                  </a:moveTo>
                  <a:lnTo>
                    <a:pt x="1514903" y="35556"/>
                  </a:lnTo>
                  <a:lnTo>
                    <a:pt x="1525750" y="51217"/>
                  </a:lnTo>
                  <a:lnTo>
                    <a:pt x="1536192" y="43985"/>
                  </a:lnTo>
                  <a:lnTo>
                    <a:pt x="1525344" y="28324"/>
                  </a:lnTo>
                  <a:close/>
                </a:path>
                <a:path w="1583054" h="1101089">
                  <a:moveTo>
                    <a:pt x="1582968" y="0"/>
                  </a:moveTo>
                  <a:lnTo>
                    <a:pt x="1498633" y="12066"/>
                  </a:lnTo>
                  <a:lnTo>
                    <a:pt x="1514903" y="35556"/>
                  </a:lnTo>
                  <a:lnTo>
                    <a:pt x="1525344" y="28324"/>
                  </a:lnTo>
                  <a:lnTo>
                    <a:pt x="1567443" y="28324"/>
                  </a:lnTo>
                  <a:lnTo>
                    <a:pt x="1582968" y="0"/>
                  </a:lnTo>
                  <a:close/>
                </a:path>
              </a:pathLst>
            </a:custGeom>
            <a:solidFill>
              <a:srgbClr val="4285F4"/>
            </a:solidFill>
          </p:spPr>
          <p:txBody>
            <a:bodyPr wrap="square" lIns="0" tIns="0" rIns="0" bIns="0" rtlCol="0"/>
            <a:lstStyle/>
            <a:p>
              <a:endParaRPr/>
            </a:p>
          </p:txBody>
        </p:sp>
        <p:sp>
          <p:nvSpPr>
            <p:cNvPr id="29" name="object 26">
              <a:extLst>
                <a:ext uri="{FF2B5EF4-FFF2-40B4-BE49-F238E27FC236}">
                  <a16:creationId xmlns:a16="http://schemas.microsoft.com/office/drawing/2014/main" id="{1AF43948-B9ED-5181-A570-169B45695A09}"/>
                </a:ext>
              </a:extLst>
            </p:cNvPr>
            <p:cNvSpPr txBox="1"/>
            <p:nvPr/>
          </p:nvSpPr>
          <p:spPr>
            <a:xfrm>
              <a:off x="5704745" y="4237378"/>
              <a:ext cx="1714513" cy="288541"/>
            </a:xfrm>
            <a:prstGeom prst="rect">
              <a:avLst/>
            </a:prstGeom>
            <a:ln w="19050">
              <a:solidFill>
                <a:srgbClr val="4285F4"/>
              </a:solidFill>
            </a:ln>
          </p:spPr>
          <p:txBody>
            <a:bodyPr vert="horz" wrap="square" lIns="0" tIns="44450" rIns="0" bIns="0" rtlCol="0" anchor="t">
              <a:spAutoFit/>
            </a:bodyPr>
            <a:lstStyle/>
            <a:p>
              <a:pPr marL="132080" marR="124460" indent="140335">
                <a:lnSpc>
                  <a:spcPts val="1900"/>
                </a:lnSpc>
                <a:spcBef>
                  <a:spcPts val="350"/>
                </a:spcBef>
              </a:pPr>
              <a:r>
                <a:rPr lang="zh-CN" sz="1600" spc="-40" dirty="0">
                  <a:solidFill>
                    <a:srgbClr val="4285F4"/>
                  </a:solidFill>
                  <a:latin typeface="Arial"/>
                  <a:cs typeface="Arial"/>
                </a:rPr>
                <a:t>计算新的信息</a:t>
              </a:r>
              <a:endParaRPr lang="zh-CN" altLang="en-US" sz="1600" spc="-40" dirty="0">
                <a:solidFill>
                  <a:srgbClr val="4285F4"/>
                </a:solidFill>
                <a:latin typeface="Arial"/>
                <a:cs typeface="Arial"/>
              </a:endParaRPr>
            </a:p>
          </p:txBody>
        </p:sp>
        <p:sp>
          <p:nvSpPr>
            <p:cNvPr id="30" name="object 27">
              <a:extLst>
                <a:ext uri="{FF2B5EF4-FFF2-40B4-BE49-F238E27FC236}">
                  <a16:creationId xmlns:a16="http://schemas.microsoft.com/office/drawing/2014/main" id="{99B5358B-B0F2-9851-C7A1-8EE67D272969}"/>
                </a:ext>
              </a:extLst>
            </p:cNvPr>
            <p:cNvSpPr/>
            <p:nvPr/>
          </p:nvSpPr>
          <p:spPr>
            <a:xfrm>
              <a:off x="6184252" y="3566565"/>
              <a:ext cx="203529" cy="673334"/>
            </a:xfrm>
            <a:custGeom>
              <a:avLst/>
              <a:gdLst/>
              <a:ahLst/>
              <a:cxnLst/>
              <a:rect l="l" t="t" r="r" b="b"/>
              <a:pathLst>
                <a:path w="245110" h="810895">
                  <a:moveTo>
                    <a:pt x="45974" y="71072"/>
                  </a:moveTo>
                  <a:lnTo>
                    <a:pt x="27584" y="76044"/>
                  </a:lnTo>
                  <a:lnTo>
                    <a:pt x="226134" y="810345"/>
                  </a:lnTo>
                  <a:lnTo>
                    <a:pt x="244524" y="805373"/>
                  </a:lnTo>
                  <a:lnTo>
                    <a:pt x="45974" y="71072"/>
                  </a:lnTo>
                  <a:close/>
                </a:path>
                <a:path w="245110" h="810895">
                  <a:moveTo>
                    <a:pt x="16889" y="0"/>
                  </a:moveTo>
                  <a:lnTo>
                    <a:pt x="0" y="83503"/>
                  </a:lnTo>
                  <a:lnTo>
                    <a:pt x="27584" y="76044"/>
                  </a:lnTo>
                  <a:lnTo>
                    <a:pt x="24269" y="63785"/>
                  </a:lnTo>
                  <a:lnTo>
                    <a:pt x="42659" y="58812"/>
                  </a:lnTo>
                  <a:lnTo>
                    <a:pt x="69281" y="58812"/>
                  </a:lnTo>
                  <a:lnTo>
                    <a:pt x="16889" y="0"/>
                  </a:lnTo>
                  <a:close/>
                </a:path>
                <a:path w="245110" h="810895">
                  <a:moveTo>
                    <a:pt x="42659" y="58812"/>
                  </a:moveTo>
                  <a:lnTo>
                    <a:pt x="24269" y="63785"/>
                  </a:lnTo>
                  <a:lnTo>
                    <a:pt x="27584" y="76044"/>
                  </a:lnTo>
                  <a:lnTo>
                    <a:pt x="45974" y="71072"/>
                  </a:lnTo>
                  <a:lnTo>
                    <a:pt x="42659" y="58812"/>
                  </a:lnTo>
                  <a:close/>
                </a:path>
                <a:path w="245110" h="810895">
                  <a:moveTo>
                    <a:pt x="69281" y="58812"/>
                  </a:moveTo>
                  <a:lnTo>
                    <a:pt x="42659" y="58812"/>
                  </a:lnTo>
                  <a:lnTo>
                    <a:pt x="45974" y="71072"/>
                  </a:lnTo>
                  <a:lnTo>
                    <a:pt x="73558" y="63613"/>
                  </a:lnTo>
                  <a:lnTo>
                    <a:pt x="69281" y="58812"/>
                  </a:lnTo>
                  <a:close/>
                </a:path>
              </a:pathLst>
            </a:custGeom>
            <a:solidFill>
              <a:srgbClr val="4285F4"/>
            </a:solidFill>
          </p:spPr>
          <p:txBody>
            <a:bodyPr wrap="square" lIns="0" tIns="0" rIns="0" bIns="0" rtlCol="0"/>
            <a:lstStyle/>
            <a:p>
              <a:endParaRPr/>
            </a:p>
          </p:txBody>
        </p:sp>
        <p:sp>
          <p:nvSpPr>
            <p:cNvPr id="31" name="object 28">
              <a:extLst>
                <a:ext uri="{FF2B5EF4-FFF2-40B4-BE49-F238E27FC236}">
                  <a16:creationId xmlns:a16="http://schemas.microsoft.com/office/drawing/2014/main" id="{906C57BE-5020-9553-664C-222F607D7EAB}"/>
                </a:ext>
              </a:extLst>
            </p:cNvPr>
            <p:cNvSpPr txBox="1"/>
            <p:nvPr/>
          </p:nvSpPr>
          <p:spPr>
            <a:xfrm>
              <a:off x="7841105" y="4227890"/>
              <a:ext cx="1662457" cy="288541"/>
            </a:xfrm>
            <a:prstGeom prst="rect">
              <a:avLst/>
            </a:prstGeom>
            <a:ln w="19050">
              <a:solidFill>
                <a:srgbClr val="4285F4"/>
              </a:solidFill>
            </a:ln>
          </p:spPr>
          <p:txBody>
            <a:bodyPr vert="horz" wrap="square" lIns="0" tIns="44450" rIns="0" bIns="0" rtlCol="0" anchor="t">
              <a:spAutoFit/>
            </a:bodyPr>
            <a:lstStyle/>
            <a:p>
              <a:pPr marL="219075" marR="153670" indent="-57785">
                <a:lnSpc>
                  <a:spcPts val="1900"/>
                </a:lnSpc>
                <a:spcBef>
                  <a:spcPts val="350"/>
                </a:spcBef>
              </a:pPr>
              <a:r>
                <a:rPr lang="zh-CN" altLang="en-US" sz="1600" spc="-20" dirty="0">
                  <a:solidFill>
                    <a:srgbClr val="4285F4"/>
                  </a:solidFill>
                  <a:latin typeface="Arial"/>
                  <a:cs typeface="Arial"/>
                </a:rPr>
                <a:t>计算输出门</a:t>
              </a:r>
            </a:p>
          </p:txBody>
        </p:sp>
        <p:sp>
          <p:nvSpPr>
            <p:cNvPr id="32" name="object 29">
              <a:extLst>
                <a:ext uri="{FF2B5EF4-FFF2-40B4-BE49-F238E27FC236}">
                  <a16:creationId xmlns:a16="http://schemas.microsoft.com/office/drawing/2014/main" id="{98DEAA7F-D2C6-01CF-9A56-9CD0F9D9598E}"/>
                </a:ext>
              </a:extLst>
            </p:cNvPr>
            <p:cNvSpPr/>
            <p:nvPr/>
          </p:nvSpPr>
          <p:spPr>
            <a:xfrm>
              <a:off x="6606007" y="3563098"/>
              <a:ext cx="1527524" cy="681770"/>
            </a:xfrm>
            <a:custGeom>
              <a:avLst/>
              <a:gdLst/>
              <a:ahLst/>
              <a:cxnLst/>
              <a:rect l="l" t="t" r="r" b="b"/>
              <a:pathLst>
                <a:path w="1839595" h="821054">
                  <a:moveTo>
                    <a:pt x="73582" y="26154"/>
                  </a:moveTo>
                  <a:lnTo>
                    <a:pt x="65908" y="43590"/>
                  </a:lnTo>
                  <a:lnTo>
                    <a:pt x="1831775" y="820754"/>
                  </a:lnTo>
                  <a:lnTo>
                    <a:pt x="1839448" y="803316"/>
                  </a:lnTo>
                  <a:lnTo>
                    <a:pt x="73582" y="26154"/>
                  </a:lnTo>
                  <a:close/>
                </a:path>
                <a:path w="1839595" h="821054">
                  <a:moveTo>
                    <a:pt x="85092" y="0"/>
                  </a:moveTo>
                  <a:lnTo>
                    <a:pt x="0" y="4177"/>
                  </a:lnTo>
                  <a:lnTo>
                    <a:pt x="54397" y="69744"/>
                  </a:lnTo>
                  <a:lnTo>
                    <a:pt x="65908" y="43590"/>
                  </a:lnTo>
                  <a:lnTo>
                    <a:pt x="54287" y="38475"/>
                  </a:lnTo>
                  <a:lnTo>
                    <a:pt x="61962" y="21040"/>
                  </a:lnTo>
                  <a:lnTo>
                    <a:pt x="75832" y="21040"/>
                  </a:lnTo>
                  <a:lnTo>
                    <a:pt x="85092" y="0"/>
                  </a:lnTo>
                  <a:close/>
                </a:path>
                <a:path w="1839595" h="821054">
                  <a:moveTo>
                    <a:pt x="61962" y="21040"/>
                  </a:moveTo>
                  <a:lnTo>
                    <a:pt x="54287" y="38475"/>
                  </a:lnTo>
                  <a:lnTo>
                    <a:pt x="65908" y="43590"/>
                  </a:lnTo>
                  <a:lnTo>
                    <a:pt x="73582" y="26154"/>
                  </a:lnTo>
                  <a:lnTo>
                    <a:pt x="61962" y="21040"/>
                  </a:lnTo>
                  <a:close/>
                </a:path>
                <a:path w="1839595" h="821054">
                  <a:moveTo>
                    <a:pt x="75832" y="21040"/>
                  </a:moveTo>
                  <a:lnTo>
                    <a:pt x="61962" y="21040"/>
                  </a:lnTo>
                  <a:lnTo>
                    <a:pt x="73582" y="26154"/>
                  </a:lnTo>
                  <a:lnTo>
                    <a:pt x="75832" y="21040"/>
                  </a:lnTo>
                  <a:close/>
                </a:path>
              </a:pathLst>
            </a:custGeom>
            <a:solidFill>
              <a:srgbClr val="4285F4"/>
            </a:solidFill>
          </p:spPr>
          <p:txBody>
            <a:bodyPr wrap="square" lIns="0" tIns="0" rIns="0" bIns="0" rtlCol="0"/>
            <a:lstStyle/>
            <a:p>
              <a:endParaRPr/>
            </a:p>
          </p:txBody>
        </p:sp>
        <p:sp>
          <p:nvSpPr>
            <p:cNvPr id="33" name="object 30">
              <a:extLst>
                <a:ext uri="{FF2B5EF4-FFF2-40B4-BE49-F238E27FC236}">
                  <a16:creationId xmlns:a16="http://schemas.microsoft.com/office/drawing/2014/main" id="{3943F95D-0674-ECFF-26A1-794B61DCCFEF}"/>
                </a:ext>
              </a:extLst>
            </p:cNvPr>
            <p:cNvSpPr txBox="1"/>
            <p:nvPr/>
          </p:nvSpPr>
          <p:spPr>
            <a:xfrm>
              <a:off x="3914039" y="1791061"/>
              <a:ext cx="1647286" cy="279564"/>
            </a:xfrm>
            <a:prstGeom prst="rect">
              <a:avLst/>
            </a:prstGeom>
            <a:ln w="19050">
              <a:solidFill>
                <a:srgbClr val="4285F4"/>
              </a:solidFill>
            </a:ln>
          </p:spPr>
          <p:txBody>
            <a:bodyPr vert="horz" wrap="square" lIns="0" tIns="33020" rIns="0" bIns="0" rtlCol="0" anchor="t">
              <a:spAutoFit/>
            </a:bodyPr>
            <a:lstStyle/>
            <a:p>
              <a:pPr marL="158750">
                <a:lnSpc>
                  <a:spcPct val="100000"/>
                </a:lnSpc>
                <a:spcBef>
                  <a:spcPts val="260"/>
                </a:spcBef>
              </a:pPr>
              <a:r>
                <a:rPr lang="zh-CN" altLang="af-ZA" sz="1600" spc="-35" dirty="0">
                  <a:solidFill>
                    <a:srgbClr val="4285F4"/>
                  </a:solidFill>
                  <a:latin typeface="Arial"/>
                  <a:cs typeface="Arial"/>
                </a:rPr>
                <a:t>写入新的信息</a:t>
              </a:r>
              <a:endParaRPr lang="af-ZA" altLang="zh-CN" sz="1600" spc="-35" dirty="0">
                <a:solidFill>
                  <a:srgbClr val="4285F4"/>
                </a:solidFill>
                <a:cs typeface="Arial"/>
              </a:endParaRPr>
            </a:p>
          </p:txBody>
        </p:sp>
        <p:sp>
          <p:nvSpPr>
            <p:cNvPr id="34" name="object 32">
              <a:extLst>
                <a:ext uri="{FF2B5EF4-FFF2-40B4-BE49-F238E27FC236}">
                  <a16:creationId xmlns:a16="http://schemas.microsoft.com/office/drawing/2014/main" id="{0350870E-5304-8135-EF5B-86A45E1FC42D}"/>
                </a:ext>
              </a:extLst>
            </p:cNvPr>
            <p:cNvSpPr txBox="1"/>
            <p:nvPr/>
          </p:nvSpPr>
          <p:spPr>
            <a:xfrm>
              <a:off x="8137662" y="3011151"/>
              <a:ext cx="2530337" cy="286617"/>
            </a:xfrm>
            <a:prstGeom prst="rect">
              <a:avLst/>
            </a:prstGeom>
            <a:ln w="19050">
              <a:solidFill>
                <a:srgbClr val="4285F4"/>
              </a:solidFill>
            </a:ln>
          </p:spPr>
          <p:txBody>
            <a:bodyPr vert="horz" wrap="square" lIns="0" tIns="42545" rIns="0" bIns="0" rtlCol="0" anchor="t">
              <a:spAutoFit/>
            </a:bodyPr>
            <a:lstStyle/>
            <a:p>
              <a:pPr marL="395605" marR="123825" indent="-264795">
                <a:lnSpc>
                  <a:spcPts val="1900"/>
                </a:lnSpc>
                <a:spcBef>
                  <a:spcPts val="335"/>
                </a:spcBef>
              </a:pPr>
              <a:r>
                <a:rPr lang="zh-CN" altLang="en-US" sz="1600" spc="-20" dirty="0">
                  <a:solidFill>
                    <a:srgbClr val="4285F4"/>
                  </a:solidFill>
                  <a:latin typeface="Arial"/>
                  <a:cs typeface="Arial"/>
                </a:rPr>
                <a:t>输出一些信息到隐向量</a:t>
              </a:r>
            </a:p>
          </p:txBody>
        </p:sp>
        <p:cxnSp>
          <p:nvCxnSpPr>
            <p:cNvPr id="35" name="Straight Arrow Connector 34">
              <a:extLst>
                <a:ext uri="{FF2B5EF4-FFF2-40B4-BE49-F238E27FC236}">
                  <a16:creationId xmlns:a16="http://schemas.microsoft.com/office/drawing/2014/main" id="{D877B819-F4F4-DA21-EF2D-73DB85E0A8AD}"/>
                </a:ext>
              </a:extLst>
            </p:cNvPr>
            <p:cNvCxnSpPr/>
            <p:nvPr/>
          </p:nvCxnSpPr>
          <p:spPr>
            <a:xfrm>
              <a:off x="5488560" y="2072628"/>
              <a:ext cx="577828" cy="617811"/>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A413A38-05D6-ED92-5CE0-69C27DE81528}"/>
                </a:ext>
              </a:extLst>
            </p:cNvPr>
            <p:cNvCxnSpPr>
              <a:cxnSpLocks/>
            </p:cNvCxnSpPr>
            <p:nvPr/>
          </p:nvCxnSpPr>
          <p:spPr>
            <a:xfrm flipH="1" flipV="1">
              <a:off x="7219581" y="2924129"/>
              <a:ext cx="913950" cy="167886"/>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82F6BDDC-5312-940C-BF65-7E777C410365}"/>
                </a:ext>
              </a:extLst>
            </p:cNvPr>
            <p:cNvSpPr/>
            <p:nvPr/>
          </p:nvSpPr>
          <p:spPr>
            <a:xfrm>
              <a:off x="7577147" y="4244868"/>
              <a:ext cx="122856" cy="2810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46750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B3D1F-B45F-9282-FC19-5F8E1E79AF00}"/>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8096612B-042D-0AF4-2428-950D67080293}"/>
              </a:ext>
            </a:extLst>
          </p:cNvPr>
          <p:cNvGrpSpPr/>
          <p:nvPr/>
        </p:nvGrpSpPr>
        <p:grpSpPr>
          <a:xfrm>
            <a:off x="0" y="-1589"/>
            <a:ext cx="12191999" cy="768585"/>
            <a:chOff x="0" y="-1589"/>
            <a:chExt cx="12191999" cy="768585"/>
          </a:xfrm>
        </p:grpSpPr>
        <p:grpSp>
          <p:nvGrpSpPr>
            <p:cNvPr id="8" name="Group 9">
              <a:extLst>
                <a:ext uri="{FF2B5EF4-FFF2-40B4-BE49-F238E27FC236}">
                  <a16:creationId xmlns:a16="http://schemas.microsoft.com/office/drawing/2014/main" id="{0F4E21A5-C622-3258-D5BD-A5DA208E6394}"/>
                </a:ext>
              </a:extLst>
            </p:cNvPr>
            <p:cNvGrpSpPr>
              <a:grpSpLocks noChangeAspect="1"/>
            </p:cNvGrpSpPr>
            <p:nvPr/>
          </p:nvGrpSpPr>
          <p:grpSpPr bwMode="auto">
            <a:xfrm>
              <a:off x="0" y="-1589"/>
              <a:ext cx="12191999" cy="767234"/>
              <a:chOff x="-1" y="-1"/>
              <a:chExt cx="7719" cy="568"/>
            </a:xfrm>
          </p:grpSpPr>
          <p:sp>
            <p:nvSpPr>
              <p:cNvPr id="12" name="Freeform 11">
                <a:extLst>
                  <a:ext uri="{FF2B5EF4-FFF2-40B4-BE49-F238E27FC236}">
                    <a16:creationId xmlns:a16="http://schemas.microsoft.com/office/drawing/2014/main" id="{39167CE5-7F5E-5F04-3ED5-02336AC45D72}"/>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3" name="AutoShape 8">
                <a:extLst>
                  <a:ext uri="{FF2B5EF4-FFF2-40B4-BE49-F238E27FC236}">
                    <a16:creationId xmlns:a16="http://schemas.microsoft.com/office/drawing/2014/main" id="{AF649941-9209-BE09-9FFA-52577846AC10}"/>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9" name="任意多边形: 形状 12">
              <a:extLst>
                <a:ext uri="{FF2B5EF4-FFF2-40B4-BE49-F238E27FC236}">
                  <a16:creationId xmlns:a16="http://schemas.microsoft.com/office/drawing/2014/main" id="{132AEC73-8DEF-F235-C7F8-F98105BDAB1C}"/>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0" name="文本框 18">
              <a:extLst>
                <a:ext uri="{FF2B5EF4-FFF2-40B4-BE49-F238E27FC236}">
                  <a16:creationId xmlns:a16="http://schemas.microsoft.com/office/drawing/2014/main" id="{0723A1C6-FD6C-1B77-B1EA-497227A5FCE7}"/>
                </a:ext>
              </a:extLst>
            </p:cNvPr>
            <p:cNvSpPr txBox="1"/>
            <p:nvPr/>
          </p:nvSpPr>
          <p:spPr>
            <a:xfrm>
              <a:off x="350439" y="120418"/>
              <a:ext cx="337784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800" b="1" dirty="0">
                  <a:solidFill>
                    <a:prstClr val="white"/>
                  </a:solidFill>
                  <a:cs typeface="+mn-ea"/>
                  <a:sym typeface="+mn-lt"/>
                </a:rPr>
                <a:t>RNN</a:t>
              </a:r>
              <a:r>
                <a:rPr lang="zh-CN" altLang="en-US" sz="2800" b="1" dirty="0">
                  <a:solidFill>
                    <a:prstClr val="white"/>
                  </a:solidFill>
                  <a:cs typeface="+mn-ea"/>
                  <a:sym typeface="+mn-lt"/>
                </a:rPr>
                <a:t>与</a:t>
              </a:r>
              <a:r>
                <a:rPr lang="en-US" altLang="zh-CN" sz="2800" b="1" dirty="0">
                  <a:solidFill>
                    <a:prstClr val="white"/>
                  </a:solidFill>
                  <a:cs typeface="+mn-ea"/>
                  <a:sym typeface="+mn-lt"/>
                </a:rPr>
                <a:t>LSTM</a:t>
              </a:r>
              <a:r>
                <a:rPr lang="zh-CN" altLang="en-US" sz="2800" b="1" dirty="0">
                  <a:solidFill>
                    <a:prstClr val="white"/>
                  </a:solidFill>
                  <a:cs typeface="+mn-ea"/>
                  <a:sym typeface="+mn-lt"/>
                </a:rPr>
                <a:t>的比较</a:t>
              </a:r>
              <a:endParaRPr kumimoji="0" lang="zh-CN" altLang="en-US" sz="2800" b="1" i="0" u="none" strike="noStrike" kern="1200" cap="none" spc="0" normalizeH="0" baseline="0" noProof="0" dirty="0">
                <a:ln>
                  <a:noFill/>
                </a:ln>
                <a:solidFill>
                  <a:prstClr val="white"/>
                </a:solidFill>
                <a:effectLst/>
                <a:uLnTx/>
                <a:uFillTx/>
                <a:cs typeface="+mn-ea"/>
                <a:sym typeface="+mn-lt"/>
              </a:endParaRPr>
            </a:p>
          </p:txBody>
        </p:sp>
      </p:grpSp>
      <p:pic>
        <p:nvPicPr>
          <p:cNvPr id="19" name="object 4">
            <a:extLst>
              <a:ext uri="{FF2B5EF4-FFF2-40B4-BE49-F238E27FC236}">
                <a16:creationId xmlns:a16="http://schemas.microsoft.com/office/drawing/2014/main" id="{0E5D4862-56F6-4D67-1F50-FCEAFED0915F}"/>
              </a:ext>
            </a:extLst>
          </p:cNvPr>
          <p:cNvPicPr/>
          <p:nvPr/>
        </p:nvPicPr>
        <p:blipFill>
          <a:blip r:embed="rId3" cstate="print"/>
          <a:stretch>
            <a:fillRect/>
          </a:stretch>
        </p:blipFill>
        <p:spPr>
          <a:xfrm>
            <a:off x="1523774" y="1709110"/>
            <a:ext cx="3120227" cy="1164884"/>
          </a:xfrm>
          <a:prstGeom prst="rect">
            <a:avLst/>
          </a:prstGeom>
        </p:spPr>
      </p:pic>
      <p:pic>
        <p:nvPicPr>
          <p:cNvPr id="20" name="object 5">
            <a:extLst>
              <a:ext uri="{FF2B5EF4-FFF2-40B4-BE49-F238E27FC236}">
                <a16:creationId xmlns:a16="http://schemas.microsoft.com/office/drawing/2014/main" id="{AEC748F1-F981-654E-FB5F-48F7AE1B54BE}"/>
              </a:ext>
            </a:extLst>
          </p:cNvPr>
          <p:cNvPicPr/>
          <p:nvPr/>
        </p:nvPicPr>
        <p:blipFill>
          <a:blip r:embed="rId4" cstate="print"/>
          <a:stretch>
            <a:fillRect/>
          </a:stretch>
        </p:blipFill>
        <p:spPr>
          <a:xfrm>
            <a:off x="7277846" y="1709110"/>
            <a:ext cx="3143903" cy="1183038"/>
          </a:xfrm>
          <a:prstGeom prst="rect">
            <a:avLst/>
          </a:prstGeom>
        </p:spPr>
      </p:pic>
      <mc:AlternateContent xmlns:mc="http://schemas.openxmlformats.org/markup-compatibility/2006" xmlns:a14="http://schemas.microsoft.com/office/drawing/2010/main">
        <mc:Choice Requires="a14">
          <p:sp>
            <p:nvSpPr>
              <p:cNvPr id="21" name="object 6">
                <a:extLst>
                  <a:ext uri="{FF2B5EF4-FFF2-40B4-BE49-F238E27FC236}">
                    <a16:creationId xmlns:a16="http://schemas.microsoft.com/office/drawing/2014/main" id="{BDCAE355-0B59-222B-F2F4-DA5040C22D41}"/>
                  </a:ext>
                </a:extLst>
              </p:cNvPr>
              <p:cNvSpPr txBox="1"/>
              <p:nvPr/>
            </p:nvSpPr>
            <p:spPr>
              <a:xfrm>
                <a:off x="1098840" y="4020579"/>
                <a:ext cx="4150568" cy="409593"/>
              </a:xfrm>
              <a:prstGeom prst="rect">
                <a:avLst/>
              </a:prstGeom>
            </p:spPr>
            <p:txBody>
              <a:bodyPr vert="horz" wrap="square" lIns="0" tIns="22981" rIns="0" bIns="0" rtlCol="0">
                <a:spAutoFit/>
              </a:bodyPr>
              <a:lstStyle/>
              <a:p>
                <a:pPr marL="72573">
                  <a:spcBef>
                    <a:spcPts val="181"/>
                  </a:spcBef>
                </a:pPr>
                <a14:m>
                  <m:oMathPara xmlns:m="http://schemas.openxmlformats.org/officeDocument/2006/math">
                    <m:oMathParaPr>
                      <m:jc m:val="centerGroup"/>
                    </m:oMathParaPr>
                    <m:oMath xmlns:m="http://schemas.openxmlformats.org/officeDocument/2006/math">
                      <m:sSub>
                        <m:sSubPr>
                          <m:ctrlPr>
                            <a:rPr lang="en-US" altLang="zh-CN" sz="2571" b="0" i="1" baseline="6172" dirty="0" smtClean="0">
                              <a:latin typeface="Cambria Math" panose="02040503050406030204" pitchFamily="18" charset="0"/>
                              <a:cs typeface="Times New Roman"/>
                            </a:rPr>
                          </m:ctrlPr>
                        </m:sSubPr>
                        <m:e>
                          <m:r>
                            <a:rPr lang="en-US" sz="2571" i="1" baseline="6172" dirty="0" smtClean="0">
                              <a:latin typeface="Cambria Math" panose="02040503050406030204" pitchFamily="18" charset="0"/>
                              <a:cs typeface="Times New Roman"/>
                            </a:rPr>
                            <m:t>h</m:t>
                          </m:r>
                        </m:e>
                        <m:sub>
                          <m:r>
                            <a:rPr lang="en-US" altLang="zh-CN" sz="2571" b="0" i="1" baseline="6172" dirty="0" smtClean="0">
                              <a:latin typeface="Cambria Math" panose="02040503050406030204" pitchFamily="18" charset="0"/>
                              <a:cs typeface="Times New Roman"/>
                            </a:rPr>
                            <m:t>𝑡</m:t>
                          </m:r>
                        </m:sub>
                      </m:sSub>
                      <m:r>
                        <a:rPr lang="en-US" sz="2571" i="1" spc="585" baseline="6172" dirty="0">
                          <a:latin typeface="Cambria Math" panose="02040503050406030204" pitchFamily="18" charset="0"/>
                          <a:cs typeface="Times New Roman"/>
                        </a:rPr>
                        <m:t>=</m:t>
                      </m:r>
                      <m:r>
                        <m:rPr>
                          <m:sty m:val="p"/>
                        </m:rPr>
                        <a:rPr lang="en-US" sz="2571" i="1" spc="-29" baseline="6172" dirty="0">
                          <a:latin typeface="Cambria Math" panose="02040503050406030204" pitchFamily="18" charset="0"/>
                          <a:cs typeface="Times New Roman"/>
                        </a:rPr>
                        <m:t>tanh</m:t>
                      </m:r>
                      <m:r>
                        <a:rPr lang="en-US" sz="2571" i="1" spc="-114" baseline="6172" dirty="0">
                          <a:latin typeface="Cambria Math" panose="02040503050406030204" pitchFamily="18" charset="0"/>
                          <a:cs typeface="Times New Roman"/>
                        </a:rPr>
                        <m:t>⁡</m:t>
                      </m:r>
                      <m:r>
                        <a:rPr lang="en-US" sz="2571" i="1" baseline="6172" dirty="0">
                          <a:latin typeface="Cambria Math" panose="02040503050406030204" pitchFamily="18" charset="0"/>
                          <a:cs typeface="Times New Roman"/>
                        </a:rPr>
                        <m:t>(</m:t>
                      </m:r>
                      <m:sSub>
                        <m:sSubPr>
                          <m:ctrlPr>
                            <a:rPr lang="en-US" altLang="zh-CN" sz="2571" b="0" i="1" spc="-29" baseline="6172" dirty="0" smtClean="0">
                              <a:latin typeface="Cambria Math" panose="02040503050406030204" pitchFamily="18" charset="0"/>
                              <a:cs typeface="Times New Roman"/>
                            </a:rPr>
                          </m:ctrlPr>
                        </m:sSubPr>
                        <m:e>
                          <m:r>
                            <a:rPr lang="en-US" sz="2571" i="1" baseline="6172" dirty="0">
                              <a:latin typeface="Cambria Math" panose="02040503050406030204" pitchFamily="18" charset="0"/>
                              <a:cs typeface="Times New Roman"/>
                            </a:rPr>
                            <m:t>𝑊</m:t>
                          </m:r>
                        </m:e>
                        <m:sub>
                          <m:r>
                            <a:rPr lang="en-US" altLang="zh-CN" sz="2571" b="0" i="1" baseline="6172" dirty="0" smtClean="0">
                              <a:latin typeface="Cambria Math" panose="02040503050406030204" pitchFamily="18" charset="0"/>
                              <a:cs typeface="Times New Roman"/>
                            </a:rPr>
                            <m:t>𝑥h</m:t>
                          </m:r>
                        </m:sub>
                      </m:sSub>
                      <m:sSub>
                        <m:sSubPr>
                          <m:ctrlPr>
                            <a:rPr lang="en-US" altLang="zh-CN" sz="2571" b="0" i="1" baseline="6172" dirty="0" smtClean="0">
                              <a:latin typeface="Cambria Math" panose="02040503050406030204" pitchFamily="18" charset="0"/>
                              <a:cs typeface="Times New Roman"/>
                            </a:rPr>
                          </m:ctrlPr>
                        </m:sSubPr>
                        <m:e>
                          <m:r>
                            <a:rPr lang="en-US" sz="2571" i="1" baseline="6172" dirty="0">
                              <a:latin typeface="Cambria Math" panose="02040503050406030204" pitchFamily="18" charset="0"/>
                              <a:cs typeface="Times New Roman"/>
                            </a:rPr>
                            <m:t>𝑥</m:t>
                          </m:r>
                        </m:e>
                        <m:sub>
                          <m:r>
                            <a:rPr lang="en-US" altLang="zh-CN" sz="2571" b="0" i="1" baseline="6172" dirty="0" smtClean="0">
                              <a:latin typeface="Cambria Math" panose="02040503050406030204" pitchFamily="18" charset="0"/>
                              <a:cs typeface="Times New Roman"/>
                            </a:rPr>
                            <m:t>𝑡</m:t>
                          </m:r>
                        </m:sub>
                      </m:sSub>
                      <m:r>
                        <a:rPr lang="en-US" sz="2571" i="1" spc="585" baseline="6172" dirty="0">
                          <a:latin typeface="Cambria Math" panose="02040503050406030204" pitchFamily="18" charset="0"/>
                          <a:cs typeface="Times New Roman"/>
                        </a:rPr>
                        <m:t>+</m:t>
                      </m:r>
                      <m:sSub>
                        <m:sSubPr>
                          <m:ctrlPr>
                            <a:rPr lang="en-US" altLang="zh-CN" sz="2571" b="0" i="1" baseline="6172" dirty="0" smtClean="0">
                              <a:latin typeface="Cambria Math" panose="02040503050406030204" pitchFamily="18" charset="0"/>
                              <a:cs typeface="Times New Roman"/>
                            </a:rPr>
                          </m:ctrlPr>
                        </m:sSubPr>
                        <m:e>
                          <m:r>
                            <a:rPr lang="en-US" sz="2571" i="1" baseline="6172" dirty="0">
                              <a:latin typeface="Cambria Math" panose="02040503050406030204" pitchFamily="18" charset="0"/>
                              <a:cs typeface="Times New Roman"/>
                            </a:rPr>
                            <m:t>𝑊</m:t>
                          </m:r>
                        </m:e>
                        <m:sub>
                          <m:r>
                            <a:rPr lang="en-US" altLang="zh-CN" sz="2571" b="0" i="1" baseline="6172" dirty="0" smtClean="0">
                              <a:latin typeface="Cambria Math" panose="02040503050406030204" pitchFamily="18" charset="0"/>
                              <a:cs typeface="Times New Roman"/>
                            </a:rPr>
                            <m:t>hh</m:t>
                          </m:r>
                        </m:sub>
                      </m:sSub>
                      <m:sSub>
                        <m:sSubPr>
                          <m:ctrlPr>
                            <a:rPr lang="en-US" altLang="zh-CN" sz="2571" b="0" i="1" baseline="6172" dirty="0" smtClean="0">
                              <a:latin typeface="Cambria Math" panose="02040503050406030204" pitchFamily="18" charset="0"/>
                              <a:cs typeface="Times New Roman"/>
                            </a:rPr>
                          </m:ctrlPr>
                        </m:sSubPr>
                        <m:e>
                          <m:r>
                            <a:rPr lang="en-US" sz="2571" i="1" baseline="6172" dirty="0">
                              <a:latin typeface="Cambria Math" panose="02040503050406030204" pitchFamily="18" charset="0"/>
                              <a:cs typeface="Times New Roman"/>
                            </a:rPr>
                            <m:t>h</m:t>
                          </m:r>
                        </m:e>
                        <m:sub>
                          <m:r>
                            <a:rPr lang="en-US" altLang="zh-CN" sz="2571" b="0" i="1" baseline="6172" dirty="0" smtClean="0">
                              <a:latin typeface="Cambria Math" panose="02040503050406030204" pitchFamily="18" charset="0"/>
                              <a:cs typeface="Times New Roman"/>
                            </a:rPr>
                            <m:t>𝑡</m:t>
                          </m:r>
                          <m:r>
                            <a:rPr lang="en-US" altLang="zh-CN" sz="2571" b="0" i="1" baseline="6172" dirty="0" smtClean="0">
                              <a:latin typeface="Cambria Math" panose="02040503050406030204" pitchFamily="18" charset="0"/>
                              <a:cs typeface="Times New Roman"/>
                            </a:rPr>
                            <m:t>−1</m:t>
                          </m:r>
                        </m:sub>
                      </m:sSub>
                      <m:r>
                        <a:rPr lang="en-US" altLang="zh-CN" sz="2571" b="0" i="1" spc="70" baseline="6172" dirty="0" smtClean="0">
                          <a:latin typeface="Cambria Math" panose="02040503050406030204" pitchFamily="18" charset="0"/>
                          <a:cs typeface="Times New Roman"/>
                        </a:rPr>
                        <m:t>+</m:t>
                      </m:r>
                      <m:sSub>
                        <m:sSubPr>
                          <m:ctrlPr>
                            <a:rPr lang="en-US" altLang="zh-CN" sz="2571" b="0" i="1" spc="-70" baseline="6172" dirty="0" smtClean="0">
                              <a:latin typeface="Cambria Math" panose="02040503050406030204" pitchFamily="18" charset="0"/>
                              <a:cs typeface="Times New Roman"/>
                            </a:rPr>
                          </m:ctrlPr>
                        </m:sSubPr>
                        <m:e>
                          <m:r>
                            <a:rPr lang="en-US" sz="2571" i="1" spc="-70" baseline="6172" dirty="0">
                              <a:latin typeface="Cambria Math" panose="02040503050406030204" pitchFamily="18" charset="0"/>
                              <a:cs typeface="Times New Roman"/>
                            </a:rPr>
                            <m:t>𝑏</m:t>
                          </m:r>
                        </m:e>
                        <m:sub>
                          <m:r>
                            <a:rPr lang="en-US" altLang="zh-CN" sz="2571" b="0" i="1" spc="-70" baseline="6172" dirty="0" smtClean="0">
                              <a:latin typeface="Cambria Math" panose="02040503050406030204" pitchFamily="18" charset="0"/>
                              <a:cs typeface="Times New Roman"/>
                            </a:rPr>
                            <m:t>h</m:t>
                          </m:r>
                        </m:sub>
                      </m:sSub>
                      <m:r>
                        <a:rPr lang="en-US" sz="2571" i="1" spc="-70" baseline="6172" dirty="0">
                          <a:latin typeface="Cambria Math" panose="02040503050406030204" pitchFamily="18" charset="0"/>
                          <a:cs typeface="Times New Roman"/>
                        </a:rPr>
                        <m:t>)</m:t>
                      </m:r>
                    </m:oMath>
                  </m:oMathPara>
                </a14:m>
                <a:endParaRPr sz="2571" baseline="6172" dirty="0">
                  <a:latin typeface="Times New Roman"/>
                  <a:cs typeface="Times New Roman"/>
                </a:endParaRPr>
              </a:p>
            </p:txBody>
          </p:sp>
        </mc:Choice>
        <mc:Fallback xmlns="">
          <p:sp>
            <p:nvSpPr>
              <p:cNvPr id="21" name="object 6">
                <a:extLst>
                  <a:ext uri="{FF2B5EF4-FFF2-40B4-BE49-F238E27FC236}">
                    <a16:creationId xmlns:a16="http://schemas.microsoft.com/office/drawing/2014/main" id="{BDCAE355-0B59-222B-F2F4-DA5040C22D41}"/>
                  </a:ext>
                </a:extLst>
              </p:cNvPr>
              <p:cNvSpPr txBox="1">
                <a:spLocks noRot="1" noChangeAspect="1" noMove="1" noResize="1" noEditPoints="1" noAdjustHandles="1" noChangeArrowheads="1" noChangeShapeType="1" noTextEdit="1"/>
              </p:cNvSpPr>
              <p:nvPr/>
            </p:nvSpPr>
            <p:spPr>
              <a:xfrm>
                <a:off x="1098840" y="4020579"/>
                <a:ext cx="4150568" cy="409593"/>
              </a:xfrm>
              <a:prstGeom prst="rect">
                <a:avLst/>
              </a:prstGeom>
              <a:blipFill>
                <a:blip r:embed="rId5"/>
                <a:stretch>
                  <a:fillRect b="-6061"/>
                </a:stretch>
              </a:blipFill>
            </p:spPr>
            <p:txBody>
              <a:bodyPr/>
              <a:lstStyle/>
              <a:p>
                <a:r>
                  <a:rPr lang="en-US">
                    <a:noFill/>
                  </a:rPr>
                  <a:t> </a:t>
                </a:r>
              </a:p>
            </p:txBody>
          </p:sp>
        </mc:Fallback>
      </mc:AlternateContent>
      <p:sp>
        <p:nvSpPr>
          <p:cNvPr id="27" name="TextBox 26">
            <a:extLst>
              <a:ext uri="{FF2B5EF4-FFF2-40B4-BE49-F238E27FC236}">
                <a16:creationId xmlns:a16="http://schemas.microsoft.com/office/drawing/2014/main" id="{D73BBAFD-E33D-DA89-D6F6-D53048A7FBFC}"/>
              </a:ext>
            </a:extLst>
          </p:cNvPr>
          <p:cNvSpPr txBox="1"/>
          <p:nvPr/>
        </p:nvSpPr>
        <p:spPr>
          <a:xfrm>
            <a:off x="2566265" y="5819926"/>
            <a:ext cx="607859" cy="369332"/>
          </a:xfrm>
          <a:prstGeom prst="rect">
            <a:avLst/>
          </a:prstGeom>
          <a:noFill/>
        </p:spPr>
        <p:txBody>
          <a:bodyPr wrap="none" rtlCol="0">
            <a:spAutoFit/>
          </a:bodyPr>
          <a:lstStyle/>
          <a:p>
            <a:r>
              <a:rPr lang="en-US" altLang="zh-CN" dirty="0"/>
              <a:t>RNN</a:t>
            </a:r>
            <a:endParaRPr lang="en-US" dirty="0"/>
          </a:p>
        </p:txBody>
      </p:sp>
      <p:sp>
        <p:nvSpPr>
          <p:cNvPr id="28" name="TextBox 27">
            <a:extLst>
              <a:ext uri="{FF2B5EF4-FFF2-40B4-BE49-F238E27FC236}">
                <a16:creationId xmlns:a16="http://schemas.microsoft.com/office/drawing/2014/main" id="{BEEBBCDE-0BEE-EA00-90A0-B5334AC99867}"/>
              </a:ext>
            </a:extLst>
          </p:cNvPr>
          <p:cNvSpPr txBox="1"/>
          <p:nvPr/>
        </p:nvSpPr>
        <p:spPr>
          <a:xfrm>
            <a:off x="8424405" y="5819926"/>
            <a:ext cx="696024" cy="369332"/>
          </a:xfrm>
          <a:prstGeom prst="rect">
            <a:avLst/>
          </a:prstGeom>
          <a:noFill/>
        </p:spPr>
        <p:txBody>
          <a:bodyPr wrap="none" rtlCol="0">
            <a:spAutoFit/>
          </a:bodyPr>
          <a:lstStyle/>
          <a:p>
            <a:r>
              <a:rPr lang="en-US" altLang="zh-CN" dirty="0"/>
              <a:t>LSTM</a:t>
            </a:r>
            <a:endParaRPr lang="en-US" dirty="0"/>
          </a:p>
        </p:txBody>
      </p:sp>
      <p:sp>
        <p:nvSpPr>
          <p:cNvPr id="29" name="Content Placeholder 7">
            <a:extLst>
              <a:ext uri="{FF2B5EF4-FFF2-40B4-BE49-F238E27FC236}">
                <a16:creationId xmlns:a16="http://schemas.microsoft.com/office/drawing/2014/main" id="{21A3369A-B136-7B95-4FAA-9B30EAEF74F3}"/>
              </a:ext>
            </a:extLst>
          </p:cNvPr>
          <p:cNvSpPr>
            <a:spLocks noGrp="1"/>
          </p:cNvSpPr>
          <p:nvPr>
            <p:ph idx="1"/>
          </p:nvPr>
        </p:nvSpPr>
        <p:spPr>
          <a:xfrm>
            <a:off x="567744" y="841568"/>
            <a:ext cx="11070452" cy="765883"/>
          </a:xfrm>
        </p:spPr>
        <p:txBody>
          <a:bodyPr>
            <a:noAutofit/>
          </a:bodyPr>
          <a:lstStyle/>
          <a:p>
            <a:pPr indent="-457200" algn="just">
              <a:lnSpc>
                <a:spcPct val="150000"/>
              </a:lnSpc>
              <a:buFont typeface="Wingdings" panose="05000000000000000000" pitchFamily="2" charset="2"/>
              <a:buChar char="p"/>
              <a:defRPr/>
            </a:pPr>
            <a:r>
              <a:rPr lang="en-US" dirty="0" err="1"/>
              <a:t>LSTM使用记忆机制存储历史信息</a:t>
            </a:r>
            <a:endParaRPr lang="zh-CN" alt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10CC6CD-9857-EB83-AB1F-59F250DC03BF}"/>
                  </a:ext>
                </a:extLst>
              </p:cNvPr>
              <p:cNvSpPr txBox="1"/>
              <p:nvPr/>
            </p:nvSpPr>
            <p:spPr>
              <a:xfrm>
                <a:off x="7058678" y="3113998"/>
                <a:ext cx="3578865" cy="2668744"/>
              </a:xfrm>
              <a:prstGeom prst="rect">
                <a:avLst/>
              </a:prstGeom>
              <a:noFill/>
            </p:spPr>
            <p:txBody>
              <a:bodyPr wrap="none" rtlCol="0">
                <a:spAutoFit/>
              </a:bodyPr>
              <a:lstStyle/>
              <a:p>
                <a:pPr marL="72573">
                  <a:lnSpc>
                    <a:spcPct val="150000"/>
                  </a:lnSpc>
                  <a:spcBef>
                    <a:spcPts val="181"/>
                  </a:spcBef>
                </a:pPr>
                <a14:m>
                  <m:oMathPara xmlns:m="http://schemas.openxmlformats.org/officeDocument/2006/math">
                    <m:oMathParaPr>
                      <m:jc m:val="centerGroup"/>
                    </m:oMathParaPr>
                    <m:oMath xmlns:m="http://schemas.openxmlformats.org/officeDocument/2006/math">
                      <m:sSub>
                        <m:sSubPr>
                          <m:ctrlPr>
                            <a:rPr lang="en-US" altLang="zh-CN" b="0" i="1" dirty="0" smtClean="0">
                              <a:latin typeface="Cambria Math" panose="02040503050406030204" pitchFamily="18" charset="0"/>
                              <a:cs typeface="Times New Roman"/>
                            </a:rPr>
                          </m:ctrlPr>
                        </m:sSubPr>
                        <m:e>
                          <m:r>
                            <a:rPr lang="en-US" altLang="zh-CN" b="0" i="1" dirty="0" smtClean="0">
                              <a:latin typeface="Cambria Math" panose="02040503050406030204" pitchFamily="18" charset="0"/>
                              <a:cs typeface="Times New Roman"/>
                            </a:rPr>
                            <m:t>𝑓</m:t>
                          </m:r>
                        </m:e>
                        <m:sub>
                          <m:r>
                            <a:rPr lang="en-US" altLang="zh-CN" b="0" i="1" dirty="0" smtClean="0">
                              <a:latin typeface="Cambria Math" panose="02040503050406030204" pitchFamily="18" charset="0"/>
                              <a:cs typeface="Times New Roman"/>
                            </a:rPr>
                            <m:t>𝑡</m:t>
                          </m:r>
                        </m:sub>
                      </m:sSub>
                      <m:r>
                        <a:rPr lang="en-US" i="1" spc="585" dirty="0">
                          <a:latin typeface="Cambria Math" panose="02040503050406030204" pitchFamily="18" charset="0"/>
                          <a:cs typeface="Times New Roman"/>
                        </a:rPr>
                        <m:t>=</m:t>
                      </m:r>
                      <m:func>
                        <m:funcPr>
                          <m:ctrlPr>
                            <a:rPr lang="en-US" altLang="zh-CN" b="0" i="1" spc="-114" dirty="0">
                              <a:latin typeface="Cambria Math" panose="02040503050406030204" pitchFamily="18" charset="0"/>
                              <a:cs typeface="Times New Roman"/>
                            </a:rPr>
                          </m:ctrlPr>
                        </m:funcPr>
                        <m:fName>
                          <m:r>
                            <a:rPr lang="en-US" altLang="zh-CN" b="0" i="1" spc="585" dirty="0" smtClean="0">
                              <a:latin typeface="Cambria Math" panose="02040503050406030204" pitchFamily="18" charset="0"/>
                              <a:cs typeface="Times New Roman"/>
                            </a:rPr>
                            <m:t>𝜎</m:t>
                          </m:r>
                        </m:fName>
                        <m:e>
                          <m:d>
                            <m:dPr>
                              <m:ctrlPr>
                                <a:rPr lang="en-US" altLang="zh-CN" b="0" i="1" spc="585" dirty="0">
                                  <a:latin typeface="Cambria Math" panose="02040503050406030204" pitchFamily="18" charset="0"/>
                                  <a:cs typeface="Times New Roman"/>
                                </a:rPr>
                              </m:ctrlPr>
                            </m:dPr>
                            <m:e>
                              <m:sSub>
                                <m:sSubPr>
                                  <m:ctrlPr>
                                    <a:rPr lang="en-US" altLang="zh-CN" b="0" i="1" spc="-29" dirty="0" smtClean="0">
                                      <a:latin typeface="Cambria Math" panose="02040503050406030204" pitchFamily="18" charset="0"/>
                                      <a:cs typeface="Times New Roman"/>
                                    </a:rPr>
                                  </m:ctrlPr>
                                </m:sSubPr>
                                <m:e>
                                  <m:r>
                                    <a:rPr lang="en-US" i="1" dirty="0">
                                      <a:latin typeface="Cambria Math" panose="02040503050406030204" pitchFamily="18" charset="0"/>
                                      <a:cs typeface="Times New Roman"/>
                                    </a:rPr>
                                    <m:t>𝑊</m:t>
                                  </m:r>
                                </m:e>
                                <m:sub>
                                  <m:r>
                                    <a:rPr lang="en-US" altLang="zh-CN" b="0" i="1" dirty="0" smtClean="0">
                                      <a:latin typeface="Cambria Math" panose="02040503050406030204" pitchFamily="18" charset="0"/>
                                      <a:cs typeface="Times New Roman"/>
                                    </a:rPr>
                                    <m:t>𝑥𝑓</m:t>
                                  </m:r>
                                </m:sub>
                              </m:sSub>
                              <m:sSub>
                                <m:sSubPr>
                                  <m:ctrlPr>
                                    <a:rPr lang="en-US" altLang="zh-CN" b="0" i="1" dirty="0" smtClean="0">
                                      <a:latin typeface="Cambria Math" panose="02040503050406030204" pitchFamily="18" charset="0"/>
                                      <a:cs typeface="Times New Roman"/>
                                    </a:rPr>
                                  </m:ctrlPr>
                                </m:sSubPr>
                                <m:e>
                                  <m:r>
                                    <a:rPr lang="en-US" i="1" dirty="0">
                                      <a:latin typeface="Cambria Math" panose="02040503050406030204" pitchFamily="18" charset="0"/>
                                      <a:cs typeface="Times New Roman"/>
                                    </a:rPr>
                                    <m:t>𝑥</m:t>
                                  </m:r>
                                </m:e>
                                <m:sub>
                                  <m:r>
                                    <a:rPr lang="en-US" altLang="zh-CN" b="0" i="1" dirty="0" smtClean="0">
                                      <a:latin typeface="Cambria Math" panose="02040503050406030204" pitchFamily="18" charset="0"/>
                                      <a:cs typeface="Times New Roman"/>
                                    </a:rPr>
                                    <m:t>𝑡</m:t>
                                  </m:r>
                                </m:sub>
                              </m:sSub>
                              <m:r>
                                <a:rPr lang="en-US" i="1" spc="585" dirty="0">
                                  <a:latin typeface="Cambria Math" panose="02040503050406030204" pitchFamily="18" charset="0"/>
                                  <a:cs typeface="Times New Roman"/>
                                </a:rPr>
                                <m:t>+</m:t>
                              </m:r>
                              <m:sSub>
                                <m:sSubPr>
                                  <m:ctrlPr>
                                    <a:rPr lang="en-US" altLang="zh-CN" b="0" i="1" dirty="0" smtClean="0">
                                      <a:latin typeface="Cambria Math" panose="02040503050406030204" pitchFamily="18" charset="0"/>
                                      <a:cs typeface="Times New Roman"/>
                                    </a:rPr>
                                  </m:ctrlPr>
                                </m:sSubPr>
                                <m:e>
                                  <m:r>
                                    <a:rPr lang="en-US" i="1" dirty="0">
                                      <a:latin typeface="Cambria Math" panose="02040503050406030204" pitchFamily="18" charset="0"/>
                                      <a:cs typeface="Times New Roman"/>
                                    </a:rPr>
                                    <m:t>𝑊</m:t>
                                  </m:r>
                                </m:e>
                                <m:sub>
                                  <m:r>
                                    <a:rPr lang="en-US" altLang="zh-CN" b="0" i="1" dirty="0" smtClean="0">
                                      <a:latin typeface="Cambria Math" panose="02040503050406030204" pitchFamily="18" charset="0"/>
                                      <a:cs typeface="Times New Roman"/>
                                    </a:rPr>
                                    <m:t>h𝑓</m:t>
                                  </m:r>
                                </m:sub>
                              </m:sSub>
                              <m:sSub>
                                <m:sSubPr>
                                  <m:ctrlPr>
                                    <a:rPr lang="en-US" altLang="zh-CN" b="0" i="1" dirty="0" smtClean="0">
                                      <a:latin typeface="Cambria Math" panose="02040503050406030204" pitchFamily="18" charset="0"/>
                                      <a:cs typeface="Times New Roman"/>
                                    </a:rPr>
                                  </m:ctrlPr>
                                </m:sSubPr>
                                <m:e>
                                  <m:r>
                                    <a:rPr lang="en-US" i="1" dirty="0">
                                      <a:latin typeface="Cambria Math" panose="02040503050406030204" pitchFamily="18" charset="0"/>
                                      <a:cs typeface="Times New Roman"/>
                                    </a:rPr>
                                    <m:t>h</m:t>
                                  </m:r>
                                </m:e>
                                <m:sub>
                                  <m:r>
                                    <a:rPr lang="en-US" altLang="zh-CN" b="0" i="1" dirty="0" smtClean="0">
                                      <a:latin typeface="Cambria Math" panose="02040503050406030204" pitchFamily="18" charset="0"/>
                                      <a:cs typeface="Times New Roman"/>
                                    </a:rPr>
                                    <m:t>𝑡</m:t>
                                  </m:r>
                                  <m:r>
                                    <a:rPr lang="en-US" altLang="zh-CN" b="0" i="1" dirty="0" smtClean="0">
                                      <a:latin typeface="Cambria Math" panose="02040503050406030204" pitchFamily="18" charset="0"/>
                                      <a:cs typeface="Times New Roman"/>
                                    </a:rPr>
                                    <m:t>−1</m:t>
                                  </m:r>
                                </m:sub>
                              </m:sSub>
                              <m:r>
                                <a:rPr lang="en-US" altLang="zh-CN" b="0" i="1" spc="70" dirty="0" smtClean="0">
                                  <a:latin typeface="Cambria Math" panose="02040503050406030204" pitchFamily="18" charset="0"/>
                                  <a:cs typeface="Times New Roman"/>
                                </a:rPr>
                                <m:t>+</m:t>
                              </m:r>
                              <m:sSub>
                                <m:sSubPr>
                                  <m:ctrlPr>
                                    <a:rPr lang="en-US" altLang="zh-CN" b="0" i="1" spc="-70" dirty="0" smtClean="0">
                                      <a:latin typeface="Cambria Math" panose="02040503050406030204" pitchFamily="18" charset="0"/>
                                      <a:cs typeface="Times New Roman"/>
                                    </a:rPr>
                                  </m:ctrlPr>
                                </m:sSubPr>
                                <m:e>
                                  <m:r>
                                    <a:rPr lang="en-US" i="1" spc="-70" dirty="0">
                                      <a:latin typeface="Cambria Math" panose="02040503050406030204" pitchFamily="18" charset="0"/>
                                      <a:cs typeface="Times New Roman"/>
                                    </a:rPr>
                                    <m:t>𝑏</m:t>
                                  </m:r>
                                </m:e>
                                <m:sub>
                                  <m:r>
                                    <a:rPr lang="en-US" altLang="zh-CN" b="0" i="1" spc="-70" dirty="0" smtClean="0">
                                      <a:latin typeface="Cambria Math" panose="02040503050406030204" pitchFamily="18" charset="0"/>
                                      <a:cs typeface="Times New Roman"/>
                                    </a:rPr>
                                    <m:t>𝑓</m:t>
                                  </m:r>
                                </m:sub>
                              </m:sSub>
                            </m:e>
                          </m:d>
                        </m:e>
                      </m:func>
                    </m:oMath>
                  </m:oMathPara>
                </a14:m>
                <a:endParaRPr lang="en-US" spc="-70" dirty="0">
                  <a:latin typeface="Times New Roman"/>
                  <a:cs typeface="Times New Roman"/>
                </a:endParaRPr>
              </a:p>
              <a:p>
                <a:pPr marL="72573">
                  <a:lnSpc>
                    <a:spcPct val="150000"/>
                  </a:lnSpc>
                  <a:spcBef>
                    <a:spcPts val="181"/>
                  </a:spcBef>
                </a:pPr>
                <a14:m>
                  <m:oMathPara xmlns:m="http://schemas.openxmlformats.org/officeDocument/2006/math">
                    <m:oMathParaPr>
                      <m:jc m:val="centerGroup"/>
                    </m:oMathParaPr>
                    <m:oMath xmlns:m="http://schemas.openxmlformats.org/officeDocument/2006/math">
                      <m:sSub>
                        <m:sSubPr>
                          <m:ctrlPr>
                            <a:rPr lang="en-US" altLang="zh-CN" b="0" i="1" dirty="0" smtClean="0">
                              <a:latin typeface="Cambria Math" panose="02040503050406030204" pitchFamily="18" charset="0"/>
                              <a:cs typeface="Times New Roman"/>
                            </a:rPr>
                          </m:ctrlPr>
                        </m:sSubPr>
                        <m:e>
                          <m:r>
                            <a:rPr lang="en-US" altLang="zh-CN" b="0" i="1" dirty="0" smtClean="0">
                              <a:latin typeface="Cambria Math" panose="02040503050406030204" pitchFamily="18" charset="0"/>
                              <a:cs typeface="Times New Roman"/>
                            </a:rPr>
                            <m:t>𝑖</m:t>
                          </m:r>
                        </m:e>
                        <m:sub>
                          <m:r>
                            <a:rPr lang="en-US" altLang="zh-CN" b="0" i="1" dirty="0" smtClean="0">
                              <a:latin typeface="Cambria Math" panose="02040503050406030204" pitchFamily="18" charset="0"/>
                              <a:cs typeface="Times New Roman"/>
                            </a:rPr>
                            <m:t>𝑡</m:t>
                          </m:r>
                        </m:sub>
                      </m:sSub>
                      <m:r>
                        <a:rPr lang="en-US" i="1" spc="585" dirty="0">
                          <a:latin typeface="Cambria Math" panose="02040503050406030204" pitchFamily="18" charset="0"/>
                          <a:cs typeface="Times New Roman"/>
                        </a:rPr>
                        <m:t>=</m:t>
                      </m:r>
                      <m:r>
                        <a:rPr lang="en-US" altLang="zh-CN" b="0" i="1" spc="585" dirty="0" smtClean="0">
                          <a:latin typeface="Cambria Math" panose="02040503050406030204" pitchFamily="18" charset="0"/>
                          <a:cs typeface="Times New Roman"/>
                        </a:rPr>
                        <m:t>𝜎</m:t>
                      </m:r>
                      <m:r>
                        <a:rPr lang="en-US" i="1" spc="-114" dirty="0">
                          <a:latin typeface="Cambria Math" panose="02040503050406030204" pitchFamily="18" charset="0"/>
                          <a:cs typeface="Times New Roman"/>
                        </a:rPr>
                        <m:t>⁡</m:t>
                      </m:r>
                      <m:r>
                        <a:rPr lang="en-US" i="1" dirty="0">
                          <a:latin typeface="Cambria Math" panose="02040503050406030204" pitchFamily="18" charset="0"/>
                          <a:cs typeface="Times New Roman"/>
                        </a:rPr>
                        <m:t>(</m:t>
                      </m:r>
                      <m:sSub>
                        <m:sSubPr>
                          <m:ctrlPr>
                            <a:rPr lang="en-US" altLang="zh-CN" b="0" i="1" spc="-29" dirty="0" smtClean="0">
                              <a:latin typeface="Cambria Math" panose="02040503050406030204" pitchFamily="18" charset="0"/>
                              <a:cs typeface="Times New Roman"/>
                            </a:rPr>
                          </m:ctrlPr>
                        </m:sSubPr>
                        <m:e>
                          <m:r>
                            <a:rPr lang="en-US" i="1" dirty="0">
                              <a:latin typeface="Cambria Math" panose="02040503050406030204" pitchFamily="18" charset="0"/>
                              <a:cs typeface="Times New Roman"/>
                            </a:rPr>
                            <m:t>𝑊</m:t>
                          </m:r>
                        </m:e>
                        <m:sub>
                          <m:r>
                            <a:rPr lang="en-US" altLang="zh-CN" b="0" i="1" dirty="0" smtClean="0">
                              <a:latin typeface="Cambria Math" panose="02040503050406030204" pitchFamily="18" charset="0"/>
                              <a:cs typeface="Times New Roman"/>
                            </a:rPr>
                            <m:t>𝑥𝑖</m:t>
                          </m:r>
                        </m:sub>
                      </m:sSub>
                      <m:sSub>
                        <m:sSubPr>
                          <m:ctrlPr>
                            <a:rPr lang="en-US" altLang="zh-CN" b="0" i="1" dirty="0" smtClean="0">
                              <a:latin typeface="Cambria Math" panose="02040503050406030204" pitchFamily="18" charset="0"/>
                              <a:cs typeface="Times New Roman"/>
                            </a:rPr>
                          </m:ctrlPr>
                        </m:sSubPr>
                        <m:e>
                          <m:r>
                            <a:rPr lang="en-US" i="1" dirty="0">
                              <a:latin typeface="Cambria Math" panose="02040503050406030204" pitchFamily="18" charset="0"/>
                              <a:cs typeface="Times New Roman"/>
                            </a:rPr>
                            <m:t>𝑥</m:t>
                          </m:r>
                        </m:e>
                        <m:sub>
                          <m:r>
                            <a:rPr lang="en-US" altLang="zh-CN" b="0" i="1" dirty="0" smtClean="0">
                              <a:latin typeface="Cambria Math" panose="02040503050406030204" pitchFamily="18" charset="0"/>
                              <a:cs typeface="Times New Roman"/>
                            </a:rPr>
                            <m:t>𝑡</m:t>
                          </m:r>
                        </m:sub>
                      </m:sSub>
                      <m:r>
                        <a:rPr lang="en-US" i="1" spc="585" dirty="0">
                          <a:latin typeface="Cambria Math" panose="02040503050406030204" pitchFamily="18" charset="0"/>
                          <a:cs typeface="Times New Roman"/>
                        </a:rPr>
                        <m:t>+</m:t>
                      </m:r>
                      <m:sSub>
                        <m:sSubPr>
                          <m:ctrlPr>
                            <a:rPr lang="en-US" altLang="zh-CN" b="0" i="1" dirty="0" smtClean="0">
                              <a:latin typeface="Cambria Math" panose="02040503050406030204" pitchFamily="18" charset="0"/>
                              <a:cs typeface="Times New Roman"/>
                            </a:rPr>
                          </m:ctrlPr>
                        </m:sSubPr>
                        <m:e>
                          <m:r>
                            <a:rPr lang="en-US" i="1" dirty="0">
                              <a:latin typeface="Cambria Math" panose="02040503050406030204" pitchFamily="18" charset="0"/>
                              <a:cs typeface="Times New Roman"/>
                            </a:rPr>
                            <m:t>𝑊</m:t>
                          </m:r>
                        </m:e>
                        <m:sub>
                          <m:r>
                            <a:rPr lang="en-US" altLang="zh-CN" b="0" i="1" dirty="0" smtClean="0">
                              <a:latin typeface="Cambria Math" panose="02040503050406030204" pitchFamily="18" charset="0"/>
                              <a:cs typeface="Times New Roman"/>
                            </a:rPr>
                            <m:t>h𝑖</m:t>
                          </m:r>
                        </m:sub>
                      </m:sSub>
                      <m:sSub>
                        <m:sSubPr>
                          <m:ctrlPr>
                            <a:rPr lang="en-US" altLang="zh-CN" b="0" i="1" dirty="0" smtClean="0">
                              <a:latin typeface="Cambria Math" panose="02040503050406030204" pitchFamily="18" charset="0"/>
                              <a:cs typeface="Times New Roman"/>
                            </a:rPr>
                          </m:ctrlPr>
                        </m:sSubPr>
                        <m:e>
                          <m:r>
                            <a:rPr lang="en-US" i="1" dirty="0">
                              <a:latin typeface="Cambria Math" panose="02040503050406030204" pitchFamily="18" charset="0"/>
                              <a:cs typeface="Times New Roman"/>
                            </a:rPr>
                            <m:t>h</m:t>
                          </m:r>
                        </m:e>
                        <m:sub>
                          <m:r>
                            <a:rPr lang="en-US" altLang="zh-CN" b="0" i="1" dirty="0" smtClean="0">
                              <a:latin typeface="Cambria Math" panose="02040503050406030204" pitchFamily="18" charset="0"/>
                              <a:cs typeface="Times New Roman"/>
                            </a:rPr>
                            <m:t>𝑡</m:t>
                          </m:r>
                          <m:r>
                            <a:rPr lang="en-US" altLang="zh-CN" b="0" i="1" dirty="0" smtClean="0">
                              <a:latin typeface="Cambria Math" panose="02040503050406030204" pitchFamily="18" charset="0"/>
                              <a:cs typeface="Times New Roman"/>
                            </a:rPr>
                            <m:t>−1</m:t>
                          </m:r>
                        </m:sub>
                      </m:sSub>
                      <m:r>
                        <a:rPr lang="en-US" altLang="zh-CN" b="0" i="1" spc="70" dirty="0" smtClean="0">
                          <a:latin typeface="Cambria Math" panose="02040503050406030204" pitchFamily="18" charset="0"/>
                          <a:cs typeface="Times New Roman"/>
                        </a:rPr>
                        <m:t>+</m:t>
                      </m:r>
                      <m:sSub>
                        <m:sSubPr>
                          <m:ctrlPr>
                            <a:rPr lang="en-US" altLang="zh-CN" b="0" i="1" spc="-70" dirty="0" smtClean="0">
                              <a:latin typeface="Cambria Math" panose="02040503050406030204" pitchFamily="18" charset="0"/>
                              <a:cs typeface="Times New Roman"/>
                            </a:rPr>
                          </m:ctrlPr>
                        </m:sSubPr>
                        <m:e>
                          <m:r>
                            <a:rPr lang="en-US" i="1" spc="-70" dirty="0">
                              <a:latin typeface="Cambria Math" panose="02040503050406030204" pitchFamily="18" charset="0"/>
                              <a:cs typeface="Times New Roman"/>
                            </a:rPr>
                            <m:t>𝑏</m:t>
                          </m:r>
                        </m:e>
                        <m:sub>
                          <m:r>
                            <a:rPr lang="en-US" altLang="zh-CN" b="0" i="1" spc="-70" dirty="0" smtClean="0">
                              <a:latin typeface="Cambria Math" panose="02040503050406030204" pitchFamily="18" charset="0"/>
                              <a:cs typeface="Times New Roman"/>
                            </a:rPr>
                            <m:t>𝑖</m:t>
                          </m:r>
                        </m:sub>
                      </m:sSub>
                      <m:r>
                        <a:rPr lang="en-US" i="1" spc="-70" dirty="0">
                          <a:latin typeface="Cambria Math" panose="02040503050406030204" pitchFamily="18" charset="0"/>
                          <a:cs typeface="Times New Roman"/>
                        </a:rPr>
                        <m:t>)</m:t>
                      </m:r>
                    </m:oMath>
                  </m:oMathPara>
                </a14:m>
                <a:endParaRPr lang="en-US" altLang="zh-CN" b="0" i="1" dirty="0">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acc>
                            <m:accPr>
                              <m:chr m:val="̃"/>
                              <m:ctrlPr>
                                <a:rPr lang="en-US" i="1" smtClean="0">
                                  <a:latin typeface="Cambria Math" panose="02040503050406030204" pitchFamily="18" charset="0"/>
                                </a:rPr>
                              </m:ctrlPr>
                            </m:accPr>
                            <m:e>
                              <m:r>
                                <m:rPr>
                                  <m:sty m:val="p"/>
                                </m:rPr>
                                <a:rPr lang="en-US" i="1">
                                  <a:latin typeface="Cambria Math" panose="02040503050406030204" pitchFamily="18" charset="0"/>
                                </a:rPr>
                                <m:t>C</m:t>
                              </m:r>
                            </m:e>
                          </m:acc>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r>
                        <a:rPr lang="ar-SA" altLang="zh-CN" i="1" spc="585" dirty="0">
                          <a:latin typeface="Cambria Math" panose="02040503050406030204" pitchFamily="18" charset="0"/>
                          <a:cs typeface="Times New Roman"/>
                        </a:rPr>
                        <m:t>𝜎</m:t>
                      </m:r>
                      <m:r>
                        <a:rPr lang="ar-SA" i="1" spc="-114" dirty="0">
                          <a:latin typeface="Cambria Math" panose="02040503050406030204" pitchFamily="18" charset="0"/>
                          <a:cs typeface="Times New Roman"/>
                        </a:rPr>
                        <m:t>⁡</m:t>
                      </m:r>
                      <m:r>
                        <a:rPr lang="ar-SA" i="1" dirty="0">
                          <a:latin typeface="Cambria Math" panose="02040503050406030204" pitchFamily="18" charset="0"/>
                          <a:cs typeface="Times New Roman"/>
                        </a:rPr>
                        <m:t>(</m:t>
                      </m:r>
                      <m:sSub>
                        <m:sSubPr>
                          <m:ctrlPr>
                            <a:rPr lang="ar-SA" altLang="zh-CN" i="1" spc="-29" dirty="0">
                              <a:latin typeface="Cambria Math" panose="02040503050406030204" pitchFamily="18" charset="0"/>
                              <a:cs typeface="Times New Roman"/>
                            </a:rPr>
                          </m:ctrlPr>
                        </m:sSubPr>
                        <m:e>
                          <m:r>
                            <a:rPr lang="ar-SA" i="1" dirty="0">
                              <a:latin typeface="Cambria Math" panose="02040503050406030204" pitchFamily="18" charset="0"/>
                              <a:cs typeface="Times New Roman"/>
                            </a:rPr>
                            <m:t>𝑊</m:t>
                          </m:r>
                        </m:e>
                        <m:sub>
                          <m:r>
                            <a:rPr lang="ar-SA" altLang="zh-CN" i="1" dirty="0">
                              <a:latin typeface="Cambria Math" panose="02040503050406030204" pitchFamily="18" charset="0"/>
                              <a:cs typeface="Times New Roman"/>
                            </a:rPr>
                            <m:t>𝑥</m:t>
                          </m:r>
                          <m:r>
                            <m:rPr>
                              <m:sty m:val="p"/>
                            </m:rPr>
                            <a:rPr lang="ar-SA" altLang="zh-CN" i="1" dirty="0" smtClean="0">
                              <a:latin typeface="Cambria Math" panose="02040503050406030204" pitchFamily="18" charset="0"/>
                              <a:cs typeface="Times New Roman"/>
                            </a:rPr>
                            <m:t>c</m:t>
                          </m:r>
                        </m:sub>
                      </m:sSub>
                      <m:sSub>
                        <m:sSubPr>
                          <m:ctrlPr>
                            <a:rPr lang="ar-SA" altLang="zh-CN" i="1" dirty="0">
                              <a:latin typeface="Cambria Math" panose="02040503050406030204" pitchFamily="18" charset="0"/>
                              <a:cs typeface="Times New Roman"/>
                            </a:rPr>
                          </m:ctrlPr>
                        </m:sSubPr>
                        <m:e>
                          <m:r>
                            <a:rPr lang="ar-SA" i="1" dirty="0">
                              <a:latin typeface="Cambria Math" panose="02040503050406030204" pitchFamily="18" charset="0"/>
                              <a:cs typeface="Times New Roman"/>
                            </a:rPr>
                            <m:t>𝑥</m:t>
                          </m:r>
                        </m:e>
                        <m:sub>
                          <m:r>
                            <a:rPr lang="ar-SA" altLang="zh-CN" i="1" dirty="0">
                              <a:latin typeface="Cambria Math" panose="02040503050406030204" pitchFamily="18" charset="0"/>
                              <a:cs typeface="Times New Roman"/>
                            </a:rPr>
                            <m:t>𝑡</m:t>
                          </m:r>
                        </m:sub>
                      </m:sSub>
                      <m:r>
                        <a:rPr lang="ar-SA" i="1" spc="585" dirty="0">
                          <a:latin typeface="Cambria Math" panose="02040503050406030204" pitchFamily="18" charset="0"/>
                          <a:cs typeface="Times New Roman"/>
                        </a:rPr>
                        <m:t>+</m:t>
                      </m:r>
                      <m:sSub>
                        <m:sSubPr>
                          <m:ctrlPr>
                            <a:rPr lang="ar-SA" altLang="zh-CN" i="1" dirty="0">
                              <a:latin typeface="Cambria Math" panose="02040503050406030204" pitchFamily="18" charset="0"/>
                              <a:cs typeface="Times New Roman"/>
                            </a:rPr>
                          </m:ctrlPr>
                        </m:sSubPr>
                        <m:e>
                          <m:r>
                            <a:rPr lang="ar-SA" i="1" dirty="0">
                              <a:latin typeface="Cambria Math" panose="02040503050406030204" pitchFamily="18" charset="0"/>
                              <a:cs typeface="Times New Roman"/>
                            </a:rPr>
                            <m:t>𝑊</m:t>
                          </m:r>
                        </m:e>
                        <m:sub>
                          <m:r>
                            <a:rPr lang="ar-SA" altLang="zh-CN" i="1" dirty="0">
                              <a:latin typeface="Cambria Math" panose="02040503050406030204" pitchFamily="18" charset="0"/>
                              <a:cs typeface="Times New Roman"/>
                            </a:rPr>
                            <m:t>h</m:t>
                          </m:r>
                          <m:r>
                            <a:rPr lang="en-US" altLang="zh-CN" b="0" i="1" dirty="0" smtClean="0">
                              <a:latin typeface="Cambria Math" panose="02040503050406030204" pitchFamily="18" charset="0"/>
                              <a:cs typeface="Times New Roman"/>
                            </a:rPr>
                            <m:t>𝑐</m:t>
                          </m:r>
                        </m:sub>
                      </m:sSub>
                      <m:sSub>
                        <m:sSubPr>
                          <m:ctrlPr>
                            <a:rPr lang="ar-SA" altLang="zh-CN" i="1" dirty="0">
                              <a:latin typeface="Cambria Math" panose="02040503050406030204" pitchFamily="18" charset="0"/>
                              <a:cs typeface="Times New Roman"/>
                            </a:rPr>
                          </m:ctrlPr>
                        </m:sSubPr>
                        <m:e>
                          <m:r>
                            <a:rPr lang="ar-SA" i="1" dirty="0">
                              <a:latin typeface="Cambria Math" panose="02040503050406030204" pitchFamily="18" charset="0"/>
                              <a:cs typeface="Times New Roman"/>
                            </a:rPr>
                            <m:t>h</m:t>
                          </m:r>
                        </m:e>
                        <m:sub>
                          <m:r>
                            <a:rPr lang="ar-SA" altLang="zh-CN" i="1" dirty="0">
                              <a:latin typeface="Cambria Math" panose="02040503050406030204" pitchFamily="18" charset="0"/>
                              <a:cs typeface="Times New Roman"/>
                            </a:rPr>
                            <m:t>𝑡</m:t>
                          </m:r>
                          <m:r>
                            <a:rPr lang="ar-SA" altLang="zh-CN" i="1" dirty="0">
                              <a:latin typeface="Cambria Math" panose="02040503050406030204" pitchFamily="18" charset="0"/>
                              <a:cs typeface="Times New Roman"/>
                            </a:rPr>
                            <m:t>−1</m:t>
                          </m:r>
                        </m:sub>
                      </m:sSub>
                      <m:r>
                        <a:rPr lang="ar-SA" altLang="zh-CN" i="1" spc="70" dirty="0">
                          <a:latin typeface="Cambria Math" panose="02040503050406030204" pitchFamily="18" charset="0"/>
                          <a:cs typeface="Times New Roman"/>
                        </a:rPr>
                        <m:t>+</m:t>
                      </m:r>
                      <m:sSub>
                        <m:sSubPr>
                          <m:ctrlPr>
                            <a:rPr lang="ar-SA" altLang="zh-CN" i="1" spc="-70" dirty="0">
                              <a:latin typeface="Cambria Math" panose="02040503050406030204" pitchFamily="18" charset="0"/>
                              <a:cs typeface="Times New Roman"/>
                            </a:rPr>
                          </m:ctrlPr>
                        </m:sSubPr>
                        <m:e>
                          <m:r>
                            <a:rPr lang="ar-SA" i="1" spc="-70" dirty="0">
                              <a:latin typeface="Cambria Math" panose="02040503050406030204" pitchFamily="18" charset="0"/>
                              <a:cs typeface="Times New Roman"/>
                            </a:rPr>
                            <m:t>𝑏</m:t>
                          </m:r>
                        </m:e>
                        <m:sub>
                          <m:r>
                            <a:rPr lang="en-US" altLang="zh-CN" b="0" i="1" spc="-70" dirty="0" smtClean="0">
                              <a:latin typeface="Cambria Math" panose="02040503050406030204" pitchFamily="18" charset="0"/>
                              <a:cs typeface="Times New Roman"/>
                            </a:rPr>
                            <m:t>𝑐</m:t>
                          </m:r>
                        </m:sub>
                      </m:sSub>
                      <m:r>
                        <a:rPr lang="ar-SA" i="1" spc="-70" dirty="0">
                          <a:latin typeface="Cambria Math" panose="02040503050406030204" pitchFamily="18" charset="0"/>
                          <a:cs typeface="Times New Roman"/>
                        </a:rPr>
                        <m:t>)</m:t>
                      </m:r>
                    </m:oMath>
                  </m:oMathPara>
                </a14:m>
                <a:endParaRPr lang="en-US" dirty="0">
                  <a:latin typeface="Times New Roman"/>
                  <a:cs typeface="Times New Roman"/>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altLang="zh-CN" b="0" i="1" dirty="0" smtClean="0">
                              <a:latin typeface="Cambria Math" panose="02040503050406030204" pitchFamily="18" charset="0"/>
                              <a:cs typeface="Times New Roman"/>
                            </a:rPr>
                          </m:ctrlPr>
                        </m:sSubPr>
                        <m:e>
                          <m:r>
                            <a:rPr lang="en-US" altLang="zh-CN" b="0" i="1" dirty="0" smtClean="0">
                              <a:latin typeface="Cambria Math" panose="02040503050406030204" pitchFamily="18" charset="0"/>
                              <a:cs typeface="Times New Roman"/>
                            </a:rPr>
                            <m:t>𝐶</m:t>
                          </m:r>
                        </m:e>
                        <m:sub>
                          <m:r>
                            <a:rPr lang="en-US" altLang="zh-CN" b="0" i="1" dirty="0" smtClean="0">
                              <a:latin typeface="Cambria Math" panose="02040503050406030204" pitchFamily="18" charset="0"/>
                              <a:cs typeface="Times New Roman"/>
                            </a:rPr>
                            <m:t>𝑡</m:t>
                          </m:r>
                        </m:sub>
                      </m:sSub>
                      <m:r>
                        <a:rPr lang="en-US" i="1" spc="585" dirty="0">
                          <a:latin typeface="Cambria Math" panose="02040503050406030204" pitchFamily="18" charset="0"/>
                          <a:cs typeface="Times New Roman"/>
                        </a:rPr>
                        <m:t>=</m:t>
                      </m:r>
                      <m:sSub>
                        <m:sSubPr>
                          <m:ctrlPr>
                            <a:rPr lang="en-US" altLang="zh-CN" b="0" i="1" spc="585" dirty="0" smtClean="0">
                              <a:latin typeface="Cambria Math" panose="02040503050406030204" pitchFamily="18" charset="0"/>
                              <a:cs typeface="Times New Roman"/>
                            </a:rPr>
                          </m:ctrlPr>
                        </m:sSubPr>
                        <m:e>
                          <m:r>
                            <a:rPr lang="en-US" altLang="zh-CN" b="0" i="1" spc="585" dirty="0" smtClean="0">
                              <a:latin typeface="Cambria Math" panose="02040503050406030204" pitchFamily="18" charset="0"/>
                              <a:cs typeface="Times New Roman"/>
                            </a:rPr>
                            <m:t>𝑓</m:t>
                          </m:r>
                        </m:e>
                        <m:sub>
                          <m:r>
                            <a:rPr lang="en-US" altLang="zh-CN" b="0" i="1" spc="585" dirty="0" smtClean="0">
                              <a:latin typeface="Cambria Math" panose="02040503050406030204" pitchFamily="18" charset="0"/>
                              <a:cs typeface="Times New Roman"/>
                            </a:rPr>
                            <m:t>𝑡</m:t>
                          </m:r>
                        </m:sub>
                      </m:sSub>
                      <m:r>
                        <a:rPr lang="en-US" altLang="zh-CN" i="1" spc="-70" dirty="0">
                          <a:latin typeface="Cambria Math" panose="02040503050406030204" pitchFamily="18" charset="0"/>
                          <a:ea typeface="Cambria Math" panose="02040503050406030204" pitchFamily="18" charset="0"/>
                          <a:cs typeface="Times New Roman"/>
                        </a:rPr>
                        <m:t>⨀</m:t>
                      </m:r>
                      <m:sSub>
                        <m:sSubPr>
                          <m:ctrlPr>
                            <a:rPr lang="en-US" altLang="zh-CN" b="0" i="1" spc="-70" dirty="0" smtClean="0">
                              <a:latin typeface="Cambria Math" panose="02040503050406030204" pitchFamily="18" charset="0"/>
                              <a:ea typeface="Cambria Math" panose="02040503050406030204" pitchFamily="18" charset="0"/>
                              <a:cs typeface="Times New Roman"/>
                            </a:rPr>
                          </m:ctrlPr>
                        </m:sSubPr>
                        <m:e>
                          <m:r>
                            <a:rPr lang="en-US" altLang="zh-CN" b="0" i="1" spc="-70" dirty="0" smtClean="0">
                              <a:latin typeface="Cambria Math" panose="02040503050406030204" pitchFamily="18" charset="0"/>
                              <a:ea typeface="Cambria Math" panose="02040503050406030204" pitchFamily="18" charset="0"/>
                              <a:cs typeface="Times New Roman"/>
                            </a:rPr>
                            <m:t>𝐶</m:t>
                          </m:r>
                        </m:e>
                        <m:sub>
                          <m:r>
                            <a:rPr lang="en-US" altLang="zh-CN" b="0" i="1" spc="-70" dirty="0" smtClean="0">
                              <a:latin typeface="Cambria Math" panose="02040503050406030204" pitchFamily="18" charset="0"/>
                              <a:ea typeface="Cambria Math" panose="02040503050406030204" pitchFamily="18" charset="0"/>
                              <a:cs typeface="Times New Roman"/>
                            </a:rPr>
                            <m:t>𝑡</m:t>
                          </m:r>
                          <m:r>
                            <a:rPr lang="en-US" altLang="zh-CN" b="0" i="1" spc="-70" dirty="0" smtClean="0">
                              <a:latin typeface="Cambria Math" panose="02040503050406030204" pitchFamily="18" charset="0"/>
                              <a:ea typeface="Cambria Math" panose="02040503050406030204" pitchFamily="18" charset="0"/>
                              <a:cs typeface="Times New Roman"/>
                            </a:rPr>
                            <m:t>−1</m:t>
                          </m:r>
                        </m:sub>
                      </m:sSub>
                      <m:r>
                        <a:rPr lang="en-US" altLang="zh-CN" b="0" i="1" spc="-70" dirty="0" smtClean="0">
                          <a:latin typeface="Cambria Math" panose="02040503050406030204" pitchFamily="18" charset="0"/>
                          <a:ea typeface="Cambria Math" panose="02040503050406030204" pitchFamily="18" charset="0"/>
                          <a:cs typeface="Times New Roman"/>
                        </a:rPr>
                        <m:t>+</m:t>
                      </m:r>
                      <m:sSub>
                        <m:sSubPr>
                          <m:ctrlPr>
                            <a:rPr lang="en-US" altLang="zh-CN" b="0" i="1" spc="-70" dirty="0" smtClean="0">
                              <a:latin typeface="Cambria Math" panose="02040503050406030204" pitchFamily="18" charset="0"/>
                              <a:ea typeface="Cambria Math" panose="02040503050406030204" pitchFamily="18" charset="0"/>
                              <a:cs typeface="Times New Roman"/>
                            </a:rPr>
                          </m:ctrlPr>
                        </m:sSubPr>
                        <m:e>
                          <m:r>
                            <a:rPr lang="en-US" altLang="zh-CN" b="0" i="1" spc="-70" dirty="0" smtClean="0">
                              <a:latin typeface="Cambria Math" panose="02040503050406030204" pitchFamily="18" charset="0"/>
                              <a:ea typeface="Cambria Math" panose="02040503050406030204" pitchFamily="18" charset="0"/>
                              <a:cs typeface="Times New Roman"/>
                            </a:rPr>
                            <m:t>𝑖</m:t>
                          </m:r>
                        </m:e>
                        <m:sub>
                          <m:r>
                            <a:rPr lang="en-US" altLang="zh-CN" b="0" i="1" spc="-70" dirty="0" smtClean="0">
                              <a:latin typeface="Cambria Math" panose="02040503050406030204" pitchFamily="18" charset="0"/>
                              <a:ea typeface="Cambria Math" panose="02040503050406030204" pitchFamily="18" charset="0"/>
                              <a:cs typeface="Times New Roman"/>
                            </a:rPr>
                            <m:t>𝑡</m:t>
                          </m:r>
                        </m:sub>
                      </m:sSub>
                      <m:r>
                        <a:rPr lang="en-US" altLang="zh-CN" i="1" spc="-70" dirty="0">
                          <a:latin typeface="Cambria Math" panose="02040503050406030204" pitchFamily="18" charset="0"/>
                          <a:ea typeface="Cambria Math" panose="02040503050406030204" pitchFamily="18" charset="0"/>
                          <a:cs typeface="Times New Roman"/>
                        </a:rPr>
                        <m:t>⨀</m:t>
                      </m:r>
                      <m:sSub>
                        <m:sSubPr>
                          <m:ctrlPr>
                            <a:rPr lang="en-US" altLang="zh-CN" i="1">
                              <a:latin typeface="Cambria Math" panose="02040503050406030204" pitchFamily="18" charset="0"/>
                            </a:rPr>
                          </m:ctrlPr>
                        </m:sSubPr>
                        <m:e>
                          <m:acc>
                            <m:accPr>
                              <m:chr m:val="̃"/>
                              <m:ctrlPr>
                                <a:rPr lang="en-US" i="1">
                                  <a:latin typeface="Cambria Math" panose="02040503050406030204" pitchFamily="18" charset="0"/>
                                </a:rPr>
                              </m:ctrlPr>
                            </m:accPr>
                            <m:e>
                              <m:r>
                                <m:rPr>
                                  <m:sty m:val="p"/>
                                </m:rPr>
                                <a:rPr lang="en-US" i="1">
                                  <a:latin typeface="Cambria Math" panose="02040503050406030204" pitchFamily="18" charset="0"/>
                                </a:rPr>
                                <m:t>C</m:t>
                              </m:r>
                            </m:e>
                          </m:acc>
                        </m:e>
                        <m:sub>
                          <m:r>
                            <a:rPr lang="en-US" altLang="zh-CN" i="1">
                              <a:latin typeface="Cambria Math" panose="02040503050406030204" pitchFamily="18" charset="0"/>
                            </a:rPr>
                            <m:t>𝑡</m:t>
                          </m:r>
                        </m:sub>
                      </m:sSub>
                    </m:oMath>
                  </m:oMathPara>
                </a14:m>
                <a:endParaRPr lang="en-US" altLang="zh-CN" b="0" i="1" dirty="0">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altLang="zh-CN" b="0" i="1" dirty="0" smtClean="0">
                              <a:latin typeface="Cambria Math" panose="02040503050406030204" pitchFamily="18" charset="0"/>
                              <a:cs typeface="Times New Roman"/>
                            </a:rPr>
                          </m:ctrlPr>
                        </m:sSubPr>
                        <m:e>
                          <m:r>
                            <a:rPr lang="en-US" altLang="zh-CN" b="0" i="1" dirty="0" smtClean="0">
                              <a:latin typeface="Cambria Math" panose="02040503050406030204" pitchFamily="18" charset="0"/>
                              <a:cs typeface="Times New Roman"/>
                            </a:rPr>
                            <m:t>𝑜</m:t>
                          </m:r>
                        </m:e>
                        <m:sub>
                          <m:r>
                            <a:rPr lang="en-US" altLang="zh-CN" b="0" i="1" dirty="0" smtClean="0">
                              <a:latin typeface="Cambria Math" panose="02040503050406030204" pitchFamily="18" charset="0"/>
                              <a:cs typeface="Times New Roman"/>
                            </a:rPr>
                            <m:t>𝑡</m:t>
                          </m:r>
                        </m:sub>
                      </m:sSub>
                      <m:r>
                        <a:rPr lang="en-US" i="1" spc="585" dirty="0">
                          <a:latin typeface="Cambria Math" panose="02040503050406030204" pitchFamily="18" charset="0"/>
                          <a:cs typeface="Times New Roman"/>
                        </a:rPr>
                        <m:t>=</m:t>
                      </m:r>
                      <m:func>
                        <m:funcPr>
                          <m:ctrlPr>
                            <a:rPr lang="en-US" altLang="zh-CN" b="0" i="1" spc="-114" dirty="0">
                              <a:latin typeface="Cambria Math" panose="02040503050406030204" pitchFamily="18" charset="0"/>
                              <a:cs typeface="Times New Roman"/>
                            </a:rPr>
                          </m:ctrlPr>
                        </m:funcPr>
                        <m:fName>
                          <m:r>
                            <a:rPr lang="en-US" altLang="zh-CN" b="0" i="1" spc="585" dirty="0" smtClean="0">
                              <a:latin typeface="Cambria Math" panose="02040503050406030204" pitchFamily="18" charset="0"/>
                              <a:cs typeface="Times New Roman"/>
                            </a:rPr>
                            <m:t>𝜎</m:t>
                          </m:r>
                        </m:fName>
                        <m:e>
                          <m:d>
                            <m:dPr>
                              <m:ctrlPr>
                                <a:rPr lang="en-US" altLang="zh-CN" b="0" i="1" spc="585" dirty="0">
                                  <a:latin typeface="Cambria Math" panose="02040503050406030204" pitchFamily="18" charset="0"/>
                                  <a:cs typeface="Times New Roman"/>
                                </a:rPr>
                              </m:ctrlPr>
                            </m:dPr>
                            <m:e>
                              <m:sSub>
                                <m:sSubPr>
                                  <m:ctrlPr>
                                    <a:rPr lang="en-US" altLang="zh-CN" b="0" i="1" spc="-29" dirty="0" smtClean="0">
                                      <a:latin typeface="Cambria Math" panose="02040503050406030204" pitchFamily="18" charset="0"/>
                                      <a:cs typeface="Times New Roman"/>
                                    </a:rPr>
                                  </m:ctrlPr>
                                </m:sSubPr>
                                <m:e>
                                  <m:r>
                                    <a:rPr lang="en-US" i="1" dirty="0">
                                      <a:latin typeface="Cambria Math" panose="02040503050406030204" pitchFamily="18" charset="0"/>
                                      <a:cs typeface="Times New Roman"/>
                                    </a:rPr>
                                    <m:t>𝑊</m:t>
                                  </m:r>
                                </m:e>
                                <m:sub>
                                  <m:r>
                                    <a:rPr lang="en-US" altLang="zh-CN" b="0" i="1" dirty="0" smtClean="0">
                                      <a:latin typeface="Cambria Math" panose="02040503050406030204" pitchFamily="18" charset="0"/>
                                      <a:cs typeface="Times New Roman"/>
                                    </a:rPr>
                                    <m:t>𝑥𝑜</m:t>
                                  </m:r>
                                </m:sub>
                              </m:sSub>
                              <m:sSub>
                                <m:sSubPr>
                                  <m:ctrlPr>
                                    <a:rPr lang="en-US" altLang="zh-CN" b="0" i="1" dirty="0" smtClean="0">
                                      <a:latin typeface="Cambria Math" panose="02040503050406030204" pitchFamily="18" charset="0"/>
                                      <a:cs typeface="Times New Roman"/>
                                    </a:rPr>
                                  </m:ctrlPr>
                                </m:sSubPr>
                                <m:e>
                                  <m:r>
                                    <a:rPr lang="en-US" i="1" dirty="0">
                                      <a:latin typeface="Cambria Math" panose="02040503050406030204" pitchFamily="18" charset="0"/>
                                      <a:cs typeface="Times New Roman"/>
                                    </a:rPr>
                                    <m:t>𝑥</m:t>
                                  </m:r>
                                </m:e>
                                <m:sub>
                                  <m:r>
                                    <a:rPr lang="en-US" altLang="zh-CN" b="0" i="1" dirty="0" smtClean="0">
                                      <a:latin typeface="Cambria Math" panose="02040503050406030204" pitchFamily="18" charset="0"/>
                                      <a:cs typeface="Times New Roman"/>
                                    </a:rPr>
                                    <m:t>𝑡</m:t>
                                  </m:r>
                                </m:sub>
                              </m:sSub>
                              <m:r>
                                <a:rPr lang="en-US" i="1" spc="585" dirty="0">
                                  <a:latin typeface="Cambria Math" panose="02040503050406030204" pitchFamily="18" charset="0"/>
                                  <a:cs typeface="Times New Roman"/>
                                </a:rPr>
                                <m:t>+</m:t>
                              </m:r>
                              <m:sSub>
                                <m:sSubPr>
                                  <m:ctrlPr>
                                    <a:rPr lang="en-US" altLang="zh-CN" b="0" i="1" dirty="0" smtClean="0">
                                      <a:latin typeface="Cambria Math" panose="02040503050406030204" pitchFamily="18" charset="0"/>
                                      <a:cs typeface="Times New Roman"/>
                                    </a:rPr>
                                  </m:ctrlPr>
                                </m:sSubPr>
                                <m:e>
                                  <m:r>
                                    <a:rPr lang="en-US" i="1" dirty="0">
                                      <a:latin typeface="Cambria Math" panose="02040503050406030204" pitchFamily="18" charset="0"/>
                                      <a:cs typeface="Times New Roman"/>
                                    </a:rPr>
                                    <m:t>𝑊</m:t>
                                  </m:r>
                                </m:e>
                                <m:sub>
                                  <m:r>
                                    <a:rPr lang="en-US" altLang="zh-CN" b="0" i="1" dirty="0" smtClean="0">
                                      <a:latin typeface="Cambria Math" panose="02040503050406030204" pitchFamily="18" charset="0"/>
                                      <a:cs typeface="Times New Roman"/>
                                    </a:rPr>
                                    <m:t>h𝑜</m:t>
                                  </m:r>
                                </m:sub>
                              </m:sSub>
                              <m:sSub>
                                <m:sSubPr>
                                  <m:ctrlPr>
                                    <a:rPr lang="en-US" altLang="zh-CN" b="0" i="1" dirty="0" smtClean="0">
                                      <a:latin typeface="Cambria Math" panose="02040503050406030204" pitchFamily="18" charset="0"/>
                                      <a:cs typeface="Times New Roman"/>
                                    </a:rPr>
                                  </m:ctrlPr>
                                </m:sSubPr>
                                <m:e>
                                  <m:r>
                                    <a:rPr lang="en-US" i="1" dirty="0">
                                      <a:latin typeface="Cambria Math" panose="02040503050406030204" pitchFamily="18" charset="0"/>
                                      <a:cs typeface="Times New Roman"/>
                                    </a:rPr>
                                    <m:t>h</m:t>
                                  </m:r>
                                </m:e>
                                <m:sub>
                                  <m:r>
                                    <a:rPr lang="en-US" altLang="zh-CN" b="0" i="1" dirty="0" smtClean="0">
                                      <a:latin typeface="Cambria Math" panose="02040503050406030204" pitchFamily="18" charset="0"/>
                                      <a:cs typeface="Times New Roman"/>
                                    </a:rPr>
                                    <m:t>𝑡</m:t>
                                  </m:r>
                                  <m:r>
                                    <a:rPr lang="en-US" altLang="zh-CN" b="0" i="1" dirty="0" smtClean="0">
                                      <a:latin typeface="Cambria Math" panose="02040503050406030204" pitchFamily="18" charset="0"/>
                                      <a:cs typeface="Times New Roman"/>
                                    </a:rPr>
                                    <m:t>−1</m:t>
                                  </m:r>
                                </m:sub>
                              </m:sSub>
                              <m:r>
                                <a:rPr lang="en-US" altLang="zh-CN" b="0" i="1" spc="70" dirty="0" smtClean="0">
                                  <a:latin typeface="Cambria Math" panose="02040503050406030204" pitchFamily="18" charset="0"/>
                                  <a:cs typeface="Times New Roman"/>
                                </a:rPr>
                                <m:t>+</m:t>
                              </m:r>
                              <m:sSub>
                                <m:sSubPr>
                                  <m:ctrlPr>
                                    <a:rPr lang="en-US" altLang="zh-CN" b="0" i="1" spc="-70" dirty="0" smtClean="0">
                                      <a:latin typeface="Cambria Math" panose="02040503050406030204" pitchFamily="18" charset="0"/>
                                      <a:cs typeface="Times New Roman"/>
                                    </a:rPr>
                                  </m:ctrlPr>
                                </m:sSubPr>
                                <m:e>
                                  <m:r>
                                    <a:rPr lang="en-US" i="1" spc="-70" dirty="0">
                                      <a:latin typeface="Cambria Math" panose="02040503050406030204" pitchFamily="18" charset="0"/>
                                      <a:cs typeface="Times New Roman"/>
                                    </a:rPr>
                                    <m:t>𝑏</m:t>
                                  </m:r>
                                </m:e>
                                <m:sub>
                                  <m:r>
                                    <a:rPr lang="en-US" altLang="zh-CN" b="0" i="1" spc="-70" dirty="0" smtClean="0">
                                      <a:latin typeface="Cambria Math" panose="02040503050406030204" pitchFamily="18" charset="0"/>
                                      <a:cs typeface="Times New Roman"/>
                                    </a:rPr>
                                    <m:t>𝑜</m:t>
                                  </m:r>
                                </m:sub>
                              </m:sSub>
                            </m:e>
                          </m:d>
                        </m:e>
                      </m:func>
                    </m:oMath>
                  </m:oMathPara>
                </a14:m>
                <a:endParaRPr lang="en-US" i="1" spc="-70" dirty="0">
                  <a:latin typeface="Cambria Math" panose="02040503050406030204" pitchFamily="18" charset="0"/>
                  <a:cs typeface="Times New Roman"/>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altLang="zh-CN" i="1" dirty="0">
                              <a:latin typeface="Cambria Math" panose="02040503050406030204" pitchFamily="18" charset="0"/>
                              <a:cs typeface="Times New Roman"/>
                            </a:rPr>
                          </m:ctrlPr>
                        </m:sSubPr>
                        <m:e>
                          <m:r>
                            <a:rPr lang="en-US" altLang="zh-CN" i="1" dirty="0">
                              <a:latin typeface="Cambria Math" panose="02040503050406030204" pitchFamily="18" charset="0"/>
                              <a:cs typeface="Times New Roman"/>
                            </a:rPr>
                            <m:t>𝐶</m:t>
                          </m:r>
                        </m:e>
                        <m:sub>
                          <m:r>
                            <a:rPr lang="en-US" altLang="zh-CN" i="1" dirty="0">
                              <a:latin typeface="Cambria Math" panose="02040503050406030204" pitchFamily="18" charset="0"/>
                              <a:cs typeface="Times New Roman"/>
                            </a:rPr>
                            <m:t>𝑡</m:t>
                          </m:r>
                        </m:sub>
                      </m:sSub>
                      <m:r>
                        <a:rPr lang="en-US" i="1" spc="585" dirty="0">
                          <a:latin typeface="Cambria Math" panose="02040503050406030204" pitchFamily="18" charset="0"/>
                          <a:cs typeface="Times New Roman"/>
                        </a:rPr>
                        <m:t>=</m:t>
                      </m:r>
                      <m:sSub>
                        <m:sSubPr>
                          <m:ctrlPr>
                            <a:rPr lang="en-US" altLang="zh-CN" i="1" spc="585" dirty="0">
                              <a:latin typeface="Cambria Math" panose="02040503050406030204" pitchFamily="18" charset="0"/>
                              <a:cs typeface="Times New Roman"/>
                            </a:rPr>
                          </m:ctrlPr>
                        </m:sSubPr>
                        <m:e>
                          <m:r>
                            <a:rPr lang="en-US" altLang="zh-CN" i="1" spc="585" dirty="0">
                              <a:latin typeface="Cambria Math" panose="02040503050406030204" pitchFamily="18" charset="0"/>
                              <a:cs typeface="Times New Roman"/>
                            </a:rPr>
                            <m:t>𝑓</m:t>
                          </m:r>
                        </m:e>
                        <m:sub>
                          <m:r>
                            <a:rPr lang="en-US" altLang="zh-CN" i="1" spc="585" dirty="0">
                              <a:latin typeface="Cambria Math" panose="02040503050406030204" pitchFamily="18" charset="0"/>
                              <a:cs typeface="Times New Roman"/>
                            </a:rPr>
                            <m:t>𝑡</m:t>
                          </m:r>
                        </m:sub>
                      </m:sSub>
                      <m:r>
                        <a:rPr lang="en-US" altLang="zh-CN" i="1" spc="-70" dirty="0">
                          <a:latin typeface="Cambria Math" panose="02040503050406030204" pitchFamily="18" charset="0"/>
                          <a:ea typeface="Cambria Math" panose="02040503050406030204" pitchFamily="18" charset="0"/>
                          <a:cs typeface="Times New Roman"/>
                        </a:rPr>
                        <m:t>⨀</m:t>
                      </m:r>
                      <m:sSub>
                        <m:sSubPr>
                          <m:ctrlPr>
                            <a:rPr lang="en-US" altLang="zh-CN" i="1" spc="-70" dirty="0">
                              <a:latin typeface="Cambria Math" panose="02040503050406030204" pitchFamily="18" charset="0"/>
                              <a:ea typeface="Cambria Math" panose="02040503050406030204" pitchFamily="18" charset="0"/>
                              <a:cs typeface="Times New Roman"/>
                            </a:rPr>
                          </m:ctrlPr>
                        </m:sSubPr>
                        <m:e>
                          <m:r>
                            <a:rPr lang="en-US" altLang="zh-CN" i="1" spc="-70" dirty="0">
                              <a:latin typeface="Cambria Math" panose="02040503050406030204" pitchFamily="18" charset="0"/>
                              <a:ea typeface="Cambria Math" panose="02040503050406030204" pitchFamily="18" charset="0"/>
                              <a:cs typeface="Times New Roman"/>
                            </a:rPr>
                            <m:t>𝐶</m:t>
                          </m:r>
                        </m:e>
                        <m:sub>
                          <m:r>
                            <a:rPr lang="en-US" altLang="zh-CN" i="1" spc="-70" dirty="0">
                              <a:latin typeface="Cambria Math" panose="02040503050406030204" pitchFamily="18" charset="0"/>
                              <a:ea typeface="Cambria Math" panose="02040503050406030204" pitchFamily="18" charset="0"/>
                              <a:cs typeface="Times New Roman"/>
                            </a:rPr>
                            <m:t>𝑡</m:t>
                          </m:r>
                          <m:r>
                            <a:rPr lang="en-US" altLang="zh-CN" i="1" spc="-70" dirty="0">
                              <a:latin typeface="Cambria Math" panose="02040503050406030204" pitchFamily="18" charset="0"/>
                              <a:ea typeface="Cambria Math" panose="02040503050406030204" pitchFamily="18" charset="0"/>
                              <a:cs typeface="Times New Roman"/>
                            </a:rPr>
                            <m:t>−1</m:t>
                          </m:r>
                        </m:sub>
                      </m:sSub>
                    </m:oMath>
                  </m:oMathPara>
                </a14:m>
                <a:endParaRPr lang="en-US" altLang="zh-CN" b="0" i="1" dirty="0">
                  <a:latin typeface="Cambria Math" panose="02040503050406030204" pitchFamily="18" charset="0"/>
                </a:endParaRPr>
              </a:p>
            </p:txBody>
          </p:sp>
        </mc:Choice>
        <mc:Fallback xmlns="">
          <p:sp>
            <p:nvSpPr>
              <p:cNvPr id="5" name="TextBox 4">
                <a:extLst>
                  <a:ext uri="{FF2B5EF4-FFF2-40B4-BE49-F238E27FC236}">
                    <a16:creationId xmlns:a16="http://schemas.microsoft.com/office/drawing/2014/main" id="{110CC6CD-9857-EB83-AB1F-59F250DC03BF}"/>
                  </a:ext>
                </a:extLst>
              </p:cNvPr>
              <p:cNvSpPr txBox="1">
                <a:spLocks noRot="1" noChangeAspect="1" noMove="1" noResize="1" noEditPoints="1" noAdjustHandles="1" noChangeArrowheads="1" noChangeShapeType="1" noTextEdit="1"/>
              </p:cNvSpPr>
              <p:nvPr/>
            </p:nvSpPr>
            <p:spPr>
              <a:xfrm>
                <a:off x="7058678" y="3113998"/>
                <a:ext cx="3578865" cy="2668744"/>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09211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44312-39E7-3193-BCB8-FA0D2EBBF577}"/>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8D02FC46-DB1F-BFF8-EED3-7451DE3906AC}"/>
              </a:ext>
            </a:extLst>
          </p:cNvPr>
          <p:cNvGrpSpPr/>
          <p:nvPr/>
        </p:nvGrpSpPr>
        <p:grpSpPr>
          <a:xfrm>
            <a:off x="0" y="-1589"/>
            <a:ext cx="12191999" cy="768585"/>
            <a:chOff x="0" y="-1589"/>
            <a:chExt cx="12191999" cy="768585"/>
          </a:xfrm>
        </p:grpSpPr>
        <p:grpSp>
          <p:nvGrpSpPr>
            <p:cNvPr id="8" name="Group 9">
              <a:extLst>
                <a:ext uri="{FF2B5EF4-FFF2-40B4-BE49-F238E27FC236}">
                  <a16:creationId xmlns:a16="http://schemas.microsoft.com/office/drawing/2014/main" id="{C8828CCB-19CD-7229-0EA4-91AF8A39111E}"/>
                </a:ext>
              </a:extLst>
            </p:cNvPr>
            <p:cNvGrpSpPr>
              <a:grpSpLocks noChangeAspect="1"/>
            </p:cNvGrpSpPr>
            <p:nvPr/>
          </p:nvGrpSpPr>
          <p:grpSpPr bwMode="auto">
            <a:xfrm>
              <a:off x="0" y="-1589"/>
              <a:ext cx="12191999" cy="767234"/>
              <a:chOff x="-1" y="-1"/>
              <a:chExt cx="7719" cy="568"/>
            </a:xfrm>
          </p:grpSpPr>
          <p:sp>
            <p:nvSpPr>
              <p:cNvPr id="12" name="Freeform 11">
                <a:extLst>
                  <a:ext uri="{FF2B5EF4-FFF2-40B4-BE49-F238E27FC236}">
                    <a16:creationId xmlns:a16="http://schemas.microsoft.com/office/drawing/2014/main" id="{FA5882F2-3D92-73E4-D4E2-FEA112EAE080}"/>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3" name="AutoShape 8">
                <a:extLst>
                  <a:ext uri="{FF2B5EF4-FFF2-40B4-BE49-F238E27FC236}">
                    <a16:creationId xmlns:a16="http://schemas.microsoft.com/office/drawing/2014/main" id="{7CFF4DFA-D5CB-E740-86C4-37219E55E236}"/>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9" name="任意多边形: 形状 12">
              <a:extLst>
                <a:ext uri="{FF2B5EF4-FFF2-40B4-BE49-F238E27FC236}">
                  <a16:creationId xmlns:a16="http://schemas.microsoft.com/office/drawing/2014/main" id="{83A72972-8019-F546-4D17-E867C7689D8C}"/>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0" name="文本框 18">
              <a:extLst>
                <a:ext uri="{FF2B5EF4-FFF2-40B4-BE49-F238E27FC236}">
                  <a16:creationId xmlns:a16="http://schemas.microsoft.com/office/drawing/2014/main" id="{1C800039-3633-FE36-B1BA-5B29C4C86290}"/>
                </a:ext>
              </a:extLst>
            </p:cNvPr>
            <p:cNvSpPr txBox="1"/>
            <p:nvPr/>
          </p:nvSpPr>
          <p:spPr>
            <a:xfrm>
              <a:off x="350439" y="120418"/>
              <a:ext cx="337784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800" b="1" dirty="0">
                  <a:solidFill>
                    <a:prstClr val="white"/>
                  </a:solidFill>
                  <a:cs typeface="+mn-ea"/>
                  <a:sym typeface="+mn-lt"/>
                </a:rPr>
                <a:t>RNN</a:t>
              </a:r>
              <a:r>
                <a:rPr lang="zh-CN" altLang="en-US" sz="2800" b="1" dirty="0">
                  <a:solidFill>
                    <a:prstClr val="white"/>
                  </a:solidFill>
                  <a:cs typeface="+mn-ea"/>
                  <a:sym typeface="+mn-lt"/>
                </a:rPr>
                <a:t>与</a:t>
              </a:r>
              <a:r>
                <a:rPr lang="en-US" altLang="zh-CN" sz="2800" b="1" dirty="0">
                  <a:solidFill>
                    <a:prstClr val="white"/>
                  </a:solidFill>
                  <a:cs typeface="+mn-ea"/>
                  <a:sym typeface="+mn-lt"/>
                </a:rPr>
                <a:t>LSTM</a:t>
              </a:r>
              <a:r>
                <a:rPr lang="zh-CN" altLang="en-US" sz="2800" b="1" dirty="0">
                  <a:solidFill>
                    <a:prstClr val="white"/>
                  </a:solidFill>
                  <a:cs typeface="+mn-ea"/>
                  <a:sym typeface="+mn-lt"/>
                </a:rPr>
                <a:t>的比较</a:t>
              </a:r>
              <a:endParaRPr kumimoji="0" lang="zh-CN" altLang="en-US" sz="2800" b="1" i="0" u="none" strike="noStrike" kern="1200" cap="none" spc="0" normalizeH="0" baseline="0" noProof="0" dirty="0">
                <a:ln>
                  <a:noFill/>
                </a:ln>
                <a:solidFill>
                  <a:prstClr val="white"/>
                </a:solidFill>
                <a:effectLst/>
                <a:uLnTx/>
                <a:uFillTx/>
                <a:cs typeface="+mn-ea"/>
                <a:sym typeface="+mn-lt"/>
              </a:endParaRPr>
            </a:p>
          </p:txBody>
        </p:sp>
      </p:grpSp>
      <p:grpSp>
        <p:nvGrpSpPr>
          <p:cNvPr id="2" name="object 3">
            <a:extLst>
              <a:ext uri="{FF2B5EF4-FFF2-40B4-BE49-F238E27FC236}">
                <a16:creationId xmlns:a16="http://schemas.microsoft.com/office/drawing/2014/main" id="{00644968-2B78-05AB-FCA5-4DC572AAAA3A}"/>
              </a:ext>
            </a:extLst>
          </p:cNvPr>
          <p:cNvGrpSpPr/>
          <p:nvPr/>
        </p:nvGrpSpPr>
        <p:grpSpPr>
          <a:xfrm>
            <a:off x="3068311" y="1788477"/>
            <a:ext cx="7660640" cy="3281045"/>
            <a:chOff x="2710773" y="1424155"/>
            <a:chExt cx="7660640" cy="3281045"/>
          </a:xfrm>
        </p:grpSpPr>
        <p:pic>
          <p:nvPicPr>
            <p:cNvPr id="3" name="object 4">
              <a:extLst>
                <a:ext uri="{FF2B5EF4-FFF2-40B4-BE49-F238E27FC236}">
                  <a16:creationId xmlns:a16="http://schemas.microsoft.com/office/drawing/2014/main" id="{10342B30-B639-10A4-3D23-4577A7A3B81B}"/>
                </a:ext>
              </a:extLst>
            </p:cNvPr>
            <p:cNvPicPr/>
            <p:nvPr/>
          </p:nvPicPr>
          <p:blipFill>
            <a:blip r:embed="rId3" cstate="print"/>
            <a:stretch>
              <a:fillRect/>
            </a:stretch>
          </p:blipFill>
          <p:spPr>
            <a:xfrm>
              <a:off x="2710773" y="1550715"/>
              <a:ext cx="7660204" cy="2892949"/>
            </a:xfrm>
            <a:prstGeom prst="rect">
              <a:avLst/>
            </a:prstGeom>
          </p:spPr>
        </p:pic>
        <p:sp>
          <p:nvSpPr>
            <p:cNvPr id="4" name="object 5">
              <a:extLst>
                <a:ext uri="{FF2B5EF4-FFF2-40B4-BE49-F238E27FC236}">
                  <a16:creationId xmlns:a16="http://schemas.microsoft.com/office/drawing/2014/main" id="{B42DC1F1-EEBC-8BD5-044B-6D79C2F05F02}"/>
                </a:ext>
              </a:extLst>
            </p:cNvPr>
            <p:cNvSpPr/>
            <p:nvPr/>
          </p:nvSpPr>
          <p:spPr>
            <a:xfrm>
              <a:off x="9016311" y="1438442"/>
              <a:ext cx="1075690" cy="3252470"/>
            </a:xfrm>
            <a:custGeom>
              <a:avLst/>
              <a:gdLst/>
              <a:ahLst/>
              <a:cxnLst/>
              <a:rect l="l" t="t" r="r" b="b"/>
              <a:pathLst>
                <a:path w="1075690" h="3252470">
                  <a:moveTo>
                    <a:pt x="0" y="0"/>
                  </a:moveTo>
                  <a:lnTo>
                    <a:pt x="1075267" y="0"/>
                  </a:lnTo>
                  <a:lnTo>
                    <a:pt x="1075267" y="3252091"/>
                  </a:lnTo>
                  <a:lnTo>
                    <a:pt x="0" y="3252091"/>
                  </a:lnTo>
                  <a:lnTo>
                    <a:pt x="0" y="0"/>
                  </a:lnTo>
                  <a:close/>
                </a:path>
              </a:pathLst>
            </a:custGeom>
            <a:ln w="28575">
              <a:solidFill>
                <a:schemeClr val="accent2"/>
              </a:solidFill>
            </a:ln>
          </p:spPr>
          <p:txBody>
            <a:bodyPr wrap="square" lIns="0" tIns="0" rIns="0" bIns="0" rtlCol="0"/>
            <a:lstStyle/>
            <a:p>
              <a:endParaRPr/>
            </a:p>
          </p:txBody>
        </p:sp>
      </p:grpSp>
      <p:sp>
        <p:nvSpPr>
          <p:cNvPr id="6" name="object 10">
            <a:extLst>
              <a:ext uri="{FF2B5EF4-FFF2-40B4-BE49-F238E27FC236}">
                <a16:creationId xmlns:a16="http://schemas.microsoft.com/office/drawing/2014/main" id="{D7A1136E-FBBF-AD71-979F-234F45215197}"/>
              </a:ext>
            </a:extLst>
          </p:cNvPr>
          <p:cNvSpPr/>
          <p:nvPr/>
        </p:nvSpPr>
        <p:spPr>
          <a:xfrm>
            <a:off x="10909924" y="2193087"/>
            <a:ext cx="76200" cy="2609215"/>
          </a:xfrm>
          <a:custGeom>
            <a:avLst/>
            <a:gdLst/>
            <a:ahLst/>
            <a:cxnLst/>
            <a:rect l="l" t="t" r="r" b="b"/>
            <a:pathLst>
              <a:path w="76200" h="2609215">
                <a:moveTo>
                  <a:pt x="0" y="2532692"/>
                </a:moveTo>
                <a:lnTo>
                  <a:pt x="37825" y="2609028"/>
                </a:lnTo>
                <a:lnTo>
                  <a:pt x="69843" y="2545562"/>
                </a:lnTo>
                <a:lnTo>
                  <a:pt x="47578" y="2545562"/>
                </a:lnTo>
                <a:lnTo>
                  <a:pt x="28529" y="2545494"/>
                </a:lnTo>
                <a:lnTo>
                  <a:pt x="28574" y="2532794"/>
                </a:lnTo>
                <a:lnTo>
                  <a:pt x="0" y="2532692"/>
                </a:lnTo>
                <a:close/>
              </a:path>
              <a:path w="76200" h="2609215">
                <a:moveTo>
                  <a:pt x="28574" y="2532794"/>
                </a:moveTo>
                <a:lnTo>
                  <a:pt x="28529" y="2545494"/>
                </a:lnTo>
                <a:lnTo>
                  <a:pt x="47578" y="2545562"/>
                </a:lnTo>
                <a:lnTo>
                  <a:pt x="47623" y="2532863"/>
                </a:lnTo>
                <a:lnTo>
                  <a:pt x="28574" y="2532794"/>
                </a:lnTo>
                <a:close/>
              </a:path>
              <a:path w="76200" h="2609215">
                <a:moveTo>
                  <a:pt x="47623" y="2532863"/>
                </a:moveTo>
                <a:lnTo>
                  <a:pt x="47578" y="2545562"/>
                </a:lnTo>
                <a:lnTo>
                  <a:pt x="69843" y="2545562"/>
                </a:lnTo>
                <a:lnTo>
                  <a:pt x="76198" y="2532965"/>
                </a:lnTo>
                <a:lnTo>
                  <a:pt x="47623" y="2532863"/>
                </a:lnTo>
                <a:close/>
              </a:path>
              <a:path w="76200" h="2609215">
                <a:moveTo>
                  <a:pt x="37665" y="0"/>
                </a:moveTo>
                <a:lnTo>
                  <a:pt x="28574" y="2532794"/>
                </a:lnTo>
                <a:lnTo>
                  <a:pt x="47623" y="2532863"/>
                </a:lnTo>
                <a:lnTo>
                  <a:pt x="56715" y="68"/>
                </a:lnTo>
                <a:lnTo>
                  <a:pt x="37665" y="0"/>
                </a:lnTo>
                <a:close/>
              </a:path>
            </a:pathLst>
          </a:custGeom>
          <a:solidFill>
            <a:schemeClr val="accent2"/>
          </a:solidFill>
        </p:spPr>
        <p:txBody>
          <a:bodyPr wrap="square" lIns="0" tIns="0" rIns="0" bIns="0" rtlCol="0"/>
          <a:lstStyle/>
          <a:p>
            <a:endParaRPr/>
          </a:p>
        </p:txBody>
      </p:sp>
      <p:sp>
        <p:nvSpPr>
          <p:cNvPr id="11" name="TextBox 10">
            <a:extLst>
              <a:ext uri="{FF2B5EF4-FFF2-40B4-BE49-F238E27FC236}">
                <a16:creationId xmlns:a16="http://schemas.microsoft.com/office/drawing/2014/main" id="{CDBE87E4-18CA-DC83-0EC5-9010EA3D8FB3}"/>
              </a:ext>
            </a:extLst>
          </p:cNvPr>
          <p:cNvSpPr txBox="1"/>
          <p:nvPr/>
        </p:nvSpPr>
        <p:spPr>
          <a:xfrm>
            <a:off x="1023789" y="2645032"/>
            <a:ext cx="1672253" cy="369332"/>
          </a:xfrm>
          <a:prstGeom prst="rect">
            <a:avLst/>
          </a:prstGeom>
          <a:noFill/>
        </p:spPr>
        <p:txBody>
          <a:bodyPr wrap="none" rtlCol="0">
            <a:spAutoFit/>
          </a:bodyPr>
          <a:lstStyle/>
          <a:p>
            <a:r>
              <a:rPr lang="zh-CN" altLang="en-US" dirty="0">
                <a:solidFill>
                  <a:schemeClr val="accent1"/>
                </a:solidFill>
              </a:rPr>
              <a:t>标准</a:t>
            </a:r>
            <a:r>
              <a:rPr lang="en-US" altLang="zh-CN" dirty="0">
                <a:solidFill>
                  <a:schemeClr val="accent1"/>
                </a:solidFill>
              </a:rPr>
              <a:t>RNN</a:t>
            </a:r>
            <a:r>
              <a:rPr lang="zh-CN" altLang="en-US" dirty="0">
                <a:solidFill>
                  <a:schemeClr val="accent1"/>
                </a:solidFill>
              </a:rPr>
              <a:t> 模型</a:t>
            </a:r>
            <a:endParaRPr lang="en-US" dirty="0">
              <a:solidFill>
                <a:schemeClr val="accent1"/>
              </a:solidFill>
            </a:endParaRPr>
          </a:p>
        </p:txBody>
      </p:sp>
      <p:sp>
        <p:nvSpPr>
          <p:cNvPr id="15" name="TextBox 14">
            <a:extLst>
              <a:ext uri="{FF2B5EF4-FFF2-40B4-BE49-F238E27FC236}">
                <a16:creationId xmlns:a16="http://schemas.microsoft.com/office/drawing/2014/main" id="{D35B493D-88D0-ECFD-1E32-04B95B16E0F1}"/>
              </a:ext>
            </a:extLst>
          </p:cNvPr>
          <p:cNvSpPr txBox="1"/>
          <p:nvPr/>
        </p:nvSpPr>
        <p:spPr>
          <a:xfrm>
            <a:off x="1370230" y="4010920"/>
            <a:ext cx="1326004" cy="369332"/>
          </a:xfrm>
          <a:prstGeom prst="rect">
            <a:avLst/>
          </a:prstGeom>
          <a:noFill/>
        </p:spPr>
        <p:txBody>
          <a:bodyPr wrap="none" rtlCol="0">
            <a:spAutoFit/>
          </a:bodyPr>
          <a:lstStyle/>
          <a:p>
            <a:r>
              <a:rPr lang="en-US" altLang="zh-CN" dirty="0">
                <a:solidFill>
                  <a:schemeClr val="accent1"/>
                </a:solidFill>
              </a:rPr>
              <a:t>LSTM</a:t>
            </a:r>
            <a:r>
              <a:rPr lang="zh-CN" altLang="en-US" dirty="0">
                <a:solidFill>
                  <a:schemeClr val="accent1"/>
                </a:solidFill>
              </a:rPr>
              <a:t> 模型</a:t>
            </a:r>
            <a:endParaRPr lang="en-US" dirty="0">
              <a:solidFill>
                <a:schemeClr val="accent1"/>
              </a:solidFill>
            </a:endParaRPr>
          </a:p>
        </p:txBody>
      </p:sp>
      <p:sp>
        <p:nvSpPr>
          <p:cNvPr id="16" name="Left Brace 15">
            <a:extLst>
              <a:ext uri="{FF2B5EF4-FFF2-40B4-BE49-F238E27FC236}">
                <a16:creationId xmlns:a16="http://schemas.microsoft.com/office/drawing/2014/main" id="{B7A94C01-BF44-DBD2-8FA4-CA9DE1EDEC08}"/>
              </a:ext>
            </a:extLst>
          </p:cNvPr>
          <p:cNvSpPr/>
          <p:nvPr/>
        </p:nvSpPr>
        <p:spPr>
          <a:xfrm>
            <a:off x="2741395" y="2575119"/>
            <a:ext cx="236211" cy="502399"/>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Left Brace 16">
            <a:extLst>
              <a:ext uri="{FF2B5EF4-FFF2-40B4-BE49-F238E27FC236}">
                <a16:creationId xmlns:a16="http://schemas.microsoft.com/office/drawing/2014/main" id="{F8581D5F-974D-D774-0F47-2A520F163D14}"/>
              </a:ext>
            </a:extLst>
          </p:cNvPr>
          <p:cNvSpPr/>
          <p:nvPr/>
        </p:nvSpPr>
        <p:spPr>
          <a:xfrm>
            <a:off x="2741395" y="3614547"/>
            <a:ext cx="236211" cy="1187755"/>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文本框 13">
            <a:extLst>
              <a:ext uri="{FF2B5EF4-FFF2-40B4-BE49-F238E27FC236}">
                <a16:creationId xmlns:a16="http://schemas.microsoft.com/office/drawing/2014/main" id="{C117012C-3B56-24D9-92C8-2F22ABECC12D}"/>
              </a:ext>
            </a:extLst>
          </p:cNvPr>
          <p:cNvSpPr txBox="1"/>
          <p:nvPr/>
        </p:nvSpPr>
        <p:spPr>
          <a:xfrm>
            <a:off x="721360" y="6360160"/>
            <a:ext cx="1106424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sz="1400" b="1">
                <a:solidFill>
                  <a:srgbClr val="0563C1"/>
                </a:solidFill>
                <a:latin typeface="Calibri" panose="020F0502020204030204" pitchFamily="34" charset="0"/>
                <a:cs typeface="Calibri" panose="020F0502020204030204" pitchFamily="34" charset="0"/>
                <a:hlinkClick r:id="rId4"/>
              </a:rPr>
              <a:t>https://engineering.fb.com/2016/10/25/ml-applications/building-an-efficient-neural-language-model-over-a-billion-words/</a:t>
            </a:r>
            <a:endParaRPr lang="zh-CN" altLang="en-US">
              <a:latin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1CD43A7D-DE1F-34CD-AB29-F81F496FB15B}"/>
              </a:ext>
            </a:extLst>
          </p:cNvPr>
          <p:cNvSpPr txBox="1"/>
          <p:nvPr/>
        </p:nvSpPr>
        <p:spPr>
          <a:xfrm>
            <a:off x="8801100" y="5167507"/>
            <a:ext cx="2476500" cy="646331"/>
          </a:xfrm>
          <a:prstGeom prst="rect">
            <a:avLst/>
          </a:prstGeom>
          <a:noFill/>
        </p:spPr>
        <p:txBody>
          <a:bodyPr wrap="square">
            <a:spAutoFit/>
          </a:bodyPr>
          <a:lstStyle/>
          <a:p>
            <a:pPr algn="ctr"/>
            <a:r>
              <a:rPr lang="zh-CN" altLang="en-US" dirty="0">
                <a:solidFill>
                  <a:schemeClr val="accent2"/>
                </a:solidFill>
              </a:rPr>
              <a:t>困惑度（</a:t>
            </a:r>
            <a:r>
              <a:rPr lang="en-US" dirty="0">
                <a:solidFill>
                  <a:schemeClr val="accent2"/>
                </a:solidFill>
              </a:rPr>
              <a:t>Perplexity）</a:t>
            </a:r>
          </a:p>
          <a:p>
            <a:pPr algn="ctr"/>
            <a:r>
              <a:rPr lang="zh-CN" altLang="en-US" dirty="0">
                <a:solidFill>
                  <a:schemeClr val="accent2"/>
                </a:solidFill>
              </a:rPr>
              <a:t>越低越好</a:t>
            </a:r>
          </a:p>
        </p:txBody>
      </p:sp>
    </p:spTree>
    <p:extLst>
      <p:ext uri="{BB962C8B-B14F-4D97-AF65-F5344CB8AC3E}">
        <p14:creationId xmlns:p14="http://schemas.microsoft.com/office/powerpoint/2010/main" val="2334061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6CC8E-68F3-6E41-9774-F8651189D8DB}"/>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CD5DA6B5-B76C-FDF6-71D6-78BA7ACE6ED8}"/>
              </a:ext>
            </a:extLst>
          </p:cNvPr>
          <p:cNvGrpSpPr/>
          <p:nvPr/>
        </p:nvGrpSpPr>
        <p:grpSpPr>
          <a:xfrm>
            <a:off x="0" y="0"/>
            <a:ext cx="12192000" cy="6858000"/>
            <a:chOff x="0" y="0"/>
            <a:chExt cx="12192000" cy="6858000"/>
          </a:xfrm>
        </p:grpSpPr>
        <p:sp>
          <p:nvSpPr>
            <p:cNvPr id="38" name="任意多边形: 形状 37">
              <a:extLst>
                <a:ext uri="{FF2B5EF4-FFF2-40B4-BE49-F238E27FC236}">
                  <a16:creationId xmlns:a16="http://schemas.microsoft.com/office/drawing/2014/main" id="{8B663B9E-127A-81E9-4D60-5CB8CFFF3192}"/>
                </a:ext>
              </a:extLst>
            </p:cNvPr>
            <p:cNvSpPr/>
            <p:nvPr/>
          </p:nvSpPr>
          <p:spPr>
            <a:xfrm>
              <a:off x="0" y="0"/>
              <a:ext cx="1819275" cy="1819275"/>
            </a:xfrm>
            <a:custGeom>
              <a:avLst/>
              <a:gdLst>
                <a:gd name="connsiteX0" fmla="*/ 0 w 3638550"/>
                <a:gd name="connsiteY0" fmla="*/ 1819275 h 3638550"/>
                <a:gd name="connsiteX1" fmla="*/ 1819275 w 3638550"/>
                <a:gd name="connsiteY1" fmla="*/ 0 h 3638550"/>
                <a:gd name="connsiteX2" fmla="*/ 3638550 w 3638550"/>
                <a:gd name="connsiteY2" fmla="*/ 1819275 h 3638550"/>
                <a:gd name="connsiteX3" fmla="*/ 1819275 w 3638550"/>
                <a:gd name="connsiteY3" fmla="*/ 3638550 h 3638550"/>
                <a:gd name="connsiteX4" fmla="*/ 0 w 3638550"/>
                <a:gd name="connsiteY4" fmla="*/ 1819275 h 3638550"/>
                <a:gd name="connsiteX0" fmla="*/ 1819275 w 3638550"/>
                <a:gd name="connsiteY0" fmla="*/ 0 h 3638550"/>
                <a:gd name="connsiteX1" fmla="*/ 3638550 w 3638550"/>
                <a:gd name="connsiteY1" fmla="*/ 1819275 h 3638550"/>
                <a:gd name="connsiteX2" fmla="*/ 1819275 w 3638550"/>
                <a:gd name="connsiteY2" fmla="*/ 3638550 h 3638550"/>
                <a:gd name="connsiteX3" fmla="*/ 0 w 3638550"/>
                <a:gd name="connsiteY3" fmla="*/ 1819275 h 3638550"/>
                <a:gd name="connsiteX4" fmla="*/ 1910715 w 3638550"/>
                <a:gd name="connsiteY4" fmla="*/ 91440 h 3638550"/>
                <a:gd name="connsiteX0" fmla="*/ 1819275 w 3638550"/>
                <a:gd name="connsiteY0" fmla="*/ 0 h 3638550"/>
                <a:gd name="connsiteX1" fmla="*/ 3638550 w 3638550"/>
                <a:gd name="connsiteY1" fmla="*/ 1819275 h 3638550"/>
                <a:gd name="connsiteX2" fmla="*/ 1819275 w 3638550"/>
                <a:gd name="connsiteY2" fmla="*/ 3638550 h 3638550"/>
                <a:gd name="connsiteX3" fmla="*/ 0 w 3638550"/>
                <a:gd name="connsiteY3" fmla="*/ 1819275 h 3638550"/>
                <a:gd name="connsiteX0" fmla="*/ 3638550 w 3638550"/>
                <a:gd name="connsiteY0" fmla="*/ 0 h 1819275"/>
                <a:gd name="connsiteX1" fmla="*/ 1819275 w 3638550"/>
                <a:gd name="connsiteY1" fmla="*/ 1819275 h 1819275"/>
                <a:gd name="connsiteX2" fmla="*/ 0 w 3638550"/>
                <a:gd name="connsiteY2" fmla="*/ 0 h 1819275"/>
                <a:gd name="connsiteX0" fmla="*/ 1819275 w 1819275"/>
                <a:gd name="connsiteY0" fmla="*/ 0 h 1819275"/>
                <a:gd name="connsiteX1" fmla="*/ 0 w 1819275"/>
                <a:gd name="connsiteY1" fmla="*/ 1819275 h 1819275"/>
              </a:gdLst>
              <a:ahLst/>
              <a:cxnLst>
                <a:cxn ang="0">
                  <a:pos x="connsiteX0" y="connsiteY0"/>
                </a:cxn>
                <a:cxn ang="0">
                  <a:pos x="connsiteX1" y="connsiteY1"/>
                </a:cxn>
              </a:cxnLst>
              <a:rect l="l" t="t" r="r" b="b"/>
              <a:pathLst>
                <a:path w="1819275" h="1819275">
                  <a:moveTo>
                    <a:pt x="1819275" y="0"/>
                  </a:moveTo>
                  <a:cubicBezTo>
                    <a:pt x="1819275" y="1004758"/>
                    <a:pt x="1004758" y="1819275"/>
                    <a:pt x="0" y="1819275"/>
                  </a:cubicBezTo>
                </a:path>
              </a:pathLst>
            </a:custGeom>
            <a:noFill/>
            <a:ln w="381000">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9" name="组合 38">
              <a:extLst>
                <a:ext uri="{FF2B5EF4-FFF2-40B4-BE49-F238E27FC236}">
                  <a16:creationId xmlns:a16="http://schemas.microsoft.com/office/drawing/2014/main" id="{6B42FADF-7F7E-EB9C-F837-1FBC5072C082}"/>
                </a:ext>
              </a:extLst>
            </p:cNvPr>
            <p:cNvGrpSpPr/>
            <p:nvPr/>
          </p:nvGrpSpPr>
          <p:grpSpPr>
            <a:xfrm>
              <a:off x="1727455" y="1321568"/>
              <a:ext cx="5663945" cy="716782"/>
              <a:chOff x="1727455" y="1321568"/>
              <a:chExt cx="5663945" cy="716782"/>
            </a:xfrm>
          </p:grpSpPr>
          <p:sp>
            <p:nvSpPr>
              <p:cNvPr id="61" name="文本框 60">
                <a:extLst>
                  <a:ext uri="{FF2B5EF4-FFF2-40B4-BE49-F238E27FC236}">
                    <a16:creationId xmlns:a16="http://schemas.microsoft.com/office/drawing/2014/main" id="{C3ADE188-13B4-D458-C82F-1C0825A21122}"/>
                  </a:ext>
                </a:extLst>
              </p:cNvPr>
              <p:cNvSpPr txBox="1">
                <a:spLocks/>
              </p:cNvSpPr>
              <p:nvPr/>
            </p:nvSpPr>
            <p:spPr>
              <a:xfrm>
                <a:off x="2573268" y="1323975"/>
                <a:ext cx="4818132" cy="461665"/>
              </a:xfrm>
              <a:prstGeom prst="rect">
                <a:avLst/>
              </a:prstGeom>
              <a:noFill/>
            </p:spPr>
            <p:txBody>
              <a:bodyPr wrap="square" rtlCol="0">
                <a:spAutoFit/>
              </a:bodyPr>
              <a:lstStyle/>
              <a:p>
                <a:pPr>
                  <a:buSzPct val="25000"/>
                </a:pPr>
                <a:r>
                  <a:rPr lang="zh-CN" altLang="en-US" sz="2400" b="1" dirty="0">
                    <a:latin typeface="Arial" panose="020B0604020202020204" pitchFamily="34" charset="0"/>
                    <a:ea typeface="微软雅黑" panose="020B0503020204020204" pitchFamily="34" charset="-122"/>
                  </a:rPr>
                  <a:t>循环神经网络</a:t>
                </a:r>
              </a:p>
            </p:txBody>
          </p:sp>
          <p:sp>
            <p:nvSpPr>
              <p:cNvPr id="63" name="椭圆 62">
                <a:extLst>
                  <a:ext uri="{FF2B5EF4-FFF2-40B4-BE49-F238E27FC236}">
                    <a16:creationId xmlns:a16="http://schemas.microsoft.com/office/drawing/2014/main" id="{6B47FCCA-D281-D7CB-98E8-8F116F91B98E}"/>
                  </a:ext>
                </a:extLst>
              </p:cNvPr>
              <p:cNvSpPr/>
              <p:nvPr/>
            </p:nvSpPr>
            <p:spPr>
              <a:xfrm>
                <a:off x="1727455" y="1321568"/>
                <a:ext cx="716782" cy="716782"/>
              </a:xfrm>
              <a:prstGeom prst="ellipse">
                <a:avLst/>
              </a:prstGeom>
              <a:noFill/>
              <a:ln w="25400">
                <a:gradFill>
                  <a:gsLst>
                    <a:gs pos="76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zh-CN" sz="2800" b="1">
                    <a:solidFill>
                      <a:schemeClr val="accent1"/>
                    </a:solidFill>
                    <a:latin typeface="Arial" panose="020B0604020202020204" pitchFamily="34" charset="0"/>
                    <a:ea typeface="微软雅黑" panose="020B0503020204020204" pitchFamily="34" charset="-122"/>
                  </a:rPr>
                  <a:t>01</a:t>
                </a:r>
              </a:p>
            </p:txBody>
          </p:sp>
        </p:grpSp>
        <p:grpSp>
          <p:nvGrpSpPr>
            <p:cNvPr id="40" name="组合 39">
              <a:extLst>
                <a:ext uri="{FF2B5EF4-FFF2-40B4-BE49-F238E27FC236}">
                  <a16:creationId xmlns:a16="http://schemas.microsoft.com/office/drawing/2014/main" id="{DB2FE93D-5189-0273-5986-C7A1BC1E3314}"/>
                </a:ext>
              </a:extLst>
            </p:cNvPr>
            <p:cNvGrpSpPr/>
            <p:nvPr/>
          </p:nvGrpSpPr>
          <p:grpSpPr>
            <a:xfrm>
              <a:off x="7540339" y="0"/>
              <a:ext cx="4651661" cy="6858000"/>
              <a:chOff x="7540339" y="0"/>
              <a:chExt cx="4651661" cy="6858000"/>
            </a:xfrm>
          </p:grpSpPr>
          <p:sp>
            <p:nvSpPr>
              <p:cNvPr id="60" name="任意多边形: 形状 59">
                <a:extLst>
                  <a:ext uri="{FF2B5EF4-FFF2-40B4-BE49-F238E27FC236}">
                    <a16:creationId xmlns:a16="http://schemas.microsoft.com/office/drawing/2014/main" id="{517615C6-6F89-AEF2-3B94-1830466619AD}"/>
                  </a:ext>
                </a:extLst>
              </p:cNvPr>
              <p:cNvSpPr/>
              <p:nvPr/>
            </p:nvSpPr>
            <p:spPr>
              <a:xfrm>
                <a:off x="7779658" y="0"/>
                <a:ext cx="4412342" cy="6858000"/>
              </a:xfrm>
              <a:custGeom>
                <a:avLst/>
                <a:gdLst>
                  <a:gd name="connsiteX0" fmla="*/ 1295690 w 4412342"/>
                  <a:gd name="connsiteY0" fmla="*/ 0 h 6858000"/>
                  <a:gd name="connsiteX1" fmla="*/ 4412342 w 4412342"/>
                  <a:gd name="connsiteY1" fmla="*/ 0 h 6858000"/>
                  <a:gd name="connsiteX2" fmla="*/ 4412342 w 4412342"/>
                  <a:gd name="connsiteY2" fmla="*/ 1636729 h 6858000"/>
                  <a:gd name="connsiteX3" fmla="*/ 4272563 w 4412342"/>
                  <a:gd name="connsiteY3" fmla="*/ 1672670 h 6858000"/>
                  <a:gd name="connsiteX4" fmla="*/ 3111228 w 4412342"/>
                  <a:gd name="connsiteY4" fmla="*/ 3251199 h 6858000"/>
                  <a:gd name="connsiteX5" fmla="*/ 4272563 w 4412342"/>
                  <a:gd name="connsiteY5" fmla="*/ 4829728 h 6858000"/>
                  <a:gd name="connsiteX6" fmla="*/ 4412342 w 4412342"/>
                  <a:gd name="connsiteY6" fmla="*/ 4865669 h 6858000"/>
                  <a:gd name="connsiteX7" fmla="*/ 4412342 w 4412342"/>
                  <a:gd name="connsiteY7" fmla="*/ 6858000 h 6858000"/>
                  <a:gd name="connsiteX8" fmla="*/ 1670654 w 4412342"/>
                  <a:gd name="connsiteY8" fmla="*/ 6858000 h 6858000"/>
                  <a:gd name="connsiteX9" fmla="*/ 1550198 w 4412342"/>
                  <a:gd name="connsiteY9" fmla="*/ 6753659 h 6858000"/>
                  <a:gd name="connsiteX10" fmla="*/ 0 w 4412342"/>
                  <a:gd name="connsiteY10" fmla="*/ 3251200 h 6858000"/>
                  <a:gd name="connsiteX11" fmla="*/ 1229199 w 4412342"/>
                  <a:gd name="connsiteY11" fmla="*/ 6974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412342" h="6858000">
                    <a:moveTo>
                      <a:pt x="1295690" y="0"/>
                    </a:moveTo>
                    <a:lnTo>
                      <a:pt x="4412342" y="0"/>
                    </a:lnTo>
                    <a:lnTo>
                      <a:pt x="4412342" y="1636729"/>
                    </a:lnTo>
                    <a:lnTo>
                      <a:pt x="4272563" y="1672670"/>
                    </a:lnTo>
                    <a:cubicBezTo>
                      <a:pt x="3599745" y="1881938"/>
                      <a:pt x="3111228" y="2509519"/>
                      <a:pt x="3111228" y="3251199"/>
                    </a:cubicBezTo>
                    <a:cubicBezTo>
                      <a:pt x="3111228" y="3992879"/>
                      <a:pt x="3599745" y="4620460"/>
                      <a:pt x="4272563" y="4829728"/>
                    </a:cubicBezTo>
                    <a:lnTo>
                      <a:pt x="4412342" y="4865669"/>
                    </a:lnTo>
                    <a:lnTo>
                      <a:pt x="4412342" y="6858000"/>
                    </a:lnTo>
                    <a:lnTo>
                      <a:pt x="1670654" y="6858000"/>
                    </a:lnTo>
                    <a:lnTo>
                      <a:pt x="1550198" y="6753659"/>
                    </a:lnTo>
                    <a:cubicBezTo>
                      <a:pt x="597879" y="5888107"/>
                      <a:pt x="0" y="4639475"/>
                      <a:pt x="0" y="3251200"/>
                    </a:cubicBezTo>
                    <a:cubicBezTo>
                      <a:pt x="0" y="2026252"/>
                      <a:pt x="465477" y="910022"/>
                      <a:pt x="1229199" y="69741"/>
                    </a:cubicBezTo>
                    <a:close/>
                  </a:path>
                </a:pathLst>
              </a:custGeom>
              <a:solidFill>
                <a:schemeClr val="accent1">
                  <a:alpha val="5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58" name="矩形 57">
                <a:extLst>
                  <a:ext uri="{FF2B5EF4-FFF2-40B4-BE49-F238E27FC236}">
                    <a16:creationId xmlns:a16="http://schemas.microsoft.com/office/drawing/2014/main" id="{CEEF9022-3A00-973C-B05E-43292B7A2CBC}"/>
                  </a:ext>
                </a:extLst>
              </p:cNvPr>
              <p:cNvSpPr/>
              <p:nvPr/>
            </p:nvSpPr>
            <p:spPr>
              <a:xfrm>
                <a:off x="7540339" y="3124369"/>
                <a:ext cx="3592287" cy="10156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r>
                  <a:rPr kumimoji="1" lang="zh-CN" altLang="en-US" sz="6000" b="1" dirty="0">
                    <a:solidFill>
                      <a:schemeClr val="tx1"/>
                    </a:solidFill>
                    <a:latin typeface="Arial" panose="020B0604020202020204" pitchFamily="34" charset="0"/>
                    <a:ea typeface="微软雅黑" panose="020B0503020204020204" pitchFamily="34" charset="-122"/>
                    <a:sym typeface="Arial" panose="020B0604020202020204" pitchFamily="34" charset="0"/>
                  </a:rPr>
                  <a:t>本课重点</a:t>
                </a:r>
                <a:endParaRPr kumimoji="1" lang="en-US" altLang="zh-CN" sz="6000" b="1"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41" name="组合 40">
              <a:extLst>
                <a:ext uri="{FF2B5EF4-FFF2-40B4-BE49-F238E27FC236}">
                  <a16:creationId xmlns:a16="http://schemas.microsoft.com/office/drawing/2014/main" id="{D3785F26-F2AB-5D76-83A8-07BA7AC9AEB3}"/>
                </a:ext>
              </a:extLst>
            </p:cNvPr>
            <p:cNvGrpSpPr/>
            <p:nvPr/>
          </p:nvGrpSpPr>
          <p:grpSpPr>
            <a:xfrm>
              <a:off x="1727455" y="2333605"/>
              <a:ext cx="5663945" cy="716782"/>
              <a:chOff x="1727455" y="2419283"/>
              <a:chExt cx="5663945" cy="716782"/>
            </a:xfrm>
          </p:grpSpPr>
          <p:sp>
            <p:nvSpPr>
              <p:cNvPr id="54" name="文本框 53">
                <a:extLst>
                  <a:ext uri="{FF2B5EF4-FFF2-40B4-BE49-F238E27FC236}">
                    <a16:creationId xmlns:a16="http://schemas.microsoft.com/office/drawing/2014/main" id="{2D275FD2-385F-90A1-D7BF-7725A3CAE494}"/>
                  </a:ext>
                </a:extLst>
              </p:cNvPr>
              <p:cNvSpPr txBox="1">
                <a:spLocks/>
              </p:cNvSpPr>
              <p:nvPr/>
            </p:nvSpPr>
            <p:spPr>
              <a:xfrm>
                <a:off x="2573268" y="2421690"/>
                <a:ext cx="4818132" cy="461665"/>
              </a:xfrm>
              <a:prstGeom prst="rect">
                <a:avLst/>
              </a:prstGeom>
              <a:noFill/>
            </p:spPr>
            <p:txBody>
              <a:bodyPr wrap="square" rtlCol="0">
                <a:spAutoFit/>
              </a:bodyPr>
              <a:lstStyle/>
              <a:p>
                <a:pPr>
                  <a:buSzPct val="25000"/>
                </a:pPr>
                <a:r>
                  <a:rPr lang="zh-CN" altLang="en-US" sz="2400" b="1" dirty="0">
                    <a:solidFill>
                      <a:srgbClr val="4472C4"/>
                    </a:solidFill>
                    <a:latin typeface="Arial" panose="020B0604020202020204" pitchFamily="34" charset="0"/>
                    <a:ea typeface="微软雅黑" panose="020B0503020204020204" pitchFamily="34" charset="-122"/>
                  </a:rPr>
                  <a:t>注意力</a:t>
                </a:r>
              </a:p>
            </p:txBody>
          </p:sp>
          <p:sp>
            <p:nvSpPr>
              <p:cNvPr id="56" name="椭圆 55">
                <a:extLst>
                  <a:ext uri="{FF2B5EF4-FFF2-40B4-BE49-F238E27FC236}">
                    <a16:creationId xmlns:a16="http://schemas.microsoft.com/office/drawing/2014/main" id="{774F2086-E5B9-5A6B-56D7-CF41F44F67DD}"/>
                  </a:ext>
                </a:extLst>
              </p:cNvPr>
              <p:cNvSpPr/>
              <p:nvPr/>
            </p:nvSpPr>
            <p:spPr>
              <a:xfrm>
                <a:off x="1727455" y="2419283"/>
                <a:ext cx="716782" cy="716782"/>
              </a:xfrm>
              <a:prstGeom prst="ellipse">
                <a:avLst/>
              </a:prstGeom>
              <a:noFill/>
              <a:ln w="25400">
                <a:gradFill>
                  <a:gsLst>
                    <a:gs pos="76000">
                      <a:schemeClr val="tx2">
                        <a:alpha val="0"/>
                      </a:schemeClr>
                    </a:gs>
                    <a:gs pos="100000">
                      <a:schemeClr val="tx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zh-CN" sz="2800" b="1">
                    <a:solidFill>
                      <a:srgbClr val="4472C4"/>
                    </a:solidFill>
                    <a:latin typeface="Arial" panose="020B0604020202020204" pitchFamily="34" charset="0"/>
                    <a:ea typeface="微软雅黑" panose="020B0503020204020204" pitchFamily="34" charset="-122"/>
                  </a:rPr>
                  <a:t>02</a:t>
                </a:r>
              </a:p>
            </p:txBody>
          </p:sp>
        </p:grpSp>
      </p:grpSp>
      <p:sp>
        <p:nvSpPr>
          <p:cNvPr id="3" name="文本框 53">
            <a:extLst>
              <a:ext uri="{FF2B5EF4-FFF2-40B4-BE49-F238E27FC236}">
                <a16:creationId xmlns:a16="http://schemas.microsoft.com/office/drawing/2014/main" id="{8FDD4554-A8C1-0BE4-8F8A-CB1FEAF31157}"/>
              </a:ext>
            </a:extLst>
          </p:cNvPr>
          <p:cNvSpPr txBox="1">
            <a:spLocks/>
          </p:cNvSpPr>
          <p:nvPr/>
        </p:nvSpPr>
        <p:spPr>
          <a:xfrm>
            <a:off x="2573268" y="3359918"/>
            <a:ext cx="4818132" cy="461665"/>
          </a:xfrm>
          <a:prstGeom prst="rect">
            <a:avLst/>
          </a:prstGeom>
          <a:noFill/>
        </p:spPr>
        <p:txBody>
          <a:bodyPr wrap="square" rtlCol="0">
            <a:spAutoFit/>
          </a:bodyPr>
          <a:lstStyle/>
          <a:p>
            <a:pPr>
              <a:buSzPct val="25000"/>
            </a:pPr>
            <a:r>
              <a:rPr lang="zh-CN" altLang="en-US" sz="2400" b="1">
                <a:latin typeface="Arial" panose="020B0604020202020204" pitchFamily="34" charset="0"/>
                <a:ea typeface="微软雅黑" panose="020B0503020204020204" pitchFamily="34" charset="-122"/>
              </a:rPr>
              <a:t>自注意力</a:t>
            </a:r>
          </a:p>
        </p:txBody>
      </p:sp>
      <p:sp>
        <p:nvSpPr>
          <p:cNvPr id="4" name="椭圆 55">
            <a:extLst>
              <a:ext uri="{FF2B5EF4-FFF2-40B4-BE49-F238E27FC236}">
                <a16:creationId xmlns:a16="http://schemas.microsoft.com/office/drawing/2014/main" id="{7FC1F714-9540-3FA9-F852-D5C706410A57}"/>
              </a:ext>
            </a:extLst>
          </p:cNvPr>
          <p:cNvSpPr/>
          <p:nvPr/>
        </p:nvSpPr>
        <p:spPr>
          <a:xfrm>
            <a:off x="1727455" y="3357511"/>
            <a:ext cx="716782" cy="716782"/>
          </a:xfrm>
          <a:prstGeom prst="ellipse">
            <a:avLst/>
          </a:prstGeom>
          <a:noFill/>
          <a:ln w="25400">
            <a:gradFill>
              <a:gsLst>
                <a:gs pos="76000">
                  <a:schemeClr val="tx2">
                    <a:alpha val="0"/>
                  </a:schemeClr>
                </a:gs>
                <a:gs pos="100000">
                  <a:schemeClr val="tx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zh-CN" sz="2800" b="1" dirty="0">
                <a:solidFill>
                  <a:srgbClr val="4472C4"/>
                </a:solidFill>
                <a:latin typeface="Arial" panose="020B0604020202020204" pitchFamily="34" charset="0"/>
                <a:ea typeface="微软雅黑" panose="020B0503020204020204" pitchFamily="34" charset="-122"/>
              </a:rPr>
              <a:t>03</a:t>
            </a:r>
          </a:p>
        </p:txBody>
      </p:sp>
    </p:spTree>
    <p:custDataLst>
      <p:tags r:id="rId1"/>
    </p:custDataLst>
    <p:extLst>
      <p:ext uri="{BB962C8B-B14F-4D97-AF65-F5344CB8AC3E}">
        <p14:creationId xmlns:p14="http://schemas.microsoft.com/office/powerpoint/2010/main" val="36316722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66E66B9-D0DE-0B5F-9CE7-EC347FEB5165}"/>
              </a:ext>
            </a:extLst>
          </p:cNvPr>
          <p:cNvSpPr>
            <a:spLocks noGrp="1"/>
          </p:cNvSpPr>
          <p:nvPr>
            <p:ph idx="1"/>
          </p:nvPr>
        </p:nvSpPr>
        <p:spPr>
          <a:xfrm>
            <a:off x="657774" y="1270000"/>
            <a:ext cx="10696026" cy="4906963"/>
          </a:xfrm>
        </p:spPr>
        <p:txBody>
          <a:bodyPr>
            <a:normAutofit/>
          </a:bodyPr>
          <a:lstStyle/>
          <a:p>
            <a:pPr marL="457200" indent="-457200" algn="just">
              <a:lnSpc>
                <a:spcPct val="150000"/>
              </a:lnSpc>
              <a:buFont typeface="Wingdings" panose="05000000000000000000" pitchFamily="2" charset="2"/>
              <a:buChar char="p"/>
              <a:defRPr/>
            </a:pPr>
            <a:r>
              <a:rPr lang="zh-CN" altLang="en-US" dirty="0"/>
              <a:t>在为特定任务建模文本时，输入文本的某些部分更为重要，而这些重要部分可能出现在输入的任何位置（可能分布集中或分散）</a:t>
            </a:r>
            <a:endParaRPr lang="en-US" altLang="zh-CN" dirty="0"/>
          </a:p>
          <a:p>
            <a:pPr marL="457200" indent="-457200" algn="just">
              <a:lnSpc>
                <a:spcPct val="150000"/>
              </a:lnSpc>
              <a:buFont typeface="Wingdings" panose="05000000000000000000" pitchFamily="2" charset="2"/>
              <a:buChar char="p"/>
              <a:defRPr/>
            </a:pPr>
            <a:endParaRPr lang="zh-CN" altLang="en-US" dirty="0"/>
          </a:p>
          <a:p>
            <a:pPr marL="457200" indent="-457200" algn="just">
              <a:lnSpc>
                <a:spcPct val="150000"/>
              </a:lnSpc>
              <a:buFont typeface="Wingdings" panose="05000000000000000000" pitchFamily="2" charset="2"/>
              <a:buChar char="p"/>
              <a:defRPr/>
            </a:pPr>
            <a:r>
              <a:rPr lang="zh-CN" altLang="en-US" dirty="0"/>
              <a:t>如果重要部分远离当前状态，</a:t>
            </a:r>
            <a:r>
              <a:rPr lang="en-US" altLang="zh-CN" dirty="0"/>
              <a:t>RNN </a:t>
            </a:r>
            <a:r>
              <a:rPr lang="zh-CN" altLang="en-US" dirty="0"/>
              <a:t>很难捕获重要信息</a:t>
            </a:r>
            <a:endParaRPr lang="en-US" altLang="zh-CN" dirty="0"/>
          </a:p>
          <a:p>
            <a:pPr marL="457200" indent="-457200" algn="just">
              <a:lnSpc>
                <a:spcPct val="150000"/>
              </a:lnSpc>
              <a:buFont typeface="Wingdings" panose="05000000000000000000" pitchFamily="2" charset="2"/>
              <a:buChar char="p"/>
              <a:defRPr/>
            </a:pPr>
            <a:endParaRPr lang="zh-CN" altLang="en-US" dirty="0"/>
          </a:p>
          <a:p>
            <a:pPr marL="457200" indent="-457200" algn="just">
              <a:lnSpc>
                <a:spcPct val="150000"/>
              </a:lnSpc>
              <a:buFont typeface="Wingdings" panose="05000000000000000000" pitchFamily="2" charset="2"/>
              <a:buChar char="p"/>
              <a:defRPr/>
            </a:pPr>
            <a:r>
              <a:rPr lang="zh-CN" altLang="en-US" dirty="0"/>
              <a:t>为了利用重要部分中的信息，我们可以为每个输入单元分配一个注意权重，然后计算它们的加权平均值。其中，注意权重越高意味着输入单元越重要</a:t>
            </a:r>
            <a:endParaRPr lang="en-US" dirty="0"/>
          </a:p>
        </p:txBody>
      </p:sp>
      <p:grpSp>
        <p:nvGrpSpPr>
          <p:cNvPr id="6" name="Group 5">
            <a:extLst>
              <a:ext uri="{FF2B5EF4-FFF2-40B4-BE49-F238E27FC236}">
                <a16:creationId xmlns:a16="http://schemas.microsoft.com/office/drawing/2014/main" id="{A18EB200-D7F1-DA8E-958D-631E59558108}"/>
              </a:ext>
            </a:extLst>
          </p:cNvPr>
          <p:cNvGrpSpPr/>
          <p:nvPr/>
        </p:nvGrpSpPr>
        <p:grpSpPr>
          <a:xfrm>
            <a:off x="0" y="-1589"/>
            <a:ext cx="12191999" cy="768585"/>
            <a:chOff x="0" y="-1589"/>
            <a:chExt cx="12191999" cy="768585"/>
          </a:xfrm>
        </p:grpSpPr>
        <p:grpSp>
          <p:nvGrpSpPr>
            <p:cNvPr id="7" name="Group 9">
              <a:extLst>
                <a:ext uri="{FF2B5EF4-FFF2-40B4-BE49-F238E27FC236}">
                  <a16:creationId xmlns:a16="http://schemas.microsoft.com/office/drawing/2014/main" id="{8B8144F3-29FC-30D2-853E-6E1BF2133A10}"/>
                </a:ext>
              </a:extLst>
            </p:cNvPr>
            <p:cNvGrpSpPr>
              <a:grpSpLocks noChangeAspect="1"/>
            </p:cNvGrpSpPr>
            <p:nvPr/>
          </p:nvGrpSpPr>
          <p:grpSpPr bwMode="auto">
            <a:xfrm>
              <a:off x="0" y="-1589"/>
              <a:ext cx="12191999" cy="767234"/>
              <a:chOff x="-1" y="-1"/>
              <a:chExt cx="7719" cy="568"/>
            </a:xfrm>
          </p:grpSpPr>
          <p:sp>
            <p:nvSpPr>
              <p:cNvPr id="10" name="Freeform 9">
                <a:extLst>
                  <a:ext uri="{FF2B5EF4-FFF2-40B4-BE49-F238E27FC236}">
                    <a16:creationId xmlns:a16="http://schemas.microsoft.com/office/drawing/2014/main" id="{4E49D9EC-D13C-A025-B274-DD2581FA5C09}"/>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1" name="AutoShape 8">
                <a:extLst>
                  <a:ext uri="{FF2B5EF4-FFF2-40B4-BE49-F238E27FC236}">
                    <a16:creationId xmlns:a16="http://schemas.microsoft.com/office/drawing/2014/main" id="{A3677AF7-D08B-F8C4-4011-530F5A44C87A}"/>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8" name="任意多边形: 形状 12">
              <a:extLst>
                <a:ext uri="{FF2B5EF4-FFF2-40B4-BE49-F238E27FC236}">
                  <a16:creationId xmlns:a16="http://schemas.microsoft.com/office/drawing/2014/main" id="{35F6F058-9E7D-9506-8844-3F9D45E76C02}"/>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9" name="文本框 18">
              <a:extLst>
                <a:ext uri="{FF2B5EF4-FFF2-40B4-BE49-F238E27FC236}">
                  <a16:creationId xmlns:a16="http://schemas.microsoft.com/office/drawing/2014/main" id="{A5DCB641-8F5E-4593-8B75-D785F6AF0D95}"/>
                </a:ext>
              </a:extLst>
            </p:cNvPr>
            <p:cNvSpPr txBox="1"/>
            <p:nvPr/>
          </p:nvSpPr>
          <p:spPr>
            <a:xfrm>
              <a:off x="350439" y="120418"/>
              <a:ext cx="377539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1">
                  <a:solidFill>
                    <a:prstClr val="white"/>
                  </a:solidFill>
                  <a:cs typeface="+mn-ea"/>
                  <a:sym typeface="+mn-lt"/>
                </a:rPr>
                <a:t>注意力机制的基本想法</a:t>
              </a:r>
              <a:endParaRPr kumimoji="0" lang="zh-CN" altLang="en-US" sz="2800" b="1" i="0" u="none" strike="noStrike" kern="1200" cap="none" spc="0" normalizeH="0" baseline="0" noProof="0">
                <a:ln>
                  <a:noFill/>
                </a:ln>
                <a:solidFill>
                  <a:prstClr val="white"/>
                </a:solidFill>
                <a:effectLst/>
                <a:uLnTx/>
                <a:uFillTx/>
                <a:cs typeface="+mn-ea"/>
                <a:sym typeface="+mn-lt"/>
              </a:endParaRPr>
            </a:p>
          </p:txBody>
        </p:sp>
      </p:grpSp>
    </p:spTree>
    <p:extLst>
      <p:ext uri="{BB962C8B-B14F-4D97-AF65-F5344CB8AC3E}">
        <p14:creationId xmlns:p14="http://schemas.microsoft.com/office/powerpoint/2010/main" val="18706026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266E66B9-D0DE-0B5F-9CE7-EC347FEB5165}"/>
                  </a:ext>
                </a:extLst>
              </p:cNvPr>
              <p:cNvSpPr>
                <a:spLocks noGrp="1"/>
              </p:cNvSpPr>
              <p:nvPr>
                <p:ph idx="1"/>
              </p:nvPr>
            </p:nvSpPr>
            <p:spPr>
              <a:xfrm>
                <a:off x="838200" y="1135626"/>
                <a:ext cx="6108700" cy="5041337"/>
              </a:xfrm>
            </p:spPr>
            <p:txBody>
              <a:bodyPr>
                <a:normAutofit fontScale="85000" lnSpcReduction="10000"/>
              </a:bodyPr>
              <a:lstStyle/>
              <a:p>
                <a:pPr marL="457200" indent="-457200" algn="just">
                  <a:lnSpc>
                    <a:spcPct val="150000"/>
                  </a:lnSpc>
                  <a:buFont typeface="Wingdings" panose="05000000000000000000" pitchFamily="2" charset="2"/>
                  <a:buChar char="p"/>
                  <a:defRPr/>
                </a:pPr>
                <a:r>
                  <a:rPr lang="zh-CN" altLang="en-US" dirty="0"/>
                  <a:t>前馈注意力计算过程</a:t>
                </a:r>
                <a:endParaRPr lang="en-US" altLang="zh-CN" dirty="0"/>
              </a:p>
              <a:p>
                <a:pPr marL="914400" lvl="1" indent="-457200" algn="just">
                  <a:lnSpc>
                    <a:spcPct val="150000"/>
                  </a:lnSpc>
                  <a:buFont typeface="Wingdings" panose="05000000000000000000" pitchFamily="2" charset="2"/>
                  <a:buChar char="p"/>
                  <a:defRPr/>
                </a:pPr>
                <a:r>
                  <a:rPr lang="zh-CN" altLang="en-US" dirty="0"/>
                  <a:t>前馈过程：</a:t>
                </a:r>
                <a14:m>
                  <m:oMath xmlns:m="http://schemas.openxmlformats.org/officeDocument/2006/math">
                    <m:r>
                      <a:rPr lang="en-US" altLang="zh-CN" smtClean="0">
                        <a:latin typeface="Cambria Math" panose="02040503050406030204" pitchFamily="18" charset="0"/>
                      </a:rPr>
                      <m:t>𝑎</m:t>
                    </m:r>
                    <m:r>
                      <a:rPr lang="en-US" altLang="zh-CN" smtClean="0">
                        <a:latin typeface="Cambria Math" panose="02040503050406030204" pitchFamily="18" charset="0"/>
                      </a:rPr>
                      <m:t>(⋅)</m:t>
                    </m:r>
                  </m:oMath>
                </a14:m>
                <a:r>
                  <a:rPr lang="zh-CN" altLang="en-US" dirty="0"/>
                  <a:t>是一个可学习的函数，</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h</m:t>
                        </m:r>
                      </m:e>
                      <m:sub>
                        <m:r>
                          <a:rPr lang="en-US" altLang="zh-CN">
                            <a:latin typeface="Cambria Math" panose="02040503050406030204" pitchFamily="18" charset="0"/>
                          </a:rPr>
                          <m:t>𝑡</m:t>
                        </m:r>
                      </m:sub>
                    </m:sSub>
                  </m:oMath>
                </a14:m>
                <a:r>
                  <a:rPr lang="zh-CN" altLang="en-US" dirty="0"/>
                  <a:t>是输入隐向量</a:t>
                </a:r>
                <a:endParaRPr lang="en-US" altLang="zh-CN" dirty="0"/>
              </a:p>
              <a:p>
                <a:pPr marL="0" lvl="1" indent="0" algn="just">
                  <a:lnSpc>
                    <a:spcPct val="110000"/>
                  </a:lnSpc>
                  <a:spcBef>
                    <a:spcPts val="1000"/>
                  </a:spcBef>
                  <a:buNone/>
                  <a:defRPr/>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𝑒</m:t>
                          </m:r>
                        </m:e>
                        <m:sub>
                          <m:r>
                            <a:rPr lang="en-US" altLang="zh-CN">
                              <a:latin typeface="Cambria Math" panose="02040503050406030204" pitchFamily="18" charset="0"/>
                            </a:rPr>
                            <m:t>𝑡</m:t>
                          </m:r>
                        </m:sub>
                      </m:sSub>
                      <m:r>
                        <a:rPr lang="en-US" altLang="zh-CN">
                          <a:latin typeface="Cambria Math" panose="02040503050406030204" pitchFamily="18" charset="0"/>
                        </a:rPr>
                        <m:t>=</m:t>
                      </m:r>
                      <m:r>
                        <a:rPr lang="en-US" altLang="zh-CN">
                          <a:latin typeface="Cambria Math" panose="02040503050406030204" pitchFamily="18" charset="0"/>
                        </a:rPr>
                        <m:t>𝑎</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a:latin typeface="Cambria Math" panose="02040503050406030204" pitchFamily="18" charset="0"/>
                                </a:rPr>
                                <m:t>h</m:t>
                              </m:r>
                            </m:e>
                            <m:sub>
                              <m:r>
                                <a:rPr lang="en-US" altLang="zh-CN">
                                  <a:latin typeface="Cambria Math" panose="02040503050406030204" pitchFamily="18" charset="0"/>
                                </a:rPr>
                                <m:t>𝑡</m:t>
                              </m:r>
                            </m:sub>
                          </m:sSub>
                        </m:e>
                      </m:d>
                    </m:oMath>
                  </m:oMathPara>
                </a14:m>
                <a:endParaRPr lang="en-US" altLang="zh-CN" b="1" kern="100" dirty="0">
                  <a:solidFill>
                    <a:prstClr val="black"/>
                  </a:solidFill>
                  <a:cs typeface="+mn-ea"/>
                </a:endParaRPr>
              </a:p>
              <a:p>
                <a:pPr marL="914400" lvl="1" indent="-457200" algn="just">
                  <a:lnSpc>
                    <a:spcPct val="150000"/>
                  </a:lnSpc>
                  <a:buFont typeface="Wingdings" panose="05000000000000000000" pitchFamily="2" charset="2"/>
                  <a:buChar char="p"/>
                  <a:defRPr/>
                </a:pPr>
                <a:r>
                  <a:rPr lang="zh-CN" altLang="en-US" dirty="0"/>
                  <a:t>计算注意力权重：</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𝑎</m:t>
                        </m:r>
                      </m:e>
                      <m:sub>
                        <m:r>
                          <a:rPr lang="en-US" altLang="zh-CN">
                            <a:latin typeface="Cambria Math" panose="02040503050406030204" pitchFamily="18" charset="0"/>
                          </a:rPr>
                          <m:t>𝑡</m:t>
                        </m:r>
                      </m:sub>
                    </m:sSub>
                  </m:oMath>
                </a14:m>
                <a:endParaRPr lang="en-US" altLang="zh-CN" dirty="0"/>
              </a:p>
              <a:p>
                <a:pPr marL="457200" lvl="1" indent="0" algn="just">
                  <a:lnSpc>
                    <a:spcPct val="150000"/>
                  </a:lnSpc>
                  <a:buNone/>
                  <a:defRPr/>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a:latin typeface="Cambria Math" panose="02040503050406030204" pitchFamily="18" charset="0"/>
                            </a:rPr>
                            <m:t>𝑎</m:t>
                          </m:r>
                        </m:e>
                        <m:sub>
                          <m:r>
                            <a:rPr lang="en-US" altLang="zh-CN">
                              <a:latin typeface="Cambria Math" panose="02040503050406030204" pitchFamily="18" charset="0"/>
                            </a:rPr>
                            <m:t>𝑡</m:t>
                          </m:r>
                        </m:sub>
                      </m:sSub>
                      <m:r>
                        <a:rPr lang="en-US" altLang="zh-CN">
                          <a:latin typeface="Cambria Math" panose="02040503050406030204" pitchFamily="18" charset="0"/>
                        </a:rPr>
                        <m:t>=</m:t>
                      </m:r>
                      <m:f>
                        <m:fPr>
                          <m:ctrlPr>
                            <a:rPr lang="en-US" altLang="zh-CN" i="1">
                              <a:latin typeface="Cambria Math" panose="02040503050406030204" pitchFamily="18" charset="0"/>
                            </a:rPr>
                          </m:ctrlPr>
                        </m:fPr>
                        <m:num>
                          <m:r>
                            <m:rPr>
                              <m:sty m:val="p"/>
                            </m:rPr>
                            <a:rPr lang="en-US" altLang="zh-CN">
                              <a:latin typeface="Cambria Math" panose="02040503050406030204" pitchFamily="18" charset="0"/>
                            </a:rPr>
                            <m:t>exp</m:t>
                          </m:r>
                          <m:r>
                            <a:rPr lang="en-US" altLang="zh-CN">
                              <a:latin typeface="Cambria Math" panose="02040503050406030204" pitchFamily="18" charset="0"/>
                            </a:rPr>
                            <m:t>⁡(</m:t>
                          </m:r>
                          <m:sSub>
                            <m:sSubPr>
                              <m:ctrlPr>
                                <a:rPr lang="en-US" altLang="zh-CN" i="1">
                                  <a:latin typeface="Cambria Math" panose="02040503050406030204" pitchFamily="18" charset="0"/>
                                </a:rPr>
                              </m:ctrlPr>
                            </m:sSubPr>
                            <m:e>
                              <m:r>
                                <a:rPr lang="en-US" altLang="zh-CN">
                                  <a:latin typeface="Cambria Math" panose="02040503050406030204" pitchFamily="18" charset="0"/>
                                </a:rPr>
                                <m:t>𝑒</m:t>
                              </m:r>
                            </m:e>
                            <m:sub>
                              <m:r>
                                <a:rPr lang="en-US" altLang="zh-CN">
                                  <a:latin typeface="Cambria Math" panose="02040503050406030204" pitchFamily="18" charset="0"/>
                                </a:rPr>
                                <m:t>𝑡</m:t>
                              </m:r>
                            </m:sub>
                          </m:sSub>
                          <m:r>
                            <a:rPr lang="en-US" altLang="zh-CN">
                              <a:latin typeface="Cambria Math" panose="02040503050406030204" pitchFamily="18" charset="0"/>
                            </a:rPr>
                            <m:t>)</m:t>
                          </m:r>
                        </m:num>
                        <m:den>
                          <m:nary>
                            <m:naryPr>
                              <m:chr m:val="∑"/>
                              <m:ctrlPr>
                                <a:rPr lang="en-US" altLang="zh-CN" i="1">
                                  <a:latin typeface="Cambria Math" panose="02040503050406030204" pitchFamily="18" charset="0"/>
                                </a:rPr>
                              </m:ctrlPr>
                            </m:naryPr>
                            <m:sub>
                              <m:r>
                                <m:rPr>
                                  <m:brk m:alnAt="23"/>
                                </m:rPr>
                                <a:rPr lang="en-US" altLang="zh-CN">
                                  <a:latin typeface="Cambria Math" panose="02040503050406030204" pitchFamily="18" charset="0"/>
                                </a:rPr>
                                <m:t>𝑡</m:t>
                              </m:r>
                              <m:r>
                                <a:rPr lang="en-US" altLang="zh-CN">
                                  <a:latin typeface="Cambria Math" panose="02040503050406030204" pitchFamily="18" charset="0"/>
                                </a:rPr>
                                <m:t>=1</m:t>
                              </m:r>
                            </m:sub>
                            <m:sup>
                              <m:r>
                                <a:rPr lang="en-US" altLang="zh-CN">
                                  <a:latin typeface="Cambria Math" panose="02040503050406030204" pitchFamily="18" charset="0"/>
                                </a:rPr>
                                <m:t>𝑇</m:t>
                              </m:r>
                            </m:sup>
                            <m:e>
                              <m:r>
                                <m:rPr>
                                  <m:sty m:val="p"/>
                                </m:rPr>
                                <a:rPr lang="en-US" altLang="zh-CN">
                                  <a:latin typeface="Cambria Math" panose="02040503050406030204" pitchFamily="18" charset="0"/>
                                </a:rPr>
                                <m:t>exp</m:t>
                              </m:r>
                              <m:r>
                                <a:rPr lang="en-US" altLang="zh-CN">
                                  <a:latin typeface="Cambria Math" panose="02040503050406030204" pitchFamily="18" charset="0"/>
                                </a:rPr>
                                <m:t>⁡(</m:t>
                              </m:r>
                              <m:sSub>
                                <m:sSubPr>
                                  <m:ctrlPr>
                                    <a:rPr lang="en-US" altLang="zh-CN" i="1">
                                      <a:latin typeface="Cambria Math" panose="02040503050406030204" pitchFamily="18" charset="0"/>
                                    </a:rPr>
                                  </m:ctrlPr>
                                </m:sSubPr>
                                <m:e>
                                  <m:r>
                                    <a:rPr lang="en-US" altLang="zh-CN">
                                      <a:latin typeface="Cambria Math" panose="02040503050406030204" pitchFamily="18" charset="0"/>
                                    </a:rPr>
                                    <m:t>𝑒</m:t>
                                  </m:r>
                                </m:e>
                                <m:sub>
                                  <m:r>
                                    <a:rPr lang="en-US" altLang="zh-CN">
                                      <a:latin typeface="Cambria Math" panose="02040503050406030204" pitchFamily="18" charset="0"/>
                                    </a:rPr>
                                    <m:t>𝑡</m:t>
                                  </m:r>
                                </m:sub>
                              </m:sSub>
                              <m:r>
                                <a:rPr lang="en-US" altLang="zh-CN">
                                  <a:latin typeface="Cambria Math" panose="02040503050406030204" pitchFamily="18" charset="0"/>
                                </a:rPr>
                                <m:t>)</m:t>
                              </m:r>
                            </m:e>
                          </m:nary>
                        </m:den>
                      </m:f>
                    </m:oMath>
                  </m:oMathPara>
                </a14:m>
                <a:endParaRPr lang="en-US" altLang="zh-CN" dirty="0"/>
              </a:p>
              <a:p>
                <a:pPr marL="914400" lvl="1" indent="-457200" algn="just">
                  <a:lnSpc>
                    <a:spcPct val="150000"/>
                  </a:lnSpc>
                  <a:buFont typeface="Wingdings" panose="05000000000000000000" pitchFamily="2" charset="2"/>
                  <a:buChar char="p"/>
                  <a:defRPr/>
                </a:pPr>
                <a:r>
                  <a:rPr lang="zh-CN" altLang="en-US" dirty="0"/>
                  <a:t>计算输出的存储重要信息的</a:t>
                </a:r>
                <a:r>
                  <a:rPr lang="zh-CN" altLang="en-US" b="1" dirty="0"/>
                  <a:t>上下文向量</a:t>
                </a:r>
                <a14:m>
                  <m:oMath xmlns:m="http://schemas.openxmlformats.org/officeDocument/2006/math">
                    <m:r>
                      <a:rPr lang="en-US" altLang="zh-CN" b="1" i="1" smtClean="0">
                        <a:latin typeface="Cambria Math" panose="02040503050406030204" pitchFamily="18" charset="0"/>
                      </a:rPr>
                      <m:t>𝐜</m:t>
                    </m:r>
                  </m:oMath>
                </a14:m>
                <a:endParaRPr lang="en-US" altLang="zh-CN" b="1" dirty="0"/>
              </a:p>
              <a:p>
                <a:pPr marL="0" indent="0" algn="just">
                  <a:lnSpc>
                    <a:spcPct val="150000"/>
                  </a:lnSpc>
                  <a:buNone/>
                  <a:defRPr/>
                </a:pPr>
                <a14:m>
                  <m:oMathPara xmlns:m="http://schemas.openxmlformats.org/officeDocument/2006/math">
                    <m:oMathParaPr>
                      <m:jc m:val="centerGroup"/>
                    </m:oMathParaPr>
                    <m:oMath xmlns:m="http://schemas.openxmlformats.org/officeDocument/2006/math">
                      <m:r>
                        <a:rPr lang="en-US" altLang="zh-CN" b="1" kern="100" smtClean="0">
                          <a:solidFill>
                            <a:prstClr val="black"/>
                          </a:solidFill>
                          <a:latin typeface="Cambria Math" panose="02040503050406030204" pitchFamily="18" charset="0"/>
                          <a:cs typeface="+mn-ea"/>
                        </a:rPr>
                        <m:t>𝑐</m:t>
                      </m:r>
                      <m:r>
                        <a:rPr lang="en-US" altLang="zh-CN" b="1" kern="100" smtClean="0">
                          <a:solidFill>
                            <a:prstClr val="black"/>
                          </a:solidFill>
                          <a:latin typeface="Cambria Math" panose="02040503050406030204" pitchFamily="18" charset="0"/>
                          <a:cs typeface="+mn-ea"/>
                        </a:rPr>
                        <m:t>=</m:t>
                      </m:r>
                      <m:nary>
                        <m:naryPr>
                          <m:chr m:val="∑"/>
                          <m:ctrlPr>
                            <a:rPr lang="en-US" altLang="zh-CN" b="1" i="1" kern="100">
                              <a:solidFill>
                                <a:prstClr val="black"/>
                              </a:solidFill>
                              <a:latin typeface="Cambria Math" panose="02040503050406030204" pitchFamily="18" charset="0"/>
                              <a:cs typeface="+mn-ea"/>
                            </a:rPr>
                          </m:ctrlPr>
                        </m:naryPr>
                        <m:sub>
                          <m:r>
                            <m:rPr>
                              <m:brk m:alnAt="23"/>
                            </m:rPr>
                            <a:rPr lang="en-US" altLang="zh-CN" b="1" kern="100">
                              <a:solidFill>
                                <a:prstClr val="black"/>
                              </a:solidFill>
                              <a:latin typeface="Cambria Math" panose="02040503050406030204" pitchFamily="18" charset="0"/>
                              <a:cs typeface="+mn-ea"/>
                            </a:rPr>
                            <m:t>𝑡</m:t>
                          </m:r>
                          <m:r>
                            <a:rPr lang="en-US" altLang="zh-CN" b="1" kern="100">
                              <a:solidFill>
                                <a:prstClr val="black"/>
                              </a:solidFill>
                              <a:latin typeface="Cambria Math" panose="02040503050406030204" pitchFamily="18" charset="0"/>
                              <a:cs typeface="+mn-ea"/>
                            </a:rPr>
                            <m:t>=1</m:t>
                          </m:r>
                        </m:sub>
                        <m:sup>
                          <m:r>
                            <a:rPr lang="en-US" altLang="zh-CN" b="1" kern="100">
                              <a:solidFill>
                                <a:prstClr val="black"/>
                              </a:solidFill>
                              <a:latin typeface="Cambria Math" panose="02040503050406030204" pitchFamily="18" charset="0"/>
                              <a:cs typeface="+mn-ea"/>
                            </a:rPr>
                            <m:t>𝑇</m:t>
                          </m:r>
                        </m:sup>
                        <m:e>
                          <m:sSub>
                            <m:sSubPr>
                              <m:ctrlPr>
                                <a:rPr lang="en-US" altLang="zh-CN" b="1" i="1" kern="100">
                                  <a:solidFill>
                                    <a:prstClr val="black"/>
                                  </a:solidFill>
                                  <a:latin typeface="Cambria Math" panose="02040503050406030204" pitchFamily="18" charset="0"/>
                                  <a:cs typeface="+mn-ea"/>
                                </a:rPr>
                              </m:ctrlPr>
                            </m:sSubPr>
                            <m:e>
                              <m:r>
                                <a:rPr lang="en-US" altLang="zh-CN" b="1" kern="100">
                                  <a:solidFill>
                                    <a:prstClr val="black"/>
                                  </a:solidFill>
                                  <a:latin typeface="Cambria Math" panose="02040503050406030204" pitchFamily="18" charset="0"/>
                                  <a:cs typeface="+mn-ea"/>
                                </a:rPr>
                                <m:t>𝑎</m:t>
                              </m:r>
                            </m:e>
                            <m:sub>
                              <m:r>
                                <a:rPr lang="en-US" altLang="zh-CN" b="1" kern="100">
                                  <a:solidFill>
                                    <a:prstClr val="black"/>
                                  </a:solidFill>
                                  <a:latin typeface="Cambria Math" panose="02040503050406030204" pitchFamily="18" charset="0"/>
                                  <a:cs typeface="+mn-ea"/>
                                </a:rPr>
                                <m:t>𝑡</m:t>
                              </m:r>
                            </m:sub>
                          </m:sSub>
                          <m:r>
                            <a:rPr lang="en-US" altLang="zh-CN" b="1" kern="100">
                              <a:solidFill>
                                <a:prstClr val="black"/>
                              </a:solidFill>
                              <a:latin typeface="Cambria Math" panose="02040503050406030204" pitchFamily="18" charset="0"/>
                              <a:cs typeface="+mn-ea"/>
                            </a:rPr>
                            <m:t>⋅</m:t>
                          </m:r>
                          <m:sSub>
                            <m:sSubPr>
                              <m:ctrlPr>
                                <a:rPr lang="en-US" altLang="zh-CN" b="1" i="1" kern="100">
                                  <a:solidFill>
                                    <a:prstClr val="black"/>
                                  </a:solidFill>
                                  <a:latin typeface="Cambria Math" panose="02040503050406030204" pitchFamily="18" charset="0"/>
                                  <a:cs typeface="+mn-ea"/>
                                </a:rPr>
                              </m:ctrlPr>
                            </m:sSubPr>
                            <m:e>
                              <m:r>
                                <a:rPr lang="en-US" altLang="zh-CN" b="1" kern="100">
                                  <a:solidFill>
                                    <a:prstClr val="black"/>
                                  </a:solidFill>
                                  <a:latin typeface="Cambria Math" panose="02040503050406030204" pitchFamily="18" charset="0"/>
                                  <a:cs typeface="+mn-ea"/>
                                </a:rPr>
                                <m:t>h</m:t>
                              </m:r>
                            </m:e>
                            <m:sub>
                              <m:r>
                                <a:rPr lang="en-US" altLang="zh-CN" b="1" kern="100">
                                  <a:solidFill>
                                    <a:prstClr val="black"/>
                                  </a:solidFill>
                                  <a:latin typeface="Cambria Math" panose="02040503050406030204" pitchFamily="18" charset="0"/>
                                  <a:cs typeface="+mn-ea"/>
                                </a:rPr>
                                <m:t>𝑡</m:t>
                              </m:r>
                            </m:sub>
                          </m:sSub>
                        </m:e>
                      </m:nary>
                    </m:oMath>
                  </m:oMathPara>
                </a14:m>
                <a:endParaRPr lang="en-US" altLang="zh-CN" dirty="0"/>
              </a:p>
            </p:txBody>
          </p:sp>
        </mc:Choice>
        <mc:Fallback xmlns="">
          <p:sp>
            <p:nvSpPr>
              <p:cNvPr id="5" name="Content Placeholder 4">
                <a:extLst>
                  <a:ext uri="{FF2B5EF4-FFF2-40B4-BE49-F238E27FC236}">
                    <a16:creationId xmlns:a16="http://schemas.microsoft.com/office/drawing/2014/main" id="{266E66B9-D0DE-0B5F-9CE7-EC347FEB5165}"/>
                  </a:ext>
                </a:extLst>
              </p:cNvPr>
              <p:cNvSpPr>
                <a:spLocks noGrp="1" noRot="1" noChangeAspect="1" noMove="1" noResize="1" noEditPoints="1" noAdjustHandles="1" noChangeArrowheads="1" noChangeShapeType="1" noTextEdit="1"/>
              </p:cNvSpPr>
              <p:nvPr>
                <p:ph idx="1"/>
              </p:nvPr>
            </p:nvSpPr>
            <p:spPr>
              <a:xfrm>
                <a:off x="838200" y="1135626"/>
                <a:ext cx="6108700" cy="5041337"/>
              </a:xfrm>
              <a:blipFill>
                <a:blip r:embed="rId3"/>
                <a:stretch>
                  <a:fillRect l="-898" r="-998"/>
                </a:stretch>
              </a:blipFill>
            </p:spPr>
            <p:txBody>
              <a:bodyPr/>
              <a:lstStyle/>
              <a:p>
                <a:r>
                  <a:rPr lang="zh-CN" altLang="en-US">
                    <a:noFill/>
                  </a:rPr>
                  <a:t> </a:t>
                </a:r>
              </a:p>
            </p:txBody>
          </p:sp>
        </mc:Fallback>
      </mc:AlternateContent>
      <p:pic>
        <p:nvPicPr>
          <p:cNvPr id="3" name="Picture 2">
            <a:extLst>
              <a:ext uri="{FF2B5EF4-FFF2-40B4-BE49-F238E27FC236}">
                <a16:creationId xmlns:a16="http://schemas.microsoft.com/office/drawing/2014/main" id="{2EA150EC-68AD-8313-A286-C5E7BB652A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54758" y="2236788"/>
            <a:ext cx="5107042" cy="3940175"/>
          </a:xfrm>
          <a:prstGeom prst="rect">
            <a:avLst/>
          </a:prstGeom>
        </p:spPr>
      </p:pic>
      <p:grpSp>
        <p:nvGrpSpPr>
          <p:cNvPr id="2" name="Group 1">
            <a:extLst>
              <a:ext uri="{FF2B5EF4-FFF2-40B4-BE49-F238E27FC236}">
                <a16:creationId xmlns:a16="http://schemas.microsoft.com/office/drawing/2014/main" id="{6CF1D0C2-73DF-2373-6645-E809179EBD8B}"/>
              </a:ext>
            </a:extLst>
          </p:cNvPr>
          <p:cNvGrpSpPr/>
          <p:nvPr/>
        </p:nvGrpSpPr>
        <p:grpSpPr>
          <a:xfrm>
            <a:off x="0" y="-1589"/>
            <a:ext cx="12191999" cy="768585"/>
            <a:chOff x="0" y="-1589"/>
            <a:chExt cx="12191999" cy="768585"/>
          </a:xfrm>
        </p:grpSpPr>
        <p:grpSp>
          <p:nvGrpSpPr>
            <p:cNvPr id="6" name="Group 9">
              <a:extLst>
                <a:ext uri="{FF2B5EF4-FFF2-40B4-BE49-F238E27FC236}">
                  <a16:creationId xmlns:a16="http://schemas.microsoft.com/office/drawing/2014/main" id="{703F4989-2EAC-BA70-778D-EBE56D972067}"/>
                </a:ext>
              </a:extLst>
            </p:cNvPr>
            <p:cNvGrpSpPr>
              <a:grpSpLocks noChangeAspect="1"/>
            </p:cNvGrpSpPr>
            <p:nvPr/>
          </p:nvGrpSpPr>
          <p:grpSpPr bwMode="auto">
            <a:xfrm>
              <a:off x="0" y="-1589"/>
              <a:ext cx="12191999" cy="767234"/>
              <a:chOff x="-1" y="-1"/>
              <a:chExt cx="7719" cy="568"/>
            </a:xfrm>
          </p:grpSpPr>
          <p:sp>
            <p:nvSpPr>
              <p:cNvPr id="9" name="Freeform 8">
                <a:extLst>
                  <a:ext uri="{FF2B5EF4-FFF2-40B4-BE49-F238E27FC236}">
                    <a16:creationId xmlns:a16="http://schemas.microsoft.com/office/drawing/2014/main" id="{0C034DC2-63A8-67BF-3017-194C907382D0}"/>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0" name="AutoShape 8">
                <a:extLst>
                  <a:ext uri="{FF2B5EF4-FFF2-40B4-BE49-F238E27FC236}">
                    <a16:creationId xmlns:a16="http://schemas.microsoft.com/office/drawing/2014/main" id="{E3FFEC2C-C5C7-BCED-9BAC-ADCE77F377EA}"/>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7" name="任意多边形: 形状 12">
              <a:extLst>
                <a:ext uri="{FF2B5EF4-FFF2-40B4-BE49-F238E27FC236}">
                  <a16:creationId xmlns:a16="http://schemas.microsoft.com/office/drawing/2014/main" id="{DD1FB88B-7FA8-616C-965C-22970086E830}"/>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8" name="文本框 18">
              <a:extLst>
                <a:ext uri="{FF2B5EF4-FFF2-40B4-BE49-F238E27FC236}">
                  <a16:creationId xmlns:a16="http://schemas.microsoft.com/office/drawing/2014/main" id="{3BE56821-2E72-409F-3088-4D6C670F59E7}"/>
                </a:ext>
              </a:extLst>
            </p:cNvPr>
            <p:cNvSpPr txBox="1"/>
            <p:nvPr/>
          </p:nvSpPr>
          <p:spPr>
            <a:xfrm>
              <a:off x="350439" y="120418"/>
              <a:ext cx="2698175" cy="523220"/>
            </a:xfrm>
            <a:prstGeom prst="rect">
              <a:avLst/>
            </a:prstGeom>
            <a:noFill/>
          </p:spPr>
          <p:txBody>
            <a:bodyPr wrap="none" rtlCol="0">
              <a:spAutoFit/>
            </a:bodyPr>
            <a:lstStyle/>
            <a:p>
              <a:pPr>
                <a:defRPr/>
              </a:pPr>
              <a:r>
                <a:rPr lang="zh-CN" altLang="en-US" sz="2800" b="1">
                  <a:solidFill>
                    <a:prstClr val="white"/>
                  </a:solidFill>
                  <a:cs typeface="+mn-ea"/>
                  <a:sym typeface="+mn-lt"/>
                </a:rPr>
                <a:t>前馈注意力机制</a:t>
              </a:r>
            </a:p>
          </p:txBody>
        </p:sp>
      </p:grpSp>
    </p:spTree>
    <p:extLst>
      <p:ext uri="{BB962C8B-B14F-4D97-AF65-F5344CB8AC3E}">
        <p14:creationId xmlns:p14="http://schemas.microsoft.com/office/powerpoint/2010/main" val="11914560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EA150EC-68AD-8313-A286-C5E7BB652A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4758" y="2236788"/>
            <a:ext cx="5107042" cy="3940175"/>
          </a:xfrm>
          <a:prstGeom prst="rect">
            <a:avLst/>
          </a:prstGeom>
        </p:spPr>
      </p:pic>
      <p:sp>
        <p:nvSpPr>
          <p:cNvPr id="5" name="Content Placeholder 4">
            <a:extLst>
              <a:ext uri="{FF2B5EF4-FFF2-40B4-BE49-F238E27FC236}">
                <a16:creationId xmlns:a16="http://schemas.microsoft.com/office/drawing/2014/main" id="{266E66B9-D0DE-0B5F-9CE7-EC347FEB5165}"/>
              </a:ext>
            </a:extLst>
          </p:cNvPr>
          <p:cNvSpPr>
            <a:spLocks noGrp="1"/>
          </p:cNvSpPr>
          <p:nvPr>
            <p:ph idx="1"/>
          </p:nvPr>
        </p:nvSpPr>
        <p:spPr>
          <a:xfrm>
            <a:off x="838200" y="1280591"/>
            <a:ext cx="5359400" cy="4896372"/>
          </a:xfrm>
        </p:spPr>
        <p:txBody>
          <a:bodyPr>
            <a:normAutofit/>
          </a:bodyPr>
          <a:lstStyle/>
          <a:p>
            <a:pPr marL="457200" indent="-457200" algn="just">
              <a:lnSpc>
                <a:spcPct val="130000"/>
              </a:lnSpc>
              <a:buFont typeface="Wingdings" panose="05000000000000000000" pitchFamily="2" charset="2"/>
              <a:buChar char="p"/>
              <a:defRPr/>
            </a:pPr>
            <a:r>
              <a:rPr lang="zh-CN" altLang="en-US" dirty="0"/>
              <a:t>上下文向量是所有隐藏状态的加权和，允许模型捕获长距离依赖关系</a:t>
            </a:r>
            <a:endParaRPr lang="en-US" altLang="zh-CN" dirty="0"/>
          </a:p>
          <a:p>
            <a:pPr marL="457200" indent="-457200" algn="just">
              <a:lnSpc>
                <a:spcPct val="130000"/>
              </a:lnSpc>
              <a:buFont typeface="Wingdings" panose="05000000000000000000" pitchFamily="2" charset="2"/>
              <a:buChar char="p"/>
              <a:defRPr/>
            </a:pPr>
            <a:endParaRPr lang="zh-CN" altLang="en-US" dirty="0"/>
          </a:p>
          <a:p>
            <a:pPr marL="457200" indent="-457200" algn="just">
              <a:lnSpc>
                <a:spcPct val="130000"/>
              </a:lnSpc>
              <a:buFont typeface="Wingdings" panose="05000000000000000000" pitchFamily="2" charset="2"/>
              <a:buChar char="p"/>
              <a:defRPr/>
            </a:pPr>
            <a:r>
              <a:rPr lang="zh-CN" altLang="en-US" dirty="0"/>
              <a:t>上下文向量不包含有关隐藏状态顺序的信息</a:t>
            </a:r>
          </a:p>
          <a:p>
            <a:pPr marL="457200" indent="-457200" algn="just">
              <a:lnSpc>
                <a:spcPct val="130000"/>
              </a:lnSpc>
              <a:buFont typeface="Wingdings" panose="05000000000000000000" pitchFamily="2" charset="2"/>
              <a:buChar char="p"/>
              <a:defRPr/>
            </a:pPr>
            <a:endParaRPr lang="zh-CN" altLang="en-US" dirty="0"/>
          </a:p>
          <a:p>
            <a:pPr marL="457200" indent="-457200" algn="just">
              <a:lnSpc>
                <a:spcPct val="130000"/>
              </a:lnSpc>
              <a:buFont typeface="Wingdings" panose="05000000000000000000" pitchFamily="2" charset="2"/>
              <a:buChar char="p"/>
              <a:defRPr/>
            </a:pPr>
            <a:r>
              <a:rPr lang="zh-CN" altLang="en-US" dirty="0"/>
              <a:t>如何衡量重要性？</a:t>
            </a:r>
            <a:endParaRPr lang="en-US" altLang="zh-CN"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4FB908B-ED15-207D-ED16-575DEA35BB32}"/>
                  </a:ext>
                </a:extLst>
              </p:cNvPr>
              <p:cNvSpPr txBox="1"/>
              <p:nvPr/>
            </p:nvSpPr>
            <p:spPr>
              <a:xfrm>
                <a:off x="10356850" y="1280591"/>
                <a:ext cx="1879600" cy="87120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𝑐</m:t>
                      </m:r>
                      <m:r>
                        <a:rPr lang="en-US" altLang="zh-CN" b="0" i="1" smtClean="0">
                          <a:latin typeface="Cambria Math" panose="02040503050406030204" pitchFamily="18" charset="0"/>
                        </a:rPr>
                        <m:t>=</m:t>
                      </m:r>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𝑡</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𝑇</m:t>
                          </m:r>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h</m:t>
                              </m:r>
                            </m:e>
                            <m:sub>
                              <m:r>
                                <a:rPr lang="en-US" altLang="zh-CN" b="0" i="1" smtClean="0">
                                  <a:latin typeface="Cambria Math" panose="02040503050406030204" pitchFamily="18" charset="0"/>
                                </a:rPr>
                                <m:t>𝑡</m:t>
                              </m:r>
                            </m:sub>
                          </m:sSub>
                        </m:e>
                      </m:nary>
                    </m:oMath>
                  </m:oMathPara>
                </a14:m>
                <a:endParaRPr lang="en-US"/>
              </a:p>
            </p:txBody>
          </p:sp>
        </mc:Choice>
        <mc:Fallback xmlns="">
          <p:sp>
            <p:nvSpPr>
              <p:cNvPr id="6" name="TextBox 5">
                <a:extLst>
                  <a:ext uri="{FF2B5EF4-FFF2-40B4-BE49-F238E27FC236}">
                    <a16:creationId xmlns:a16="http://schemas.microsoft.com/office/drawing/2014/main" id="{74FB908B-ED15-207D-ED16-575DEA35BB32}"/>
                  </a:ext>
                </a:extLst>
              </p:cNvPr>
              <p:cNvSpPr txBox="1">
                <a:spLocks noRot="1" noChangeAspect="1" noMove="1" noResize="1" noEditPoints="1" noAdjustHandles="1" noChangeArrowheads="1" noChangeShapeType="1" noTextEdit="1"/>
              </p:cNvSpPr>
              <p:nvPr/>
            </p:nvSpPr>
            <p:spPr>
              <a:xfrm>
                <a:off x="10356850" y="1280591"/>
                <a:ext cx="1879600" cy="871201"/>
              </a:xfrm>
              <a:prstGeom prst="rect">
                <a:avLst/>
              </a:prstGeom>
              <a:blipFill>
                <a:blip r:embed="rId4"/>
                <a:stretch>
                  <a:fillRect l="-10067" t="-92857" b="-14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93091C6-7ECA-7B58-473A-B904876FA4B5}"/>
                  </a:ext>
                </a:extLst>
              </p:cNvPr>
              <p:cNvSpPr txBox="1"/>
              <p:nvPr/>
            </p:nvSpPr>
            <p:spPr>
              <a:xfrm>
                <a:off x="6572250" y="1568609"/>
                <a:ext cx="17653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𝑎</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h</m:t>
                              </m:r>
                            </m:e>
                            <m:sub>
                              <m:r>
                                <a:rPr lang="en-US" altLang="zh-CN" b="0" i="1" smtClean="0">
                                  <a:latin typeface="Cambria Math" panose="02040503050406030204" pitchFamily="18" charset="0"/>
                                </a:rPr>
                                <m:t>𝑡</m:t>
                              </m:r>
                            </m:sub>
                          </m:sSub>
                        </m:e>
                      </m:d>
                    </m:oMath>
                  </m:oMathPara>
                </a14:m>
                <a:endParaRPr lang="en-US"/>
              </a:p>
            </p:txBody>
          </p:sp>
        </mc:Choice>
        <mc:Fallback xmlns="">
          <p:sp>
            <p:nvSpPr>
              <p:cNvPr id="8" name="TextBox 7">
                <a:extLst>
                  <a:ext uri="{FF2B5EF4-FFF2-40B4-BE49-F238E27FC236}">
                    <a16:creationId xmlns:a16="http://schemas.microsoft.com/office/drawing/2014/main" id="{593091C6-7ECA-7B58-473A-B904876FA4B5}"/>
                  </a:ext>
                </a:extLst>
              </p:cNvPr>
              <p:cNvSpPr txBox="1">
                <a:spLocks noRot="1" noChangeAspect="1" noMove="1" noResize="1" noEditPoints="1" noAdjustHandles="1" noChangeArrowheads="1" noChangeShapeType="1" noTextEdit="1"/>
              </p:cNvSpPr>
              <p:nvPr/>
            </p:nvSpPr>
            <p:spPr>
              <a:xfrm>
                <a:off x="6572250" y="1568609"/>
                <a:ext cx="1765300"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BE83BD2-A77B-8CAE-93B1-6B38BB324500}"/>
                  </a:ext>
                </a:extLst>
              </p:cNvPr>
              <p:cNvSpPr txBox="1"/>
              <p:nvPr/>
            </p:nvSpPr>
            <p:spPr>
              <a:xfrm>
                <a:off x="8020050" y="1389810"/>
                <a:ext cx="2540000" cy="6878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m:rPr>
                              <m:sty m:val="p"/>
                            </m:rPr>
                            <a:rPr lang="en-US" altLang="zh-CN" b="0" i="0" smtClean="0">
                              <a:latin typeface="Cambria Math" panose="02040503050406030204" pitchFamily="18" charset="0"/>
                            </a:rPr>
                            <m:t>exp</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num>
                        <m:den>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𝑡</m:t>
                              </m:r>
                              <m:r>
                                <a:rPr lang="en-US" altLang="zh-CN" i="1">
                                  <a:latin typeface="Cambria Math" panose="02040503050406030204" pitchFamily="18" charset="0"/>
                                </a:rPr>
                                <m:t>=1</m:t>
                              </m:r>
                            </m:sub>
                            <m:sup>
                              <m:r>
                                <a:rPr lang="en-US" altLang="zh-CN" i="1">
                                  <a:latin typeface="Cambria Math" panose="02040503050406030204" pitchFamily="18" charset="0"/>
                                </a:rPr>
                                <m:t>𝑇</m:t>
                              </m:r>
                            </m:sup>
                            <m:e>
                              <m:r>
                                <m:rPr>
                                  <m:sty m:val="p"/>
                                </m:rPr>
                                <a:rPr lang="en-US" altLang="zh-CN">
                                  <a:latin typeface="Cambria Math" panose="02040503050406030204" pitchFamily="18" charset="0"/>
                                </a:rPr>
                                <m:t>exp</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𝑒</m:t>
                                  </m:r>
                                </m:e>
                                <m:sub>
                                  <m:r>
                                    <a:rPr lang="en-US" altLang="zh-CN" i="1">
                                      <a:latin typeface="Cambria Math" panose="02040503050406030204" pitchFamily="18" charset="0"/>
                                    </a:rPr>
                                    <m:t>𝑡</m:t>
                                  </m:r>
                                </m:sub>
                              </m:sSub>
                              <m:r>
                                <a:rPr lang="en-US" altLang="zh-CN" i="1">
                                  <a:latin typeface="Cambria Math" panose="02040503050406030204" pitchFamily="18" charset="0"/>
                                </a:rPr>
                                <m:t>)</m:t>
                              </m:r>
                            </m:e>
                          </m:nary>
                        </m:den>
                      </m:f>
                    </m:oMath>
                  </m:oMathPara>
                </a14:m>
                <a:endParaRPr lang="en-US"/>
              </a:p>
            </p:txBody>
          </p:sp>
        </mc:Choice>
        <mc:Fallback xmlns="">
          <p:sp>
            <p:nvSpPr>
              <p:cNvPr id="10" name="TextBox 9">
                <a:extLst>
                  <a:ext uri="{FF2B5EF4-FFF2-40B4-BE49-F238E27FC236}">
                    <a16:creationId xmlns:a16="http://schemas.microsoft.com/office/drawing/2014/main" id="{ABE83BD2-A77B-8CAE-93B1-6B38BB324500}"/>
                  </a:ext>
                </a:extLst>
              </p:cNvPr>
              <p:cNvSpPr txBox="1">
                <a:spLocks noRot="1" noChangeAspect="1" noMove="1" noResize="1" noEditPoints="1" noAdjustHandles="1" noChangeArrowheads="1" noChangeShapeType="1" noTextEdit="1"/>
              </p:cNvSpPr>
              <p:nvPr/>
            </p:nvSpPr>
            <p:spPr>
              <a:xfrm>
                <a:off x="8020050" y="1389810"/>
                <a:ext cx="2540000" cy="687817"/>
              </a:xfrm>
              <a:prstGeom prst="rect">
                <a:avLst/>
              </a:prstGeom>
              <a:blipFill>
                <a:blip r:embed="rId6"/>
                <a:stretch>
                  <a:fillRect t="-16364" b="-90909"/>
                </a:stretch>
              </a:blipFill>
            </p:spPr>
            <p:txBody>
              <a:bodyPr/>
              <a:lstStyle/>
              <a:p>
                <a:r>
                  <a:rPr lang="en-US">
                    <a:noFill/>
                  </a:rPr>
                  <a:t> </a:t>
                </a:r>
              </a:p>
            </p:txBody>
          </p:sp>
        </mc:Fallback>
      </mc:AlternateContent>
      <p:grpSp>
        <p:nvGrpSpPr>
          <p:cNvPr id="9" name="Group 8">
            <a:extLst>
              <a:ext uri="{FF2B5EF4-FFF2-40B4-BE49-F238E27FC236}">
                <a16:creationId xmlns:a16="http://schemas.microsoft.com/office/drawing/2014/main" id="{62C9FF8C-53BA-7B40-57C9-6D9E4924C79C}"/>
              </a:ext>
            </a:extLst>
          </p:cNvPr>
          <p:cNvGrpSpPr/>
          <p:nvPr/>
        </p:nvGrpSpPr>
        <p:grpSpPr>
          <a:xfrm>
            <a:off x="0" y="-1589"/>
            <a:ext cx="12191999" cy="768585"/>
            <a:chOff x="0" y="-1589"/>
            <a:chExt cx="12191999" cy="768585"/>
          </a:xfrm>
        </p:grpSpPr>
        <p:grpSp>
          <p:nvGrpSpPr>
            <p:cNvPr id="11" name="Group 9">
              <a:extLst>
                <a:ext uri="{FF2B5EF4-FFF2-40B4-BE49-F238E27FC236}">
                  <a16:creationId xmlns:a16="http://schemas.microsoft.com/office/drawing/2014/main" id="{FCEFF20F-B7AC-53D8-6039-A7AF7EC25333}"/>
                </a:ext>
              </a:extLst>
            </p:cNvPr>
            <p:cNvGrpSpPr>
              <a:grpSpLocks noChangeAspect="1"/>
            </p:cNvGrpSpPr>
            <p:nvPr/>
          </p:nvGrpSpPr>
          <p:grpSpPr bwMode="auto">
            <a:xfrm>
              <a:off x="0" y="-1589"/>
              <a:ext cx="12191999" cy="767234"/>
              <a:chOff x="-1" y="-1"/>
              <a:chExt cx="7719" cy="568"/>
            </a:xfrm>
          </p:grpSpPr>
          <p:sp>
            <p:nvSpPr>
              <p:cNvPr id="14" name="Freeform 13">
                <a:extLst>
                  <a:ext uri="{FF2B5EF4-FFF2-40B4-BE49-F238E27FC236}">
                    <a16:creationId xmlns:a16="http://schemas.microsoft.com/office/drawing/2014/main" id="{2D52E580-C95E-A736-AD70-07DFD00F9BC0}"/>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5" name="AutoShape 8">
                <a:extLst>
                  <a:ext uri="{FF2B5EF4-FFF2-40B4-BE49-F238E27FC236}">
                    <a16:creationId xmlns:a16="http://schemas.microsoft.com/office/drawing/2014/main" id="{937F6BD1-C2E7-85E5-11B4-AC33B952A318}"/>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12" name="任意多边形: 形状 12">
              <a:extLst>
                <a:ext uri="{FF2B5EF4-FFF2-40B4-BE49-F238E27FC236}">
                  <a16:creationId xmlns:a16="http://schemas.microsoft.com/office/drawing/2014/main" id="{16EDD873-B9AB-DDC6-B01F-866D0E33A0F8}"/>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3" name="文本框 18">
              <a:extLst>
                <a:ext uri="{FF2B5EF4-FFF2-40B4-BE49-F238E27FC236}">
                  <a16:creationId xmlns:a16="http://schemas.microsoft.com/office/drawing/2014/main" id="{D1866B8C-6019-82EC-22C3-7907C3B5FABD}"/>
                </a:ext>
              </a:extLst>
            </p:cNvPr>
            <p:cNvSpPr txBox="1"/>
            <p:nvPr/>
          </p:nvSpPr>
          <p:spPr>
            <a:xfrm>
              <a:off x="350439" y="120418"/>
              <a:ext cx="2698175" cy="523220"/>
            </a:xfrm>
            <a:prstGeom prst="rect">
              <a:avLst/>
            </a:prstGeom>
            <a:noFill/>
          </p:spPr>
          <p:txBody>
            <a:bodyPr wrap="none" rtlCol="0">
              <a:spAutoFit/>
            </a:bodyPr>
            <a:lstStyle/>
            <a:p>
              <a:pPr>
                <a:defRPr/>
              </a:pPr>
              <a:r>
                <a:rPr lang="zh-CN" altLang="en-US" sz="2800" b="1">
                  <a:solidFill>
                    <a:prstClr val="white"/>
                  </a:solidFill>
                  <a:cs typeface="+mn-ea"/>
                  <a:sym typeface="+mn-lt"/>
                </a:rPr>
                <a:t>前馈注意力机制</a:t>
              </a:r>
            </a:p>
          </p:txBody>
        </p:sp>
      </p:grpSp>
    </p:spTree>
    <p:extLst>
      <p:ext uri="{BB962C8B-B14F-4D97-AF65-F5344CB8AC3E}">
        <p14:creationId xmlns:p14="http://schemas.microsoft.com/office/powerpoint/2010/main" val="22547931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F343D02-4C58-7CAF-B1B5-0748566C0469}"/>
                  </a:ext>
                </a:extLst>
              </p:cNvPr>
              <p:cNvSpPr>
                <a:spLocks noGrp="1"/>
              </p:cNvSpPr>
              <p:nvPr>
                <p:ph idx="1"/>
              </p:nvPr>
            </p:nvSpPr>
            <p:spPr>
              <a:xfrm>
                <a:off x="838200" y="1182233"/>
                <a:ext cx="10515600" cy="2094368"/>
              </a:xfrm>
            </p:spPr>
            <p:txBody>
              <a:bodyPr>
                <a:normAutofit/>
              </a:bodyPr>
              <a:lstStyle/>
              <a:p>
                <a:pPr marL="457200" indent="-457200" algn="just">
                  <a:lnSpc>
                    <a:spcPct val="130000"/>
                  </a:lnSpc>
                  <a:buFont typeface="Wingdings" panose="05000000000000000000" pitchFamily="2" charset="2"/>
                  <a:buChar char="p"/>
                  <a:defRPr/>
                </a:pPr>
                <a:r>
                  <a:rPr lang="zh-CN" altLang="en-US" dirty="0"/>
                  <a:t>在前馈注意力中</a:t>
                </a:r>
                <a:r>
                  <a:rPr lang="en-US" altLang="zh-CN" dirty="0"/>
                  <a:t>, </a:t>
                </a:r>
              </a:p>
              <a:p>
                <a:pPr marL="0" indent="0">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tanh</m:t>
                          </m:r>
                        </m:fName>
                        <m:e>
                          <m:r>
                            <a:rPr lang="en-US" altLang="zh-CN" i="1">
                              <a:latin typeface="Cambria Math" panose="02040503050406030204" pitchFamily="18" charset="0"/>
                            </a:rPr>
                            <m:t>(</m:t>
                          </m:r>
                          <m:r>
                            <a:rPr lang="en-US" altLang="zh-CN" i="1">
                              <a:latin typeface="Cambria Math" panose="02040503050406030204" pitchFamily="18" charset="0"/>
                            </a:rPr>
                            <m:t>𝑤</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h</m:t>
                              </m:r>
                            </m:e>
                            <m:sub>
                              <m:r>
                                <a:rPr lang="en-US" altLang="zh-CN" i="1">
                                  <a:latin typeface="Cambria Math" panose="02040503050406030204" pitchFamily="18" charset="0"/>
                                </a:rPr>
                                <m:t>𝑡</m:t>
                              </m:r>
                            </m:sub>
                          </m:sSub>
                          <m:r>
                            <a:rPr lang="en-US" altLang="zh-CN" b="0" i="1" smtClean="0">
                              <a:latin typeface="Cambria Math" panose="02040503050406030204" pitchFamily="18" charset="0"/>
                            </a:rPr>
                            <m:t>)</m:t>
                          </m:r>
                        </m:e>
                      </m:func>
                    </m:oMath>
                  </m:oMathPara>
                </a14:m>
                <a:endParaRPr lang="en-US" altLang="zh-CN" dirty="0"/>
              </a:p>
              <a:p>
                <a:pPr marL="0" indent="0">
                  <a:buNone/>
                </a:pPr>
                <a:r>
                  <a:rPr lang="zh-CN" altLang="en-US" dirty="0"/>
                  <a:t>     </a:t>
                </a:r>
                <a14:m>
                  <m:oMath xmlns:m="http://schemas.openxmlformats.org/officeDocument/2006/math">
                    <m:r>
                      <a:rPr lang="en-US" altLang="zh-CN" i="1" smtClean="0">
                        <a:latin typeface="Cambria Math" panose="02040503050406030204" pitchFamily="18" charset="0"/>
                      </a:rPr>
                      <m:t>𝑤</m:t>
                    </m:r>
                  </m:oMath>
                </a14:m>
                <a:r>
                  <a:rPr lang="en-US" altLang="zh-CN" dirty="0"/>
                  <a:t> </a:t>
                </a:r>
                <a:r>
                  <a:rPr lang="zh-CN" altLang="en-US" dirty="0"/>
                  <a:t>是可学习的向量</a:t>
                </a:r>
                <a:endParaRPr lang="en-US" altLang="zh-CN" dirty="0"/>
              </a:p>
              <a:p>
                <a:endParaRPr lang="en-US" dirty="0"/>
              </a:p>
            </p:txBody>
          </p:sp>
        </mc:Choice>
        <mc:Fallback xmlns="">
          <p:sp>
            <p:nvSpPr>
              <p:cNvPr id="3" name="Content Placeholder 2">
                <a:extLst>
                  <a:ext uri="{FF2B5EF4-FFF2-40B4-BE49-F238E27FC236}">
                    <a16:creationId xmlns:a16="http://schemas.microsoft.com/office/drawing/2014/main" id="{0F343D02-4C58-7CAF-B1B5-0748566C0469}"/>
                  </a:ext>
                </a:extLst>
              </p:cNvPr>
              <p:cNvSpPr>
                <a:spLocks noGrp="1" noRot="1" noChangeAspect="1" noMove="1" noResize="1" noEditPoints="1" noAdjustHandles="1" noChangeArrowheads="1" noChangeShapeType="1" noTextEdit="1"/>
              </p:cNvSpPr>
              <p:nvPr>
                <p:ph idx="1"/>
              </p:nvPr>
            </p:nvSpPr>
            <p:spPr>
              <a:xfrm>
                <a:off x="838200" y="1182233"/>
                <a:ext cx="10515600" cy="2094368"/>
              </a:xfrm>
              <a:blipFill>
                <a:blip r:embed="rId3"/>
                <a:stretch>
                  <a:fillRect l="-81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D03D728-EC31-5911-27CA-08CD916F6832}"/>
                  </a:ext>
                </a:extLst>
              </p:cNvPr>
              <p:cNvSpPr txBox="1"/>
              <p:nvPr/>
            </p:nvSpPr>
            <p:spPr>
              <a:xfrm>
                <a:off x="1206500" y="3319791"/>
                <a:ext cx="3276600" cy="523220"/>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𝑒</m:t>
                          </m:r>
                        </m:e>
                        <m:sub>
                          <m:r>
                            <a:rPr lang="en-US" altLang="zh-CN" sz="2800" b="0" i="1" smtClean="0">
                              <a:latin typeface="Cambria Math" panose="02040503050406030204" pitchFamily="18" charset="0"/>
                            </a:rPr>
                            <m:t>1</m:t>
                          </m:r>
                        </m:sub>
                      </m:sSub>
                      <m:r>
                        <a:rPr lang="en-US" altLang="zh-CN" sz="2800" b="0" i="1" smtClean="0">
                          <a:latin typeface="Cambria Math" panose="02040503050406030204" pitchFamily="18" charset="0"/>
                        </a:rPr>
                        <m:t>=</m:t>
                      </m:r>
                      <m:func>
                        <m:funcPr>
                          <m:ctrlPr>
                            <a:rPr lang="en-US" altLang="zh-CN" sz="2800" b="0" i="1" smtClean="0">
                              <a:latin typeface="Cambria Math" panose="02040503050406030204" pitchFamily="18" charset="0"/>
                            </a:rPr>
                          </m:ctrlPr>
                        </m:funcPr>
                        <m:fName>
                          <m:r>
                            <m:rPr>
                              <m:sty m:val="p"/>
                            </m:rPr>
                            <a:rPr lang="en-US" altLang="zh-CN" sz="2800" b="0" i="0" smtClean="0">
                              <a:latin typeface="Cambria Math" panose="02040503050406030204" pitchFamily="18" charset="0"/>
                            </a:rPr>
                            <m:t>tanh</m:t>
                          </m:r>
                        </m:fName>
                        <m:e>
                          <m:r>
                            <a:rPr lang="en-US" altLang="zh-CN" sz="2800" i="1">
                              <a:latin typeface="Cambria Math" panose="02040503050406030204" pitchFamily="18" charset="0"/>
                            </a:rPr>
                            <m:t>(</m:t>
                          </m:r>
                          <m:r>
                            <a:rPr lang="en-US" altLang="zh-CN" sz="2800" i="1">
                              <a:latin typeface="Cambria Math" panose="02040503050406030204" pitchFamily="18" charset="0"/>
                            </a:rPr>
                            <m:t>𝑤</m:t>
                          </m:r>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h</m:t>
                              </m:r>
                            </m:e>
                            <m:sub>
                              <m:r>
                                <a:rPr lang="en-US" altLang="zh-CN" sz="2800" b="0" i="1" smtClean="0">
                                  <a:latin typeface="Cambria Math" panose="02040503050406030204" pitchFamily="18" charset="0"/>
                                </a:rPr>
                                <m:t>1</m:t>
                              </m:r>
                            </m:sub>
                          </m:sSub>
                          <m:r>
                            <a:rPr lang="en-US" altLang="zh-CN" sz="2800" b="0" i="1" smtClean="0">
                              <a:latin typeface="Cambria Math" panose="02040503050406030204" pitchFamily="18" charset="0"/>
                            </a:rPr>
                            <m:t>)</m:t>
                          </m:r>
                        </m:e>
                      </m:func>
                    </m:oMath>
                  </m:oMathPara>
                </a14:m>
                <a:endParaRPr lang="en-US" altLang="zh-CN" sz="2800"/>
              </a:p>
            </p:txBody>
          </p:sp>
        </mc:Choice>
        <mc:Fallback xmlns="">
          <p:sp>
            <p:nvSpPr>
              <p:cNvPr id="5" name="TextBox 4">
                <a:extLst>
                  <a:ext uri="{FF2B5EF4-FFF2-40B4-BE49-F238E27FC236}">
                    <a16:creationId xmlns:a16="http://schemas.microsoft.com/office/drawing/2014/main" id="{ED03D728-EC31-5911-27CA-08CD916F6832}"/>
                  </a:ext>
                </a:extLst>
              </p:cNvPr>
              <p:cNvSpPr txBox="1">
                <a:spLocks noRot="1" noChangeAspect="1" noMove="1" noResize="1" noEditPoints="1" noAdjustHandles="1" noChangeArrowheads="1" noChangeShapeType="1" noTextEdit="1"/>
              </p:cNvSpPr>
              <p:nvPr/>
            </p:nvSpPr>
            <p:spPr>
              <a:xfrm>
                <a:off x="1206500" y="3319791"/>
                <a:ext cx="3276600" cy="523220"/>
              </a:xfrm>
              <a:prstGeom prst="rect">
                <a:avLst/>
              </a:prstGeom>
              <a:blipFill>
                <a:blip r:embed="rId4"/>
                <a:stretch>
                  <a:fillRect b="-190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B294CBA-67F6-DF41-502A-195256652DC1}"/>
                  </a:ext>
                </a:extLst>
              </p:cNvPr>
              <p:cNvSpPr txBox="1"/>
              <p:nvPr/>
            </p:nvSpPr>
            <p:spPr>
              <a:xfrm>
                <a:off x="1206500" y="3886202"/>
                <a:ext cx="3276600" cy="523220"/>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𝑒</m:t>
                          </m:r>
                        </m:e>
                        <m:sub>
                          <m:r>
                            <a:rPr lang="en-US" altLang="zh-CN" sz="2800" b="0" i="1" smtClean="0">
                              <a:latin typeface="Cambria Math" panose="02040503050406030204" pitchFamily="18" charset="0"/>
                            </a:rPr>
                            <m:t>2</m:t>
                          </m:r>
                        </m:sub>
                      </m:sSub>
                      <m:r>
                        <a:rPr lang="en-US" altLang="zh-CN" sz="2800" b="0" i="1" smtClean="0">
                          <a:latin typeface="Cambria Math" panose="02040503050406030204" pitchFamily="18" charset="0"/>
                        </a:rPr>
                        <m:t>=</m:t>
                      </m:r>
                      <m:func>
                        <m:funcPr>
                          <m:ctrlPr>
                            <a:rPr lang="en-US" altLang="zh-CN" sz="2800" b="0" i="1" smtClean="0">
                              <a:latin typeface="Cambria Math" panose="02040503050406030204" pitchFamily="18" charset="0"/>
                            </a:rPr>
                          </m:ctrlPr>
                        </m:funcPr>
                        <m:fName>
                          <m:r>
                            <m:rPr>
                              <m:sty m:val="p"/>
                            </m:rPr>
                            <a:rPr lang="en-US" altLang="zh-CN" sz="2800" b="0" i="0" smtClean="0">
                              <a:latin typeface="Cambria Math" panose="02040503050406030204" pitchFamily="18" charset="0"/>
                            </a:rPr>
                            <m:t>tanh</m:t>
                          </m:r>
                        </m:fName>
                        <m:e>
                          <m:r>
                            <a:rPr lang="en-US" altLang="zh-CN" sz="2800" i="1">
                              <a:latin typeface="Cambria Math" panose="02040503050406030204" pitchFamily="18" charset="0"/>
                            </a:rPr>
                            <m:t>(</m:t>
                          </m:r>
                          <m:r>
                            <a:rPr lang="en-US" altLang="zh-CN" sz="2800" i="1">
                              <a:latin typeface="Cambria Math" panose="02040503050406030204" pitchFamily="18" charset="0"/>
                            </a:rPr>
                            <m:t>𝑤</m:t>
                          </m:r>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h</m:t>
                              </m:r>
                            </m:e>
                            <m:sub>
                              <m:r>
                                <a:rPr lang="en-US" altLang="zh-CN" sz="2800" b="0" i="1" smtClean="0">
                                  <a:latin typeface="Cambria Math" panose="02040503050406030204" pitchFamily="18" charset="0"/>
                                </a:rPr>
                                <m:t>2</m:t>
                              </m:r>
                            </m:sub>
                          </m:sSub>
                          <m:r>
                            <a:rPr lang="en-US" altLang="zh-CN" sz="2800" b="0" i="1" smtClean="0">
                              <a:latin typeface="Cambria Math" panose="02040503050406030204" pitchFamily="18" charset="0"/>
                            </a:rPr>
                            <m:t>)</m:t>
                          </m:r>
                        </m:e>
                      </m:func>
                    </m:oMath>
                  </m:oMathPara>
                </a14:m>
                <a:endParaRPr lang="en-US" altLang="zh-CN" sz="2800"/>
              </a:p>
            </p:txBody>
          </p:sp>
        </mc:Choice>
        <mc:Fallback xmlns="">
          <p:sp>
            <p:nvSpPr>
              <p:cNvPr id="6" name="TextBox 5">
                <a:extLst>
                  <a:ext uri="{FF2B5EF4-FFF2-40B4-BE49-F238E27FC236}">
                    <a16:creationId xmlns:a16="http://schemas.microsoft.com/office/drawing/2014/main" id="{6B294CBA-67F6-DF41-502A-195256652DC1}"/>
                  </a:ext>
                </a:extLst>
              </p:cNvPr>
              <p:cNvSpPr txBox="1">
                <a:spLocks noRot="1" noChangeAspect="1" noMove="1" noResize="1" noEditPoints="1" noAdjustHandles="1" noChangeArrowheads="1" noChangeShapeType="1" noTextEdit="1"/>
              </p:cNvSpPr>
              <p:nvPr/>
            </p:nvSpPr>
            <p:spPr>
              <a:xfrm>
                <a:off x="1206500" y="3886202"/>
                <a:ext cx="3276600" cy="523220"/>
              </a:xfrm>
              <a:prstGeom prst="rect">
                <a:avLst/>
              </a:prstGeom>
              <a:blipFill>
                <a:blip r:embed="rId5"/>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F4CAF5E-025D-B7F5-018E-144F458223BA}"/>
                  </a:ext>
                </a:extLst>
              </p:cNvPr>
              <p:cNvSpPr txBox="1"/>
              <p:nvPr/>
            </p:nvSpPr>
            <p:spPr>
              <a:xfrm>
                <a:off x="1206500" y="5143502"/>
                <a:ext cx="3276600" cy="523220"/>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𝑒</m:t>
                          </m:r>
                        </m:e>
                        <m:sub>
                          <m:r>
                            <a:rPr lang="en-US" altLang="zh-CN" sz="2800" b="0" i="1" smtClean="0">
                              <a:latin typeface="Cambria Math" panose="02040503050406030204" pitchFamily="18" charset="0"/>
                            </a:rPr>
                            <m:t>𝑇</m:t>
                          </m:r>
                        </m:sub>
                      </m:sSub>
                      <m:r>
                        <a:rPr lang="en-US" altLang="zh-CN" sz="2800" b="0" i="1" smtClean="0">
                          <a:latin typeface="Cambria Math" panose="02040503050406030204" pitchFamily="18" charset="0"/>
                        </a:rPr>
                        <m:t>=</m:t>
                      </m:r>
                      <m:func>
                        <m:funcPr>
                          <m:ctrlPr>
                            <a:rPr lang="en-US" altLang="zh-CN" sz="2800" b="0" i="1" smtClean="0">
                              <a:latin typeface="Cambria Math" panose="02040503050406030204" pitchFamily="18" charset="0"/>
                            </a:rPr>
                          </m:ctrlPr>
                        </m:funcPr>
                        <m:fName>
                          <m:r>
                            <m:rPr>
                              <m:sty m:val="p"/>
                            </m:rPr>
                            <a:rPr lang="en-US" altLang="zh-CN" sz="2800" b="0" i="0" smtClean="0">
                              <a:latin typeface="Cambria Math" panose="02040503050406030204" pitchFamily="18" charset="0"/>
                            </a:rPr>
                            <m:t>tanh</m:t>
                          </m:r>
                        </m:fName>
                        <m:e>
                          <m:r>
                            <a:rPr lang="en-US" altLang="zh-CN" sz="2800" i="1">
                              <a:latin typeface="Cambria Math" panose="02040503050406030204" pitchFamily="18" charset="0"/>
                            </a:rPr>
                            <m:t>(</m:t>
                          </m:r>
                          <m:r>
                            <a:rPr lang="en-US" altLang="zh-CN" sz="2800" i="1">
                              <a:latin typeface="Cambria Math" panose="02040503050406030204" pitchFamily="18" charset="0"/>
                            </a:rPr>
                            <m:t>𝑤</m:t>
                          </m:r>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h</m:t>
                              </m:r>
                            </m:e>
                            <m:sub>
                              <m:r>
                                <a:rPr lang="en-US" altLang="zh-CN" sz="2800" b="0" i="1" smtClean="0">
                                  <a:latin typeface="Cambria Math" panose="02040503050406030204" pitchFamily="18" charset="0"/>
                                </a:rPr>
                                <m:t>𝑇</m:t>
                              </m:r>
                            </m:sub>
                          </m:sSub>
                          <m:r>
                            <a:rPr lang="en-US" altLang="zh-CN" sz="2800" b="0" i="1" smtClean="0">
                              <a:latin typeface="Cambria Math" panose="02040503050406030204" pitchFamily="18" charset="0"/>
                            </a:rPr>
                            <m:t>)</m:t>
                          </m:r>
                        </m:e>
                      </m:func>
                    </m:oMath>
                  </m:oMathPara>
                </a14:m>
                <a:endParaRPr lang="en-US" altLang="zh-CN" sz="2800"/>
              </a:p>
            </p:txBody>
          </p:sp>
        </mc:Choice>
        <mc:Fallback xmlns="">
          <p:sp>
            <p:nvSpPr>
              <p:cNvPr id="7" name="TextBox 6">
                <a:extLst>
                  <a:ext uri="{FF2B5EF4-FFF2-40B4-BE49-F238E27FC236}">
                    <a16:creationId xmlns:a16="http://schemas.microsoft.com/office/drawing/2014/main" id="{4F4CAF5E-025D-B7F5-018E-144F458223BA}"/>
                  </a:ext>
                </a:extLst>
              </p:cNvPr>
              <p:cNvSpPr txBox="1">
                <a:spLocks noRot="1" noChangeAspect="1" noMove="1" noResize="1" noEditPoints="1" noAdjustHandles="1" noChangeArrowheads="1" noChangeShapeType="1" noTextEdit="1"/>
              </p:cNvSpPr>
              <p:nvPr/>
            </p:nvSpPr>
            <p:spPr>
              <a:xfrm>
                <a:off x="1206500" y="5143502"/>
                <a:ext cx="3276600" cy="523220"/>
              </a:xfrm>
              <a:prstGeom prst="rect">
                <a:avLst/>
              </a:prstGeom>
              <a:blipFill>
                <a:blip r:embed="rId6"/>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C6E2A24-5FCF-D21E-700B-82312BC712A6}"/>
                  </a:ext>
                </a:extLst>
              </p:cNvPr>
              <p:cNvSpPr txBox="1"/>
              <p:nvPr/>
            </p:nvSpPr>
            <p:spPr>
              <a:xfrm>
                <a:off x="1847850" y="4452613"/>
                <a:ext cx="1993900" cy="523220"/>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m:t>
                      </m:r>
                    </m:oMath>
                  </m:oMathPara>
                </a14:m>
                <a:endParaRPr lang="en-US" altLang="zh-CN" sz="2800"/>
              </a:p>
            </p:txBody>
          </p:sp>
        </mc:Choice>
        <mc:Fallback xmlns="">
          <p:sp>
            <p:nvSpPr>
              <p:cNvPr id="8" name="TextBox 7">
                <a:extLst>
                  <a:ext uri="{FF2B5EF4-FFF2-40B4-BE49-F238E27FC236}">
                    <a16:creationId xmlns:a16="http://schemas.microsoft.com/office/drawing/2014/main" id="{3C6E2A24-5FCF-D21E-700B-82312BC712A6}"/>
                  </a:ext>
                </a:extLst>
              </p:cNvPr>
              <p:cNvSpPr txBox="1">
                <a:spLocks noRot="1" noChangeAspect="1" noMove="1" noResize="1" noEditPoints="1" noAdjustHandles="1" noChangeArrowheads="1" noChangeShapeType="1" noTextEdit="1"/>
              </p:cNvSpPr>
              <p:nvPr/>
            </p:nvSpPr>
            <p:spPr>
              <a:xfrm>
                <a:off x="1847850" y="4452613"/>
                <a:ext cx="1993900" cy="523220"/>
              </a:xfrm>
              <a:prstGeom prst="rect">
                <a:avLst/>
              </a:prstGeom>
              <a:blipFill>
                <a:blip r:embed="rId7"/>
                <a:stretch>
                  <a:fillRect/>
                </a:stretch>
              </a:blipFill>
            </p:spPr>
            <p:txBody>
              <a:bodyPr/>
              <a:lstStyle/>
              <a:p>
                <a:r>
                  <a:rPr lang="en-US">
                    <a:noFill/>
                  </a:rPr>
                  <a:t> </a:t>
                </a:r>
              </a:p>
            </p:txBody>
          </p:sp>
        </mc:Fallback>
      </mc:AlternateContent>
      <p:sp>
        <p:nvSpPr>
          <p:cNvPr id="9" name="Right Brace 8">
            <a:extLst>
              <a:ext uri="{FF2B5EF4-FFF2-40B4-BE49-F238E27FC236}">
                <a16:creationId xmlns:a16="http://schemas.microsoft.com/office/drawing/2014/main" id="{6A94DC5D-3136-8F95-DABD-330A78D9E7E1}"/>
              </a:ext>
            </a:extLst>
          </p:cNvPr>
          <p:cNvSpPr/>
          <p:nvPr/>
        </p:nvSpPr>
        <p:spPr>
          <a:xfrm>
            <a:off x="4483100" y="3319791"/>
            <a:ext cx="558800" cy="2346931"/>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A38A3C13-1817-1468-529E-E781B6169AC5}"/>
              </a:ext>
            </a:extLst>
          </p:cNvPr>
          <p:cNvSpPr txBox="1"/>
          <p:nvPr/>
        </p:nvSpPr>
        <p:spPr>
          <a:xfrm>
            <a:off x="5124450" y="4191003"/>
            <a:ext cx="1354730" cy="523220"/>
          </a:xfrm>
          <a:prstGeom prst="rect">
            <a:avLst/>
          </a:prstGeom>
          <a:noFill/>
        </p:spPr>
        <p:txBody>
          <a:bodyPr wrap="none" rtlCol="0">
            <a:spAutoFit/>
          </a:bodyPr>
          <a:lstStyle/>
          <a:p>
            <a:r>
              <a:rPr lang="en-US" sz="2800" err="1">
                <a:latin typeface="Calibri" panose="020F0502020204030204" pitchFamily="34" charset="0"/>
                <a:cs typeface="Calibri" panose="020F0502020204030204" pitchFamily="34" charset="0"/>
              </a:rPr>
              <a:t>softmax</a:t>
            </a:r>
            <a:endParaRPr lang="en-US" sz="2800">
              <a:latin typeface="Calibri" panose="020F0502020204030204" pitchFamily="34" charset="0"/>
              <a:cs typeface="Calibri" panose="020F0502020204030204" pitchFamily="34" charset="0"/>
            </a:endParaRPr>
          </a:p>
        </p:txBody>
      </p:sp>
      <p:sp>
        <p:nvSpPr>
          <p:cNvPr id="11" name="Right Brace 10">
            <a:extLst>
              <a:ext uri="{FF2B5EF4-FFF2-40B4-BE49-F238E27FC236}">
                <a16:creationId xmlns:a16="http://schemas.microsoft.com/office/drawing/2014/main" id="{FEDA9129-D70B-7E7E-1114-4CC3EFEB48B5}"/>
              </a:ext>
            </a:extLst>
          </p:cNvPr>
          <p:cNvSpPr/>
          <p:nvPr/>
        </p:nvSpPr>
        <p:spPr>
          <a:xfrm rot="10800000">
            <a:off x="6557856" y="3294394"/>
            <a:ext cx="558800" cy="2346931"/>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BD1C58D-2BB2-52E6-C840-3E644D5658DD}"/>
                  </a:ext>
                </a:extLst>
              </p:cNvPr>
              <p:cNvSpPr txBox="1"/>
              <p:nvPr/>
            </p:nvSpPr>
            <p:spPr>
              <a:xfrm>
                <a:off x="7116655" y="2919725"/>
                <a:ext cx="3009900" cy="101854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𝑎</m:t>
                          </m:r>
                        </m:e>
                        <m:sub>
                          <m:r>
                            <a:rPr lang="en-US" altLang="zh-CN" sz="2800" b="0" i="1" smtClean="0">
                              <a:latin typeface="Cambria Math" panose="02040503050406030204" pitchFamily="18" charset="0"/>
                            </a:rPr>
                            <m:t>1</m:t>
                          </m:r>
                        </m:sub>
                      </m:sSub>
                      <m:r>
                        <a:rPr lang="en-US" altLang="zh-CN" sz="2800" b="0" i="1" smtClean="0">
                          <a:latin typeface="Cambria Math" panose="02040503050406030204" pitchFamily="18" charset="0"/>
                        </a:rPr>
                        <m:t>=</m:t>
                      </m:r>
                      <m:f>
                        <m:fPr>
                          <m:ctrlPr>
                            <a:rPr lang="en-US" altLang="zh-CN" sz="2800" b="0" i="1" smtClean="0">
                              <a:latin typeface="Cambria Math" panose="02040503050406030204" pitchFamily="18" charset="0"/>
                            </a:rPr>
                          </m:ctrlPr>
                        </m:fPr>
                        <m:num>
                          <m:r>
                            <m:rPr>
                              <m:sty m:val="p"/>
                            </m:rPr>
                            <a:rPr lang="en-US" altLang="zh-CN" sz="2800" b="0" i="0" smtClean="0">
                              <a:latin typeface="Cambria Math" panose="02040503050406030204" pitchFamily="18" charset="0"/>
                            </a:rPr>
                            <m:t>exp</m:t>
                          </m:r>
                          <m:r>
                            <a:rPr lang="en-US" altLang="zh-CN" sz="2800" b="0" i="1" smtClean="0">
                              <a:latin typeface="Cambria Math" panose="02040503050406030204" pitchFamily="18" charset="0"/>
                            </a:rPr>
                            <m:t>⁡(</m:t>
                          </m:r>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𝑒</m:t>
                              </m:r>
                            </m:e>
                            <m:sub>
                              <m:r>
                                <a:rPr lang="en-US" altLang="zh-CN" sz="2800" b="0" i="1" smtClean="0">
                                  <a:latin typeface="Cambria Math" panose="02040503050406030204" pitchFamily="18" charset="0"/>
                                </a:rPr>
                                <m:t>1</m:t>
                              </m:r>
                            </m:sub>
                          </m:sSub>
                          <m:r>
                            <a:rPr lang="en-US" altLang="zh-CN" sz="2800" b="0" i="1" smtClean="0">
                              <a:latin typeface="Cambria Math" panose="02040503050406030204" pitchFamily="18" charset="0"/>
                            </a:rPr>
                            <m:t>)</m:t>
                          </m:r>
                        </m:num>
                        <m:den>
                          <m:nary>
                            <m:naryPr>
                              <m:chr m:val="∑"/>
                              <m:ctrlPr>
                                <a:rPr lang="en-US" altLang="zh-CN" sz="2800" i="1">
                                  <a:latin typeface="Cambria Math" panose="02040503050406030204" pitchFamily="18" charset="0"/>
                                </a:rPr>
                              </m:ctrlPr>
                            </m:naryPr>
                            <m:sub>
                              <m:r>
                                <m:rPr>
                                  <m:brk m:alnAt="23"/>
                                </m:rPr>
                                <a:rPr lang="en-US" altLang="zh-CN" sz="2800" i="1">
                                  <a:latin typeface="Cambria Math" panose="02040503050406030204" pitchFamily="18" charset="0"/>
                                </a:rPr>
                                <m:t>𝑡</m:t>
                              </m:r>
                              <m:r>
                                <a:rPr lang="en-US" altLang="zh-CN" sz="2800" i="1">
                                  <a:latin typeface="Cambria Math" panose="02040503050406030204" pitchFamily="18" charset="0"/>
                                </a:rPr>
                                <m:t>=1</m:t>
                              </m:r>
                            </m:sub>
                            <m:sup>
                              <m:r>
                                <a:rPr lang="en-US" altLang="zh-CN" sz="2800" i="1">
                                  <a:latin typeface="Cambria Math" panose="02040503050406030204" pitchFamily="18" charset="0"/>
                                </a:rPr>
                                <m:t>𝑇</m:t>
                              </m:r>
                            </m:sup>
                            <m:e>
                              <m:r>
                                <m:rPr>
                                  <m:sty m:val="p"/>
                                </m:rPr>
                                <a:rPr lang="en-US" altLang="zh-CN" sz="2800">
                                  <a:latin typeface="Cambria Math" panose="02040503050406030204" pitchFamily="18" charset="0"/>
                                </a:rPr>
                                <m:t>exp</m:t>
                              </m:r>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𝑒</m:t>
                                  </m:r>
                                </m:e>
                                <m:sub>
                                  <m:r>
                                    <a:rPr lang="en-US" altLang="zh-CN" sz="2800" i="1">
                                      <a:latin typeface="Cambria Math" panose="02040503050406030204" pitchFamily="18" charset="0"/>
                                    </a:rPr>
                                    <m:t>𝑡</m:t>
                                  </m:r>
                                </m:sub>
                              </m:sSub>
                              <m:r>
                                <a:rPr lang="en-US" altLang="zh-CN" sz="2800" i="1">
                                  <a:latin typeface="Cambria Math" panose="02040503050406030204" pitchFamily="18" charset="0"/>
                                </a:rPr>
                                <m:t>)</m:t>
                              </m:r>
                            </m:e>
                          </m:nary>
                        </m:den>
                      </m:f>
                    </m:oMath>
                  </m:oMathPara>
                </a14:m>
                <a:endParaRPr lang="en-US" sz="2800"/>
              </a:p>
            </p:txBody>
          </p:sp>
        </mc:Choice>
        <mc:Fallback xmlns="">
          <p:sp>
            <p:nvSpPr>
              <p:cNvPr id="12" name="TextBox 11">
                <a:extLst>
                  <a:ext uri="{FF2B5EF4-FFF2-40B4-BE49-F238E27FC236}">
                    <a16:creationId xmlns:a16="http://schemas.microsoft.com/office/drawing/2014/main" id="{2BD1C58D-2BB2-52E6-C840-3E644D5658DD}"/>
                  </a:ext>
                </a:extLst>
              </p:cNvPr>
              <p:cNvSpPr txBox="1">
                <a:spLocks noRot="1" noChangeAspect="1" noMove="1" noResize="1" noEditPoints="1" noAdjustHandles="1" noChangeArrowheads="1" noChangeShapeType="1" noTextEdit="1"/>
              </p:cNvSpPr>
              <p:nvPr/>
            </p:nvSpPr>
            <p:spPr>
              <a:xfrm>
                <a:off x="7116655" y="2919725"/>
                <a:ext cx="3009900" cy="1018549"/>
              </a:xfrm>
              <a:prstGeom prst="rect">
                <a:avLst/>
              </a:prstGeom>
              <a:blipFill>
                <a:blip r:embed="rId8"/>
                <a:stretch>
                  <a:fillRect t="-17073" r="-840" b="-975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9911B90-09B4-394B-4E11-EDCFC87C8421}"/>
                  </a:ext>
                </a:extLst>
              </p:cNvPr>
              <p:cNvSpPr txBox="1"/>
              <p:nvPr/>
            </p:nvSpPr>
            <p:spPr>
              <a:xfrm>
                <a:off x="7116655" y="4975833"/>
                <a:ext cx="3009900" cy="101854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𝑎</m:t>
                          </m:r>
                        </m:e>
                        <m:sub>
                          <m:r>
                            <a:rPr lang="en-US" altLang="zh-CN" sz="2800" b="0" i="1" smtClean="0">
                              <a:latin typeface="Cambria Math" panose="02040503050406030204" pitchFamily="18" charset="0"/>
                            </a:rPr>
                            <m:t>𝑇</m:t>
                          </m:r>
                        </m:sub>
                      </m:sSub>
                      <m:r>
                        <a:rPr lang="en-US" altLang="zh-CN" sz="2800" b="0" i="1" smtClean="0">
                          <a:latin typeface="Cambria Math" panose="02040503050406030204" pitchFamily="18" charset="0"/>
                        </a:rPr>
                        <m:t>=</m:t>
                      </m:r>
                      <m:f>
                        <m:fPr>
                          <m:ctrlPr>
                            <a:rPr lang="en-US" altLang="zh-CN" sz="2800" b="0" i="1" smtClean="0">
                              <a:latin typeface="Cambria Math" panose="02040503050406030204" pitchFamily="18" charset="0"/>
                            </a:rPr>
                          </m:ctrlPr>
                        </m:fPr>
                        <m:num>
                          <m:r>
                            <m:rPr>
                              <m:sty m:val="p"/>
                            </m:rPr>
                            <a:rPr lang="en-US" altLang="zh-CN" sz="2800" b="0" i="0" smtClean="0">
                              <a:latin typeface="Cambria Math" panose="02040503050406030204" pitchFamily="18" charset="0"/>
                            </a:rPr>
                            <m:t>exp</m:t>
                          </m:r>
                          <m:r>
                            <a:rPr lang="en-US" altLang="zh-CN" sz="2800" b="0" i="1" smtClean="0">
                              <a:latin typeface="Cambria Math" panose="02040503050406030204" pitchFamily="18" charset="0"/>
                            </a:rPr>
                            <m:t>⁡(</m:t>
                          </m:r>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𝑒</m:t>
                              </m:r>
                            </m:e>
                            <m:sub>
                              <m:r>
                                <a:rPr lang="en-US" altLang="zh-CN" sz="2800" b="0" i="1" smtClean="0">
                                  <a:latin typeface="Cambria Math" panose="02040503050406030204" pitchFamily="18" charset="0"/>
                                </a:rPr>
                                <m:t>𝑇</m:t>
                              </m:r>
                            </m:sub>
                          </m:sSub>
                          <m:r>
                            <a:rPr lang="en-US" altLang="zh-CN" sz="2800" b="0" i="1" smtClean="0">
                              <a:latin typeface="Cambria Math" panose="02040503050406030204" pitchFamily="18" charset="0"/>
                            </a:rPr>
                            <m:t>)</m:t>
                          </m:r>
                        </m:num>
                        <m:den>
                          <m:nary>
                            <m:naryPr>
                              <m:chr m:val="∑"/>
                              <m:ctrlPr>
                                <a:rPr lang="en-US" altLang="zh-CN" sz="2800" i="1">
                                  <a:latin typeface="Cambria Math" panose="02040503050406030204" pitchFamily="18" charset="0"/>
                                </a:rPr>
                              </m:ctrlPr>
                            </m:naryPr>
                            <m:sub>
                              <m:r>
                                <m:rPr>
                                  <m:brk m:alnAt="23"/>
                                </m:rPr>
                                <a:rPr lang="en-US" altLang="zh-CN" sz="2800" i="1">
                                  <a:latin typeface="Cambria Math" panose="02040503050406030204" pitchFamily="18" charset="0"/>
                                </a:rPr>
                                <m:t>𝑡</m:t>
                              </m:r>
                              <m:r>
                                <a:rPr lang="en-US" altLang="zh-CN" sz="2800" i="1">
                                  <a:latin typeface="Cambria Math" panose="02040503050406030204" pitchFamily="18" charset="0"/>
                                </a:rPr>
                                <m:t>=1</m:t>
                              </m:r>
                            </m:sub>
                            <m:sup>
                              <m:r>
                                <a:rPr lang="en-US" altLang="zh-CN" sz="2800" i="1">
                                  <a:latin typeface="Cambria Math" panose="02040503050406030204" pitchFamily="18" charset="0"/>
                                </a:rPr>
                                <m:t>𝑇</m:t>
                              </m:r>
                            </m:sup>
                            <m:e>
                              <m:r>
                                <m:rPr>
                                  <m:sty m:val="p"/>
                                </m:rPr>
                                <a:rPr lang="en-US" altLang="zh-CN" sz="2800">
                                  <a:latin typeface="Cambria Math" panose="02040503050406030204" pitchFamily="18" charset="0"/>
                                </a:rPr>
                                <m:t>exp</m:t>
                              </m:r>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𝑒</m:t>
                                  </m:r>
                                </m:e>
                                <m:sub>
                                  <m:r>
                                    <a:rPr lang="en-US" altLang="zh-CN" sz="2800" i="1">
                                      <a:latin typeface="Cambria Math" panose="02040503050406030204" pitchFamily="18" charset="0"/>
                                    </a:rPr>
                                    <m:t>𝑡</m:t>
                                  </m:r>
                                </m:sub>
                              </m:sSub>
                              <m:r>
                                <a:rPr lang="en-US" altLang="zh-CN" sz="2800" i="1">
                                  <a:latin typeface="Cambria Math" panose="02040503050406030204" pitchFamily="18" charset="0"/>
                                </a:rPr>
                                <m:t>)</m:t>
                              </m:r>
                            </m:e>
                          </m:nary>
                        </m:den>
                      </m:f>
                    </m:oMath>
                  </m:oMathPara>
                </a14:m>
                <a:endParaRPr lang="en-US" sz="2800"/>
              </a:p>
            </p:txBody>
          </p:sp>
        </mc:Choice>
        <mc:Fallback xmlns="">
          <p:sp>
            <p:nvSpPr>
              <p:cNvPr id="13" name="TextBox 12">
                <a:extLst>
                  <a:ext uri="{FF2B5EF4-FFF2-40B4-BE49-F238E27FC236}">
                    <a16:creationId xmlns:a16="http://schemas.microsoft.com/office/drawing/2014/main" id="{C9911B90-09B4-394B-4E11-EDCFC87C8421}"/>
                  </a:ext>
                </a:extLst>
              </p:cNvPr>
              <p:cNvSpPr txBox="1">
                <a:spLocks noRot="1" noChangeAspect="1" noMove="1" noResize="1" noEditPoints="1" noAdjustHandles="1" noChangeArrowheads="1" noChangeShapeType="1" noTextEdit="1"/>
              </p:cNvSpPr>
              <p:nvPr/>
            </p:nvSpPr>
            <p:spPr>
              <a:xfrm>
                <a:off x="7116655" y="4975833"/>
                <a:ext cx="3009900" cy="1018549"/>
              </a:xfrm>
              <a:prstGeom prst="rect">
                <a:avLst/>
              </a:prstGeom>
              <a:blipFill>
                <a:blip r:embed="rId9"/>
                <a:stretch>
                  <a:fillRect t="-18519" r="-1681" b="-10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F926804-EE55-906D-A079-B28F2B001037}"/>
                  </a:ext>
                </a:extLst>
              </p:cNvPr>
              <p:cNvSpPr txBox="1"/>
              <p:nvPr/>
            </p:nvSpPr>
            <p:spPr>
              <a:xfrm>
                <a:off x="7704878" y="4231646"/>
                <a:ext cx="1993900" cy="523220"/>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m:t>
                      </m:r>
                    </m:oMath>
                  </m:oMathPara>
                </a14:m>
                <a:endParaRPr lang="en-US" altLang="zh-CN" sz="2800"/>
              </a:p>
            </p:txBody>
          </p:sp>
        </mc:Choice>
        <mc:Fallback xmlns="">
          <p:sp>
            <p:nvSpPr>
              <p:cNvPr id="14" name="TextBox 13">
                <a:extLst>
                  <a:ext uri="{FF2B5EF4-FFF2-40B4-BE49-F238E27FC236}">
                    <a16:creationId xmlns:a16="http://schemas.microsoft.com/office/drawing/2014/main" id="{AF926804-EE55-906D-A079-B28F2B001037}"/>
                  </a:ext>
                </a:extLst>
              </p:cNvPr>
              <p:cNvSpPr txBox="1">
                <a:spLocks noRot="1" noChangeAspect="1" noMove="1" noResize="1" noEditPoints="1" noAdjustHandles="1" noChangeArrowheads="1" noChangeShapeType="1" noTextEdit="1"/>
              </p:cNvSpPr>
              <p:nvPr/>
            </p:nvSpPr>
            <p:spPr>
              <a:xfrm>
                <a:off x="7704878" y="4231646"/>
                <a:ext cx="1993900" cy="523220"/>
              </a:xfrm>
              <a:prstGeom prst="rect">
                <a:avLst/>
              </a:prstGeom>
              <a:blipFill>
                <a:blip r:embed="rId10"/>
                <a:stretch>
                  <a:fillRect/>
                </a:stretch>
              </a:blipFill>
            </p:spPr>
            <p:txBody>
              <a:bodyPr/>
              <a:lstStyle/>
              <a:p>
                <a:r>
                  <a:rPr lang="en-US">
                    <a:noFill/>
                  </a:rPr>
                  <a:t> </a:t>
                </a:r>
              </a:p>
            </p:txBody>
          </p:sp>
        </mc:Fallback>
      </mc:AlternateContent>
      <p:sp>
        <p:nvSpPr>
          <p:cNvPr id="15" name="Rounded Rectangle 14">
            <a:extLst>
              <a:ext uri="{FF2B5EF4-FFF2-40B4-BE49-F238E27FC236}">
                <a16:creationId xmlns:a16="http://schemas.microsoft.com/office/drawing/2014/main" id="{D7D9DA13-9422-ED4C-3661-12E17F7BDF7D}"/>
              </a:ext>
            </a:extLst>
          </p:cNvPr>
          <p:cNvSpPr/>
          <p:nvPr/>
        </p:nvSpPr>
        <p:spPr>
          <a:xfrm>
            <a:off x="3035300" y="3276600"/>
            <a:ext cx="419100" cy="2590800"/>
          </a:xfrm>
          <a:prstGeom prst="roundRect">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64CE483-15CB-F2E7-1ED2-73594545B34C}"/>
                  </a:ext>
                </a:extLst>
              </p:cNvPr>
              <p:cNvSpPr txBox="1"/>
              <p:nvPr/>
            </p:nvSpPr>
            <p:spPr>
              <a:xfrm>
                <a:off x="1341106" y="6083309"/>
                <a:ext cx="6922985" cy="523220"/>
              </a:xfrm>
              <a:prstGeom prst="rect">
                <a:avLst/>
              </a:prstGeom>
              <a:noFill/>
            </p:spPr>
            <p:txBody>
              <a:bodyPr wrap="none" rtlCol="0">
                <a:spAutoFit/>
              </a:bodyPr>
              <a:lstStyle/>
              <a:p>
                <a:r>
                  <a:rPr lang="zh-CN" altLang="en-US" sz="2800" dirty="0">
                    <a:latin typeface="Microsoft YaHei" panose="020B0503020204020204" pitchFamily="34" charset="-122"/>
                    <a:ea typeface="Microsoft YaHei" panose="020B0503020204020204" pitchFamily="34" charset="-122"/>
                    <a:cs typeface="Calibri" panose="020F0502020204030204" pitchFamily="34" charset="0"/>
                  </a:rPr>
                  <a:t>那些与 </a:t>
                </a:r>
                <a14:m>
                  <m:oMath xmlns:m="http://schemas.openxmlformats.org/officeDocument/2006/math">
                    <m:r>
                      <a:rPr lang="en-US" sz="2800" b="0" i="1" smtClean="0">
                        <a:latin typeface="Cambria Math" panose="02040503050406030204" pitchFamily="18" charset="0"/>
                        <a:cs typeface="Calibri" panose="020F0502020204030204" pitchFamily="34" charset="0"/>
                      </a:rPr>
                      <m:t>𝑤</m:t>
                    </m:r>
                  </m:oMath>
                </a14:m>
                <a:r>
                  <a:rPr lang="en-US" sz="2800" dirty="0">
                    <a:latin typeface="Microsoft YaHei" panose="020B0503020204020204" pitchFamily="34" charset="-122"/>
                    <a:ea typeface="Microsoft YaHei" panose="020B0503020204020204" pitchFamily="34" charset="-122"/>
                    <a:cs typeface="Calibri" panose="020F0502020204030204" pitchFamily="34" charset="0"/>
                  </a:rPr>
                  <a:t> </a:t>
                </a:r>
                <a:r>
                  <a:rPr lang="en-US" sz="2800" dirty="0" err="1">
                    <a:latin typeface="Microsoft YaHei" panose="020B0503020204020204" pitchFamily="34" charset="-122"/>
                    <a:ea typeface="Microsoft YaHei" panose="020B0503020204020204" pitchFamily="34" charset="-122"/>
                    <a:cs typeface="Calibri" panose="020F0502020204030204" pitchFamily="34" charset="0"/>
                  </a:rPr>
                  <a:t>相似的隐向量获得了更高的权重</a:t>
                </a:r>
                <a:endParaRPr lang="en-US" sz="2800" dirty="0">
                  <a:latin typeface="Microsoft YaHei" panose="020B0503020204020204" pitchFamily="34" charset="-122"/>
                  <a:ea typeface="Microsoft YaHei" panose="020B0503020204020204" pitchFamily="34" charset="-122"/>
                  <a:cs typeface="Calibri" panose="020F0502020204030204" pitchFamily="34" charset="0"/>
                </a:endParaRPr>
              </a:p>
            </p:txBody>
          </p:sp>
        </mc:Choice>
        <mc:Fallback xmlns="">
          <p:sp>
            <p:nvSpPr>
              <p:cNvPr id="16" name="TextBox 15">
                <a:extLst>
                  <a:ext uri="{FF2B5EF4-FFF2-40B4-BE49-F238E27FC236}">
                    <a16:creationId xmlns:a16="http://schemas.microsoft.com/office/drawing/2014/main" id="{464CE483-15CB-F2E7-1ED2-73594545B34C}"/>
                  </a:ext>
                </a:extLst>
              </p:cNvPr>
              <p:cNvSpPr txBox="1">
                <a:spLocks noRot="1" noChangeAspect="1" noMove="1" noResize="1" noEditPoints="1" noAdjustHandles="1" noChangeArrowheads="1" noChangeShapeType="1" noTextEdit="1"/>
              </p:cNvSpPr>
              <p:nvPr/>
            </p:nvSpPr>
            <p:spPr>
              <a:xfrm>
                <a:off x="1341106" y="6083309"/>
                <a:ext cx="6922985" cy="523220"/>
              </a:xfrm>
              <a:prstGeom prst="rect">
                <a:avLst/>
              </a:prstGeom>
              <a:blipFill>
                <a:blip r:embed="rId11"/>
                <a:stretch>
                  <a:fillRect l="-1832" t="-14286" b="-30952"/>
                </a:stretch>
              </a:blipFill>
            </p:spPr>
            <p:txBody>
              <a:bodyPr/>
              <a:lstStyle/>
              <a:p>
                <a:r>
                  <a:rPr lang="en-US">
                    <a:noFill/>
                  </a:rPr>
                  <a:t> </a:t>
                </a:r>
              </a:p>
            </p:txBody>
          </p:sp>
        </mc:Fallback>
      </mc:AlternateContent>
      <p:grpSp>
        <p:nvGrpSpPr>
          <p:cNvPr id="18" name="Group 17">
            <a:extLst>
              <a:ext uri="{FF2B5EF4-FFF2-40B4-BE49-F238E27FC236}">
                <a16:creationId xmlns:a16="http://schemas.microsoft.com/office/drawing/2014/main" id="{EABD0F82-3939-E553-9E7D-BBEA6F532557}"/>
              </a:ext>
            </a:extLst>
          </p:cNvPr>
          <p:cNvGrpSpPr/>
          <p:nvPr/>
        </p:nvGrpSpPr>
        <p:grpSpPr>
          <a:xfrm>
            <a:off x="0" y="-1589"/>
            <a:ext cx="12191999" cy="768585"/>
            <a:chOff x="0" y="-1589"/>
            <a:chExt cx="12191999" cy="768585"/>
          </a:xfrm>
        </p:grpSpPr>
        <p:grpSp>
          <p:nvGrpSpPr>
            <p:cNvPr id="19" name="Group 9">
              <a:extLst>
                <a:ext uri="{FF2B5EF4-FFF2-40B4-BE49-F238E27FC236}">
                  <a16:creationId xmlns:a16="http://schemas.microsoft.com/office/drawing/2014/main" id="{501D4DE4-540E-2DEE-868E-2827E8B4FB9C}"/>
                </a:ext>
              </a:extLst>
            </p:cNvPr>
            <p:cNvGrpSpPr>
              <a:grpSpLocks noChangeAspect="1"/>
            </p:cNvGrpSpPr>
            <p:nvPr/>
          </p:nvGrpSpPr>
          <p:grpSpPr bwMode="auto">
            <a:xfrm>
              <a:off x="0" y="-1589"/>
              <a:ext cx="12191999" cy="767234"/>
              <a:chOff x="-1" y="-1"/>
              <a:chExt cx="7719" cy="568"/>
            </a:xfrm>
          </p:grpSpPr>
          <p:sp>
            <p:nvSpPr>
              <p:cNvPr id="22" name="Freeform 21">
                <a:extLst>
                  <a:ext uri="{FF2B5EF4-FFF2-40B4-BE49-F238E27FC236}">
                    <a16:creationId xmlns:a16="http://schemas.microsoft.com/office/drawing/2014/main" id="{4C044178-07A4-427C-71BE-F842CCE49D83}"/>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23" name="AutoShape 8">
                <a:extLst>
                  <a:ext uri="{FF2B5EF4-FFF2-40B4-BE49-F238E27FC236}">
                    <a16:creationId xmlns:a16="http://schemas.microsoft.com/office/drawing/2014/main" id="{47F6712D-8677-CF8C-7836-63BD471EFB70}"/>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20" name="任意多边形: 形状 12">
              <a:extLst>
                <a:ext uri="{FF2B5EF4-FFF2-40B4-BE49-F238E27FC236}">
                  <a16:creationId xmlns:a16="http://schemas.microsoft.com/office/drawing/2014/main" id="{1C938E39-90AB-AB83-1BFE-EDE83A0A9BF5}"/>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21" name="文本框 18">
              <a:extLst>
                <a:ext uri="{FF2B5EF4-FFF2-40B4-BE49-F238E27FC236}">
                  <a16:creationId xmlns:a16="http://schemas.microsoft.com/office/drawing/2014/main" id="{0407936D-E973-7B8C-853B-EB074E45CD36}"/>
                </a:ext>
              </a:extLst>
            </p:cNvPr>
            <p:cNvSpPr txBox="1"/>
            <p:nvPr/>
          </p:nvSpPr>
          <p:spPr>
            <a:xfrm>
              <a:off x="350439" y="120418"/>
              <a:ext cx="3057247" cy="523220"/>
            </a:xfrm>
            <a:prstGeom prst="rect">
              <a:avLst/>
            </a:prstGeom>
            <a:noFill/>
          </p:spPr>
          <p:txBody>
            <a:bodyPr wrap="none" rtlCol="0">
              <a:spAutoFit/>
            </a:bodyPr>
            <a:lstStyle/>
            <a:p>
              <a:pPr>
                <a:defRPr/>
              </a:pPr>
              <a:r>
                <a:rPr lang="zh-CN" altLang="en-US" sz="2800" b="1">
                  <a:solidFill>
                    <a:prstClr val="white"/>
                  </a:solidFill>
                  <a:cs typeface="+mn-ea"/>
                  <a:sym typeface="+mn-lt"/>
                </a:rPr>
                <a:t>如何衡量重要性？</a:t>
              </a:r>
            </a:p>
          </p:txBody>
        </p:sp>
      </p:grpSp>
    </p:spTree>
    <p:extLst>
      <p:ext uri="{BB962C8B-B14F-4D97-AF65-F5344CB8AC3E}">
        <p14:creationId xmlns:p14="http://schemas.microsoft.com/office/powerpoint/2010/main" val="3480557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F343D02-4C58-7CAF-B1B5-0748566C0469}"/>
                  </a:ext>
                </a:extLst>
              </p:cNvPr>
              <p:cNvSpPr>
                <a:spLocks noGrp="1"/>
              </p:cNvSpPr>
              <p:nvPr>
                <p:ph idx="1"/>
              </p:nvPr>
            </p:nvSpPr>
            <p:spPr>
              <a:xfrm>
                <a:off x="838200" y="1106129"/>
                <a:ext cx="10515600" cy="5281971"/>
              </a:xfrm>
            </p:spPr>
            <p:txBody>
              <a:bodyPr>
                <a:noAutofit/>
              </a:bodyPr>
              <a:lstStyle/>
              <a:p>
                <a:pPr marL="457200" indent="-457200" algn="just">
                  <a:lnSpc>
                    <a:spcPct val="130000"/>
                  </a:lnSpc>
                  <a:buFont typeface="Wingdings" panose="05000000000000000000" pitchFamily="2" charset="2"/>
                  <a:buChar char="p"/>
                  <a:defRPr/>
                </a:pPr>
                <a:r>
                  <a:rPr lang="zh-CN" altLang="en-US" dirty="0"/>
                  <a:t>在前馈注意力中</a:t>
                </a:r>
                <a:r>
                  <a:rPr lang="en-US" altLang="zh-CN" dirty="0"/>
                  <a:t>, </a:t>
                </a:r>
              </a:p>
              <a:p>
                <a:pPr marL="0" indent="0" algn="just">
                  <a:lnSpc>
                    <a:spcPct val="130000"/>
                  </a:lnSpc>
                  <a:buNone/>
                  <a:defRPr/>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𝑒</m:t>
                          </m:r>
                        </m:e>
                        <m:sub>
                          <m:r>
                            <a:rPr lang="en-US" altLang="zh-CN">
                              <a:latin typeface="Cambria Math" panose="02040503050406030204" pitchFamily="18" charset="0"/>
                            </a:rPr>
                            <m:t>𝑡</m:t>
                          </m:r>
                        </m:sub>
                      </m:sSub>
                      <m:r>
                        <a:rPr lang="en-US" altLang="zh-CN">
                          <a:latin typeface="Cambria Math" panose="02040503050406030204" pitchFamily="18" charset="0"/>
                        </a:rPr>
                        <m:t>=</m:t>
                      </m:r>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tanh</m:t>
                          </m:r>
                        </m:fName>
                        <m:e>
                          <m:r>
                            <a:rPr lang="en-US" altLang="zh-CN">
                              <a:latin typeface="Cambria Math" panose="02040503050406030204" pitchFamily="18" charset="0"/>
                            </a:rPr>
                            <m:t>(</m:t>
                          </m:r>
                          <m:r>
                            <a:rPr lang="en-US" altLang="zh-CN">
                              <a:latin typeface="Cambria Math" panose="02040503050406030204" pitchFamily="18" charset="0"/>
                            </a:rPr>
                            <m:t>𝑤</m:t>
                          </m:r>
                          <m:r>
                            <a:rPr lang="en-US" altLang="zh-CN">
                              <a:latin typeface="Cambria Math" panose="02040503050406030204" pitchFamily="18" charset="0"/>
                            </a:rPr>
                            <m:t>⋅</m:t>
                          </m:r>
                          <m:sSub>
                            <m:sSubPr>
                              <m:ctrlPr>
                                <a:rPr lang="en-US" altLang="zh-CN" i="1">
                                  <a:latin typeface="Cambria Math" panose="02040503050406030204" pitchFamily="18" charset="0"/>
                                </a:rPr>
                              </m:ctrlPr>
                            </m:sSubPr>
                            <m:e>
                              <m:r>
                                <a:rPr lang="en-US" altLang="zh-CN">
                                  <a:latin typeface="Cambria Math" panose="02040503050406030204" pitchFamily="18" charset="0"/>
                                </a:rPr>
                                <m:t>h</m:t>
                              </m:r>
                            </m:e>
                            <m:sub>
                              <m:r>
                                <a:rPr lang="en-US" altLang="zh-CN">
                                  <a:latin typeface="Cambria Math" panose="02040503050406030204" pitchFamily="18" charset="0"/>
                                </a:rPr>
                                <m:t>𝑡</m:t>
                              </m:r>
                            </m:sub>
                          </m:sSub>
                          <m:r>
                            <a:rPr lang="en-US" altLang="zh-CN">
                              <a:latin typeface="Cambria Math" panose="02040503050406030204" pitchFamily="18" charset="0"/>
                            </a:rPr>
                            <m:t>)</m:t>
                          </m:r>
                        </m:e>
                      </m:func>
                    </m:oMath>
                  </m:oMathPara>
                </a14:m>
                <a:endParaRPr lang="en-US" altLang="zh-CN" dirty="0"/>
              </a:p>
              <a:p>
                <a:pPr marL="457200" indent="-457200" algn="just">
                  <a:lnSpc>
                    <a:spcPct val="130000"/>
                  </a:lnSpc>
                  <a:buFont typeface="Wingdings" panose="05000000000000000000" pitchFamily="2" charset="2"/>
                  <a:buChar char="p"/>
                  <a:defRPr/>
                </a:pPr>
                <a14:m>
                  <m:oMath xmlns:m="http://schemas.openxmlformats.org/officeDocument/2006/math">
                    <m:r>
                      <a:rPr lang="en-US" altLang="zh-CN" smtClean="0">
                        <a:latin typeface="Cambria Math" panose="02040503050406030204" pitchFamily="18" charset="0"/>
                      </a:rPr>
                      <m:t>𝑤</m:t>
                    </m:r>
                  </m:oMath>
                </a14:m>
                <a:r>
                  <a:rPr lang="en-US" altLang="zh-CN" dirty="0"/>
                  <a:t> </a:t>
                </a:r>
                <a:r>
                  <a:rPr lang="zh-CN" altLang="en-US" dirty="0"/>
                  <a:t>是可学习的向量，</a:t>
                </a:r>
                <a:r>
                  <a:rPr lang="en-US" altLang="en-US" dirty="0"/>
                  <a:t> </a:t>
                </a:r>
                <a:r>
                  <a:rPr lang="en-US" altLang="en-US" dirty="0" err="1"/>
                  <a:t>在训练中学习如何决定输入的重要性</a:t>
                </a:r>
                <a:endParaRPr lang="en-US" altLang="zh-CN" dirty="0"/>
              </a:p>
              <a:p>
                <a:pPr marL="457200" indent="-457200" algn="just">
                  <a:lnSpc>
                    <a:spcPct val="130000"/>
                  </a:lnSpc>
                  <a:buFont typeface="Wingdings" panose="05000000000000000000" pitchFamily="2" charset="2"/>
                  <a:buChar char="p"/>
                  <a:defRPr/>
                </a:pPr>
                <a:r>
                  <a:rPr lang="zh-CN" altLang="en-US" dirty="0"/>
                  <a:t>那些与 </a:t>
                </a:r>
                <a14:m>
                  <m:oMath xmlns:m="http://schemas.openxmlformats.org/officeDocument/2006/math">
                    <m:r>
                      <a:rPr lang="en-US" altLang="en-US">
                        <a:latin typeface="Cambria Math" panose="02040503050406030204" pitchFamily="18" charset="0"/>
                      </a:rPr>
                      <m:t>𝑤</m:t>
                    </m:r>
                  </m:oMath>
                </a14:m>
                <a:r>
                  <a:rPr lang="en-US" altLang="en-US" dirty="0"/>
                  <a:t> </a:t>
                </a:r>
                <a:r>
                  <a:rPr lang="en-US" altLang="en-US" dirty="0" err="1"/>
                  <a:t>相似的隐向量获得了更高的权重</a:t>
                </a:r>
                <a:r>
                  <a:rPr lang="zh-CN" altLang="en-US" dirty="0"/>
                  <a:t>，从而通过</a:t>
                </a:r>
                <a:r>
                  <a:rPr lang="en-US" altLang="en-US" dirty="0" err="1"/>
                  <a:t>选择重要的隐向量并且据此利用它们取得性能提升</a:t>
                </a:r>
                <a:endParaRPr lang="en-US" altLang="en-US" dirty="0"/>
              </a:p>
              <a:p>
                <a:pPr marL="457200" indent="-457200" algn="just">
                  <a:lnSpc>
                    <a:spcPct val="130000"/>
                  </a:lnSpc>
                  <a:buFont typeface="Wingdings" panose="05000000000000000000" pitchFamily="2" charset="2"/>
                  <a:buChar char="p"/>
                  <a:defRPr/>
                </a:pPr>
                <a:endParaRPr lang="en-US" altLang="en-US" dirty="0"/>
              </a:p>
              <a:p>
                <a:pPr marL="457200" indent="-457200" algn="just">
                  <a:lnSpc>
                    <a:spcPct val="130000"/>
                  </a:lnSpc>
                  <a:buFont typeface="Wingdings" panose="05000000000000000000" pitchFamily="2" charset="2"/>
                  <a:buChar char="p"/>
                  <a:defRPr/>
                </a:pPr>
                <a:r>
                  <a:rPr lang="en-US" altLang="en-US" dirty="0" err="1"/>
                  <a:t>学习一个好的</a:t>
                </a:r>
                <a:r>
                  <a:rPr lang="zh-CN" altLang="en-US" dirty="0"/>
                  <a:t> </a:t>
                </a:r>
                <a14:m>
                  <m:oMath xmlns:m="http://schemas.openxmlformats.org/officeDocument/2006/math">
                    <m:r>
                      <a:rPr lang="en-US" altLang="zh-CN">
                        <a:latin typeface="Cambria Math" panose="02040503050406030204" pitchFamily="18" charset="0"/>
                      </a:rPr>
                      <m:t>𝑤</m:t>
                    </m:r>
                  </m:oMath>
                </a14:m>
                <a:r>
                  <a:rPr lang="en-US" altLang="en-US" dirty="0"/>
                  <a:t> </a:t>
                </a:r>
                <a:r>
                  <a:rPr lang="en-US" altLang="en-US" dirty="0" err="1"/>
                  <a:t>是取得好结果的重要条件</a:t>
                </a:r>
                <a:endParaRPr lang="en-US" altLang="en-US" dirty="0"/>
              </a:p>
            </p:txBody>
          </p:sp>
        </mc:Choice>
        <mc:Fallback xmlns="">
          <p:sp>
            <p:nvSpPr>
              <p:cNvPr id="3" name="Content Placeholder 2">
                <a:extLst>
                  <a:ext uri="{FF2B5EF4-FFF2-40B4-BE49-F238E27FC236}">
                    <a16:creationId xmlns:a16="http://schemas.microsoft.com/office/drawing/2014/main" id="{0F343D02-4C58-7CAF-B1B5-0748566C0469}"/>
                  </a:ext>
                </a:extLst>
              </p:cNvPr>
              <p:cNvSpPr>
                <a:spLocks noGrp="1" noRot="1" noChangeAspect="1" noMove="1" noResize="1" noEditPoints="1" noAdjustHandles="1" noChangeArrowheads="1" noChangeShapeType="1" noTextEdit="1"/>
              </p:cNvSpPr>
              <p:nvPr>
                <p:ph idx="1"/>
              </p:nvPr>
            </p:nvSpPr>
            <p:spPr>
              <a:xfrm>
                <a:off x="838200" y="1106129"/>
                <a:ext cx="10515600" cy="5281971"/>
              </a:xfrm>
              <a:blipFill>
                <a:blip r:embed="rId3"/>
                <a:stretch>
                  <a:fillRect l="-812" r="-870"/>
                </a:stretch>
              </a:blipFill>
            </p:spPr>
            <p:txBody>
              <a:bodyPr/>
              <a:lstStyle/>
              <a:p>
                <a:r>
                  <a:rPr lang="zh-CN" altLang="en-US">
                    <a:noFill/>
                  </a:rPr>
                  <a:t> </a:t>
                </a:r>
              </a:p>
            </p:txBody>
          </p:sp>
        </mc:Fallback>
      </mc:AlternateContent>
      <p:grpSp>
        <p:nvGrpSpPr>
          <p:cNvPr id="6" name="Group 5">
            <a:extLst>
              <a:ext uri="{FF2B5EF4-FFF2-40B4-BE49-F238E27FC236}">
                <a16:creationId xmlns:a16="http://schemas.microsoft.com/office/drawing/2014/main" id="{67377EB9-229D-FE84-04AC-7BDF83D32344}"/>
              </a:ext>
            </a:extLst>
          </p:cNvPr>
          <p:cNvGrpSpPr/>
          <p:nvPr/>
        </p:nvGrpSpPr>
        <p:grpSpPr>
          <a:xfrm>
            <a:off x="0" y="-1589"/>
            <a:ext cx="12191999" cy="768585"/>
            <a:chOff x="0" y="-1589"/>
            <a:chExt cx="12191999" cy="768585"/>
          </a:xfrm>
        </p:grpSpPr>
        <p:grpSp>
          <p:nvGrpSpPr>
            <p:cNvPr id="7" name="Group 9">
              <a:extLst>
                <a:ext uri="{FF2B5EF4-FFF2-40B4-BE49-F238E27FC236}">
                  <a16:creationId xmlns:a16="http://schemas.microsoft.com/office/drawing/2014/main" id="{A822A79D-C04D-2A12-D7A7-8EA89005FF0F}"/>
                </a:ext>
              </a:extLst>
            </p:cNvPr>
            <p:cNvGrpSpPr>
              <a:grpSpLocks noChangeAspect="1"/>
            </p:cNvGrpSpPr>
            <p:nvPr/>
          </p:nvGrpSpPr>
          <p:grpSpPr bwMode="auto">
            <a:xfrm>
              <a:off x="0" y="-1589"/>
              <a:ext cx="12191999" cy="767234"/>
              <a:chOff x="-1" y="-1"/>
              <a:chExt cx="7719" cy="568"/>
            </a:xfrm>
          </p:grpSpPr>
          <p:sp>
            <p:nvSpPr>
              <p:cNvPr id="10" name="Freeform 9">
                <a:extLst>
                  <a:ext uri="{FF2B5EF4-FFF2-40B4-BE49-F238E27FC236}">
                    <a16:creationId xmlns:a16="http://schemas.microsoft.com/office/drawing/2014/main" id="{AE5FA100-2223-3EDA-CA67-6F9C90AB1B92}"/>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1" name="AutoShape 8">
                <a:extLst>
                  <a:ext uri="{FF2B5EF4-FFF2-40B4-BE49-F238E27FC236}">
                    <a16:creationId xmlns:a16="http://schemas.microsoft.com/office/drawing/2014/main" id="{9E73C5E5-716D-D295-0B0C-08C6AA50BD25}"/>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8" name="任意多边形: 形状 12">
              <a:extLst>
                <a:ext uri="{FF2B5EF4-FFF2-40B4-BE49-F238E27FC236}">
                  <a16:creationId xmlns:a16="http://schemas.microsoft.com/office/drawing/2014/main" id="{523CB93D-9499-5C60-2BC6-65FA395E1058}"/>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9" name="文本框 18">
              <a:extLst>
                <a:ext uri="{FF2B5EF4-FFF2-40B4-BE49-F238E27FC236}">
                  <a16:creationId xmlns:a16="http://schemas.microsoft.com/office/drawing/2014/main" id="{050853CB-C189-3301-E63F-8672D0820F09}"/>
                </a:ext>
              </a:extLst>
            </p:cNvPr>
            <p:cNvSpPr txBox="1"/>
            <p:nvPr/>
          </p:nvSpPr>
          <p:spPr>
            <a:xfrm>
              <a:off x="350439" y="120418"/>
              <a:ext cx="3057247" cy="523220"/>
            </a:xfrm>
            <a:prstGeom prst="rect">
              <a:avLst/>
            </a:prstGeom>
            <a:noFill/>
          </p:spPr>
          <p:txBody>
            <a:bodyPr wrap="none" rtlCol="0">
              <a:spAutoFit/>
            </a:bodyPr>
            <a:lstStyle/>
            <a:p>
              <a:pPr>
                <a:defRPr/>
              </a:pPr>
              <a:r>
                <a:rPr lang="zh-CN" altLang="en-US" sz="2800" b="1">
                  <a:solidFill>
                    <a:prstClr val="white"/>
                  </a:solidFill>
                  <a:cs typeface="+mn-ea"/>
                  <a:sym typeface="+mn-lt"/>
                </a:rPr>
                <a:t>如何衡量重要性？</a:t>
              </a:r>
            </a:p>
          </p:txBody>
        </p:sp>
      </p:grpSp>
    </p:spTree>
    <p:extLst>
      <p:ext uri="{BB962C8B-B14F-4D97-AF65-F5344CB8AC3E}">
        <p14:creationId xmlns:p14="http://schemas.microsoft.com/office/powerpoint/2010/main" val="25212238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F2585-F563-DCDE-A9EA-3212C920AADD}"/>
            </a:ext>
          </a:extLst>
        </p:cNvPr>
        <p:cNvGrpSpPr/>
        <p:nvPr/>
      </p:nvGrpSpPr>
      <p:grpSpPr>
        <a:xfrm>
          <a:off x="0" y="0"/>
          <a:ext cx="0" cy="0"/>
          <a:chOff x="0" y="0"/>
          <a:chExt cx="0" cy="0"/>
        </a:xfrm>
      </p:grpSpPr>
      <p:sp>
        <p:nvSpPr>
          <p:cNvPr id="97" name="object 97">
            <a:extLst>
              <a:ext uri="{FF2B5EF4-FFF2-40B4-BE49-F238E27FC236}">
                <a16:creationId xmlns:a16="http://schemas.microsoft.com/office/drawing/2014/main" id="{F3E01651-F67E-400D-0668-68228962CD4D}"/>
              </a:ext>
            </a:extLst>
          </p:cNvPr>
          <p:cNvSpPr txBox="1"/>
          <p:nvPr/>
        </p:nvSpPr>
        <p:spPr>
          <a:xfrm>
            <a:off x="774464" y="1578761"/>
            <a:ext cx="9631177" cy="755762"/>
          </a:xfrm>
          <a:prstGeom prst="rect">
            <a:avLst/>
          </a:prstGeom>
        </p:spPr>
        <p:txBody>
          <a:bodyPr vert="horz" wrap="square" lIns="0" tIns="16933" rIns="0" bIns="0" rtlCol="0">
            <a:spAutoFit/>
          </a:bodyPr>
          <a:lstStyle/>
          <a:p>
            <a:pPr marL="33866">
              <a:spcBef>
                <a:spcPts val="133"/>
              </a:spcBef>
            </a:pPr>
            <a:r>
              <a:rPr lang="en-US" sz="2400" b="1" dirty="0" err="1">
                <a:latin typeface="Microsoft YaHei" panose="020B0503020204020204" pitchFamily="34" charset="-122"/>
                <a:ea typeface="Microsoft YaHei" panose="020B0503020204020204" pitchFamily="34" charset="-122"/>
                <a:cs typeface="Calibri" panose="020F0502020204030204" pitchFamily="34" charset="0"/>
              </a:rPr>
              <a:t>输入</a:t>
            </a:r>
            <a:r>
              <a:rPr sz="2400" dirty="0">
                <a:latin typeface="Microsoft YaHei" panose="020B0503020204020204" pitchFamily="34" charset="-122"/>
                <a:ea typeface="Microsoft YaHei" panose="020B0503020204020204" pitchFamily="34" charset="-122"/>
                <a:cs typeface="Calibri" panose="020F0502020204030204" pitchFamily="34" charset="0"/>
              </a:rPr>
              <a:t>:</a:t>
            </a:r>
            <a:r>
              <a:rPr sz="2400" spc="-40" dirty="0">
                <a:latin typeface="Microsoft YaHei" panose="020B0503020204020204" pitchFamily="34" charset="-122"/>
                <a:ea typeface="Microsoft YaHei" panose="020B0503020204020204" pitchFamily="34" charset="-122"/>
                <a:cs typeface="Calibri" panose="020F0502020204030204" pitchFamily="34" charset="0"/>
              </a:rPr>
              <a:t> </a:t>
            </a:r>
            <a:r>
              <a:rPr lang="en-US" sz="2400" dirty="0" err="1">
                <a:latin typeface="Microsoft YaHei" panose="020B0503020204020204" pitchFamily="34" charset="-122"/>
                <a:ea typeface="Microsoft YaHei" panose="020B0503020204020204" pitchFamily="34" charset="-122"/>
                <a:cs typeface="Calibri" panose="020F0502020204030204" pitchFamily="34" charset="0"/>
              </a:rPr>
              <a:t>序列</a:t>
            </a:r>
            <a:r>
              <a:rPr sz="2400" spc="-20" dirty="0">
                <a:latin typeface="Microsoft YaHei" panose="020B0503020204020204" pitchFamily="34" charset="-122"/>
                <a:ea typeface="Microsoft YaHei" panose="020B0503020204020204" pitchFamily="34" charset="-122"/>
                <a:cs typeface="Calibri" panose="020F0502020204030204" pitchFamily="34" charset="0"/>
              </a:rPr>
              <a:t> </a:t>
            </a:r>
            <a:r>
              <a:rPr sz="2400" dirty="0">
                <a:latin typeface="Microsoft YaHei" panose="020B0503020204020204" pitchFamily="34" charset="-122"/>
                <a:ea typeface="Microsoft YaHei" panose="020B0503020204020204" pitchFamily="34" charset="-122"/>
                <a:cs typeface="Calibri" panose="020F0502020204030204" pitchFamily="34" charset="0"/>
              </a:rPr>
              <a:t>x</a:t>
            </a:r>
            <a:r>
              <a:rPr sz="2400" baseline="-32407" dirty="0">
                <a:latin typeface="Microsoft YaHei" panose="020B0503020204020204" pitchFamily="34" charset="-122"/>
                <a:ea typeface="Microsoft YaHei" panose="020B0503020204020204" pitchFamily="34" charset="-122"/>
                <a:cs typeface="Calibri" panose="020F0502020204030204" pitchFamily="34" charset="0"/>
              </a:rPr>
              <a:t>1</a:t>
            </a:r>
            <a:r>
              <a:rPr sz="2400" dirty="0">
                <a:latin typeface="Microsoft YaHei" panose="020B0503020204020204" pitchFamily="34" charset="-122"/>
                <a:ea typeface="Microsoft YaHei" panose="020B0503020204020204" pitchFamily="34" charset="-122"/>
                <a:cs typeface="Calibri" panose="020F0502020204030204" pitchFamily="34" charset="0"/>
              </a:rPr>
              <a:t>,</a:t>
            </a:r>
            <a:r>
              <a:rPr sz="2400" spc="-20" dirty="0">
                <a:latin typeface="Microsoft YaHei" panose="020B0503020204020204" pitchFamily="34" charset="-122"/>
                <a:ea typeface="Microsoft YaHei" panose="020B0503020204020204" pitchFamily="34" charset="-122"/>
                <a:cs typeface="Calibri" panose="020F0502020204030204" pitchFamily="34" charset="0"/>
              </a:rPr>
              <a:t> </a:t>
            </a:r>
            <a:r>
              <a:rPr sz="2400" dirty="0">
                <a:latin typeface="Microsoft YaHei" panose="020B0503020204020204" pitchFamily="34" charset="-122"/>
                <a:ea typeface="Microsoft YaHei" panose="020B0503020204020204" pitchFamily="34" charset="-122"/>
                <a:cs typeface="Calibri" panose="020F0502020204030204" pitchFamily="34" charset="0"/>
              </a:rPr>
              <a:t>…</a:t>
            </a:r>
            <a:r>
              <a:rPr sz="2400" spc="-20" dirty="0">
                <a:latin typeface="Microsoft YaHei" panose="020B0503020204020204" pitchFamily="34" charset="-122"/>
                <a:ea typeface="Microsoft YaHei" panose="020B0503020204020204" pitchFamily="34" charset="-122"/>
                <a:cs typeface="Calibri" panose="020F0502020204030204" pitchFamily="34" charset="0"/>
              </a:rPr>
              <a:t> </a:t>
            </a:r>
            <a:r>
              <a:rPr sz="2400" spc="-33" dirty="0" err="1">
                <a:latin typeface="Microsoft YaHei" panose="020B0503020204020204" pitchFamily="34" charset="-122"/>
                <a:ea typeface="Microsoft YaHei" panose="020B0503020204020204" pitchFamily="34" charset="-122"/>
                <a:cs typeface="Calibri" panose="020F0502020204030204" pitchFamily="34" charset="0"/>
              </a:rPr>
              <a:t>x</a:t>
            </a:r>
            <a:r>
              <a:rPr sz="2400" spc="-49" baseline="-32407" dirty="0" err="1">
                <a:latin typeface="Microsoft YaHei" panose="020B0503020204020204" pitchFamily="34" charset="-122"/>
                <a:ea typeface="Microsoft YaHei" panose="020B0503020204020204" pitchFamily="34" charset="-122"/>
                <a:cs typeface="Calibri" panose="020F0502020204030204" pitchFamily="34" charset="0"/>
              </a:rPr>
              <a:t>T</a:t>
            </a:r>
            <a:r>
              <a:rPr lang="zh-CN" altLang="en-US" sz="2400" spc="-49" baseline="-32407" dirty="0">
                <a:latin typeface="Microsoft YaHei" panose="020B0503020204020204" pitchFamily="34" charset="-122"/>
                <a:ea typeface="Microsoft YaHei" panose="020B0503020204020204" pitchFamily="34" charset="-122"/>
                <a:cs typeface="Calibri" panose="020F0502020204030204" pitchFamily="34" charset="0"/>
              </a:rPr>
              <a:t> </a:t>
            </a:r>
            <a:r>
              <a:rPr lang="zh-CN" altLang="en-US" sz="2400" spc="-49" dirty="0">
                <a:latin typeface="Microsoft YaHei" panose="020B0503020204020204" pitchFamily="34" charset="-122"/>
                <a:ea typeface="Microsoft YaHei" panose="020B0503020204020204" pitchFamily="34" charset="-122"/>
                <a:cs typeface="Calibri" panose="020F0502020204030204" pitchFamily="34" charset="0"/>
              </a:rPr>
              <a:t>（我买了他昨天读的书）</a:t>
            </a:r>
            <a:endParaRPr sz="2400" baseline="-32407" dirty="0">
              <a:latin typeface="Microsoft YaHei" panose="020B0503020204020204" pitchFamily="34" charset="-122"/>
              <a:ea typeface="Microsoft YaHei" panose="020B0503020204020204" pitchFamily="34" charset="-122"/>
              <a:cs typeface="Calibri" panose="020F0502020204030204" pitchFamily="34" charset="0"/>
            </a:endParaRPr>
          </a:p>
          <a:p>
            <a:pPr marL="33866"/>
            <a:r>
              <a:rPr lang="en-US" sz="2400" b="1" dirty="0" err="1">
                <a:latin typeface="Microsoft YaHei" panose="020B0503020204020204" pitchFamily="34" charset="-122"/>
                <a:ea typeface="Microsoft YaHei" panose="020B0503020204020204" pitchFamily="34" charset="-122"/>
                <a:cs typeface="Calibri" panose="020F0502020204030204" pitchFamily="34" charset="0"/>
              </a:rPr>
              <a:t>输出</a:t>
            </a:r>
            <a:r>
              <a:rPr sz="2400" dirty="0">
                <a:latin typeface="Microsoft YaHei" panose="020B0503020204020204" pitchFamily="34" charset="-122"/>
                <a:ea typeface="Microsoft YaHei" panose="020B0503020204020204" pitchFamily="34" charset="-122"/>
                <a:cs typeface="Calibri" panose="020F0502020204030204" pitchFamily="34" charset="0"/>
              </a:rPr>
              <a:t>:</a:t>
            </a:r>
            <a:r>
              <a:rPr sz="2400" spc="-40" dirty="0">
                <a:latin typeface="Microsoft YaHei" panose="020B0503020204020204" pitchFamily="34" charset="-122"/>
                <a:ea typeface="Microsoft YaHei" panose="020B0503020204020204" pitchFamily="34" charset="-122"/>
                <a:cs typeface="Calibri" panose="020F0502020204030204" pitchFamily="34" charset="0"/>
              </a:rPr>
              <a:t> </a:t>
            </a:r>
            <a:r>
              <a:rPr lang="en-US" sz="2400" dirty="0" err="1">
                <a:latin typeface="Microsoft YaHei" panose="020B0503020204020204" pitchFamily="34" charset="-122"/>
                <a:ea typeface="Microsoft YaHei" panose="020B0503020204020204" pitchFamily="34" charset="-122"/>
                <a:cs typeface="Calibri" panose="020F0502020204030204" pitchFamily="34" charset="0"/>
              </a:rPr>
              <a:t>序列</a:t>
            </a:r>
            <a:r>
              <a:rPr sz="2400" spc="-20" dirty="0">
                <a:latin typeface="Microsoft YaHei" panose="020B0503020204020204" pitchFamily="34" charset="-122"/>
                <a:ea typeface="Microsoft YaHei" panose="020B0503020204020204" pitchFamily="34" charset="-122"/>
                <a:cs typeface="Calibri" panose="020F0502020204030204" pitchFamily="34" charset="0"/>
              </a:rPr>
              <a:t> </a:t>
            </a:r>
            <a:r>
              <a:rPr sz="2400" dirty="0">
                <a:latin typeface="Microsoft YaHei" panose="020B0503020204020204" pitchFamily="34" charset="-122"/>
                <a:ea typeface="Microsoft YaHei" panose="020B0503020204020204" pitchFamily="34" charset="-122"/>
                <a:cs typeface="Calibri" panose="020F0502020204030204" pitchFamily="34" charset="0"/>
              </a:rPr>
              <a:t>y</a:t>
            </a:r>
            <a:r>
              <a:rPr sz="2400" baseline="-32407" dirty="0">
                <a:latin typeface="Microsoft YaHei" panose="020B0503020204020204" pitchFamily="34" charset="-122"/>
                <a:ea typeface="Microsoft YaHei" panose="020B0503020204020204" pitchFamily="34" charset="-122"/>
                <a:cs typeface="Calibri" panose="020F0502020204030204" pitchFamily="34" charset="0"/>
              </a:rPr>
              <a:t>1</a:t>
            </a:r>
            <a:r>
              <a:rPr sz="2400" dirty="0">
                <a:latin typeface="Microsoft YaHei" panose="020B0503020204020204" pitchFamily="34" charset="-122"/>
                <a:ea typeface="Microsoft YaHei" panose="020B0503020204020204" pitchFamily="34" charset="-122"/>
                <a:cs typeface="Calibri" panose="020F0502020204030204" pitchFamily="34" charset="0"/>
              </a:rPr>
              <a:t>,</a:t>
            </a:r>
            <a:r>
              <a:rPr sz="2400" spc="-20" dirty="0">
                <a:latin typeface="Microsoft YaHei" panose="020B0503020204020204" pitchFamily="34" charset="-122"/>
                <a:ea typeface="Microsoft YaHei" panose="020B0503020204020204" pitchFamily="34" charset="-122"/>
                <a:cs typeface="Calibri" panose="020F0502020204030204" pitchFamily="34" charset="0"/>
              </a:rPr>
              <a:t> </a:t>
            </a:r>
            <a:r>
              <a:rPr sz="2400" dirty="0">
                <a:latin typeface="Microsoft YaHei" panose="020B0503020204020204" pitchFamily="34" charset="-122"/>
                <a:ea typeface="Microsoft YaHei" panose="020B0503020204020204" pitchFamily="34" charset="-122"/>
                <a:cs typeface="Calibri" panose="020F0502020204030204" pitchFamily="34" charset="0"/>
              </a:rPr>
              <a:t>…,</a:t>
            </a:r>
            <a:r>
              <a:rPr sz="2400" spc="-20" dirty="0">
                <a:latin typeface="Microsoft YaHei" panose="020B0503020204020204" pitchFamily="34" charset="-122"/>
                <a:ea typeface="Microsoft YaHei" panose="020B0503020204020204" pitchFamily="34" charset="-122"/>
                <a:cs typeface="Calibri" panose="020F0502020204030204" pitchFamily="34" charset="0"/>
              </a:rPr>
              <a:t> </a:t>
            </a:r>
            <a:r>
              <a:rPr sz="2400" spc="-33" dirty="0" err="1">
                <a:latin typeface="Microsoft YaHei" panose="020B0503020204020204" pitchFamily="34" charset="-122"/>
                <a:ea typeface="Microsoft YaHei" panose="020B0503020204020204" pitchFamily="34" charset="-122"/>
                <a:cs typeface="Calibri" panose="020F0502020204030204" pitchFamily="34" charset="0"/>
              </a:rPr>
              <a:t>y</a:t>
            </a:r>
            <a:r>
              <a:rPr sz="2400" spc="-49" baseline="-32407" dirty="0" err="1">
                <a:latin typeface="Microsoft YaHei" panose="020B0503020204020204" pitchFamily="34" charset="-122"/>
                <a:ea typeface="Microsoft YaHei" panose="020B0503020204020204" pitchFamily="34" charset="-122"/>
                <a:cs typeface="Calibri" panose="020F0502020204030204" pitchFamily="34" charset="0"/>
              </a:rPr>
              <a:t>T</a:t>
            </a:r>
            <a:r>
              <a:rPr sz="2400" spc="-49" baseline="-32407" dirty="0">
                <a:latin typeface="Microsoft YaHei" panose="020B0503020204020204" pitchFamily="34" charset="-122"/>
                <a:ea typeface="Microsoft YaHei" panose="020B0503020204020204" pitchFamily="34" charset="-122"/>
                <a:cs typeface="Calibri" panose="020F0502020204030204" pitchFamily="34" charset="0"/>
              </a:rPr>
              <a:t>’</a:t>
            </a:r>
            <a:r>
              <a:rPr lang="zh-CN" altLang="en-US" sz="2400" spc="-49" dirty="0">
                <a:latin typeface="Microsoft YaHei" panose="020B0503020204020204" pitchFamily="34" charset="-122"/>
                <a:ea typeface="Microsoft YaHei" panose="020B0503020204020204" pitchFamily="34" charset="-122"/>
                <a:cs typeface="Calibri" panose="020F0502020204030204" pitchFamily="34" charset="0"/>
              </a:rPr>
              <a:t> （</a:t>
            </a:r>
            <a:r>
              <a:rPr lang="en-US" altLang="zh-CN" sz="2400" spc="-49" dirty="0">
                <a:latin typeface="Microsoft YaHei" panose="020B0503020204020204" pitchFamily="34" charset="-122"/>
                <a:ea typeface="Microsoft YaHei" panose="020B0503020204020204" pitchFamily="34" charset="-122"/>
                <a:cs typeface="Calibri" panose="020F0502020204030204" pitchFamily="34" charset="0"/>
              </a:rPr>
              <a:t>I</a:t>
            </a:r>
            <a:r>
              <a:rPr lang="zh-CN" altLang="en-US" sz="2400" spc="-49" dirty="0">
                <a:latin typeface="Microsoft YaHei" panose="020B0503020204020204" pitchFamily="34" charset="-122"/>
                <a:ea typeface="Microsoft YaHei" panose="020B0503020204020204" pitchFamily="34" charset="-122"/>
                <a:cs typeface="Calibri" panose="020F0502020204030204" pitchFamily="34" charset="0"/>
              </a:rPr>
              <a:t> </a:t>
            </a:r>
            <a:r>
              <a:rPr lang="en-US" altLang="zh-CN" sz="2400" spc="-49" dirty="0">
                <a:latin typeface="Microsoft YaHei" panose="020B0503020204020204" pitchFamily="34" charset="-122"/>
                <a:ea typeface="Microsoft YaHei" panose="020B0503020204020204" pitchFamily="34" charset="-122"/>
                <a:cs typeface="Calibri" panose="020F0502020204030204" pitchFamily="34" charset="0"/>
              </a:rPr>
              <a:t>bought</a:t>
            </a:r>
            <a:r>
              <a:rPr lang="zh-CN" altLang="en-US" sz="2400" spc="-49" dirty="0">
                <a:latin typeface="Microsoft YaHei" panose="020B0503020204020204" pitchFamily="34" charset="-122"/>
                <a:ea typeface="Microsoft YaHei" panose="020B0503020204020204" pitchFamily="34" charset="-122"/>
                <a:cs typeface="Calibri" panose="020F0502020204030204" pitchFamily="34" charset="0"/>
              </a:rPr>
              <a:t> </a:t>
            </a:r>
            <a:r>
              <a:rPr lang="en-US" altLang="zh-CN" sz="2400" spc="-49" dirty="0">
                <a:latin typeface="Microsoft YaHei" panose="020B0503020204020204" pitchFamily="34" charset="-122"/>
                <a:ea typeface="Microsoft YaHei" panose="020B0503020204020204" pitchFamily="34" charset="-122"/>
                <a:cs typeface="Calibri" panose="020F0502020204030204" pitchFamily="34" charset="0"/>
              </a:rPr>
              <a:t>the</a:t>
            </a:r>
            <a:r>
              <a:rPr lang="zh-CN" altLang="en-US" sz="2400" spc="-49" dirty="0">
                <a:latin typeface="Microsoft YaHei" panose="020B0503020204020204" pitchFamily="34" charset="-122"/>
                <a:ea typeface="Microsoft YaHei" panose="020B0503020204020204" pitchFamily="34" charset="-122"/>
                <a:cs typeface="Calibri" panose="020F0502020204030204" pitchFamily="34" charset="0"/>
              </a:rPr>
              <a:t> </a:t>
            </a:r>
            <a:r>
              <a:rPr lang="en-US" altLang="zh-CN" sz="2400" spc="-49" dirty="0">
                <a:latin typeface="Microsoft YaHei" panose="020B0503020204020204" pitchFamily="34" charset="-122"/>
                <a:ea typeface="Microsoft YaHei" panose="020B0503020204020204" pitchFamily="34" charset="-122"/>
                <a:cs typeface="Calibri" panose="020F0502020204030204" pitchFamily="34" charset="0"/>
              </a:rPr>
              <a:t>book</a:t>
            </a:r>
            <a:r>
              <a:rPr lang="zh-CN" altLang="en-US" sz="2400" spc="-49" dirty="0">
                <a:latin typeface="Microsoft YaHei" panose="020B0503020204020204" pitchFamily="34" charset="-122"/>
                <a:ea typeface="Microsoft YaHei" panose="020B0503020204020204" pitchFamily="34" charset="-122"/>
                <a:cs typeface="Calibri" panose="020F0502020204030204" pitchFamily="34" charset="0"/>
              </a:rPr>
              <a:t> </a:t>
            </a:r>
            <a:r>
              <a:rPr lang="en-US" altLang="zh-CN" sz="2400" spc="-49" dirty="0">
                <a:latin typeface="Microsoft YaHei" panose="020B0503020204020204" pitchFamily="34" charset="-122"/>
                <a:ea typeface="Microsoft YaHei" panose="020B0503020204020204" pitchFamily="34" charset="-122"/>
                <a:cs typeface="Calibri" panose="020F0502020204030204" pitchFamily="34" charset="0"/>
              </a:rPr>
              <a:t>that</a:t>
            </a:r>
            <a:r>
              <a:rPr lang="zh-CN" altLang="en-US" sz="2400" spc="-49" dirty="0">
                <a:latin typeface="Microsoft YaHei" panose="020B0503020204020204" pitchFamily="34" charset="-122"/>
                <a:ea typeface="Microsoft YaHei" panose="020B0503020204020204" pitchFamily="34" charset="-122"/>
                <a:cs typeface="Calibri" panose="020F0502020204030204" pitchFamily="34" charset="0"/>
              </a:rPr>
              <a:t> </a:t>
            </a:r>
            <a:r>
              <a:rPr lang="en-US" altLang="zh-CN" sz="2400" spc="-49" dirty="0">
                <a:latin typeface="Microsoft YaHei" panose="020B0503020204020204" pitchFamily="34" charset="-122"/>
                <a:ea typeface="Microsoft YaHei" panose="020B0503020204020204" pitchFamily="34" charset="-122"/>
                <a:cs typeface="Calibri" panose="020F0502020204030204" pitchFamily="34" charset="0"/>
              </a:rPr>
              <a:t>he</a:t>
            </a:r>
            <a:r>
              <a:rPr lang="zh-CN" altLang="en-US" sz="2400" spc="-49" dirty="0">
                <a:latin typeface="Microsoft YaHei" panose="020B0503020204020204" pitchFamily="34" charset="-122"/>
                <a:ea typeface="Microsoft YaHei" panose="020B0503020204020204" pitchFamily="34" charset="-122"/>
                <a:cs typeface="Calibri" panose="020F0502020204030204" pitchFamily="34" charset="0"/>
              </a:rPr>
              <a:t> </a:t>
            </a:r>
            <a:r>
              <a:rPr lang="en-US" altLang="zh-CN" sz="2400" spc="-49" dirty="0">
                <a:latin typeface="Microsoft YaHei" panose="020B0503020204020204" pitchFamily="34" charset="-122"/>
                <a:ea typeface="Microsoft YaHei" panose="020B0503020204020204" pitchFamily="34" charset="-122"/>
                <a:cs typeface="Calibri" panose="020F0502020204030204" pitchFamily="34" charset="0"/>
              </a:rPr>
              <a:t>read</a:t>
            </a:r>
            <a:r>
              <a:rPr lang="zh-CN" altLang="en-US" sz="2400" spc="-49" dirty="0">
                <a:latin typeface="Microsoft YaHei" panose="020B0503020204020204" pitchFamily="34" charset="-122"/>
                <a:ea typeface="Microsoft YaHei" panose="020B0503020204020204" pitchFamily="34" charset="-122"/>
                <a:cs typeface="Calibri" panose="020F0502020204030204" pitchFamily="34" charset="0"/>
              </a:rPr>
              <a:t> </a:t>
            </a:r>
            <a:r>
              <a:rPr lang="en-US" altLang="zh-CN" sz="2400" spc="-49" dirty="0">
                <a:latin typeface="Microsoft YaHei" panose="020B0503020204020204" pitchFamily="34" charset="-122"/>
                <a:ea typeface="Microsoft YaHei" panose="020B0503020204020204" pitchFamily="34" charset="-122"/>
                <a:cs typeface="Calibri" panose="020F0502020204030204" pitchFamily="34" charset="0"/>
              </a:rPr>
              <a:t>yesterday</a:t>
            </a:r>
            <a:r>
              <a:rPr lang="zh-CN" altLang="en-US" sz="2400" spc="-49" dirty="0">
                <a:latin typeface="Microsoft YaHei" panose="020B0503020204020204" pitchFamily="34" charset="-122"/>
                <a:ea typeface="Microsoft YaHei" panose="020B0503020204020204" pitchFamily="34" charset="-122"/>
                <a:cs typeface="Calibri" panose="020F0502020204030204" pitchFamily="34" charset="0"/>
              </a:rPr>
              <a:t>）</a:t>
            </a:r>
            <a:endParaRPr sz="2400" baseline="-32407" dirty="0">
              <a:latin typeface="Microsoft YaHei" panose="020B0503020204020204" pitchFamily="34" charset="-122"/>
              <a:ea typeface="Microsoft YaHei" panose="020B0503020204020204" pitchFamily="34" charset="-122"/>
              <a:cs typeface="Calibri" panose="020F0502020204030204" pitchFamily="34" charset="0"/>
            </a:endParaRPr>
          </a:p>
        </p:txBody>
      </p:sp>
      <mc:AlternateContent xmlns:mc="http://schemas.openxmlformats.org/markup-compatibility/2006" xmlns:a14="http://schemas.microsoft.com/office/drawing/2010/main">
        <mc:Choice Requires="a14">
          <p:sp>
            <p:nvSpPr>
              <p:cNvPr id="98" name="object 98">
                <a:extLst>
                  <a:ext uri="{FF2B5EF4-FFF2-40B4-BE49-F238E27FC236}">
                    <a16:creationId xmlns:a16="http://schemas.microsoft.com/office/drawing/2014/main" id="{05E73D2A-0E07-3DAD-1398-AF3D1CE555BC}"/>
                  </a:ext>
                </a:extLst>
              </p:cNvPr>
              <p:cNvSpPr txBox="1"/>
              <p:nvPr/>
            </p:nvSpPr>
            <p:spPr>
              <a:xfrm>
                <a:off x="774464" y="2546169"/>
                <a:ext cx="3566041" cy="386430"/>
              </a:xfrm>
              <a:prstGeom prst="rect">
                <a:avLst/>
              </a:prstGeom>
            </p:spPr>
            <p:txBody>
              <a:bodyPr vert="horz" wrap="square" lIns="0" tIns="16933" rIns="0" bIns="0" rtlCol="0">
                <a:spAutoFit/>
              </a:bodyPr>
              <a:lstStyle/>
              <a:p>
                <a:pPr marL="50799">
                  <a:spcBef>
                    <a:spcPts val="133"/>
                  </a:spcBef>
                </a:pPr>
                <a:r>
                  <a:rPr lang="zh-CN" altLang="en-US" sz="2400" b="1" dirty="0">
                    <a:latin typeface="Microsoft YaHei" panose="020B0503020204020204" pitchFamily="34" charset="-122"/>
                    <a:ea typeface="Microsoft YaHei" panose="020B0503020204020204" pitchFamily="34" charset="-122"/>
                    <a:cs typeface="Calibri" panose="020F0502020204030204" pitchFamily="34" charset="0"/>
                  </a:rPr>
                  <a:t>编码器</a:t>
                </a:r>
                <a:r>
                  <a:rPr lang="en-US" altLang="zh-CN" sz="2400" b="1" dirty="0">
                    <a:latin typeface="Microsoft YaHei" panose="020B0503020204020204" pitchFamily="34" charset="-122"/>
                    <a:ea typeface="Microsoft YaHei" panose="020B0503020204020204" pitchFamily="34" charset="-122"/>
                    <a:cs typeface="Calibri" panose="020F0502020204030204" pitchFamily="34" charset="0"/>
                  </a:rPr>
                  <a:t>: </a:t>
                </a:r>
                <a14:m>
                  <m:oMath xmlns:m="http://schemas.openxmlformats.org/officeDocument/2006/math">
                    <m:sSub>
                      <m:sSubPr>
                        <m:ctrlPr>
                          <a:rPr lang="en-US" altLang="zh-CN" sz="2400" b="0" i="1" dirty="0" smtClean="0">
                            <a:latin typeface="Cambria Math" panose="02040503050406030204" pitchFamily="18" charset="0"/>
                            <a:ea typeface="Microsoft YaHei" panose="020B0503020204020204" pitchFamily="34" charset="-122"/>
                            <a:cs typeface="Calibri" panose="020F0502020204030204" pitchFamily="34" charset="0"/>
                          </a:rPr>
                        </m:ctrlPr>
                      </m:sSubPr>
                      <m:e>
                        <m:r>
                          <a:rPr lang="en-US" altLang="zh-CN" sz="2400" i="1" dirty="0" smtClean="0">
                            <a:latin typeface="Cambria Math" panose="02040503050406030204" pitchFamily="18" charset="0"/>
                            <a:ea typeface="Microsoft YaHei" panose="020B0503020204020204" pitchFamily="34" charset="-122"/>
                            <a:cs typeface="Calibri" panose="020F0502020204030204" pitchFamily="34" charset="0"/>
                          </a:rPr>
                          <m:t>h</m:t>
                        </m:r>
                      </m:e>
                      <m:sub>
                        <m:r>
                          <a:rPr lang="en-US" altLang="zh-CN" sz="2400" b="0" i="1" dirty="0" smtClean="0">
                            <a:latin typeface="Cambria Math" panose="02040503050406030204" pitchFamily="18" charset="0"/>
                            <a:ea typeface="Microsoft YaHei" panose="020B0503020204020204" pitchFamily="34" charset="-122"/>
                            <a:cs typeface="Calibri" panose="020F0502020204030204" pitchFamily="34" charset="0"/>
                          </a:rPr>
                          <m:t>𝑡</m:t>
                        </m:r>
                      </m:sub>
                    </m:sSub>
                  </m:oMath>
                </a14:m>
                <a:r>
                  <a:rPr lang="zh-CN" altLang="en-US" sz="2400" spc="320" baseline="-32407" dirty="0">
                    <a:latin typeface="Microsoft YaHei" panose="020B0503020204020204" pitchFamily="34" charset="-122"/>
                    <a:ea typeface="Microsoft YaHei" panose="020B0503020204020204" pitchFamily="34" charset="-122"/>
                    <a:cs typeface="Calibri" panose="020F0502020204030204" pitchFamily="34" charset="0"/>
                  </a:rPr>
                  <a:t> </a:t>
                </a:r>
                <a:r>
                  <a:rPr lang="en-US" altLang="zh-CN" sz="2400" dirty="0">
                    <a:latin typeface="Microsoft YaHei" panose="020B0503020204020204" pitchFamily="34" charset="-122"/>
                    <a:ea typeface="Microsoft YaHei" panose="020B0503020204020204" pitchFamily="34" charset="-122"/>
                    <a:cs typeface="Calibri" panose="020F0502020204030204" pitchFamily="34" charset="0"/>
                  </a:rPr>
                  <a:t>=</a:t>
                </a:r>
                <a:r>
                  <a:rPr lang="zh-CN" altLang="en-US" sz="2400" spc="-13" dirty="0">
                    <a:latin typeface="Microsoft YaHei" panose="020B0503020204020204" pitchFamily="34" charset="-122"/>
                    <a:ea typeface="Microsoft YaHei" panose="020B0503020204020204" pitchFamily="34" charset="-122"/>
                    <a:cs typeface="Calibri" panose="020F0502020204030204" pitchFamily="34" charset="0"/>
                  </a:rPr>
                  <a:t> </a:t>
                </a:r>
                <a14:m>
                  <m:oMath xmlns:m="http://schemas.openxmlformats.org/officeDocument/2006/math">
                    <m:r>
                      <a:rPr lang="zh-CN" altLang="en-US" sz="2400" i="1" dirty="0" smtClean="0">
                        <a:latin typeface="Cambria Math" panose="02040503050406030204" pitchFamily="18" charset="0"/>
                        <a:ea typeface="Microsoft YaHei" panose="020B0503020204020204" pitchFamily="34" charset="-122"/>
                        <a:cs typeface="Calibri" panose="020F0502020204030204" pitchFamily="34" charset="0"/>
                      </a:rPr>
                      <m:t>𝑓</m:t>
                    </m:r>
                    <m:r>
                      <a:rPr lang="zh-CN" altLang="en-US" sz="2400" i="1" baseline="-32407" dirty="0" err="1">
                        <a:latin typeface="Cambria Math" panose="02040503050406030204" pitchFamily="18" charset="0"/>
                        <a:ea typeface="Microsoft YaHei" panose="020B0503020204020204" pitchFamily="34" charset="-122"/>
                        <a:cs typeface="Calibri" panose="020F0502020204030204" pitchFamily="34" charset="0"/>
                      </a:rPr>
                      <m:t>𝑊</m:t>
                    </m:r>
                    <m:r>
                      <a:rPr lang="en-US" altLang="zh-CN" sz="2400" i="1" dirty="0">
                        <a:latin typeface="Cambria Math" panose="02040503050406030204" pitchFamily="18" charset="0"/>
                        <a:ea typeface="Microsoft YaHei" panose="020B0503020204020204" pitchFamily="34" charset="-122"/>
                        <a:cs typeface="Calibri" panose="020F0502020204030204" pitchFamily="34" charset="0"/>
                      </a:rPr>
                      <m:t>(</m:t>
                    </m:r>
                    <m:sSub>
                      <m:sSubPr>
                        <m:ctrlPr>
                          <a:rPr lang="en-US" altLang="zh-CN" sz="2400" b="0" i="1" dirty="0" smtClean="0">
                            <a:latin typeface="Cambria Math" panose="02040503050406030204" pitchFamily="18" charset="0"/>
                            <a:ea typeface="Microsoft YaHei" panose="020B0503020204020204" pitchFamily="34" charset="-122"/>
                            <a:cs typeface="Calibri" panose="020F0502020204030204" pitchFamily="34" charset="0"/>
                          </a:rPr>
                        </m:ctrlPr>
                      </m:sSubPr>
                      <m:e>
                        <m:r>
                          <a:rPr lang="zh-CN" altLang="en-US" sz="2400" i="1" dirty="0" err="1">
                            <a:latin typeface="Cambria Math" panose="02040503050406030204" pitchFamily="18" charset="0"/>
                            <a:ea typeface="Microsoft YaHei" panose="020B0503020204020204" pitchFamily="34" charset="-122"/>
                            <a:cs typeface="Calibri" panose="020F0502020204030204" pitchFamily="34" charset="0"/>
                          </a:rPr>
                          <m:t>𝑥</m:t>
                        </m:r>
                      </m:e>
                      <m:sub>
                        <m:r>
                          <a:rPr lang="en-US" altLang="zh-CN" sz="2400" b="0" i="1" dirty="0" smtClean="0">
                            <a:latin typeface="Cambria Math" panose="02040503050406030204" pitchFamily="18" charset="0"/>
                            <a:ea typeface="Microsoft YaHei" panose="020B0503020204020204" pitchFamily="34" charset="-122"/>
                            <a:cs typeface="Calibri" panose="020F0502020204030204" pitchFamily="34" charset="0"/>
                          </a:rPr>
                          <m:t>𝑡</m:t>
                        </m:r>
                      </m:sub>
                    </m:sSub>
                    <m:r>
                      <a:rPr lang="en-US" altLang="zh-CN" sz="2400" i="1" dirty="0">
                        <a:latin typeface="Cambria Math" panose="02040503050406030204" pitchFamily="18" charset="0"/>
                        <a:ea typeface="Microsoft YaHei" panose="020B0503020204020204" pitchFamily="34" charset="-122"/>
                        <a:cs typeface="Calibri" panose="020F0502020204030204" pitchFamily="34" charset="0"/>
                      </a:rPr>
                      <m:t>,</m:t>
                    </m:r>
                    <m:r>
                      <a:rPr lang="zh-CN" altLang="en-US" sz="2400" i="1" spc="-7" dirty="0">
                        <a:latin typeface="Cambria Math" panose="02040503050406030204" pitchFamily="18" charset="0"/>
                        <a:ea typeface="Microsoft YaHei" panose="020B0503020204020204" pitchFamily="34" charset="-122"/>
                        <a:cs typeface="Calibri" panose="020F0502020204030204" pitchFamily="34" charset="0"/>
                      </a:rPr>
                      <m:t> </m:t>
                    </m:r>
                    <m:sSub>
                      <m:sSubPr>
                        <m:ctrlPr>
                          <a:rPr lang="en-US" altLang="zh-CN" sz="2400" b="0" i="1" spc="-13" dirty="0" smtClean="0">
                            <a:latin typeface="Cambria Math" panose="02040503050406030204" pitchFamily="18" charset="0"/>
                            <a:ea typeface="Microsoft YaHei" panose="020B0503020204020204" pitchFamily="34" charset="-122"/>
                            <a:cs typeface="Calibri" panose="020F0502020204030204" pitchFamily="34" charset="0"/>
                          </a:rPr>
                        </m:ctrlPr>
                      </m:sSubPr>
                      <m:e>
                        <m:r>
                          <a:rPr lang="en-US" altLang="zh-CN" sz="2400" i="1" spc="-13" dirty="0">
                            <a:latin typeface="Cambria Math" panose="02040503050406030204" pitchFamily="18" charset="0"/>
                            <a:ea typeface="Microsoft YaHei" panose="020B0503020204020204" pitchFamily="34" charset="-122"/>
                            <a:cs typeface="Calibri" panose="020F0502020204030204" pitchFamily="34" charset="0"/>
                          </a:rPr>
                          <m:t>h</m:t>
                        </m:r>
                      </m:e>
                      <m:sub>
                        <m:r>
                          <a:rPr lang="en-US" altLang="zh-CN" sz="2400" b="0" i="1" spc="-13" dirty="0" smtClean="0">
                            <a:latin typeface="Cambria Math" panose="02040503050406030204" pitchFamily="18" charset="0"/>
                            <a:ea typeface="Microsoft YaHei" panose="020B0503020204020204" pitchFamily="34" charset="-122"/>
                            <a:cs typeface="Calibri" panose="020F0502020204030204" pitchFamily="34" charset="0"/>
                          </a:rPr>
                          <m:t>𝑡</m:t>
                        </m:r>
                        <m:r>
                          <a:rPr lang="en-US" altLang="zh-CN" sz="2400" b="0" i="1" spc="-13" dirty="0" smtClean="0">
                            <a:latin typeface="Cambria Math" panose="02040503050406030204" pitchFamily="18" charset="0"/>
                            <a:ea typeface="Microsoft YaHei" panose="020B0503020204020204" pitchFamily="34" charset="-122"/>
                            <a:cs typeface="Calibri" panose="020F0502020204030204" pitchFamily="34" charset="0"/>
                          </a:rPr>
                          <m:t>−1</m:t>
                        </m:r>
                      </m:sub>
                    </m:sSub>
                    <m:r>
                      <a:rPr lang="en-US" altLang="zh-CN" sz="2400" i="1" spc="-33" dirty="0">
                        <a:latin typeface="Cambria Math" panose="02040503050406030204" pitchFamily="18" charset="0"/>
                        <a:ea typeface="Microsoft YaHei" panose="020B0503020204020204" pitchFamily="34" charset="-122"/>
                        <a:cs typeface="Calibri" panose="020F0502020204030204" pitchFamily="34" charset="0"/>
                      </a:rPr>
                      <m:t>)</m:t>
                    </m:r>
                  </m:oMath>
                </a14:m>
                <a:endParaRPr sz="2400" dirty="0">
                  <a:latin typeface="Microsoft YaHei" panose="020B0503020204020204" pitchFamily="34" charset="-122"/>
                  <a:ea typeface="Microsoft YaHei" panose="020B0503020204020204" pitchFamily="34" charset="-122"/>
                  <a:cs typeface="Calibri" panose="020F0502020204030204" pitchFamily="34" charset="0"/>
                </a:endParaRPr>
              </a:p>
            </p:txBody>
          </p:sp>
        </mc:Choice>
        <mc:Fallback xmlns="">
          <p:sp>
            <p:nvSpPr>
              <p:cNvPr id="98" name="object 98">
                <a:extLst>
                  <a:ext uri="{FF2B5EF4-FFF2-40B4-BE49-F238E27FC236}">
                    <a16:creationId xmlns:a16="http://schemas.microsoft.com/office/drawing/2014/main" id="{05E73D2A-0E07-3DAD-1398-AF3D1CE555BC}"/>
                  </a:ext>
                </a:extLst>
              </p:cNvPr>
              <p:cNvSpPr txBox="1">
                <a:spLocks noRot="1" noChangeAspect="1" noMove="1" noResize="1" noEditPoints="1" noAdjustHandles="1" noChangeArrowheads="1" noChangeShapeType="1" noTextEdit="1"/>
              </p:cNvSpPr>
              <p:nvPr/>
            </p:nvSpPr>
            <p:spPr>
              <a:xfrm>
                <a:off x="774464" y="2546169"/>
                <a:ext cx="3566041" cy="386430"/>
              </a:xfrm>
              <a:prstGeom prst="rect">
                <a:avLst/>
              </a:prstGeom>
              <a:blipFill>
                <a:blip r:embed="rId3"/>
                <a:stretch>
                  <a:fillRect l="-3546" t="-19355" b="-48387"/>
                </a:stretch>
              </a:blipFill>
            </p:spPr>
            <p:txBody>
              <a:bodyPr/>
              <a:lstStyle/>
              <a:p>
                <a:r>
                  <a:rPr lang="en-US">
                    <a:noFill/>
                  </a:rPr>
                  <a:t> </a:t>
                </a:r>
              </a:p>
            </p:txBody>
          </p:sp>
        </mc:Fallback>
      </mc:AlternateContent>
      <p:sp>
        <p:nvSpPr>
          <p:cNvPr id="112" name="TextBox 111">
            <a:extLst>
              <a:ext uri="{FF2B5EF4-FFF2-40B4-BE49-F238E27FC236}">
                <a16:creationId xmlns:a16="http://schemas.microsoft.com/office/drawing/2014/main" id="{874572F2-684F-263D-5189-5E2095B7C529}"/>
              </a:ext>
            </a:extLst>
          </p:cNvPr>
          <p:cNvSpPr txBox="1"/>
          <p:nvPr/>
        </p:nvSpPr>
        <p:spPr>
          <a:xfrm>
            <a:off x="0" y="6525453"/>
            <a:ext cx="6760845" cy="276999"/>
          </a:xfrm>
          <a:prstGeom prst="rect">
            <a:avLst/>
          </a:prstGeom>
          <a:noFill/>
        </p:spPr>
        <p:txBody>
          <a:bodyPr wrap="square">
            <a:spAutoFit/>
          </a:bodyPr>
          <a:lstStyle/>
          <a:p>
            <a:pPr marL="16933">
              <a:spcBef>
                <a:spcPts val="33"/>
              </a:spcBef>
            </a:pPr>
            <a:r>
              <a:rPr lang="en-US" sz="1200" dirty="0" err="1">
                <a:latin typeface="Arial"/>
                <a:cs typeface="Arial"/>
              </a:rPr>
              <a:t>Bahdanau</a:t>
            </a:r>
            <a:r>
              <a:rPr lang="en-US" sz="1200" spc="-27" dirty="0">
                <a:latin typeface="Arial"/>
                <a:cs typeface="Arial"/>
              </a:rPr>
              <a:t> </a:t>
            </a:r>
            <a:r>
              <a:rPr lang="en-US" sz="1200" dirty="0">
                <a:latin typeface="Arial"/>
                <a:cs typeface="Arial"/>
              </a:rPr>
              <a:t>et</a:t>
            </a:r>
            <a:r>
              <a:rPr lang="en-US" sz="1200" spc="-13" dirty="0">
                <a:latin typeface="Arial"/>
                <a:cs typeface="Arial"/>
              </a:rPr>
              <a:t> </a:t>
            </a:r>
            <a:r>
              <a:rPr lang="en-US" sz="1200" dirty="0">
                <a:latin typeface="Arial"/>
                <a:cs typeface="Arial"/>
              </a:rPr>
              <a:t>al,</a:t>
            </a:r>
            <a:r>
              <a:rPr lang="en-US" sz="1200" spc="-13" dirty="0">
                <a:latin typeface="Arial"/>
                <a:cs typeface="Arial"/>
              </a:rPr>
              <a:t> </a:t>
            </a:r>
            <a:r>
              <a:rPr lang="en-US" sz="1200" dirty="0">
                <a:latin typeface="Arial"/>
                <a:cs typeface="Arial"/>
              </a:rPr>
              <a:t>“Neural</a:t>
            </a:r>
            <a:r>
              <a:rPr lang="en-US" sz="1200" spc="-7" dirty="0">
                <a:latin typeface="Arial"/>
                <a:cs typeface="Arial"/>
              </a:rPr>
              <a:t> </a:t>
            </a:r>
            <a:r>
              <a:rPr lang="en-US" sz="1200" dirty="0">
                <a:latin typeface="Arial"/>
                <a:cs typeface="Arial"/>
              </a:rPr>
              <a:t>machine</a:t>
            </a:r>
            <a:r>
              <a:rPr lang="en-US" sz="1200" spc="-13" dirty="0">
                <a:latin typeface="Arial"/>
                <a:cs typeface="Arial"/>
              </a:rPr>
              <a:t> translation </a:t>
            </a:r>
            <a:r>
              <a:rPr lang="en-US" sz="1200" dirty="0">
                <a:latin typeface="Arial"/>
                <a:cs typeface="Arial"/>
              </a:rPr>
              <a:t>by</a:t>
            </a:r>
            <a:r>
              <a:rPr lang="en-US" sz="1200" spc="-7" dirty="0">
                <a:latin typeface="Arial"/>
                <a:cs typeface="Arial"/>
              </a:rPr>
              <a:t> </a:t>
            </a:r>
            <a:r>
              <a:rPr lang="en-US" sz="1200" dirty="0">
                <a:latin typeface="Arial"/>
                <a:cs typeface="Arial"/>
              </a:rPr>
              <a:t>jointly</a:t>
            </a:r>
            <a:r>
              <a:rPr lang="en-US" sz="1200" spc="-13" dirty="0">
                <a:latin typeface="Arial"/>
                <a:cs typeface="Arial"/>
              </a:rPr>
              <a:t> </a:t>
            </a:r>
            <a:r>
              <a:rPr lang="en-US" sz="1200" dirty="0">
                <a:latin typeface="Arial"/>
                <a:cs typeface="Arial"/>
              </a:rPr>
              <a:t>learning</a:t>
            </a:r>
            <a:r>
              <a:rPr lang="en-US" sz="1200" spc="-13" dirty="0">
                <a:latin typeface="Arial"/>
                <a:cs typeface="Arial"/>
              </a:rPr>
              <a:t> </a:t>
            </a:r>
            <a:r>
              <a:rPr lang="en-US" sz="1200" dirty="0">
                <a:latin typeface="Arial"/>
                <a:cs typeface="Arial"/>
              </a:rPr>
              <a:t>to</a:t>
            </a:r>
            <a:r>
              <a:rPr lang="en-US" sz="1200" spc="-13" dirty="0">
                <a:latin typeface="Arial"/>
                <a:cs typeface="Arial"/>
              </a:rPr>
              <a:t> </a:t>
            </a:r>
            <a:r>
              <a:rPr lang="en-US" sz="1200" dirty="0">
                <a:latin typeface="Arial"/>
                <a:cs typeface="Arial"/>
              </a:rPr>
              <a:t>align</a:t>
            </a:r>
            <a:r>
              <a:rPr lang="en-US" sz="1200" spc="-7" dirty="0">
                <a:latin typeface="Arial"/>
                <a:cs typeface="Arial"/>
              </a:rPr>
              <a:t> </a:t>
            </a:r>
            <a:r>
              <a:rPr lang="en-US" sz="1200" dirty="0">
                <a:latin typeface="Arial"/>
                <a:cs typeface="Arial"/>
              </a:rPr>
              <a:t>and</a:t>
            </a:r>
            <a:r>
              <a:rPr lang="en-US" sz="1200" spc="-13" dirty="0">
                <a:latin typeface="Arial"/>
                <a:cs typeface="Arial"/>
              </a:rPr>
              <a:t> translate”, </a:t>
            </a:r>
            <a:r>
              <a:rPr lang="en-US" sz="1200" dirty="0">
                <a:latin typeface="Arial"/>
                <a:cs typeface="Arial"/>
              </a:rPr>
              <a:t>ICLR</a:t>
            </a:r>
            <a:r>
              <a:rPr lang="en-US" sz="1200" spc="-7" dirty="0">
                <a:latin typeface="Arial"/>
                <a:cs typeface="Arial"/>
              </a:rPr>
              <a:t> </a:t>
            </a:r>
            <a:r>
              <a:rPr lang="en-US" sz="1200" spc="-27" dirty="0">
                <a:latin typeface="Arial"/>
                <a:cs typeface="Arial"/>
              </a:rPr>
              <a:t>2015</a:t>
            </a:r>
            <a:endParaRPr lang="en-US" sz="1200" dirty="0">
              <a:latin typeface="Arial"/>
              <a:cs typeface="Arial"/>
            </a:endParaRPr>
          </a:p>
        </p:txBody>
      </p:sp>
      <p:sp>
        <p:nvSpPr>
          <p:cNvPr id="67" name="object 37">
            <a:extLst>
              <a:ext uri="{FF2B5EF4-FFF2-40B4-BE49-F238E27FC236}">
                <a16:creationId xmlns:a16="http://schemas.microsoft.com/office/drawing/2014/main" id="{E730D556-1151-4A24-4F7D-ABA177085CD5}"/>
              </a:ext>
            </a:extLst>
          </p:cNvPr>
          <p:cNvSpPr txBox="1"/>
          <p:nvPr/>
        </p:nvSpPr>
        <p:spPr>
          <a:xfrm>
            <a:off x="4477309" y="3158831"/>
            <a:ext cx="2779607" cy="632651"/>
          </a:xfrm>
          <a:prstGeom prst="rect">
            <a:avLst/>
          </a:prstGeom>
        </p:spPr>
        <p:txBody>
          <a:bodyPr vert="horz" wrap="square" lIns="0" tIns="16933" rIns="0" bIns="0" rtlCol="0">
            <a:spAutoFit/>
          </a:bodyPr>
          <a:lstStyle/>
          <a:p>
            <a:pPr marL="50799">
              <a:spcBef>
                <a:spcPts val="133"/>
              </a:spcBef>
            </a:pPr>
            <a:r>
              <a:rPr lang="en-US" sz="2000" err="1">
                <a:latin typeface="Microsoft YaHei" panose="020B0503020204020204" pitchFamily="34" charset="-122"/>
                <a:ea typeface="Microsoft YaHei" panose="020B0503020204020204" pitchFamily="34" charset="-122"/>
                <a:cs typeface="Calibri" panose="020F0502020204030204" pitchFamily="34" charset="0"/>
              </a:rPr>
              <a:t>来自最后一个隐向量</a:t>
            </a:r>
            <a:r>
              <a:rPr sz="2000" spc="-13">
                <a:latin typeface="Microsoft YaHei" panose="020B0503020204020204" pitchFamily="34" charset="-122"/>
                <a:ea typeface="Microsoft YaHei" panose="020B0503020204020204" pitchFamily="34" charset="-122"/>
                <a:cs typeface="Calibri" panose="020F0502020204030204" pitchFamily="34" charset="0"/>
              </a:rPr>
              <a:t>:</a:t>
            </a:r>
            <a:endParaRPr sz="2000">
              <a:latin typeface="Microsoft YaHei" panose="020B0503020204020204" pitchFamily="34" charset="-122"/>
              <a:ea typeface="Microsoft YaHei" panose="020B0503020204020204" pitchFamily="34" charset="-122"/>
              <a:cs typeface="Calibri" panose="020F0502020204030204" pitchFamily="34" charset="0"/>
            </a:endParaRPr>
          </a:p>
          <a:p>
            <a:pPr marL="50799"/>
            <a:r>
              <a:rPr lang="en-US" sz="2000" b="1">
                <a:latin typeface="Microsoft YaHei" panose="020B0503020204020204" pitchFamily="34" charset="-122"/>
                <a:ea typeface="Microsoft YaHei" panose="020B0503020204020204" pitchFamily="34" charset="-122"/>
                <a:cs typeface="Calibri" panose="020F0502020204030204" pitchFamily="34" charset="0"/>
              </a:rPr>
              <a:t>解码器初始隐向量</a:t>
            </a:r>
            <a:r>
              <a:rPr sz="2000" spc="-33">
                <a:latin typeface="Microsoft YaHei" panose="020B0503020204020204" pitchFamily="34" charset="-122"/>
                <a:ea typeface="Microsoft YaHei" panose="020B0503020204020204" pitchFamily="34" charset="-122"/>
                <a:cs typeface="Calibri" panose="020F0502020204030204" pitchFamily="34" charset="0"/>
              </a:rPr>
              <a:t>s</a:t>
            </a:r>
            <a:r>
              <a:rPr sz="2000" spc="-49" baseline="-30555">
                <a:latin typeface="Microsoft YaHei" panose="020B0503020204020204" pitchFamily="34" charset="-122"/>
                <a:ea typeface="Microsoft YaHei" panose="020B0503020204020204" pitchFamily="34" charset="-122"/>
                <a:cs typeface="Calibri" panose="020F0502020204030204" pitchFamily="34" charset="0"/>
              </a:rPr>
              <a:t>0</a:t>
            </a:r>
            <a:endParaRPr sz="2000" baseline="-30555">
              <a:latin typeface="Microsoft YaHei" panose="020B0503020204020204" pitchFamily="34" charset="-122"/>
              <a:ea typeface="Microsoft YaHei" panose="020B0503020204020204" pitchFamily="34" charset="-122"/>
              <a:cs typeface="Calibri" panose="020F0502020204030204" pitchFamily="34" charset="0"/>
            </a:endParaRPr>
          </a:p>
        </p:txBody>
      </p:sp>
      <p:grpSp>
        <p:nvGrpSpPr>
          <p:cNvPr id="4" name="Group 3">
            <a:extLst>
              <a:ext uri="{FF2B5EF4-FFF2-40B4-BE49-F238E27FC236}">
                <a16:creationId xmlns:a16="http://schemas.microsoft.com/office/drawing/2014/main" id="{25F2DF5C-690D-BBE3-B3B7-13EFE4D2B263}"/>
              </a:ext>
            </a:extLst>
          </p:cNvPr>
          <p:cNvGrpSpPr/>
          <p:nvPr/>
        </p:nvGrpSpPr>
        <p:grpSpPr>
          <a:xfrm>
            <a:off x="0" y="-1589"/>
            <a:ext cx="12191999" cy="768585"/>
            <a:chOff x="0" y="-1589"/>
            <a:chExt cx="12191999" cy="768585"/>
          </a:xfrm>
        </p:grpSpPr>
        <p:grpSp>
          <p:nvGrpSpPr>
            <p:cNvPr id="5" name="Group 9">
              <a:extLst>
                <a:ext uri="{FF2B5EF4-FFF2-40B4-BE49-F238E27FC236}">
                  <a16:creationId xmlns:a16="http://schemas.microsoft.com/office/drawing/2014/main" id="{306BD564-6545-5EC3-35DA-02A05DFD9CCF}"/>
                </a:ext>
              </a:extLst>
            </p:cNvPr>
            <p:cNvGrpSpPr>
              <a:grpSpLocks noChangeAspect="1"/>
            </p:cNvGrpSpPr>
            <p:nvPr/>
          </p:nvGrpSpPr>
          <p:grpSpPr bwMode="auto">
            <a:xfrm>
              <a:off x="0" y="-1589"/>
              <a:ext cx="12191999" cy="767234"/>
              <a:chOff x="-1" y="-1"/>
              <a:chExt cx="7719" cy="568"/>
            </a:xfrm>
          </p:grpSpPr>
          <p:sp>
            <p:nvSpPr>
              <p:cNvPr id="18" name="Freeform 17">
                <a:extLst>
                  <a:ext uri="{FF2B5EF4-FFF2-40B4-BE49-F238E27FC236}">
                    <a16:creationId xmlns:a16="http://schemas.microsoft.com/office/drawing/2014/main" id="{D9AAE833-EB6A-2106-A06D-A328229F91F1}"/>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9" name="AutoShape 8">
                <a:extLst>
                  <a:ext uri="{FF2B5EF4-FFF2-40B4-BE49-F238E27FC236}">
                    <a16:creationId xmlns:a16="http://schemas.microsoft.com/office/drawing/2014/main" id="{D099F041-286E-B7E6-AC15-3891D359E4D7}"/>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6" name="任意多边形: 形状 12">
              <a:extLst>
                <a:ext uri="{FF2B5EF4-FFF2-40B4-BE49-F238E27FC236}">
                  <a16:creationId xmlns:a16="http://schemas.microsoft.com/office/drawing/2014/main" id="{FED28064-1F7C-AF99-5851-F99AC76D1F0A}"/>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7" name="文本框 18">
              <a:extLst>
                <a:ext uri="{FF2B5EF4-FFF2-40B4-BE49-F238E27FC236}">
                  <a16:creationId xmlns:a16="http://schemas.microsoft.com/office/drawing/2014/main" id="{5C305CA6-ED20-FEEC-8EB0-F9CA9CD8B75E}"/>
                </a:ext>
              </a:extLst>
            </p:cNvPr>
            <p:cNvSpPr txBox="1"/>
            <p:nvPr/>
          </p:nvSpPr>
          <p:spPr>
            <a:xfrm>
              <a:off x="350439" y="120418"/>
              <a:ext cx="3477234" cy="523220"/>
            </a:xfrm>
            <a:prstGeom prst="rect">
              <a:avLst/>
            </a:prstGeom>
            <a:noFill/>
          </p:spPr>
          <p:txBody>
            <a:bodyPr wrap="none" rtlCol="0">
              <a:spAutoFit/>
            </a:bodyPr>
            <a:lstStyle/>
            <a:p>
              <a:pPr>
                <a:defRPr/>
              </a:pPr>
              <a:r>
                <a:rPr lang="zh-CN" altLang="en-US" sz="2800" b="1">
                  <a:solidFill>
                    <a:prstClr val="white"/>
                  </a:solidFill>
                  <a:cs typeface="+mn-ea"/>
                  <a:sym typeface="+mn-lt"/>
                </a:rPr>
                <a:t>在</a:t>
              </a:r>
              <a:r>
                <a:rPr lang="en-US" altLang="zh-CN" sz="2800" b="1">
                  <a:solidFill>
                    <a:prstClr val="white"/>
                  </a:solidFill>
                  <a:cs typeface="+mn-ea"/>
                  <a:sym typeface="+mn-lt"/>
                </a:rPr>
                <a:t>RNN</a:t>
              </a:r>
              <a:r>
                <a:rPr lang="zh-CN" altLang="en-US" sz="2800" b="1">
                  <a:solidFill>
                    <a:prstClr val="white"/>
                  </a:solidFill>
                  <a:cs typeface="+mn-ea"/>
                  <a:sym typeface="+mn-lt"/>
                </a:rPr>
                <a:t>中使用注意力</a:t>
              </a:r>
            </a:p>
          </p:txBody>
        </p:sp>
      </p:grpSp>
      <p:sp>
        <p:nvSpPr>
          <p:cNvPr id="8" name="object 8">
            <a:extLst>
              <a:ext uri="{FF2B5EF4-FFF2-40B4-BE49-F238E27FC236}">
                <a16:creationId xmlns:a16="http://schemas.microsoft.com/office/drawing/2014/main" id="{0E39B657-6C63-04D8-28C5-5F206C069DD1}"/>
              </a:ext>
            </a:extLst>
          </p:cNvPr>
          <p:cNvSpPr txBox="1"/>
          <p:nvPr/>
        </p:nvSpPr>
        <p:spPr>
          <a:xfrm>
            <a:off x="692227" y="5627077"/>
            <a:ext cx="323772" cy="294097"/>
          </a:xfrm>
          <a:prstGeom prst="rect">
            <a:avLst/>
          </a:prstGeom>
        </p:spPr>
        <p:txBody>
          <a:bodyPr vert="horz" wrap="square" lIns="0" tIns="16933" rIns="0" bIns="0" rtlCol="0" anchor="t">
            <a:spAutoFit/>
          </a:bodyPr>
          <a:lstStyle/>
          <a:p>
            <a:pPr marL="16510">
              <a:spcBef>
                <a:spcPts val="133"/>
              </a:spcBef>
            </a:pPr>
            <a:r>
              <a:rPr lang="zh-CN" spc="-33">
                <a:latin typeface="Microsoft YaHei" panose="020B0503020204020204" pitchFamily="34" charset="-122"/>
                <a:ea typeface="Microsoft YaHei" panose="020B0503020204020204" pitchFamily="34" charset="-122"/>
                <a:cs typeface="Calibri"/>
              </a:rPr>
              <a:t>我</a:t>
            </a:r>
            <a:endParaRPr lang="zh-CN" altLang="en-US">
              <a:latin typeface="Microsoft YaHei" panose="020B0503020204020204" pitchFamily="34" charset="-122"/>
              <a:ea typeface="Microsoft YaHei" panose="020B0503020204020204" pitchFamily="34" charset="-122"/>
              <a:cs typeface="Calibri" panose="020F0502020204030204" pitchFamily="34" charset="0"/>
            </a:endParaRPr>
          </a:p>
        </p:txBody>
      </p:sp>
      <p:sp>
        <p:nvSpPr>
          <p:cNvPr id="9" name="object 9">
            <a:extLst>
              <a:ext uri="{FF2B5EF4-FFF2-40B4-BE49-F238E27FC236}">
                <a16:creationId xmlns:a16="http://schemas.microsoft.com/office/drawing/2014/main" id="{5E622630-0AC1-9CC0-20BE-A31216D168DF}"/>
              </a:ext>
            </a:extLst>
          </p:cNvPr>
          <p:cNvSpPr txBox="1"/>
          <p:nvPr/>
        </p:nvSpPr>
        <p:spPr>
          <a:xfrm>
            <a:off x="1553348" y="5627077"/>
            <a:ext cx="360445" cy="294097"/>
          </a:xfrm>
          <a:prstGeom prst="rect">
            <a:avLst/>
          </a:prstGeom>
        </p:spPr>
        <p:txBody>
          <a:bodyPr vert="horz" wrap="square" lIns="0" tIns="16933" rIns="0" bIns="0" rtlCol="0" anchor="t">
            <a:spAutoFit/>
          </a:bodyPr>
          <a:lstStyle/>
          <a:p>
            <a:pPr marL="16510">
              <a:spcBef>
                <a:spcPts val="133"/>
              </a:spcBef>
            </a:pPr>
            <a:r>
              <a:rPr lang="zh-CN" spc="-33">
                <a:latin typeface="Microsoft YaHei" panose="020B0503020204020204" pitchFamily="34" charset="-122"/>
                <a:ea typeface="Microsoft YaHei" panose="020B0503020204020204" pitchFamily="34" charset="-122"/>
                <a:cs typeface="Calibri"/>
              </a:rPr>
              <a:t>买</a:t>
            </a:r>
            <a:endParaRPr lang="zh-CN" altLang="en-US">
              <a:latin typeface="Microsoft YaHei" panose="020B0503020204020204" pitchFamily="34" charset="-122"/>
              <a:ea typeface="Microsoft YaHei" panose="020B0503020204020204" pitchFamily="34" charset="-122"/>
              <a:cs typeface="Calibri" panose="020F0502020204030204" pitchFamily="34" charset="0"/>
            </a:endParaRPr>
          </a:p>
        </p:txBody>
      </p:sp>
      <p:sp>
        <p:nvSpPr>
          <p:cNvPr id="10" name="object 10">
            <a:extLst>
              <a:ext uri="{FF2B5EF4-FFF2-40B4-BE49-F238E27FC236}">
                <a16:creationId xmlns:a16="http://schemas.microsoft.com/office/drawing/2014/main" id="{0568425F-C3C2-ADB3-D4A4-A66B043E99FD}"/>
              </a:ext>
            </a:extLst>
          </p:cNvPr>
          <p:cNvSpPr txBox="1"/>
          <p:nvPr/>
        </p:nvSpPr>
        <p:spPr>
          <a:xfrm>
            <a:off x="2375045" y="5627077"/>
            <a:ext cx="641258" cy="294097"/>
          </a:xfrm>
          <a:prstGeom prst="rect">
            <a:avLst/>
          </a:prstGeom>
        </p:spPr>
        <p:txBody>
          <a:bodyPr vert="horz" wrap="square" lIns="0" tIns="16933" rIns="0" bIns="0" rtlCol="0" anchor="t">
            <a:spAutoFit/>
          </a:bodyPr>
          <a:lstStyle/>
          <a:p>
            <a:pPr marL="16510" algn="ctr">
              <a:spcBef>
                <a:spcPts val="133"/>
              </a:spcBef>
            </a:pPr>
            <a:r>
              <a:rPr lang="zh-CN" spc="-13">
                <a:latin typeface="Microsoft YaHei" panose="020B0503020204020204" pitchFamily="34" charset="-122"/>
                <a:ea typeface="Microsoft YaHei" panose="020B0503020204020204" pitchFamily="34" charset="-122"/>
                <a:cs typeface="Calibri"/>
              </a:rPr>
              <a:t>了</a:t>
            </a:r>
            <a:endParaRPr lang="zh-CN" altLang="en-US">
              <a:latin typeface="Microsoft YaHei" panose="020B0503020204020204" pitchFamily="34" charset="-122"/>
              <a:ea typeface="Microsoft YaHei" panose="020B0503020204020204" pitchFamily="34" charset="-122"/>
              <a:cs typeface="Calibri" panose="020F0502020204030204" pitchFamily="34" charset="0"/>
            </a:endParaRPr>
          </a:p>
        </p:txBody>
      </p:sp>
      <p:sp>
        <p:nvSpPr>
          <p:cNvPr id="24" name="object 24">
            <a:extLst>
              <a:ext uri="{FF2B5EF4-FFF2-40B4-BE49-F238E27FC236}">
                <a16:creationId xmlns:a16="http://schemas.microsoft.com/office/drawing/2014/main" id="{00E1DB54-202A-69BC-E3D1-F435955D05CC}"/>
              </a:ext>
            </a:extLst>
          </p:cNvPr>
          <p:cNvSpPr txBox="1"/>
          <p:nvPr/>
        </p:nvSpPr>
        <p:spPr>
          <a:xfrm>
            <a:off x="3333099" y="5627077"/>
            <a:ext cx="604585" cy="294097"/>
          </a:xfrm>
          <a:prstGeom prst="rect">
            <a:avLst/>
          </a:prstGeom>
        </p:spPr>
        <p:txBody>
          <a:bodyPr vert="horz" wrap="square" lIns="0" tIns="16933" rIns="0" bIns="0" rtlCol="0" anchor="t">
            <a:spAutoFit/>
          </a:bodyPr>
          <a:lstStyle/>
          <a:p>
            <a:pPr marL="16510" algn="ctr">
              <a:spcBef>
                <a:spcPts val="133"/>
              </a:spcBef>
            </a:pPr>
            <a:r>
              <a:rPr lang="zh-CN" altLang="en-US" spc="-13" dirty="0">
                <a:latin typeface="Microsoft YaHei" panose="020B0503020204020204" pitchFamily="34" charset="-122"/>
                <a:ea typeface="Microsoft YaHei" panose="020B0503020204020204" pitchFamily="34" charset="-122"/>
                <a:cs typeface="Calibri"/>
              </a:rPr>
              <a:t>书</a:t>
            </a:r>
            <a:endParaRPr lang="zh-CN" altLang="en-US" dirty="0">
              <a:latin typeface="Microsoft YaHei" panose="020B0503020204020204" pitchFamily="34" charset="-122"/>
              <a:ea typeface="Microsoft YaHei" panose="020B0503020204020204" pitchFamily="34" charset="-122"/>
              <a:cs typeface="Calibri" panose="020F0502020204030204" pitchFamily="34" charset="0"/>
            </a:endParaRP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902586A3-7209-683E-A43E-F05A6DF9BFF1}"/>
                  </a:ext>
                </a:extLst>
              </p:cNvPr>
              <p:cNvSpPr txBox="1"/>
              <p:nvPr/>
            </p:nvSpPr>
            <p:spPr>
              <a:xfrm>
                <a:off x="3056823" y="5662965"/>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30" name="TextBox 29">
                <a:extLst>
                  <a:ext uri="{FF2B5EF4-FFF2-40B4-BE49-F238E27FC236}">
                    <a16:creationId xmlns:a16="http://schemas.microsoft.com/office/drawing/2014/main" id="{902586A3-7209-683E-A43E-F05A6DF9BFF1}"/>
                  </a:ext>
                </a:extLst>
              </p:cNvPr>
              <p:cNvSpPr txBox="1">
                <a:spLocks noRot="1" noChangeAspect="1" noMove="1" noResize="1" noEditPoints="1" noAdjustHandles="1" noChangeArrowheads="1" noChangeShapeType="1" noTextEdit="1"/>
              </p:cNvSpPr>
              <p:nvPr/>
            </p:nvSpPr>
            <p:spPr>
              <a:xfrm>
                <a:off x="3056823" y="5662965"/>
                <a:ext cx="329532" cy="246221"/>
              </a:xfrm>
              <a:prstGeom prst="rect">
                <a:avLst/>
              </a:prstGeom>
              <a:blipFill>
                <a:blip r:embed="rId4"/>
                <a:stretch>
                  <a:fillRect/>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F9A48927-A366-8172-7B5C-F3E22D0A873A}"/>
              </a:ext>
            </a:extLst>
          </p:cNvPr>
          <p:cNvSpPr txBox="1"/>
          <p:nvPr/>
        </p:nvSpPr>
        <p:spPr>
          <a:xfrm>
            <a:off x="661797" y="984217"/>
            <a:ext cx="5416868" cy="461665"/>
          </a:xfrm>
          <a:prstGeom prst="rect">
            <a:avLst/>
          </a:prstGeom>
          <a:noFill/>
        </p:spPr>
        <p:txBody>
          <a:bodyPr wrap="none" rtlCol="0">
            <a:spAutoFit/>
          </a:bodyPr>
          <a:lstStyle/>
          <a:p>
            <a:r>
              <a:rPr lang="en-US" sz="2400" dirty="0" err="1"/>
              <a:t>以从中文到英文的机器翻译任务为例</a:t>
            </a:r>
            <a:r>
              <a:rPr lang="zh-CN" altLang="en-US" sz="2400" dirty="0"/>
              <a:t>：</a:t>
            </a:r>
            <a:endParaRPr lang="en-US" altLang="zh-CN" sz="2400"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B3ABD59-7E3A-1E18-5153-2E79D18E5F0D}"/>
                  </a:ext>
                </a:extLst>
              </p:cNvPr>
              <p:cNvSpPr txBox="1"/>
              <p:nvPr/>
            </p:nvSpPr>
            <p:spPr>
              <a:xfrm>
                <a:off x="614540" y="5022798"/>
                <a:ext cx="47198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oMath>
                  </m:oMathPara>
                </a14:m>
                <a:endParaRPr lang="en-US" dirty="0"/>
              </a:p>
            </p:txBody>
          </p:sp>
        </mc:Choice>
        <mc:Fallback xmlns="">
          <p:sp>
            <p:nvSpPr>
              <p:cNvPr id="2" name="TextBox 1">
                <a:extLst>
                  <a:ext uri="{FF2B5EF4-FFF2-40B4-BE49-F238E27FC236}">
                    <a16:creationId xmlns:a16="http://schemas.microsoft.com/office/drawing/2014/main" id="{8B3ABD59-7E3A-1E18-5153-2E79D18E5F0D}"/>
                  </a:ext>
                </a:extLst>
              </p:cNvPr>
              <p:cNvSpPr txBox="1">
                <a:spLocks noRot="1" noChangeAspect="1" noMove="1" noResize="1" noEditPoints="1" noAdjustHandles="1" noChangeArrowheads="1" noChangeShapeType="1" noTextEdit="1"/>
              </p:cNvSpPr>
              <p:nvPr/>
            </p:nvSpPr>
            <p:spPr>
              <a:xfrm>
                <a:off x="614540" y="5022798"/>
                <a:ext cx="471989"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737F3F9-6E05-6F9F-B2A8-D051050C1A63}"/>
                  </a:ext>
                </a:extLst>
              </p:cNvPr>
              <p:cNvSpPr txBox="1"/>
              <p:nvPr/>
            </p:nvSpPr>
            <p:spPr>
              <a:xfrm>
                <a:off x="1494969" y="5022798"/>
                <a:ext cx="47731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oMath>
                  </m:oMathPara>
                </a14:m>
                <a:endParaRPr lang="en-US" dirty="0"/>
              </a:p>
            </p:txBody>
          </p:sp>
        </mc:Choice>
        <mc:Fallback xmlns="">
          <p:sp>
            <p:nvSpPr>
              <p:cNvPr id="3" name="TextBox 2">
                <a:extLst>
                  <a:ext uri="{FF2B5EF4-FFF2-40B4-BE49-F238E27FC236}">
                    <a16:creationId xmlns:a16="http://schemas.microsoft.com/office/drawing/2014/main" id="{1737F3F9-6E05-6F9F-B2A8-D051050C1A63}"/>
                  </a:ext>
                </a:extLst>
              </p:cNvPr>
              <p:cNvSpPr txBox="1">
                <a:spLocks noRot="1" noChangeAspect="1" noMove="1" noResize="1" noEditPoints="1" noAdjustHandles="1" noChangeArrowheads="1" noChangeShapeType="1" noTextEdit="1"/>
              </p:cNvSpPr>
              <p:nvPr/>
            </p:nvSpPr>
            <p:spPr>
              <a:xfrm>
                <a:off x="1494969" y="5022798"/>
                <a:ext cx="477310"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2E836B7-98AC-CE68-142F-79AE7B354351}"/>
                  </a:ext>
                </a:extLst>
              </p:cNvPr>
              <p:cNvSpPr txBox="1"/>
              <p:nvPr/>
            </p:nvSpPr>
            <p:spPr>
              <a:xfrm>
                <a:off x="2457019" y="5022798"/>
                <a:ext cx="47731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3</m:t>
                          </m:r>
                        </m:sub>
                      </m:sSub>
                    </m:oMath>
                  </m:oMathPara>
                </a14:m>
                <a:endParaRPr lang="en-US" dirty="0"/>
              </a:p>
            </p:txBody>
          </p:sp>
        </mc:Choice>
        <mc:Fallback xmlns="">
          <p:sp>
            <p:nvSpPr>
              <p:cNvPr id="21" name="TextBox 20">
                <a:extLst>
                  <a:ext uri="{FF2B5EF4-FFF2-40B4-BE49-F238E27FC236}">
                    <a16:creationId xmlns:a16="http://schemas.microsoft.com/office/drawing/2014/main" id="{62E836B7-98AC-CE68-142F-79AE7B354351}"/>
                  </a:ext>
                </a:extLst>
              </p:cNvPr>
              <p:cNvSpPr txBox="1">
                <a:spLocks noRot="1" noChangeAspect="1" noMove="1" noResize="1" noEditPoints="1" noAdjustHandles="1" noChangeArrowheads="1" noChangeShapeType="1" noTextEdit="1"/>
              </p:cNvSpPr>
              <p:nvPr/>
            </p:nvSpPr>
            <p:spPr>
              <a:xfrm>
                <a:off x="2457019" y="5022798"/>
                <a:ext cx="477310"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1EFA101F-AB5A-0DF2-5B86-F2786B46C865}"/>
                  </a:ext>
                </a:extLst>
              </p:cNvPr>
              <p:cNvSpPr txBox="1"/>
              <p:nvPr/>
            </p:nvSpPr>
            <p:spPr>
              <a:xfrm>
                <a:off x="3419069" y="5049369"/>
                <a:ext cx="49699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𝑇</m:t>
                          </m:r>
                        </m:sub>
                      </m:sSub>
                    </m:oMath>
                  </m:oMathPara>
                </a14:m>
                <a:endParaRPr lang="en-US" dirty="0"/>
              </a:p>
            </p:txBody>
          </p:sp>
        </mc:Choice>
        <mc:Fallback xmlns="">
          <p:sp>
            <p:nvSpPr>
              <p:cNvPr id="32" name="TextBox 31">
                <a:extLst>
                  <a:ext uri="{FF2B5EF4-FFF2-40B4-BE49-F238E27FC236}">
                    <a16:creationId xmlns:a16="http://schemas.microsoft.com/office/drawing/2014/main" id="{1EFA101F-AB5A-0DF2-5B86-F2786B46C865}"/>
                  </a:ext>
                </a:extLst>
              </p:cNvPr>
              <p:cNvSpPr txBox="1">
                <a:spLocks noRot="1" noChangeAspect="1" noMove="1" noResize="1" noEditPoints="1" noAdjustHandles="1" noChangeArrowheads="1" noChangeShapeType="1" noTextEdit="1"/>
              </p:cNvSpPr>
              <p:nvPr/>
            </p:nvSpPr>
            <p:spPr>
              <a:xfrm>
                <a:off x="3419069" y="5049369"/>
                <a:ext cx="496996" cy="369332"/>
              </a:xfrm>
              <a:prstGeom prst="rect">
                <a:avLst/>
              </a:prstGeom>
              <a:blipFill>
                <a:blip r:embed="rId8"/>
                <a:stretch>
                  <a:fillRect b="-3333"/>
                </a:stretch>
              </a:blipFill>
            </p:spPr>
            <p:txBody>
              <a:bodyPr/>
              <a:lstStyle/>
              <a:p>
                <a:r>
                  <a:rPr lang="en-US">
                    <a:noFill/>
                  </a:rPr>
                  <a:t> </a:t>
                </a:r>
              </a:p>
            </p:txBody>
          </p:sp>
        </mc:Fallback>
      </mc:AlternateContent>
      <p:cxnSp>
        <p:nvCxnSpPr>
          <p:cNvPr id="34" name="Straight Arrow Connector 33">
            <a:extLst>
              <a:ext uri="{FF2B5EF4-FFF2-40B4-BE49-F238E27FC236}">
                <a16:creationId xmlns:a16="http://schemas.microsoft.com/office/drawing/2014/main" id="{ACD799E4-3732-1E92-9832-3A5CA56EFA3B}"/>
              </a:ext>
            </a:extLst>
          </p:cNvPr>
          <p:cNvCxnSpPr>
            <a:stCxn id="8" idx="0"/>
            <a:endCxn id="2" idx="2"/>
          </p:cNvCxnSpPr>
          <p:nvPr/>
        </p:nvCxnSpPr>
        <p:spPr>
          <a:xfrm flipH="1" flipV="1">
            <a:off x="850535" y="5392130"/>
            <a:ext cx="3578"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8264DFC4-6985-6AD4-E540-6409032582D4}"/>
              </a:ext>
            </a:extLst>
          </p:cNvPr>
          <p:cNvCxnSpPr>
            <a:cxnSpLocks/>
            <a:stCxn id="9" idx="0"/>
            <a:endCxn id="3" idx="2"/>
          </p:cNvCxnSpPr>
          <p:nvPr/>
        </p:nvCxnSpPr>
        <p:spPr>
          <a:xfrm flipV="1">
            <a:off x="1733571" y="5392130"/>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7EEF6D56-0048-6555-B12C-4520C5B9413F}"/>
              </a:ext>
            </a:extLst>
          </p:cNvPr>
          <p:cNvCxnSpPr>
            <a:cxnSpLocks/>
          </p:cNvCxnSpPr>
          <p:nvPr/>
        </p:nvCxnSpPr>
        <p:spPr>
          <a:xfrm flipV="1">
            <a:off x="2679165" y="5358926"/>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1451CC39-D4F7-01C6-06C2-F09A4A3B74E0}"/>
              </a:ext>
            </a:extLst>
          </p:cNvPr>
          <p:cNvCxnSpPr>
            <a:cxnSpLocks/>
          </p:cNvCxnSpPr>
          <p:nvPr/>
        </p:nvCxnSpPr>
        <p:spPr>
          <a:xfrm flipV="1">
            <a:off x="3635391" y="5392129"/>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C03A2CDC-7B4A-EF11-70B6-14A7C962513D}"/>
                  </a:ext>
                </a:extLst>
              </p:cNvPr>
              <p:cNvSpPr/>
              <p:nvPr/>
            </p:nvSpPr>
            <p:spPr>
              <a:xfrm>
                <a:off x="661797" y="4263656"/>
                <a:ext cx="424732" cy="43593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1</m:t>
                          </m:r>
                        </m:sub>
                      </m:sSub>
                    </m:oMath>
                  </m:oMathPara>
                </a14:m>
                <a:endParaRPr lang="en-US" dirty="0"/>
              </a:p>
            </p:txBody>
          </p:sp>
        </mc:Choice>
        <mc:Fallback xmlns="">
          <p:sp>
            <p:nvSpPr>
              <p:cNvPr id="40" name="Rectangle 39">
                <a:extLst>
                  <a:ext uri="{FF2B5EF4-FFF2-40B4-BE49-F238E27FC236}">
                    <a16:creationId xmlns:a16="http://schemas.microsoft.com/office/drawing/2014/main" id="{C03A2CDC-7B4A-EF11-70B6-14A7C962513D}"/>
                  </a:ext>
                </a:extLst>
              </p:cNvPr>
              <p:cNvSpPr>
                <a:spLocks noRot="1" noChangeAspect="1" noMove="1" noResize="1" noEditPoints="1" noAdjustHandles="1" noChangeArrowheads="1" noChangeShapeType="1" noTextEdit="1"/>
              </p:cNvSpPr>
              <p:nvPr/>
            </p:nvSpPr>
            <p:spPr>
              <a:xfrm>
                <a:off x="661797" y="4263656"/>
                <a:ext cx="424732" cy="435935"/>
              </a:xfrm>
              <a:prstGeom prst="rect">
                <a:avLst/>
              </a:prstGeom>
              <a:blipFill>
                <a:blip r:embed="rId9"/>
                <a:stretch>
                  <a:fillRect l="-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A531A316-57DE-3712-1C09-6FCF617E198F}"/>
                  </a:ext>
                </a:extLst>
              </p:cNvPr>
              <p:cNvSpPr/>
              <p:nvPr/>
            </p:nvSpPr>
            <p:spPr>
              <a:xfrm>
                <a:off x="1547547" y="4263656"/>
                <a:ext cx="424732" cy="43593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2</m:t>
                          </m:r>
                        </m:sub>
                      </m:sSub>
                    </m:oMath>
                  </m:oMathPara>
                </a14:m>
                <a:endParaRPr lang="en-US" dirty="0"/>
              </a:p>
            </p:txBody>
          </p:sp>
        </mc:Choice>
        <mc:Fallback xmlns="">
          <p:sp>
            <p:nvSpPr>
              <p:cNvPr id="41" name="Rectangle 40">
                <a:extLst>
                  <a:ext uri="{FF2B5EF4-FFF2-40B4-BE49-F238E27FC236}">
                    <a16:creationId xmlns:a16="http://schemas.microsoft.com/office/drawing/2014/main" id="{A531A316-57DE-3712-1C09-6FCF617E198F}"/>
                  </a:ext>
                </a:extLst>
              </p:cNvPr>
              <p:cNvSpPr>
                <a:spLocks noRot="1" noChangeAspect="1" noMove="1" noResize="1" noEditPoints="1" noAdjustHandles="1" noChangeArrowheads="1" noChangeShapeType="1" noTextEdit="1"/>
              </p:cNvSpPr>
              <p:nvPr/>
            </p:nvSpPr>
            <p:spPr>
              <a:xfrm>
                <a:off x="1547547" y="4263656"/>
                <a:ext cx="424732" cy="435935"/>
              </a:xfrm>
              <a:prstGeom prst="rect">
                <a:avLst/>
              </a:prstGeom>
              <a:blipFill>
                <a:blip r:embed="rId10"/>
                <a:stretch>
                  <a:fillRect l="-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C64DDE53-413E-B7D0-BC2C-5B007C707DBD}"/>
                  </a:ext>
                </a:extLst>
              </p:cNvPr>
              <p:cNvSpPr/>
              <p:nvPr/>
            </p:nvSpPr>
            <p:spPr>
              <a:xfrm>
                <a:off x="2472323" y="4263656"/>
                <a:ext cx="424732" cy="43593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3</m:t>
                          </m:r>
                        </m:sub>
                      </m:sSub>
                    </m:oMath>
                  </m:oMathPara>
                </a14:m>
                <a:endParaRPr lang="en-US" dirty="0"/>
              </a:p>
            </p:txBody>
          </p:sp>
        </mc:Choice>
        <mc:Fallback xmlns="">
          <p:sp>
            <p:nvSpPr>
              <p:cNvPr id="42" name="Rectangle 41">
                <a:extLst>
                  <a:ext uri="{FF2B5EF4-FFF2-40B4-BE49-F238E27FC236}">
                    <a16:creationId xmlns:a16="http://schemas.microsoft.com/office/drawing/2014/main" id="{C64DDE53-413E-B7D0-BC2C-5B007C707DBD}"/>
                  </a:ext>
                </a:extLst>
              </p:cNvPr>
              <p:cNvSpPr>
                <a:spLocks noRot="1" noChangeAspect="1" noMove="1" noResize="1" noEditPoints="1" noAdjustHandles="1" noChangeArrowheads="1" noChangeShapeType="1" noTextEdit="1"/>
              </p:cNvSpPr>
              <p:nvPr/>
            </p:nvSpPr>
            <p:spPr>
              <a:xfrm>
                <a:off x="2472323" y="4263656"/>
                <a:ext cx="424732" cy="435935"/>
              </a:xfrm>
              <a:prstGeom prst="rect">
                <a:avLst/>
              </a:prstGeom>
              <a:blipFill>
                <a:blip r:embed="rId11"/>
                <a:stretch>
                  <a:fillRect l="-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797B2DA6-A054-CDDE-5586-31863AB704D0}"/>
                  </a:ext>
                </a:extLst>
              </p:cNvPr>
              <p:cNvSpPr/>
              <p:nvPr/>
            </p:nvSpPr>
            <p:spPr>
              <a:xfrm>
                <a:off x="3455201" y="4278211"/>
                <a:ext cx="424732" cy="43593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𝑇</m:t>
                          </m:r>
                        </m:sub>
                      </m:sSub>
                    </m:oMath>
                  </m:oMathPara>
                </a14:m>
                <a:endParaRPr lang="en-US" dirty="0"/>
              </a:p>
            </p:txBody>
          </p:sp>
        </mc:Choice>
        <mc:Fallback xmlns="">
          <p:sp>
            <p:nvSpPr>
              <p:cNvPr id="60" name="Rectangle 59">
                <a:extLst>
                  <a:ext uri="{FF2B5EF4-FFF2-40B4-BE49-F238E27FC236}">
                    <a16:creationId xmlns:a16="http://schemas.microsoft.com/office/drawing/2014/main" id="{797B2DA6-A054-CDDE-5586-31863AB704D0}"/>
                  </a:ext>
                </a:extLst>
              </p:cNvPr>
              <p:cNvSpPr>
                <a:spLocks noRot="1" noChangeAspect="1" noMove="1" noResize="1" noEditPoints="1" noAdjustHandles="1" noChangeArrowheads="1" noChangeShapeType="1" noTextEdit="1"/>
              </p:cNvSpPr>
              <p:nvPr/>
            </p:nvSpPr>
            <p:spPr>
              <a:xfrm>
                <a:off x="3455201" y="4278211"/>
                <a:ext cx="424732" cy="435935"/>
              </a:xfrm>
              <a:prstGeom prst="rect">
                <a:avLst/>
              </a:prstGeom>
              <a:blipFill>
                <a:blip r:embed="rId12"/>
                <a:stretch>
                  <a:fillRect l="-5714"/>
                </a:stretch>
              </a:blipFill>
            </p:spPr>
            <p:txBody>
              <a:bodyPr/>
              <a:lstStyle/>
              <a:p>
                <a:r>
                  <a:rPr lang="en-US">
                    <a:noFill/>
                  </a:rPr>
                  <a:t> </a:t>
                </a:r>
              </a:p>
            </p:txBody>
          </p:sp>
        </mc:Fallback>
      </mc:AlternateContent>
      <p:cxnSp>
        <p:nvCxnSpPr>
          <p:cNvPr id="62" name="Straight Arrow Connector 61">
            <a:extLst>
              <a:ext uri="{FF2B5EF4-FFF2-40B4-BE49-F238E27FC236}">
                <a16:creationId xmlns:a16="http://schemas.microsoft.com/office/drawing/2014/main" id="{28CA6FF9-B0D0-8CF9-BBA4-AEDC94012E50}"/>
              </a:ext>
            </a:extLst>
          </p:cNvPr>
          <p:cNvCxnSpPr>
            <a:cxnSpLocks/>
            <a:stCxn id="42" idx="3"/>
            <a:endCxn id="60" idx="1"/>
          </p:cNvCxnSpPr>
          <p:nvPr/>
        </p:nvCxnSpPr>
        <p:spPr>
          <a:xfrm>
            <a:off x="2897055" y="4481624"/>
            <a:ext cx="558146" cy="1455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1" name="Group 60">
            <a:extLst>
              <a:ext uri="{FF2B5EF4-FFF2-40B4-BE49-F238E27FC236}">
                <a16:creationId xmlns:a16="http://schemas.microsoft.com/office/drawing/2014/main" id="{66D133FA-06D4-AECE-C0FF-A785C5627C44}"/>
              </a:ext>
            </a:extLst>
          </p:cNvPr>
          <p:cNvGrpSpPr/>
          <p:nvPr/>
        </p:nvGrpSpPr>
        <p:grpSpPr>
          <a:xfrm>
            <a:off x="2999905" y="4347165"/>
            <a:ext cx="329532" cy="246221"/>
            <a:chOff x="2966499" y="3857245"/>
            <a:chExt cx="329532" cy="246221"/>
          </a:xfrm>
        </p:grpSpPr>
        <p:sp>
          <p:nvSpPr>
            <p:cNvPr id="20" name="TextBox 19">
              <a:extLst>
                <a:ext uri="{FF2B5EF4-FFF2-40B4-BE49-F238E27FC236}">
                  <a16:creationId xmlns:a16="http://schemas.microsoft.com/office/drawing/2014/main" id="{C6E835A1-3FA5-3988-C4C6-75C0E9ED107E}"/>
                </a:ext>
              </a:extLst>
            </p:cNvPr>
            <p:cNvSpPr txBox="1"/>
            <p:nvPr/>
          </p:nvSpPr>
          <p:spPr>
            <a:xfrm>
              <a:off x="3033827" y="3907765"/>
              <a:ext cx="187762" cy="184666"/>
            </a:xfrm>
            <a:prstGeom prst="rect">
              <a:avLst/>
            </a:prstGeom>
            <a:solidFill>
              <a:schemeClr val="bg1"/>
            </a:solidFill>
          </p:spPr>
          <p:txBody>
            <a:bodyPr wrap="square" rtlCol="0">
              <a:spAutoFit/>
            </a:bodyPr>
            <a:lstStyle/>
            <a:p>
              <a:endParaRPr lang="en-US" sz="600" dirty="0">
                <a:latin typeface="Microsoft YaHei" panose="020B0503020204020204" pitchFamily="34" charset="-122"/>
                <a:ea typeface="Microsoft YaHei" panose="020B0503020204020204" pitchFamily="34" charset="-122"/>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CBE99B9-0F1D-E9C8-5C14-3987CDA39F8D}"/>
                    </a:ext>
                  </a:extLst>
                </p:cNvPr>
                <p:cNvSpPr txBox="1"/>
                <p:nvPr/>
              </p:nvSpPr>
              <p:spPr>
                <a:xfrm>
                  <a:off x="2966499" y="3857245"/>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22" name="TextBox 21">
                  <a:extLst>
                    <a:ext uri="{FF2B5EF4-FFF2-40B4-BE49-F238E27FC236}">
                      <a16:creationId xmlns:a16="http://schemas.microsoft.com/office/drawing/2014/main" id="{CCBE99B9-0F1D-E9C8-5C14-3987CDA39F8D}"/>
                    </a:ext>
                  </a:extLst>
                </p:cNvPr>
                <p:cNvSpPr txBox="1">
                  <a:spLocks noRot="1" noChangeAspect="1" noMove="1" noResize="1" noEditPoints="1" noAdjustHandles="1" noChangeArrowheads="1" noChangeShapeType="1" noTextEdit="1"/>
                </p:cNvSpPr>
                <p:nvPr/>
              </p:nvSpPr>
              <p:spPr>
                <a:xfrm>
                  <a:off x="2966499" y="3857245"/>
                  <a:ext cx="329532" cy="246221"/>
                </a:xfrm>
                <a:prstGeom prst="rect">
                  <a:avLst/>
                </a:prstGeom>
                <a:blipFill>
                  <a:blip r:embed="rId13"/>
                  <a:stretch>
                    <a:fillRect/>
                  </a:stretch>
                </a:blipFill>
              </p:spPr>
              <p:txBody>
                <a:bodyPr/>
                <a:lstStyle/>
                <a:p>
                  <a:r>
                    <a:rPr lang="en-US">
                      <a:noFill/>
                    </a:rPr>
                    <a:t> </a:t>
                  </a:r>
                </a:p>
              </p:txBody>
            </p:sp>
          </mc:Fallback>
        </mc:AlternateContent>
      </p:grpSp>
      <p:cxnSp>
        <p:nvCxnSpPr>
          <p:cNvPr id="65" name="Straight Arrow Connector 64">
            <a:extLst>
              <a:ext uri="{FF2B5EF4-FFF2-40B4-BE49-F238E27FC236}">
                <a16:creationId xmlns:a16="http://schemas.microsoft.com/office/drawing/2014/main" id="{2097E7D5-8939-A8E0-947E-D56CDED03E89}"/>
              </a:ext>
            </a:extLst>
          </p:cNvPr>
          <p:cNvCxnSpPr>
            <a:cxnSpLocks/>
            <a:stCxn id="41" idx="3"/>
            <a:endCxn id="42" idx="1"/>
          </p:cNvCxnSpPr>
          <p:nvPr/>
        </p:nvCxnSpPr>
        <p:spPr>
          <a:xfrm>
            <a:off x="1972279" y="4481624"/>
            <a:ext cx="50004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CA87FD04-7784-0705-24A5-36D54DF45FCE}"/>
              </a:ext>
            </a:extLst>
          </p:cNvPr>
          <p:cNvCxnSpPr>
            <a:cxnSpLocks/>
            <a:stCxn id="40" idx="3"/>
            <a:endCxn id="41" idx="1"/>
          </p:cNvCxnSpPr>
          <p:nvPr/>
        </p:nvCxnSpPr>
        <p:spPr>
          <a:xfrm>
            <a:off x="1086529" y="4481624"/>
            <a:ext cx="46101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51B35130-8DCD-5A0F-2C60-E044FFB6C2C6}"/>
              </a:ext>
            </a:extLst>
          </p:cNvPr>
          <p:cNvCxnSpPr/>
          <p:nvPr/>
        </p:nvCxnSpPr>
        <p:spPr>
          <a:xfrm flipH="1" flipV="1">
            <a:off x="850482" y="4861970"/>
            <a:ext cx="3578"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2344B74F-8B67-7654-35DE-383FFEAA49B5}"/>
              </a:ext>
            </a:extLst>
          </p:cNvPr>
          <p:cNvCxnSpPr>
            <a:cxnSpLocks/>
          </p:cNvCxnSpPr>
          <p:nvPr/>
        </p:nvCxnSpPr>
        <p:spPr>
          <a:xfrm flipV="1">
            <a:off x="1733518" y="4861970"/>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5F8BE090-C094-5379-A4A2-AA48CB2FA119}"/>
              </a:ext>
            </a:extLst>
          </p:cNvPr>
          <p:cNvCxnSpPr>
            <a:cxnSpLocks/>
          </p:cNvCxnSpPr>
          <p:nvPr/>
        </p:nvCxnSpPr>
        <p:spPr>
          <a:xfrm flipV="1">
            <a:off x="2679112" y="4828766"/>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742C1960-D430-80DF-FFD1-D62BDF695C12}"/>
              </a:ext>
            </a:extLst>
          </p:cNvPr>
          <p:cNvCxnSpPr>
            <a:cxnSpLocks/>
          </p:cNvCxnSpPr>
          <p:nvPr/>
        </p:nvCxnSpPr>
        <p:spPr>
          <a:xfrm flipV="1">
            <a:off x="3635338" y="4861969"/>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C9A37425-648C-74C6-5681-6F4F452AAD9E}"/>
                  </a:ext>
                </a:extLst>
              </p:cNvPr>
              <p:cNvSpPr txBox="1"/>
              <p:nvPr/>
            </p:nvSpPr>
            <p:spPr>
              <a:xfrm>
                <a:off x="3040699" y="5108610"/>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76" name="TextBox 75">
                <a:extLst>
                  <a:ext uri="{FF2B5EF4-FFF2-40B4-BE49-F238E27FC236}">
                    <a16:creationId xmlns:a16="http://schemas.microsoft.com/office/drawing/2014/main" id="{C9A37425-648C-74C6-5681-6F4F452AAD9E}"/>
                  </a:ext>
                </a:extLst>
              </p:cNvPr>
              <p:cNvSpPr txBox="1">
                <a:spLocks noRot="1" noChangeAspect="1" noMove="1" noResize="1" noEditPoints="1" noAdjustHandles="1" noChangeArrowheads="1" noChangeShapeType="1" noTextEdit="1"/>
              </p:cNvSpPr>
              <p:nvPr/>
            </p:nvSpPr>
            <p:spPr>
              <a:xfrm>
                <a:off x="3040699" y="5108610"/>
                <a:ext cx="329532" cy="246221"/>
              </a:xfrm>
              <a:prstGeom prst="rect">
                <a:avLst/>
              </a:prstGeom>
              <a:blipFill>
                <a:blip r:embed="rId14"/>
                <a:stretch>
                  <a:fillRect/>
                </a:stretch>
              </a:blipFill>
            </p:spPr>
            <p:txBody>
              <a:bodyPr/>
              <a:lstStyle/>
              <a:p>
                <a:r>
                  <a:rPr lang="en-US">
                    <a:noFill/>
                  </a:rPr>
                  <a:t> </a:t>
                </a:r>
              </a:p>
            </p:txBody>
          </p:sp>
        </mc:Fallback>
      </mc:AlternateContent>
      <p:cxnSp>
        <p:nvCxnSpPr>
          <p:cNvPr id="77" name="Straight Arrow Connector 76">
            <a:extLst>
              <a:ext uri="{FF2B5EF4-FFF2-40B4-BE49-F238E27FC236}">
                <a16:creationId xmlns:a16="http://schemas.microsoft.com/office/drawing/2014/main" id="{A7154134-EBD6-5B91-5EE8-39758A3C5DD7}"/>
              </a:ext>
            </a:extLst>
          </p:cNvPr>
          <p:cNvCxnSpPr>
            <a:cxnSpLocks/>
          </p:cNvCxnSpPr>
          <p:nvPr/>
        </p:nvCxnSpPr>
        <p:spPr>
          <a:xfrm>
            <a:off x="3897926" y="4495611"/>
            <a:ext cx="1141907" cy="56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9" name="Rectangle 78">
                <a:extLst>
                  <a:ext uri="{FF2B5EF4-FFF2-40B4-BE49-F238E27FC236}">
                    <a16:creationId xmlns:a16="http://schemas.microsoft.com/office/drawing/2014/main" id="{3D304D16-7930-FCEA-8CD5-B0EE04FA08EC}"/>
                  </a:ext>
                </a:extLst>
              </p:cNvPr>
              <p:cNvSpPr/>
              <p:nvPr/>
            </p:nvSpPr>
            <p:spPr>
              <a:xfrm>
                <a:off x="5061463" y="4278211"/>
                <a:ext cx="424732" cy="43593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𝑠</m:t>
                          </m:r>
                        </m:e>
                        <m:sub>
                          <m:r>
                            <a:rPr lang="en-US" altLang="zh-CN" b="0" i="1" smtClean="0">
                              <a:solidFill>
                                <a:schemeClr val="tx1"/>
                              </a:solidFill>
                              <a:latin typeface="Cambria Math" panose="02040503050406030204" pitchFamily="18" charset="0"/>
                            </a:rPr>
                            <m:t>0</m:t>
                          </m:r>
                        </m:sub>
                      </m:sSub>
                    </m:oMath>
                  </m:oMathPara>
                </a14:m>
                <a:endParaRPr lang="en-US" dirty="0"/>
              </a:p>
            </p:txBody>
          </p:sp>
        </mc:Choice>
        <mc:Fallback xmlns="">
          <p:sp>
            <p:nvSpPr>
              <p:cNvPr id="79" name="Rectangle 78">
                <a:extLst>
                  <a:ext uri="{FF2B5EF4-FFF2-40B4-BE49-F238E27FC236}">
                    <a16:creationId xmlns:a16="http://schemas.microsoft.com/office/drawing/2014/main" id="{3D304D16-7930-FCEA-8CD5-B0EE04FA08EC}"/>
                  </a:ext>
                </a:extLst>
              </p:cNvPr>
              <p:cNvSpPr>
                <a:spLocks noRot="1" noChangeAspect="1" noMove="1" noResize="1" noEditPoints="1" noAdjustHandles="1" noChangeArrowheads="1" noChangeShapeType="1" noTextEdit="1"/>
              </p:cNvSpPr>
              <p:nvPr/>
            </p:nvSpPr>
            <p:spPr>
              <a:xfrm>
                <a:off x="5061463" y="4278211"/>
                <a:ext cx="424732" cy="435935"/>
              </a:xfrm>
              <a:prstGeom prst="rect">
                <a:avLst/>
              </a:prstGeom>
              <a:blipFill>
                <a:blip r:embed="rId1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682377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2EF4F-4B2F-4DF4-E48D-D3DED30B833A}"/>
            </a:ext>
          </a:extLst>
        </p:cNvPr>
        <p:cNvGrpSpPr/>
        <p:nvPr/>
      </p:nvGrpSpPr>
      <p:grpSpPr>
        <a:xfrm>
          <a:off x="0" y="0"/>
          <a:ext cx="0" cy="0"/>
          <a:chOff x="0" y="0"/>
          <a:chExt cx="0" cy="0"/>
        </a:xfrm>
      </p:grpSpPr>
      <p:sp>
        <p:nvSpPr>
          <p:cNvPr id="72" name="object 72">
            <a:extLst>
              <a:ext uri="{FF2B5EF4-FFF2-40B4-BE49-F238E27FC236}">
                <a16:creationId xmlns:a16="http://schemas.microsoft.com/office/drawing/2014/main" id="{A1395021-6323-F0F2-A6B7-6381E87ECCEE}"/>
              </a:ext>
            </a:extLst>
          </p:cNvPr>
          <p:cNvSpPr txBox="1"/>
          <p:nvPr/>
        </p:nvSpPr>
        <p:spPr>
          <a:xfrm>
            <a:off x="97368" y="6592127"/>
            <a:ext cx="5452533" cy="158163"/>
          </a:xfrm>
          <a:prstGeom prst="rect">
            <a:avLst/>
          </a:prstGeom>
        </p:spPr>
        <p:txBody>
          <a:bodyPr vert="horz" wrap="square" lIns="0" tIns="4233" rIns="0" bIns="0" rtlCol="0">
            <a:spAutoFit/>
          </a:bodyPr>
          <a:lstStyle/>
          <a:p>
            <a:pPr marL="16933">
              <a:spcBef>
                <a:spcPts val="33"/>
              </a:spcBef>
            </a:pPr>
            <a:r>
              <a:rPr sz="1000">
                <a:latin typeface="Arial"/>
                <a:cs typeface="Arial"/>
              </a:rPr>
              <a:t>Bahdanau</a:t>
            </a:r>
            <a:r>
              <a:rPr sz="1000" spc="-27">
                <a:latin typeface="Arial"/>
                <a:cs typeface="Arial"/>
              </a:rPr>
              <a:t> </a:t>
            </a:r>
            <a:r>
              <a:rPr sz="1000">
                <a:latin typeface="Arial"/>
                <a:cs typeface="Arial"/>
              </a:rPr>
              <a:t>et</a:t>
            </a:r>
            <a:r>
              <a:rPr sz="1000" spc="-13">
                <a:latin typeface="Arial"/>
                <a:cs typeface="Arial"/>
              </a:rPr>
              <a:t> </a:t>
            </a:r>
            <a:r>
              <a:rPr sz="1000">
                <a:latin typeface="Arial"/>
                <a:cs typeface="Arial"/>
              </a:rPr>
              <a:t>al,</a:t>
            </a:r>
            <a:r>
              <a:rPr sz="1000" spc="-13">
                <a:latin typeface="Arial"/>
                <a:cs typeface="Arial"/>
              </a:rPr>
              <a:t> </a:t>
            </a:r>
            <a:r>
              <a:rPr sz="1000">
                <a:latin typeface="Arial"/>
                <a:cs typeface="Arial"/>
              </a:rPr>
              <a:t>“Neural</a:t>
            </a:r>
            <a:r>
              <a:rPr sz="1000" spc="-7">
                <a:latin typeface="Arial"/>
                <a:cs typeface="Arial"/>
              </a:rPr>
              <a:t> </a:t>
            </a:r>
            <a:r>
              <a:rPr sz="1000">
                <a:latin typeface="Arial"/>
                <a:cs typeface="Arial"/>
              </a:rPr>
              <a:t>machine</a:t>
            </a:r>
            <a:r>
              <a:rPr sz="1000" spc="-13">
                <a:latin typeface="Arial"/>
                <a:cs typeface="Arial"/>
              </a:rPr>
              <a:t> translation </a:t>
            </a:r>
            <a:r>
              <a:rPr sz="1000">
                <a:latin typeface="Arial"/>
                <a:cs typeface="Arial"/>
              </a:rPr>
              <a:t>by</a:t>
            </a:r>
            <a:r>
              <a:rPr sz="1000" spc="-7">
                <a:latin typeface="Arial"/>
                <a:cs typeface="Arial"/>
              </a:rPr>
              <a:t> </a:t>
            </a:r>
            <a:r>
              <a:rPr sz="1000">
                <a:latin typeface="Arial"/>
                <a:cs typeface="Arial"/>
              </a:rPr>
              <a:t>jointly</a:t>
            </a:r>
            <a:r>
              <a:rPr sz="1000" spc="-13">
                <a:latin typeface="Arial"/>
                <a:cs typeface="Arial"/>
              </a:rPr>
              <a:t> </a:t>
            </a:r>
            <a:r>
              <a:rPr sz="1000">
                <a:latin typeface="Arial"/>
                <a:cs typeface="Arial"/>
              </a:rPr>
              <a:t>learning</a:t>
            </a:r>
            <a:r>
              <a:rPr sz="1000" spc="-13">
                <a:latin typeface="Arial"/>
                <a:cs typeface="Arial"/>
              </a:rPr>
              <a:t> </a:t>
            </a:r>
            <a:r>
              <a:rPr sz="1000">
                <a:latin typeface="Arial"/>
                <a:cs typeface="Arial"/>
              </a:rPr>
              <a:t>to</a:t>
            </a:r>
            <a:r>
              <a:rPr sz="1000" spc="-13">
                <a:latin typeface="Arial"/>
                <a:cs typeface="Arial"/>
              </a:rPr>
              <a:t> </a:t>
            </a:r>
            <a:r>
              <a:rPr sz="1000">
                <a:latin typeface="Arial"/>
                <a:cs typeface="Arial"/>
              </a:rPr>
              <a:t>align</a:t>
            </a:r>
            <a:r>
              <a:rPr sz="1000" spc="-7">
                <a:latin typeface="Arial"/>
                <a:cs typeface="Arial"/>
              </a:rPr>
              <a:t> </a:t>
            </a:r>
            <a:r>
              <a:rPr sz="1000">
                <a:latin typeface="Arial"/>
                <a:cs typeface="Arial"/>
              </a:rPr>
              <a:t>and</a:t>
            </a:r>
            <a:r>
              <a:rPr sz="1000" spc="-13">
                <a:latin typeface="Arial"/>
                <a:cs typeface="Arial"/>
              </a:rPr>
              <a:t> translate”, </a:t>
            </a:r>
            <a:r>
              <a:rPr sz="1000">
                <a:latin typeface="Arial"/>
                <a:cs typeface="Arial"/>
              </a:rPr>
              <a:t>ICLR</a:t>
            </a:r>
            <a:r>
              <a:rPr sz="1000" spc="-7">
                <a:latin typeface="Arial"/>
                <a:cs typeface="Arial"/>
              </a:rPr>
              <a:t> </a:t>
            </a:r>
            <a:r>
              <a:rPr sz="1000" spc="-27">
                <a:latin typeface="Arial"/>
                <a:cs typeface="Arial"/>
              </a:rPr>
              <a:t>2015</a:t>
            </a:r>
            <a:endParaRPr sz="1000">
              <a:latin typeface="Arial"/>
              <a:cs typeface="Arial"/>
            </a:endParaRPr>
          </a:p>
        </p:txBody>
      </p:sp>
      <p:grpSp>
        <p:nvGrpSpPr>
          <p:cNvPr id="75" name="Group 74">
            <a:extLst>
              <a:ext uri="{FF2B5EF4-FFF2-40B4-BE49-F238E27FC236}">
                <a16:creationId xmlns:a16="http://schemas.microsoft.com/office/drawing/2014/main" id="{70E9A1A2-245F-2044-2609-8728D730B8EF}"/>
              </a:ext>
            </a:extLst>
          </p:cNvPr>
          <p:cNvGrpSpPr/>
          <p:nvPr/>
        </p:nvGrpSpPr>
        <p:grpSpPr>
          <a:xfrm>
            <a:off x="0" y="-1589"/>
            <a:ext cx="12191999" cy="768585"/>
            <a:chOff x="0" y="-1589"/>
            <a:chExt cx="12191999" cy="768585"/>
          </a:xfrm>
        </p:grpSpPr>
        <p:grpSp>
          <p:nvGrpSpPr>
            <p:cNvPr id="77" name="Group 9">
              <a:extLst>
                <a:ext uri="{FF2B5EF4-FFF2-40B4-BE49-F238E27FC236}">
                  <a16:creationId xmlns:a16="http://schemas.microsoft.com/office/drawing/2014/main" id="{FC38EFA5-FA05-7132-AD8E-A62B1A90A689}"/>
                </a:ext>
              </a:extLst>
            </p:cNvPr>
            <p:cNvGrpSpPr>
              <a:grpSpLocks noChangeAspect="1"/>
            </p:cNvGrpSpPr>
            <p:nvPr/>
          </p:nvGrpSpPr>
          <p:grpSpPr bwMode="auto">
            <a:xfrm>
              <a:off x="0" y="-1589"/>
              <a:ext cx="12191999" cy="767234"/>
              <a:chOff x="-1" y="-1"/>
              <a:chExt cx="7719" cy="568"/>
            </a:xfrm>
          </p:grpSpPr>
          <p:sp>
            <p:nvSpPr>
              <p:cNvPr id="80" name="Freeform 79">
                <a:extLst>
                  <a:ext uri="{FF2B5EF4-FFF2-40B4-BE49-F238E27FC236}">
                    <a16:creationId xmlns:a16="http://schemas.microsoft.com/office/drawing/2014/main" id="{43239BF9-BBBA-5039-B2E2-29372656A4A2}"/>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81" name="AutoShape 8">
                <a:extLst>
                  <a:ext uri="{FF2B5EF4-FFF2-40B4-BE49-F238E27FC236}">
                    <a16:creationId xmlns:a16="http://schemas.microsoft.com/office/drawing/2014/main" id="{276A858E-DBF7-79B1-3A21-C9A63D8B1128}"/>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78" name="任意多边形: 形状 12">
              <a:extLst>
                <a:ext uri="{FF2B5EF4-FFF2-40B4-BE49-F238E27FC236}">
                  <a16:creationId xmlns:a16="http://schemas.microsoft.com/office/drawing/2014/main" id="{FA0F7651-7BCA-B8D9-508A-B36038DB1CD4}"/>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79" name="文本框 18">
              <a:extLst>
                <a:ext uri="{FF2B5EF4-FFF2-40B4-BE49-F238E27FC236}">
                  <a16:creationId xmlns:a16="http://schemas.microsoft.com/office/drawing/2014/main" id="{38AEC67C-941D-1D95-E62D-8A2313766073}"/>
                </a:ext>
              </a:extLst>
            </p:cNvPr>
            <p:cNvSpPr txBox="1"/>
            <p:nvPr/>
          </p:nvSpPr>
          <p:spPr>
            <a:xfrm>
              <a:off x="350439" y="120418"/>
              <a:ext cx="3477234" cy="523220"/>
            </a:xfrm>
            <a:prstGeom prst="rect">
              <a:avLst/>
            </a:prstGeom>
            <a:noFill/>
          </p:spPr>
          <p:txBody>
            <a:bodyPr wrap="none" rtlCol="0">
              <a:spAutoFit/>
            </a:bodyPr>
            <a:lstStyle/>
            <a:p>
              <a:pPr>
                <a:defRPr/>
              </a:pPr>
              <a:r>
                <a:rPr lang="zh-CN" altLang="en-US" sz="2800" b="1">
                  <a:solidFill>
                    <a:prstClr val="white"/>
                  </a:solidFill>
                  <a:cs typeface="+mn-ea"/>
                  <a:sym typeface="+mn-lt"/>
                </a:rPr>
                <a:t>在</a:t>
              </a:r>
              <a:r>
                <a:rPr lang="en-US" altLang="zh-CN" sz="2800" b="1">
                  <a:solidFill>
                    <a:prstClr val="white"/>
                  </a:solidFill>
                  <a:cs typeface="+mn-ea"/>
                  <a:sym typeface="+mn-lt"/>
                </a:rPr>
                <a:t>RNN</a:t>
              </a:r>
              <a:r>
                <a:rPr lang="zh-CN" altLang="en-US" sz="2800" b="1">
                  <a:solidFill>
                    <a:prstClr val="white"/>
                  </a:solidFill>
                  <a:cs typeface="+mn-ea"/>
                  <a:sym typeface="+mn-lt"/>
                </a:rPr>
                <a:t>中使用注意力</a:t>
              </a:r>
            </a:p>
          </p:txBody>
        </p:sp>
      </p:grpSp>
      <p:sp>
        <p:nvSpPr>
          <p:cNvPr id="82" name="object 37">
            <a:extLst>
              <a:ext uri="{FF2B5EF4-FFF2-40B4-BE49-F238E27FC236}">
                <a16:creationId xmlns:a16="http://schemas.microsoft.com/office/drawing/2014/main" id="{3708D284-56B1-09B4-6C72-362FFF672B9A}"/>
              </a:ext>
            </a:extLst>
          </p:cNvPr>
          <p:cNvSpPr txBox="1"/>
          <p:nvPr/>
        </p:nvSpPr>
        <p:spPr>
          <a:xfrm>
            <a:off x="4436928" y="2832407"/>
            <a:ext cx="2779607" cy="632651"/>
          </a:xfrm>
          <a:prstGeom prst="rect">
            <a:avLst/>
          </a:prstGeom>
        </p:spPr>
        <p:txBody>
          <a:bodyPr vert="horz" wrap="square" lIns="0" tIns="16933" rIns="0" bIns="0" rtlCol="0">
            <a:spAutoFit/>
          </a:bodyPr>
          <a:lstStyle/>
          <a:p>
            <a:pPr marL="50799">
              <a:spcBef>
                <a:spcPts val="133"/>
              </a:spcBef>
            </a:pPr>
            <a:r>
              <a:rPr lang="en-US" sz="2000" dirty="0" err="1">
                <a:latin typeface="Microsoft YaHei" panose="020B0503020204020204" pitchFamily="34" charset="-122"/>
                <a:ea typeface="Microsoft YaHei" panose="020B0503020204020204" pitchFamily="34" charset="-122"/>
                <a:cs typeface="Calibri" panose="020F0502020204030204" pitchFamily="34" charset="0"/>
              </a:rPr>
              <a:t>来自最后一个隐向量</a:t>
            </a:r>
            <a:r>
              <a:rPr sz="2000" spc="-13" dirty="0">
                <a:latin typeface="Microsoft YaHei" panose="020B0503020204020204" pitchFamily="34" charset="-122"/>
                <a:ea typeface="Microsoft YaHei" panose="020B0503020204020204" pitchFamily="34" charset="-122"/>
                <a:cs typeface="Calibri" panose="020F0502020204030204" pitchFamily="34" charset="0"/>
              </a:rPr>
              <a:t>:</a:t>
            </a:r>
            <a:endParaRPr sz="2000" dirty="0">
              <a:latin typeface="Microsoft YaHei" panose="020B0503020204020204" pitchFamily="34" charset="-122"/>
              <a:ea typeface="Microsoft YaHei" panose="020B0503020204020204" pitchFamily="34" charset="-122"/>
              <a:cs typeface="Calibri" panose="020F0502020204030204" pitchFamily="34" charset="0"/>
            </a:endParaRPr>
          </a:p>
          <a:p>
            <a:pPr marL="50799"/>
            <a:r>
              <a:rPr lang="en-US" sz="2000" b="1" dirty="0">
                <a:latin typeface="Microsoft YaHei" panose="020B0503020204020204" pitchFamily="34" charset="-122"/>
                <a:ea typeface="Microsoft YaHei" panose="020B0503020204020204" pitchFamily="34" charset="-122"/>
                <a:cs typeface="Calibri" panose="020F0502020204030204" pitchFamily="34" charset="0"/>
              </a:rPr>
              <a:t>解码器初始隐向量</a:t>
            </a:r>
            <a:r>
              <a:rPr sz="2000" spc="-33" dirty="0">
                <a:latin typeface="Microsoft YaHei" panose="020B0503020204020204" pitchFamily="34" charset="-122"/>
                <a:ea typeface="Microsoft YaHei" panose="020B0503020204020204" pitchFamily="34" charset="-122"/>
                <a:cs typeface="Calibri" panose="020F0502020204030204" pitchFamily="34" charset="0"/>
              </a:rPr>
              <a:t>s</a:t>
            </a:r>
            <a:r>
              <a:rPr sz="2000" spc="-49" baseline="-30555" dirty="0">
                <a:latin typeface="Microsoft YaHei" panose="020B0503020204020204" pitchFamily="34" charset="-122"/>
                <a:ea typeface="Microsoft YaHei" panose="020B0503020204020204" pitchFamily="34" charset="-122"/>
                <a:cs typeface="Calibri" panose="020F0502020204030204" pitchFamily="34" charset="0"/>
              </a:rPr>
              <a:t>0</a:t>
            </a:r>
            <a:endParaRPr sz="2000" baseline="-30555" dirty="0">
              <a:latin typeface="Microsoft YaHei" panose="020B0503020204020204" pitchFamily="34" charset="-122"/>
              <a:ea typeface="Microsoft YaHei" panose="020B0503020204020204" pitchFamily="34" charset="-122"/>
              <a:cs typeface="Calibri" panose="020F0502020204030204" pitchFamily="34" charset="0"/>
            </a:endParaRPr>
          </a:p>
        </p:txBody>
      </p:sp>
      <p:sp>
        <p:nvSpPr>
          <p:cNvPr id="3" name="object 67">
            <a:extLst>
              <a:ext uri="{FF2B5EF4-FFF2-40B4-BE49-F238E27FC236}">
                <a16:creationId xmlns:a16="http://schemas.microsoft.com/office/drawing/2014/main" id="{F2B94046-A121-9C60-3115-B159CB12D4E2}"/>
              </a:ext>
            </a:extLst>
          </p:cNvPr>
          <p:cNvSpPr txBox="1"/>
          <p:nvPr/>
        </p:nvSpPr>
        <p:spPr>
          <a:xfrm>
            <a:off x="7707715" y="1092845"/>
            <a:ext cx="4140200" cy="324875"/>
          </a:xfrm>
          <a:prstGeom prst="rect">
            <a:avLst/>
          </a:prstGeom>
        </p:spPr>
        <p:txBody>
          <a:bodyPr vert="horz" wrap="square" lIns="0" tIns="16933" rIns="0" bIns="0" rtlCol="0">
            <a:spAutoFit/>
          </a:bodyPr>
          <a:lstStyle/>
          <a:p>
            <a:pPr marL="16933">
              <a:spcBef>
                <a:spcPts val="133"/>
              </a:spcBef>
            </a:pPr>
            <a:r>
              <a:rPr lang="en-US" sz="2000" err="1">
                <a:latin typeface="Microsoft YaHei" panose="020B0503020204020204" pitchFamily="34" charset="-122"/>
                <a:ea typeface="Microsoft YaHei" panose="020B0503020204020204" pitchFamily="34" charset="-122"/>
                <a:cs typeface="Calibri" panose="020F0502020204030204" pitchFamily="34" charset="0"/>
              </a:rPr>
              <a:t>计算对齐分数</a:t>
            </a:r>
            <a:endParaRPr sz="2000">
              <a:latin typeface="Microsoft YaHei" panose="020B0503020204020204" pitchFamily="34" charset="-122"/>
              <a:ea typeface="Microsoft YaHei" panose="020B0503020204020204" pitchFamily="34" charset="-122"/>
              <a:cs typeface="Calibri" panose="020F0502020204030204" pitchFamily="34"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F1D58D0-3183-8AD7-117C-708597CF32E4}"/>
                  </a:ext>
                </a:extLst>
              </p:cNvPr>
              <p:cNvSpPr txBox="1"/>
              <p:nvPr/>
            </p:nvSpPr>
            <p:spPr>
              <a:xfrm>
                <a:off x="7707715" y="1503273"/>
                <a:ext cx="1861985" cy="3324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𝑒</m:t>
                          </m:r>
                        </m:e>
                        <m:sub>
                          <m:r>
                            <a:rPr lang="en-US" sz="2000" b="0" i="1" smtClean="0">
                              <a:latin typeface="Cambria Math" panose="02040503050406030204" pitchFamily="18" charset="0"/>
                            </a:rPr>
                            <m:t>𝑖</m:t>
                          </m:r>
                          <m:r>
                            <a:rPr lang="en-US" sz="2000" b="0" i="1" smtClean="0">
                              <a:latin typeface="Cambria Math" panose="02040503050406030204" pitchFamily="18" charset="0"/>
                            </a:rPr>
                            <m:t>,</m:t>
                          </m:r>
                          <m:r>
                            <a:rPr lang="en-US" sz="2000" b="0" i="1" smtClean="0">
                              <a:latin typeface="Cambria Math" panose="02040503050406030204" pitchFamily="18" charset="0"/>
                            </a:rPr>
                            <m:t>𝑗</m:t>
                          </m:r>
                        </m:sub>
                      </m:sSub>
                      <m:r>
                        <a:rPr lang="en-US" sz="2000" b="0" i="1" smtClean="0">
                          <a:latin typeface="Cambria Math" panose="02040503050406030204" pitchFamily="18" charset="0"/>
                        </a:rPr>
                        <m:t>=</m:t>
                      </m:r>
                      <m:r>
                        <a:rPr lang="en-US" sz="2000" b="0" i="1" smtClean="0">
                          <a:latin typeface="Cambria Math" panose="02040503050406030204" pitchFamily="18" charset="0"/>
                        </a:rPr>
                        <m:t>𝑎</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𝑖</m:t>
                          </m:r>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h</m:t>
                          </m:r>
                        </m:e>
                        <m:sub>
                          <m:r>
                            <a:rPr lang="en-US" sz="2000" b="0" i="1" smtClean="0">
                              <a:latin typeface="Cambria Math" panose="02040503050406030204" pitchFamily="18" charset="0"/>
                            </a:rPr>
                            <m:t>𝑗</m:t>
                          </m:r>
                        </m:sub>
                      </m:sSub>
                      <m:r>
                        <a:rPr lang="en-US" sz="2000" b="0" i="1" smtClean="0">
                          <a:latin typeface="Cambria Math" panose="02040503050406030204" pitchFamily="18" charset="0"/>
                        </a:rPr>
                        <m:t>)</m:t>
                      </m:r>
                    </m:oMath>
                  </m:oMathPara>
                </a14:m>
                <a:endParaRPr lang="en-US" sz="2000">
                  <a:latin typeface="Microsoft YaHei" panose="020B0503020204020204" pitchFamily="34" charset="-122"/>
                  <a:ea typeface="Microsoft YaHei" panose="020B0503020204020204" pitchFamily="34" charset="-122"/>
                </a:endParaRPr>
              </a:p>
            </p:txBody>
          </p:sp>
        </mc:Choice>
        <mc:Fallback xmlns="">
          <p:sp>
            <p:nvSpPr>
              <p:cNvPr id="4" name="TextBox 3">
                <a:extLst>
                  <a:ext uri="{FF2B5EF4-FFF2-40B4-BE49-F238E27FC236}">
                    <a16:creationId xmlns:a16="http://schemas.microsoft.com/office/drawing/2014/main" id="{0F1D58D0-3183-8AD7-117C-708597CF32E4}"/>
                  </a:ext>
                </a:extLst>
              </p:cNvPr>
              <p:cNvSpPr txBox="1">
                <a:spLocks noRot="1" noChangeAspect="1" noMove="1" noResize="1" noEditPoints="1" noAdjustHandles="1" noChangeArrowheads="1" noChangeShapeType="1" noTextEdit="1"/>
              </p:cNvSpPr>
              <p:nvPr/>
            </p:nvSpPr>
            <p:spPr>
              <a:xfrm>
                <a:off x="7707715" y="1503273"/>
                <a:ext cx="1861985" cy="332463"/>
              </a:xfrm>
              <a:prstGeom prst="rect">
                <a:avLst/>
              </a:prstGeom>
              <a:blipFill>
                <a:blip r:embed="rId3"/>
                <a:stretch>
                  <a:fillRect l="-676" r="-4054" b="-259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5E44630-6776-C181-6CEF-4ABD0877428F}"/>
                  </a:ext>
                </a:extLst>
              </p:cNvPr>
              <p:cNvSpPr txBox="1"/>
              <p:nvPr/>
            </p:nvSpPr>
            <p:spPr>
              <a:xfrm>
                <a:off x="7707715" y="1921289"/>
                <a:ext cx="3062039" cy="400110"/>
              </a:xfrm>
              <a:prstGeom prst="rect">
                <a:avLst/>
              </a:prstGeom>
              <a:noFill/>
            </p:spPr>
            <p:txBody>
              <a:bodyPr wrap="square">
                <a:spAutoFit/>
              </a:bodyPr>
              <a:lstStyle/>
              <a:p>
                <a14:m>
                  <m:oMath xmlns:m="http://schemas.openxmlformats.org/officeDocument/2006/math">
                    <m:r>
                      <a:rPr lang="en-US" sz="2000" b="0" i="1" smtClean="0">
                        <a:latin typeface="Cambria Math" panose="02040503050406030204" pitchFamily="18" charset="0"/>
                      </a:rPr>
                      <m:t>𝑎</m:t>
                    </m:r>
                  </m:oMath>
                </a14:m>
                <a:r>
                  <a:rPr lang="en-US" sz="2000" dirty="0">
                    <a:latin typeface="Microsoft YaHei" panose="020B0503020204020204" pitchFamily="34" charset="-122"/>
                    <a:ea typeface="Microsoft YaHei" panose="020B0503020204020204" pitchFamily="34" charset="-122"/>
                    <a:cs typeface="Calibri" panose="020F0502020204030204" pitchFamily="34" charset="0"/>
                  </a:rPr>
                  <a:t> </a:t>
                </a:r>
                <a:r>
                  <a:rPr lang="en-US" sz="2000" dirty="0" err="1">
                    <a:latin typeface="Microsoft YaHei" panose="020B0503020204020204" pitchFamily="34" charset="-122"/>
                    <a:ea typeface="Microsoft YaHei" panose="020B0503020204020204" pitchFamily="34" charset="-122"/>
                    <a:cs typeface="Calibri" panose="020F0502020204030204" pitchFamily="34" charset="0"/>
                  </a:rPr>
                  <a:t>是前馈注意力机制</a:t>
                </a:r>
                <a:endParaRPr lang="en-US" sz="2000" dirty="0">
                  <a:latin typeface="Microsoft YaHei" panose="020B0503020204020204" pitchFamily="34" charset="-122"/>
                  <a:ea typeface="Microsoft YaHei" panose="020B0503020204020204" pitchFamily="34" charset="-122"/>
                  <a:cs typeface="Calibri" panose="020F0502020204030204" pitchFamily="34" charset="0"/>
                </a:endParaRPr>
              </a:p>
            </p:txBody>
          </p:sp>
        </mc:Choice>
        <mc:Fallback xmlns="">
          <p:sp>
            <p:nvSpPr>
              <p:cNvPr id="5" name="TextBox 4">
                <a:extLst>
                  <a:ext uri="{FF2B5EF4-FFF2-40B4-BE49-F238E27FC236}">
                    <a16:creationId xmlns:a16="http://schemas.microsoft.com/office/drawing/2014/main" id="{45E44630-6776-C181-6CEF-4ABD0877428F}"/>
                  </a:ext>
                </a:extLst>
              </p:cNvPr>
              <p:cNvSpPr txBox="1">
                <a:spLocks noRot="1" noChangeAspect="1" noMove="1" noResize="1" noEditPoints="1" noAdjustHandles="1" noChangeArrowheads="1" noChangeShapeType="1" noTextEdit="1"/>
              </p:cNvSpPr>
              <p:nvPr/>
            </p:nvSpPr>
            <p:spPr>
              <a:xfrm>
                <a:off x="7707715" y="1921289"/>
                <a:ext cx="3062039" cy="400110"/>
              </a:xfrm>
              <a:prstGeom prst="rect">
                <a:avLst/>
              </a:prstGeom>
              <a:blipFill>
                <a:blip r:embed="rId4"/>
                <a:stretch>
                  <a:fillRect t="-9375" b="-28125"/>
                </a:stretch>
              </a:blipFill>
            </p:spPr>
            <p:txBody>
              <a:bodyPr/>
              <a:lstStyle/>
              <a:p>
                <a:r>
                  <a:rPr lang="en-US">
                    <a:noFill/>
                  </a:rPr>
                  <a:t> </a:t>
                </a:r>
              </a:p>
            </p:txBody>
          </p:sp>
        </mc:Fallback>
      </mc:AlternateContent>
      <p:sp>
        <p:nvSpPr>
          <p:cNvPr id="21" name="object 8">
            <a:extLst>
              <a:ext uri="{FF2B5EF4-FFF2-40B4-BE49-F238E27FC236}">
                <a16:creationId xmlns:a16="http://schemas.microsoft.com/office/drawing/2014/main" id="{151391B1-3FC7-3AD8-B69A-EA51C4C06FC0}"/>
              </a:ext>
            </a:extLst>
          </p:cNvPr>
          <p:cNvSpPr txBox="1"/>
          <p:nvPr/>
        </p:nvSpPr>
        <p:spPr>
          <a:xfrm>
            <a:off x="692227" y="5627077"/>
            <a:ext cx="323772" cy="294097"/>
          </a:xfrm>
          <a:prstGeom prst="rect">
            <a:avLst/>
          </a:prstGeom>
        </p:spPr>
        <p:txBody>
          <a:bodyPr vert="horz" wrap="square" lIns="0" tIns="16933" rIns="0" bIns="0" rtlCol="0" anchor="t">
            <a:spAutoFit/>
          </a:bodyPr>
          <a:lstStyle/>
          <a:p>
            <a:pPr marL="16510">
              <a:spcBef>
                <a:spcPts val="133"/>
              </a:spcBef>
            </a:pPr>
            <a:r>
              <a:rPr lang="zh-CN" spc="-33">
                <a:latin typeface="Microsoft YaHei" panose="020B0503020204020204" pitchFamily="34" charset="-122"/>
                <a:ea typeface="Microsoft YaHei" panose="020B0503020204020204" pitchFamily="34" charset="-122"/>
                <a:cs typeface="Calibri"/>
              </a:rPr>
              <a:t>我</a:t>
            </a:r>
            <a:endParaRPr lang="zh-CN" altLang="en-US">
              <a:latin typeface="Microsoft YaHei" panose="020B0503020204020204" pitchFamily="34" charset="-122"/>
              <a:ea typeface="Microsoft YaHei" panose="020B0503020204020204" pitchFamily="34" charset="-122"/>
              <a:cs typeface="Calibri" panose="020F0502020204030204" pitchFamily="34" charset="0"/>
            </a:endParaRPr>
          </a:p>
        </p:txBody>
      </p:sp>
      <p:sp>
        <p:nvSpPr>
          <p:cNvPr id="35" name="object 9">
            <a:extLst>
              <a:ext uri="{FF2B5EF4-FFF2-40B4-BE49-F238E27FC236}">
                <a16:creationId xmlns:a16="http://schemas.microsoft.com/office/drawing/2014/main" id="{F3A9300F-76A4-E1E2-B2A5-1DBEBFC7AFB8}"/>
              </a:ext>
            </a:extLst>
          </p:cNvPr>
          <p:cNvSpPr txBox="1"/>
          <p:nvPr/>
        </p:nvSpPr>
        <p:spPr>
          <a:xfrm>
            <a:off x="1553348" y="5627077"/>
            <a:ext cx="360445" cy="294097"/>
          </a:xfrm>
          <a:prstGeom prst="rect">
            <a:avLst/>
          </a:prstGeom>
        </p:spPr>
        <p:txBody>
          <a:bodyPr vert="horz" wrap="square" lIns="0" tIns="16933" rIns="0" bIns="0" rtlCol="0" anchor="t">
            <a:spAutoFit/>
          </a:bodyPr>
          <a:lstStyle/>
          <a:p>
            <a:pPr marL="16510">
              <a:spcBef>
                <a:spcPts val="133"/>
              </a:spcBef>
            </a:pPr>
            <a:r>
              <a:rPr lang="zh-CN" spc="-33">
                <a:latin typeface="Microsoft YaHei" panose="020B0503020204020204" pitchFamily="34" charset="-122"/>
                <a:ea typeface="Microsoft YaHei" panose="020B0503020204020204" pitchFamily="34" charset="-122"/>
                <a:cs typeface="Calibri"/>
              </a:rPr>
              <a:t>买</a:t>
            </a:r>
            <a:endParaRPr lang="zh-CN" altLang="en-US">
              <a:latin typeface="Microsoft YaHei" panose="020B0503020204020204" pitchFamily="34" charset="-122"/>
              <a:ea typeface="Microsoft YaHei" panose="020B0503020204020204" pitchFamily="34" charset="-122"/>
              <a:cs typeface="Calibri" panose="020F0502020204030204" pitchFamily="34" charset="0"/>
            </a:endParaRPr>
          </a:p>
        </p:txBody>
      </p:sp>
      <p:sp>
        <p:nvSpPr>
          <p:cNvPr id="67" name="object 10">
            <a:extLst>
              <a:ext uri="{FF2B5EF4-FFF2-40B4-BE49-F238E27FC236}">
                <a16:creationId xmlns:a16="http://schemas.microsoft.com/office/drawing/2014/main" id="{896F1057-E477-71BC-CAF7-58AF1C92DBB0}"/>
              </a:ext>
            </a:extLst>
          </p:cNvPr>
          <p:cNvSpPr txBox="1"/>
          <p:nvPr/>
        </p:nvSpPr>
        <p:spPr>
          <a:xfrm>
            <a:off x="2375045" y="5627077"/>
            <a:ext cx="641258" cy="294097"/>
          </a:xfrm>
          <a:prstGeom prst="rect">
            <a:avLst/>
          </a:prstGeom>
        </p:spPr>
        <p:txBody>
          <a:bodyPr vert="horz" wrap="square" lIns="0" tIns="16933" rIns="0" bIns="0" rtlCol="0" anchor="t">
            <a:spAutoFit/>
          </a:bodyPr>
          <a:lstStyle/>
          <a:p>
            <a:pPr marL="16510" algn="ctr">
              <a:spcBef>
                <a:spcPts val="133"/>
              </a:spcBef>
            </a:pPr>
            <a:r>
              <a:rPr lang="zh-CN" spc="-13">
                <a:latin typeface="Microsoft YaHei" panose="020B0503020204020204" pitchFamily="34" charset="-122"/>
                <a:ea typeface="Microsoft YaHei" panose="020B0503020204020204" pitchFamily="34" charset="-122"/>
                <a:cs typeface="Calibri"/>
              </a:rPr>
              <a:t>了</a:t>
            </a:r>
            <a:endParaRPr lang="zh-CN" altLang="en-US">
              <a:latin typeface="Microsoft YaHei" panose="020B0503020204020204" pitchFamily="34" charset="-122"/>
              <a:ea typeface="Microsoft YaHei" panose="020B0503020204020204" pitchFamily="34" charset="-122"/>
              <a:cs typeface="Calibri" panose="020F0502020204030204" pitchFamily="34" charset="0"/>
            </a:endParaRPr>
          </a:p>
        </p:txBody>
      </p:sp>
      <p:sp>
        <p:nvSpPr>
          <p:cNvPr id="68" name="object 24">
            <a:extLst>
              <a:ext uri="{FF2B5EF4-FFF2-40B4-BE49-F238E27FC236}">
                <a16:creationId xmlns:a16="http://schemas.microsoft.com/office/drawing/2014/main" id="{91DE5954-1850-FC38-44C5-EB83950C7012}"/>
              </a:ext>
            </a:extLst>
          </p:cNvPr>
          <p:cNvSpPr txBox="1"/>
          <p:nvPr/>
        </p:nvSpPr>
        <p:spPr>
          <a:xfrm>
            <a:off x="3333099" y="5627077"/>
            <a:ext cx="604585" cy="294097"/>
          </a:xfrm>
          <a:prstGeom prst="rect">
            <a:avLst/>
          </a:prstGeom>
        </p:spPr>
        <p:txBody>
          <a:bodyPr vert="horz" wrap="square" lIns="0" tIns="16933" rIns="0" bIns="0" rtlCol="0" anchor="t">
            <a:spAutoFit/>
          </a:bodyPr>
          <a:lstStyle/>
          <a:p>
            <a:pPr marL="16510" algn="ctr">
              <a:spcBef>
                <a:spcPts val="133"/>
              </a:spcBef>
            </a:pPr>
            <a:r>
              <a:rPr lang="zh-CN" altLang="en-US" spc="-13" dirty="0">
                <a:latin typeface="Microsoft YaHei" panose="020B0503020204020204" pitchFamily="34" charset="-122"/>
                <a:ea typeface="Microsoft YaHei" panose="020B0503020204020204" pitchFamily="34" charset="-122"/>
                <a:cs typeface="Calibri"/>
              </a:rPr>
              <a:t>书</a:t>
            </a:r>
            <a:endParaRPr lang="zh-CN" altLang="en-US" dirty="0">
              <a:latin typeface="Microsoft YaHei" panose="020B0503020204020204" pitchFamily="34" charset="-122"/>
              <a:ea typeface="Microsoft YaHei" panose="020B0503020204020204" pitchFamily="34" charset="-122"/>
              <a:cs typeface="Calibri" panose="020F0502020204030204" pitchFamily="34" charset="0"/>
            </a:endParaRPr>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FFC396B2-DDF2-124D-54DC-CEA32257F7F4}"/>
                  </a:ext>
                </a:extLst>
              </p:cNvPr>
              <p:cNvSpPr txBox="1"/>
              <p:nvPr/>
            </p:nvSpPr>
            <p:spPr>
              <a:xfrm>
                <a:off x="3056823" y="5662965"/>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70" name="TextBox 69">
                <a:extLst>
                  <a:ext uri="{FF2B5EF4-FFF2-40B4-BE49-F238E27FC236}">
                    <a16:creationId xmlns:a16="http://schemas.microsoft.com/office/drawing/2014/main" id="{FFC396B2-DDF2-124D-54DC-CEA32257F7F4}"/>
                  </a:ext>
                </a:extLst>
              </p:cNvPr>
              <p:cNvSpPr txBox="1">
                <a:spLocks noRot="1" noChangeAspect="1" noMove="1" noResize="1" noEditPoints="1" noAdjustHandles="1" noChangeArrowheads="1" noChangeShapeType="1" noTextEdit="1"/>
              </p:cNvSpPr>
              <p:nvPr/>
            </p:nvSpPr>
            <p:spPr>
              <a:xfrm>
                <a:off x="3056823" y="5662965"/>
                <a:ext cx="329532" cy="24622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D62D0E24-D3CF-5C92-B47F-F9DF59ECB307}"/>
                  </a:ext>
                </a:extLst>
              </p:cNvPr>
              <p:cNvSpPr txBox="1"/>
              <p:nvPr/>
            </p:nvSpPr>
            <p:spPr>
              <a:xfrm>
                <a:off x="614540" y="5022798"/>
                <a:ext cx="47198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oMath>
                  </m:oMathPara>
                </a14:m>
                <a:endParaRPr lang="en-US" dirty="0"/>
              </a:p>
            </p:txBody>
          </p:sp>
        </mc:Choice>
        <mc:Fallback xmlns="">
          <p:sp>
            <p:nvSpPr>
              <p:cNvPr id="73" name="TextBox 72">
                <a:extLst>
                  <a:ext uri="{FF2B5EF4-FFF2-40B4-BE49-F238E27FC236}">
                    <a16:creationId xmlns:a16="http://schemas.microsoft.com/office/drawing/2014/main" id="{D62D0E24-D3CF-5C92-B47F-F9DF59ECB307}"/>
                  </a:ext>
                </a:extLst>
              </p:cNvPr>
              <p:cNvSpPr txBox="1">
                <a:spLocks noRot="1" noChangeAspect="1" noMove="1" noResize="1" noEditPoints="1" noAdjustHandles="1" noChangeArrowheads="1" noChangeShapeType="1" noTextEdit="1"/>
              </p:cNvSpPr>
              <p:nvPr/>
            </p:nvSpPr>
            <p:spPr>
              <a:xfrm>
                <a:off x="614540" y="5022798"/>
                <a:ext cx="471989"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E81C0945-4975-B3C5-D2F4-7E38D60570A5}"/>
                  </a:ext>
                </a:extLst>
              </p:cNvPr>
              <p:cNvSpPr txBox="1"/>
              <p:nvPr/>
            </p:nvSpPr>
            <p:spPr>
              <a:xfrm>
                <a:off x="1494969" y="5022798"/>
                <a:ext cx="47731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oMath>
                  </m:oMathPara>
                </a14:m>
                <a:endParaRPr lang="en-US" dirty="0"/>
              </a:p>
            </p:txBody>
          </p:sp>
        </mc:Choice>
        <mc:Fallback xmlns="">
          <p:sp>
            <p:nvSpPr>
              <p:cNvPr id="89" name="TextBox 88">
                <a:extLst>
                  <a:ext uri="{FF2B5EF4-FFF2-40B4-BE49-F238E27FC236}">
                    <a16:creationId xmlns:a16="http://schemas.microsoft.com/office/drawing/2014/main" id="{E81C0945-4975-B3C5-D2F4-7E38D60570A5}"/>
                  </a:ext>
                </a:extLst>
              </p:cNvPr>
              <p:cNvSpPr txBox="1">
                <a:spLocks noRot="1" noChangeAspect="1" noMove="1" noResize="1" noEditPoints="1" noAdjustHandles="1" noChangeArrowheads="1" noChangeShapeType="1" noTextEdit="1"/>
              </p:cNvSpPr>
              <p:nvPr/>
            </p:nvSpPr>
            <p:spPr>
              <a:xfrm>
                <a:off x="1494969" y="5022798"/>
                <a:ext cx="477310"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2BA4B2B9-C879-CE29-BA29-CFEABAD3CB8A}"/>
                  </a:ext>
                </a:extLst>
              </p:cNvPr>
              <p:cNvSpPr txBox="1"/>
              <p:nvPr/>
            </p:nvSpPr>
            <p:spPr>
              <a:xfrm>
                <a:off x="2457019" y="5022798"/>
                <a:ext cx="47731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3</m:t>
                          </m:r>
                        </m:sub>
                      </m:sSub>
                    </m:oMath>
                  </m:oMathPara>
                </a14:m>
                <a:endParaRPr lang="en-US" dirty="0"/>
              </a:p>
            </p:txBody>
          </p:sp>
        </mc:Choice>
        <mc:Fallback xmlns="">
          <p:sp>
            <p:nvSpPr>
              <p:cNvPr id="90" name="TextBox 89">
                <a:extLst>
                  <a:ext uri="{FF2B5EF4-FFF2-40B4-BE49-F238E27FC236}">
                    <a16:creationId xmlns:a16="http://schemas.microsoft.com/office/drawing/2014/main" id="{2BA4B2B9-C879-CE29-BA29-CFEABAD3CB8A}"/>
                  </a:ext>
                </a:extLst>
              </p:cNvPr>
              <p:cNvSpPr txBox="1">
                <a:spLocks noRot="1" noChangeAspect="1" noMove="1" noResize="1" noEditPoints="1" noAdjustHandles="1" noChangeArrowheads="1" noChangeShapeType="1" noTextEdit="1"/>
              </p:cNvSpPr>
              <p:nvPr/>
            </p:nvSpPr>
            <p:spPr>
              <a:xfrm>
                <a:off x="2457019" y="5022798"/>
                <a:ext cx="477310"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7D3AF87B-5C9E-8436-D42D-5B994F7DA610}"/>
                  </a:ext>
                </a:extLst>
              </p:cNvPr>
              <p:cNvSpPr txBox="1"/>
              <p:nvPr/>
            </p:nvSpPr>
            <p:spPr>
              <a:xfrm>
                <a:off x="3419069" y="5049369"/>
                <a:ext cx="49699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𝑇</m:t>
                          </m:r>
                        </m:sub>
                      </m:sSub>
                    </m:oMath>
                  </m:oMathPara>
                </a14:m>
                <a:endParaRPr lang="en-US" dirty="0"/>
              </a:p>
            </p:txBody>
          </p:sp>
        </mc:Choice>
        <mc:Fallback xmlns="">
          <p:sp>
            <p:nvSpPr>
              <p:cNvPr id="91" name="TextBox 90">
                <a:extLst>
                  <a:ext uri="{FF2B5EF4-FFF2-40B4-BE49-F238E27FC236}">
                    <a16:creationId xmlns:a16="http://schemas.microsoft.com/office/drawing/2014/main" id="{7D3AF87B-5C9E-8436-D42D-5B994F7DA610}"/>
                  </a:ext>
                </a:extLst>
              </p:cNvPr>
              <p:cNvSpPr txBox="1">
                <a:spLocks noRot="1" noChangeAspect="1" noMove="1" noResize="1" noEditPoints="1" noAdjustHandles="1" noChangeArrowheads="1" noChangeShapeType="1" noTextEdit="1"/>
              </p:cNvSpPr>
              <p:nvPr/>
            </p:nvSpPr>
            <p:spPr>
              <a:xfrm>
                <a:off x="3419069" y="5049369"/>
                <a:ext cx="496996" cy="369332"/>
              </a:xfrm>
              <a:prstGeom prst="rect">
                <a:avLst/>
              </a:prstGeom>
              <a:blipFill>
                <a:blip r:embed="rId9"/>
                <a:stretch>
                  <a:fillRect b="-3333"/>
                </a:stretch>
              </a:blipFill>
            </p:spPr>
            <p:txBody>
              <a:bodyPr/>
              <a:lstStyle/>
              <a:p>
                <a:r>
                  <a:rPr lang="en-US">
                    <a:noFill/>
                  </a:rPr>
                  <a:t> </a:t>
                </a:r>
              </a:p>
            </p:txBody>
          </p:sp>
        </mc:Fallback>
      </mc:AlternateContent>
      <p:cxnSp>
        <p:nvCxnSpPr>
          <p:cNvPr id="92" name="Straight Arrow Connector 91">
            <a:extLst>
              <a:ext uri="{FF2B5EF4-FFF2-40B4-BE49-F238E27FC236}">
                <a16:creationId xmlns:a16="http://schemas.microsoft.com/office/drawing/2014/main" id="{6073167B-AE95-A40C-2F89-59CC3964313E}"/>
              </a:ext>
            </a:extLst>
          </p:cNvPr>
          <p:cNvCxnSpPr>
            <a:stCxn id="21" idx="0"/>
            <a:endCxn id="73" idx="2"/>
          </p:cNvCxnSpPr>
          <p:nvPr/>
        </p:nvCxnSpPr>
        <p:spPr>
          <a:xfrm flipH="1" flipV="1">
            <a:off x="850535" y="5392130"/>
            <a:ext cx="3578"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B23C7FAA-7729-4BB7-35FC-C3EB791B1AE7}"/>
              </a:ext>
            </a:extLst>
          </p:cNvPr>
          <p:cNvCxnSpPr>
            <a:cxnSpLocks/>
            <a:stCxn id="35" idx="0"/>
            <a:endCxn id="89" idx="2"/>
          </p:cNvCxnSpPr>
          <p:nvPr/>
        </p:nvCxnSpPr>
        <p:spPr>
          <a:xfrm flipV="1">
            <a:off x="1733571" y="5392130"/>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CE9F5E19-E9C7-186D-E2BD-0F7BC90194B6}"/>
              </a:ext>
            </a:extLst>
          </p:cNvPr>
          <p:cNvCxnSpPr>
            <a:cxnSpLocks/>
          </p:cNvCxnSpPr>
          <p:nvPr/>
        </p:nvCxnSpPr>
        <p:spPr>
          <a:xfrm flipV="1">
            <a:off x="2679165" y="5358926"/>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5ADD718F-0CF4-8A64-3464-4386D6F88473}"/>
              </a:ext>
            </a:extLst>
          </p:cNvPr>
          <p:cNvCxnSpPr>
            <a:cxnSpLocks/>
          </p:cNvCxnSpPr>
          <p:nvPr/>
        </p:nvCxnSpPr>
        <p:spPr>
          <a:xfrm flipV="1">
            <a:off x="3635391" y="5392129"/>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6" name="Rectangle 95">
                <a:extLst>
                  <a:ext uri="{FF2B5EF4-FFF2-40B4-BE49-F238E27FC236}">
                    <a16:creationId xmlns:a16="http://schemas.microsoft.com/office/drawing/2014/main" id="{8ECC106F-BAA6-236A-78DB-673CAB707DD1}"/>
                  </a:ext>
                </a:extLst>
              </p:cNvPr>
              <p:cNvSpPr/>
              <p:nvPr/>
            </p:nvSpPr>
            <p:spPr>
              <a:xfrm>
                <a:off x="661797" y="4263656"/>
                <a:ext cx="424732" cy="43593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1</m:t>
                          </m:r>
                        </m:sub>
                      </m:sSub>
                    </m:oMath>
                  </m:oMathPara>
                </a14:m>
                <a:endParaRPr lang="en-US" dirty="0"/>
              </a:p>
            </p:txBody>
          </p:sp>
        </mc:Choice>
        <mc:Fallback xmlns="">
          <p:sp>
            <p:nvSpPr>
              <p:cNvPr id="96" name="Rectangle 95">
                <a:extLst>
                  <a:ext uri="{FF2B5EF4-FFF2-40B4-BE49-F238E27FC236}">
                    <a16:creationId xmlns:a16="http://schemas.microsoft.com/office/drawing/2014/main" id="{8ECC106F-BAA6-236A-78DB-673CAB707DD1}"/>
                  </a:ext>
                </a:extLst>
              </p:cNvPr>
              <p:cNvSpPr>
                <a:spLocks noRot="1" noChangeAspect="1" noMove="1" noResize="1" noEditPoints="1" noAdjustHandles="1" noChangeArrowheads="1" noChangeShapeType="1" noTextEdit="1"/>
              </p:cNvSpPr>
              <p:nvPr/>
            </p:nvSpPr>
            <p:spPr>
              <a:xfrm>
                <a:off x="661797" y="4263656"/>
                <a:ext cx="424732" cy="435935"/>
              </a:xfrm>
              <a:prstGeom prst="rect">
                <a:avLst/>
              </a:prstGeom>
              <a:blipFill>
                <a:blip r:embed="rId10"/>
                <a:stretch>
                  <a:fillRect l="-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Rectangle 96">
                <a:extLst>
                  <a:ext uri="{FF2B5EF4-FFF2-40B4-BE49-F238E27FC236}">
                    <a16:creationId xmlns:a16="http://schemas.microsoft.com/office/drawing/2014/main" id="{03CCF619-AFAC-9196-644B-3D11D862AC16}"/>
                  </a:ext>
                </a:extLst>
              </p:cNvPr>
              <p:cNvSpPr/>
              <p:nvPr/>
            </p:nvSpPr>
            <p:spPr>
              <a:xfrm>
                <a:off x="1547547" y="4263656"/>
                <a:ext cx="424732" cy="43593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2</m:t>
                          </m:r>
                        </m:sub>
                      </m:sSub>
                    </m:oMath>
                  </m:oMathPara>
                </a14:m>
                <a:endParaRPr lang="en-US" dirty="0"/>
              </a:p>
            </p:txBody>
          </p:sp>
        </mc:Choice>
        <mc:Fallback xmlns="">
          <p:sp>
            <p:nvSpPr>
              <p:cNvPr id="97" name="Rectangle 96">
                <a:extLst>
                  <a:ext uri="{FF2B5EF4-FFF2-40B4-BE49-F238E27FC236}">
                    <a16:creationId xmlns:a16="http://schemas.microsoft.com/office/drawing/2014/main" id="{03CCF619-AFAC-9196-644B-3D11D862AC16}"/>
                  </a:ext>
                </a:extLst>
              </p:cNvPr>
              <p:cNvSpPr>
                <a:spLocks noRot="1" noChangeAspect="1" noMove="1" noResize="1" noEditPoints="1" noAdjustHandles="1" noChangeArrowheads="1" noChangeShapeType="1" noTextEdit="1"/>
              </p:cNvSpPr>
              <p:nvPr/>
            </p:nvSpPr>
            <p:spPr>
              <a:xfrm>
                <a:off x="1547547" y="4263656"/>
                <a:ext cx="424732" cy="435935"/>
              </a:xfrm>
              <a:prstGeom prst="rect">
                <a:avLst/>
              </a:prstGeom>
              <a:blipFill>
                <a:blip r:embed="rId11"/>
                <a:stretch>
                  <a:fillRect l="-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Rectangle 97">
                <a:extLst>
                  <a:ext uri="{FF2B5EF4-FFF2-40B4-BE49-F238E27FC236}">
                    <a16:creationId xmlns:a16="http://schemas.microsoft.com/office/drawing/2014/main" id="{8C01B3AE-26EC-C4BB-EEF2-6B5AAF6344DB}"/>
                  </a:ext>
                </a:extLst>
              </p:cNvPr>
              <p:cNvSpPr/>
              <p:nvPr/>
            </p:nvSpPr>
            <p:spPr>
              <a:xfrm>
                <a:off x="2472323" y="4263656"/>
                <a:ext cx="424732" cy="43593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3</m:t>
                          </m:r>
                        </m:sub>
                      </m:sSub>
                    </m:oMath>
                  </m:oMathPara>
                </a14:m>
                <a:endParaRPr lang="en-US" dirty="0"/>
              </a:p>
            </p:txBody>
          </p:sp>
        </mc:Choice>
        <mc:Fallback xmlns="">
          <p:sp>
            <p:nvSpPr>
              <p:cNvPr id="98" name="Rectangle 97">
                <a:extLst>
                  <a:ext uri="{FF2B5EF4-FFF2-40B4-BE49-F238E27FC236}">
                    <a16:creationId xmlns:a16="http://schemas.microsoft.com/office/drawing/2014/main" id="{8C01B3AE-26EC-C4BB-EEF2-6B5AAF6344DB}"/>
                  </a:ext>
                </a:extLst>
              </p:cNvPr>
              <p:cNvSpPr>
                <a:spLocks noRot="1" noChangeAspect="1" noMove="1" noResize="1" noEditPoints="1" noAdjustHandles="1" noChangeArrowheads="1" noChangeShapeType="1" noTextEdit="1"/>
              </p:cNvSpPr>
              <p:nvPr/>
            </p:nvSpPr>
            <p:spPr>
              <a:xfrm>
                <a:off x="2472323" y="4263656"/>
                <a:ext cx="424732" cy="435935"/>
              </a:xfrm>
              <a:prstGeom prst="rect">
                <a:avLst/>
              </a:prstGeom>
              <a:blipFill>
                <a:blip r:embed="rId12"/>
                <a:stretch>
                  <a:fillRect l="-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Rectangle 98">
                <a:extLst>
                  <a:ext uri="{FF2B5EF4-FFF2-40B4-BE49-F238E27FC236}">
                    <a16:creationId xmlns:a16="http://schemas.microsoft.com/office/drawing/2014/main" id="{30CAE72A-4B8C-9452-2E56-8A9A4ABA4802}"/>
                  </a:ext>
                </a:extLst>
              </p:cNvPr>
              <p:cNvSpPr/>
              <p:nvPr/>
            </p:nvSpPr>
            <p:spPr>
              <a:xfrm>
                <a:off x="3455201" y="4278211"/>
                <a:ext cx="424732" cy="43593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𝑇</m:t>
                          </m:r>
                        </m:sub>
                      </m:sSub>
                    </m:oMath>
                  </m:oMathPara>
                </a14:m>
                <a:endParaRPr lang="en-US" dirty="0"/>
              </a:p>
            </p:txBody>
          </p:sp>
        </mc:Choice>
        <mc:Fallback xmlns="">
          <p:sp>
            <p:nvSpPr>
              <p:cNvPr id="99" name="Rectangle 98">
                <a:extLst>
                  <a:ext uri="{FF2B5EF4-FFF2-40B4-BE49-F238E27FC236}">
                    <a16:creationId xmlns:a16="http://schemas.microsoft.com/office/drawing/2014/main" id="{30CAE72A-4B8C-9452-2E56-8A9A4ABA4802}"/>
                  </a:ext>
                </a:extLst>
              </p:cNvPr>
              <p:cNvSpPr>
                <a:spLocks noRot="1" noChangeAspect="1" noMove="1" noResize="1" noEditPoints="1" noAdjustHandles="1" noChangeArrowheads="1" noChangeShapeType="1" noTextEdit="1"/>
              </p:cNvSpPr>
              <p:nvPr/>
            </p:nvSpPr>
            <p:spPr>
              <a:xfrm>
                <a:off x="3455201" y="4278211"/>
                <a:ext cx="424732" cy="435935"/>
              </a:xfrm>
              <a:prstGeom prst="rect">
                <a:avLst/>
              </a:prstGeom>
              <a:blipFill>
                <a:blip r:embed="rId13"/>
                <a:stretch>
                  <a:fillRect l="-5714"/>
                </a:stretch>
              </a:blipFill>
            </p:spPr>
            <p:txBody>
              <a:bodyPr/>
              <a:lstStyle/>
              <a:p>
                <a:r>
                  <a:rPr lang="en-US">
                    <a:noFill/>
                  </a:rPr>
                  <a:t> </a:t>
                </a:r>
              </a:p>
            </p:txBody>
          </p:sp>
        </mc:Fallback>
      </mc:AlternateContent>
      <p:cxnSp>
        <p:nvCxnSpPr>
          <p:cNvPr id="100" name="Straight Arrow Connector 99">
            <a:extLst>
              <a:ext uri="{FF2B5EF4-FFF2-40B4-BE49-F238E27FC236}">
                <a16:creationId xmlns:a16="http://schemas.microsoft.com/office/drawing/2014/main" id="{1E8A2FAF-CB1F-4F77-340C-3C7F2B8CE7A5}"/>
              </a:ext>
            </a:extLst>
          </p:cNvPr>
          <p:cNvCxnSpPr>
            <a:cxnSpLocks/>
            <a:stCxn id="98" idx="3"/>
            <a:endCxn id="99" idx="1"/>
          </p:cNvCxnSpPr>
          <p:nvPr/>
        </p:nvCxnSpPr>
        <p:spPr>
          <a:xfrm>
            <a:off x="2897055" y="4481624"/>
            <a:ext cx="558146" cy="1455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01" name="Group 100">
            <a:extLst>
              <a:ext uri="{FF2B5EF4-FFF2-40B4-BE49-F238E27FC236}">
                <a16:creationId xmlns:a16="http://schemas.microsoft.com/office/drawing/2014/main" id="{0C26E1E6-3F1E-3956-BF4D-DCC498F41767}"/>
              </a:ext>
            </a:extLst>
          </p:cNvPr>
          <p:cNvGrpSpPr/>
          <p:nvPr/>
        </p:nvGrpSpPr>
        <p:grpSpPr>
          <a:xfrm>
            <a:off x="2999905" y="4347165"/>
            <a:ext cx="329532" cy="246221"/>
            <a:chOff x="2966499" y="3857245"/>
            <a:chExt cx="329532" cy="246221"/>
          </a:xfrm>
        </p:grpSpPr>
        <p:sp>
          <p:nvSpPr>
            <p:cNvPr id="102" name="TextBox 101">
              <a:extLst>
                <a:ext uri="{FF2B5EF4-FFF2-40B4-BE49-F238E27FC236}">
                  <a16:creationId xmlns:a16="http://schemas.microsoft.com/office/drawing/2014/main" id="{4E6DDFB3-767E-02FB-6B82-09C347849BE5}"/>
                </a:ext>
              </a:extLst>
            </p:cNvPr>
            <p:cNvSpPr txBox="1"/>
            <p:nvPr/>
          </p:nvSpPr>
          <p:spPr>
            <a:xfrm>
              <a:off x="3033827" y="3907765"/>
              <a:ext cx="187762" cy="184666"/>
            </a:xfrm>
            <a:prstGeom prst="rect">
              <a:avLst/>
            </a:prstGeom>
            <a:solidFill>
              <a:schemeClr val="bg1"/>
            </a:solidFill>
          </p:spPr>
          <p:txBody>
            <a:bodyPr wrap="square" rtlCol="0">
              <a:spAutoFit/>
            </a:bodyPr>
            <a:lstStyle/>
            <a:p>
              <a:endParaRPr lang="en-US" sz="600" dirty="0">
                <a:latin typeface="Microsoft YaHei" panose="020B0503020204020204" pitchFamily="34" charset="-122"/>
                <a:ea typeface="Microsoft YaHei" panose="020B0503020204020204" pitchFamily="34" charset="-122"/>
              </a:endParaRPr>
            </a:p>
          </p:txBody>
        </p:sp>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237C3061-9F99-9724-193C-CC04E15B2C11}"/>
                    </a:ext>
                  </a:extLst>
                </p:cNvPr>
                <p:cNvSpPr txBox="1"/>
                <p:nvPr/>
              </p:nvSpPr>
              <p:spPr>
                <a:xfrm>
                  <a:off x="2966499" y="3857245"/>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103" name="TextBox 102">
                  <a:extLst>
                    <a:ext uri="{FF2B5EF4-FFF2-40B4-BE49-F238E27FC236}">
                      <a16:creationId xmlns:a16="http://schemas.microsoft.com/office/drawing/2014/main" id="{237C3061-9F99-9724-193C-CC04E15B2C11}"/>
                    </a:ext>
                  </a:extLst>
                </p:cNvPr>
                <p:cNvSpPr txBox="1">
                  <a:spLocks noRot="1" noChangeAspect="1" noMove="1" noResize="1" noEditPoints="1" noAdjustHandles="1" noChangeArrowheads="1" noChangeShapeType="1" noTextEdit="1"/>
                </p:cNvSpPr>
                <p:nvPr/>
              </p:nvSpPr>
              <p:spPr>
                <a:xfrm>
                  <a:off x="2966499" y="3857245"/>
                  <a:ext cx="329532" cy="246221"/>
                </a:xfrm>
                <a:prstGeom prst="rect">
                  <a:avLst/>
                </a:prstGeom>
                <a:blipFill>
                  <a:blip r:embed="rId14"/>
                  <a:stretch>
                    <a:fillRect/>
                  </a:stretch>
                </a:blipFill>
              </p:spPr>
              <p:txBody>
                <a:bodyPr/>
                <a:lstStyle/>
                <a:p>
                  <a:r>
                    <a:rPr lang="en-US">
                      <a:noFill/>
                    </a:rPr>
                    <a:t> </a:t>
                  </a:r>
                </a:p>
              </p:txBody>
            </p:sp>
          </mc:Fallback>
        </mc:AlternateContent>
      </p:grpSp>
      <p:cxnSp>
        <p:nvCxnSpPr>
          <p:cNvPr id="104" name="Straight Arrow Connector 103">
            <a:extLst>
              <a:ext uri="{FF2B5EF4-FFF2-40B4-BE49-F238E27FC236}">
                <a16:creationId xmlns:a16="http://schemas.microsoft.com/office/drawing/2014/main" id="{AE711DA2-1F8D-340C-A8B9-1BCB58CB2506}"/>
              </a:ext>
            </a:extLst>
          </p:cNvPr>
          <p:cNvCxnSpPr>
            <a:cxnSpLocks/>
            <a:stCxn id="97" idx="3"/>
            <a:endCxn id="98" idx="1"/>
          </p:cNvCxnSpPr>
          <p:nvPr/>
        </p:nvCxnSpPr>
        <p:spPr>
          <a:xfrm>
            <a:off x="1972279" y="4481624"/>
            <a:ext cx="50004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2ACC8692-3EA6-E0E3-4827-C6E273BDEA5B}"/>
              </a:ext>
            </a:extLst>
          </p:cNvPr>
          <p:cNvCxnSpPr>
            <a:cxnSpLocks/>
            <a:stCxn id="96" idx="3"/>
            <a:endCxn id="97" idx="1"/>
          </p:cNvCxnSpPr>
          <p:nvPr/>
        </p:nvCxnSpPr>
        <p:spPr>
          <a:xfrm>
            <a:off x="1086529" y="4481624"/>
            <a:ext cx="46101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4030160B-7885-7194-4BFD-7AE1CAA28B20}"/>
              </a:ext>
            </a:extLst>
          </p:cNvPr>
          <p:cNvCxnSpPr/>
          <p:nvPr/>
        </p:nvCxnSpPr>
        <p:spPr>
          <a:xfrm flipH="1" flipV="1">
            <a:off x="850482" y="4861970"/>
            <a:ext cx="3578"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3D681617-22D1-43AD-8230-5C11D08A8EF3}"/>
              </a:ext>
            </a:extLst>
          </p:cNvPr>
          <p:cNvCxnSpPr>
            <a:cxnSpLocks/>
          </p:cNvCxnSpPr>
          <p:nvPr/>
        </p:nvCxnSpPr>
        <p:spPr>
          <a:xfrm flipV="1">
            <a:off x="1733518" y="4861970"/>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663B5DC6-FA60-D47B-07FC-1FA48734EAB1}"/>
              </a:ext>
            </a:extLst>
          </p:cNvPr>
          <p:cNvCxnSpPr>
            <a:cxnSpLocks/>
          </p:cNvCxnSpPr>
          <p:nvPr/>
        </p:nvCxnSpPr>
        <p:spPr>
          <a:xfrm flipV="1">
            <a:off x="2679112" y="4828766"/>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293BA951-5E3B-0766-299E-0CC99F5515FF}"/>
              </a:ext>
            </a:extLst>
          </p:cNvPr>
          <p:cNvCxnSpPr>
            <a:cxnSpLocks/>
          </p:cNvCxnSpPr>
          <p:nvPr/>
        </p:nvCxnSpPr>
        <p:spPr>
          <a:xfrm flipV="1">
            <a:off x="3635338" y="4861969"/>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34F7A16F-AD42-7196-4DC1-2160C4D8759E}"/>
                  </a:ext>
                </a:extLst>
              </p:cNvPr>
              <p:cNvSpPr txBox="1"/>
              <p:nvPr/>
            </p:nvSpPr>
            <p:spPr>
              <a:xfrm>
                <a:off x="3040699" y="5108610"/>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110" name="TextBox 109">
                <a:extLst>
                  <a:ext uri="{FF2B5EF4-FFF2-40B4-BE49-F238E27FC236}">
                    <a16:creationId xmlns:a16="http://schemas.microsoft.com/office/drawing/2014/main" id="{34F7A16F-AD42-7196-4DC1-2160C4D8759E}"/>
                  </a:ext>
                </a:extLst>
              </p:cNvPr>
              <p:cNvSpPr txBox="1">
                <a:spLocks noRot="1" noChangeAspect="1" noMove="1" noResize="1" noEditPoints="1" noAdjustHandles="1" noChangeArrowheads="1" noChangeShapeType="1" noTextEdit="1"/>
              </p:cNvSpPr>
              <p:nvPr/>
            </p:nvSpPr>
            <p:spPr>
              <a:xfrm>
                <a:off x="3040699" y="5108610"/>
                <a:ext cx="329532" cy="246221"/>
              </a:xfrm>
              <a:prstGeom prst="rect">
                <a:avLst/>
              </a:prstGeom>
              <a:blipFill>
                <a:blip r:embed="rId15"/>
                <a:stretch>
                  <a:fillRect/>
                </a:stretch>
              </a:blipFill>
            </p:spPr>
            <p:txBody>
              <a:bodyPr/>
              <a:lstStyle/>
              <a:p>
                <a:r>
                  <a:rPr lang="en-US">
                    <a:noFill/>
                  </a:rPr>
                  <a:t> </a:t>
                </a:r>
              </a:p>
            </p:txBody>
          </p:sp>
        </mc:Fallback>
      </mc:AlternateContent>
      <p:cxnSp>
        <p:nvCxnSpPr>
          <p:cNvPr id="111" name="Straight Arrow Connector 110">
            <a:extLst>
              <a:ext uri="{FF2B5EF4-FFF2-40B4-BE49-F238E27FC236}">
                <a16:creationId xmlns:a16="http://schemas.microsoft.com/office/drawing/2014/main" id="{D78EFF48-29BB-9C32-B65C-2C7F6E8644D3}"/>
              </a:ext>
            </a:extLst>
          </p:cNvPr>
          <p:cNvCxnSpPr>
            <a:cxnSpLocks/>
          </p:cNvCxnSpPr>
          <p:nvPr/>
        </p:nvCxnSpPr>
        <p:spPr>
          <a:xfrm>
            <a:off x="3897926" y="4495611"/>
            <a:ext cx="1141907" cy="56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2" name="Rectangle 111">
                <a:extLst>
                  <a:ext uri="{FF2B5EF4-FFF2-40B4-BE49-F238E27FC236}">
                    <a16:creationId xmlns:a16="http://schemas.microsoft.com/office/drawing/2014/main" id="{9FD448BD-7771-9C82-58FF-53CD44948C28}"/>
                  </a:ext>
                </a:extLst>
              </p:cNvPr>
              <p:cNvSpPr/>
              <p:nvPr/>
            </p:nvSpPr>
            <p:spPr>
              <a:xfrm>
                <a:off x="5061463" y="4278211"/>
                <a:ext cx="424732" cy="43593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𝑠</m:t>
                          </m:r>
                        </m:e>
                        <m:sub>
                          <m:r>
                            <a:rPr lang="en-US" altLang="zh-CN" b="0" i="1" smtClean="0">
                              <a:solidFill>
                                <a:schemeClr val="tx1"/>
                              </a:solidFill>
                              <a:latin typeface="Cambria Math" panose="02040503050406030204" pitchFamily="18" charset="0"/>
                            </a:rPr>
                            <m:t>0</m:t>
                          </m:r>
                        </m:sub>
                      </m:sSub>
                    </m:oMath>
                  </m:oMathPara>
                </a14:m>
                <a:endParaRPr lang="en-US" dirty="0"/>
              </a:p>
            </p:txBody>
          </p:sp>
        </mc:Choice>
        <mc:Fallback xmlns="">
          <p:sp>
            <p:nvSpPr>
              <p:cNvPr id="112" name="Rectangle 111">
                <a:extLst>
                  <a:ext uri="{FF2B5EF4-FFF2-40B4-BE49-F238E27FC236}">
                    <a16:creationId xmlns:a16="http://schemas.microsoft.com/office/drawing/2014/main" id="{9FD448BD-7771-9C82-58FF-53CD44948C28}"/>
                  </a:ext>
                </a:extLst>
              </p:cNvPr>
              <p:cNvSpPr>
                <a:spLocks noRot="1" noChangeAspect="1" noMove="1" noResize="1" noEditPoints="1" noAdjustHandles="1" noChangeArrowheads="1" noChangeShapeType="1" noTextEdit="1"/>
              </p:cNvSpPr>
              <p:nvPr/>
            </p:nvSpPr>
            <p:spPr>
              <a:xfrm>
                <a:off x="5061463" y="4278211"/>
                <a:ext cx="424732" cy="435935"/>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A9B82EFF-FE41-14FF-221F-6A631DF8ECA6}"/>
                  </a:ext>
                </a:extLst>
              </p:cNvPr>
              <p:cNvSpPr txBox="1"/>
              <p:nvPr/>
            </p:nvSpPr>
            <p:spPr>
              <a:xfrm>
                <a:off x="574219" y="3546585"/>
                <a:ext cx="56098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01</m:t>
                          </m:r>
                        </m:sub>
                      </m:sSub>
                    </m:oMath>
                  </m:oMathPara>
                </a14:m>
                <a:endParaRPr lang="en-US" dirty="0"/>
              </a:p>
            </p:txBody>
          </p:sp>
        </mc:Choice>
        <mc:Fallback xmlns="">
          <p:sp>
            <p:nvSpPr>
              <p:cNvPr id="113" name="TextBox 112">
                <a:extLst>
                  <a:ext uri="{FF2B5EF4-FFF2-40B4-BE49-F238E27FC236}">
                    <a16:creationId xmlns:a16="http://schemas.microsoft.com/office/drawing/2014/main" id="{A9B82EFF-FE41-14FF-221F-6A631DF8ECA6}"/>
                  </a:ext>
                </a:extLst>
              </p:cNvPr>
              <p:cNvSpPr txBox="1">
                <a:spLocks noRot="1" noChangeAspect="1" noMove="1" noResize="1" noEditPoints="1" noAdjustHandles="1" noChangeArrowheads="1" noChangeShapeType="1" noTextEdit="1"/>
              </p:cNvSpPr>
              <p:nvPr/>
            </p:nvSpPr>
            <p:spPr>
              <a:xfrm>
                <a:off x="574219" y="3546585"/>
                <a:ext cx="560987"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4DBF1C7B-8691-14C2-BB53-18EC3A1147FF}"/>
                  </a:ext>
                </a:extLst>
              </p:cNvPr>
              <p:cNvSpPr txBox="1"/>
              <p:nvPr/>
            </p:nvSpPr>
            <p:spPr>
              <a:xfrm>
                <a:off x="1454648" y="3546585"/>
                <a:ext cx="56098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02</m:t>
                          </m:r>
                        </m:sub>
                      </m:sSub>
                    </m:oMath>
                  </m:oMathPara>
                </a14:m>
                <a:endParaRPr lang="en-US" dirty="0"/>
              </a:p>
            </p:txBody>
          </p:sp>
        </mc:Choice>
        <mc:Fallback xmlns="">
          <p:sp>
            <p:nvSpPr>
              <p:cNvPr id="114" name="TextBox 113">
                <a:extLst>
                  <a:ext uri="{FF2B5EF4-FFF2-40B4-BE49-F238E27FC236}">
                    <a16:creationId xmlns:a16="http://schemas.microsoft.com/office/drawing/2014/main" id="{4DBF1C7B-8691-14C2-BB53-18EC3A1147FF}"/>
                  </a:ext>
                </a:extLst>
              </p:cNvPr>
              <p:cNvSpPr txBox="1">
                <a:spLocks noRot="1" noChangeAspect="1" noMove="1" noResize="1" noEditPoints="1" noAdjustHandles="1" noChangeArrowheads="1" noChangeShapeType="1" noTextEdit="1"/>
              </p:cNvSpPr>
              <p:nvPr/>
            </p:nvSpPr>
            <p:spPr>
              <a:xfrm>
                <a:off x="1454648" y="3546585"/>
                <a:ext cx="560987"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BFC3D60-734C-B0D8-FD33-6B5773E3CB4E}"/>
                  </a:ext>
                </a:extLst>
              </p:cNvPr>
              <p:cNvSpPr txBox="1"/>
              <p:nvPr/>
            </p:nvSpPr>
            <p:spPr>
              <a:xfrm>
                <a:off x="2393548" y="3546585"/>
                <a:ext cx="56098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03</m:t>
                          </m:r>
                        </m:sub>
                      </m:sSub>
                    </m:oMath>
                  </m:oMathPara>
                </a14:m>
                <a:endParaRPr lang="en-US" dirty="0"/>
              </a:p>
            </p:txBody>
          </p:sp>
        </mc:Choice>
        <mc:Fallback xmlns="">
          <p:sp>
            <p:nvSpPr>
              <p:cNvPr id="115" name="TextBox 114">
                <a:extLst>
                  <a:ext uri="{FF2B5EF4-FFF2-40B4-BE49-F238E27FC236}">
                    <a16:creationId xmlns:a16="http://schemas.microsoft.com/office/drawing/2014/main" id="{3BFC3D60-734C-B0D8-FD33-6B5773E3CB4E}"/>
                  </a:ext>
                </a:extLst>
              </p:cNvPr>
              <p:cNvSpPr txBox="1">
                <a:spLocks noRot="1" noChangeAspect="1" noMove="1" noResize="1" noEditPoints="1" noAdjustHandles="1" noChangeArrowheads="1" noChangeShapeType="1" noTextEdit="1"/>
              </p:cNvSpPr>
              <p:nvPr/>
            </p:nvSpPr>
            <p:spPr>
              <a:xfrm>
                <a:off x="2393548" y="3546585"/>
                <a:ext cx="560987"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64B92B5F-6FBE-EE16-1009-D0F9949A17D9}"/>
                  </a:ext>
                </a:extLst>
              </p:cNvPr>
              <p:cNvSpPr txBox="1"/>
              <p:nvPr/>
            </p:nvSpPr>
            <p:spPr>
              <a:xfrm>
                <a:off x="3367173" y="3573156"/>
                <a:ext cx="57246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0</m:t>
                          </m:r>
                          <m:r>
                            <a:rPr lang="en-US" altLang="zh-CN" b="0" i="1" smtClean="0">
                              <a:latin typeface="Cambria Math" panose="02040503050406030204" pitchFamily="18" charset="0"/>
                            </a:rPr>
                            <m:t>𝑇</m:t>
                          </m:r>
                        </m:sub>
                      </m:sSub>
                    </m:oMath>
                  </m:oMathPara>
                </a14:m>
                <a:endParaRPr lang="en-US" dirty="0"/>
              </a:p>
            </p:txBody>
          </p:sp>
        </mc:Choice>
        <mc:Fallback xmlns="">
          <p:sp>
            <p:nvSpPr>
              <p:cNvPr id="116" name="TextBox 115">
                <a:extLst>
                  <a:ext uri="{FF2B5EF4-FFF2-40B4-BE49-F238E27FC236}">
                    <a16:creationId xmlns:a16="http://schemas.microsoft.com/office/drawing/2014/main" id="{64B92B5F-6FBE-EE16-1009-D0F9949A17D9}"/>
                  </a:ext>
                </a:extLst>
              </p:cNvPr>
              <p:cNvSpPr txBox="1">
                <a:spLocks noRot="1" noChangeAspect="1" noMove="1" noResize="1" noEditPoints="1" noAdjustHandles="1" noChangeArrowheads="1" noChangeShapeType="1" noTextEdit="1"/>
              </p:cNvSpPr>
              <p:nvPr/>
            </p:nvSpPr>
            <p:spPr>
              <a:xfrm>
                <a:off x="3367173" y="3573156"/>
                <a:ext cx="572464" cy="369332"/>
              </a:xfrm>
              <a:prstGeom prst="rect">
                <a:avLst/>
              </a:prstGeom>
              <a:blipFill>
                <a:blip r:embed="rId20"/>
                <a:stretch>
                  <a:fillRect b="-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4A8D0158-9965-DC58-92D8-EFE41DF349E7}"/>
                  </a:ext>
                </a:extLst>
              </p:cNvPr>
              <p:cNvSpPr txBox="1"/>
              <p:nvPr/>
            </p:nvSpPr>
            <p:spPr>
              <a:xfrm>
                <a:off x="3058253" y="3632397"/>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117" name="TextBox 116">
                <a:extLst>
                  <a:ext uri="{FF2B5EF4-FFF2-40B4-BE49-F238E27FC236}">
                    <a16:creationId xmlns:a16="http://schemas.microsoft.com/office/drawing/2014/main" id="{4A8D0158-9965-DC58-92D8-EFE41DF349E7}"/>
                  </a:ext>
                </a:extLst>
              </p:cNvPr>
              <p:cNvSpPr txBox="1">
                <a:spLocks noRot="1" noChangeAspect="1" noMove="1" noResize="1" noEditPoints="1" noAdjustHandles="1" noChangeArrowheads="1" noChangeShapeType="1" noTextEdit="1"/>
              </p:cNvSpPr>
              <p:nvPr/>
            </p:nvSpPr>
            <p:spPr>
              <a:xfrm>
                <a:off x="3058253" y="3632397"/>
                <a:ext cx="329532" cy="246221"/>
              </a:xfrm>
              <a:prstGeom prst="rect">
                <a:avLst/>
              </a:prstGeom>
              <a:blipFill>
                <a:blip r:embed="rId21"/>
                <a:stretch>
                  <a:fillRect/>
                </a:stretch>
              </a:blipFill>
            </p:spPr>
            <p:txBody>
              <a:bodyPr/>
              <a:lstStyle/>
              <a:p>
                <a:r>
                  <a:rPr lang="en-US">
                    <a:noFill/>
                  </a:rPr>
                  <a:t> </a:t>
                </a:r>
              </a:p>
            </p:txBody>
          </p:sp>
        </mc:Fallback>
      </mc:AlternateContent>
      <p:cxnSp>
        <p:nvCxnSpPr>
          <p:cNvPr id="118" name="Straight Arrow Connector 117">
            <a:extLst>
              <a:ext uri="{FF2B5EF4-FFF2-40B4-BE49-F238E27FC236}">
                <a16:creationId xmlns:a16="http://schemas.microsoft.com/office/drawing/2014/main" id="{BA49A76F-FFB3-2C19-6CF4-BC329386A111}"/>
              </a:ext>
            </a:extLst>
          </p:cNvPr>
          <p:cNvCxnSpPr>
            <a:cxnSpLocks/>
          </p:cNvCxnSpPr>
          <p:nvPr/>
        </p:nvCxnSpPr>
        <p:spPr>
          <a:xfrm flipV="1">
            <a:off x="749886" y="3915917"/>
            <a:ext cx="6975" cy="30723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9CC3BEA9-AEBC-1086-B5DF-3AAED1D71DEC}"/>
              </a:ext>
            </a:extLst>
          </p:cNvPr>
          <p:cNvCxnSpPr>
            <a:cxnSpLocks/>
          </p:cNvCxnSpPr>
          <p:nvPr/>
        </p:nvCxnSpPr>
        <p:spPr>
          <a:xfrm flipV="1">
            <a:off x="1629343" y="3915917"/>
            <a:ext cx="0" cy="30723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BDC9B51C-3D09-BC35-78DE-4BA82A96C419}"/>
              </a:ext>
            </a:extLst>
          </p:cNvPr>
          <p:cNvCxnSpPr>
            <a:cxnSpLocks/>
          </p:cNvCxnSpPr>
          <p:nvPr/>
        </p:nvCxnSpPr>
        <p:spPr>
          <a:xfrm flipH="1" flipV="1">
            <a:off x="2578850" y="3915917"/>
            <a:ext cx="1664" cy="34773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3E5AD592-0FCD-34CD-8FB1-814A9668729A}"/>
              </a:ext>
            </a:extLst>
          </p:cNvPr>
          <p:cNvCxnSpPr>
            <a:cxnSpLocks/>
          </p:cNvCxnSpPr>
          <p:nvPr/>
        </p:nvCxnSpPr>
        <p:spPr>
          <a:xfrm flipH="1" flipV="1">
            <a:off x="3562317" y="3942488"/>
            <a:ext cx="1075" cy="33572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Elbow Connector 123">
            <a:extLst>
              <a:ext uri="{FF2B5EF4-FFF2-40B4-BE49-F238E27FC236}">
                <a16:creationId xmlns:a16="http://schemas.microsoft.com/office/drawing/2014/main" id="{EF4302DA-3CAE-A0B5-9E2D-1DDF40E4039F}"/>
              </a:ext>
            </a:extLst>
          </p:cNvPr>
          <p:cNvCxnSpPr>
            <a:stCxn id="112" idx="0"/>
            <a:endCxn id="113" idx="2"/>
          </p:cNvCxnSpPr>
          <p:nvPr/>
        </p:nvCxnSpPr>
        <p:spPr>
          <a:xfrm rot="16200000" flipV="1">
            <a:off x="2883124" y="1887506"/>
            <a:ext cx="362294" cy="4419116"/>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20B3B8D2-73DD-CE02-86B3-804242856A42}"/>
              </a:ext>
            </a:extLst>
          </p:cNvPr>
          <p:cNvCxnSpPr>
            <a:cxnSpLocks/>
          </p:cNvCxnSpPr>
          <p:nvPr/>
        </p:nvCxnSpPr>
        <p:spPr>
          <a:xfrm flipV="1">
            <a:off x="1781743" y="3929420"/>
            <a:ext cx="0" cy="180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4879B2C0-C08E-8FE5-13A6-4EA69BD3A9CE}"/>
              </a:ext>
            </a:extLst>
          </p:cNvPr>
          <p:cNvCxnSpPr>
            <a:cxnSpLocks/>
          </p:cNvCxnSpPr>
          <p:nvPr/>
        </p:nvCxnSpPr>
        <p:spPr>
          <a:xfrm flipH="1" flipV="1">
            <a:off x="2731250" y="3929420"/>
            <a:ext cx="1664" cy="180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A0B520C9-607A-6B0E-4716-76291DAFE470}"/>
              </a:ext>
            </a:extLst>
          </p:cNvPr>
          <p:cNvCxnSpPr>
            <a:cxnSpLocks/>
          </p:cNvCxnSpPr>
          <p:nvPr/>
        </p:nvCxnSpPr>
        <p:spPr>
          <a:xfrm flipH="1" flipV="1">
            <a:off x="3714717" y="3955991"/>
            <a:ext cx="1075" cy="180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00960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object 87"/>
          <p:cNvSpPr txBox="1"/>
          <p:nvPr/>
        </p:nvSpPr>
        <p:spPr>
          <a:xfrm>
            <a:off x="0" y="6603850"/>
            <a:ext cx="5452533" cy="158163"/>
          </a:xfrm>
          <a:prstGeom prst="rect">
            <a:avLst/>
          </a:prstGeom>
        </p:spPr>
        <p:txBody>
          <a:bodyPr vert="horz" wrap="square" lIns="0" tIns="4233" rIns="0" bIns="0" rtlCol="0">
            <a:spAutoFit/>
          </a:bodyPr>
          <a:lstStyle/>
          <a:p>
            <a:pPr marL="16933">
              <a:spcBef>
                <a:spcPts val="33"/>
              </a:spcBef>
            </a:pPr>
            <a:r>
              <a:rPr sz="1000">
                <a:latin typeface="Arial"/>
                <a:cs typeface="Arial"/>
              </a:rPr>
              <a:t>Bahdanau</a:t>
            </a:r>
            <a:r>
              <a:rPr sz="1000" spc="-27">
                <a:latin typeface="Arial"/>
                <a:cs typeface="Arial"/>
              </a:rPr>
              <a:t> </a:t>
            </a:r>
            <a:r>
              <a:rPr sz="1000">
                <a:latin typeface="Arial"/>
                <a:cs typeface="Arial"/>
              </a:rPr>
              <a:t>et</a:t>
            </a:r>
            <a:r>
              <a:rPr sz="1000" spc="-13">
                <a:latin typeface="Arial"/>
                <a:cs typeface="Arial"/>
              </a:rPr>
              <a:t> </a:t>
            </a:r>
            <a:r>
              <a:rPr sz="1000">
                <a:latin typeface="Arial"/>
                <a:cs typeface="Arial"/>
              </a:rPr>
              <a:t>al,</a:t>
            </a:r>
            <a:r>
              <a:rPr sz="1000" spc="-13">
                <a:latin typeface="Arial"/>
                <a:cs typeface="Arial"/>
              </a:rPr>
              <a:t> </a:t>
            </a:r>
            <a:r>
              <a:rPr sz="1000">
                <a:latin typeface="Arial"/>
                <a:cs typeface="Arial"/>
              </a:rPr>
              <a:t>“Neural</a:t>
            </a:r>
            <a:r>
              <a:rPr sz="1000" spc="-7">
                <a:latin typeface="Arial"/>
                <a:cs typeface="Arial"/>
              </a:rPr>
              <a:t> </a:t>
            </a:r>
            <a:r>
              <a:rPr sz="1000">
                <a:latin typeface="Arial"/>
                <a:cs typeface="Arial"/>
              </a:rPr>
              <a:t>machine</a:t>
            </a:r>
            <a:r>
              <a:rPr sz="1000" spc="-13">
                <a:latin typeface="Arial"/>
                <a:cs typeface="Arial"/>
              </a:rPr>
              <a:t> translation </a:t>
            </a:r>
            <a:r>
              <a:rPr sz="1000">
                <a:latin typeface="Arial"/>
                <a:cs typeface="Arial"/>
              </a:rPr>
              <a:t>by</a:t>
            </a:r>
            <a:r>
              <a:rPr sz="1000" spc="-7">
                <a:latin typeface="Arial"/>
                <a:cs typeface="Arial"/>
              </a:rPr>
              <a:t> </a:t>
            </a:r>
            <a:r>
              <a:rPr sz="1000">
                <a:latin typeface="Arial"/>
                <a:cs typeface="Arial"/>
              </a:rPr>
              <a:t>jointly</a:t>
            </a:r>
            <a:r>
              <a:rPr sz="1000" spc="-13">
                <a:latin typeface="Arial"/>
                <a:cs typeface="Arial"/>
              </a:rPr>
              <a:t> </a:t>
            </a:r>
            <a:r>
              <a:rPr sz="1000">
                <a:latin typeface="Arial"/>
                <a:cs typeface="Arial"/>
              </a:rPr>
              <a:t>learning</a:t>
            </a:r>
            <a:r>
              <a:rPr sz="1000" spc="-13">
                <a:latin typeface="Arial"/>
                <a:cs typeface="Arial"/>
              </a:rPr>
              <a:t> </a:t>
            </a:r>
            <a:r>
              <a:rPr sz="1000">
                <a:latin typeface="Arial"/>
                <a:cs typeface="Arial"/>
              </a:rPr>
              <a:t>to</a:t>
            </a:r>
            <a:r>
              <a:rPr sz="1000" spc="-13">
                <a:latin typeface="Arial"/>
                <a:cs typeface="Arial"/>
              </a:rPr>
              <a:t> </a:t>
            </a:r>
            <a:r>
              <a:rPr sz="1000">
                <a:latin typeface="Arial"/>
                <a:cs typeface="Arial"/>
              </a:rPr>
              <a:t>align</a:t>
            </a:r>
            <a:r>
              <a:rPr sz="1000" spc="-7">
                <a:latin typeface="Arial"/>
                <a:cs typeface="Arial"/>
              </a:rPr>
              <a:t> </a:t>
            </a:r>
            <a:r>
              <a:rPr sz="1000">
                <a:latin typeface="Arial"/>
                <a:cs typeface="Arial"/>
              </a:rPr>
              <a:t>and</a:t>
            </a:r>
            <a:r>
              <a:rPr sz="1000" spc="-13">
                <a:latin typeface="Arial"/>
                <a:cs typeface="Arial"/>
              </a:rPr>
              <a:t> translate”, </a:t>
            </a:r>
            <a:r>
              <a:rPr sz="1000">
                <a:latin typeface="Arial"/>
                <a:cs typeface="Arial"/>
              </a:rPr>
              <a:t>ICLR</a:t>
            </a:r>
            <a:r>
              <a:rPr sz="1000" spc="-7">
                <a:latin typeface="Arial"/>
                <a:cs typeface="Arial"/>
              </a:rPr>
              <a:t> </a:t>
            </a:r>
            <a:r>
              <a:rPr sz="1000" spc="-27">
                <a:latin typeface="Arial"/>
                <a:cs typeface="Arial"/>
              </a:rPr>
              <a:t>2015</a:t>
            </a:r>
            <a:endParaRPr sz="1000">
              <a:latin typeface="Arial"/>
              <a:cs typeface="Arial"/>
            </a:endParaRPr>
          </a:p>
        </p:txBody>
      </p:sp>
      <mc:AlternateContent xmlns:mc="http://schemas.openxmlformats.org/markup-compatibility/2006" xmlns:a14="http://schemas.microsoft.com/office/drawing/2010/main">
        <mc:Choice Requires="a14">
          <p:sp>
            <p:nvSpPr>
              <p:cNvPr id="82" name="object 82"/>
              <p:cNvSpPr txBox="1"/>
              <p:nvPr/>
            </p:nvSpPr>
            <p:spPr>
              <a:xfrm>
                <a:off x="8436091" y="2986577"/>
                <a:ext cx="2949432" cy="1005895"/>
              </a:xfrm>
              <a:prstGeom prst="rect">
                <a:avLst/>
              </a:prstGeom>
            </p:spPr>
            <p:txBody>
              <a:bodyPr vert="horz" wrap="square" lIns="0" tIns="16933" rIns="0" bIns="0" rtlCol="0">
                <a:spAutoFit/>
              </a:bodyPr>
              <a:lstStyle/>
              <a:p>
                <a:pPr marL="84665" marR="40639">
                  <a:spcBef>
                    <a:spcPts val="133"/>
                  </a:spcBef>
                </a:pPr>
                <a:r>
                  <a:rPr lang="en-US" sz="2000">
                    <a:latin typeface="Microsoft YaHei" panose="020B0503020204020204" pitchFamily="34" charset="-122"/>
                    <a:ea typeface="Microsoft YaHei" panose="020B0503020204020204" pitchFamily="34" charset="-122"/>
                    <a:cs typeface="Calibri" panose="020F0502020204030204" pitchFamily="34" charset="0"/>
                  </a:rPr>
                  <a:t>得到注意力权重</a:t>
                </a:r>
              </a:p>
              <a:p>
                <a:pPr marL="84665" marR="40639">
                  <a:spcBef>
                    <a:spcPts val="133"/>
                  </a:spcBef>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𝑎</m:t>
                          </m:r>
                        </m:e>
                        <m:sub>
                          <m:r>
                            <a:rPr lang="en-US" sz="2000" b="0" i="1" smtClean="0">
                              <a:latin typeface="Cambria Math" panose="02040503050406030204" pitchFamily="18" charset="0"/>
                              <a:cs typeface="Calibri" panose="020F0502020204030204" pitchFamily="34" charset="0"/>
                            </a:rPr>
                            <m:t>𝑖</m:t>
                          </m:r>
                          <m:r>
                            <a:rPr lang="en-US" sz="2000" b="0" i="1" smtClean="0">
                              <a:latin typeface="Cambria Math" panose="02040503050406030204" pitchFamily="18" charset="0"/>
                              <a:cs typeface="Calibri" panose="020F0502020204030204" pitchFamily="34" charset="0"/>
                            </a:rPr>
                            <m:t>,</m:t>
                          </m:r>
                          <m:r>
                            <a:rPr lang="en-US" sz="2000" b="0" i="1" smtClean="0">
                              <a:latin typeface="Cambria Math" panose="02040503050406030204" pitchFamily="18" charset="0"/>
                              <a:cs typeface="Calibri" panose="020F0502020204030204" pitchFamily="34" charset="0"/>
                            </a:rPr>
                            <m:t>𝑗</m:t>
                          </m:r>
                        </m:sub>
                      </m:sSub>
                      <m:r>
                        <a:rPr lang="en-US" sz="2000" b="0" i="1" smtClean="0">
                          <a:latin typeface="Cambria Math" panose="02040503050406030204" pitchFamily="18" charset="0"/>
                          <a:cs typeface="Calibri" panose="020F0502020204030204" pitchFamily="34" charset="0"/>
                        </a:rPr>
                        <m:t>=</m:t>
                      </m:r>
                      <m:f>
                        <m:fPr>
                          <m:ctrlPr>
                            <a:rPr lang="en-US" sz="2000" b="0" i="1" smtClean="0">
                              <a:latin typeface="Cambria Math" panose="02040503050406030204" pitchFamily="18" charset="0"/>
                              <a:cs typeface="Calibri" panose="020F0502020204030204" pitchFamily="34" charset="0"/>
                            </a:rPr>
                          </m:ctrlPr>
                        </m:fPr>
                        <m:num>
                          <m:r>
                            <m:rPr>
                              <m:sty m:val="p"/>
                            </m:rPr>
                            <a:rPr lang="en-US" sz="2000" b="0" i="0" smtClean="0">
                              <a:latin typeface="Cambria Math" panose="02040503050406030204" pitchFamily="18" charset="0"/>
                              <a:cs typeface="Calibri" panose="020F0502020204030204" pitchFamily="34" charset="0"/>
                            </a:rPr>
                            <m:t>exp</m:t>
                          </m:r>
                          <m:r>
                            <a:rPr lang="en-US" sz="2000" b="0" i="1" smtClean="0">
                              <a:latin typeface="Cambria Math" panose="02040503050406030204" pitchFamily="18" charset="0"/>
                              <a:cs typeface="Calibri" panose="020F0502020204030204" pitchFamily="34" charset="0"/>
                            </a:rPr>
                            <m:t>⁡(</m:t>
                          </m:r>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𝑒</m:t>
                              </m:r>
                            </m:e>
                            <m:sub>
                              <m:r>
                                <a:rPr lang="en-US" sz="2000" b="0" i="1" smtClean="0">
                                  <a:latin typeface="Cambria Math" panose="02040503050406030204" pitchFamily="18" charset="0"/>
                                  <a:cs typeface="Calibri" panose="020F0502020204030204" pitchFamily="34" charset="0"/>
                                </a:rPr>
                                <m:t>𝑖</m:t>
                              </m:r>
                              <m:r>
                                <a:rPr lang="en-US" sz="2000" b="0" i="1" smtClean="0">
                                  <a:latin typeface="Cambria Math" panose="02040503050406030204" pitchFamily="18" charset="0"/>
                                  <a:cs typeface="Calibri" panose="020F0502020204030204" pitchFamily="34" charset="0"/>
                                </a:rPr>
                                <m:t>,</m:t>
                              </m:r>
                              <m:r>
                                <a:rPr lang="en-US" sz="2000" b="0" i="1" smtClean="0">
                                  <a:latin typeface="Cambria Math" panose="02040503050406030204" pitchFamily="18" charset="0"/>
                                  <a:cs typeface="Calibri" panose="020F0502020204030204" pitchFamily="34" charset="0"/>
                                </a:rPr>
                                <m:t>𝑗</m:t>
                              </m:r>
                            </m:sub>
                          </m:sSub>
                          <m:r>
                            <a:rPr lang="en-US" sz="2000" b="0" i="1" smtClean="0">
                              <a:latin typeface="Cambria Math" panose="02040503050406030204" pitchFamily="18" charset="0"/>
                              <a:cs typeface="Calibri" panose="020F0502020204030204" pitchFamily="34" charset="0"/>
                            </a:rPr>
                            <m:t>)</m:t>
                          </m:r>
                        </m:num>
                        <m:den>
                          <m:nary>
                            <m:naryPr>
                              <m:chr m:val="∑"/>
                              <m:ctrlPr>
                                <a:rPr lang="en-US" sz="2000" b="0" i="1" smtClean="0">
                                  <a:latin typeface="Cambria Math" panose="02040503050406030204" pitchFamily="18" charset="0"/>
                                  <a:cs typeface="Calibri" panose="020F0502020204030204" pitchFamily="34" charset="0"/>
                                </a:rPr>
                              </m:ctrlPr>
                            </m:naryPr>
                            <m:sub>
                              <m:r>
                                <m:rPr>
                                  <m:brk m:alnAt="23"/>
                                </m:rPr>
                                <a:rPr lang="en-US" sz="2000" b="0" i="1" smtClean="0">
                                  <a:latin typeface="Cambria Math" panose="02040503050406030204" pitchFamily="18" charset="0"/>
                                  <a:cs typeface="Calibri" panose="020F0502020204030204" pitchFamily="34" charset="0"/>
                                </a:rPr>
                                <m:t>𝑘</m:t>
                              </m:r>
                              <m:r>
                                <a:rPr lang="en-US" sz="2000" b="0" i="1" smtClean="0">
                                  <a:latin typeface="Cambria Math" panose="02040503050406030204" pitchFamily="18" charset="0"/>
                                  <a:cs typeface="Calibri" panose="020F0502020204030204" pitchFamily="34" charset="0"/>
                                </a:rPr>
                                <m:t>=1</m:t>
                              </m:r>
                            </m:sub>
                            <m:sup>
                              <m:r>
                                <a:rPr lang="en-US" sz="2000" b="0" i="1" smtClean="0">
                                  <a:latin typeface="Cambria Math" panose="02040503050406030204" pitchFamily="18" charset="0"/>
                                  <a:cs typeface="Calibri" panose="020F0502020204030204" pitchFamily="34" charset="0"/>
                                </a:rPr>
                                <m:t>𝑇</m:t>
                              </m:r>
                            </m:sup>
                            <m:e>
                              <m:r>
                                <m:rPr>
                                  <m:sty m:val="p"/>
                                </m:rPr>
                                <a:rPr lang="en-US" sz="2000" b="0" i="0" smtClean="0">
                                  <a:latin typeface="Cambria Math" panose="02040503050406030204" pitchFamily="18" charset="0"/>
                                  <a:cs typeface="Calibri" panose="020F0502020204030204" pitchFamily="34" charset="0"/>
                                </a:rPr>
                                <m:t>exp</m:t>
                              </m:r>
                              <m:r>
                                <a:rPr lang="en-US" sz="2000" b="0" i="1" smtClean="0">
                                  <a:latin typeface="Cambria Math" panose="02040503050406030204" pitchFamily="18" charset="0"/>
                                  <a:cs typeface="Calibri" panose="020F0502020204030204" pitchFamily="34" charset="0"/>
                                </a:rPr>
                                <m:t>⁡(</m:t>
                              </m:r>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𝑒</m:t>
                                  </m:r>
                                </m:e>
                                <m:sub>
                                  <m:r>
                                    <a:rPr lang="en-US" sz="2000" b="0" i="1" smtClean="0">
                                      <a:latin typeface="Cambria Math" panose="02040503050406030204" pitchFamily="18" charset="0"/>
                                      <a:cs typeface="Calibri" panose="020F0502020204030204" pitchFamily="34" charset="0"/>
                                    </a:rPr>
                                    <m:t>𝑖</m:t>
                                  </m:r>
                                  <m:r>
                                    <a:rPr lang="en-US" sz="2000" b="0" i="1" smtClean="0">
                                      <a:latin typeface="Cambria Math" panose="02040503050406030204" pitchFamily="18" charset="0"/>
                                      <a:cs typeface="Calibri" panose="020F0502020204030204" pitchFamily="34" charset="0"/>
                                    </a:rPr>
                                    <m:t>,</m:t>
                                  </m:r>
                                  <m:r>
                                    <a:rPr lang="en-US" sz="2000" b="0" i="1" smtClean="0">
                                      <a:latin typeface="Cambria Math" panose="02040503050406030204" pitchFamily="18" charset="0"/>
                                      <a:cs typeface="Calibri" panose="020F0502020204030204" pitchFamily="34" charset="0"/>
                                    </a:rPr>
                                    <m:t>𝑘</m:t>
                                  </m:r>
                                </m:sub>
                              </m:sSub>
                              <m:r>
                                <a:rPr lang="en-US" sz="2000" b="0" i="1" smtClean="0">
                                  <a:latin typeface="Cambria Math" panose="02040503050406030204" pitchFamily="18" charset="0"/>
                                  <a:cs typeface="Calibri" panose="020F0502020204030204" pitchFamily="34" charset="0"/>
                                </a:rPr>
                                <m:t>)</m:t>
                              </m:r>
                            </m:e>
                          </m:nary>
                        </m:den>
                      </m:f>
                    </m:oMath>
                  </m:oMathPara>
                </a14:m>
                <a:endParaRPr sz="2000">
                  <a:latin typeface="Microsoft YaHei" panose="020B0503020204020204" pitchFamily="34" charset="-122"/>
                  <a:ea typeface="Microsoft YaHei" panose="020B0503020204020204" pitchFamily="34" charset="-122"/>
                  <a:cs typeface="Calibri" panose="020F0502020204030204" pitchFamily="34" charset="0"/>
                </a:endParaRPr>
              </a:p>
            </p:txBody>
          </p:sp>
        </mc:Choice>
        <mc:Fallback xmlns="">
          <p:sp>
            <p:nvSpPr>
              <p:cNvPr id="82" name="object 82"/>
              <p:cNvSpPr txBox="1">
                <a:spLocks noRot="1" noChangeAspect="1" noMove="1" noResize="1" noEditPoints="1" noAdjustHandles="1" noChangeArrowheads="1" noChangeShapeType="1" noTextEdit="1"/>
              </p:cNvSpPr>
              <p:nvPr/>
            </p:nvSpPr>
            <p:spPr>
              <a:xfrm>
                <a:off x="8436091" y="2986577"/>
                <a:ext cx="2949432" cy="1005895"/>
              </a:xfrm>
              <a:prstGeom prst="rect">
                <a:avLst/>
              </a:prstGeom>
              <a:blipFill>
                <a:blip r:embed="rId3"/>
                <a:stretch>
                  <a:fillRect l="-2575" t="-6250" b="-73750"/>
                </a:stretch>
              </a:blipFill>
            </p:spPr>
            <p:txBody>
              <a:bodyPr/>
              <a:lstStyle/>
              <a:p>
                <a:r>
                  <a:rPr lang="en-US">
                    <a:noFill/>
                  </a:rPr>
                  <a:t> </a:t>
                </a:r>
              </a:p>
            </p:txBody>
          </p:sp>
        </mc:Fallback>
      </mc:AlternateContent>
      <p:grpSp>
        <p:nvGrpSpPr>
          <p:cNvPr id="83" name="Group 82">
            <a:extLst>
              <a:ext uri="{FF2B5EF4-FFF2-40B4-BE49-F238E27FC236}">
                <a16:creationId xmlns:a16="http://schemas.microsoft.com/office/drawing/2014/main" id="{87EBA2AE-AFF4-EE66-BF45-43ADE6596628}"/>
              </a:ext>
            </a:extLst>
          </p:cNvPr>
          <p:cNvGrpSpPr/>
          <p:nvPr/>
        </p:nvGrpSpPr>
        <p:grpSpPr>
          <a:xfrm>
            <a:off x="0" y="-1589"/>
            <a:ext cx="12191999" cy="768585"/>
            <a:chOff x="0" y="-1589"/>
            <a:chExt cx="12191999" cy="768585"/>
          </a:xfrm>
        </p:grpSpPr>
        <p:grpSp>
          <p:nvGrpSpPr>
            <p:cNvPr id="84" name="Group 9">
              <a:extLst>
                <a:ext uri="{FF2B5EF4-FFF2-40B4-BE49-F238E27FC236}">
                  <a16:creationId xmlns:a16="http://schemas.microsoft.com/office/drawing/2014/main" id="{A3A2754C-E4BD-8B82-51F1-5AC74B572B9A}"/>
                </a:ext>
              </a:extLst>
            </p:cNvPr>
            <p:cNvGrpSpPr>
              <a:grpSpLocks noChangeAspect="1"/>
            </p:cNvGrpSpPr>
            <p:nvPr/>
          </p:nvGrpSpPr>
          <p:grpSpPr bwMode="auto">
            <a:xfrm>
              <a:off x="0" y="-1589"/>
              <a:ext cx="12191999" cy="767234"/>
              <a:chOff x="-1" y="-1"/>
              <a:chExt cx="7719" cy="568"/>
            </a:xfrm>
          </p:grpSpPr>
          <p:sp>
            <p:nvSpPr>
              <p:cNvPr id="94" name="Freeform 93">
                <a:extLst>
                  <a:ext uri="{FF2B5EF4-FFF2-40B4-BE49-F238E27FC236}">
                    <a16:creationId xmlns:a16="http://schemas.microsoft.com/office/drawing/2014/main" id="{070994CD-29B7-2424-80A7-C351959F7F69}"/>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95" name="AutoShape 8">
                <a:extLst>
                  <a:ext uri="{FF2B5EF4-FFF2-40B4-BE49-F238E27FC236}">
                    <a16:creationId xmlns:a16="http://schemas.microsoft.com/office/drawing/2014/main" id="{3D2C25D1-20CD-5E3C-A4F9-11C64780C6B8}"/>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85" name="任意多边形: 形状 12">
              <a:extLst>
                <a:ext uri="{FF2B5EF4-FFF2-40B4-BE49-F238E27FC236}">
                  <a16:creationId xmlns:a16="http://schemas.microsoft.com/office/drawing/2014/main" id="{F5C5FE47-1672-34B2-D5C6-E501355F6D69}"/>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93" name="文本框 18">
              <a:extLst>
                <a:ext uri="{FF2B5EF4-FFF2-40B4-BE49-F238E27FC236}">
                  <a16:creationId xmlns:a16="http://schemas.microsoft.com/office/drawing/2014/main" id="{CC0571D1-8815-F8BF-0294-B36A0A8B28E0}"/>
                </a:ext>
              </a:extLst>
            </p:cNvPr>
            <p:cNvSpPr txBox="1"/>
            <p:nvPr/>
          </p:nvSpPr>
          <p:spPr>
            <a:xfrm>
              <a:off x="350439" y="120418"/>
              <a:ext cx="3477234" cy="523220"/>
            </a:xfrm>
            <a:prstGeom prst="rect">
              <a:avLst/>
            </a:prstGeom>
            <a:noFill/>
          </p:spPr>
          <p:txBody>
            <a:bodyPr wrap="none" rtlCol="0">
              <a:spAutoFit/>
            </a:bodyPr>
            <a:lstStyle/>
            <a:p>
              <a:pPr>
                <a:defRPr/>
              </a:pPr>
              <a:r>
                <a:rPr lang="zh-CN" altLang="en-US" sz="2800" b="1">
                  <a:solidFill>
                    <a:prstClr val="white"/>
                  </a:solidFill>
                  <a:cs typeface="+mn-ea"/>
                  <a:sym typeface="+mn-lt"/>
                </a:rPr>
                <a:t>在</a:t>
              </a:r>
              <a:r>
                <a:rPr lang="en-US" altLang="zh-CN" sz="2800" b="1">
                  <a:solidFill>
                    <a:prstClr val="white"/>
                  </a:solidFill>
                  <a:cs typeface="+mn-ea"/>
                  <a:sym typeface="+mn-lt"/>
                </a:rPr>
                <a:t>RNN</a:t>
              </a:r>
              <a:r>
                <a:rPr lang="zh-CN" altLang="en-US" sz="2800" b="1">
                  <a:solidFill>
                    <a:prstClr val="white"/>
                  </a:solidFill>
                  <a:cs typeface="+mn-ea"/>
                  <a:sym typeface="+mn-lt"/>
                </a:rPr>
                <a:t>中使用注意力</a:t>
              </a:r>
            </a:p>
          </p:txBody>
        </p:sp>
      </p:grpSp>
      <p:sp>
        <p:nvSpPr>
          <p:cNvPr id="96" name="object 37">
            <a:extLst>
              <a:ext uri="{FF2B5EF4-FFF2-40B4-BE49-F238E27FC236}">
                <a16:creationId xmlns:a16="http://schemas.microsoft.com/office/drawing/2014/main" id="{11B37E3E-C1C1-E0BE-46F9-0429D973AF02}"/>
              </a:ext>
            </a:extLst>
          </p:cNvPr>
          <p:cNvSpPr txBox="1"/>
          <p:nvPr/>
        </p:nvSpPr>
        <p:spPr>
          <a:xfrm>
            <a:off x="4436928" y="2832407"/>
            <a:ext cx="2779607" cy="632651"/>
          </a:xfrm>
          <a:prstGeom prst="rect">
            <a:avLst/>
          </a:prstGeom>
        </p:spPr>
        <p:txBody>
          <a:bodyPr vert="horz" wrap="square" lIns="0" tIns="16933" rIns="0" bIns="0" rtlCol="0">
            <a:spAutoFit/>
          </a:bodyPr>
          <a:lstStyle/>
          <a:p>
            <a:pPr marL="50799">
              <a:spcBef>
                <a:spcPts val="133"/>
              </a:spcBef>
            </a:pPr>
            <a:r>
              <a:rPr lang="en-US" sz="2000" err="1">
                <a:latin typeface="Microsoft YaHei" panose="020B0503020204020204" pitchFamily="34" charset="-122"/>
                <a:ea typeface="Microsoft YaHei" panose="020B0503020204020204" pitchFamily="34" charset="-122"/>
                <a:cs typeface="Calibri" panose="020F0502020204030204" pitchFamily="34" charset="0"/>
              </a:rPr>
              <a:t>来自最后一个隐向量</a:t>
            </a:r>
            <a:r>
              <a:rPr sz="2000" spc="-13">
                <a:latin typeface="Microsoft YaHei" panose="020B0503020204020204" pitchFamily="34" charset="-122"/>
                <a:ea typeface="Microsoft YaHei" panose="020B0503020204020204" pitchFamily="34" charset="-122"/>
                <a:cs typeface="Calibri" panose="020F0502020204030204" pitchFamily="34" charset="0"/>
              </a:rPr>
              <a:t>:</a:t>
            </a:r>
            <a:endParaRPr sz="2000">
              <a:latin typeface="Microsoft YaHei" panose="020B0503020204020204" pitchFamily="34" charset="-122"/>
              <a:ea typeface="Microsoft YaHei" panose="020B0503020204020204" pitchFamily="34" charset="-122"/>
              <a:cs typeface="Calibri" panose="020F0502020204030204" pitchFamily="34" charset="0"/>
            </a:endParaRPr>
          </a:p>
          <a:p>
            <a:pPr marL="50799"/>
            <a:r>
              <a:rPr lang="en-US" sz="2000" b="1">
                <a:latin typeface="Microsoft YaHei" panose="020B0503020204020204" pitchFamily="34" charset="-122"/>
                <a:ea typeface="Microsoft YaHei" panose="020B0503020204020204" pitchFamily="34" charset="-122"/>
                <a:cs typeface="Calibri" panose="020F0502020204030204" pitchFamily="34" charset="0"/>
              </a:rPr>
              <a:t>解码器初始隐向量</a:t>
            </a:r>
            <a:r>
              <a:rPr sz="2000" spc="-33">
                <a:latin typeface="Microsoft YaHei" panose="020B0503020204020204" pitchFamily="34" charset="-122"/>
                <a:ea typeface="Microsoft YaHei" panose="020B0503020204020204" pitchFamily="34" charset="-122"/>
                <a:cs typeface="Calibri" panose="020F0502020204030204" pitchFamily="34" charset="0"/>
              </a:rPr>
              <a:t>s</a:t>
            </a:r>
            <a:r>
              <a:rPr sz="2000" spc="-49" baseline="-30555">
                <a:latin typeface="Microsoft YaHei" panose="020B0503020204020204" pitchFamily="34" charset="-122"/>
                <a:ea typeface="Microsoft YaHei" panose="020B0503020204020204" pitchFamily="34" charset="-122"/>
                <a:cs typeface="Calibri" panose="020F0502020204030204" pitchFamily="34" charset="0"/>
              </a:rPr>
              <a:t>0</a:t>
            </a:r>
            <a:endParaRPr sz="2000" baseline="-30555">
              <a:latin typeface="Microsoft YaHei" panose="020B0503020204020204" pitchFamily="34" charset="-122"/>
              <a:ea typeface="Microsoft YaHei" panose="020B0503020204020204" pitchFamily="34" charset="-122"/>
              <a:cs typeface="Calibri" panose="020F0502020204030204" pitchFamily="34" charset="0"/>
            </a:endParaRPr>
          </a:p>
        </p:txBody>
      </p:sp>
      <p:sp>
        <p:nvSpPr>
          <p:cNvPr id="3" name="object 67">
            <a:extLst>
              <a:ext uri="{FF2B5EF4-FFF2-40B4-BE49-F238E27FC236}">
                <a16:creationId xmlns:a16="http://schemas.microsoft.com/office/drawing/2014/main" id="{855B049D-0098-1E0D-A975-D597B2A8F672}"/>
              </a:ext>
            </a:extLst>
          </p:cNvPr>
          <p:cNvSpPr txBox="1"/>
          <p:nvPr/>
        </p:nvSpPr>
        <p:spPr>
          <a:xfrm>
            <a:off x="7707715" y="1092845"/>
            <a:ext cx="4140200" cy="324875"/>
          </a:xfrm>
          <a:prstGeom prst="rect">
            <a:avLst/>
          </a:prstGeom>
        </p:spPr>
        <p:txBody>
          <a:bodyPr vert="horz" wrap="square" lIns="0" tIns="16933" rIns="0" bIns="0" rtlCol="0">
            <a:spAutoFit/>
          </a:bodyPr>
          <a:lstStyle/>
          <a:p>
            <a:pPr marL="16933">
              <a:spcBef>
                <a:spcPts val="133"/>
              </a:spcBef>
            </a:pPr>
            <a:r>
              <a:rPr lang="en-US" sz="2000" err="1">
                <a:latin typeface="Microsoft YaHei" panose="020B0503020204020204" pitchFamily="34" charset="-122"/>
                <a:ea typeface="Microsoft YaHei" panose="020B0503020204020204" pitchFamily="34" charset="-122"/>
                <a:cs typeface="Calibri" panose="020F0502020204030204" pitchFamily="34" charset="0"/>
              </a:rPr>
              <a:t>计算对齐分数</a:t>
            </a:r>
            <a:endParaRPr sz="2000">
              <a:latin typeface="Microsoft YaHei" panose="020B0503020204020204" pitchFamily="34" charset="-122"/>
              <a:ea typeface="Microsoft YaHei" panose="020B0503020204020204" pitchFamily="34" charset="-122"/>
              <a:cs typeface="Calibri" panose="020F0502020204030204" pitchFamily="34"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C1BB275-FE84-D157-E433-AA4FCF9DCB82}"/>
                  </a:ext>
                </a:extLst>
              </p:cNvPr>
              <p:cNvSpPr txBox="1"/>
              <p:nvPr/>
            </p:nvSpPr>
            <p:spPr>
              <a:xfrm>
                <a:off x="7707715" y="1503273"/>
                <a:ext cx="1861985" cy="3324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𝑒</m:t>
                          </m:r>
                        </m:e>
                        <m:sub>
                          <m:r>
                            <a:rPr lang="en-US" sz="2000" b="0" i="1" smtClean="0">
                              <a:latin typeface="Cambria Math" panose="02040503050406030204" pitchFamily="18" charset="0"/>
                            </a:rPr>
                            <m:t>𝑖</m:t>
                          </m:r>
                          <m:r>
                            <a:rPr lang="en-US" sz="2000" b="0" i="1" smtClean="0">
                              <a:latin typeface="Cambria Math" panose="02040503050406030204" pitchFamily="18" charset="0"/>
                            </a:rPr>
                            <m:t>,</m:t>
                          </m:r>
                          <m:r>
                            <a:rPr lang="en-US" sz="2000" b="0" i="1" smtClean="0">
                              <a:latin typeface="Cambria Math" panose="02040503050406030204" pitchFamily="18" charset="0"/>
                            </a:rPr>
                            <m:t>𝑗</m:t>
                          </m:r>
                        </m:sub>
                      </m:sSub>
                      <m:r>
                        <a:rPr lang="en-US" sz="2000" b="0" i="1" smtClean="0">
                          <a:latin typeface="Cambria Math" panose="02040503050406030204" pitchFamily="18" charset="0"/>
                        </a:rPr>
                        <m:t>=</m:t>
                      </m:r>
                      <m:r>
                        <a:rPr lang="en-US" sz="2000" b="0" i="1" smtClean="0">
                          <a:latin typeface="Cambria Math" panose="02040503050406030204" pitchFamily="18" charset="0"/>
                        </a:rPr>
                        <m:t>𝑎</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𝑖</m:t>
                          </m:r>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h</m:t>
                          </m:r>
                        </m:e>
                        <m:sub>
                          <m:r>
                            <a:rPr lang="en-US" sz="2000" b="0" i="1" smtClean="0">
                              <a:latin typeface="Cambria Math" panose="02040503050406030204" pitchFamily="18" charset="0"/>
                            </a:rPr>
                            <m:t>𝑗</m:t>
                          </m:r>
                        </m:sub>
                      </m:sSub>
                      <m:r>
                        <a:rPr lang="en-US" sz="2000" b="0" i="1" smtClean="0">
                          <a:latin typeface="Cambria Math" panose="02040503050406030204" pitchFamily="18" charset="0"/>
                        </a:rPr>
                        <m:t>)</m:t>
                      </m:r>
                    </m:oMath>
                  </m:oMathPara>
                </a14:m>
                <a:endParaRPr lang="en-US" sz="2000">
                  <a:latin typeface="Microsoft YaHei" panose="020B0503020204020204" pitchFamily="34" charset="-122"/>
                  <a:ea typeface="Microsoft YaHei" panose="020B0503020204020204" pitchFamily="34" charset="-122"/>
                </a:endParaRPr>
              </a:p>
            </p:txBody>
          </p:sp>
        </mc:Choice>
        <mc:Fallback xmlns="">
          <p:sp>
            <p:nvSpPr>
              <p:cNvPr id="4" name="TextBox 3">
                <a:extLst>
                  <a:ext uri="{FF2B5EF4-FFF2-40B4-BE49-F238E27FC236}">
                    <a16:creationId xmlns:a16="http://schemas.microsoft.com/office/drawing/2014/main" id="{EC1BB275-FE84-D157-E433-AA4FCF9DCB82}"/>
                  </a:ext>
                </a:extLst>
              </p:cNvPr>
              <p:cNvSpPr txBox="1">
                <a:spLocks noRot="1" noChangeAspect="1" noMove="1" noResize="1" noEditPoints="1" noAdjustHandles="1" noChangeArrowheads="1" noChangeShapeType="1" noTextEdit="1"/>
              </p:cNvSpPr>
              <p:nvPr/>
            </p:nvSpPr>
            <p:spPr>
              <a:xfrm>
                <a:off x="7707715" y="1503273"/>
                <a:ext cx="1861985" cy="332463"/>
              </a:xfrm>
              <a:prstGeom prst="rect">
                <a:avLst/>
              </a:prstGeom>
              <a:blipFill>
                <a:blip r:embed="rId4"/>
                <a:stretch>
                  <a:fillRect l="-676" r="-4054" b="-259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263DCFA-1DB4-1540-3816-2E1E7C393E4E}"/>
                  </a:ext>
                </a:extLst>
              </p:cNvPr>
              <p:cNvSpPr txBox="1"/>
              <p:nvPr/>
            </p:nvSpPr>
            <p:spPr>
              <a:xfrm>
                <a:off x="7707715" y="1921289"/>
                <a:ext cx="3062039" cy="400110"/>
              </a:xfrm>
              <a:prstGeom prst="rect">
                <a:avLst/>
              </a:prstGeom>
              <a:noFill/>
            </p:spPr>
            <p:txBody>
              <a:bodyPr wrap="square">
                <a:spAutoFit/>
              </a:bodyPr>
              <a:lstStyle/>
              <a:p>
                <a14:m>
                  <m:oMath xmlns:m="http://schemas.openxmlformats.org/officeDocument/2006/math">
                    <m:r>
                      <a:rPr lang="en-US" sz="2000" b="0" i="1" smtClean="0">
                        <a:latin typeface="Cambria Math" panose="02040503050406030204" pitchFamily="18" charset="0"/>
                      </a:rPr>
                      <m:t>𝑎</m:t>
                    </m:r>
                  </m:oMath>
                </a14:m>
                <a:r>
                  <a:rPr lang="en-US" sz="2000" dirty="0">
                    <a:latin typeface="Microsoft YaHei" panose="020B0503020204020204" pitchFamily="34" charset="-122"/>
                    <a:ea typeface="Microsoft YaHei" panose="020B0503020204020204" pitchFamily="34" charset="-122"/>
                    <a:cs typeface="Calibri" panose="020F0502020204030204" pitchFamily="34" charset="0"/>
                  </a:rPr>
                  <a:t> </a:t>
                </a:r>
                <a:r>
                  <a:rPr lang="en-US" sz="2000" dirty="0" err="1">
                    <a:latin typeface="Microsoft YaHei" panose="020B0503020204020204" pitchFamily="34" charset="-122"/>
                    <a:ea typeface="Microsoft YaHei" panose="020B0503020204020204" pitchFamily="34" charset="-122"/>
                    <a:cs typeface="Calibri" panose="020F0502020204030204" pitchFamily="34" charset="0"/>
                  </a:rPr>
                  <a:t>是前馈注意力机制</a:t>
                </a:r>
                <a:endParaRPr lang="en-US" sz="2000" dirty="0">
                  <a:latin typeface="Microsoft YaHei" panose="020B0503020204020204" pitchFamily="34" charset="-122"/>
                  <a:ea typeface="Microsoft YaHei" panose="020B0503020204020204" pitchFamily="34" charset="-122"/>
                  <a:cs typeface="Calibri" panose="020F0502020204030204" pitchFamily="34" charset="0"/>
                </a:endParaRPr>
              </a:p>
            </p:txBody>
          </p:sp>
        </mc:Choice>
        <mc:Fallback xmlns="">
          <p:sp>
            <p:nvSpPr>
              <p:cNvPr id="5" name="TextBox 4">
                <a:extLst>
                  <a:ext uri="{FF2B5EF4-FFF2-40B4-BE49-F238E27FC236}">
                    <a16:creationId xmlns:a16="http://schemas.microsoft.com/office/drawing/2014/main" id="{C263DCFA-1DB4-1540-3816-2E1E7C393E4E}"/>
                  </a:ext>
                </a:extLst>
              </p:cNvPr>
              <p:cNvSpPr txBox="1">
                <a:spLocks noRot="1" noChangeAspect="1" noMove="1" noResize="1" noEditPoints="1" noAdjustHandles="1" noChangeArrowheads="1" noChangeShapeType="1" noTextEdit="1"/>
              </p:cNvSpPr>
              <p:nvPr/>
            </p:nvSpPr>
            <p:spPr>
              <a:xfrm>
                <a:off x="7707715" y="1921289"/>
                <a:ext cx="3062039" cy="400110"/>
              </a:xfrm>
              <a:prstGeom prst="rect">
                <a:avLst/>
              </a:prstGeom>
              <a:blipFill>
                <a:blip r:embed="rId5"/>
                <a:stretch>
                  <a:fillRect t="-9375" b="-28125"/>
                </a:stretch>
              </a:blipFill>
            </p:spPr>
            <p:txBody>
              <a:bodyPr/>
              <a:lstStyle/>
              <a:p>
                <a:r>
                  <a:rPr lang="en-US">
                    <a:noFill/>
                  </a:rPr>
                  <a:t> </a:t>
                </a:r>
              </a:p>
            </p:txBody>
          </p:sp>
        </mc:Fallback>
      </mc:AlternateContent>
      <p:sp>
        <p:nvSpPr>
          <p:cNvPr id="103" name="object 8">
            <a:extLst>
              <a:ext uri="{FF2B5EF4-FFF2-40B4-BE49-F238E27FC236}">
                <a16:creationId xmlns:a16="http://schemas.microsoft.com/office/drawing/2014/main" id="{D5E84CE4-1F31-9821-8815-000CE627411D}"/>
              </a:ext>
            </a:extLst>
          </p:cNvPr>
          <p:cNvSpPr txBox="1"/>
          <p:nvPr/>
        </p:nvSpPr>
        <p:spPr>
          <a:xfrm>
            <a:off x="692227" y="5627077"/>
            <a:ext cx="323772" cy="294097"/>
          </a:xfrm>
          <a:prstGeom prst="rect">
            <a:avLst/>
          </a:prstGeom>
        </p:spPr>
        <p:txBody>
          <a:bodyPr vert="horz" wrap="square" lIns="0" tIns="16933" rIns="0" bIns="0" rtlCol="0" anchor="t">
            <a:spAutoFit/>
          </a:bodyPr>
          <a:lstStyle/>
          <a:p>
            <a:pPr marL="16510">
              <a:spcBef>
                <a:spcPts val="133"/>
              </a:spcBef>
            </a:pPr>
            <a:r>
              <a:rPr lang="zh-CN" spc="-33">
                <a:latin typeface="Microsoft YaHei" panose="020B0503020204020204" pitchFamily="34" charset="-122"/>
                <a:ea typeface="Microsoft YaHei" panose="020B0503020204020204" pitchFamily="34" charset="-122"/>
                <a:cs typeface="Calibri"/>
              </a:rPr>
              <a:t>我</a:t>
            </a:r>
            <a:endParaRPr lang="zh-CN" altLang="en-US">
              <a:latin typeface="Microsoft YaHei" panose="020B0503020204020204" pitchFamily="34" charset="-122"/>
              <a:ea typeface="Microsoft YaHei" panose="020B0503020204020204" pitchFamily="34" charset="-122"/>
              <a:cs typeface="Calibri" panose="020F0502020204030204" pitchFamily="34" charset="0"/>
            </a:endParaRPr>
          </a:p>
        </p:txBody>
      </p:sp>
      <p:sp>
        <p:nvSpPr>
          <p:cNvPr id="104" name="object 9">
            <a:extLst>
              <a:ext uri="{FF2B5EF4-FFF2-40B4-BE49-F238E27FC236}">
                <a16:creationId xmlns:a16="http://schemas.microsoft.com/office/drawing/2014/main" id="{88C7BB46-FF70-1D7A-6150-59B8A67E1884}"/>
              </a:ext>
            </a:extLst>
          </p:cNvPr>
          <p:cNvSpPr txBox="1"/>
          <p:nvPr/>
        </p:nvSpPr>
        <p:spPr>
          <a:xfrm>
            <a:off x="1553348" y="5627077"/>
            <a:ext cx="360445" cy="294097"/>
          </a:xfrm>
          <a:prstGeom prst="rect">
            <a:avLst/>
          </a:prstGeom>
        </p:spPr>
        <p:txBody>
          <a:bodyPr vert="horz" wrap="square" lIns="0" tIns="16933" rIns="0" bIns="0" rtlCol="0" anchor="t">
            <a:spAutoFit/>
          </a:bodyPr>
          <a:lstStyle/>
          <a:p>
            <a:pPr marL="16510">
              <a:spcBef>
                <a:spcPts val="133"/>
              </a:spcBef>
            </a:pPr>
            <a:r>
              <a:rPr lang="zh-CN" spc="-33">
                <a:latin typeface="Microsoft YaHei" panose="020B0503020204020204" pitchFamily="34" charset="-122"/>
                <a:ea typeface="Microsoft YaHei" panose="020B0503020204020204" pitchFamily="34" charset="-122"/>
                <a:cs typeface="Calibri"/>
              </a:rPr>
              <a:t>买</a:t>
            </a:r>
            <a:endParaRPr lang="zh-CN" altLang="en-US">
              <a:latin typeface="Microsoft YaHei" panose="020B0503020204020204" pitchFamily="34" charset="-122"/>
              <a:ea typeface="Microsoft YaHei" panose="020B0503020204020204" pitchFamily="34" charset="-122"/>
              <a:cs typeface="Calibri" panose="020F0502020204030204" pitchFamily="34" charset="0"/>
            </a:endParaRPr>
          </a:p>
        </p:txBody>
      </p:sp>
      <p:sp>
        <p:nvSpPr>
          <p:cNvPr id="105" name="object 10">
            <a:extLst>
              <a:ext uri="{FF2B5EF4-FFF2-40B4-BE49-F238E27FC236}">
                <a16:creationId xmlns:a16="http://schemas.microsoft.com/office/drawing/2014/main" id="{03BEB52E-AF10-240B-6D5C-B5C28584B013}"/>
              </a:ext>
            </a:extLst>
          </p:cNvPr>
          <p:cNvSpPr txBox="1"/>
          <p:nvPr/>
        </p:nvSpPr>
        <p:spPr>
          <a:xfrm>
            <a:off x="2375045" y="5627077"/>
            <a:ext cx="641258" cy="294097"/>
          </a:xfrm>
          <a:prstGeom prst="rect">
            <a:avLst/>
          </a:prstGeom>
        </p:spPr>
        <p:txBody>
          <a:bodyPr vert="horz" wrap="square" lIns="0" tIns="16933" rIns="0" bIns="0" rtlCol="0" anchor="t">
            <a:spAutoFit/>
          </a:bodyPr>
          <a:lstStyle/>
          <a:p>
            <a:pPr marL="16510" algn="ctr">
              <a:spcBef>
                <a:spcPts val="133"/>
              </a:spcBef>
            </a:pPr>
            <a:r>
              <a:rPr lang="zh-CN" spc="-13">
                <a:latin typeface="Microsoft YaHei" panose="020B0503020204020204" pitchFamily="34" charset="-122"/>
                <a:ea typeface="Microsoft YaHei" panose="020B0503020204020204" pitchFamily="34" charset="-122"/>
                <a:cs typeface="Calibri"/>
              </a:rPr>
              <a:t>了</a:t>
            </a:r>
            <a:endParaRPr lang="zh-CN" altLang="en-US">
              <a:latin typeface="Microsoft YaHei" panose="020B0503020204020204" pitchFamily="34" charset="-122"/>
              <a:ea typeface="Microsoft YaHei" panose="020B0503020204020204" pitchFamily="34" charset="-122"/>
              <a:cs typeface="Calibri" panose="020F0502020204030204" pitchFamily="34" charset="0"/>
            </a:endParaRPr>
          </a:p>
        </p:txBody>
      </p:sp>
      <p:sp>
        <p:nvSpPr>
          <p:cNvPr id="106" name="object 24">
            <a:extLst>
              <a:ext uri="{FF2B5EF4-FFF2-40B4-BE49-F238E27FC236}">
                <a16:creationId xmlns:a16="http://schemas.microsoft.com/office/drawing/2014/main" id="{0F014316-2BFF-DD42-66B2-F67D3F55CDB4}"/>
              </a:ext>
            </a:extLst>
          </p:cNvPr>
          <p:cNvSpPr txBox="1"/>
          <p:nvPr/>
        </p:nvSpPr>
        <p:spPr>
          <a:xfrm>
            <a:off x="3333099" y="5627077"/>
            <a:ext cx="604585" cy="294097"/>
          </a:xfrm>
          <a:prstGeom prst="rect">
            <a:avLst/>
          </a:prstGeom>
        </p:spPr>
        <p:txBody>
          <a:bodyPr vert="horz" wrap="square" lIns="0" tIns="16933" rIns="0" bIns="0" rtlCol="0" anchor="t">
            <a:spAutoFit/>
          </a:bodyPr>
          <a:lstStyle/>
          <a:p>
            <a:pPr marL="16510" algn="ctr">
              <a:spcBef>
                <a:spcPts val="133"/>
              </a:spcBef>
            </a:pPr>
            <a:r>
              <a:rPr lang="zh-CN" altLang="en-US" spc="-13" dirty="0">
                <a:latin typeface="Microsoft YaHei" panose="020B0503020204020204" pitchFamily="34" charset="-122"/>
                <a:ea typeface="Microsoft YaHei" panose="020B0503020204020204" pitchFamily="34" charset="-122"/>
                <a:cs typeface="Calibri"/>
              </a:rPr>
              <a:t>书</a:t>
            </a:r>
            <a:endParaRPr lang="zh-CN" altLang="en-US" dirty="0">
              <a:latin typeface="Microsoft YaHei" panose="020B0503020204020204" pitchFamily="34" charset="-122"/>
              <a:ea typeface="Microsoft YaHei" panose="020B0503020204020204" pitchFamily="34" charset="-122"/>
              <a:cs typeface="Calibri" panose="020F0502020204030204" pitchFamily="34" charset="0"/>
            </a:endParaRPr>
          </a:p>
        </p:txBody>
      </p:sp>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52182F01-6D45-D4E6-75AA-C8583997C320}"/>
                  </a:ext>
                </a:extLst>
              </p:cNvPr>
              <p:cNvSpPr txBox="1"/>
              <p:nvPr/>
            </p:nvSpPr>
            <p:spPr>
              <a:xfrm>
                <a:off x="3056823" y="5662965"/>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107" name="TextBox 106">
                <a:extLst>
                  <a:ext uri="{FF2B5EF4-FFF2-40B4-BE49-F238E27FC236}">
                    <a16:creationId xmlns:a16="http://schemas.microsoft.com/office/drawing/2014/main" id="{52182F01-6D45-D4E6-75AA-C8583997C320}"/>
                  </a:ext>
                </a:extLst>
              </p:cNvPr>
              <p:cNvSpPr txBox="1">
                <a:spLocks noRot="1" noChangeAspect="1" noMove="1" noResize="1" noEditPoints="1" noAdjustHandles="1" noChangeArrowheads="1" noChangeShapeType="1" noTextEdit="1"/>
              </p:cNvSpPr>
              <p:nvPr/>
            </p:nvSpPr>
            <p:spPr>
              <a:xfrm>
                <a:off x="3056823" y="5662965"/>
                <a:ext cx="329532" cy="246221"/>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7A85C6D8-BA0B-1621-CE2F-1E74156CEF44}"/>
                  </a:ext>
                </a:extLst>
              </p:cNvPr>
              <p:cNvSpPr txBox="1"/>
              <p:nvPr/>
            </p:nvSpPr>
            <p:spPr>
              <a:xfrm>
                <a:off x="614540" y="5022798"/>
                <a:ext cx="47198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oMath>
                  </m:oMathPara>
                </a14:m>
                <a:endParaRPr lang="en-US" dirty="0"/>
              </a:p>
            </p:txBody>
          </p:sp>
        </mc:Choice>
        <mc:Fallback xmlns="">
          <p:sp>
            <p:nvSpPr>
              <p:cNvPr id="108" name="TextBox 107">
                <a:extLst>
                  <a:ext uri="{FF2B5EF4-FFF2-40B4-BE49-F238E27FC236}">
                    <a16:creationId xmlns:a16="http://schemas.microsoft.com/office/drawing/2014/main" id="{7A85C6D8-BA0B-1621-CE2F-1E74156CEF44}"/>
                  </a:ext>
                </a:extLst>
              </p:cNvPr>
              <p:cNvSpPr txBox="1">
                <a:spLocks noRot="1" noChangeAspect="1" noMove="1" noResize="1" noEditPoints="1" noAdjustHandles="1" noChangeArrowheads="1" noChangeShapeType="1" noTextEdit="1"/>
              </p:cNvSpPr>
              <p:nvPr/>
            </p:nvSpPr>
            <p:spPr>
              <a:xfrm>
                <a:off x="614540" y="5022798"/>
                <a:ext cx="471989"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E06A9E11-20A5-5259-9080-7DEF6352BCD3}"/>
                  </a:ext>
                </a:extLst>
              </p:cNvPr>
              <p:cNvSpPr txBox="1"/>
              <p:nvPr/>
            </p:nvSpPr>
            <p:spPr>
              <a:xfrm>
                <a:off x="1494969" y="5022798"/>
                <a:ext cx="47731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oMath>
                  </m:oMathPara>
                </a14:m>
                <a:endParaRPr lang="en-US" dirty="0"/>
              </a:p>
            </p:txBody>
          </p:sp>
        </mc:Choice>
        <mc:Fallback xmlns="">
          <p:sp>
            <p:nvSpPr>
              <p:cNvPr id="109" name="TextBox 108">
                <a:extLst>
                  <a:ext uri="{FF2B5EF4-FFF2-40B4-BE49-F238E27FC236}">
                    <a16:creationId xmlns:a16="http://schemas.microsoft.com/office/drawing/2014/main" id="{E06A9E11-20A5-5259-9080-7DEF6352BCD3}"/>
                  </a:ext>
                </a:extLst>
              </p:cNvPr>
              <p:cNvSpPr txBox="1">
                <a:spLocks noRot="1" noChangeAspect="1" noMove="1" noResize="1" noEditPoints="1" noAdjustHandles="1" noChangeArrowheads="1" noChangeShapeType="1" noTextEdit="1"/>
              </p:cNvSpPr>
              <p:nvPr/>
            </p:nvSpPr>
            <p:spPr>
              <a:xfrm>
                <a:off x="1494969" y="5022798"/>
                <a:ext cx="477310"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96837E98-A64D-597E-8059-E073B2415FD0}"/>
                  </a:ext>
                </a:extLst>
              </p:cNvPr>
              <p:cNvSpPr txBox="1"/>
              <p:nvPr/>
            </p:nvSpPr>
            <p:spPr>
              <a:xfrm>
                <a:off x="2457019" y="5022798"/>
                <a:ext cx="47731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3</m:t>
                          </m:r>
                        </m:sub>
                      </m:sSub>
                    </m:oMath>
                  </m:oMathPara>
                </a14:m>
                <a:endParaRPr lang="en-US" dirty="0"/>
              </a:p>
            </p:txBody>
          </p:sp>
        </mc:Choice>
        <mc:Fallback xmlns="">
          <p:sp>
            <p:nvSpPr>
              <p:cNvPr id="110" name="TextBox 109">
                <a:extLst>
                  <a:ext uri="{FF2B5EF4-FFF2-40B4-BE49-F238E27FC236}">
                    <a16:creationId xmlns:a16="http://schemas.microsoft.com/office/drawing/2014/main" id="{96837E98-A64D-597E-8059-E073B2415FD0}"/>
                  </a:ext>
                </a:extLst>
              </p:cNvPr>
              <p:cNvSpPr txBox="1">
                <a:spLocks noRot="1" noChangeAspect="1" noMove="1" noResize="1" noEditPoints="1" noAdjustHandles="1" noChangeArrowheads="1" noChangeShapeType="1" noTextEdit="1"/>
              </p:cNvSpPr>
              <p:nvPr/>
            </p:nvSpPr>
            <p:spPr>
              <a:xfrm>
                <a:off x="2457019" y="5022798"/>
                <a:ext cx="477310"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EA9F9D98-56D3-4B9E-8327-B71287DE46BA}"/>
                  </a:ext>
                </a:extLst>
              </p:cNvPr>
              <p:cNvSpPr txBox="1"/>
              <p:nvPr/>
            </p:nvSpPr>
            <p:spPr>
              <a:xfrm>
                <a:off x="3419069" y="5049369"/>
                <a:ext cx="49699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𝑇</m:t>
                          </m:r>
                        </m:sub>
                      </m:sSub>
                    </m:oMath>
                  </m:oMathPara>
                </a14:m>
                <a:endParaRPr lang="en-US" dirty="0"/>
              </a:p>
            </p:txBody>
          </p:sp>
        </mc:Choice>
        <mc:Fallback xmlns="">
          <p:sp>
            <p:nvSpPr>
              <p:cNvPr id="111" name="TextBox 110">
                <a:extLst>
                  <a:ext uri="{FF2B5EF4-FFF2-40B4-BE49-F238E27FC236}">
                    <a16:creationId xmlns:a16="http://schemas.microsoft.com/office/drawing/2014/main" id="{EA9F9D98-56D3-4B9E-8327-B71287DE46BA}"/>
                  </a:ext>
                </a:extLst>
              </p:cNvPr>
              <p:cNvSpPr txBox="1">
                <a:spLocks noRot="1" noChangeAspect="1" noMove="1" noResize="1" noEditPoints="1" noAdjustHandles="1" noChangeArrowheads="1" noChangeShapeType="1" noTextEdit="1"/>
              </p:cNvSpPr>
              <p:nvPr/>
            </p:nvSpPr>
            <p:spPr>
              <a:xfrm>
                <a:off x="3419069" y="5049369"/>
                <a:ext cx="496996" cy="369332"/>
              </a:xfrm>
              <a:prstGeom prst="rect">
                <a:avLst/>
              </a:prstGeom>
              <a:blipFill>
                <a:blip r:embed="rId10"/>
                <a:stretch>
                  <a:fillRect b="-3333"/>
                </a:stretch>
              </a:blipFill>
            </p:spPr>
            <p:txBody>
              <a:bodyPr/>
              <a:lstStyle/>
              <a:p>
                <a:r>
                  <a:rPr lang="en-US">
                    <a:noFill/>
                  </a:rPr>
                  <a:t> </a:t>
                </a:r>
              </a:p>
            </p:txBody>
          </p:sp>
        </mc:Fallback>
      </mc:AlternateContent>
      <p:cxnSp>
        <p:nvCxnSpPr>
          <p:cNvPr id="112" name="Straight Arrow Connector 111">
            <a:extLst>
              <a:ext uri="{FF2B5EF4-FFF2-40B4-BE49-F238E27FC236}">
                <a16:creationId xmlns:a16="http://schemas.microsoft.com/office/drawing/2014/main" id="{B9A5B8EE-EEA5-13E7-054A-4524B4B727DE}"/>
              </a:ext>
            </a:extLst>
          </p:cNvPr>
          <p:cNvCxnSpPr>
            <a:stCxn id="103" idx="0"/>
            <a:endCxn id="108" idx="2"/>
          </p:cNvCxnSpPr>
          <p:nvPr/>
        </p:nvCxnSpPr>
        <p:spPr>
          <a:xfrm flipH="1" flipV="1">
            <a:off x="850535" y="5392130"/>
            <a:ext cx="3578"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52195C7D-738B-F718-31A9-404DDEB5C3BB}"/>
              </a:ext>
            </a:extLst>
          </p:cNvPr>
          <p:cNvCxnSpPr>
            <a:cxnSpLocks/>
            <a:stCxn id="104" idx="0"/>
            <a:endCxn id="109" idx="2"/>
          </p:cNvCxnSpPr>
          <p:nvPr/>
        </p:nvCxnSpPr>
        <p:spPr>
          <a:xfrm flipV="1">
            <a:off x="1733571" y="5392130"/>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80338C4F-D1FA-BF3C-100F-626526D04ED6}"/>
              </a:ext>
            </a:extLst>
          </p:cNvPr>
          <p:cNvCxnSpPr>
            <a:cxnSpLocks/>
          </p:cNvCxnSpPr>
          <p:nvPr/>
        </p:nvCxnSpPr>
        <p:spPr>
          <a:xfrm flipV="1">
            <a:off x="2679165" y="5358926"/>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C037FCF8-B7E2-22DD-7BFD-2B5CED537780}"/>
              </a:ext>
            </a:extLst>
          </p:cNvPr>
          <p:cNvCxnSpPr>
            <a:cxnSpLocks/>
          </p:cNvCxnSpPr>
          <p:nvPr/>
        </p:nvCxnSpPr>
        <p:spPr>
          <a:xfrm flipV="1">
            <a:off x="3635391" y="5392129"/>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6" name="Rectangle 115">
                <a:extLst>
                  <a:ext uri="{FF2B5EF4-FFF2-40B4-BE49-F238E27FC236}">
                    <a16:creationId xmlns:a16="http://schemas.microsoft.com/office/drawing/2014/main" id="{78398AC4-7C12-15F4-92AD-B1DB00AC575D}"/>
                  </a:ext>
                </a:extLst>
              </p:cNvPr>
              <p:cNvSpPr/>
              <p:nvPr/>
            </p:nvSpPr>
            <p:spPr>
              <a:xfrm>
                <a:off x="661797" y="4263656"/>
                <a:ext cx="424732" cy="43593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1</m:t>
                          </m:r>
                        </m:sub>
                      </m:sSub>
                    </m:oMath>
                  </m:oMathPara>
                </a14:m>
                <a:endParaRPr lang="en-US" dirty="0"/>
              </a:p>
            </p:txBody>
          </p:sp>
        </mc:Choice>
        <mc:Fallback xmlns="">
          <p:sp>
            <p:nvSpPr>
              <p:cNvPr id="116" name="Rectangle 115">
                <a:extLst>
                  <a:ext uri="{FF2B5EF4-FFF2-40B4-BE49-F238E27FC236}">
                    <a16:creationId xmlns:a16="http://schemas.microsoft.com/office/drawing/2014/main" id="{78398AC4-7C12-15F4-92AD-B1DB00AC575D}"/>
                  </a:ext>
                </a:extLst>
              </p:cNvPr>
              <p:cNvSpPr>
                <a:spLocks noRot="1" noChangeAspect="1" noMove="1" noResize="1" noEditPoints="1" noAdjustHandles="1" noChangeArrowheads="1" noChangeShapeType="1" noTextEdit="1"/>
              </p:cNvSpPr>
              <p:nvPr/>
            </p:nvSpPr>
            <p:spPr>
              <a:xfrm>
                <a:off x="661797" y="4263656"/>
                <a:ext cx="424732" cy="435935"/>
              </a:xfrm>
              <a:prstGeom prst="rect">
                <a:avLst/>
              </a:prstGeom>
              <a:blipFill>
                <a:blip r:embed="rId11"/>
                <a:stretch>
                  <a:fillRect l="-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7" name="Rectangle 116">
                <a:extLst>
                  <a:ext uri="{FF2B5EF4-FFF2-40B4-BE49-F238E27FC236}">
                    <a16:creationId xmlns:a16="http://schemas.microsoft.com/office/drawing/2014/main" id="{8D809DAC-7E39-4670-A1B4-06F2B5144CD7}"/>
                  </a:ext>
                </a:extLst>
              </p:cNvPr>
              <p:cNvSpPr/>
              <p:nvPr/>
            </p:nvSpPr>
            <p:spPr>
              <a:xfrm>
                <a:off x="1547547" y="4263656"/>
                <a:ext cx="424732" cy="43593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2</m:t>
                          </m:r>
                        </m:sub>
                      </m:sSub>
                    </m:oMath>
                  </m:oMathPara>
                </a14:m>
                <a:endParaRPr lang="en-US" dirty="0"/>
              </a:p>
            </p:txBody>
          </p:sp>
        </mc:Choice>
        <mc:Fallback xmlns="">
          <p:sp>
            <p:nvSpPr>
              <p:cNvPr id="117" name="Rectangle 116">
                <a:extLst>
                  <a:ext uri="{FF2B5EF4-FFF2-40B4-BE49-F238E27FC236}">
                    <a16:creationId xmlns:a16="http://schemas.microsoft.com/office/drawing/2014/main" id="{8D809DAC-7E39-4670-A1B4-06F2B5144CD7}"/>
                  </a:ext>
                </a:extLst>
              </p:cNvPr>
              <p:cNvSpPr>
                <a:spLocks noRot="1" noChangeAspect="1" noMove="1" noResize="1" noEditPoints="1" noAdjustHandles="1" noChangeArrowheads="1" noChangeShapeType="1" noTextEdit="1"/>
              </p:cNvSpPr>
              <p:nvPr/>
            </p:nvSpPr>
            <p:spPr>
              <a:xfrm>
                <a:off x="1547547" y="4263656"/>
                <a:ext cx="424732" cy="435935"/>
              </a:xfrm>
              <a:prstGeom prst="rect">
                <a:avLst/>
              </a:prstGeom>
              <a:blipFill>
                <a:blip r:embed="rId12"/>
                <a:stretch>
                  <a:fillRect l="-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8" name="Rectangle 117">
                <a:extLst>
                  <a:ext uri="{FF2B5EF4-FFF2-40B4-BE49-F238E27FC236}">
                    <a16:creationId xmlns:a16="http://schemas.microsoft.com/office/drawing/2014/main" id="{BB272977-D7D7-06AA-287F-06834DBAE507}"/>
                  </a:ext>
                </a:extLst>
              </p:cNvPr>
              <p:cNvSpPr/>
              <p:nvPr/>
            </p:nvSpPr>
            <p:spPr>
              <a:xfrm>
                <a:off x="2472323" y="4263656"/>
                <a:ext cx="424732" cy="43593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3</m:t>
                          </m:r>
                        </m:sub>
                      </m:sSub>
                    </m:oMath>
                  </m:oMathPara>
                </a14:m>
                <a:endParaRPr lang="en-US" dirty="0"/>
              </a:p>
            </p:txBody>
          </p:sp>
        </mc:Choice>
        <mc:Fallback xmlns="">
          <p:sp>
            <p:nvSpPr>
              <p:cNvPr id="118" name="Rectangle 117">
                <a:extLst>
                  <a:ext uri="{FF2B5EF4-FFF2-40B4-BE49-F238E27FC236}">
                    <a16:creationId xmlns:a16="http://schemas.microsoft.com/office/drawing/2014/main" id="{BB272977-D7D7-06AA-287F-06834DBAE507}"/>
                  </a:ext>
                </a:extLst>
              </p:cNvPr>
              <p:cNvSpPr>
                <a:spLocks noRot="1" noChangeAspect="1" noMove="1" noResize="1" noEditPoints="1" noAdjustHandles="1" noChangeArrowheads="1" noChangeShapeType="1" noTextEdit="1"/>
              </p:cNvSpPr>
              <p:nvPr/>
            </p:nvSpPr>
            <p:spPr>
              <a:xfrm>
                <a:off x="2472323" y="4263656"/>
                <a:ext cx="424732" cy="435935"/>
              </a:xfrm>
              <a:prstGeom prst="rect">
                <a:avLst/>
              </a:prstGeom>
              <a:blipFill>
                <a:blip r:embed="rId13"/>
                <a:stretch>
                  <a:fillRect l="-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9" name="Rectangle 118">
                <a:extLst>
                  <a:ext uri="{FF2B5EF4-FFF2-40B4-BE49-F238E27FC236}">
                    <a16:creationId xmlns:a16="http://schemas.microsoft.com/office/drawing/2014/main" id="{EE60B451-079C-2BA4-8A97-B5E81F6B19CA}"/>
                  </a:ext>
                </a:extLst>
              </p:cNvPr>
              <p:cNvSpPr/>
              <p:nvPr/>
            </p:nvSpPr>
            <p:spPr>
              <a:xfrm>
                <a:off x="3455201" y="4278211"/>
                <a:ext cx="424732" cy="43593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𝑇</m:t>
                          </m:r>
                        </m:sub>
                      </m:sSub>
                    </m:oMath>
                  </m:oMathPara>
                </a14:m>
                <a:endParaRPr lang="en-US" dirty="0"/>
              </a:p>
            </p:txBody>
          </p:sp>
        </mc:Choice>
        <mc:Fallback xmlns="">
          <p:sp>
            <p:nvSpPr>
              <p:cNvPr id="119" name="Rectangle 118">
                <a:extLst>
                  <a:ext uri="{FF2B5EF4-FFF2-40B4-BE49-F238E27FC236}">
                    <a16:creationId xmlns:a16="http://schemas.microsoft.com/office/drawing/2014/main" id="{EE60B451-079C-2BA4-8A97-B5E81F6B19CA}"/>
                  </a:ext>
                </a:extLst>
              </p:cNvPr>
              <p:cNvSpPr>
                <a:spLocks noRot="1" noChangeAspect="1" noMove="1" noResize="1" noEditPoints="1" noAdjustHandles="1" noChangeArrowheads="1" noChangeShapeType="1" noTextEdit="1"/>
              </p:cNvSpPr>
              <p:nvPr/>
            </p:nvSpPr>
            <p:spPr>
              <a:xfrm>
                <a:off x="3455201" y="4278211"/>
                <a:ext cx="424732" cy="435935"/>
              </a:xfrm>
              <a:prstGeom prst="rect">
                <a:avLst/>
              </a:prstGeom>
              <a:blipFill>
                <a:blip r:embed="rId14"/>
                <a:stretch>
                  <a:fillRect l="-5714"/>
                </a:stretch>
              </a:blipFill>
            </p:spPr>
            <p:txBody>
              <a:bodyPr/>
              <a:lstStyle/>
              <a:p>
                <a:r>
                  <a:rPr lang="en-US">
                    <a:noFill/>
                  </a:rPr>
                  <a:t> </a:t>
                </a:r>
              </a:p>
            </p:txBody>
          </p:sp>
        </mc:Fallback>
      </mc:AlternateContent>
      <p:cxnSp>
        <p:nvCxnSpPr>
          <p:cNvPr id="120" name="Straight Arrow Connector 119">
            <a:extLst>
              <a:ext uri="{FF2B5EF4-FFF2-40B4-BE49-F238E27FC236}">
                <a16:creationId xmlns:a16="http://schemas.microsoft.com/office/drawing/2014/main" id="{A1F6E2E1-CECA-AA55-090F-922D54D09528}"/>
              </a:ext>
            </a:extLst>
          </p:cNvPr>
          <p:cNvCxnSpPr>
            <a:cxnSpLocks/>
            <a:stCxn id="118" idx="3"/>
            <a:endCxn id="119" idx="1"/>
          </p:cNvCxnSpPr>
          <p:nvPr/>
        </p:nvCxnSpPr>
        <p:spPr>
          <a:xfrm>
            <a:off x="2897055" y="4481624"/>
            <a:ext cx="558146" cy="1455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21" name="Group 120">
            <a:extLst>
              <a:ext uri="{FF2B5EF4-FFF2-40B4-BE49-F238E27FC236}">
                <a16:creationId xmlns:a16="http://schemas.microsoft.com/office/drawing/2014/main" id="{847D7475-0938-1474-D7F0-E063F6C8A6C0}"/>
              </a:ext>
            </a:extLst>
          </p:cNvPr>
          <p:cNvGrpSpPr/>
          <p:nvPr/>
        </p:nvGrpSpPr>
        <p:grpSpPr>
          <a:xfrm>
            <a:off x="2999905" y="4347165"/>
            <a:ext cx="329532" cy="246221"/>
            <a:chOff x="2966499" y="3857245"/>
            <a:chExt cx="329532" cy="246221"/>
          </a:xfrm>
        </p:grpSpPr>
        <p:sp>
          <p:nvSpPr>
            <p:cNvPr id="122" name="TextBox 121">
              <a:extLst>
                <a:ext uri="{FF2B5EF4-FFF2-40B4-BE49-F238E27FC236}">
                  <a16:creationId xmlns:a16="http://schemas.microsoft.com/office/drawing/2014/main" id="{A29E8CB7-AA23-5FD6-EA7B-3A50FDDA5BCC}"/>
                </a:ext>
              </a:extLst>
            </p:cNvPr>
            <p:cNvSpPr txBox="1"/>
            <p:nvPr/>
          </p:nvSpPr>
          <p:spPr>
            <a:xfrm>
              <a:off x="3033827" y="3907765"/>
              <a:ext cx="187762" cy="184666"/>
            </a:xfrm>
            <a:prstGeom prst="rect">
              <a:avLst/>
            </a:prstGeom>
            <a:solidFill>
              <a:schemeClr val="bg1"/>
            </a:solidFill>
          </p:spPr>
          <p:txBody>
            <a:bodyPr wrap="square" rtlCol="0">
              <a:spAutoFit/>
            </a:bodyPr>
            <a:lstStyle/>
            <a:p>
              <a:endParaRPr lang="en-US" sz="600" dirty="0">
                <a:latin typeface="Microsoft YaHei" panose="020B0503020204020204" pitchFamily="34" charset="-122"/>
                <a:ea typeface="Microsoft YaHei" panose="020B0503020204020204" pitchFamily="34" charset="-122"/>
              </a:endParaRPr>
            </a:p>
          </p:txBody>
        </p:sp>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0A529959-8F1B-DFF1-9634-1A0B4C1DE8A3}"/>
                    </a:ext>
                  </a:extLst>
                </p:cNvPr>
                <p:cNvSpPr txBox="1"/>
                <p:nvPr/>
              </p:nvSpPr>
              <p:spPr>
                <a:xfrm>
                  <a:off x="2966499" y="3857245"/>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123" name="TextBox 122">
                  <a:extLst>
                    <a:ext uri="{FF2B5EF4-FFF2-40B4-BE49-F238E27FC236}">
                      <a16:creationId xmlns:a16="http://schemas.microsoft.com/office/drawing/2014/main" id="{0A529959-8F1B-DFF1-9634-1A0B4C1DE8A3}"/>
                    </a:ext>
                  </a:extLst>
                </p:cNvPr>
                <p:cNvSpPr txBox="1">
                  <a:spLocks noRot="1" noChangeAspect="1" noMove="1" noResize="1" noEditPoints="1" noAdjustHandles="1" noChangeArrowheads="1" noChangeShapeType="1" noTextEdit="1"/>
                </p:cNvSpPr>
                <p:nvPr/>
              </p:nvSpPr>
              <p:spPr>
                <a:xfrm>
                  <a:off x="2966499" y="3857245"/>
                  <a:ext cx="329532" cy="246221"/>
                </a:xfrm>
                <a:prstGeom prst="rect">
                  <a:avLst/>
                </a:prstGeom>
                <a:blipFill>
                  <a:blip r:embed="rId15"/>
                  <a:stretch>
                    <a:fillRect/>
                  </a:stretch>
                </a:blipFill>
              </p:spPr>
              <p:txBody>
                <a:bodyPr/>
                <a:lstStyle/>
                <a:p>
                  <a:r>
                    <a:rPr lang="en-US">
                      <a:noFill/>
                    </a:rPr>
                    <a:t> </a:t>
                  </a:r>
                </a:p>
              </p:txBody>
            </p:sp>
          </mc:Fallback>
        </mc:AlternateContent>
      </p:grpSp>
      <p:cxnSp>
        <p:nvCxnSpPr>
          <p:cNvPr id="124" name="Straight Arrow Connector 123">
            <a:extLst>
              <a:ext uri="{FF2B5EF4-FFF2-40B4-BE49-F238E27FC236}">
                <a16:creationId xmlns:a16="http://schemas.microsoft.com/office/drawing/2014/main" id="{A35E16CD-F59D-C5D4-D651-B74B7B1D44FE}"/>
              </a:ext>
            </a:extLst>
          </p:cNvPr>
          <p:cNvCxnSpPr>
            <a:cxnSpLocks/>
            <a:stCxn id="117" idx="3"/>
            <a:endCxn id="118" idx="1"/>
          </p:cNvCxnSpPr>
          <p:nvPr/>
        </p:nvCxnSpPr>
        <p:spPr>
          <a:xfrm>
            <a:off x="1972279" y="4481624"/>
            <a:ext cx="50004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F751DB18-BB2C-7026-44F7-A82F9A7DE802}"/>
              </a:ext>
            </a:extLst>
          </p:cNvPr>
          <p:cNvCxnSpPr>
            <a:cxnSpLocks/>
            <a:stCxn id="116" idx="3"/>
            <a:endCxn id="117" idx="1"/>
          </p:cNvCxnSpPr>
          <p:nvPr/>
        </p:nvCxnSpPr>
        <p:spPr>
          <a:xfrm>
            <a:off x="1086529" y="4481624"/>
            <a:ext cx="46101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3E41B75A-9D00-0134-DC45-9EEF7D876E6D}"/>
              </a:ext>
            </a:extLst>
          </p:cNvPr>
          <p:cNvCxnSpPr/>
          <p:nvPr/>
        </p:nvCxnSpPr>
        <p:spPr>
          <a:xfrm flipH="1" flipV="1">
            <a:off x="850482" y="4861970"/>
            <a:ext cx="3578"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849F4976-8930-FD12-C141-C3B3ADE3C87C}"/>
              </a:ext>
            </a:extLst>
          </p:cNvPr>
          <p:cNvCxnSpPr>
            <a:cxnSpLocks/>
          </p:cNvCxnSpPr>
          <p:nvPr/>
        </p:nvCxnSpPr>
        <p:spPr>
          <a:xfrm flipV="1">
            <a:off x="1733518" y="4861970"/>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49F114B0-FF84-5228-EEB0-BECB0864C28E}"/>
              </a:ext>
            </a:extLst>
          </p:cNvPr>
          <p:cNvCxnSpPr>
            <a:cxnSpLocks/>
          </p:cNvCxnSpPr>
          <p:nvPr/>
        </p:nvCxnSpPr>
        <p:spPr>
          <a:xfrm flipV="1">
            <a:off x="2679112" y="4828766"/>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628ED038-BDF9-474A-AB8C-0081365C1F2E}"/>
              </a:ext>
            </a:extLst>
          </p:cNvPr>
          <p:cNvCxnSpPr>
            <a:cxnSpLocks/>
          </p:cNvCxnSpPr>
          <p:nvPr/>
        </p:nvCxnSpPr>
        <p:spPr>
          <a:xfrm flipV="1">
            <a:off x="3635338" y="4861969"/>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0" name="TextBox 129">
                <a:extLst>
                  <a:ext uri="{FF2B5EF4-FFF2-40B4-BE49-F238E27FC236}">
                    <a16:creationId xmlns:a16="http://schemas.microsoft.com/office/drawing/2014/main" id="{E6356963-0224-B6C7-F7AE-D08238848C14}"/>
                  </a:ext>
                </a:extLst>
              </p:cNvPr>
              <p:cNvSpPr txBox="1"/>
              <p:nvPr/>
            </p:nvSpPr>
            <p:spPr>
              <a:xfrm>
                <a:off x="3040699" y="5108610"/>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130" name="TextBox 129">
                <a:extLst>
                  <a:ext uri="{FF2B5EF4-FFF2-40B4-BE49-F238E27FC236}">
                    <a16:creationId xmlns:a16="http://schemas.microsoft.com/office/drawing/2014/main" id="{E6356963-0224-B6C7-F7AE-D08238848C14}"/>
                  </a:ext>
                </a:extLst>
              </p:cNvPr>
              <p:cNvSpPr txBox="1">
                <a:spLocks noRot="1" noChangeAspect="1" noMove="1" noResize="1" noEditPoints="1" noAdjustHandles="1" noChangeArrowheads="1" noChangeShapeType="1" noTextEdit="1"/>
              </p:cNvSpPr>
              <p:nvPr/>
            </p:nvSpPr>
            <p:spPr>
              <a:xfrm>
                <a:off x="3040699" y="5108610"/>
                <a:ext cx="329532" cy="246221"/>
              </a:xfrm>
              <a:prstGeom prst="rect">
                <a:avLst/>
              </a:prstGeom>
              <a:blipFill>
                <a:blip r:embed="rId16"/>
                <a:stretch>
                  <a:fillRect/>
                </a:stretch>
              </a:blipFill>
            </p:spPr>
            <p:txBody>
              <a:bodyPr/>
              <a:lstStyle/>
              <a:p>
                <a:r>
                  <a:rPr lang="en-US">
                    <a:noFill/>
                  </a:rPr>
                  <a:t> </a:t>
                </a:r>
              </a:p>
            </p:txBody>
          </p:sp>
        </mc:Fallback>
      </mc:AlternateContent>
      <p:cxnSp>
        <p:nvCxnSpPr>
          <p:cNvPr id="131" name="Straight Arrow Connector 130">
            <a:extLst>
              <a:ext uri="{FF2B5EF4-FFF2-40B4-BE49-F238E27FC236}">
                <a16:creationId xmlns:a16="http://schemas.microsoft.com/office/drawing/2014/main" id="{E72715A3-C06C-8845-0958-4C393804EF0F}"/>
              </a:ext>
            </a:extLst>
          </p:cNvPr>
          <p:cNvCxnSpPr>
            <a:cxnSpLocks/>
          </p:cNvCxnSpPr>
          <p:nvPr/>
        </p:nvCxnSpPr>
        <p:spPr>
          <a:xfrm>
            <a:off x="3897926" y="4495611"/>
            <a:ext cx="1141907" cy="56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2" name="Rectangle 131">
                <a:extLst>
                  <a:ext uri="{FF2B5EF4-FFF2-40B4-BE49-F238E27FC236}">
                    <a16:creationId xmlns:a16="http://schemas.microsoft.com/office/drawing/2014/main" id="{DDF93349-6748-8614-02B3-ED550B47F801}"/>
                  </a:ext>
                </a:extLst>
              </p:cNvPr>
              <p:cNvSpPr/>
              <p:nvPr/>
            </p:nvSpPr>
            <p:spPr>
              <a:xfrm>
                <a:off x="5061463" y="4278211"/>
                <a:ext cx="424732" cy="43593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𝑠</m:t>
                          </m:r>
                        </m:e>
                        <m:sub>
                          <m:r>
                            <a:rPr lang="en-US" altLang="zh-CN" b="0" i="1" smtClean="0">
                              <a:solidFill>
                                <a:schemeClr val="tx1"/>
                              </a:solidFill>
                              <a:latin typeface="Cambria Math" panose="02040503050406030204" pitchFamily="18" charset="0"/>
                            </a:rPr>
                            <m:t>0</m:t>
                          </m:r>
                        </m:sub>
                      </m:sSub>
                    </m:oMath>
                  </m:oMathPara>
                </a14:m>
                <a:endParaRPr lang="en-US" dirty="0"/>
              </a:p>
            </p:txBody>
          </p:sp>
        </mc:Choice>
        <mc:Fallback xmlns="">
          <p:sp>
            <p:nvSpPr>
              <p:cNvPr id="132" name="Rectangle 131">
                <a:extLst>
                  <a:ext uri="{FF2B5EF4-FFF2-40B4-BE49-F238E27FC236}">
                    <a16:creationId xmlns:a16="http://schemas.microsoft.com/office/drawing/2014/main" id="{DDF93349-6748-8614-02B3-ED550B47F801}"/>
                  </a:ext>
                </a:extLst>
              </p:cNvPr>
              <p:cNvSpPr>
                <a:spLocks noRot="1" noChangeAspect="1" noMove="1" noResize="1" noEditPoints="1" noAdjustHandles="1" noChangeArrowheads="1" noChangeShapeType="1" noTextEdit="1"/>
              </p:cNvSpPr>
              <p:nvPr/>
            </p:nvSpPr>
            <p:spPr>
              <a:xfrm>
                <a:off x="5061463" y="4278211"/>
                <a:ext cx="424732" cy="435935"/>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3" name="TextBox 132">
                <a:extLst>
                  <a:ext uri="{FF2B5EF4-FFF2-40B4-BE49-F238E27FC236}">
                    <a16:creationId xmlns:a16="http://schemas.microsoft.com/office/drawing/2014/main" id="{B60CEFF0-534C-91F1-777C-BA0023F6C343}"/>
                  </a:ext>
                </a:extLst>
              </p:cNvPr>
              <p:cNvSpPr txBox="1"/>
              <p:nvPr/>
            </p:nvSpPr>
            <p:spPr>
              <a:xfrm>
                <a:off x="574219" y="3546585"/>
                <a:ext cx="56098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01</m:t>
                          </m:r>
                        </m:sub>
                      </m:sSub>
                    </m:oMath>
                  </m:oMathPara>
                </a14:m>
                <a:endParaRPr lang="en-US" dirty="0"/>
              </a:p>
            </p:txBody>
          </p:sp>
        </mc:Choice>
        <mc:Fallback xmlns="">
          <p:sp>
            <p:nvSpPr>
              <p:cNvPr id="133" name="TextBox 132">
                <a:extLst>
                  <a:ext uri="{FF2B5EF4-FFF2-40B4-BE49-F238E27FC236}">
                    <a16:creationId xmlns:a16="http://schemas.microsoft.com/office/drawing/2014/main" id="{B60CEFF0-534C-91F1-777C-BA0023F6C343}"/>
                  </a:ext>
                </a:extLst>
              </p:cNvPr>
              <p:cNvSpPr txBox="1">
                <a:spLocks noRot="1" noChangeAspect="1" noMove="1" noResize="1" noEditPoints="1" noAdjustHandles="1" noChangeArrowheads="1" noChangeShapeType="1" noTextEdit="1"/>
              </p:cNvSpPr>
              <p:nvPr/>
            </p:nvSpPr>
            <p:spPr>
              <a:xfrm>
                <a:off x="574219" y="3546585"/>
                <a:ext cx="560987"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4" name="TextBox 133">
                <a:extLst>
                  <a:ext uri="{FF2B5EF4-FFF2-40B4-BE49-F238E27FC236}">
                    <a16:creationId xmlns:a16="http://schemas.microsoft.com/office/drawing/2014/main" id="{401DF7DC-14CA-E491-4B84-87FA60EBE622}"/>
                  </a:ext>
                </a:extLst>
              </p:cNvPr>
              <p:cNvSpPr txBox="1"/>
              <p:nvPr/>
            </p:nvSpPr>
            <p:spPr>
              <a:xfrm>
                <a:off x="1454648" y="3546585"/>
                <a:ext cx="56098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02</m:t>
                          </m:r>
                        </m:sub>
                      </m:sSub>
                    </m:oMath>
                  </m:oMathPara>
                </a14:m>
                <a:endParaRPr lang="en-US" dirty="0"/>
              </a:p>
            </p:txBody>
          </p:sp>
        </mc:Choice>
        <mc:Fallback xmlns="">
          <p:sp>
            <p:nvSpPr>
              <p:cNvPr id="134" name="TextBox 133">
                <a:extLst>
                  <a:ext uri="{FF2B5EF4-FFF2-40B4-BE49-F238E27FC236}">
                    <a16:creationId xmlns:a16="http://schemas.microsoft.com/office/drawing/2014/main" id="{401DF7DC-14CA-E491-4B84-87FA60EBE622}"/>
                  </a:ext>
                </a:extLst>
              </p:cNvPr>
              <p:cNvSpPr txBox="1">
                <a:spLocks noRot="1" noChangeAspect="1" noMove="1" noResize="1" noEditPoints="1" noAdjustHandles="1" noChangeArrowheads="1" noChangeShapeType="1" noTextEdit="1"/>
              </p:cNvSpPr>
              <p:nvPr/>
            </p:nvSpPr>
            <p:spPr>
              <a:xfrm>
                <a:off x="1454648" y="3546585"/>
                <a:ext cx="560987"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5" name="TextBox 134">
                <a:extLst>
                  <a:ext uri="{FF2B5EF4-FFF2-40B4-BE49-F238E27FC236}">
                    <a16:creationId xmlns:a16="http://schemas.microsoft.com/office/drawing/2014/main" id="{3982321B-698C-7774-DEB2-C52024E011D4}"/>
                  </a:ext>
                </a:extLst>
              </p:cNvPr>
              <p:cNvSpPr txBox="1"/>
              <p:nvPr/>
            </p:nvSpPr>
            <p:spPr>
              <a:xfrm>
                <a:off x="2393548" y="3546585"/>
                <a:ext cx="56098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03</m:t>
                          </m:r>
                        </m:sub>
                      </m:sSub>
                    </m:oMath>
                  </m:oMathPara>
                </a14:m>
                <a:endParaRPr lang="en-US" dirty="0"/>
              </a:p>
            </p:txBody>
          </p:sp>
        </mc:Choice>
        <mc:Fallback xmlns="">
          <p:sp>
            <p:nvSpPr>
              <p:cNvPr id="135" name="TextBox 134">
                <a:extLst>
                  <a:ext uri="{FF2B5EF4-FFF2-40B4-BE49-F238E27FC236}">
                    <a16:creationId xmlns:a16="http://schemas.microsoft.com/office/drawing/2014/main" id="{3982321B-698C-7774-DEB2-C52024E011D4}"/>
                  </a:ext>
                </a:extLst>
              </p:cNvPr>
              <p:cNvSpPr txBox="1">
                <a:spLocks noRot="1" noChangeAspect="1" noMove="1" noResize="1" noEditPoints="1" noAdjustHandles="1" noChangeArrowheads="1" noChangeShapeType="1" noTextEdit="1"/>
              </p:cNvSpPr>
              <p:nvPr/>
            </p:nvSpPr>
            <p:spPr>
              <a:xfrm>
                <a:off x="2393548" y="3546585"/>
                <a:ext cx="560987"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TextBox 135">
                <a:extLst>
                  <a:ext uri="{FF2B5EF4-FFF2-40B4-BE49-F238E27FC236}">
                    <a16:creationId xmlns:a16="http://schemas.microsoft.com/office/drawing/2014/main" id="{21C9CFFB-3CF4-DF0F-D7D6-2FFD150A5CDC}"/>
                  </a:ext>
                </a:extLst>
              </p:cNvPr>
              <p:cNvSpPr txBox="1"/>
              <p:nvPr/>
            </p:nvSpPr>
            <p:spPr>
              <a:xfrm>
                <a:off x="3367173" y="3573156"/>
                <a:ext cx="57246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0</m:t>
                          </m:r>
                          <m:r>
                            <a:rPr lang="en-US" altLang="zh-CN" b="0" i="1" smtClean="0">
                              <a:latin typeface="Cambria Math" panose="02040503050406030204" pitchFamily="18" charset="0"/>
                            </a:rPr>
                            <m:t>𝑇</m:t>
                          </m:r>
                        </m:sub>
                      </m:sSub>
                    </m:oMath>
                  </m:oMathPara>
                </a14:m>
                <a:endParaRPr lang="en-US" dirty="0"/>
              </a:p>
            </p:txBody>
          </p:sp>
        </mc:Choice>
        <mc:Fallback xmlns="">
          <p:sp>
            <p:nvSpPr>
              <p:cNvPr id="136" name="TextBox 135">
                <a:extLst>
                  <a:ext uri="{FF2B5EF4-FFF2-40B4-BE49-F238E27FC236}">
                    <a16:creationId xmlns:a16="http://schemas.microsoft.com/office/drawing/2014/main" id="{21C9CFFB-3CF4-DF0F-D7D6-2FFD150A5CDC}"/>
                  </a:ext>
                </a:extLst>
              </p:cNvPr>
              <p:cNvSpPr txBox="1">
                <a:spLocks noRot="1" noChangeAspect="1" noMove="1" noResize="1" noEditPoints="1" noAdjustHandles="1" noChangeArrowheads="1" noChangeShapeType="1" noTextEdit="1"/>
              </p:cNvSpPr>
              <p:nvPr/>
            </p:nvSpPr>
            <p:spPr>
              <a:xfrm>
                <a:off x="3367173" y="3573156"/>
                <a:ext cx="572464" cy="369332"/>
              </a:xfrm>
              <a:prstGeom prst="rect">
                <a:avLst/>
              </a:prstGeom>
              <a:blipFill>
                <a:blip r:embed="rId21"/>
                <a:stretch>
                  <a:fillRect b="-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763E26C8-8B95-52D7-F457-DA11DC8600D8}"/>
                  </a:ext>
                </a:extLst>
              </p:cNvPr>
              <p:cNvSpPr txBox="1"/>
              <p:nvPr/>
            </p:nvSpPr>
            <p:spPr>
              <a:xfrm>
                <a:off x="3058253" y="3632397"/>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137" name="TextBox 136">
                <a:extLst>
                  <a:ext uri="{FF2B5EF4-FFF2-40B4-BE49-F238E27FC236}">
                    <a16:creationId xmlns:a16="http://schemas.microsoft.com/office/drawing/2014/main" id="{763E26C8-8B95-52D7-F457-DA11DC8600D8}"/>
                  </a:ext>
                </a:extLst>
              </p:cNvPr>
              <p:cNvSpPr txBox="1">
                <a:spLocks noRot="1" noChangeAspect="1" noMove="1" noResize="1" noEditPoints="1" noAdjustHandles="1" noChangeArrowheads="1" noChangeShapeType="1" noTextEdit="1"/>
              </p:cNvSpPr>
              <p:nvPr/>
            </p:nvSpPr>
            <p:spPr>
              <a:xfrm>
                <a:off x="3058253" y="3632397"/>
                <a:ext cx="329532" cy="246221"/>
              </a:xfrm>
              <a:prstGeom prst="rect">
                <a:avLst/>
              </a:prstGeom>
              <a:blipFill>
                <a:blip r:embed="rId22"/>
                <a:stretch>
                  <a:fillRect/>
                </a:stretch>
              </a:blipFill>
            </p:spPr>
            <p:txBody>
              <a:bodyPr/>
              <a:lstStyle/>
              <a:p>
                <a:r>
                  <a:rPr lang="en-US">
                    <a:noFill/>
                  </a:rPr>
                  <a:t> </a:t>
                </a:r>
              </a:p>
            </p:txBody>
          </p:sp>
        </mc:Fallback>
      </mc:AlternateContent>
      <p:cxnSp>
        <p:nvCxnSpPr>
          <p:cNvPr id="138" name="Straight Arrow Connector 137">
            <a:extLst>
              <a:ext uri="{FF2B5EF4-FFF2-40B4-BE49-F238E27FC236}">
                <a16:creationId xmlns:a16="http://schemas.microsoft.com/office/drawing/2014/main" id="{1277B3F6-35E1-38C1-361C-9F94F6EE0A6B}"/>
              </a:ext>
            </a:extLst>
          </p:cNvPr>
          <p:cNvCxnSpPr>
            <a:cxnSpLocks/>
          </p:cNvCxnSpPr>
          <p:nvPr/>
        </p:nvCxnSpPr>
        <p:spPr>
          <a:xfrm flipV="1">
            <a:off x="749886" y="3915917"/>
            <a:ext cx="6975" cy="30723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DED98AE4-3F54-F7D5-4047-1EC52E8E3239}"/>
              </a:ext>
            </a:extLst>
          </p:cNvPr>
          <p:cNvCxnSpPr>
            <a:cxnSpLocks/>
          </p:cNvCxnSpPr>
          <p:nvPr/>
        </p:nvCxnSpPr>
        <p:spPr>
          <a:xfrm flipV="1">
            <a:off x="1629343" y="3915917"/>
            <a:ext cx="0" cy="30723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477EACD0-9D44-785F-507E-3644051C7B7E}"/>
              </a:ext>
            </a:extLst>
          </p:cNvPr>
          <p:cNvCxnSpPr>
            <a:cxnSpLocks/>
          </p:cNvCxnSpPr>
          <p:nvPr/>
        </p:nvCxnSpPr>
        <p:spPr>
          <a:xfrm flipH="1" flipV="1">
            <a:off x="2578850" y="3915917"/>
            <a:ext cx="1664" cy="34773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a:extLst>
              <a:ext uri="{FF2B5EF4-FFF2-40B4-BE49-F238E27FC236}">
                <a16:creationId xmlns:a16="http://schemas.microsoft.com/office/drawing/2014/main" id="{505185C5-F277-E530-EC93-FA058BA98990}"/>
              </a:ext>
            </a:extLst>
          </p:cNvPr>
          <p:cNvCxnSpPr>
            <a:cxnSpLocks/>
          </p:cNvCxnSpPr>
          <p:nvPr/>
        </p:nvCxnSpPr>
        <p:spPr>
          <a:xfrm flipH="1" flipV="1">
            <a:off x="3562317" y="3942488"/>
            <a:ext cx="1075" cy="33572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Elbow Connector 141">
            <a:extLst>
              <a:ext uri="{FF2B5EF4-FFF2-40B4-BE49-F238E27FC236}">
                <a16:creationId xmlns:a16="http://schemas.microsoft.com/office/drawing/2014/main" id="{EFA65677-D417-1308-6971-7E412206E9AC}"/>
              </a:ext>
            </a:extLst>
          </p:cNvPr>
          <p:cNvCxnSpPr>
            <a:stCxn id="132" idx="0"/>
            <a:endCxn id="133" idx="2"/>
          </p:cNvCxnSpPr>
          <p:nvPr/>
        </p:nvCxnSpPr>
        <p:spPr>
          <a:xfrm rot="16200000" flipV="1">
            <a:off x="2883124" y="1887506"/>
            <a:ext cx="362294" cy="4419116"/>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695EF0AF-B997-99E5-B5AD-2F1A01D78892}"/>
              </a:ext>
            </a:extLst>
          </p:cNvPr>
          <p:cNvCxnSpPr>
            <a:cxnSpLocks/>
          </p:cNvCxnSpPr>
          <p:nvPr/>
        </p:nvCxnSpPr>
        <p:spPr>
          <a:xfrm flipV="1">
            <a:off x="1781743" y="3929420"/>
            <a:ext cx="0" cy="180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36CB2643-CE74-57F3-5688-B96254ED4A77}"/>
              </a:ext>
            </a:extLst>
          </p:cNvPr>
          <p:cNvCxnSpPr>
            <a:cxnSpLocks/>
          </p:cNvCxnSpPr>
          <p:nvPr/>
        </p:nvCxnSpPr>
        <p:spPr>
          <a:xfrm flipH="1" flipV="1">
            <a:off x="2731250" y="3929420"/>
            <a:ext cx="1664" cy="180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EFC8FC93-636D-04A3-9D90-D7A67D83E051}"/>
              </a:ext>
            </a:extLst>
          </p:cNvPr>
          <p:cNvCxnSpPr>
            <a:cxnSpLocks/>
          </p:cNvCxnSpPr>
          <p:nvPr/>
        </p:nvCxnSpPr>
        <p:spPr>
          <a:xfrm flipH="1" flipV="1">
            <a:off x="3714717" y="3955991"/>
            <a:ext cx="1075" cy="180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6" name="Rectangle 145">
                <a:extLst>
                  <a:ext uri="{FF2B5EF4-FFF2-40B4-BE49-F238E27FC236}">
                    <a16:creationId xmlns:a16="http://schemas.microsoft.com/office/drawing/2014/main" id="{AF6BCF3E-E517-3651-9790-6866B4319FD0}"/>
                  </a:ext>
                </a:extLst>
              </p:cNvPr>
              <p:cNvSpPr/>
              <p:nvPr/>
            </p:nvSpPr>
            <p:spPr>
              <a:xfrm>
                <a:off x="614539" y="2848439"/>
                <a:ext cx="3265393" cy="43593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n-US" altLang="zh-CN" b="0" i="0" smtClean="0">
                          <a:solidFill>
                            <a:schemeClr val="tx1"/>
                          </a:solidFill>
                          <a:latin typeface="Cambria Math" panose="02040503050406030204" pitchFamily="18" charset="0"/>
                        </a:rPr>
                        <m:t>Softmax</m:t>
                      </m:r>
                    </m:oMath>
                  </m:oMathPara>
                </a14:m>
                <a:endParaRPr lang="en-US" dirty="0"/>
              </a:p>
            </p:txBody>
          </p:sp>
        </mc:Choice>
        <mc:Fallback xmlns="">
          <p:sp>
            <p:nvSpPr>
              <p:cNvPr id="146" name="Rectangle 145">
                <a:extLst>
                  <a:ext uri="{FF2B5EF4-FFF2-40B4-BE49-F238E27FC236}">
                    <a16:creationId xmlns:a16="http://schemas.microsoft.com/office/drawing/2014/main" id="{AF6BCF3E-E517-3651-9790-6866B4319FD0}"/>
                  </a:ext>
                </a:extLst>
              </p:cNvPr>
              <p:cNvSpPr>
                <a:spLocks noRot="1" noChangeAspect="1" noMove="1" noResize="1" noEditPoints="1" noAdjustHandles="1" noChangeArrowheads="1" noChangeShapeType="1" noTextEdit="1"/>
              </p:cNvSpPr>
              <p:nvPr/>
            </p:nvSpPr>
            <p:spPr>
              <a:xfrm>
                <a:off x="614539" y="2848439"/>
                <a:ext cx="3265393" cy="435935"/>
              </a:xfrm>
              <a:prstGeom prst="rect">
                <a:avLst/>
              </a:prstGeom>
              <a:blipFill>
                <a:blip r:embed="rId23"/>
                <a:stretch>
                  <a:fillRect/>
                </a:stretch>
              </a:blipFill>
            </p:spPr>
            <p:txBody>
              <a:bodyPr/>
              <a:lstStyle/>
              <a:p>
                <a:r>
                  <a:rPr lang="en-US">
                    <a:noFill/>
                  </a:rPr>
                  <a:t> </a:t>
                </a:r>
              </a:p>
            </p:txBody>
          </p:sp>
        </mc:Fallback>
      </mc:AlternateContent>
      <p:cxnSp>
        <p:nvCxnSpPr>
          <p:cNvPr id="147" name="Straight Arrow Connector 146">
            <a:extLst>
              <a:ext uri="{FF2B5EF4-FFF2-40B4-BE49-F238E27FC236}">
                <a16:creationId xmlns:a16="http://schemas.microsoft.com/office/drawing/2014/main" id="{1C023F81-9B38-8317-A650-1C74D66D3D42}"/>
              </a:ext>
            </a:extLst>
          </p:cNvPr>
          <p:cNvCxnSpPr>
            <a:cxnSpLocks/>
          </p:cNvCxnSpPr>
          <p:nvPr/>
        </p:nvCxnSpPr>
        <p:spPr>
          <a:xfrm flipH="1" flipV="1">
            <a:off x="838666" y="3371413"/>
            <a:ext cx="3578"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Straight Arrow Connector 147">
            <a:extLst>
              <a:ext uri="{FF2B5EF4-FFF2-40B4-BE49-F238E27FC236}">
                <a16:creationId xmlns:a16="http://schemas.microsoft.com/office/drawing/2014/main" id="{C80137AA-B1BE-9B4C-4232-64746272B96E}"/>
              </a:ext>
            </a:extLst>
          </p:cNvPr>
          <p:cNvCxnSpPr>
            <a:cxnSpLocks/>
          </p:cNvCxnSpPr>
          <p:nvPr/>
        </p:nvCxnSpPr>
        <p:spPr>
          <a:xfrm flipV="1">
            <a:off x="1721702" y="3371413"/>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9" name="Straight Arrow Connector 148">
            <a:extLst>
              <a:ext uri="{FF2B5EF4-FFF2-40B4-BE49-F238E27FC236}">
                <a16:creationId xmlns:a16="http://schemas.microsoft.com/office/drawing/2014/main" id="{45CDD9DA-C9B9-EE47-08B0-AD644B7F0608}"/>
              </a:ext>
            </a:extLst>
          </p:cNvPr>
          <p:cNvCxnSpPr>
            <a:cxnSpLocks/>
          </p:cNvCxnSpPr>
          <p:nvPr/>
        </p:nvCxnSpPr>
        <p:spPr>
          <a:xfrm flipV="1">
            <a:off x="2667296" y="3371413"/>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Straight Arrow Connector 149">
            <a:extLst>
              <a:ext uri="{FF2B5EF4-FFF2-40B4-BE49-F238E27FC236}">
                <a16:creationId xmlns:a16="http://schemas.microsoft.com/office/drawing/2014/main" id="{7AEB7F83-160E-5ED1-FBD0-FF9FDC73A628}"/>
              </a:ext>
            </a:extLst>
          </p:cNvPr>
          <p:cNvCxnSpPr>
            <a:cxnSpLocks/>
          </p:cNvCxnSpPr>
          <p:nvPr/>
        </p:nvCxnSpPr>
        <p:spPr>
          <a:xfrm flipV="1">
            <a:off x="3623522" y="3371413"/>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1" name="TextBox 150">
                <a:extLst>
                  <a:ext uri="{FF2B5EF4-FFF2-40B4-BE49-F238E27FC236}">
                    <a16:creationId xmlns:a16="http://schemas.microsoft.com/office/drawing/2014/main" id="{2B6555BC-BDDD-77E1-6F4E-1FBDD1567CBF}"/>
                  </a:ext>
                </a:extLst>
              </p:cNvPr>
              <p:cNvSpPr txBox="1"/>
              <p:nvPr/>
            </p:nvSpPr>
            <p:spPr>
              <a:xfrm>
                <a:off x="555716" y="2113544"/>
                <a:ext cx="58214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01</m:t>
                          </m:r>
                        </m:sub>
                      </m:sSub>
                    </m:oMath>
                  </m:oMathPara>
                </a14:m>
                <a:endParaRPr lang="en-US" dirty="0"/>
              </a:p>
            </p:txBody>
          </p:sp>
        </mc:Choice>
        <mc:Fallback xmlns="">
          <p:sp>
            <p:nvSpPr>
              <p:cNvPr id="151" name="TextBox 150">
                <a:extLst>
                  <a:ext uri="{FF2B5EF4-FFF2-40B4-BE49-F238E27FC236}">
                    <a16:creationId xmlns:a16="http://schemas.microsoft.com/office/drawing/2014/main" id="{2B6555BC-BDDD-77E1-6F4E-1FBDD1567CBF}"/>
                  </a:ext>
                </a:extLst>
              </p:cNvPr>
              <p:cNvSpPr txBox="1">
                <a:spLocks noRot="1" noChangeAspect="1" noMove="1" noResize="1" noEditPoints="1" noAdjustHandles="1" noChangeArrowheads="1" noChangeShapeType="1" noTextEdit="1"/>
              </p:cNvSpPr>
              <p:nvPr/>
            </p:nvSpPr>
            <p:spPr>
              <a:xfrm>
                <a:off x="555716" y="2113544"/>
                <a:ext cx="582147"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2" name="TextBox 151">
                <a:extLst>
                  <a:ext uri="{FF2B5EF4-FFF2-40B4-BE49-F238E27FC236}">
                    <a16:creationId xmlns:a16="http://schemas.microsoft.com/office/drawing/2014/main" id="{045E59F4-B691-277A-F535-F77CB58C702A}"/>
                  </a:ext>
                </a:extLst>
              </p:cNvPr>
              <p:cNvSpPr txBox="1"/>
              <p:nvPr/>
            </p:nvSpPr>
            <p:spPr>
              <a:xfrm>
                <a:off x="1436145" y="2113544"/>
                <a:ext cx="58214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02</m:t>
                          </m:r>
                        </m:sub>
                      </m:sSub>
                    </m:oMath>
                  </m:oMathPara>
                </a14:m>
                <a:endParaRPr lang="en-US" dirty="0"/>
              </a:p>
            </p:txBody>
          </p:sp>
        </mc:Choice>
        <mc:Fallback xmlns="">
          <p:sp>
            <p:nvSpPr>
              <p:cNvPr id="152" name="TextBox 151">
                <a:extLst>
                  <a:ext uri="{FF2B5EF4-FFF2-40B4-BE49-F238E27FC236}">
                    <a16:creationId xmlns:a16="http://schemas.microsoft.com/office/drawing/2014/main" id="{045E59F4-B691-277A-F535-F77CB58C702A}"/>
                  </a:ext>
                </a:extLst>
              </p:cNvPr>
              <p:cNvSpPr txBox="1">
                <a:spLocks noRot="1" noChangeAspect="1" noMove="1" noResize="1" noEditPoints="1" noAdjustHandles="1" noChangeArrowheads="1" noChangeShapeType="1" noTextEdit="1"/>
              </p:cNvSpPr>
              <p:nvPr/>
            </p:nvSpPr>
            <p:spPr>
              <a:xfrm>
                <a:off x="1436145" y="2113544"/>
                <a:ext cx="582147"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3" name="TextBox 152">
                <a:extLst>
                  <a:ext uri="{FF2B5EF4-FFF2-40B4-BE49-F238E27FC236}">
                    <a16:creationId xmlns:a16="http://schemas.microsoft.com/office/drawing/2014/main" id="{49494771-76AF-4FC7-9026-9B0B912CF17E}"/>
                  </a:ext>
                </a:extLst>
              </p:cNvPr>
              <p:cNvSpPr txBox="1"/>
              <p:nvPr/>
            </p:nvSpPr>
            <p:spPr>
              <a:xfrm>
                <a:off x="2375045" y="2113544"/>
                <a:ext cx="58214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03</m:t>
                          </m:r>
                        </m:sub>
                      </m:sSub>
                    </m:oMath>
                  </m:oMathPara>
                </a14:m>
                <a:endParaRPr lang="en-US" dirty="0"/>
              </a:p>
            </p:txBody>
          </p:sp>
        </mc:Choice>
        <mc:Fallback xmlns="">
          <p:sp>
            <p:nvSpPr>
              <p:cNvPr id="153" name="TextBox 152">
                <a:extLst>
                  <a:ext uri="{FF2B5EF4-FFF2-40B4-BE49-F238E27FC236}">
                    <a16:creationId xmlns:a16="http://schemas.microsoft.com/office/drawing/2014/main" id="{49494771-76AF-4FC7-9026-9B0B912CF17E}"/>
                  </a:ext>
                </a:extLst>
              </p:cNvPr>
              <p:cNvSpPr txBox="1">
                <a:spLocks noRot="1" noChangeAspect="1" noMove="1" noResize="1" noEditPoints="1" noAdjustHandles="1" noChangeArrowheads="1" noChangeShapeType="1" noTextEdit="1"/>
              </p:cNvSpPr>
              <p:nvPr/>
            </p:nvSpPr>
            <p:spPr>
              <a:xfrm>
                <a:off x="2375045" y="2113544"/>
                <a:ext cx="582147"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4" name="TextBox 153">
                <a:extLst>
                  <a:ext uri="{FF2B5EF4-FFF2-40B4-BE49-F238E27FC236}">
                    <a16:creationId xmlns:a16="http://schemas.microsoft.com/office/drawing/2014/main" id="{3280322B-9D5D-1A8C-DEE5-398E41EE0BA0}"/>
                  </a:ext>
                </a:extLst>
              </p:cNvPr>
              <p:cNvSpPr txBox="1"/>
              <p:nvPr/>
            </p:nvSpPr>
            <p:spPr>
              <a:xfrm>
                <a:off x="3348670" y="2140115"/>
                <a:ext cx="59362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0</m:t>
                          </m:r>
                          <m:r>
                            <a:rPr lang="en-US" altLang="zh-CN" b="0" i="1" smtClean="0">
                              <a:latin typeface="Cambria Math" panose="02040503050406030204" pitchFamily="18" charset="0"/>
                            </a:rPr>
                            <m:t>𝑇</m:t>
                          </m:r>
                        </m:sub>
                      </m:sSub>
                    </m:oMath>
                  </m:oMathPara>
                </a14:m>
                <a:endParaRPr lang="en-US" dirty="0"/>
              </a:p>
            </p:txBody>
          </p:sp>
        </mc:Choice>
        <mc:Fallback xmlns="">
          <p:sp>
            <p:nvSpPr>
              <p:cNvPr id="154" name="TextBox 153">
                <a:extLst>
                  <a:ext uri="{FF2B5EF4-FFF2-40B4-BE49-F238E27FC236}">
                    <a16:creationId xmlns:a16="http://schemas.microsoft.com/office/drawing/2014/main" id="{3280322B-9D5D-1A8C-DEE5-398E41EE0BA0}"/>
                  </a:ext>
                </a:extLst>
              </p:cNvPr>
              <p:cNvSpPr txBox="1">
                <a:spLocks noRot="1" noChangeAspect="1" noMove="1" noResize="1" noEditPoints="1" noAdjustHandles="1" noChangeArrowheads="1" noChangeShapeType="1" noTextEdit="1"/>
              </p:cNvSpPr>
              <p:nvPr/>
            </p:nvSpPr>
            <p:spPr>
              <a:xfrm>
                <a:off x="3348670" y="2140115"/>
                <a:ext cx="593624" cy="369332"/>
              </a:xfrm>
              <a:prstGeom prst="rect">
                <a:avLst/>
              </a:prstGeom>
              <a:blipFill>
                <a:blip r:embed="rId27"/>
                <a:stretch>
                  <a:fillRect b="-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5" name="TextBox 154">
                <a:extLst>
                  <a:ext uri="{FF2B5EF4-FFF2-40B4-BE49-F238E27FC236}">
                    <a16:creationId xmlns:a16="http://schemas.microsoft.com/office/drawing/2014/main" id="{F27D6E23-AD1A-D612-2336-F41ADECB8B3C}"/>
                  </a:ext>
                </a:extLst>
              </p:cNvPr>
              <p:cNvSpPr txBox="1"/>
              <p:nvPr/>
            </p:nvSpPr>
            <p:spPr>
              <a:xfrm>
                <a:off x="3039750" y="2199356"/>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155" name="TextBox 154">
                <a:extLst>
                  <a:ext uri="{FF2B5EF4-FFF2-40B4-BE49-F238E27FC236}">
                    <a16:creationId xmlns:a16="http://schemas.microsoft.com/office/drawing/2014/main" id="{F27D6E23-AD1A-D612-2336-F41ADECB8B3C}"/>
                  </a:ext>
                </a:extLst>
              </p:cNvPr>
              <p:cNvSpPr txBox="1">
                <a:spLocks noRot="1" noChangeAspect="1" noMove="1" noResize="1" noEditPoints="1" noAdjustHandles="1" noChangeArrowheads="1" noChangeShapeType="1" noTextEdit="1"/>
              </p:cNvSpPr>
              <p:nvPr/>
            </p:nvSpPr>
            <p:spPr>
              <a:xfrm>
                <a:off x="3039750" y="2199356"/>
                <a:ext cx="329532" cy="246221"/>
              </a:xfrm>
              <a:prstGeom prst="rect">
                <a:avLst/>
              </a:prstGeom>
              <a:blipFill>
                <a:blip r:embed="rId16"/>
                <a:stretch>
                  <a:fillRect/>
                </a:stretch>
              </a:blipFill>
            </p:spPr>
            <p:txBody>
              <a:bodyPr/>
              <a:lstStyle/>
              <a:p>
                <a:r>
                  <a:rPr lang="en-US">
                    <a:noFill/>
                  </a:rPr>
                  <a:t> </a:t>
                </a:r>
              </a:p>
            </p:txBody>
          </p:sp>
        </mc:Fallback>
      </mc:AlternateContent>
      <p:cxnSp>
        <p:nvCxnSpPr>
          <p:cNvPr id="156" name="Straight Arrow Connector 155">
            <a:extLst>
              <a:ext uri="{FF2B5EF4-FFF2-40B4-BE49-F238E27FC236}">
                <a16:creationId xmlns:a16="http://schemas.microsoft.com/office/drawing/2014/main" id="{299CE2B2-3796-A8C3-10B2-EF741B0AC980}"/>
              </a:ext>
            </a:extLst>
          </p:cNvPr>
          <p:cNvCxnSpPr>
            <a:cxnSpLocks/>
          </p:cNvCxnSpPr>
          <p:nvPr/>
        </p:nvCxnSpPr>
        <p:spPr>
          <a:xfrm flipH="1" flipV="1">
            <a:off x="838613" y="2575095"/>
            <a:ext cx="3578"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7" name="Straight Arrow Connector 156">
            <a:extLst>
              <a:ext uri="{FF2B5EF4-FFF2-40B4-BE49-F238E27FC236}">
                <a16:creationId xmlns:a16="http://schemas.microsoft.com/office/drawing/2014/main" id="{7ED48E5E-EEFE-7D28-309E-D7B9F1C6A3EC}"/>
              </a:ext>
            </a:extLst>
          </p:cNvPr>
          <p:cNvCxnSpPr>
            <a:cxnSpLocks/>
          </p:cNvCxnSpPr>
          <p:nvPr/>
        </p:nvCxnSpPr>
        <p:spPr>
          <a:xfrm flipV="1">
            <a:off x="1721649" y="2575095"/>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Straight Arrow Connector 157">
            <a:extLst>
              <a:ext uri="{FF2B5EF4-FFF2-40B4-BE49-F238E27FC236}">
                <a16:creationId xmlns:a16="http://schemas.microsoft.com/office/drawing/2014/main" id="{7C7104BB-0DBE-E5FD-2F8E-CA98F6A2BB03}"/>
              </a:ext>
            </a:extLst>
          </p:cNvPr>
          <p:cNvCxnSpPr>
            <a:cxnSpLocks/>
          </p:cNvCxnSpPr>
          <p:nvPr/>
        </p:nvCxnSpPr>
        <p:spPr>
          <a:xfrm flipV="1">
            <a:off x="2667243" y="2575095"/>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9" name="Straight Arrow Connector 158">
            <a:extLst>
              <a:ext uri="{FF2B5EF4-FFF2-40B4-BE49-F238E27FC236}">
                <a16:creationId xmlns:a16="http://schemas.microsoft.com/office/drawing/2014/main" id="{D3AA2C38-CA16-7D3C-56DD-DF9ACBAF246E}"/>
              </a:ext>
            </a:extLst>
          </p:cNvPr>
          <p:cNvCxnSpPr>
            <a:cxnSpLocks/>
          </p:cNvCxnSpPr>
          <p:nvPr/>
        </p:nvCxnSpPr>
        <p:spPr>
          <a:xfrm flipV="1">
            <a:off x="3623469" y="2575095"/>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object 153"/>
          <p:cNvSpPr txBox="1"/>
          <p:nvPr/>
        </p:nvSpPr>
        <p:spPr>
          <a:xfrm>
            <a:off x="75718" y="6658539"/>
            <a:ext cx="5729465" cy="158163"/>
          </a:xfrm>
          <a:prstGeom prst="rect">
            <a:avLst/>
          </a:prstGeom>
        </p:spPr>
        <p:txBody>
          <a:bodyPr vert="horz" wrap="square" lIns="0" tIns="4233" rIns="0" bIns="0" rtlCol="0">
            <a:spAutoFit/>
          </a:bodyPr>
          <a:lstStyle/>
          <a:p>
            <a:pPr marL="16933">
              <a:spcBef>
                <a:spcPts val="33"/>
              </a:spcBef>
            </a:pPr>
            <a:r>
              <a:rPr sz="1000">
                <a:latin typeface="Arial"/>
                <a:cs typeface="Arial"/>
              </a:rPr>
              <a:t>Bahdanau</a:t>
            </a:r>
            <a:r>
              <a:rPr sz="1000" spc="-27">
                <a:latin typeface="Arial"/>
                <a:cs typeface="Arial"/>
              </a:rPr>
              <a:t> </a:t>
            </a:r>
            <a:r>
              <a:rPr sz="1000">
                <a:latin typeface="Arial"/>
                <a:cs typeface="Arial"/>
              </a:rPr>
              <a:t>et</a:t>
            </a:r>
            <a:r>
              <a:rPr sz="1000" spc="-13">
                <a:latin typeface="Arial"/>
                <a:cs typeface="Arial"/>
              </a:rPr>
              <a:t> </a:t>
            </a:r>
            <a:r>
              <a:rPr sz="1000">
                <a:latin typeface="Arial"/>
                <a:cs typeface="Arial"/>
              </a:rPr>
              <a:t>al,</a:t>
            </a:r>
            <a:r>
              <a:rPr sz="1000" spc="-13">
                <a:latin typeface="Arial"/>
                <a:cs typeface="Arial"/>
              </a:rPr>
              <a:t> </a:t>
            </a:r>
            <a:r>
              <a:rPr sz="1000">
                <a:latin typeface="Arial"/>
                <a:cs typeface="Arial"/>
              </a:rPr>
              <a:t>“Neural</a:t>
            </a:r>
            <a:r>
              <a:rPr sz="1000" spc="-7">
                <a:latin typeface="Arial"/>
                <a:cs typeface="Arial"/>
              </a:rPr>
              <a:t> </a:t>
            </a:r>
            <a:r>
              <a:rPr sz="1000">
                <a:latin typeface="Arial"/>
                <a:cs typeface="Arial"/>
              </a:rPr>
              <a:t>machine</a:t>
            </a:r>
            <a:r>
              <a:rPr sz="1000" spc="-13">
                <a:latin typeface="Arial"/>
                <a:cs typeface="Arial"/>
              </a:rPr>
              <a:t> translation </a:t>
            </a:r>
            <a:r>
              <a:rPr sz="1000">
                <a:latin typeface="Arial"/>
                <a:cs typeface="Arial"/>
              </a:rPr>
              <a:t>by</a:t>
            </a:r>
            <a:r>
              <a:rPr sz="1000" spc="-7">
                <a:latin typeface="Arial"/>
                <a:cs typeface="Arial"/>
              </a:rPr>
              <a:t> </a:t>
            </a:r>
            <a:r>
              <a:rPr sz="1000">
                <a:latin typeface="Arial"/>
                <a:cs typeface="Arial"/>
              </a:rPr>
              <a:t>jointly</a:t>
            </a:r>
            <a:r>
              <a:rPr sz="1000" spc="-13">
                <a:latin typeface="Arial"/>
                <a:cs typeface="Arial"/>
              </a:rPr>
              <a:t> </a:t>
            </a:r>
            <a:r>
              <a:rPr sz="1000">
                <a:latin typeface="Arial"/>
                <a:cs typeface="Arial"/>
              </a:rPr>
              <a:t>learning</a:t>
            </a:r>
            <a:r>
              <a:rPr sz="1000" spc="-13">
                <a:latin typeface="Arial"/>
                <a:cs typeface="Arial"/>
              </a:rPr>
              <a:t> </a:t>
            </a:r>
            <a:r>
              <a:rPr sz="1000">
                <a:latin typeface="Arial"/>
                <a:cs typeface="Arial"/>
              </a:rPr>
              <a:t>to</a:t>
            </a:r>
            <a:r>
              <a:rPr sz="1000" spc="-13">
                <a:latin typeface="Arial"/>
                <a:cs typeface="Arial"/>
              </a:rPr>
              <a:t> </a:t>
            </a:r>
            <a:r>
              <a:rPr sz="1000">
                <a:latin typeface="Arial"/>
                <a:cs typeface="Arial"/>
              </a:rPr>
              <a:t>align</a:t>
            </a:r>
            <a:r>
              <a:rPr sz="1000" spc="-7">
                <a:latin typeface="Arial"/>
                <a:cs typeface="Arial"/>
              </a:rPr>
              <a:t> </a:t>
            </a:r>
            <a:r>
              <a:rPr sz="1000">
                <a:latin typeface="Arial"/>
                <a:cs typeface="Arial"/>
              </a:rPr>
              <a:t>and</a:t>
            </a:r>
            <a:r>
              <a:rPr sz="1000" spc="-13">
                <a:latin typeface="Arial"/>
                <a:cs typeface="Arial"/>
              </a:rPr>
              <a:t> translate”, </a:t>
            </a:r>
            <a:r>
              <a:rPr sz="1000">
                <a:latin typeface="Arial"/>
                <a:cs typeface="Arial"/>
              </a:rPr>
              <a:t>ICLR</a:t>
            </a:r>
            <a:r>
              <a:rPr lang="zh-CN" altLang="en-US" sz="1000" spc="-7">
                <a:latin typeface="Arial"/>
                <a:cs typeface="Arial"/>
              </a:rPr>
              <a:t> </a:t>
            </a:r>
            <a:r>
              <a:rPr sz="1000" spc="-27">
                <a:latin typeface="Arial"/>
                <a:cs typeface="Arial"/>
              </a:rPr>
              <a:t>201</a:t>
            </a:r>
            <a:r>
              <a:rPr lang="en-US" altLang="zh-CN" sz="1000" spc="-27">
                <a:latin typeface="Arial"/>
                <a:cs typeface="Arial"/>
              </a:rPr>
              <a:t>5</a:t>
            </a:r>
            <a:endParaRPr sz="2400">
              <a:latin typeface="Arial"/>
              <a:cs typeface="Arial"/>
            </a:endParaRPr>
          </a:p>
        </p:txBody>
      </p:sp>
      <mc:AlternateContent xmlns:mc="http://schemas.openxmlformats.org/markup-compatibility/2006" xmlns:a14="http://schemas.microsoft.com/office/drawing/2010/main">
        <mc:Choice Requires="a14">
          <p:sp>
            <p:nvSpPr>
              <p:cNvPr id="123" name="object 145">
                <a:extLst>
                  <a:ext uri="{FF2B5EF4-FFF2-40B4-BE49-F238E27FC236}">
                    <a16:creationId xmlns:a16="http://schemas.microsoft.com/office/drawing/2014/main" id="{57CA4FD5-BBBB-2596-9302-3D56890CD909}"/>
                  </a:ext>
                </a:extLst>
              </p:cNvPr>
              <p:cNvSpPr txBox="1"/>
              <p:nvPr/>
            </p:nvSpPr>
            <p:spPr>
              <a:xfrm>
                <a:off x="8480247" y="4145507"/>
                <a:ext cx="3626841" cy="1225186"/>
              </a:xfrm>
              <a:prstGeom prst="rect">
                <a:avLst/>
              </a:prstGeom>
            </p:spPr>
            <p:txBody>
              <a:bodyPr vert="horz" wrap="square" lIns="0" tIns="16933" rIns="0" bIns="0" rtlCol="0">
                <a:spAutoFit/>
              </a:bodyPr>
              <a:lstStyle/>
              <a:p>
                <a:pPr marL="101597" marR="57572">
                  <a:spcBef>
                    <a:spcPts val="1773"/>
                  </a:spcBef>
                </a:pPr>
                <a:r>
                  <a:rPr lang="en-US" sz="2000" spc="-13" err="1">
                    <a:latin typeface="Microsoft YaHei" panose="020B0503020204020204" pitchFamily="34" charset="-122"/>
                    <a:ea typeface="Microsoft YaHei" panose="020B0503020204020204" pitchFamily="34" charset="-122"/>
                    <a:cs typeface="Calibri" panose="020F0502020204030204" pitchFamily="34" charset="0"/>
                  </a:rPr>
                  <a:t>通过加权平均计算上下文向量</a:t>
                </a:r>
                <a:endParaRPr lang="en-US" sz="2000" spc="-13">
                  <a:latin typeface="Microsoft YaHei" panose="020B0503020204020204" pitchFamily="34" charset="-122"/>
                  <a:ea typeface="Microsoft YaHei" panose="020B0503020204020204" pitchFamily="34" charset="-122"/>
                  <a:cs typeface="Calibri" panose="020F0502020204030204" pitchFamily="34" charset="0"/>
                </a:endParaRPr>
              </a:p>
              <a:p>
                <a:pPr marL="101597" marR="57572">
                  <a:spcBef>
                    <a:spcPts val="1773"/>
                  </a:spcBef>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𝑐</m:t>
                          </m:r>
                        </m:e>
                        <m:sub>
                          <m:r>
                            <a:rPr lang="en-US" sz="2000" b="0" i="1" smtClean="0">
                              <a:latin typeface="Cambria Math" panose="02040503050406030204" pitchFamily="18" charset="0"/>
                              <a:cs typeface="Calibri" panose="020F0502020204030204" pitchFamily="34" charset="0"/>
                            </a:rPr>
                            <m:t>𝑖</m:t>
                          </m:r>
                        </m:sub>
                      </m:sSub>
                      <m:r>
                        <a:rPr lang="en-US" sz="2000" b="0" i="1" smtClean="0">
                          <a:latin typeface="Cambria Math" panose="02040503050406030204" pitchFamily="18" charset="0"/>
                          <a:cs typeface="Calibri" panose="020F0502020204030204" pitchFamily="34" charset="0"/>
                        </a:rPr>
                        <m:t>=</m:t>
                      </m:r>
                      <m:nary>
                        <m:naryPr>
                          <m:chr m:val="∑"/>
                          <m:ctrlPr>
                            <a:rPr lang="en-US" sz="2000" b="0" i="1" smtClean="0">
                              <a:latin typeface="Cambria Math" panose="02040503050406030204" pitchFamily="18" charset="0"/>
                              <a:cs typeface="Calibri" panose="020F0502020204030204" pitchFamily="34" charset="0"/>
                            </a:rPr>
                          </m:ctrlPr>
                        </m:naryPr>
                        <m:sub>
                          <m:r>
                            <m:rPr>
                              <m:brk m:alnAt="23"/>
                            </m:rPr>
                            <a:rPr lang="en-US" sz="2000" b="0" i="1" smtClean="0">
                              <a:latin typeface="Cambria Math" panose="02040503050406030204" pitchFamily="18" charset="0"/>
                              <a:cs typeface="Calibri" panose="020F0502020204030204" pitchFamily="34" charset="0"/>
                            </a:rPr>
                            <m:t>𝑗</m:t>
                          </m:r>
                          <m:r>
                            <a:rPr lang="en-US" sz="2000" b="0" i="1" smtClean="0">
                              <a:latin typeface="Cambria Math" panose="02040503050406030204" pitchFamily="18" charset="0"/>
                              <a:cs typeface="Calibri" panose="020F0502020204030204" pitchFamily="34" charset="0"/>
                            </a:rPr>
                            <m:t>=1</m:t>
                          </m:r>
                        </m:sub>
                        <m:sup>
                          <m:r>
                            <a:rPr lang="en-US" sz="2000" b="0" i="1" smtClean="0">
                              <a:latin typeface="Cambria Math" panose="02040503050406030204" pitchFamily="18" charset="0"/>
                              <a:cs typeface="Calibri" panose="020F0502020204030204" pitchFamily="34" charset="0"/>
                            </a:rPr>
                            <m:t>𝑇</m:t>
                          </m:r>
                        </m:sup>
                        <m:e>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𝑎</m:t>
                              </m:r>
                            </m:e>
                            <m:sub>
                              <m:r>
                                <a:rPr lang="en-US" sz="2000" b="0" i="1" smtClean="0">
                                  <a:latin typeface="Cambria Math" panose="02040503050406030204" pitchFamily="18" charset="0"/>
                                  <a:cs typeface="Calibri" panose="020F0502020204030204" pitchFamily="34" charset="0"/>
                                </a:rPr>
                                <m:t>𝑖</m:t>
                              </m:r>
                              <m:r>
                                <a:rPr lang="en-US" sz="2000" b="0" i="1" smtClean="0">
                                  <a:latin typeface="Cambria Math" panose="02040503050406030204" pitchFamily="18" charset="0"/>
                                  <a:cs typeface="Calibri" panose="020F0502020204030204" pitchFamily="34" charset="0"/>
                                </a:rPr>
                                <m:t>,</m:t>
                              </m:r>
                              <m:r>
                                <a:rPr lang="en-US" sz="2000" b="0" i="1" smtClean="0">
                                  <a:latin typeface="Cambria Math" panose="02040503050406030204" pitchFamily="18" charset="0"/>
                                  <a:cs typeface="Calibri" panose="020F0502020204030204" pitchFamily="34" charset="0"/>
                                </a:rPr>
                                <m:t>𝑗</m:t>
                              </m:r>
                            </m:sub>
                          </m:sSub>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h</m:t>
                              </m:r>
                            </m:e>
                            <m:sub>
                              <m:r>
                                <a:rPr lang="en-US" sz="2000" b="0" i="1" smtClean="0">
                                  <a:latin typeface="Cambria Math" panose="02040503050406030204" pitchFamily="18" charset="0"/>
                                  <a:cs typeface="Calibri" panose="020F0502020204030204" pitchFamily="34" charset="0"/>
                                </a:rPr>
                                <m:t>𝑗</m:t>
                              </m:r>
                            </m:sub>
                          </m:sSub>
                        </m:e>
                      </m:nary>
                    </m:oMath>
                  </m:oMathPara>
                </a14:m>
                <a:endParaRPr sz="2000">
                  <a:latin typeface="Microsoft YaHei" panose="020B0503020204020204" pitchFamily="34" charset="-122"/>
                  <a:ea typeface="Microsoft YaHei" panose="020B0503020204020204" pitchFamily="34" charset="-122"/>
                  <a:cs typeface="Calibri" panose="020F0502020204030204" pitchFamily="34" charset="0"/>
                </a:endParaRPr>
              </a:p>
            </p:txBody>
          </p:sp>
        </mc:Choice>
        <mc:Fallback xmlns="">
          <p:sp>
            <p:nvSpPr>
              <p:cNvPr id="123" name="object 145">
                <a:extLst>
                  <a:ext uri="{FF2B5EF4-FFF2-40B4-BE49-F238E27FC236}">
                    <a16:creationId xmlns:a16="http://schemas.microsoft.com/office/drawing/2014/main" id="{57CA4FD5-BBBB-2596-9302-3D56890CD909}"/>
                  </a:ext>
                </a:extLst>
              </p:cNvPr>
              <p:cNvSpPr txBox="1">
                <a:spLocks noRot="1" noChangeAspect="1" noMove="1" noResize="1" noEditPoints="1" noAdjustHandles="1" noChangeArrowheads="1" noChangeShapeType="1" noTextEdit="1"/>
              </p:cNvSpPr>
              <p:nvPr/>
            </p:nvSpPr>
            <p:spPr>
              <a:xfrm>
                <a:off x="8480247" y="4145507"/>
                <a:ext cx="3626841" cy="1225186"/>
              </a:xfrm>
              <a:prstGeom prst="rect">
                <a:avLst/>
              </a:prstGeom>
              <a:blipFill>
                <a:blip r:embed="rId3"/>
                <a:stretch>
                  <a:fillRect l="-1394" t="-54639" b="-120619"/>
                </a:stretch>
              </a:blipFill>
            </p:spPr>
            <p:txBody>
              <a:bodyPr/>
              <a:lstStyle/>
              <a:p>
                <a:r>
                  <a:rPr lang="en-US">
                    <a:noFill/>
                  </a:rPr>
                  <a:t> </a:t>
                </a:r>
              </a:p>
            </p:txBody>
          </p:sp>
        </mc:Fallback>
      </mc:AlternateContent>
      <p:grpSp>
        <p:nvGrpSpPr>
          <p:cNvPr id="130" name="Group 129">
            <a:extLst>
              <a:ext uri="{FF2B5EF4-FFF2-40B4-BE49-F238E27FC236}">
                <a16:creationId xmlns:a16="http://schemas.microsoft.com/office/drawing/2014/main" id="{A0B3F5A9-609B-EEDF-2AF5-98812892EC7E}"/>
              </a:ext>
            </a:extLst>
          </p:cNvPr>
          <p:cNvGrpSpPr/>
          <p:nvPr/>
        </p:nvGrpSpPr>
        <p:grpSpPr>
          <a:xfrm>
            <a:off x="0" y="-1589"/>
            <a:ext cx="12191999" cy="768585"/>
            <a:chOff x="0" y="-1589"/>
            <a:chExt cx="12191999" cy="768585"/>
          </a:xfrm>
        </p:grpSpPr>
        <p:grpSp>
          <p:nvGrpSpPr>
            <p:cNvPr id="131" name="Group 9">
              <a:extLst>
                <a:ext uri="{FF2B5EF4-FFF2-40B4-BE49-F238E27FC236}">
                  <a16:creationId xmlns:a16="http://schemas.microsoft.com/office/drawing/2014/main" id="{D964C00E-E7C1-075D-AE86-92825807FC9C}"/>
                </a:ext>
              </a:extLst>
            </p:cNvPr>
            <p:cNvGrpSpPr>
              <a:grpSpLocks noChangeAspect="1"/>
            </p:cNvGrpSpPr>
            <p:nvPr/>
          </p:nvGrpSpPr>
          <p:grpSpPr bwMode="auto">
            <a:xfrm>
              <a:off x="0" y="-1589"/>
              <a:ext cx="12191999" cy="767234"/>
              <a:chOff x="-1" y="-1"/>
              <a:chExt cx="7719" cy="568"/>
            </a:xfrm>
          </p:grpSpPr>
          <p:sp>
            <p:nvSpPr>
              <p:cNvPr id="146" name="Freeform 145">
                <a:extLst>
                  <a:ext uri="{FF2B5EF4-FFF2-40B4-BE49-F238E27FC236}">
                    <a16:creationId xmlns:a16="http://schemas.microsoft.com/office/drawing/2014/main" id="{55CF6E8C-8AF5-38DA-359B-8A0FC37E0249}"/>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47" name="AutoShape 8">
                <a:extLst>
                  <a:ext uri="{FF2B5EF4-FFF2-40B4-BE49-F238E27FC236}">
                    <a16:creationId xmlns:a16="http://schemas.microsoft.com/office/drawing/2014/main" id="{E5B2086B-670B-E4EB-E1D9-E67FFD8E19D7}"/>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135" name="任意多边形: 形状 12">
              <a:extLst>
                <a:ext uri="{FF2B5EF4-FFF2-40B4-BE49-F238E27FC236}">
                  <a16:creationId xmlns:a16="http://schemas.microsoft.com/office/drawing/2014/main" id="{1BEB6FE8-9BAB-2594-B086-75C4901A45B4}"/>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45" name="文本框 18">
              <a:extLst>
                <a:ext uri="{FF2B5EF4-FFF2-40B4-BE49-F238E27FC236}">
                  <a16:creationId xmlns:a16="http://schemas.microsoft.com/office/drawing/2014/main" id="{2C09D950-A7C5-6862-D3FD-FE5A71C3494E}"/>
                </a:ext>
              </a:extLst>
            </p:cNvPr>
            <p:cNvSpPr txBox="1"/>
            <p:nvPr/>
          </p:nvSpPr>
          <p:spPr>
            <a:xfrm>
              <a:off x="350439" y="120418"/>
              <a:ext cx="3477234" cy="523220"/>
            </a:xfrm>
            <a:prstGeom prst="rect">
              <a:avLst/>
            </a:prstGeom>
            <a:noFill/>
          </p:spPr>
          <p:txBody>
            <a:bodyPr wrap="none" rtlCol="0">
              <a:spAutoFit/>
            </a:bodyPr>
            <a:lstStyle/>
            <a:p>
              <a:pPr>
                <a:defRPr/>
              </a:pPr>
              <a:r>
                <a:rPr lang="zh-CN" altLang="en-US" sz="2800" b="1">
                  <a:solidFill>
                    <a:prstClr val="white"/>
                  </a:solidFill>
                  <a:cs typeface="+mn-ea"/>
                  <a:sym typeface="+mn-lt"/>
                </a:rPr>
                <a:t>在</a:t>
              </a:r>
              <a:r>
                <a:rPr lang="en-US" altLang="zh-CN" sz="2800" b="1">
                  <a:solidFill>
                    <a:prstClr val="white"/>
                  </a:solidFill>
                  <a:cs typeface="+mn-ea"/>
                  <a:sym typeface="+mn-lt"/>
                </a:rPr>
                <a:t>RNN</a:t>
              </a:r>
              <a:r>
                <a:rPr lang="zh-CN" altLang="en-US" sz="2800" b="1">
                  <a:solidFill>
                    <a:prstClr val="white"/>
                  </a:solidFill>
                  <a:cs typeface="+mn-ea"/>
                  <a:sym typeface="+mn-lt"/>
                </a:rPr>
                <a:t>中使用注意力</a:t>
              </a:r>
            </a:p>
          </p:txBody>
        </p:sp>
      </p:grpSp>
      <mc:AlternateContent xmlns:mc="http://schemas.openxmlformats.org/markup-compatibility/2006" xmlns:a14="http://schemas.microsoft.com/office/drawing/2010/main">
        <mc:Choice Requires="a14">
          <p:sp>
            <p:nvSpPr>
              <p:cNvPr id="148" name="object 82">
                <a:extLst>
                  <a:ext uri="{FF2B5EF4-FFF2-40B4-BE49-F238E27FC236}">
                    <a16:creationId xmlns:a16="http://schemas.microsoft.com/office/drawing/2014/main" id="{70A9B8E3-B515-6042-E257-DC9A2F17FEC1}"/>
                  </a:ext>
                </a:extLst>
              </p:cNvPr>
              <p:cNvSpPr txBox="1"/>
              <p:nvPr/>
            </p:nvSpPr>
            <p:spPr>
              <a:xfrm>
                <a:off x="8436091" y="2986577"/>
                <a:ext cx="2949432" cy="1005895"/>
              </a:xfrm>
              <a:prstGeom prst="rect">
                <a:avLst/>
              </a:prstGeom>
            </p:spPr>
            <p:txBody>
              <a:bodyPr vert="horz" wrap="square" lIns="0" tIns="16933" rIns="0" bIns="0" rtlCol="0">
                <a:spAutoFit/>
              </a:bodyPr>
              <a:lstStyle/>
              <a:p>
                <a:pPr marL="84665" marR="40639">
                  <a:spcBef>
                    <a:spcPts val="133"/>
                  </a:spcBef>
                </a:pPr>
                <a:r>
                  <a:rPr lang="en-US" sz="2000">
                    <a:latin typeface="Microsoft YaHei" panose="020B0503020204020204" pitchFamily="34" charset="-122"/>
                    <a:ea typeface="Microsoft YaHei" panose="020B0503020204020204" pitchFamily="34" charset="-122"/>
                    <a:cs typeface="Calibri" panose="020F0502020204030204" pitchFamily="34" charset="0"/>
                  </a:rPr>
                  <a:t>得到注意力权重</a:t>
                </a:r>
              </a:p>
              <a:p>
                <a:pPr marL="84665" marR="40639">
                  <a:spcBef>
                    <a:spcPts val="133"/>
                  </a:spcBef>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𝑎</m:t>
                          </m:r>
                        </m:e>
                        <m:sub>
                          <m:r>
                            <a:rPr lang="en-US" sz="2000" b="0" i="1" smtClean="0">
                              <a:latin typeface="Cambria Math" panose="02040503050406030204" pitchFamily="18" charset="0"/>
                              <a:cs typeface="Calibri" panose="020F0502020204030204" pitchFamily="34" charset="0"/>
                            </a:rPr>
                            <m:t>𝑖</m:t>
                          </m:r>
                          <m:r>
                            <a:rPr lang="en-US" sz="2000" b="0" i="1" smtClean="0">
                              <a:latin typeface="Cambria Math" panose="02040503050406030204" pitchFamily="18" charset="0"/>
                              <a:cs typeface="Calibri" panose="020F0502020204030204" pitchFamily="34" charset="0"/>
                            </a:rPr>
                            <m:t>,</m:t>
                          </m:r>
                          <m:r>
                            <a:rPr lang="en-US" sz="2000" b="0" i="1" smtClean="0">
                              <a:latin typeface="Cambria Math" panose="02040503050406030204" pitchFamily="18" charset="0"/>
                              <a:cs typeface="Calibri" panose="020F0502020204030204" pitchFamily="34" charset="0"/>
                            </a:rPr>
                            <m:t>𝑗</m:t>
                          </m:r>
                        </m:sub>
                      </m:sSub>
                      <m:r>
                        <a:rPr lang="en-US" sz="2000" b="0" i="1" smtClean="0">
                          <a:latin typeface="Cambria Math" panose="02040503050406030204" pitchFamily="18" charset="0"/>
                          <a:cs typeface="Calibri" panose="020F0502020204030204" pitchFamily="34" charset="0"/>
                        </a:rPr>
                        <m:t>=</m:t>
                      </m:r>
                      <m:f>
                        <m:fPr>
                          <m:ctrlPr>
                            <a:rPr lang="en-US" sz="2000" b="0" i="1" smtClean="0">
                              <a:latin typeface="Cambria Math" panose="02040503050406030204" pitchFamily="18" charset="0"/>
                              <a:cs typeface="Calibri" panose="020F0502020204030204" pitchFamily="34" charset="0"/>
                            </a:rPr>
                          </m:ctrlPr>
                        </m:fPr>
                        <m:num>
                          <m:r>
                            <m:rPr>
                              <m:sty m:val="p"/>
                            </m:rPr>
                            <a:rPr lang="en-US" sz="2000" b="0" i="0" smtClean="0">
                              <a:latin typeface="Cambria Math" panose="02040503050406030204" pitchFamily="18" charset="0"/>
                              <a:cs typeface="Calibri" panose="020F0502020204030204" pitchFamily="34" charset="0"/>
                            </a:rPr>
                            <m:t>exp</m:t>
                          </m:r>
                          <m:r>
                            <a:rPr lang="en-US" sz="2000" b="0" i="1" smtClean="0">
                              <a:latin typeface="Cambria Math" panose="02040503050406030204" pitchFamily="18" charset="0"/>
                              <a:cs typeface="Calibri" panose="020F0502020204030204" pitchFamily="34" charset="0"/>
                            </a:rPr>
                            <m:t>⁡(</m:t>
                          </m:r>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𝑒</m:t>
                              </m:r>
                            </m:e>
                            <m:sub>
                              <m:r>
                                <a:rPr lang="en-US" sz="2000" b="0" i="1" smtClean="0">
                                  <a:latin typeface="Cambria Math" panose="02040503050406030204" pitchFamily="18" charset="0"/>
                                  <a:cs typeface="Calibri" panose="020F0502020204030204" pitchFamily="34" charset="0"/>
                                </a:rPr>
                                <m:t>𝑖</m:t>
                              </m:r>
                              <m:r>
                                <a:rPr lang="en-US" sz="2000" b="0" i="1" smtClean="0">
                                  <a:latin typeface="Cambria Math" panose="02040503050406030204" pitchFamily="18" charset="0"/>
                                  <a:cs typeface="Calibri" panose="020F0502020204030204" pitchFamily="34" charset="0"/>
                                </a:rPr>
                                <m:t>,</m:t>
                              </m:r>
                              <m:r>
                                <a:rPr lang="en-US" sz="2000" b="0" i="1" smtClean="0">
                                  <a:latin typeface="Cambria Math" panose="02040503050406030204" pitchFamily="18" charset="0"/>
                                  <a:cs typeface="Calibri" panose="020F0502020204030204" pitchFamily="34" charset="0"/>
                                </a:rPr>
                                <m:t>𝑗</m:t>
                              </m:r>
                            </m:sub>
                          </m:sSub>
                          <m:r>
                            <a:rPr lang="en-US" sz="2000" b="0" i="1" smtClean="0">
                              <a:latin typeface="Cambria Math" panose="02040503050406030204" pitchFamily="18" charset="0"/>
                              <a:cs typeface="Calibri" panose="020F0502020204030204" pitchFamily="34" charset="0"/>
                            </a:rPr>
                            <m:t>)</m:t>
                          </m:r>
                        </m:num>
                        <m:den>
                          <m:nary>
                            <m:naryPr>
                              <m:chr m:val="∑"/>
                              <m:ctrlPr>
                                <a:rPr lang="en-US" sz="2000" b="0" i="1" smtClean="0">
                                  <a:latin typeface="Cambria Math" panose="02040503050406030204" pitchFamily="18" charset="0"/>
                                  <a:cs typeface="Calibri" panose="020F0502020204030204" pitchFamily="34" charset="0"/>
                                </a:rPr>
                              </m:ctrlPr>
                            </m:naryPr>
                            <m:sub>
                              <m:r>
                                <m:rPr>
                                  <m:brk m:alnAt="23"/>
                                </m:rPr>
                                <a:rPr lang="en-US" sz="2000" b="0" i="1" smtClean="0">
                                  <a:latin typeface="Cambria Math" panose="02040503050406030204" pitchFamily="18" charset="0"/>
                                  <a:cs typeface="Calibri" panose="020F0502020204030204" pitchFamily="34" charset="0"/>
                                </a:rPr>
                                <m:t>𝑘</m:t>
                              </m:r>
                              <m:r>
                                <a:rPr lang="en-US" sz="2000" b="0" i="1" smtClean="0">
                                  <a:latin typeface="Cambria Math" panose="02040503050406030204" pitchFamily="18" charset="0"/>
                                  <a:cs typeface="Calibri" panose="020F0502020204030204" pitchFamily="34" charset="0"/>
                                </a:rPr>
                                <m:t>=1</m:t>
                              </m:r>
                            </m:sub>
                            <m:sup>
                              <m:r>
                                <a:rPr lang="en-US" sz="2000" b="0" i="1" smtClean="0">
                                  <a:latin typeface="Cambria Math" panose="02040503050406030204" pitchFamily="18" charset="0"/>
                                  <a:cs typeface="Calibri" panose="020F0502020204030204" pitchFamily="34" charset="0"/>
                                </a:rPr>
                                <m:t>𝑇</m:t>
                              </m:r>
                            </m:sup>
                            <m:e>
                              <m:r>
                                <m:rPr>
                                  <m:sty m:val="p"/>
                                </m:rPr>
                                <a:rPr lang="en-US" sz="2000" b="0" i="0" smtClean="0">
                                  <a:latin typeface="Cambria Math" panose="02040503050406030204" pitchFamily="18" charset="0"/>
                                  <a:cs typeface="Calibri" panose="020F0502020204030204" pitchFamily="34" charset="0"/>
                                </a:rPr>
                                <m:t>exp</m:t>
                              </m:r>
                              <m:r>
                                <a:rPr lang="en-US" sz="2000" b="0" i="1" smtClean="0">
                                  <a:latin typeface="Cambria Math" panose="02040503050406030204" pitchFamily="18" charset="0"/>
                                  <a:cs typeface="Calibri" panose="020F0502020204030204" pitchFamily="34" charset="0"/>
                                </a:rPr>
                                <m:t>⁡(</m:t>
                              </m:r>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𝑒</m:t>
                                  </m:r>
                                </m:e>
                                <m:sub>
                                  <m:r>
                                    <a:rPr lang="en-US" sz="2000" b="0" i="1" smtClean="0">
                                      <a:latin typeface="Cambria Math" panose="02040503050406030204" pitchFamily="18" charset="0"/>
                                      <a:cs typeface="Calibri" panose="020F0502020204030204" pitchFamily="34" charset="0"/>
                                    </a:rPr>
                                    <m:t>𝑖</m:t>
                                  </m:r>
                                  <m:r>
                                    <a:rPr lang="en-US" sz="2000" b="0" i="1" smtClean="0">
                                      <a:latin typeface="Cambria Math" panose="02040503050406030204" pitchFamily="18" charset="0"/>
                                      <a:cs typeface="Calibri" panose="020F0502020204030204" pitchFamily="34" charset="0"/>
                                    </a:rPr>
                                    <m:t>,</m:t>
                                  </m:r>
                                  <m:r>
                                    <a:rPr lang="en-US" sz="2000" b="0" i="1" smtClean="0">
                                      <a:latin typeface="Cambria Math" panose="02040503050406030204" pitchFamily="18" charset="0"/>
                                      <a:cs typeface="Calibri" panose="020F0502020204030204" pitchFamily="34" charset="0"/>
                                    </a:rPr>
                                    <m:t>𝑘</m:t>
                                  </m:r>
                                </m:sub>
                              </m:sSub>
                              <m:r>
                                <a:rPr lang="en-US" sz="2000" b="0" i="1" smtClean="0">
                                  <a:latin typeface="Cambria Math" panose="02040503050406030204" pitchFamily="18" charset="0"/>
                                  <a:cs typeface="Calibri" panose="020F0502020204030204" pitchFamily="34" charset="0"/>
                                </a:rPr>
                                <m:t>)</m:t>
                              </m:r>
                            </m:e>
                          </m:nary>
                        </m:den>
                      </m:f>
                    </m:oMath>
                  </m:oMathPara>
                </a14:m>
                <a:endParaRPr sz="2000">
                  <a:latin typeface="Microsoft YaHei" panose="020B0503020204020204" pitchFamily="34" charset="-122"/>
                  <a:ea typeface="Microsoft YaHei" panose="020B0503020204020204" pitchFamily="34" charset="-122"/>
                  <a:cs typeface="Calibri" panose="020F0502020204030204" pitchFamily="34" charset="0"/>
                </a:endParaRPr>
              </a:p>
            </p:txBody>
          </p:sp>
        </mc:Choice>
        <mc:Fallback xmlns="">
          <p:sp>
            <p:nvSpPr>
              <p:cNvPr id="148" name="object 82">
                <a:extLst>
                  <a:ext uri="{FF2B5EF4-FFF2-40B4-BE49-F238E27FC236}">
                    <a16:creationId xmlns:a16="http://schemas.microsoft.com/office/drawing/2014/main" id="{70A9B8E3-B515-6042-E257-DC9A2F17FEC1}"/>
                  </a:ext>
                </a:extLst>
              </p:cNvPr>
              <p:cNvSpPr txBox="1">
                <a:spLocks noRot="1" noChangeAspect="1" noMove="1" noResize="1" noEditPoints="1" noAdjustHandles="1" noChangeArrowheads="1" noChangeShapeType="1" noTextEdit="1"/>
              </p:cNvSpPr>
              <p:nvPr/>
            </p:nvSpPr>
            <p:spPr>
              <a:xfrm>
                <a:off x="8436091" y="2986577"/>
                <a:ext cx="2949432" cy="1005895"/>
              </a:xfrm>
              <a:prstGeom prst="rect">
                <a:avLst/>
              </a:prstGeom>
              <a:blipFill>
                <a:blip r:embed="rId4"/>
                <a:stretch>
                  <a:fillRect l="-2575" t="-6250" b="-73750"/>
                </a:stretch>
              </a:blipFill>
            </p:spPr>
            <p:txBody>
              <a:bodyPr/>
              <a:lstStyle/>
              <a:p>
                <a:r>
                  <a:rPr lang="en-US">
                    <a:noFill/>
                  </a:rPr>
                  <a:t> </a:t>
                </a:r>
              </a:p>
            </p:txBody>
          </p:sp>
        </mc:Fallback>
      </mc:AlternateContent>
      <p:sp>
        <p:nvSpPr>
          <p:cNvPr id="149" name="object 37">
            <a:extLst>
              <a:ext uri="{FF2B5EF4-FFF2-40B4-BE49-F238E27FC236}">
                <a16:creationId xmlns:a16="http://schemas.microsoft.com/office/drawing/2014/main" id="{E692BE40-C902-4439-9D33-0ADE6F25104C}"/>
              </a:ext>
            </a:extLst>
          </p:cNvPr>
          <p:cNvSpPr txBox="1"/>
          <p:nvPr/>
        </p:nvSpPr>
        <p:spPr>
          <a:xfrm>
            <a:off x="4436928" y="2832407"/>
            <a:ext cx="2779607" cy="632651"/>
          </a:xfrm>
          <a:prstGeom prst="rect">
            <a:avLst/>
          </a:prstGeom>
        </p:spPr>
        <p:txBody>
          <a:bodyPr vert="horz" wrap="square" lIns="0" tIns="16933" rIns="0" bIns="0" rtlCol="0">
            <a:spAutoFit/>
          </a:bodyPr>
          <a:lstStyle/>
          <a:p>
            <a:pPr marL="50799">
              <a:spcBef>
                <a:spcPts val="133"/>
              </a:spcBef>
            </a:pPr>
            <a:r>
              <a:rPr lang="en-US" sz="2000" err="1">
                <a:latin typeface="Microsoft YaHei" panose="020B0503020204020204" pitchFamily="34" charset="-122"/>
                <a:ea typeface="Microsoft YaHei" panose="020B0503020204020204" pitchFamily="34" charset="-122"/>
                <a:cs typeface="Calibri" panose="020F0502020204030204" pitchFamily="34" charset="0"/>
              </a:rPr>
              <a:t>来自最后一个隐向量</a:t>
            </a:r>
            <a:r>
              <a:rPr sz="2000" spc="-13">
                <a:latin typeface="Microsoft YaHei" panose="020B0503020204020204" pitchFamily="34" charset="-122"/>
                <a:ea typeface="Microsoft YaHei" panose="020B0503020204020204" pitchFamily="34" charset="-122"/>
                <a:cs typeface="Calibri" panose="020F0502020204030204" pitchFamily="34" charset="0"/>
              </a:rPr>
              <a:t>:</a:t>
            </a:r>
            <a:endParaRPr sz="2000">
              <a:latin typeface="Microsoft YaHei" panose="020B0503020204020204" pitchFamily="34" charset="-122"/>
              <a:ea typeface="Microsoft YaHei" panose="020B0503020204020204" pitchFamily="34" charset="-122"/>
              <a:cs typeface="Calibri" panose="020F0502020204030204" pitchFamily="34" charset="0"/>
            </a:endParaRPr>
          </a:p>
          <a:p>
            <a:pPr marL="50799"/>
            <a:r>
              <a:rPr lang="en-US" sz="2000" b="1">
                <a:latin typeface="Microsoft YaHei" panose="020B0503020204020204" pitchFamily="34" charset="-122"/>
                <a:ea typeface="Microsoft YaHei" panose="020B0503020204020204" pitchFamily="34" charset="-122"/>
                <a:cs typeface="Calibri" panose="020F0502020204030204" pitchFamily="34" charset="0"/>
              </a:rPr>
              <a:t>解码器初始隐向量</a:t>
            </a:r>
            <a:r>
              <a:rPr sz="2000" spc="-33">
                <a:latin typeface="Microsoft YaHei" panose="020B0503020204020204" pitchFamily="34" charset="-122"/>
                <a:ea typeface="Microsoft YaHei" panose="020B0503020204020204" pitchFamily="34" charset="-122"/>
                <a:cs typeface="Calibri" panose="020F0502020204030204" pitchFamily="34" charset="0"/>
              </a:rPr>
              <a:t>s</a:t>
            </a:r>
            <a:r>
              <a:rPr sz="2000" spc="-49" baseline="-30555">
                <a:latin typeface="Microsoft YaHei" panose="020B0503020204020204" pitchFamily="34" charset="-122"/>
                <a:ea typeface="Microsoft YaHei" panose="020B0503020204020204" pitchFamily="34" charset="-122"/>
                <a:cs typeface="Calibri" panose="020F0502020204030204" pitchFamily="34" charset="0"/>
              </a:rPr>
              <a:t>0</a:t>
            </a:r>
            <a:endParaRPr sz="2000" baseline="-30555">
              <a:latin typeface="Microsoft YaHei" panose="020B0503020204020204" pitchFamily="34" charset="-122"/>
              <a:ea typeface="Microsoft YaHei" panose="020B0503020204020204" pitchFamily="34" charset="-122"/>
              <a:cs typeface="Calibri" panose="020F0502020204030204" pitchFamily="34" charset="0"/>
            </a:endParaRPr>
          </a:p>
        </p:txBody>
      </p:sp>
      <p:sp>
        <p:nvSpPr>
          <p:cNvPr id="151" name="object 67">
            <a:extLst>
              <a:ext uri="{FF2B5EF4-FFF2-40B4-BE49-F238E27FC236}">
                <a16:creationId xmlns:a16="http://schemas.microsoft.com/office/drawing/2014/main" id="{132989BF-62AD-E46E-D95B-CD497E99270F}"/>
              </a:ext>
            </a:extLst>
          </p:cNvPr>
          <p:cNvSpPr txBox="1"/>
          <p:nvPr/>
        </p:nvSpPr>
        <p:spPr>
          <a:xfrm>
            <a:off x="7707715" y="1092845"/>
            <a:ext cx="4140200" cy="324875"/>
          </a:xfrm>
          <a:prstGeom prst="rect">
            <a:avLst/>
          </a:prstGeom>
        </p:spPr>
        <p:txBody>
          <a:bodyPr vert="horz" wrap="square" lIns="0" tIns="16933" rIns="0" bIns="0" rtlCol="0">
            <a:spAutoFit/>
          </a:bodyPr>
          <a:lstStyle/>
          <a:p>
            <a:pPr marL="16933">
              <a:spcBef>
                <a:spcPts val="133"/>
              </a:spcBef>
            </a:pPr>
            <a:r>
              <a:rPr lang="en-US" sz="2000" err="1">
                <a:latin typeface="Microsoft YaHei" panose="020B0503020204020204" pitchFamily="34" charset="-122"/>
                <a:ea typeface="Microsoft YaHei" panose="020B0503020204020204" pitchFamily="34" charset="-122"/>
                <a:cs typeface="Calibri" panose="020F0502020204030204" pitchFamily="34" charset="0"/>
              </a:rPr>
              <a:t>计算对齐分数</a:t>
            </a:r>
            <a:endParaRPr sz="2000">
              <a:latin typeface="Microsoft YaHei" panose="020B0503020204020204" pitchFamily="34" charset="-122"/>
              <a:ea typeface="Microsoft YaHei" panose="020B0503020204020204" pitchFamily="34" charset="-122"/>
              <a:cs typeface="Calibri" panose="020F0502020204030204" pitchFamily="34" charset="0"/>
            </a:endParaRPr>
          </a:p>
        </p:txBody>
      </p:sp>
      <mc:AlternateContent xmlns:mc="http://schemas.openxmlformats.org/markup-compatibility/2006" xmlns:a14="http://schemas.microsoft.com/office/drawing/2010/main">
        <mc:Choice Requires="a14">
          <p:sp>
            <p:nvSpPr>
              <p:cNvPr id="154" name="TextBox 153">
                <a:extLst>
                  <a:ext uri="{FF2B5EF4-FFF2-40B4-BE49-F238E27FC236}">
                    <a16:creationId xmlns:a16="http://schemas.microsoft.com/office/drawing/2014/main" id="{CB934297-FA7E-BF71-E2EB-97B35079BCD5}"/>
                  </a:ext>
                </a:extLst>
              </p:cNvPr>
              <p:cNvSpPr txBox="1"/>
              <p:nvPr/>
            </p:nvSpPr>
            <p:spPr>
              <a:xfrm>
                <a:off x="7707715" y="1503273"/>
                <a:ext cx="1861985" cy="3324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𝑒</m:t>
                          </m:r>
                        </m:e>
                        <m:sub>
                          <m:r>
                            <a:rPr lang="en-US" sz="2000" b="0" i="1" smtClean="0">
                              <a:latin typeface="Cambria Math" panose="02040503050406030204" pitchFamily="18" charset="0"/>
                            </a:rPr>
                            <m:t>𝑖</m:t>
                          </m:r>
                          <m:r>
                            <a:rPr lang="en-US" sz="2000" b="0" i="1" smtClean="0">
                              <a:latin typeface="Cambria Math" panose="02040503050406030204" pitchFamily="18" charset="0"/>
                            </a:rPr>
                            <m:t>,</m:t>
                          </m:r>
                          <m:r>
                            <a:rPr lang="en-US" sz="2000" b="0" i="1" smtClean="0">
                              <a:latin typeface="Cambria Math" panose="02040503050406030204" pitchFamily="18" charset="0"/>
                            </a:rPr>
                            <m:t>𝑗</m:t>
                          </m:r>
                        </m:sub>
                      </m:sSub>
                      <m:r>
                        <a:rPr lang="en-US" sz="2000" b="0" i="1" smtClean="0">
                          <a:latin typeface="Cambria Math" panose="02040503050406030204" pitchFamily="18" charset="0"/>
                        </a:rPr>
                        <m:t>=</m:t>
                      </m:r>
                      <m:r>
                        <a:rPr lang="en-US" sz="2000" b="0" i="1" smtClean="0">
                          <a:latin typeface="Cambria Math" panose="02040503050406030204" pitchFamily="18" charset="0"/>
                        </a:rPr>
                        <m:t>𝑎</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𝑖</m:t>
                          </m:r>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h</m:t>
                          </m:r>
                        </m:e>
                        <m:sub>
                          <m:r>
                            <a:rPr lang="en-US" sz="2000" b="0" i="1" smtClean="0">
                              <a:latin typeface="Cambria Math" panose="02040503050406030204" pitchFamily="18" charset="0"/>
                            </a:rPr>
                            <m:t>𝑗</m:t>
                          </m:r>
                        </m:sub>
                      </m:sSub>
                      <m:r>
                        <a:rPr lang="en-US" sz="2000" b="0" i="1" smtClean="0">
                          <a:latin typeface="Cambria Math" panose="02040503050406030204" pitchFamily="18" charset="0"/>
                        </a:rPr>
                        <m:t>)</m:t>
                      </m:r>
                    </m:oMath>
                  </m:oMathPara>
                </a14:m>
                <a:endParaRPr lang="en-US" sz="2000">
                  <a:latin typeface="Microsoft YaHei" panose="020B0503020204020204" pitchFamily="34" charset="-122"/>
                  <a:ea typeface="Microsoft YaHei" panose="020B0503020204020204" pitchFamily="34" charset="-122"/>
                </a:endParaRPr>
              </a:p>
            </p:txBody>
          </p:sp>
        </mc:Choice>
        <mc:Fallback xmlns="">
          <p:sp>
            <p:nvSpPr>
              <p:cNvPr id="154" name="TextBox 153">
                <a:extLst>
                  <a:ext uri="{FF2B5EF4-FFF2-40B4-BE49-F238E27FC236}">
                    <a16:creationId xmlns:a16="http://schemas.microsoft.com/office/drawing/2014/main" id="{CB934297-FA7E-BF71-E2EB-97B35079BCD5}"/>
                  </a:ext>
                </a:extLst>
              </p:cNvPr>
              <p:cNvSpPr txBox="1">
                <a:spLocks noRot="1" noChangeAspect="1" noMove="1" noResize="1" noEditPoints="1" noAdjustHandles="1" noChangeArrowheads="1" noChangeShapeType="1" noTextEdit="1"/>
              </p:cNvSpPr>
              <p:nvPr/>
            </p:nvSpPr>
            <p:spPr>
              <a:xfrm>
                <a:off x="7707715" y="1503273"/>
                <a:ext cx="1861985" cy="332463"/>
              </a:xfrm>
              <a:prstGeom prst="rect">
                <a:avLst/>
              </a:prstGeom>
              <a:blipFill>
                <a:blip r:embed="rId5"/>
                <a:stretch>
                  <a:fillRect l="-676" r="-4054" b="-259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5" name="TextBox 154">
                <a:extLst>
                  <a:ext uri="{FF2B5EF4-FFF2-40B4-BE49-F238E27FC236}">
                    <a16:creationId xmlns:a16="http://schemas.microsoft.com/office/drawing/2014/main" id="{846B0E0D-355D-E4FD-062C-E6F3443B19FE}"/>
                  </a:ext>
                </a:extLst>
              </p:cNvPr>
              <p:cNvSpPr txBox="1"/>
              <p:nvPr/>
            </p:nvSpPr>
            <p:spPr>
              <a:xfrm>
                <a:off x="7707715" y="1921289"/>
                <a:ext cx="3062039" cy="400110"/>
              </a:xfrm>
              <a:prstGeom prst="rect">
                <a:avLst/>
              </a:prstGeom>
              <a:noFill/>
            </p:spPr>
            <p:txBody>
              <a:bodyPr wrap="square">
                <a:spAutoFit/>
              </a:bodyPr>
              <a:lstStyle/>
              <a:p>
                <a14:m>
                  <m:oMath xmlns:m="http://schemas.openxmlformats.org/officeDocument/2006/math">
                    <m:r>
                      <a:rPr lang="en-US" sz="2000" b="0" i="1" smtClean="0">
                        <a:latin typeface="Cambria Math" panose="02040503050406030204" pitchFamily="18" charset="0"/>
                      </a:rPr>
                      <m:t>𝑎</m:t>
                    </m:r>
                  </m:oMath>
                </a14:m>
                <a:r>
                  <a:rPr lang="en-US" sz="2000" dirty="0">
                    <a:latin typeface="Microsoft YaHei" panose="020B0503020204020204" pitchFamily="34" charset="-122"/>
                    <a:ea typeface="Microsoft YaHei" panose="020B0503020204020204" pitchFamily="34" charset="-122"/>
                    <a:cs typeface="Calibri" panose="020F0502020204030204" pitchFamily="34" charset="0"/>
                  </a:rPr>
                  <a:t> </a:t>
                </a:r>
                <a:r>
                  <a:rPr lang="en-US" sz="2000" dirty="0" err="1">
                    <a:latin typeface="Microsoft YaHei" panose="020B0503020204020204" pitchFamily="34" charset="-122"/>
                    <a:ea typeface="Microsoft YaHei" panose="020B0503020204020204" pitchFamily="34" charset="-122"/>
                    <a:cs typeface="Calibri" panose="020F0502020204030204" pitchFamily="34" charset="0"/>
                  </a:rPr>
                  <a:t>是前馈注意力机制</a:t>
                </a:r>
                <a:endParaRPr lang="en-US" sz="2000" dirty="0">
                  <a:latin typeface="Microsoft YaHei" panose="020B0503020204020204" pitchFamily="34" charset="-122"/>
                  <a:ea typeface="Microsoft YaHei" panose="020B0503020204020204" pitchFamily="34" charset="-122"/>
                  <a:cs typeface="Calibri" panose="020F0502020204030204" pitchFamily="34" charset="0"/>
                </a:endParaRPr>
              </a:p>
            </p:txBody>
          </p:sp>
        </mc:Choice>
        <mc:Fallback xmlns="">
          <p:sp>
            <p:nvSpPr>
              <p:cNvPr id="155" name="TextBox 154">
                <a:extLst>
                  <a:ext uri="{FF2B5EF4-FFF2-40B4-BE49-F238E27FC236}">
                    <a16:creationId xmlns:a16="http://schemas.microsoft.com/office/drawing/2014/main" id="{846B0E0D-355D-E4FD-062C-E6F3443B19FE}"/>
                  </a:ext>
                </a:extLst>
              </p:cNvPr>
              <p:cNvSpPr txBox="1">
                <a:spLocks noRot="1" noChangeAspect="1" noMove="1" noResize="1" noEditPoints="1" noAdjustHandles="1" noChangeArrowheads="1" noChangeShapeType="1" noTextEdit="1"/>
              </p:cNvSpPr>
              <p:nvPr/>
            </p:nvSpPr>
            <p:spPr>
              <a:xfrm>
                <a:off x="7707715" y="1921289"/>
                <a:ext cx="3062039" cy="400110"/>
              </a:xfrm>
              <a:prstGeom prst="rect">
                <a:avLst/>
              </a:prstGeom>
              <a:blipFill>
                <a:blip r:embed="rId6"/>
                <a:stretch>
                  <a:fillRect t="-9375" b="-28125"/>
                </a:stretch>
              </a:blipFill>
            </p:spPr>
            <p:txBody>
              <a:bodyPr/>
              <a:lstStyle/>
              <a:p>
                <a:r>
                  <a:rPr lang="en-US">
                    <a:noFill/>
                  </a:rPr>
                  <a:t> </a:t>
                </a:r>
              </a:p>
            </p:txBody>
          </p:sp>
        </mc:Fallback>
      </mc:AlternateContent>
      <p:sp>
        <p:nvSpPr>
          <p:cNvPr id="121" name="object 8">
            <a:extLst>
              <a:ext uri="{FF2B5EF4-FFF2-40B4-BE49-F238E27FC236}">
                <a16:creationId xmlns:a16="http://schemas.microsoft.com/office/drawing/2014/main" id="{6BA3FE7E-1242-A304-1EBB-55D5FAECFC7E}"/>
              </a:ext>
            </a:extLst>
          </p:cNvPr>
          <p:cNvSpPr txBox="1"/>
          <p:nvPr/>
        </p:nvSpPr>
        <p:spPr>
          <a:xfrm>
            <a:off x="692227" y="5627077"/>
            <a:ext cx="323772" cy="294097"/>
          </a:xfrm>
          <a:prstGeom prst="rect">
            <a:avLst/>
          </a:prstGeom>
        </p:spPr>
        <p:txBody>
          <a:bodyPr vert="horz" wrap="square" lIns="0" tIns="16933" rIns="0" bIns="0" rtlCol="0" anchor="t">
            <a:spAutoFit/>
          </a:bodyPr>
          <a:lstStyle/>
          <a:p>
            <a:pPr marL="16510">
              <a:spcBef>
                <a:spcPts val="133"/>
              </a:spcBef>
            </a:pPr>
            <a:r>
              <a:rPr lang="zh-CN" spc="-33">
                <a:latin typeface="Microsoft YaHei" panose="020B0503020204020204" pitchFamily="34" charset="-122"/>
                <a:ea typeface="Microsoft YaHei" panose="020B0503020204020204" pitchFamily="34" charset="-122"/>
                <a:cs typeface="Calibri"/>
              </a:rPr>
              <a:t>我</a:t>
            </a:r>
            <a:endParaRPr lang="zh-CN" altLang="en-US">
              <a:latin typeface="Microsoft YaHei" panose="020B0503020204020204" pitchFamily="34" charset="-122"/>
              <a:ea typeface="Microsoft YaHei" panose="020B0503020204020204" pitchFamily="34" charset="-122"/>
              <a:cs typeface="Calibri" panose="020F0502020204030204" pitchFamily="34" charset="0"/>
            </a:endParaRPr>
          </a:p>
        </p:txBody>
      </p:sp>
      <p:sp>
        <p:nvSpPr>
          <p:cNvPr id="129" name="object 9">
            <a:extLst>
              <a:ext uri="{FF2B5EF4-FFF2-40B4-BE49-F238E27FC236}">
                <a16:creationId xmlns:a16="http://schemas.microsoft.com/office/drawing/2014/main" id="{2B69E058-ECB9-FA82-39B2-C71A458D9C69}"/>
              </a:ext>
            </a:extLst>
          </p:cNvPr>
          <p:cNvSpPr txBox="1"/>
          <p:nvPr/>
        </p:nvSpPr>
        <p:spPr>
          <a:xfrm>
            <a:off x="1553348" y="5627077"/>
            <a:ext cx="360445" cy="294097"/>
          </a:xfrm>
          <a:prstGeom prst="rect">
            <a:avLst/>
          </a:prstGeom>
        </p:spPr>
        <p:txBody>
          <a:bodyPr vert="horz" wrap="square" lIns="0" tIns="16933" rIns="0" bIns="0" rtlCol="0" anchor="t">
            <a:spAutoFit/>
          </a:bodyPr>
          <a:lstStyle/>
          <a:p>
            <a:pPr marL="16510">
              <a:spcBef>
                <a:spcPts val="133"/>
              </a:spcBef>
            </a:pPr>
            <a:r>
              <a:rPr lang="zh-CN" spc="-33">
                <a:latin typeface="Microsoft YaHei" panose="020B0503020204020204" pitchFamily="34" charset="-122"/>
                <a:ea typeface="Microsoft YaHei" panose="020B0503020204020204" pitchFamily="34" charset="-122"/>
                <a:cs typeface="Calibri"/>
              </a:rPr>
              <a:t>买</a:t>
            </a:r>
            <a:endParaRPr lang="zh-CN" altLang="en-US">
              <a:latin typeface="Microsoft YaHei" panose="020B0503020204020204" pitchFamily="34" charset="-122"/>
              <a:ea typeface="Microsoft YaHei" panose="020B0503020204020204" pitchFamily="34" charset="-122"/>
              <a:cs typeface="Calibri" panose="020F0502020204030204" pitchFamily="34" charset="0"/>
            </a:endParaRPr>
          </a:p>
        </p:txBody>
      </p:sp>
      <p:sp>
        <p:nvSpPr>
          <p:cNvPr id="156" name="object 10">
            <a:extLst>
              <a:ext uri="{FF2B5EF4-FFF2-40B4-BE49-F238E27FC236}">
                <a16:creationId xmlns:a16="http://schemas.microsoft.com/office/drawing/2014/main" id="{C111840B-79B8-347E-D225-960DA03BFB16}"/>
              </a:ext>
            </a:extLst>
          </p:cNvPr>
          <p:cNvSpPr txBox="1"/>
          <p:nvPr/>
        </p:nvSpPr>
        <p:spPr>
          <a:xfrm>
            <a:off x="2375045" y="5627077"/>
            <a:ext cx="641258" cy="294097"/>
          </a:xfrm>
          <a:prstGeom prst="rect">
            <a:avLst/>
          </a:prstGeom>
        </p:spPr>
        <p:txBody>
          <a:bodyPr vert="horz" wrap="square" lIns="0" tIns="16933" rIns="0" bIns="0" rtlCol="0" anchor="t">
            <a:spAutoFit/>
          </a:bodyPr>
          <a:lstStyle/>
          <a:p>
            <a:pPr marL="16510" algn="ctr">
              <a:spcBef>
                <a:spcPts val="133"/>
              </a:spcBef>
            </a:pPr>
            <a:r>
              <a:rPr lang="zh-CN" spc="-13">
                <a:latin typeface="Microsoft YaHei" panose="020B0503020204020204" pitchFamily="34" charset="-122"/>
                <a:ea typeface="Microsoft YaHei" panose="020B0503020204020204" pitchFamily="34" charset="-122"/>
                <a:cs typeface="Calibri"/>
              </a:rPr>
              <a:t>了</a:t>
            </a:r>
            <a:endParaRPr lang="zh-CN" altLang="en-US">
              <a:latin typeface="Microsoft YaHei" panose="020B0503020204020204" pitchFamily="34" charset="-122"/>
              <a:ea typeface="Microsoft YaHei" panose="020B0503020204020204" pitchFamily="34" charset="-122"/>
              <a:cs typeface="Calibri" panose="020F0502020204030204" pitchFamily="34" charset="0"/>
            </a:endParaRPr>
          </a:p>
        </p:txBody>
      </p:sp>
      <p:sp>
        <p:nvSpPr>
          <p:cNvPr id="157" name="object 24">
            <a:extLst>
              <a:ext uri="{FF2B5EF4-FFF2-40B4-BE49-F238E27FC236}">
                <a16:creationId xmlns:a16="http://schemas.microsoft.com/office/drawing/2014/main" id="{E70AD927-5D43-1E9D-E213-3423456FF774}"/>
              </a:ext>
            </a:extLst>
          </p:cNvPr>
          <p:cNvSpPr txBox="1"/>
          <p:nvPr/>
        </p:nvSpPr>
        <p:spPr>
          <a:xfrm>
            <a:off x="3333099" y="5627077"/>
            <a:ext cx="604585" cy="294097"/>
          </a:xfrm>
          <a:prstGeom prst="rect">
            <a:avLst/>
          </a:prstGeom>
        </p:spPr>
        <p:txBody>
          <a:bodyPr vert="horz" wrap="square" lIns="0" tIns="16933" rIns="0" bIns="0" rtlCol="0" anchor="t">
            <a:spAutoFit/>
          </a:bodyPr>
          <a:lstStyle/>
          <a:p>
            <a:pPr marL="16510" algn="ctr">
              <a:spcBef>
                <a:spcPts val="133"/>
              </a:spcBef>
            </a:pPr>
            <a:r>
              <a:rPr lang="zh-CN" altLang="en-US" spc="-13" dirty="0">
                <a:latin typeface="Microsoft YaHei" panose="020B0503020204020204" pitchFamily="34" charset="-122"/>
                <a:ea typeface="Microsoft YaHei" panose="020B0503020204020204" pitchFamily="34" charset="-122"/>
                <a:cs typeface="Calibri"/>
              </a:rPr>
              <a:t>书</a:t>
            </a:r>
            <a:endParaRPr lang="zh-CN" altLang="en-US" dirty="0">
              <a:latin typeface="Microsoft YaHei" panose="020B0503020204020204" pitchFamily="34" charset="-122"/>
              <a:ea typeface="Microsoft YaHei" panose="020B0503020204020204" pitchFamily="34" charset="-122"/>
              <a:cs typeface="Calibri" panose="020F0502020204030204" pitchFamily="34" charset="0"/>
            </a:endParaRPr>
          </a:p>
        </p:txBody>
      </p:sp>
      <mc:AlternateContent xmlns:mc="http://schemas.openxmlformats.org/markup-compatibility/2006" xmlns:a14="http://schemas.microsoft.com/office/drawing/2010/main">
        <mc:Choice Requires="a14">
          <p:sp>
            <p:nvSpPr>
              <p:cNvPr id="158" name="TextBox 157">
                <a:extLst>
                  <a:ext uri="{FF2B5EF4-FFF2-40B4-BE49-F238E27FC236}">
                    <a16:creationId xmlns:a16="http://schemas.microsoft.com/office/drawing/2014/main" id="{5AFC8040-1DB8-9E41-000B-07E446E98C0F}"/>
                  </a:ext>
                </a:extLst>
              </p:cNvPr>
              <p:cNvSpPr txBox="1"/>
              <p:nvPr/>
            </p:nvSpPr>
            <p:spPr>
              <a:xfrm>
                <a:off x="3056823" y="5662965"/>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158" name="TextBox 157">
                <a:extLst>
                  <a:ext uri="{FF2B5EF4-FFF2-40B4-BE49-F238E27FC236}">
                    <a16:creationId xmlns:a16="http://schemas.microsoft.com/office/drawing/2014/main" id="{5AFC8040-1DB8-9E41-000B-07E446E98C0F}"/>
                  </a:ext>
                </a:extLst>
              </p:cNvPr>
              <p:cNvSpPr txBox="1">
                <a:spLocks noRot="1" noChangeAspect="1" noMove="1" noResize="1" noEditPoints="1" noAdjustHandles="1" noChangeArrowheads="1" noChangeShapeType="1" noTextEdit="1"/>
              </p:cNvSpPr>
              <p:nvPr/>
            </p:nvSpPr>
            <p:spPr>
              <a:xfrm>
                <a:off x="3056823" y="5662965"/>
                <a:ext cx="329532" cy="246221"/>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6" name="TextBox 175">
                <a:extLst>
                  <a:ext uri="{FF2B5EF4-FFF2-40B4-BE49-F238E27FC236}">
                    <a16:creationId xmlns:a16="http://schemas.microsoft.com/office/drawing/2014/main" id="{126E738F-1CD3-17DC-01A0-8E92511019C8}"/>
                  </a:ext>
                </a:extLst>
              </p:cNvPr>
              <p:cNvSpPr txBox="1"/>
              <p:nvPr/>
            </p:nvSpPr>
            <p:spPr>
              <a:xfrm>
                <a:off x="614540" y="5022798"/>
                <a:ext cx="47198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oMath>
                  </m:oMathPara>
                </a14:m>
                <a:endParaRPr lang="en-US" dirty="0"/>
              </a:p>
            </p:txBody>
          </p:sp>
        </mc:Choice>
        <mc:Fallback xmlns="">
          <p:sp>
            <p:nvSpPr>
              <p:cNvPr id="176" name="TextBox 175">
                <a:extLst>
                  <a:ext uri="{FF2B5EF4-FFF2-40B4-BE49-F238E27FC236}">
                    <a16:creationId xmlns:a16="http://schemas.microsoft.com/office/drawing/2014/main" id="{126E738F-1CD3-17DC-01A0-8E92511019C8}"/>
                  </a:ext>
                </a:extLst>
              </p:cNvPr>
              <p:cNvSpPr txBox="1">
                <a:spLocks noRot="1" noChangeAspect="1" noMove="1" noResize="1" noEditPoints="1" noAdjustHandles="1" noChangeArrowheads="1" noChangeShapeType="1" noTextEdit="1"/>
              </p:cNvSpPr>
              <p:nvPr/>
            </p:nvSpPr>
            <p:spPr>
              <a:xfrm>
                <a:off x="614540" y="5022798"/>
                <a:ext cx="471989"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7" name="TextBox 176">
                <a:extLst>
                  <a:ext uri="{FF2B5EF4-FFF2-40B4-BE49-F238E27FC236}">
                    <a16:creationId xmlns:a16="http://schemas.microsoft.com/office/drawing/2014/main" id="{234C88BA-AB11-09C6-6888-6F27028E81BE}"/>
                  </a:ext>
                </a:extLst>
              </p:cNvPr>
              <p:cNvSpPr txBox="1"/>
              <p:nvPr/>
            </p:nvSpPr>
            <p:spPr>
              <a:xfrm>
                <a:off x="1494969" y="5022798"/>
                <a:ext cx="47731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oMath>
                  </m:oMathPara>
                </a14:m>
                <a:endParaRPr lang="en-US" dirty="0"/>
              </a:p>
            </p:txBody>
          </p:sp>
        </mc:Choice>
        <mc:Fallback xmlns="">
          <p:sp>
            <p:nvSpPr>
              <p:cNvPr id="177" name="TextBox 176">
                <a:extLst>
                  <a:ext uri="{FF2B5EF4-FFF2-40B4-BE49-F238E27FC236}">
                    <a16:creationId xmlns:a16="http://schemas.microsoft.com/office/drawing/2014/main" id="{234C88BA-AB11-09C6-6888-6F27028E81BE}"/>
                  </a:ext>
                </a:extLst>
              </p:cNvPr>
              <p:cNvSpPr txBox="1">
                <a:spLocks noRot="1" noChangeAspect="1" noMove="1" noResize="1" noEditPoints="1" noAdjustHandles="1" noChangeArrowheads="1" noChangeShapeType="1" noTextEdit="1"/>
              </p:cNvSpPr>
              <p:nvPr/>
            </p:nvSpPr>
            <p:spPr>
              <a:xfrm>
                <a:off x="1494969" y="5022798"/>
                <a:ext cx="477310"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D631748B-1927-A0DA-6626-8839BEB9B2BC}"/>
                  </a:ext>
                </a:extLst>
              </p:cNvPr>
              <p:cNvSpPr txBox="1"/>
              <p:nvPr/>
            </p:nvSpPr>
            <p:spPr>
              <a:xfrm>
                <a:off x="2457019" y="5022798"/>
                <a:ext cx="47731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3</m:t>
                          </m:r>
                        </m:sub>
                      </m:sSub>
                    </m:oMath>
                  </m:oMathPara>
                </a14:m>
                <a:endParaRPr lang="en-US" dirty="0"/>
              </a:p>
            </p:txBody>
          </p:sp>
        </mc:Choice>
        <mc:Fallback xmlns="">
          <p:sp>
            <p:nvSpPr>
              <p:cNvPr id="178" name="TextBox 177">
                <a:extLst>
                  <a:ext uri="{FF2B5EF4-FFF2-40B4-BE49-F238E27FC236}">
                    <a16:creationId xmlns:a16="http://schemas.microsoft.com/office/drawing/2014/main" id="{D631748B-1927-A0DA-6626-8839BEB9B2BC}"/>
                  </a:ext>
                </a:extLst>
              </p:cNvPr>
              <p:cNvSpPr txBox="1">
                <a:spLocks noRot="1" noChangeAspect="1" noMove="1" noResize="1" noEditPoints="1" noAdjustHandles="1" noChangeArrowheads="1" noChangeShapeType="1" noTextEdit="1"/>
              </p:cNvSpPr>
              <p:nvPr/>
            </p:nvSpPr>
            <p:spPr>
              <a:xfrm>
                <a:off x="2457019" y="5022798"/>
                <a:ext cx="477310"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9" name="TextBox 178">
                <a:extLst>
                  <a:ext uri="{FF2B5EF4-FFF2-40B4-BE49-F238E27FC236}">
                    <a16:creationId xmlns:a16="http://schemas.microsoft.com/office/drawing/2014/main" id="{A010D1C8-221A-7ACF-F520-82799C4CD6F8}"/>
                  </a:ext>
                </a:extLst>
              </p:cNvPr>
              <p:cNvSpPr txBox="1"/>
              <p:nvPr/>
            </p:nvSpPr>
            <p:spPr>
              <a:xfrm>
                <a:off x="3419069" y="5049369"/>
                <a:ext cx="49699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𝑇</m:t>
                          </m:r>
                        </m:sub>
                      </m:sSub>
                    </m:oMath>
                  </m:oMathPara>
                </a14:m>
                <a:endParaRPr lang="en-US" dirty="0"/>
              </a:p>
            </p:txBody>
          </p:sp>
        </mc:Choice>
        <mc:Fallback xmlns="">
          <p:sp>
            <p:nvSpPr>
              <p:cNvPr id="179" name="TextBox 178">
                <a:extLst>
                  <a:ext uri="{FF2B5EF4-FFF2-40B4-BE49-F238E27FC236}">
                    <a16:creationId xmlns:a16="http://schemas.microsoft.com/office/drawing/2014/main" id="{A010D1C8-221A-7ACF-F520-82799C4CD6F8}"/>
                  </a:ext>
                </a:extLst>
              </p:cNvPr>
              <p:cNvSpPr txBox="1">
                <a:spLocks noRot="1" noChangeAspect="1" noMove="1" noResize="1" noEditPoints="1" noAdjustHandles="1" noChangeArrowheads="1" noChangeShapeType="1" noTextEdit="1"/>
              </p:cNvSpPr>
              <p:nvPr/>
            </p:nvSpPr>
            <p:spPr>
              <a:xfrm>
                <a:off x="3419069" y="5049369"/>
                <a:ext cx="496996" cy="369332"/>
              </a:xfrm>
              <a:prstGeom prst="rect">
                <a:avLst/>
              </a:prstGeom>
              <a:blipFill>
                <a:blip r:embed="rId11"/>
                <a:stretch>
                  <a:fillRect b="-3333"/>
                </a:stretch>
              </a:blipFill>
            </p:spPr>
            <p:txBody>
              <a:bodyPr/>
              <a:lstStyle/>
              <a:p>
                <a:r>
                  <a:rPr lang="en-US">
                    <a:noFill/>
                  </a:rPr>
                  <a:t> </a:t>
                </a:r>
              </a:p>
            </p:txBody>
          </p:sp>
        </mc:Fallback>
      </mc:AlternateContent>
      <p:cxnSp>
        <p:nvCxnSpPr>
          <p:cNvPr id="180" name="Straight Arrow Connector 179">
            <a:extLst>
              <a:ext uri="{FF2B5EF4-FFF2-40B4-BE49-F238E27FC236}">
                <a16:creationId xmlns:a16="http://schemas.microsoft.com/office/drawing/2014/main" id="{B3E83DAF-AC1D-7289-5FCE-6B6B1D65691A}"/>
              </a:ext>
            </a:extLst>
          </p:cNvPr>
          <p:cNvCxnSpPr>
            <a:stCxn id="121" idx="0"/>
            <a:endCxn id="176" idx="2"/>
          </p:cNvCxnSpPr>
          <p:nvPr/>
        </p:nvCxnSpPr>
        <p:spPr>
          <a:xfrm flipH="1" flipV="1">
            <a:off x="850535" y="5392130"/>
            <a:ext cx="3578"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1" name="Straight Arrow Connector 180">
            <a:extLst>
              <a:ext uri="{FF2B5EF4-FFF2-40B4-BE49-F238E27FC236}">
                <a16:creationId xmlns:a16="http://schemas.microsoft.com/office/drawing/2014/main" id="{A50C93C3-7750-1B13-D128-6CE7F98AD4E5}"/>
              </a:ext>
            </a:extLst>
          </p:cNvPr>
          <p:cNvCxnSpPr>
            <a:cxnSpLocks/>
            <a:stCxn id="129" idx="0"/>
            <a:endCxn id="177" idx="2"/>
          </p:cNvCxnSpPr>
          <p:nvPr/>
        </p:nvCxnSpPr>
        <p:spPr>
          <a:xfrm flipV="1">
            <a:off x="1733571" y="5392130"/>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2" name="Straight Arrow Connector 181">
            <a:extLst>
              <a:ext uri="{FF2B5EF4-FFF2-40B4-BE49-F238E27FC236}">
                <a16:creationId xmlns:a16="http://schemas.microsoft.com/office/drawing/2014/main" id="{D455F410-5671-894A-EF2C-814B430F4DCB}"/>
              </a:ext>
            </a:extLst>
          </p:cNvPr>
          <p:cNvCxnSpPr>
            <a:cxnSpLocks/>
          </p:cNvCxnSpPr>
          <p:nvPr/>
        </p:nvCxnSpPr>
        <p:spPr>
          <a:xfrm flipV="1">
            <a:off x="2679165" y="5358926"/>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3" name="Straight Arrow Connector 182">
            <a:extLst>
              <a:ext uri="{FF2B5EF4-FFF2-40B4-BE49-F238E27FC236}">
                <a16:creationId xmlns:a16="http://schemas.microsoft.com/office/drawing/2014/main" id="{D6D2AB18-B4BC-74A1-E3DE-6CAB964865D0}"/>
              </a:ext>
            </a:extLst>
          </p:cNvPr>
          <p:cNvCxnSpPr>
            <a:cxnSpLocks/>
          </p:cNvCxnSpPr>
          <p:nvPr/>
        </p:nvCxnSpPr>
        <p:spPr>
          <a:xfrm flipV="1">
            <a:off x="3635391" y="5392129"/>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4" name="Rectangle 183">
                <a:extLst>
                  <a:ext uri="{FF2B5EF4-FFF2-40B4-BE49-F238E27FC236}">
                    <a16:creationId xmlns:a16="http://schemas.microsoft.com/office/drawing/2014/main" id="{9034A7AF-702E-0DE5-4350-11B83453EBA6}"/>
                  </a:ext>
                </a:extLst>
              </p:cNvPr>
              <p:cNvSpPr/>
              <p:nvPr/>
            </p:nvSpPr>
            <p:spPr>
              <a:xfrm>
                <a:off x="661797" y="4263656"/>
                <a:ext cx="424732" cy="43593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1</m:t>
                          </m:r>
                        </m:sub>
                      </m:sSub>
                    </m:oMath>
                  </m:oMathPara>
                </a14:m>
                <a:endParaRPr lang="en-US" dirty="0"/>
              </a:p>
            </p:txBody>
          </p:sp>
        </mc:Choice>
        <mc:Fallback xmlns="">
          <p:sp>
            <p:nvSpPr>
              <p:cNvPr id="184" name="Rectangle 183">
                <a:extLst>
                  <a:ext uri="{FF2B5EF4-FFF2-40B4-BE49-F238E27FC236}">
                    <a16:creationId xmlns:a16="http://schemas.microsoft.com/office/drawing/2014/main" id="{9034A7AF-702E-0DE5-4350-11B83453EBA6}"/>
                  </a:ext>
                </a:extLst>
              </p:cNvPr>
              <p:cNvSpPr>
                <a:spLocks noRot="1" noChangeAspect="1" noMove="1" noResize="1" noEditPoints="1" noAdjustHandles="1" noChangeArrowheads="1" noChangeShapeType="1" noTextEdit="1"/>
              </p:cNvSpPr>
              <p:nvPr/>
            </p:nvSpPr>
            <p:spPr>
              <a:xfrm>
                <a:off x="661797" y="4263656"/>
                <a:ext cx="424732" cy="435935"/>
              </a:xfrm>
              <a:prstGeom prst="rect">
                <a:avLst/>
              </a:prstGeom>
              <a:blipFill>
                <a:blip r:embed="rId12"/>
                <a:stretch>
                  <a:fillRect l="-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5" name="Rectangle 184">
                <a:extLst>
                  <a:ext uri="{FF2B5EF4-FFF2-40B4-BE49-F238E27FC236}">
                    <a16:creationId xmlns:a16="http://schemas.microsoft.com/office/drawing/2014/main" id="{6D9C1A53-0324-4A61-E69D-4F89F96EA3F3}"/>
                  </a:ext>
                </a:extLst>
              </p:cNvPr>
              <p:cNvSpPr/>
              <p:nvPr/>
            </p:nvSpPr>
            <p:spPr>
              <a:xfrm>
                <a:off x="1547547" y="4263656"/>
                <a:ext cx="424732" cy="43593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2</m:t>
                          </m:r>
                        </m:sub>
                      </m:sSub>
                    </m:oMath>
                  </m:oMathPara>
                </a14:m>
                <a:endParaRPr lang="en-US" dirty="0"/>
              </a:p>
            </p:txBody>
          </p:sp>
        </mc:Choice>
        <mc:Fallback xmlns="">
          <p:sp>
            <p:nvSpPr>
              <p:cNvPr id="185" name="Rectangle 184">
                <a:extLst>
                  <a:ext uri="{FF2B5EF4-FFF2-40B4-BE49-F238E27FC236}">
                    <a16:creationId xmlns:a16="http://schemas.microsoft.com/office/drawing/2014/main" id="{6D9C1A53-0324-4A61-E69D-4F89F96EA3F3}"/>
                  </a:ext>
                </a:extLst>
              </p:cNvPr>
              <p:cNvSpPr>
                <a:spLocks noRot="1" noChangeAspect="1" noMove="1" noResize="1" noEditPoints="1" noAdjustHandles="1" noChangeArrowheads="1" noChangeShapeType="1" noTextEdit="1"/>
              </p:cNvSpPr>
              <p:nvPr/>
            </p:nvSpPr>
            <p:spPr>
              <a:xfrm>
                <a:off x="1547547" y="4263656"/>
                <a:ext cx="424732" cy="435935"/>
              </a:xfrm>
              <a:prstGeom prst="rect">
                <a:avLst/>
              </a:prstGeom>
              <a:blipFill>
                <a:blip r:embed="rId13"/>
                <a:stretch>
                  <a:fillRect l="-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6" name="Rectangle 185">
                <a:extLst>
                  <a:ext uri="{FF2B5EF4-FFF2-40B4-BE49-F238E27FC236}">
                    <a16:creationId xmlns:a16="http://schemas.microsoft.com/office/drawing/2014/main" id="{21569A85-7A8E-BFAB-CFEB-25B53D91638C}"/>
                  </a:ext>
                </a:extLst>
              </p:cNvPr>
              <p:cNvSpPr/>
              <p:nvPr/>
            </p:nvSpPr>
            <p:spPr>
              <a:xfrm>
                <a:off x="2472323" y="4263656"/>
                <a:ext cx="424732" cy="43593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3</m:t>
                          </m:r>
                        </m:sub>
                      </m:sSub>
                    </m:oMath>
                  </m:oMathPara>
                </a14:m>
                <a:endParaRPr lang="en-US" dirty="0"/>
              </a:p>
            </p:txBody>
          </p:sp>
        </mc:Choice>
        <mc:Fallback xmlns="">
          <p:sp>
            <p:nvSpPr>
              <p:cNvPr id="186" name="Rectangle 185">
                <a:extLst>
                  <a:ext uri="{FF2B5EF4-FFF2-40B4-BE49-F238E27FC236}">
                    <a16:creationId xmlns:a16="http://schemas.microsoft.com/office/drawing/2014/main" id="{21569A85-7A8E-BFAB-CFEB-25B53D91638C}"/>
                  </a:ext>
                </a:extLst>
              </p:cNvPr>
              <p:cNvSpPr>
                <a:spLocks noRot="1" noChangeAspect="1" noMove="1" noResize="1" noEditPoints="1" noAdjustHandles="1" noChangeArrowheads="1" noChangeShapeType="1" noTextEdit="1"/>
              </p:cNvSpPr>
              <p:nvPr/>
            </p:nvSpPr>
            <p:spPr>
              <a:xfrm>
                <a:off x="2472323" y="4263656"/>
                <a:ext cx="424732" cy="435935"/>
              </a:xfrm>
              <a:prstGeom prst="rect">
                <a:avLst/>
              </a:prstGeom>
              <a:blipFill>
                <a:blip r:embed="rId14"/>
                <a:stretch>
                  <a:fillRect l="-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7" name="Rectangle 186">
                <a:extLst>
                  <a:ext uri="{FF2B5EF4-FFF2-40B4-BE49-F238E27FC236}">
                    <a16:creationId xmlns:a16="http://schemas.microsoft.com/office/drawing/2014/main" id="{55CB21B0-0A75-34E1-5083-D71E8CD0FAF7}"/>
                  </a:ext>
                </a:extLst>
              </p:cNvPr>
              <p:cNvSpPr/>
              <p:nvPr/>
            </p:nvSpPr>
            <p:spPr>
              <a:xfrm>
                <a:off x="3455201" y="4278211"/>
                <a:ext cx="424732" cy="43593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𝑇</m:t>
                          </m:r>
                        </m:sub>
                      </m:sSub>
                    </m:oMath>
                  </m:oMathPara>
                </a14:m>
                <a:endParaRPr lang="en-US" dirty="0"/>
              </a:p>
            </p:txBody>
          </p:sp>
        </mc:Choice>
        <mc:Fallback xmlns="">
          <p:sp>
            <p:nvSpPr>
              <p:cNvPr id="187" name="Rectangle 186">
                <a:extLst>
                  <a:ext uri="{FF2B5EF4-FFF2-40B4-BE49-F238E27FC236}">
                    <a16:creationId xmlns:a16="http://schemas.microsoft.com/office/drawing/2014/main" id="{55CB21B0-0A75-34E1-5083-D71E8CD0FAF7}"/>
                  </a:ext>
                </a:extLst>
              </p:cNvPr>
              <p:cNvSpPr>
                <a:spLocks noRot="1" noChangeAspect="1" noMove="1" noResize="1" noEditPoints="1" noAdjustHandles="1" noChangeArrowheads="1" noChangeShapeType="1" noTextEdit="1"/>
              </p:cNvSpPr>
              <p:nvPr/>
            </p:nvSpPr>
            <p:spPr>
              <a:xfrm>
                <a:off x="3455201" y="4278211"/>
                <a:ext cx="424732" cy="435935"/>
              </a:xfrm>
              <a:prstGeom prst="rect">
                <a:avLst/>
              </a:prstGeom>
              <a:blipFill>
                <a:blip r:embed="rId15"/>
                <a:stretch>
                  <a:fillRect l="-5714"/>
                </a:stretch>
              </a:blipFill>
            </p:spPr>
            <p:txBody>
              <a:bodyPr/>
              <a:lstStyle/>
              <a:p>
                <a:r>
                  <a:rPr lang="en-US">
                    <a:noFill/>
                  </a:rPr>
                  <a:t> </a:t>
                </a:r>
              </a:p>
            </p:txBody>
          </p:sp>
        </mc:Fallback>
      </mc:AlternateContent>
      <p:cxnSp>
        <p:nvCxnSpPr>
          <p:cNvPr id="188" name="Straight Arrow Connector 187">
            <a:extLst>
              <a:ext uri="{FF2B5EF4-FFF2-40B4-BE49-F238E27FC236}">
                <a16:creationId xmlns:a16="http://schemas.microsoft.com/office/drawing/2014/main" id="{1582764B-F9C3-FDA5-BC34-6216A7C11CC9}"/>
              </a:ext>
            </a:extLst>
          </p:cNvPr>
          <p:cNvCxnSpPr>
            <a:cxnSpLocks/>
            <a:stCxn id="186" idx="3"/>
            <a:endCxn id="187" idx="1"/>
          </p:cNvCxnSpPr>
          <p:nvPr/>
        </p:nvCxnSpPr>
        <p:spPr>
          <a:xfrm>
            <a:off x="2897055" y="4481624"/>
            <a:ext cx="558146" cy="1455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89" name="Group 188">
            <a:extLst>
              <a:ext uri="{FF2B5EF4-FFF2-40B4-BE49-F238E27FC236}">
                <a16:creationId xmlns:a16="http://schemas.microsoft.com/office/drawing/2014/main" id="{0818F7E5-5349-44E8-40FF-02D6D1499748}"/>
              </a:ext>
            </a:extLst>
          </p:cNvPr>
          <p:cNvGrpSpPr/>
          <p:nvPr/>
        </p:nvGrpSpPr>
        <p:grpSpPr>
          <a:xfrm>
            <a:off x="2999905" y="4347165"/>
            <a:ext cx="329532" cy="246221"/>
            <a:chOff x="2966499" y="3857245"/>
            <a:chExt cx="329532" cy="246221"/>
          </a:xfrm>
        </p:grpSpPr>
        <p:sp>
          <p:nvSpPr>
            <p:cNvPr id="190" name="TextBox 189">
              <a:extLst>
                <a:ext uri="{FF2B5EF4-FFF2-40B4-BE49-F238E27FC236}">
                  <a16:creationId xmlns:a16="http://schemas.microsoft.com/office/drawing/2014/main" id="{77580347-0EB1-A540-83A4-C8FE2A88D1CB}"/>
                </a:ext>
              </a:extLst>
            </p:cNvPr>
            <p:cNvSpPr txBox="1"/>
            <p:nvPr/>
          </p:nvSpPr>
          <p:spPr>
            <a:xfrm>
              <a:off x="3033827" y="3907765"/>
              <a:ext cx="187762" cy="184666"/>
            </a:xfrm>
            <a:prstGeom prst="rect">
              <a:avLst/>
            </a:prstGeom>
            <a:solidFill>
              <a:schemeClr val="bg1"/>
            </a:solidFill>
          </p:spPr>
          <p:txBody>
            <a:bodyPr wrap="square" rtlCol="0">
              <a:spAutoFit/>
            </a:bodyPr>
            <a:lstStyle/>
            <a:p>
              <a:endParaRPr lang="en-US" sz="600" dirty="0">
                <a:latin typeface="Microsoft YaHei" panose="020B0503020204020204" pitchFamily="34" charset="-122"/>
                <a:ea typeface="Microsoft YaHei" panose="020B0503020204020204" pitchFamily="34" charset="-122"/>
              </a:endParaRPr>
            </a:p>
          </p:txBody>
        </p:sp>
        <mc:AlternateContent xmlns:mc="http://schemas.openxmlformats.org/markup-compatibility/2006" xmlns:a14="http://schemas.microsoft.com/office/drawing/2010/main">
          <mc:Choice Requires="a14">
            <p:sp>
              <p:nvSpPr>
                <p:cNvPr id="191" name="TextBox 190">
                  <a:extLst>
                    <a:ext uri="{FF2B5EF4-FFF2-40B4-BE49-F238E27FC236}">
                      <a16:creationId xmlns:a16="http://schemas.microsoft.com/office/drawing/2014/main" id="{5C3B65C6-4B93-0717-E5B1-1B1DD431C84C}"/>
                    </a:ext>
                  </a:extLst>
                </p:cNvPr>
                <p:cNvSpPr txBox="1"/>
                <p:nvPr/>
              </p:nvSpPr>
              <p:spPr>
                <a:xfrm>
                  <a:off x="2966499" y="3857245"/>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191" name="TextBox 190">
                  <a:extLst>
                    <a:ext uri="{FF2B5EF4-FFF2-40B4-BE49-F238E27FC236}">
                      <a16:creationId xmlns:a16="http://schemas.microsoft.com/office/drawing/2014/main" id="{5C3B65C6-4B93-0717-E5B1-1B1DD431C84C}"/>
                    </a:ext>
                  </a:extLst>
                </p:cNvPr>
                <p:cNvSpPr txBox="1">
                  <a:spLocks noRot="1" noChangeAspect="1" noMove="1" noResize="1" noEditPoints="1" noAdjustHandles="1" noChangeArrowheads="1" noChangeShapeType="1" noTextEdit="1"/>
                </p:cNvSpPr>
                <p:nvPr/>
              </p:nvSpPr>
              <p:spPr>
                <a:xfrm>
                  <a:off x="2966499" y="3857245"/>
                  <a:ext cx="329532" cy="246221"/>
                </a:xfrm>
                <a:prstGeom prst="rect">
                  <a:avLst/>
                </a:prstGeom>
                <a:blipFill>
                  <a:blip r:embed="rId16"/>
                  <a:stretch>
                    <a:fillRect/>
                  </a:stretch>
                </a:blipFill>
              </p:spPr>
              <p:txBody>
                <a:bodyPr/>
                <a:lstStyle/>
                <a:p>
                  <a:r>
                    <a:rPr lang="en-US">
                      <a:noFill/>
                    </a:rPr>
                    <a:t> </a:t>
                  </a:r>
                </a:p>
              </p:txBody>
            </p:sp>
          </mc:Fallback>
        </mc:AlternateContent>
      </p:grpSp>
      <p:cxnSp>
        <p:nvCxnSpPr>
          <p:cNvPr id="192" name="Straight Arrow Connector 191">
            <a:extLst>
              <a:ext uri="{FF2B5EF4-FFF2-40B4-BE49-F238E27FC236}">
                <a16:creationId xmlns:a16="http://schemas.microsoft.com/office/drawing/2014/main" id="{5D12B488-D7E9-6D10-3B28-5215F92ADE35}"/>
              </a:ext>
            </a:extLst>
          </p:cNvPr>
          <p:cNvCxnSpPr>
            <a:cxnSpLocks/>
            <a:stCxn id="185" idx="3"/>
            <a:endCxn id="186" idx="1"/>
          </p:cNvCxnSpPr>
          <p:nvPr/>
        </p:nvCxnSpPr>
        <p:spPr>
          <a:xfrm>
            <a:off x="1972279" y="4481624"/>
            <a:ext cx="50004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3" name="Straight Arrow Connector 192">
            <a:extLst>
              <a:ext uri="{FF2B5EF4-FFF2-40B4-BE49-F238E27FC236}">
                <a16:creationId xmlns:a16="http://schemas.microsoft.com/office/drawing/2014/main" id="{A81E7728-F59F-CDEA-5E9B-145D59C4BEBA}"/>
              </a:ext>
            </a:extLst>
          </p:cNvPr>
          <p:cNvCxnSpPr>
            <a:cxnSpLocks/>
            <a:stCxn id="184" idx="3"/>
            <a:endCxn id="185" idx="1"/>
          </p:cNvCxnSpPr>
          <p:nvPr/>
        </p:nvCxnSpPr>
        <p:spPr>
          <a:xfrm>
            <a:off x="1086529" y="4481624"/>
            <a:ext cx="46101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CF3C5C26-70BD-296A-FF64-329E1C83DB60}"/>
              </a:ext>
            </a:extLst>
          </p:cNvPr>
          <p:cNvCxnSpPr/>
          <p:nvPr/>
        </p:nvCxnSpPr>
        <p:spPr>
          <a:xfrm flipH="1" flipV="1">
            <a:off x="850482" y="4861970"/>
            <a:ext cx="3578"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5" name="Straight Arrow Connector 194">
            <a:extLst>
              <a:ext uri="{FF2B5EF4-FFF2-40B4-BE49-F238E27FC236}">
                <a16:creationId xmlns:a16="http://schemas.microsoft.com/office/drawing/2014/main" id="{1BC46853-F494-60F9-A077-2A73616D78D6}"/>
              </a:ext>
            </a:extLst>
          </p:cNvPr>
          <p:cNvCxnSpPr>
            <a:cxnSpLocks/>
          </p:cNvCxnSpPr>
          <p:nvPr/>
        </p:nvCxnSpPr>
        <p:spPr>
          <a:xfrm flipV="1">
            <a:off x="1733518" y="4861970"/>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6" name="Straight Arrow Connector 195">
            <a:extLst>
              <a:ext uri="{FF2B5EF4-FFF2-40B4-BE49-F238E27FC236}">
                <a16:creationId xmlns:a16="http://schemas.microsoft.com/office/drawing/2014/main" id="{59D469CA-A91F-3EF8-CA46-A8D106AD4913}"/>
              </a:ext>
            </a:extLst>
          </p:cNvPr>
          <p:cNvCxnSpPr>
            <a:cxnSpLocks/>
          </p:cNvCxnSpPr>
          <p:nvPr/>
        </p:nvCxnSpPr>
        <p:spPr>
          <a:xfrm flipV="1">
            <a:off x="2679112" y="4828766"/>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7" name="Straight Arrow Connector 196">
            <a:extLst>
              <a:ext uri="{FF2B5EF4-FFF2-40B4-BE49-F238E27FC236}">
                <a16:creationId xmlns:a16="http://schemas.microsoft.com/office/drawing/2014/main" id="{8A300A14-BC2C-E4C8-D14E-7425A319B472}"/>
              </a:ext>
            </a:extLst>
          </p:cNvPr>
          <p:cNvCxnSpPr>
            <a:cxnSpLocks/>
          </p:cNvCxnSpPr>
          <p:nvPr/>
        </p:nvCxnSpPr>
        <p:spPr>
          <a:xfrm flipV="1">
            <a:off x="3635338" y="4861969"/>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8" name="TextBox 197">
                <a:extLst>
                  <a:ext uri="{FF2B5EF4-FFF2-40B4-BE49-F238E27FC236}">
                    <a16:creationId xmlns:a16="http://schemas.microsoft.com/office/drawing/2014/main" id="{A8C56009-24D4-8EEA-CE28-BB64C4E8C07B}"/>
                  </a:ext>
                </a:extLst>
              </p:cNvPr>
              <p:cNvSpPr txBox="1"/>
              <p:nvPr/>
            </p:nvSpPr>
            <p:spPr>
              <a:xfrm>
                <a:off x="3040699" y="5108610"/>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198" name="TextBox 197">
                <a:extLst>
                  <a:ext uri="{FF2B5EF4-FFF2-40B4-BE49-F238E27FC236}">
                    <a16:creationId xmlns:a16="http://schemas.microsoft.com/office/drawing/2014/main" id="{A8C56009-24D4-8EEA-CE28-BB64C4E8C07B}"/>
                  </a:ext>
                </a:extLst>
              </p:cNvPr>
              <p:cNvSpPr txBox="1">
                <a:spLocks noRot="1" noChangeAspect="1" noMove="1" noResize="1" noEditPoints="1" noAdjustHandles="1" noChangeArrowheads="1" noChangeShapeType="1" noTextEdit="1"/>
              </p:cNvSpPr>
              <p:nvPr/>
            </p:nvSpPr>
            <p:spPr>
              <a:xfrm>
                <a:off x="3040699" y="5108610"/>
                <a:ext cx="329532" cy="246221"/>
              </a:xfrm>
              <a:prstGeom prst="rect">
                <a:avLst/>
              </a:prstGeom>
              <a:blipFill>
                <a:blip r:embed="rId17"/>
                <a:stretch>
                  <a:fillRect/>
                </a:stretch>
              </a:blipFill>
            </p:spPr>
            <p:txBody>
              <a:bodyPr/>
              <a:lstStyle/>
              <a:p>
                <a:r>
                  <a:rPr lang="en-US">
                    <a:noFill/>
                  </a:rPr>
                  <a:t> </a:t>
                </a:r>
              </a:p>
            </p:txBody>
          </p:sp>
        </mc:Fallback>
      </mc:AlternateContent>
      <p:cxnSp>
        <p:nvCxnSpPr>
          <p:cNvPr id="199" name="Straight Arrow Connector 198">
            <a:extLst>
              <a:ext uri="{FF2B5EF4-FFF2-40B4-BE49-F238E27FC236}">
                <a16:creationId xmlns:a16="http://schemas.microsoft.com/office/drawing/2014/main" id="{0725BA3C-BEF0-14D7-8CE6-8A24F34345B5}"/>
              </a:ext>
            </a:extLst>
          </p:cNvPr>
          <p:cNvCxnSpPr>
            <a:cxnSpLocks/>
          </p:cNvCxnSpPr>
          <p:nvPr/>
        </p:nvCxnSpPr>
        <p:spPr>
          <a:xfrm>
            <a:off x="3897926" y="4495611"/>
            <a:ext cx="1141907" cy="56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0" name="Rectangle 199">
                <a:extLst>
                  <a:ext uri="{FF2B5EF4-FFF2-40B4-BE49-F238E27FC236}">
                    <a16:creationId xmlns:a16="http://schemas.microsoft.com/office/drawing/2014/main" id="{31D7040E-7BD0-9682-774D-D2C99D3365AB}"/>
                  </a:ext>
                </a:extLst>
              </p:cNvPr>
              <p:cNvSpPr/>
              <p:nvPr/>
            </p:nvSpPr>
            <p:spPr>
              <a:xfrm>
                <a:off x="5061463" y="4278211"/>
                <a:ext cx="424732" cy="43593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𝑠</m:t>
                          </m:r>
                        </m:e>
                        <m:sub>
                          <m:r>
                            <a:rPr lang="en-US" altLang="zh-CN" b="0" i="1" smtClean="0">
                              <a:solidFill>
                                <a:schemeClr val="tx1"/>
                              </a:solidFill>
                              <a:latin typeface="Cambria Math" panose="02040503050406030204" pitchFamily="18" charset="0"/>
                            </a:rPr>
                            <m:t>0</m:t>
                          </m:r>
                        </m:sub>
                      </m:sSub>
                    </m:oMath>
                  </m:oMathPara>
                </a14:m>
                <a:endParaRPr lang="en-US" dirty="0"/>
              </a:p>
            </p:txBody>
          </p:sp>
        </mc:Choice>
        <mc:Fallback xmlns="">
          <p:sp>
            <p:nvSpPr>
              <p:cNvPr id="200" name="Rectangle 199">
                <a:extLst>
                  <a:ext uri="{FF2B5EF4-FFF2-40B4-BE49-F238E27FC236}">
                    <a16:creationId xmlns:a16="http://schemas.microsoft.com/office/drawing/2014/main" id="{31D7040E-7BD0-9682-774D-D2C99D3365AB}"/>
                  </a:ext>
                </a:extLst>
              </p:cNvPr>
              <p:cNvSpPr>
                <a:spLocks noRot="1" noChangeAspect="1" noMove="1" noResize="1" noEditPoints="1" noAdjustHandles="1" noChangeArrowheads="1" noChangeShapeType="1" noTextEdit="1"/>
              </p:cNvSpPr>
              <p:nvPr/>
            </p:nvSpPr>
            <p:spPr>
              <a:xfrm>
                <a:off x="5061463" y="4278211"/>
                <a:ext cx="424732" cy="435935"/>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1" name="TextBox 200">
                <a:extLst>
                  <a:ext uri="{FF2B5EF4-FFF2-40B4-BE49-F238E27FC236}">
                    <a16:creationId xmlns:a16="http://schemas.microsoft.com/office/drawing/2014/main" id="{950A4A65-85FA-3563-433E-07851AD1326D}"/>
                  </a:ext>
                </a:extLst>
              </p:cNvPr>
              <p:cNvSpPr txBox="1"/>
              <p:nvPr/>
            </p:nvSpPr>
            <p:spPr>
              <a:xfrm>
                <a:off x="574219" y="3546585"/>
                <a:ext cx="56098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01</m:t>
                          </m:r>
                        </m:sub>
                      </m:sSub>
                    </m:oMath>
                  </m:oMathPara>
                </a14:m>
                <a:endParaRPr lang="en-US" dirty="0"/>
              </a:p>
            </p:txBody>
          </p:sp>
        </mc:Choice>
        <mc:Fallback xmlns="">
          <p:sp>
            <p:nvSpPr>
              <p:cNvPr id="201" name="TextBox 200">
                <a:extLst>
                  <a:ext uri="{FF2B5EF4-FFF2-40B4-BE49-F238E27FC236}">
                    <a16:creationId xmlns:a16="http://schemas.microsoft.com/office/drawing/2014/main" id="{950A4A65-85FA-3563-433E-07851AD1326D}"/>
                  </a:ext>
                </a:extLst>
              </p:cNvPr>
              <p:cNvSpPr txBox="1">
                <a:spLocks noRot="1" noChangeAspect="1" noMove="1" noResize="1" noEditPoints="1" noAdjustHandles="1" noChangeArrowheads="1" noChangeShapeType="1" noTextEdit="1"/>
              </p:cNvSpPr>
              <p:nvPr/>
            </p:nvSpPr>
            <p:spPr>
              <a:xfrm>
                <a:off x="574219" y="3546585"/>
                <a:ext cx="560987"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2" name="TextBox 201">
                <a:extLst>
                  <a:ext uri="{FF2B5EF4-FFF2-40B4-BE49-F238E27FC236}">
                    <a16:creationId xmlns:a16="http://schemas.microsoft.com/office/drawing/2014/main" id="{71946005-F15E-46DB-3361-54882B67F47A}"/>
                  </a:ext>
                </a:extLst>
              </p:cNvPr>
              <p:cNvSpPr txBox="1"/>
              <p:nvPr/>
            </p:nvSpPr>
            <p:spPr>
              <a:xfrm>
                <a:off x="1454648" y="3546585"/>
                <a:ext cx="56098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02</m:t>
                          </m:r>
                        </m:sub>
                      </m:sSub>
                    </m:oMath>
                  </m:oMathPara>
                </a14:m>
                <a:endParaRPr lang="en-US" dirty="0"/>
              </a:p>
            </p:txBody>
          </p:sp>
        </mc:Choice>
        <mc:Fallback xmlns="">
          <p:sp>
            <p:nvSpPr>
              <p:cNvPr id="202" name="TextBox 201">
                <a:extLst>
                  <a:ext uri="{FF2B5EF4-FFF2-40B4-BE49-F238E27FC236}">
                    <a16:creationId xmlns:a16="http://schemas.microsoft.com/office/drawing/2014/main" id="{71946005-F15E-46DB-3361-54882B67F47A}"/>
                  </a:ext>
                </a:extLst>
              </p:cNvPr>
              <p:cNvSpPr txBox="1">
                <a:spLocks noRot="1" noChangeAspect="1" noMove="1" noResize="1" noEditPoints="1" noAdjustHandles="1" noChangeArrowheads="1" noChangeShapeType="1" noTextEdit="1"/>
              </p:cNvSpPr>
              <p:nvPr/>
            </p:nvSpPr>
            <p:spPr>
              <a:xfrm>
                <a:off x="1454648" y="3546585"/>
                <a:ext cx="560987"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3" name="TextBox 202">
                <a:extLst>
                  <a:ext uri="{FF2B5EF4-FFF2-40B4-BE49-F238E27FC236}">
                    <a16:creationId xmlns:a16="http://schemas.microsoft.com/office/drawing/2014/main" id="{7D3CD2FC-872D-E8BE-A41F-FBFA41F95478}"/>
                  </a:ext>
                </a:extLst>
              </p:cNvPr>
              <p:cNvSpPr txBox="1"/>
              <p:nvPr/>
            </p:nvSpPr>
            <p:spPr>
              <a:xfrm>
                <a:off x="2393548" y="3546585"/>
                <a:ext cx="56098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03</m:t>
                          </m:r>
                        </m:sub>
                      </m:sSub>
                    </m:oMath>
                  </m:oMathPara>
                </a14:m>
                <a:endParaRPr lang="en-US" dirty="0"/>
              </a:p>
            </p:txBody>
          </p:sp>
        </mc:Choice>
        <mc:Fallback xmlns="">
          <p:sp>
            <p:nvSpPr>
              <p:cNvPr id="203" name="TextBox 202">
                <a:extLst>
                  <a:ext uri="{FF2B5EF4-FFF2-40B4-BE49-F238E27FC236}">
                    <a16:creationId xmlns:a16="http://schemas.microsoft.com/office/drawing/2014/main" id="{7D3CD2FC-872D-E8BE-A41F-FBFA41F95478}"/>
                  </a:ext>
                </a:extLst>
              </p:cNvPr>
              <p:cNvSpPr txBox="1">
                <a:spLocks noRot="1" noChangeAspect="1" noMove="1" noResize="1" noEditPoints="1" noAdjustHandles="1" noChangeArrowheads="1" noChangeShapeType="1" noTextEdit="1"/>
              </p:cNvSpPr>
              <p:nvPr/>
            </p:nvSpPr>
            <p:spPr>
              <a:xfrm>
                <a:off x="2393548" y="3546585"/>
                <a:ext cx="560987"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62DAEA29-FC11-6F22-7E56-BE155BD7B24A}"/>
                  </a:ext>
                </a:extLst>
              </p:cNvPr>
              <p:cNvSpPr txBox="1"/>
              <p:nvPr/>
            </p:nvSpPr>
            <p:spPr>
              <a:xfrm>
                <a:off x="3367173" y="3573156"/>
                <a:ext cx="57246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0</m:t>
                          </m:r>
                          <m:r>
                            <a:rPr lang="en-US" altLang="zh-CN" b="0" i="1" smtClean="0">
                              <a:latin typeface="Cambria Math" panose="02040503050406030204" pitchFamily="18" charset="0"/>
                            </a:rPr>
                            <m:t>𝑇</m:t>
                          </m:r>
                        </m:sub>
                      </m:sSub>
                    </m:oMath>
                  </m:oMathPara>
                </a14:m>
                <a:endParaRPr lang="en-US" dirty="0"/>
              </a:p>
            </p:txBody>
          </p:sp>
        </mc:Choice>
        <mc:Fallback xmlns="">
          <p:sp>
            <p:nvSpPr>
              <p:cNvPr id="204" name="TextBox 203">
                <a:extLst>
                  <a:ext uri="{FF2B5EF4-FFF2-40B4-BE49-F238E27FC236}">
                    <a16:creationId xmlns:a16="http://schemas.microsoft.com/office/drawing/2014/main" id="{62DAEA29-FC11-6F22-7E56-BE155BD7B24A}"/>
                  </a:ext>
                </a:extLst>
              </p:cNvPr>
              <p:cNvSpPr txBox="1">
                <a:spLocks noRot="1" noChangeAspect="1" noMove="1" noResize="1" noEditPoints="1" noAdjustHandles="1" noChangeArrowheads="1" noChangeShapeType="1" noTextEdit="1"/>
              </p:cNvSpPr>
              <p:nvPr/>
            </p:nvSpPr>
            <p:spPr>
              <a:xfrm>
                <a:off x="3367173" y="3573156"/>
                <a:ext cx="572464" cy="369332"/>
              </a:xfrm>
              <a:prstGeom prst="rect">
                <a:avLst/>
              </a:prstGeom>
              <a:blipFill>
                <a:blip r:embed="rId22"/>
                <a:stretch>
                  <a:fillRect b="-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201A0FEA-739C-D67F-3B95-7E0821A152DA}"/>
                  </a:ext>
                </a:extLst>
              </p:cNvPr>
              <p:cNvSpPr txBox="1"/>
              <p:nvPr/>
            </p:nvSpPr>
            <p:spPr>
              <a:xfrm>
                <a:off x="3058253" y="3632397"/>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205" name="TextBox 204">
                <a:extLst>
                  <a:ext uri="{FF2B5EF4-FFF2-40B4-BE49-F238E27FC236}">
                    <a16:creationId xmlns:a16="http://schemas.microsoft.com/office/drawing/2014/main" id="{201A0FEA-739C-D67F-3B95-7E0821A152DA}"/>
                  </a:ext>
                </a:extLst>
              </p:cNvPr>
              <p:cNvSpPr txBox="1">
                <a:spLocks noRot="1" noChangeAspect="1" noMove="1" noResize="1" noEditPoints="1" noAdjustHandles="1" noChangeArrowheads="1" noChangeShapeType="1" noTextEdit="1"/>
              </p:cNvSpPr>
              <p:nvPr/>
            </p:nvSpPr>
            <p:spPr>
              <a:xfrm>
                <a:off x="3058253" y="3632397"/>
                <a:ext cx="329532" cy="246221"/>
              </a:xfrm>
              <a:prstGeom prst="rect">
                <a:avLst/>
              </a:prstGeom>
              <a:blipFill>
                <a:blip r:embed="rId23"/>
                <a:stretch>
                  <a:fillRect/>
                </a:stretch>
              </a:blipFill>
            </p:spPr>
            <p:txBody>
              <a:bodyPr/>
              <a:lstStyle/>
              <a:p>
                <a:r>
                  <a:rPr lang="en-US">
                    <a:noFill/>
                  </a:rPr>
                  <a:t> </a:t>
                </a:r>
              </a:p>
            </p:txBody>
          </p:sp>
        </mc:Fallback>
      </mc:AlternateContent>
      <p:cxnSp>
        <p:nvCxnSpPr>
          <p:cNvPr id="206" name="Straight Arrow Connector 205">
            <a:extLst>
              <a:ext uri="{FF2B5EF4-FFF2-40B4-BE49-F238E27FC236}">
                <a16:creationId xmlns:a16="http://schemas.microsoft.com/office/drawing/2014/main" id="{DF96DE60-0D54-4FF1-EFCA-8E00F4CC3443}"/>
              </a:ext>
            </a:extLst>
          </p:cNvPr>
          <p:cNvCxnSpPr>
            <a:cxnSpLocks/>
          </p:cNvCxnSpPr>
          <p:nvPr/>
        </p:nvCxnSpPr>
        <p:spPr>
          <a:xfrm flipV="1">
            <a:off x="749886" y="3915917"/>
            <a:ext cx="6975" cy="30723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7" name="Straight Arrow Connector 206">
            <a:extLst>
              <a:ext uri="{FF2B5EF4-FFF2-40B4-BE49-F238E27FC236}">
                <a16:creationId xmlns:a16="http://schemas.microsoft.com/office/drawing/2014/main" id="{F22476B5-2443-90AD-C46C-3AC4CF063B78}"/>
              </a:ext>
            </a:extLst>
          </p:cNvPr>
          <p:cNvCxnSpPr>
            <a:cxnSpLocks/>
          </p:cNvCxnSpPr>
          <p:nvPr/>
        </p:nvCxnSpPr>
        <p:spPr>
          <a:xfrm flipV="1">
            <a:off x="1629343" y="3915917"/>
            <a:ext cx="0" cy="30723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8" name="Straight Arrow Connector 207">
            <a:extLst>
              <a:ext uri="{FF2B5EF4-FFF2-40B4-BE49-F238E27FC236}">
                <a16:creationId xmlns:a16="http://schemas.microsoft.com/office/drawing/2014/main" id="{E61BA25A-A6C6-A249-D162-F9D1F1F5C7D9}"/>
              </a:ext>
            </a:extLst>
          </p:cNvPr>
          <p:cNvCxnSpPr>
            <a:cxnSpLocks/>
          </p:cNvCxnSpPr>
          <p:nvPr/>
        </p:nvCxnSpPr>
        <p:spPr>
          <a:xfrm flipH="1" flipV="1">
            <a:off x="2578850" y="3915917"/>
            <a:ext cx="1664" cy="34773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9" name="Straight Arrow Connector 208">
            <a:extLst>
              <a:ext uri="{FF2B5EF4-FFF2-40B4-BE49-F238E27FC236}">
                <a16:creationId xmlns:a16="http://schemas.microsoft.com/office/drawing/2014/main" id="{486E18FB-3699-BF6A-6BFF-36864C4DC184}"/>
              </a:ext>
            </a:extLst>
          </p:cNvPr>
          <p:cNvCxnSpPr>
            <a:cxnSpLocks/>
          </p:cNvCxnSpPr>
          <p:nvPr/>
        </p:nvCxnSpPr>
        <p:spPr>
          <a:xfrm flipH="1" flipV="1">
            <a:off x="3562317" y="3942488"/>
            <a:ext cx="1075" cy="33572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0" name="Elbow Connector 209">
            <a:extLst>
              <a:ext uri="{FF2B5EF4-FFF2-40B4-BE49-F238E27FC236}">
                <a16:creationId xmlns:a16="http://schemas.microsoft.com/office/drawing/2014/main" id="{21D1C419-EE08-5D2F-B37C-5B0553EA8AAD}"/>
              </a:ext>
            </a:extLst>
          </p:cNvPr>
          <p:cNvCxnSpPr>
            <a:stCxn id="200" idx="0"/>
            <a:endCxn id="201" idx="2"/>
          </p:cNvCxnSpPr>
          <p:nvPr/>
        </p:nvCxnSpPr>
        <p:spPr>
          <a:xfrm rot="16200000" flipV="1">
            <a:off x="2883124" y="1887506"/>
            <a:ext cx="362294" cy="4419116"/>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1" name="Straight Arrow Connector 210">
            <a:extLst>
              <a:ext uri="{FF2B5EF4-FFF2-40B4-BE49-F238E27FC236}">
                <a16:creationId xmlns:a16="http://schemas.microsoft.com/office/drawing/2014/main" id="{31871CB0-150A-D059-F070-1E1A5B913A0B}"/>
              </a:ext>
            </a:extLst>
          </p:cNvPr>
          <p:cNvCxnSpPr>
            <a:cxnSpLocks/>
          </p:cNvCxnSpPr>
          <p:nvPr/>
        </p:nvCxnSpPr>
        <p:spPr>
          <a:xfrm flipV="1">
            <a:off x="1781743" y="3929420"/>
            <a:ext cx="0" cy="180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2" name="Straight Arrow Connector 211">
            <a:extLst>
              <a:ext uri="{FF2B5EF4-FFF2-40B4-BE49-F238E27FC236}">
                <a16:creationId xmlns:a16="http://schemas.microsoft.com/office/drawing/2014/main" id="{D5CD74A9-B926-3BEC-AD4F-45212DD6C11C}"/>
              </a:ext>
            </a:extLst>
          </p:cNvPr>
          <p:cNvCxnSpPr>
            <a:cxnSpLocks/>
          </p:cNvCxnSpPr>
          <p:nvPr/>
        </p:nvCxnSpPr>
        <p:spPr>
          <a:xfrm flipH="1" flipV="1">
            <a:off x="2731250" y="3929420"/>
            <a:ext cx="1664" cy="180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3" name="Straight Arrow Connector 212">
            <a:extLst>
              <a:ext uri="{FF2B5EF4-FFF2-40B4-BE49-F238E27FC236}">
                <a16:creationId xmlns:a16="http://schemas.microsoft.com/office/drawing/2014/main" id="{B5BF1401-FD05-6159-0A1A-B8EA2C173737}"/>
              </a:ext>
            </a:extLst>
          </p:cNvPr>
          <p:cNvCxnSpPr>
            <a:cxnSpLocks/>
          </p:cNvCxnSpPr>
          <p:nvPr/>
        </p:nvCxnSpPr>
        <p:spPr>
          <a:xfrm flipH="1" flipV="1">
            <a:off x="3714717" y="3955991"/>
            <a:ext cx="1075" cy="180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4" name="Rectangle 213">
                <a:extLst>
                  <a:ext uri="{FF2B5EF4-FFF2-40B4-BE49-F238E27FC236}">
                    <a16:creationId xmlns:a16="http://schemas.microsoft.com/office/drawing/2014/main" id="{BB42344B-3F61-33CE-5B05-0853372E3126}"/>
                  </a:ext>
                </a:extLst>
              </p:cNvPr>
              <p:cNvSpPr/>
              <p:nvPr/>
            </p:nvSpPr>
            <p:spPr>
              <a:xfrm>
                <a:off x="614539" y="2848439"/>
                <a:ext cx="3265393" cy="43593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n-US" altLang="zh-CN" b="0" i="0" smtClean="0">
                          <a:solidFill>
                            <a:schemeClr val="tx1"/>
                          </a:solidFill>
                          <a:latin typeface="Cambria Math" panose="02040503050406030204" pitchFamily="18" charset="0"/>
                        </a:rPr>
                        <m:t>Softmax</m:t>
                      </m:r>
                    </m:oMath>
                  </m:oMathPara>
                </a14:m>
                <a:endParaRPr lang="en-US" dirty="0"/>
              </a:p>
            </p:txBody>
          </p:sp>
        </mc:Choice>
        <mc:Fallback xmlns="">
          <p:sp>
            <p:nvSpPr>
              <p:cNvPr id="214" name="Rectangle 213">
                <a:extLst>
                  <a:ext uri="{FF2B5EF4-FFF2-40B4-BE49-F238E27FC236}">
                    <a16:creationId xmlns:a16="http://schemas.microsoft.com/office/drawing/2014/main" id="{BB42344B-3F61-33CE-5B05-0853372E3126}"/>
                  </a:ext>
                </a:extLst>
              </p:cNvPr>
              <p:cNvSpPr>
                <a:spLocks noRot="1" noChangeAspect="1" noMove="1" noResize="1" noEditPoints="1" noAdjustHandles="1" noChangeArrowheads="1" noChangeShapeType="1" noTextEdit="1"/>
              </p:cNvSpPr>
              <p:nvPr/>
            </p:nvSpPr>
            <p:spPr>
              <a:xfrm>
                <a:off x="614539" y="2848439"/>
                <a:ext cx="3265393" cy="435935"/>
              </a:xfrm>
              <a:prstGeom prst="rect">
                <a:avLst/>
              </a:prstGeom>
              <a:blipFill>
                <a:blip r:embed="rId24"/>
                <a:stretch>
                  <a:fillRect/>
                </a:stretch>
              </a:blipFill>
            </p:spPr>
            <p:txBody>
              <a:bodyPr/>
              <a:lstStyle/>
              <a:p>
                <a:r>
                  <a:rPr lang="en-US">
                    <a:noFill/>
                  </a:rPr>
                  <a:t> </a:t>
                </a:r>
              </a:p>
            </p:txBody>
          </p:sp>
        </mc:Fallback>
      </mc:AlternateContent>
      <p:cxnSp>
        <p:nvCxnSpPr>
          <p:cNvPr id="215" name="Straight Arrow Connector 214">
            <a:extLst>
              <a:ext uri="{FF2B5EF4-FFF2-40B4-BE49-F238E27FC236}">
                <a16:creationId xmlns:a16="http://schemas.microsoft.com/office/drawing/2014/main" id="{3039457A-F271-D27F-78A5-977F80F8B134}"/>
              </a:ext>
            </a:extLst>
          </p:cNvPr>
          <p:cNvCxnSpPr>
            <a:cxnSpLocks/>
          </p:cNvCxnSpPr>
          <p:nvPr/>
        </p:nvCxnSpPr>
        <p:spPr>
          <a:xfrm flipH="1" flipV="1">
            <a:off x="838666" y="3371413"/>
            <a:ext cx="3578"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6" name="Straight Arrow Connector 215">
            <a:extLst>
              <a:ext uri="{FF2B5EF4-FFF2-40B4-BE49-F238E27FC236}">
                <a16:creationId xmlns:a16="http://schemas.microsoft.com/office/drawing/2014/main" id="{8AE3BD99-E53D-5723-9C04-D3C43ECACD79}"/>
              </a:ext>
            </a:extLst>
          </p:cNvPr>
          <p:cNvCxnSpPr>
            <a:cxnSpLocks/>
          </p:cNvCxnSpPr>
          <p:nvPr/>
        </p:nvCxnSpPr>
        <p:spPr>
          <a:xfrm flipV="1">
            <a:off x="1721702" y="3371413"/>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7" name="Straight Arrow Connector 216">
            <a:extLst>
              <a:ext uri="{FF2B5EF4-FFF2-40B4-BE49-F238E27FC236}">
                <a16:creationId xmlns:a16="http://schemas.microsoft.com/office/drawing/2014/main" id="{8C1D47A7-1340-F7B8-5142-8229660876D3}"/>
              </a:ext>
            </a:extLst>
          </p:cNvPr>
          <p:cNvCxnSpPr>
            <a:cxnSpLocks/>
          </p:cNvCxnSpPr>
          <p:nvPr/>
        </p:nvCxnSpPr>
        <p:spPr>
          <a:xfrm flipV="1">
            <a:off x="2667296" y="3371413"/>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8" name="Straight Arrow Connector 217">
            <a:extLst>
              <a:ext uri="{FF2B5EF4-FFF2-40B4-BE49-F238E27FC236}">
                <a16:creationId xmlns:a16="http://schemas.microsoft.com/office/drawing/2014/main" id="{15303825-CBDB-82A6-A60D-B010B2675B9E}"/>
              </a:ext>
            </a:extLst>
          </p:cNvPr>
          <p:cNvCxnSpPr>
            <a:cxnSpLocks/>
          </p:cNvCxnSpPr>
          <p:nvPr/>
        </p:nvCxnSpPr>
        <p:spPr>
          <a:xfrm flipV="1">
            <a:off x="3623522" y="3371413"/>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9" name="TextBox 218">
                <a:extLst>
                  <a:ext uri="{FF2B5EF4-FFF2-40B4-BE49-F238E27FC236}">
                    <a16:creationId xmlns:a16="http://schemas.microsoft.com/office/drawing/2014/main" id="{7413AD49-1060-8894-CF6D-A852E5C65ED0}"/>
                  </a:ext>
                </a:extLst>
              </p:cNvPr>
              <p:cNvSpPr txBox="1"/>
              <p:nvPr/>
            </p:nvSpPr>
            <p:spPr>
              <a:xfrm>
                <a:off x="555716" y="2113544"/>
                <a:ext cx="58214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01</m:t>
                          </m:r>
                        </m:sub>
                      </m:sSub>
                    </m:oMath>
                  </m:oMathPara>
                </a14:m>
                <a:endParaRPr lang="en-US" dirty="0"/>
              </a:p>
            </p:txBody>
          </p:sp>
        </mc:Choice>
        <mc:Fallback xmlns="">
          <p:sp>
            <p:nvSpPr>
              <p:cNvPr id="219" name="TextBox 218">
                <a:extLst>
                  <a:ext uri="{FF2B5EF4-FFF2-40B4-BE49-F238E27FC236}">
                    <a16:creationId xmlns:a16="http://schemas.microsoft.com/office/drawing/2014/main" id="{7413AD49-1060-8894-CF6D-A852E5C65ED0}"/>
                  </a:ext>
                </a:extLst>
              </p:cNvPr>
              <p:cNvSpPr txBox="1">
                <a:spLocks noRot="1" noChangeAspect="1" noMove="1" noResize="1" noEditPoints="1" noAdjustHandles="1" noChangeArrowheads="1" noChangeShapeType="1" noTextEdit="1"/>
              </p:cNvSpPr>
              <p:nvPr/>
            </p:nvSpPr>
            <p:spPr>
              <a:xfrm>
                <a:off x="555716" y="2113544"/>
                <a:ext cx="582147"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0" name="TextBox 219">
                <a:extLst>
                  <a:ext uri="{FF2B5EF4-FFF2-40B4-BE49-F238E27FC236}">
                    <a16:creationId xmlns:a16="http://schemas.microsoft.com/office/drawing/2014/main" id="{40640E2C-03FC-ED9F-9255-A2EAE9427B68}"/>
                  </a:ext>
                </a:extLst>
              </p:cNvPr>
              <p:cNvSpPr txBox="1"/>
              <p:nvPr/>
            </p:nvSpPr>
            <p:spPr>
              <a:xfrm>
                <a:off x="1436145" y="2113544"/>
                <a:ext cx="58214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02</m:t>
                          </m:r>
                        </m:sub>
                      </m:sSub>
                    </m:oMath>
                  </m:oMathPara>
                </a14:m>
                <a:endParaRPr lang="en-US" dirty="0"/>
              </a:p>
            </p:txBody>
          </p:sp>
        </mc:Choice>
        <mc:Fallback xmlns="">
          <p:sp>
            <p:nvSpPr>
              <p:cNvPr id="220" name="TextBox 219">
                <a:extLst>
                  <a:ext uri="{FF2B5EF4-FFF2-40B4-BE49-F238E27FC236}">
                    <a16:creationId xmlns:a16="http://schemas.microsoft.com/office/drawing/2014/main" id="{40640E2C-03FC-ED9F-9255-A2EAE9427B68}"/>
                  </a:ext>
                </a:extLst>
              </p:cNvPr>
              <p:cNvSpPr txBox="1">
                <a:spLocks noRot="1" noChangeAspect="1" noMove="1" noResize="1" noEditPoints="1" noAdjustHandles="1" noChangeArrowheads="1" noChangeShapeType="1" noTextEdit="1"/>
              </p:cNvSpPr>
              <p:nvPr/>
            </p:nvSpPr>
            <p:spPr>
              <a:xfrm>
                <a:off x="1436145" y="2113544"/>
                <a:ext cx="582147"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1" name="TextBox 220">
                <a:extLst>
                  <a:ext uri="{FF2B5EF4-FFF2-40B4-BE49-F238E27FC236}">
                    <a16:creationId xmlns:a16="http://schemas.microsoft.com/office/drawing/2014/main" id="{13CAE5E2-2E62-AE50-0B99-2C33361A1D26}"/>
                  </a:ext>
                </a:extLst>
              </p:cNvPr>
              <p:cNvSpPr txBox="1"/>
              <p:nvPr/>
            </p:nvSpPr>
            <p:spPr>
              <a:xfrm>
                <a:off x="2375045" y="2113544"/>
                <a:ext cx="58214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03</m:t>
                          </m:r>
                        </m:sub>
                      </m:sSub>
                    </m:oMath>
                  </m:oMathPara>
                </a14:m>
                <a:endParaRPr lang="en-US" dirty="0"/>
              </a:p>
            </p:txBody>
          </p:sp>
        </mc:Choice>
        <mc:Fallback xmlns="">
          <p:sp>
            <p:nvSpPr>
              <p:cNvPr id="221" name="TextBox 220">
                <a:extLst>
                  <a:ext uri="{FF2B5EF4-FFF2-40B4-BE49-F238E27FC236}">
                    <a16:creationId xmlns:a16="http://schemas.microsoft.com/office/drawing/2014/main" id="{13CAE5E2-2E62-AE50-0B99-2C33361A1D26}"/>
                  </a:ext>
                </a:extLst>
              </p:cNvPr>
              <p:cNvSpPr txBox="1">
                <a:spLocks noRot="1" noChangeAspect="1" noMove="1" noResize="1" noEditPoints="1" noAdjustHandles="1" noChangeArrowheads="1" noChangeShapeType="1" noTextEdit="1"/>
              </p:cNvSpPr>
              <p:nvPr/>
            </p:nvSpPr>
            <p:spPr>
              <a:xfrm>
                <a:off x="2375045" y="2113544"/>
                <a:ext cx="582147" cy="369332"/>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2" name="TextBox 221">
                <a:extLst>
                  <a:ext uri="{FF2B5EF4-FFF2-40B4-BE49-F238E27FC236}">
                    <a16:creationId xmlns:a16="http://schemas.microsoft.com/office/drawing/2014/main" id="{37BBB5BD-3272-7F21-7CB6-9D78035D9785}"/>
                  </a:ext>
                </a:extLst>
              </p:cNvPr>
              <p:cNvSpPr txBox="1"/>
              <p:nvPr/>
            </p:nvSpPr>
            <p:spPr>
              <a:xfrm>
                <a:off x="3348670" y="2140115"/>
                <a:ext cx="59362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0</m:t>
                          </m:r>
                          <m:r>
                            <a:rPr lang="en-US" altLang="zh-CN" b="0" i="1" smtClean="0">
                              <a:latin typeface="Cambria Math" panose="02040503050406030204" pitchFamily="18" charset="0"/>
                            </a:rPr>
                            <m:t>𝑇</m:t>
                          </m:r>
                        </m:sub>
                      </m:sSub>
                    </m:oMath>
                  </m:oMathPara>
                </a14:m>
                <a:endParaRPr lang="en-US" dirty="0"/>
              </a:p>
            </p:txBody>
          </p:sp>
        </mc:Choice>
        <mc:Fallback xmlns="">
          <p:sp>
            <p:nvSpPr>
              <p:cNvPr id="222" name="TextBox 221">
                <a:extLst>
                  <a:ext uri="{FF2B5EF4-FFF2-40B4-BE49-F238E27FC236}">
                    <a16:creationId xmlns:a16="http://schemas.microsoft.com/office/drawing/2014/main" id="{37BBB5BD-3272-7F21-7CB6-9D78035D9785}"/>
                  </a:ext>
                </a:extLst>
              </p:cNvPr>
              <p:cNvSpPr txBox="1">
                <a:spLocks noRot="1" noChangeAspect="1" noMove="1" noResize="1" noEditPoints="1" noAdjustHandles="1" noChangeArrowheads="1" noChangeShapeType="1" noTextEdit="1"/>
              </p:cNvSpPr>
              <p:nvPr/>
            </p:nvSpPr>
            <p:spPr>
              <a:xfrm>
                <a:off x="3348670" y="2140115"/>
                <a:ext cx="593624" cy="369332"/>
              </a:xfrm>
              <a:prstGeom prst="rect">
                <a:avLst/>
              </a:prstGeom>
              <a:blipFill>
                <a:blip r:embed="rId28"/>
                <a:stretch>
                  <a:fillRect b="-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3" name="TextBox 222">
                <a:extLst>
                  <a:ext uri="{FF2B5EF4-FFF2-40B4-BE49-F238E27FC236}">
                    <a16:creationId xmlns:a16="http://schemas.microsoft.com/office/drawing/2014/main" id="{80CC2061-98B3-1A13-B7D6-BD51132F28B5}"/>
                  </a:ext>
                </a:extLst>
              </p:cNvPr>
              <p:cNvSpPr txBox="1"/>
              <p:nvPr/>
            </p:nvSpPr>
            <p:spPr>
              <a:xfrm>
                <a:off x="3039750" y="2199356"/>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223" name="TextBox 222">
                <a:extLst>
                  <a:ext uri="{FF2B5EF4-FFF2-40B4-BE49-F238E27FC236}">
                    <a16:creationId xmlns:a16="http://schemas.microsoft.com/office/drawing/2014/main" id="{80CC2061-98B3-1A13-B7D6-BD51132F28B5}"/>
                  </a:ext>
                </a:extLst>
              </p:cNvPr>
              <p:cNvSpPr txBox="1">
                <a:spLocks noRot="1" noChangeAspect="1" noMove="1" noResize="1" noEditPoints="1" noAdjustHandles="1" noChangeArrowheads="1" noChangeShapeType="1" noTextEdit="1"/>
              </p:cNvSpPr>
              <p:nvPr/>
            </p:nvSpPr>
            <p:spPr>
              <a:xfrm>
                <a:off x="3039750" y="2199356"/>
                <a:ext cx="329532" cy="246221"/>
              </a:xfrm>
              <a:prstGeom prst="rect">
                <a:avLst/>
              </a:prstGeom>
              <a:blipFill>
                <a:blip r:embed="rId17"/>
                <a:stretch>
                  <a:fillRect/>
                </a:stretch>
              </a:blipFill>
            </p:spPr>
            <p:txBody>
              <a:bodyPr/>
              <a:lstStyle/>
              <a:p>
                <a:r>
                  <a:rPr lang="en-US">
                    <a:noFill/>
                  </a:rPr>
                  <a:t> </a:t>
                </a:r>
              </a:p>
            </p:txBody>
          </p:sp>
        </mc:Fallback>
      </mc:AlternateContent>
      <p:cxnSp>
        <p:nvCxnSpPr>
          <p:cNvPr id="224" name="Straight Arrow Connector 223">
            <a:extLst>
              <a:ext uri="{FF2B5EF4-FFF2-40B4-BE49-F238E27FC236}">
                <a16:creationId xmlns:a16="http://schemas.microsoft.com/office/drawing/2014/main" id="{E86BEE3F-BB2E-B6D9-1291-49F147776C56}"/>
              </a:ext>
            </a:extLst>
          </p:cNvPr>
          <p:cNvCxnSpPr>
            <a:cxnSpLocks/>
          </p:cNvCxnSpPr>
          <p:nvPr/>
        </p:nvCxnSpPr>
        <p:spPr>
          <a:xfrm flipH="1" flipV="1">
            <a:off x="838613" y="2575095"/>
            <a:ext cx="3578"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5" name="Straight Arrow Connector 224">
            <a:extLst>
              <a:ext uri="{FF2B5EF4-FFF2-40B4-BE49-F238E27FC236}">
                <a16:creationId xmlns:a16="http://schemas.microsoft.com/office/drawing/2014/main" id="{988BE1F6-D6AB-EB14-8841-8FF8A8A86A88}"/>
              </a:ext>
            </a:extLst>
          </p:cNvPr>
          <p:cNvCxnSpPr>
            <a:cxnSpLocks/>
          </p:cNvCxnSpPr>
          <p:nvPr/>
        </p:nvCxnSpPr>
        <p:spPr>
          <a:xfrm flipV="1">
            <a:off x="1721649" y="2575095"/>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6" name="Straight Arrow Connector 225">
            <a:extLst>
              <a:ext uri="{FF2B5EF4-FFF2-40B4-BE49-F238E27FC236}">
                <a16:creationId xmlns:a16="http://schemas.microsoft.com/office/drawing/2014/main" id="{9BB4855D-3329-AC93-62F9-B1626B269D78}"/>
              </a:ext>
            </a:extLst>
          </p:cNvPr>
          <p:cNvCxnSpPr>
            <a:cxnSpLocks/>
          </p:cNvCxnSpPr>
          <p:nvPr/>
        </p:nvCxnSpPr>
        <p:spPr>
          <a:xfrm flipV="1">
            <a:off x="2667243" y="2575095"/>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7" name="Straight Arrow Connector 226">
            <a:extLst>
              <a:ext uri="{FF2B5EF4-FFF2-40B4-BE49-F238E27FC236}">
                <a16:creationId xmlns:a16="http://schemas.microsoft.com/office/drawing/2014/main" id="{E1A10086-4CD8-B461-6BBA-19C6B2CD9DCE}"/>
              </a:ext>
            </a:extLst>
          </p:cNvPr>
          <p:cNvCxnSpPr>
            <a:cxnSpLocks/>
          </p:cNvCxnSpPr>
          <p:nvPr/>
        </p:nvCxnSpPr>
        <p:spPr>
          <a:xfrm flipV="1">
            <a:off x="3623469" y="2575095"/>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8" name="TextBox 227">
                <a:extLst>
                  <a:ext uri="{FF2B5EF4-FFF2-40B4-BE49-F238E27FC236}">
                    <a16:creationId xmlns:a16="http://schemas.microsoft.com/office/drawing/2014/main" id="{28A71103-D16A-05B0-831E-7FB63B26F385}"/>
                  </a:ext>
                </a:extLst>
              </p:cNvPr>
              <p:cNvSpPr txBox="1"/>
              <p:nvPr/>
            </p:nvSpPr>
            <p:spPr>
              <a:xfrm>
                <a:off x="7637282" y="5063713"/>
                <a:ext cx="45095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1</m:t>
                          </m:r>
                        </m:sub>
                      </m:sSub>
                    </m:oMath>
                  </m:oMathPara>
                </a14:m>
                <a:endParaRPr lang="en-US" dirty="0"/>
              </a:p>
            </p:txBody>
          </p:sp>
        </mc:Choice>
        <mc:Fallback xmlns="">
          <p:sp>
            <p:nvSpPr>
              <p:cNvPr id="228" name="TextBox 227">
                <a:extLst>
                  <a:ext uri="{FF2B5EF4-FFF2-40B4-BE49-F238E27FC236}">
                    <a16:creationId xmlns:a16="http://schemas.microsoft.com/office/drawing/2014/main" id="{28A71103-D16A-05B0-831E-7FB63B26F385}"/>
                  </a:ext>
                </a:extLst>
              </p:cNvPr>
              <p:cNvSpPr txBox="1">
                <a:spLocks noRot="1" noChangeAspect="1" noMove="1" noResize="1" noEditPoints="1" noAdjustHandles="1" noChangeArrowheads="1" noChangeShapeType="1" noTextEdit="1"/>
              </p:cNvSpPr>
              <p:nvPr/>
            </p:nvSpPr>
            <p:spPr>
              <a:xfrm>
                <a:off x="7637282" y="5063713"/>
                <a:ext cx="450956" cy="369332"/>
              </a:xfrm>
              <a:prstGeom prst="rect">
                <a:avLst/>
              </a:prstGeom>
              <a:blipFill>
                <a:blip r:embed="rId29"/>
                <a:stretch>
                  <a:fillRect b="-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9" name="TextBox 228">
                <a:extLst>
                  <a:ext uri="{FF2B5EF4-FFF2-40B4-BE49-F238E27FC236}">
                    <a16:creationId xmlns:a16="http://schemas.microsoft.com/office/drawing/2014/main" id="{1EEA002C-95D4-ADF7-0F44-7CC185725535}"/>
                  </a:ext>
                </a:extLst>
              </p:cNvPr>
              <p:cNvSpPr txBox="1"/>
              <p:nvPr/>
            </p:nvSpPr>
            <p:spPr>
              <a:xfrm>
                <a:off x="7892986" y="5034079"/>
                <a:ext cx="47897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0</m:t>
                          </m:r>
                        </m:sub>
                      </m:sSub>
                    </m:oMath>
                  </m:oMathPara>
                </a14:m>
                <a:endParaRPr lang="en-US" dirty="0"/>
              </a:p>
            </p:txBody>
          </p:sp>
        </mc:Choice>
        <mc:Fallback xmlns="">
          <p:sp>
            <p:nvSpPr>
              <p:cNvPr id="229" name="TextBox 228">
                <a:extLst>
                  <a:ext uri="{FF2B5EF4-FFF2-40B4-BE49-F238E27FC236}">
                    <a16:creationId xmlns:a16="http://schemas.microsoft.com/office/drawing/2014/main" id="{1EEA002C-95D4-ADF7-0F44-7CC185725535}"/>
                  </a:ext>
                </a:extLst>
              </p:cNvPr>
              <p:cNvSpPr txBox="1">
                <a:spLocks noRot="1" noChangeAspect="1" noMove="1" noResize="1" noEditPoints="1" noAdjustHandles="1" noChangeArrowheads="1" noChangeShapeType="1" noTextEdit="1"/>
              </p:cNvSpPr>
              <p:nvPr/>
            </p:nvSpPr>
            <p:spPr>
              <a:xfrm>
                <a:off x="7892986" y="5034079"/>
                <a:ext cx="478977" cy="369332"/>
              </a:xfrm>
              <a:prstGeom prst="rect">
                <a:avLst/>
              </a:prstGeom>
              <a:blipFill>
                <a:blip r:embed="rId30"/>
                <a:stretch>
                  <a:fillRect b="-10000"/>
                </a:stretch>
              </a:blipFill>
            </p:spPr>
            <p:txBody>
              <a:bodyPr/>
              <a:lstStyle/>
              <a:p>
                <a:r>
                  <a:rPr lang="en-US">
                    <a:noFill/>
                  </a:rPr>
                  <a:t> </a:t>
                </a:r>
              </a:p>
            </p:txBody>
          </p:sp>
        </mc:Fallback>
      </mc:AlternateContent>
      <p:sp>
        <p:nvSpPr>
          <p:cNvPr id="231" name="Rectangle 230">
            <a:extLst>
              <a:ext uri="{FF2B5EF4-FFF2-40B4-BE49-F238E27FC236}">
                <a16:creationId xmlns:a16="http://schemas.microsoft.com/office/drawing/2014/main" id="{7C954169-9209-A6D7-328E-2D56D7029A6B}"/>
              </a:ext>
            </a:extLst>
          </p:cNvPr>
          <p:cNvSpPr/>
          <p:nvPr/>
        </p:nvSpPr>
        <p:spPr>
          <a:xfrm>
            <a:off x="6873984" y="4263656"/>
            <a:ext cx="424732" cy="43593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endParaRPr lang="en-US" dirty="0">
              <a:solidFill>
                <a:schemeClr val="tx1"/>
              </a:solidFill>
            </a:endParaRPr>
          </a:p>
        </p:txBody>
      </p:sp>
      <p:sp>
        <p:nvSpPr>
          <p:cNvPr id="232" name="Left Brace 231">
            <a:extLst>
              <a:ext uri="{FF2B5EF4-FFF2-40B4-BE49-F238E27FC236}">
                <a16:creationId xmlns:a16="http://schemas.microsoft.com/office/drawing/2014/main" id="{78895EB9-10F1-58CA-BA4D-D6B41A15C4C0}"/>
              </a:ext>
            </a:extLst>
          </p:cNvPr>
          <p:cNvSpPr/>
          <p:nvPr/>
        </p:nvSpPr>
        <p:spPr>
          <a:xfrm rot="5400000">
            <a:off x="2101670" y="-454665"/>
            <a:ext cx="241260" cy="3062039"/>
          </a:xfrm>
          <a:prstGeom prst="leftBrace">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33" name="Elbow Connector 232">
            <a:extLst>
              <a:ext uri="{FF2B5EF4-FFF2-40B4-BE49-F238E27FC236}">
                <a16:creationId xmlns:a16="http://schemas.microsoft.com/office/drawing/2014/main" id="{697A1B2B-783B-0CF3-7BF3-3C33AF08E618}"/>
              </a:ext>
            </a:extLst>
          </p:cNvPr>
          <p:cNvCxnSpPr>
            <a:cxnSpLocks/>
            <a:stCxn id="232" idx="1"/>
            <a:endCxn id="231" idx="0"/>
          </p:cNvCxnSpPr>
          <p:nvPr/>
        </p:nvCxnSpPr>
        <p:spPr>
          <a:xfrm rot="16200000" flipH="1">
            <a:off x="3000359" y="177665"/>
            <a:ext cx="3307931" cy="4864050"/>
          </a:xfrm>
          <a:prstGeom prst="bentConnector3">
            <a:avLst>
              <a:gd name="adj1" fmla="val -2106"/>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7" name="Elbow Connector 236">
            <a:extLst>
              <a:ext uri="{FF2B5EF4-FFF2-40B4-BE49-F238E27FC236}">
                <a16:creationId xmlns:a16="http://schemas.microsoft.com/office/drawing/2014/main" id="{A857C678-A875-3586-7908-BA36D2F22FE1}"/>
              </a:ext>
            </a:extLst>
          </p:cNvPr>
          <p:cNvCxnSpPr>
            <a:cxnSpLocks/>
            <a:stCxn id="231" idx="2"/>
            <a:endCxn id="228" idx="1"/>
          </p:cNvCxnSpPr>
          <p:nvPr/>
        </p:nvCxnSpPr>
        <p:spPr>
          <a:xfrm rot="16200000" flipH="1">
            <a:off x="7087422" y="4698519"/>
            <a:ext cx="548788" cy="550932"/>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0" name="Rectangle 239">
            <a:extLst>
              <a:ext uri="{FF2B5EF4-FFF2-40B4-BE49-F238E27FC236}">
                <a16:creationId xmlns:a16="http://schemas.microsoft.com/office/drawing/2014/main" id="{25EADC59-ECDA-E606-C4E9-2590D30E114D}"/>
              </a:ext>
            </a:extLst>
          </p:cNvPr>
          <p:cNvSpPr/>
          <p:nvPr/>
        </p:nvSpPr>
        <p:spPr>
          <a:xfrm>
            <a:off x="3402941" y="1433031"/>
            <a:ext cx="424732" cy="43593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x</a:t>
            </a:r>
            <a:endParaRPr lang="en-US" dirty="0">
              <a:solidFill>
                <a:schemeClr val="tx1"/>
              </a:solidFill>
            </a:endParaRPr>
          </a:p>
        </p:txBody>
      </p:sp>
      <p:sp>
        <p:nvSpPr>
          <p:cNvPr id="244" name="Rectangle 243">
            <a:extLst>
              <a:ext uri="{FF2B5EF4-FFF2-40B4-BE49-F238E27FC236}">
                <a16:creationId xmlns:a16="http://schemas.microsoft.com/office/drawing/2014/main" id="{8B1CD5A0-FCD2-3CF5-3CCF-C5CC0602FD7D}"/>
              </a:ext>
            </a:extLst>
          </p:cNvPr>
          <p:cNvSpPr/>
          <p:nvPr/>
        </p:nvSpPr>
        <p:spPr>
          <a:xfrm>
            <a:off x="2458044" y="1433031"/>
            <a:ext cx="424732" cy="43593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x</a:t>
            </a:r>
            <a:endParaRPr lang="en-US" dirty="0">
              <a:solidFill>
                <a:schemeClr val="tx1"/>
              </a:solidFill>
            </a:endParaRPr>
          </a:p>
        </p:txBody>
      </p:sp>
      <p:sp>
        <p:nvSpPr>
          <p:cNvPr id="245" name="Rectangle 244">
            <a:extLst>
              <a:ext uri="{FF2B5EF4-FFF2-40B4-BE49-F238E27FC236}">
                <a16:creationId xmlns:a16="http://schemas.microsoft.com/office/drawing/2014/main" id="{9C9D3EDA-23FA-92A3-6025-CDDB97E1A73B}"/>
              </a:ext>
            </a:extLst>
          </p:cNvPr>
          <p:cNvSpPr/>
          <p:nvPr/>
        </p:nvSpPr>
        <p:spPr>
          <a:xfrm>
            <a:off x="1544828" y="1433031"/>
            <a:ext cx="424732" cy="43593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x</a:t>
            </a:r>
            <a:endParaRPr lang="en-US" dirty="0">
              <a:solidFill>
                <a:schemeClr val="tx1"/>
              </a:solidFill>
            </a:endParaRPr>
          </a:p>
        </p:txBody>
      </p:sp>
      <p:sp>
        <p:nvSpPr>
          <p:cNvPr id="246" name="Rectangle 245">
            <a:extLst>
              <a:ext uri="{FF2B5EF4-FFF2-40B4-BE49-F238E27FC236}">
                <a16:creationId xmlns:a16="http://schemas.microsoft.com/office/drawing/2014/main" id="{CF4A8DEE-AFF0-BCE5-D9CD-9F92478D420F}"/>
              </a:ext>
            </a:extLst>
          </p:cNvPr>
          <p:cNvSpPr/>
          <p:nvPr/>
        </p:nvSpPr>
        <p:spPr>
          <a:xfrm>
            <a:off x="647648" y="1433031"/>
            <a:ext cx="424732" cy="43593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x</a:t>
            </a:r>
            <a:endParaRPr lang="en-US" dirty="0">
              <a:solidFill>
                <a:schemeClr val="tx1"/>
              </a:solidFill>
            </a:endParaRPr>
          </a:p>
        </p:txBody>
      </p:sp>
      <p:cxnSp>
        <p:nvCxnSpPr>
          <p:cNvPr id="247" name="Straight Arrow Connector 246">
            <a:extLst>
              <a:ext uri="{FF2B5EF4-FFF2-40B4-BE49-F238E27FC236}">
                <a16:creationId xmlns:a16="http://schemas.microsoft.com/office/drawing/2014/main" id="{8F3983FD-899C-47E0-24AC-BF891266CE55}"/>
              </a:ext>
            </a:extLst>
          </p:cNvPr>
          <p:cNvCxnSpPr>
            <a:cxnSpLocks/>
          </p:cNvCxnSpPr>
          <p:nvPr/>
        </p:nvCxnSpPr>
        <p:spPr>
          <a:xfrm flipH="1" flipV="1">
            <a:off x="822634" y="1959749"/>
            <a:ext cx="3578"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8" name="Straight Arrow Connector 247">
            <a:extLst>
              <a:ext uri="{FF2B5EF4-FFF2-40B4-BE49-F238E27FC236}">
                <a16:creationId xmlns:a16="http://schemas.microsoft.com/office/drawing/2014/main" id="{00FA3DDD-5DB4-0F5C-4D04-BC19F55881B2}"/>
              </a:ext>
            </a:extLst>
          </p:cNvPr>
          <p:cNvCxnSpPr>
            <a:cxnSpLocks/>
          </p:cNvCxnSpPr>
          <p:nvPr/>
        </p:nvCxnSpPr>
        <p:spPr>
          <a:xfrm flipV="1">
            <a:off x="1705670" y="1959749"/>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9" name="Straight Arrow Connector 248">
            <a:extLst>
              <a:ext uri="{FF2B5EF4-FFF2-40B4-BE49-F238E27FC236}">
                <a16:creationId xmlns:a16="http://schemas.microsoft.com/office/drawing/2014/main" id="{ACCFBED1-93EB-CA72-CD76-4EB158AE783A}"/>
              </a:ext>
            </a:extLst>
          </p:cNvPr>
          <p:cNvCxnSpPr>
            <a:cxnSpLocks/>
          </p:cNvCxnSpPr>
          <p:nvPr/>
        </p:nvCxnSpPr>
        <p:spPr>
          <a:xfrm flipV="1">
            <a:off x="2651264" y="1959749"/>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6DE12816-4FF1-77A4-0EBC-D70BD711BA7F}"/>
              </a:ext>
            </a:extLst>
          </p:cNvPr>
          <p:cNvCxnSpPr>
            <a:cxnSpLocks/>
          </p:cNvCxnSpPr>
          <p:nvPr/>
        </p:nvCxnSpPr>
        <p:spPr>
          <a:xfrm flipV="1">
            <a:off x="3607490" y="1959749"/>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1" name="Straight Arrow Connector 250">
            <a:extLst>
              <a:ext uri="{FF2B5EF4-FFF2-40B4-BE49-F238E27FC236}">
                <a16:creationId xmlns:a16="http://schemas.microsoft.com/office/drawing/2014/main" id="{E88ACA11-09A5-3A0C-C93C-DE46ED070139}"/>
              </a:ext>
            </a:extLst>
          </p:cNvPr>
          <p:cNvCxnSpPr>
            <a:cxnSpLocks/>
          </p:cNvCxnSpPr>
          <p:nvPr/>
        </p:nvCxnSpPr>
        <p:spPr>
          <a:xfrm flipH="1" flipV="1">
            <a:off x="811557" y="1160624"/>
            <a:ext cx="3578"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2" name="Straight Arrow Connector 251">
            <a:extLst>
              <a:ext uri="{FF2B5EF4-FFF2-40B4-BE49-F238E27FC236}">
                <a16:creationId xmlns:a16="http://schemas.microsoft.com/office/drawing/2014/main" id="{8F0B0CD0-5E20-8BA2-B1CD-3DE9C269F3DC}"/>
              </a:ext>
            </a:extLst>
          </p:cNvPr>
          <p:cNvCxnSpPr>
            <a:cxnSpLocks/>
          </p:cNvCxnSpPr>
          <p:nvPr/>
        </p:nvCxnSpPr>
        <p:spPr>
          <a:xfrm flipV="1">
            <a:off x="1694593" y="1160624"/>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3" name="Straight Arrow Connector 252">
            <a:extLst>
              <a:ext uri="{FF2B5EF4-FFF2-40B4-BE49-F238E27FC236}">
                <a16:creationId xmlns:a16="http://schemas.microsoft.com/office/drawing/2014/main" id="{F7CDD781-7B65-1AA7-8F80-D2403E6F5CDB}"/>
              </a:ext>
            </a:extLst>
          </p:cNvPr>
          <p:cNvCxnSpPr>
            <a:cxnSpLocks/>
          </p:cNvCxnSpPr>
          <p:nvPr/>
        </p:nvCxnSpPr>
        <p:spPr>
          <a:xfrm flipV="1">
            <a:off x="2640187" y="1160624"/>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4" name="Straight Arrow Connector 253">
            <a:extLst>
              <a:ext uri="{FF2B5EF4-FFF2-40B4-BE49-F238E27FC236}">
                <a16:creationId xmlns:a16="http://schemas.microsoft.com/office/drawing/2014/main" id="{AD043396-0C83-8E8B-E665-BCADDC46B905}"/>
              </a:ext>
            </a:extLst>
          </p:cNvPr>
          <p:cNvCxnSpPr>
            <a:cxnSpLocks/>
          </p:cNvCxnSpPr>
          <p:nvPr/>
        </p:nvCxnSpPr>
        <p:spPr>
          <a:xfrm flipV="1">
            <a:off x="3596413" y="1160624"/>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6" name="Curved Connector 255">
            <a:extLst>
              <a:ext uri="{FF2B5EF4-FFF2-40B4-BE49-F238E27FC236}">
                <a16:creationId xmlns:a16="http://schemas.microsoft.com/office/drawing/2014/main" id="{F7009A9A-1773-9894-305B-C447229E530B}"/>
              </a:ext>
            </a:extLst>
          </p:cNvPr>
          <p:cNvCxnSpPr>
            <a:stCxn id="187" idx="1"/>
            <a:endCxn id="240" idx="1"/>
          </p:cNvCxnSpPr>
          <p:nvPr/>
        </p:nvCxnSpPr>
        <p:spPr>
          <a:xfrm rot="10800000">
            <a:off x="3402941" y="1650999"/>
            <a:ext cx="52260" cy="2845180"/>
          </a:xfrm>
          <a:prstGeom prst="curvedConnector3">
            <a:avLst>
              <a:gd name="adj1" fmla="val 537428"/>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7" name="Curved Connector 256">
            <a:extLst>
              <a:ext uri="{FF2B5EF4-FFF2-40B4-BE49-F238E27FC236}">
                <a16:creationId xmlns:a16="http://schemas.microsoft.com/office/drawing/2014/main" id="{9FDD5E39-3139-A56B-1416-27004F90CC8F}"/>
              </a:ext>
            </a:extLst>
          </p:cNvPr>
          <p:cNvCxnSpPr>
            <a:cxnSpLocks/>
            <a:stCxn id="186" idx="1"/>
            <a:endCxn id="244" idx="1"/>
          </p:cNvCxnSpPr>
          <p:nvPr/>
        </p:nvCxnSpPr>
        <p:spPr>
          <a:xfrm rot="10800000">
            <a:off x="2458045" y="1651000"/>
            <a:ext cx="14279" cy="2830625"/>
          </a:xfrm>
          <a:prstGeom prst="curvedConnector3">
            <a:avLst>
              <a:gd name="adj1" fmla="val 170095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0" name="Curved Connector 259">
            <a:extLst>
              <a:ext uri="{FF2B5EF4-FFF2-40B4-BE49-F238E27FC236}">
                <a16:creationId xmlns:a16="http://schemas.microsoft.com/office/drawing/2014/main" id="{FFEB1474-1871-4827-73F6-31313DC1F867}"/>
              </a:ext>
            </a:extLst>
          </p:cNvPr>
          <p:cNvCxnSpPr>
            <a:cxnSpLocks/>
            <a:stCxn id="185" idx="1"/>
            <a:endCxn id="245" idx="1"/>
          </p:cNvCxnSpPr>
          <p:nvPr/>
        </p:nvCxnSpPr>
        <p:spPr>
          <a:xfrm rot="10800000">
            <a:off x="1544829" y="1651000"/>
            <a:ext cx="2719" cy="2830625"/>
          </a:xfrm>
          <a:prstGeom prst="curvedConnector3">
            <a:avLst>
              <a:gd name="adj1" fmla="val 850750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3" name="Curved Connector 262">
            <a:extLst>
              <a:ext uri="{FF2B5EF4-FFF2-40B4-BE49-F238E27FC236}">
                <a16:creationId xmlns:a16="http://schemas.microsoft.com/office/drawing/2014/main" id="{CCA7A202-9E1E-629D-D403-0EE463D0548F}"/>
              </a:ext>
            </a:extLst>
          </p:cNvPr>
          <p:cNvCxnSpPr>
            <a:cxnSpLocks/>
            <a:stCxn id="184" idx="1"/>
            <a:endCxn id="246" idx="1"/>
          </p:cNvCxnSpPr>
          <p:nvPr/>
        </p:nvCxnSpPr>
        <p:spPr>
          <a:xfrm rot="10800000">
            <a:off x="647649" y="1651000"/>
            <a:ext cx="14149" cy="2830625"/>
          </a:xfrm>
          <a:prstGeom prst="curvedConnector3">
            <a:avLst>
              <a:gd name="adj1" fmla="val 171566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8" name="Rectangle 267">
                <a:extLst>
                  <a:ext uri="{FF2B5EF4-FFF2-40B4-BE49-F238E27FC236}">
                    <a16:creationId xmlns:a16="http://schemas.microsoft.com/office/drawing/2014/main" id="{DFE7D0F5-B46F-9F8A-5B8D-2423F4BF36A3}"/>
                  </a:ext>
                </a:extLst>
              </p:cNvPr>
              <p:cNvSpPr/>
              <p:nvPr/>
            </p:nvSpPr>
            <p:spPr>
              <a:xfrm>
                <a:off x="7774840" y="4263655"/>
                <a:ext cx="424732" cy="43593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𝑠</m:t>
                          </m:r>
                        </m:e>
                        <m:sub>
                          <m:r>
                            <a:rPr lang="en-US" altLang="zh-CN" b="0" i="1" smtClean="0">
                              <a:solidFill>
                                <a:schemeClr val="tx1"/>
                              </a:solidFill>
                              <a:latin typeface="Cambria Math" panose="02040503050406030204" pitchFamily="18" charset="0"/>
                            </a:rPr>
                            <m:t>1</m:t>
                          </m:r>
                        </m:sub>
                      </m:sSub>
                    </m:oMath>
                  </m:oMathPara>
                </a14:m>
                <a:endParaRPr lang="en-US" dirty="0"/>
              </a:p>
            </p:txBody>
          </p:sp>
        </mc:Choice>
        <mc:Fallback xmlns="">
          <p:sp>
            <p:nvSpPr>
              <p:cNvPr id="268" name="Rectangle 267">
                <a:extLst>
                  <a:ext uri="{FF2B5EF4-FFF2-40B4-BE49-F238E27FC236}">
                    <a16:creationId xmlns:a16="http://schemas.microsoft.com/office/drawing/2014/main" id="{DFE7D0F5-B46F-9F8A-5B8D-2423F4BF36A3}"/>
                  </a:ext>
                </a:extLst>
              </p:cNvPr>
              <p:cNvSpPr>
                <a:spLocks noRot="1" noChangeAspect="1" noMove="1" noResize="1" noEditPoints="1" noAdjustHandles="1" noChangeArrowheads="1" noChangeShapeType="1" noTextEdit="1"/>
              </p:cNvSpPr>
              <p:nvPr/>
            </p:nvSpPr>
            <p:spPr>
              <a:xfrm>
                <a:off x="7774840" y="4263655"/>
                <a:ext cx="424732" cy="435935"/>
              </a:xfrm>
              <a:prstGeom prst="rect">
                <a:avLst/>
              </a:prstGeom>
              <a:blipFill>
                <a:blip r:embed="rId3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9" name="TextBox 268">
                <a:extLst>
                  <a:ext uri="{FF2B5EF4-FFF2-40B4-BE49-F238E27FC236}">
                    <a16:creationId xmlns:a16="http://schemas.microsoft.com/office/drawing/2014/main" id="{7D50E188-465C-ED0F-1398-93A0B8C3A4B7}"/>
                  </a:ext>
                </a:extLst>
              </p:cNvPr>
              <p:cNvSpPr txBox="1"/>
              <p:nvPr/>
            </p:nvSpPr>
            <p:spPr>
              <a:xfrm>
                <a:off x="7760659" y="3447731"/>
                <a:ext cx="47365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1</m:t>
                          </m:r>
                        </m:sub>
                      </m:sSub>
                    </m:oMath>
                  </m:oMathPara>
                </a14:m>
                <a:endParaRPr lang="en-US" dirty="0"/>
              </a:p>
            </p:txBody>
          </p:sp>
        </mc:Choice>
        <mc:Fallback xmlns="">
          <p:sp>
            <p:nvSpPr>
              <p:cNvPr id="269" name="TextBox 268">
                <a:extLst>
                  <a:ext uri="{FF2B5EF4-FFF2-40B4-BE49-F238E27FC236}">
                    <a16:creationId xmlns:a16="http://schemas.microsoft.com/office/drawing/2014/main" id="{7D50E188-465C-ED0F-1398-93A0B8C3A4B7}"/>
                  </a:ext>
                </a:extLst>
              </p:cNvPr>
              <p:cNvSpPr txBox="1">
                <a:spLocks noRot="1" noChangeAspect="1" noMove="1" noResize="1" noEditPoints="1" noAdjustHandles="1" noChangeArrowheads="1" noChangeShapeType="1" noTextEdit="1"/>
              </p:cNvSpPr>
              <p:nvPr/>
            </p:nvSpPr>
            <p:spPr>
              <a:xfrm>
                <a:off x="7760659" y="3447731"/>
                <a:ext cx="473656" cy="369332"/>
              </a:xfrm>
              <a:prstGeom prst="rect">
                <a:avLst/>
              </a:prstGeom>
              <a:blipFill>
                <a:blip r:embed="rId32"/>
                <a:stretch>
                  <a:fillRect b="-10000"/>
                </a:stretch>
              </a:blipFill>
            </p:spPr>
            <p:txBody>
              <a:bodyPr/>
              <a:lstStyle/>
              <a:p>
                <a:r>
                  <a:rPr lang="en-US">
                    <a:noFill/>
                  </a:rPr>
                  <a:t> </a:t>
                </a:r>
              </a:p>
            </p:txBody>
          </p:sp>
        </mc:Fallback>
      </mc:AlternateContent>
      <p:cxnSp>
        <p:nvCxnSpPr>
          <p:cNvPr id="270" name="Straight Arrow Connector 269">
            <a:extLst>
              <a:ext uri="{FF2B5EF4-FFF2-40B4-BE49-F238E27FC236}">
                <a16:creationId xmlns:a16="http://schemas.microsoft.com/office/drawing/2014/main" id="{42C5C690-D31D-9E43-6BB0-82405AE69CAF}"/>
              </a:ext>
            </a:extLst>
          </p:cNvPr>
          <p:cNvCxnSpPr>
            <a:cxnSpLocks/>
          </p:cNvCxnSpPr>
          <p:nvPr/>
        </p:nvCxnSpPr>
        <p:spPr>
          <a:xfrm flipV="1">
            <a:off x="7994608" y="3878618"/>
            <a:ext cx="0" cy="38761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3" name="Straight Arrow Connector 272">
            <a:extLst>
              <a:ext uri="{FF2B5EF4-FFF2-40B4-BE49-F238E27FC236}">
                <a16:creationId xmlns:a16="http://schemas.microsoft.com/office/drawing/2014/main" id="{E9697C37-2BA7-FB63-1690-EE0DCF222174}"/>
              </a:ext>
            </a:extLst>
          </p:cNvPr>
          <p:cNvCxnSpPr>
            <a:cxnSpLocks/>
          </p:cNvCxnSpPr>
          <p:nvPr/>
        </p:nvCxnSpPr>
        <p:spPr>
          <a:xfrm flipV="1">
            <a:off x="8104622" y="4709300"/>
            <a:ext cx="0" cy="38761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5" name="Straight Arrow Connector 274">
            <a:extLst>
              <a:ext uri="{FF2B5EF4-FFF2-40B4-BE49-F238E27FC236}">
                <a16:creationId xmlns:a16="http://schemas.microsoft.com/office/drawing/2014/main" id="{4D1C5BE4-0546-984C-642F-C04E1F0F699B}"/>
              </a:ext>
            </a:extLst>
          </p:cNvPr>
          <p:cNvCxnSpPr>
            <a:cxnSpLocks/>
          </p:cNvCxnSpPr>
          <p:nvPr/>
        </p:nvCxnSpPr>
        <p:spPr>
          <a:xfrm flipV="1">
            <a:off x="7873961" y="4725773"/>
            <a:ext cx="0" cy="38761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6" name="TextBox 275">
            <a:extLst>
              <a:ext uri="{FF2B5EF4-FFF2-40B4-BE49-F238E27FC236}">
                <a16:creationId xmlns:a16="http://schemas.microsoft.com/office/drawing/2014/main" id="{924EEFC5-F38A-0F1A-C9BA-12B932697251}"/>
              </a:ext>
            </a:extLst>
          </p:cNvPr>
          <p:cNvSpPr txBox="1"/>
          <p:nvPr/>
        </p:nvSpPr>
        <p:spPr>
          <a:xfrm>
            <a:off x="7862760" y="2932457"/>
            <a:ext cx="248786" cy="369332"/>
          </a:xfrm>
          <a:prstGeom prst="rect">
            <a:avLst/>
          </a:prstGeom>
          <a:noFill/>
        </p:spPr>
        <p:txBody>
          <a:bodyPr wrap="none" rtlCol="0">
            <a:spAutoFit/>
          </a:bodyPr>
          <a:lstStyle/>
          <a:p>
            <a:r>
              <a:rPr lang="en-US" altLang="zh-CN" dirty="0"/>
              <a:t>I</a:t>
            </a:r>
            <a:endParaRPr lang="en-US" dirty="0"/>
          </a:p>
        </p:txBody>
      </p:sp>
      <p:sp>
        <p:nvSpPr>
          <p:cNvPr id="277" name="TextBox 276">
            <a:extLst>
              <a:ext uri="{FF2B5EF4-FFF2-40B4-BE49-F238E27FC236}">
                <a16:creationId xmlns:a16="http://schemas.microsoft.com/office/drawing/2014/main" id="{674FFD24-7604-21D0-C4B3-8D2D4862DAFB}"/>
              </a:ext>
            </a:extLst>
          </p:cNvPr>
          <p:cNvSpPr txBox="1"/>
          <p:nvPr/>
        </p:nvSpPr>
        <p:spPr>
          <a:xfrm>
            <a:off x="7564120" y="5524615"/>
            <a:ext cx="1048236" cy="369332"/>
          </a:xfrm>
          <a:prstGeom prst="rect">
            <a:avLst/>
          </a:prstGeom>
          <a:noFill/>
        </p:spPr>
        <p:txBody>
          <a:bodyPr wrap="none" rtlCol="0">
            <a:spAutoFit/>
          </a:bodyPr>
          <a:lstStyle/>
          <a:p>
            <a:r>
              <a:rPr lang="en-US" altLang="zh-CN" dirty="0"/>
              <a:t>[START]</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D27E0-3359-56D5-BC5E-2BE8AC187F82}"/>
            </a:ext>
          </a:extLst>
        </p:cNvPr>
        <p:cNvGrpSpPr/>
        <p:nvPr/>
      </p:nvGrpSpPr>
      <p:grpSpPr>
        <a:xfrm>
          <a:off x="0" y="0"/>
          <a:ext cx="0" cy="0"/>
          <a:chOff x="0" y="0"/>
          <a:chExt cx="0" cy="0"/>
        </a:xfrm>
      </p:grpSpPr>
      <p:sp>
        <p:nvSpPr>
          <p:cNvPr id="153" name="object 153">
            <a:extLst>
              <a:ext uri="{FF2B5EF4-FFF2-40B4-BE49-F238E27FC236}">
                <a16:creationId xmlns:a16="http://schemas.microsoft.com/office/drawing/2014/main" id="{C278B536-439A-21C9-A51A-E338561CFA96}"/>
              </a:ext>
            </a:extLst>
          </p:cNvPr>
          <p:cNvSpPr txBox="1"/>
          <p:nvPr/>
        </p:nvSpPr>
        <p:spPr>
          <a:xfrm>
            <a:off x="75718" y="6658539"/>
            <a:ext cx="5729465" cy="158163"/>
          </a:xfrm>
          <a:prstGeom prst="rect">
            <a:avLst/>
          </a:prstGeom>
        </p:spPr>
        <p:txBody>
          <a:bodyPr vert="horz" wrap="square" lIns="0" tIns="4233" rIns="0" bIns="0" rtlCol="0">
            <a:spAutoFit/>
          </a:bodyPr>
          <a:lstStyle/>
          <a:p>
            <a:pPr marL="16933">
              <a:spcBef>
                <a:spcPts val="33"/>
              </a:spcBef>
            </a:pPr>
            <a:r>
              <a:rPr sz="1000">
                <a:latin typeface="Arial"/>
                <a:cs typeface="Arial"/>
              </a:rPr>
              <a:t>Bahdanau</a:t>
            </a:r>
            <a:r>
              <a:rPr sz="1000" spc="-27">
                <a:latin typeface="Arial"/>
                <a:cs typeface="Arial"/>
              </a:rPr>
              <a:t> </a:t>
            </a:r>
            <a:r>
              <a:rPr sz="1000">
                <a:latin typeface="Arial"/>
                <a:cs typeface="Arial"/>
              </a:rPr>
              <a:t>et</a:t>
            </a:r>
            <a:r>
              <a:rPr sz="1000" spc="-13">
                <a:latin typeface="Arial"/>
                <a:cs typeface="Arial"/>
              </a:rPr>
              <a:t> </a:t>
            </a:r>
            <a:r>
              <a:rPr sz="1000">
                <a:latin typeface="Arial"/>
                <a:cs typeface="Arial"/>
              </a:rPr>
              <a:t>al,</a:t>
            </a:r>
            <a:r>
              <a:rPr sz="1000" spc="-13">
                <a:latin typeface="Arial"/>
                <a:cs typeface="Arial"/>
              </a:rPr>
              <a:t> </a:t>
            </a:r>
            <a:r>
              <a:rPr sz="1000">
                <a:latin typeface="Arial"/>
                <a:cs typeface="Arial"/>
              </a:rPr>
              <a:t>“Neural</a:t>
            </a:r>
            <a:r>
              <a:rPr sz="1000" spc="-7">
                <a:latin typeface="Arial"/>
                <a:cs typeface="Arial"/>
              </a:rPr>
              <a:t> </a:t>
            </a:r>
            <a:r>
              <a:rPr sz="1000">
                <a:latin typeface="Arial"/>
                <a:cs typeface="Arial"/>
              </a:rPr>
              <a:t>machine</a:t>
            </a:r>
            <a:r>
              <a:rPr sz="1000" spc="-13">
                <a:latin typeface="Arial"/>
                <a:cs typeface="Arial"/>
              </a:rPr>
              <a:t> translation </a:t>
            </a:r>
            <a:r>
              <a:rPr sz="1000">
                <a:latin typeface="Arial"/>
                <a:cs typeface="Arial"/>
              </a:rPr>
              <a:t>by</a:t>
            </a:r>
            <a:r>
              <a:rPr sz="1000" spc="-7">
                <a:latin typeface="Arial"/>
                <a:cs typeface="Arial"/>
              </a:rPr>
              <a:t> </a:t>
            </a:r>
            <a:r>
              <a:rPr sz="1000">
                <a:latin typeface="Arial"/>
                <a:cs typeface="Arial"/>
              </a:rPr>
              <a:t>jointly</a:t>
            </a:r>
            <a:r>
              <a:rPr sz="1000" spc="-13">
                <a:latin typeface="Arial"/>
                <a:cs typeface="Arial"/>
              </a:rPr>
              <a:t> </a:t>
            </a:r>
            <a:r>
              <a:rPr sz="1000">
                <a:latin typeface="Arial"/>
                <a:cs typeface="Arial"/>
              </a:rPr>
              <a:t>learning</a:t>
            </a:r>
            <a:r>
              <a:rPr sz="1000" spc="-13">
                <a:latin typeface="Arial"/>
                <a:cs typeface="Arial"/>
              </a:rPr>
              <a:t> </a:t>
            </a:r>
            <a:r>
              <a:rPr sz="1000">
                <a:latin typeface="Arial"/>
                <a:cs typeface="Arial"/>
              </a:rPr>
              <a:t>to</a:t>
            </a:r>
            <a:r>
              <a:rPr sz="1000" spc="-13">
                <a:latin typeface="Arial"/>
                <a:cs typeface="Arial"/>
              </a:rPr>
              <a:t> </a:t>
            </a:r>
            <a:r>
              <a:rPr sz="1000">
                <a:latin typeface="Arial"/>
                <a:cs typeface="Arial"/>
              </a:rPr>
              <a:t>align</a:t>
            </a:r>
            <a:r>
              <a:rPr sz="1000" spc="-7">
                <a:latin typeface="Arial"/>
                <a:cs typeface="Arial"/>
              </a:rPr>
              <a:t> </a:t>
            </a:r>
            <a:r>
              <a:rPr sz="1000">
                <a:latin typeface="Arial"/>
                <a:cs typeface="Arial"/>
              </a:rPr>
              <a:t>and</a:t>
            </a:r>
            <a:r>
              <a:rPr sz="1000" spc="-13">
                <a:latin typeface="Arial"/>
                <a:cs typeface="Arial"/>
              </a:rPr>
              <a:t> translate”, </a:t>
            </a:r>
            <a:r>
              <a:rPr sz="1000">
                <a:latin typeface="Arial"/>
                <a:cs typeface="Arial"/>
              </a:rPr>
              <a:t>ICLR</a:t>
            </a:r>
            <a:r>
              <a:rPr lang="zh-CN" altLang="en-US" sz="1000" spc="-7">
                <a:latin typeface="Arial"/>
                <a:cs typeface="Arial"/>
              </a:rPr>
              <a:t> </a:t>
            </a:r>
            <a:r>
              <a:rPr sz="1000" spc="-27">
                <a:latin typeface="Arial"/>
                <a:cs typeface="Arial"/>
              </a:rPr>
              <a:t>201</a:t>
            </a:r>
            <a:r>
              <a:rPr lang="en-US" altLang="zh-CN" sz="1000" spc="-27">
                <a:latin typeface="Arial"/>
                <a:cs typeface="Arial"/>
              </a:rPr>
              <a:t>5</a:t>
            </a:r>
            <a:endParaRPr sz="2400">
              <a:latin typeface="Arial"/>
              <a:cs typeface="Arial"/>
            </a:endParaRPr>
          </a:p>
        </p:txBody>
      </p:sp>
      <mc:AlternateContent xmlns:mc="http://schemas.openxmlformats.org/markup-compatibility/2006" xmlns:a14="http://schemas.microsoft.com/office/drawing/2010/main">
        <mc:Choice Requires="a14">
          <p:sp>
            <p:nvSpPr>
              <p:cNvPr id="123" name="object 145">
                <a:extLst>
                  <a:ext uri="{FF2B5EF4-FFF2-40B4-BE49-F238E27FC236}">
                    <a16:creationId xmlns:a16="http://schemas.microsoft.com/office/drawing/2014/main" id="{EB19E15E-C89A-C706-562E-760204679A00}"/>
                  </a:ext>
                </a:extLst>
              </p:cNvPr>
              <p:cNvSpPr txBox="1"/>
              <p:nvPr/>
            </p:nvSpPr>
            <p:spPr>
              <a:xfrm>
                <a:off x="8480247" y="4145507"/>
                <a:ext cx="3626841" cy="1225186"/>
              </a:xfrm>
              <a:prstGeom prst="rect">
                <a:avLst/>
              </a:prstGeom>
            </p:spPr>
            <p:txBody>
              <a:bodyPr vert="horz" wrap="square" lIns="0" tIns="16933" rIns="0" bIns="0" rtlCol="0">
                <a:spAutoFit/>
              </a:bodyPr>
              <a:lstStyle/>
              <a:p>
                <a:pPr marL="101597" marR="57572">
                  <a:spcBef>
                    <a:spcPts val="1773"/>
                  </a:spcBef>
                </a:pPr>
                <a:r>
                  <a:rPr lang="en-US" sz="2000" spc="-13" err="1">
                    <a:latin typeface="Microsoft YaHei" panose="020B0503020204020204" pitchFamily="34" charset="-122"/>
                    <a:ea typeface="Microsoft YaHei" panose="020B0503020204020204" pitchFamily="34" charset="-122"/>
                    <a:cs typeface="Calibri" panose="020F0502020204030204" pitchFamily="34" charset="0"/>
                  </a:rPr>
                  <a:t>通过加权平均计算上下文向量</a:t>
                </a:r>
                <a:endParaRPr lang="en-US" sz="2000" spc="-13">
                  <a:latin typeface="Microsoft YaHei" panose="020B0503020204020204" pitchFamily="34" charset="-122"/>
                  <a:ea typeface="Microsoft YaHei" panose="020B0503020204020204" pitchFamily="34" charset="-122"/>
                  <a:cs typeface="Calibri" panose="020F0502020204030204" pitchFamily="34" charset="0"/>
                </a:endParaRPr>
              </a:p>
              <a:p>
                <a:pPr marL="101597" marR="57572">
                  <a:spcBef>
                    <a:spcPts val="1773"/>
                  </a:spcBef>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𝑐</m:t>
                          </m:r>
                        </m:e>
                        <m:sub>
                          <m:r>
                            <a:rPr lang="en-US" sz="2000" b="0" i="1" smtClean="0">
                              <a:latin typeface="Cambria Math" panose="02040503050406030204" pitchFamily="18" charset="0"/>
                              <a:cs typeface="Calibri" panose="020F0502020204030204" pitchFamily="34" charset="0"/>
                            </a:rPr>
                            <m:t>𝑖</m:t>
                          </m:r>
                        </m:sub>
                      </m:sSub>
                      <m:r>
                        <a:rPr lang="en-US" sz="2000" b="0" i="1" smtClean="0">
                          <a:latin typeface="Cambria Math" panose="02040503050406030204" pitchFamily="18" charset="0"/>
                          <a:cs typeface="Calibri" panose="020F0502020204030204" pitchFamily="34" charset="0"/>
                        </a:rPr>
                        <m:t>=</m:t>
                      </m:r>
                      <m:nary>
                        <m:naryPr>
                          <m:chr m:val="∑"/>
                          <m:ctrlPr>
                            <a:rPr lang="en-US" sz="2000" b="0" i="1" smtClean="0">
                              <a:latin typeface="Cambria Math" panose="02040503050406030204" pitchFamily="18" charset="0"/>
                              <a:cs typeface="Calibri" panose="020F0502020204030204" pitchFamily="34" charset="0"/>
                            </a:rPr>
                          </m:ctrlPr>
                        </m:naryPr>
                        <m:sub>
                          <m:r>
                            <m:rPr>
                              <m:brk m:alnAt="23"/>
                            </m:rPr>
                            <a:rPr lang="en-US" sz="2000" b="0" i="1" smtClean="0">
                              <a:latin typeface="Cambria Math" panose="02040503050406030204" pitchFamily="18" charset="0"/>
                              <a:cs typeface="Calibri" panose="020F0502020204030204" pitchFamily="34" charset="0"/>
                            </a:rPr>
                            <m:t>𝑗</m:t>
                          </m:r>
                          <m:r>
                            <a:rPr lang="en-US" sz="2000" b="0" i="1" smtClean="0">
                              <a:latin typeface="Cambria Math" panose="02040503050406030204" pitchFamily="18" charset="0"/>
                              <a:cs typeface="Calibri" panose="020F0502020204030204" pitchFamily="34" charset="0"/>
                            </a:rPr>
                            <m:t>=1</m:t>
                          </m:r>
                        </m:sub>
                        <m:sup>
                          <m:r>
                            <a:rPr lang="en-US" sz="2000" b="0" i="1" smtClean="0">
                              <a:latin typeface="Cambria Math" panose="02040503050406030204" pitchFamily="18" charset="0"/>
                              <a:cs typeface="Calibri" panose="020F0502020204030204" pitchFamily="34" charset="0"/>
                            </a:rPr>
                            <m:t>𝑇</m:t>
                          </m:r>
                        </m:sup>
                        <m:e>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𝑎</m:t>
                              </m:r>
                            </m:e>
                            <m:sub>
                              <m:r>
                                <a:rPr lang="en-US" sz="2000" b="0" i="1" smtClean="0">
                                  <a:latin typeface="Cambria Math" panose="02040503050406030204" pitchFamily="18" charset="0"/>
                                  <a:cs typeface="Calibri" panose="020F0502020204030204" pitchFamily="34" charset="0"/>
                                </a:rPr>
                                <m:t>𝑖</m:t>
                              </m:r>
                              <m:r>
                                <a:rPr lang="en-US" sz="2000" b="0" i="1" smtClean="0">
                                  <a:latin typeface="Cambria Math" panose="02040503050406030204" pitchFamily="18" charset="0"/>
                                  <a:cs typeface="Calibri" panose="020F0502020204030204" pitchFamily="34" charset="0"/>
                                </a:rPr>
                                <m:t>,</m:t>
                              </m:r>
                              <m:r>
                                <a:rPr lang="en-US" sz="2000" b="0" i="1" smtClean="0">
                                  <a:latin typeface="Cambria Math" panose="02040503050406030204" pitchFamily="18" charset="0"/>
                                  <a:cs typeface="Calibri" panose="020F0502020204030204" pitchFamily="34" charset="0"/>
                                </a:rPr>
                                <m:t>𝑗</m:t>
                              </m:r>
                            </m:sub>
                          </m:sSub>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h</m:t>
                              </m:r>
                            </m:e>
                            <m:sub>
                              <m:r>
                                <a:rPr lang="en-US" sz="2000" b="0" i="1" smtClean="0">
                                  <a:latin typeface="Cambria Math" panose="02040503050406030204" pitchFamily="18" charset="0"/>
                                  <a:cs typeface="Calibri" panose="020F0502020204030204" pitchFamily="34" charset="0"/>
                                </a:rPr>
                                <m:t>𝑗</m:t>
                              </m:r>
                            </m:sub>
                          </m:sSub>
                        </m:e>
                      </m:nary>
                    </m:oMath>
                  </m:oMathPara>
                </a14:m>
                <a:endParaRPr sz="2000">
                  <a:latin typeface="Microsoft YaHei" panose="020B0503020204020204" pitchFamily="34" charset="-122"/>
                  <a:ea typeface="Microsoft YaHei" panose="020B0503020204020204" pitchFamily="34" charset="-122"/>
                  <a:cs typeface="Calibri" panose="020F0502020204030204" pitchFamily="34" charset="0"/>
                </a:endParaRPr>
              </a:p>
            </p:txBody>
          </p:sp>
        </mc:Choice>
        <mc:Fallback xmlns="">
          <p:sp>
            <p:nvSpPr>
              <p:cNvPr id="123" name="object 145">
                <a:extLst>
                  <a:ext uri="{FF2B5EF4-FFF2-40B4-BE49-F238E27FC236}">
                    <a16:creationId xmlns:a16="http://schemas.microsoft.com/office/drawing/2014/main" id="{EB19E15E-C89A-C706-562E-760204679A00}"/>
                  </a:ext>
                </a:extLst>
              </p:cNvPr>
              <p:cNvSpPr txBox="1">
                <a:spLocks noRot="1" noChangeAspect="1" noMove="1" noResize="1" noEditPoints="1" noAdjustHandles="1" noChangeArrowheads="1" noChangeShapeType="1" noTextEdit="1"/>
              </p:cNvSpPr>
              <p:nvPr/>
            </p:nvSpPr>
            <p:spPr>
              <a:xfrm>
                <a:off x="8480247" y="4145507"/>
                <a:ext cx="3626841" cy="1225186"/>
              </a:xfrm>
              <a:prstGeom prst="rect">
                <a:avLst/>
              </a:prstGeom>
              <a:blipFill>
                <a:blip r:embed="rId3"/>
                <a:stretch>
                  <a:fillRect l="-1394" t="-54639" b="-120619"/>
                </a:stretch>
              </a:blipFill>
            </p:spPr>
            <p:txBody>
              <a:bodyPr/>
              <a:lstStyle/>
              <a:p>
                <a:r>
                  <a:rPr lang="en-US">
                    <a:noFill/>
                  </a:rPr>
                  <a:t> </a:t>
                </a:r>
              </a:p>
            </p:txBody>
          </p:sp>
        </mc:Fallback>
      </mc:AlternateContent>
      <p:grpSp>
        <p:nvGrpSpPr>
          <p:cNvPr id="130" name="Group 129">
            <a:extLst>
              <a:ext uri="{FF2B5EF4-FFF2-40B4-BE49-F238E27FC236}">
                <a16:creationId xmlns:a16="http://schemas.microsoft.com/office/drawing/2014/main" id="{2092C640-D6D1-EEA1-88F9-41E166971253}"/>
              </a:ext>
            </a:extLst>
          </p:cNvPr>
          <p:cNvGrpSpPr/>
          <p:nvPr/>
        </p:nvGrpSpPr>
        <p:grpSpPr>
          <a:xfrm>
            <a:off x="0" y="-1589"/>
            <a:ext cx="12191999" cy="768585"/>
            <a:chOff x="0" y="-1589"/>
            <a:chExt cx="12191999" cy="768585"/>
          </a:xfrm>
        </p:grpSpPr>
        <p:grpSp>
          <p:nvGrpSpPr>
            <p:cNvPr id="131" name="Group 9">
              <a:extLst>
                <a:ext uri="{FF2B5EF4-FFF2-40B4-BE49-F238E27FC236}">
                  <a16:creationId xmlns:a16="http://schemas.microsoft.com/office/drawing/2014/main" id="{A6320032-DD0C-40FA-A949-C2DCAFBBDF1F}"/>
                </a:ext>
              </a:extLst>
            </p:cNvPr>
            <p:cNvGrpSpPr>
              <a:grpSpLocks noChangeAspect="1"/>
            </p:cNvGrpSpPr>
            <p:nvPr/>
          </p:nvGrpSpPr>
          <p:grpSpPr bwMode="auto">
            <a:xfrm>
              <a:off x="0" y="-1589"/>
              <a:ext cx="12191999" cy="767234"/>
              <a:chOff x="-1" y="-1"/>
              <a:chExt cx="7719" cy="568"/>
            </a:xfrm>
          </p:grpSpPr>
          <p:sp>
            <p:nvSpPr>
              <p:cNvPr id="146" name="Freeform 145">
                <a:extLst>
                  <a:ext uri="{FF2B5EF4-FFF2-40B4-BE49-F238E27FC236}">
                    <a16:creationId xmlns:a16="http://schemas.microsoft.com/office/drawing/2014/main" id="{0A0BC479-DD83-3AFC-B0BB-24ABCE6263CB}"/>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47" name="AutoShape 8">
                <a:extLst>
                  <a:ext uri="{FF2B5EF4-FFF2-40B4-BE49-F238E27FC236}">
                    <a16:creationId xmlns:a16="http://schemas.microsoft.com/office/drawing/2014/main" id="{016E3C75-FAC7-F679-3DF8-B437EAFC01A0}"/>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135" name="任意多边形: 形状 12">
              <a:extLst>
                <a:ext uri="{FF2B5EF4-FFF2-40B4-BE49-F238E27FC236}">
                  <a16:creationId xmlns:a16="http://schemas.microsoft.com/office/drawing/2014/main" id="{B2E2E726-6509-E9C0-34B6-9C2564C2DA0E}"/>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45" name="文本框 18">
              <a:extLst>
                <a:ext uri="{FF2B5EF4-FFF2-40B4-BE49-F238E27FC236}">
                  <a16:creationId xmlns:a16="http://schemas.microsoft.com/office/drawing/2014/main" id="{4AA609A2-E631-0BBB-7A5D-4CECDA9BB292}"/>
                </a:ext>
              </a:extLst>
            </p:cNvPr>
            <p:cNvSpPr txBox="1"/>
            <p:nvPr/>
          </p:nvSpPr>
          <p:spPr>
            <a:xfrm>
              <a:off x="350439" y="120418"/>
              <a:ext cx="3477234" cy="523220"/>
            </a:xfrm>
            <a:prstGeom prst="rect">
              <a:avLst/>
            </a:prstGeom>
            <a:noFill/>
          </p:spPr>
          <p:txBody>
            <a:bodyPr wrap="none" rtlCol="0">
              <a:spAutoFit/>
            </a:bodyPr>
            <a:lstStyle/>
            <a:p>
              <a:pPr>
                <a:defRPr/>
              </a:pPr>
              <a:r>
                <a:rPr lang="zh-CN" altLang="en-US" sz="2800" b="1">
                  <a:solidFill>
                    <a:prstClr val="white"/>
                  </a:solidFill>
                  <a:cs typeface="+mn-ea"/>
                  <a:sym typeface="+mn-lt"/>
                </a:rPr>
                <a:t>在</a:t>
              </a:r>
              <a:r>
                <a:rPr lang="en-US" altLang="zh-CN" sz="2800" b="1">
                  <a:solidFill>
                    <a:prstClr val="white"/>
                  </a:solidFill>
                  <a:cs typeface="+mn-ea"/>
                  <a:sym typeface="+mn-lt"/>
                </a:rPr>
                <a:t>RNN</a:t>
              </a:r>
              <a:r>
                <a:rPr lang="zh-CN" altLang="en-US" sz="2800" b="1">
                  <a:solidFill>
                    <a:prstClr val="white"/>
                  </a:solidFill>
                  <a:cs typeface="+mn-ea"/>
                  <a:sym typeface="+mn-lt"/>
                </a:rPr>
                <a:t>中使用注意力</a:t>
              </a:r>
            </a:p>
          </p:txBody>
        </p:sp>
      </p:grpSp>
      <mc:AlternateContent xmlns:mc="http://schemas.openxmlformats.org/markup-compatibility/2006" xmlns:a14="http://schemas.microsoft.com/office/drawing/2010/main">
        <mc:Choice Requires="a14">
          <p:sp>
            <p:nvSpPr>
              <p:cNvPr id="148" name="object 82">
                <a:extLst>
                  <a:ext uri="{FF2B5EF4-FFF2-40B4-BE49-F238E27FC236}">
                    <a16:creationId xmlns:a16="http://schemas.microsoft.com/office/drawing/2014/main" id="{A77D9615-4832-6803-2F86-552D5653C141}"/>
                  </a:ext>
                </a:extLst>
              </p:cNvPr>
              <p:cNvSpPr txBox="1"/>
              <p:nvPr/>
            </p:nvSpPr>
            <p:spPr>
              <a:xfrm>
                <a:off x="8436091" y="2986577"/>
                <a:ext cx="2949432" cy="1005895"/>
              </a:xfrm>
              <a:prstGeom prst="rect">
                <a:avLst/>
              </a:prstGeom>
            </p:spPr>
            <p:txBody>
              <a:bodyPr vert="horz" wrap="square" lIns="0" tIns="16933" rIns="0" bIns="0" rtlCol="0">
                <a:spAutoFit/>
              </a:bodyPr>
              <a:lstStyle/>
              <a:p>
                <a:pPr marL="84665" marR="40639">
                  <a:spcBef>
                    <a:spcPts val="133"/>
                  </a:spcBef>
                </a:pPr>
                <a:r>
                  <a:rPr lang="en-US" sz="2000">
                    <a:latin typeface="Microsoft YaHei" panose="020B0503020204020204" pitchFamily="34" charset="-122"/>
                    <a:ea typeface="Microsoft YaHei" panose="020B0503020204020204" pitchFamily="34" charset="-122"/>
                    <a:cs typeface="Calibri" panose="020F0502020204030204" pitchFamily="34" charset="0"/>
                  </a:rPr>
                  <a:t>得到注意力权重</a:t>
                </a:r>
              </a:p>
              <a:p>
                <a:pPr marL="84665" marR="40639">
                  <a:spcBef>
                    <a:spcPts val="133"/>
                  </a:spcBef>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𝑎</m:t>
                          </m:r>
                        </m:e>
                        <m:sub>
                          <m:r>
                            <a:rPr lang="en-US" sz="2000" b="0" i="1" smtClean="0">
                              <a:latin typeface="Cambria Math" panose="02040503050406030204" pitchFamily="18" charset="0"/>
                              <a:cs typeface="Calibri" panose="020F0502020204030204" pitchFamily="34" charset="0"/>
                            </a:rPr>
                            <m:t>𝑖</m:t>
                          </m:r>
                          <m:r>
                            <a:rPr lang="en-US" sz="2000" b="0" i="1" smtClean="0">
                              <a:latin typeface="Cambria Math" panose="02040503050406030204" pitchFamily="18" charset="0"/>
                              <a:cs typeface="Calibri" panose="020F0502020204030204" pitchFamily="34" charset="0"/>
                            </a:rPr>
                            <m:t>,</m:t>
                          </m:r>
                          <m:r>
                            <a:rPr lang="en-US" sz="2000" b="0" i="1" smtClean="0">
                              <a:latin typeface="Cambria Math" panose="02040503050406030204" pitchFamily="18" charset="0"/>
                              <a:cs typeface="Calibri" panose="020F0502020204030204" pitchFamily="34" charset="0"/>
                            </a:rPr>
                            <m:t>𝑗</m:t>
                          </m:r>
                        </m:sub>
                      </m:sSub>
                      <m:r>
                        <a:rPr lang="en-US" sz="2000" b="0" i="1" smtClean="0">
                          <a:latin typeface="Cambria Math" panose="02040503050406030204" pitchFamily="18" charset="0"/>
                          <a:cs typeface="Calibri" panose="020F0502020204030204" pitchFamily="34" charset="0"/>
                        </a:rPr>
                        <m:t>=</m:t>
                      </m:r>
                      <m:f>
                        <m:fPr>
                          <m:ctrlPr>
                            <a:rPr lang="en-US" sz="2000" b="0" i="1" smtClean="0">
                              <a:latin typeface="Cambria Math" panose="02040503050406030204" pitchFamily="18" charset="0"/>
                              <a:cs typeface="Calibri" panose="020F0502020204030204" pitchFamily="34" charset="0"/>
                            </a:rPr>
                          </m:ctrlPr>
                        </m:fPr>
                        <m:num>
                          <m:r>
                            <m:rPr>
                              <m:sty m:val="p"/>
                            </m:rPr>
                            <a:rPr lang="en-US" sz="2000" b="0" i="0" smtClean="0">
                              <a:latin typeface="Cambria Math" panose="02040503050406030204" pitchFamily="18" charset="0"/>
                              <a:cs typeface="Calibri" panose="020F0502020204030204" pitchFamily="34" charset="0"/>
                            </a:rPr>
                            <m:t>exp</m:t>
                          </m:r>
                          <m:r>
                            <a:rPr lang="en-US" sz="2000" b="0" i="1" smtClean="0">
                              <a:latin typeface="Cambria Math" panose="02040503050406030204" pitchFamily="18" charset="0"/>
                              <a:cs typeface="Calibri" panose="020F0502020204030204" pitchFamily="34" charset="0"/>
                            </a:rPr>
                            <m:t>⁡(</m:t>
                          </m:r>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𝑒</m:t>
                              </m:r>
                            </m:e>
                            <m:sub>
                              <m:r>
                                <a:rPr lang="en-US" sz="2000" b="0" i="1" smtClean="0">
                                  <a:latin typeface="Cambria Math" panose="02040503050406030204" pitchFamily="18" charset="0"/>
                                  <a:cs typeface="Calibri" panose="020F0502020204030204" pitchFamily="34" charset="0"/>
                                </a:rPr>
                                <m:t>𝑖</m:t>
                              </m:r>
                              <m:r>
                                <a:rPr lang="en-US" sz="2000" b="0" i="1" smtClean="0">
                                  <a:latin typeface="Cambria Math" panose="02040503050406030204" pitchFamily="18" charset="0"/>
                                  <a:cs typeface="Calibri" panose="020F0502020204030204" pitchFamily="34" charset="0"/>
                                </a:rPr>
                                <m:t>,</m:t>
                              </m:r>
                              <m:r>
                                <a:rPr lang="en-US" sz="2000" b="0" i="1" smtClean="0">
                                  <a:latin typeface="Cambria Math" panose="02040503050406030204" pitchFamily="18" charset="0"/>
                                  <a:cs typeface="Calibri" panose="020F0502020204030204" pitchFamily="34" charset="0"/>
                                </a:rPr>
                                <m:t>𝑗</m:t>
                              </m:r>
                            </m:sub>
                          </m:sSub>
                          <m:r>
                            <a:rPr lang="en-US" sz="2000" b="0" i="1" smtClean="0">
                              <a:latin typeface="Cambria Math" panose="02040503050406030204" pitchFamily="18" charset="0"/>
                              <a:cs typeface="Calibri" panose="020F0502020204030204" pitchFamily="34" charset="0"/>
                            </a:rPr>
                            <m:t>)</m:t>
                          </m:r>
                        </m:num>
                        <m:den>
                          <m:nary>
                            <m:naryPr>
                              <m:chr m:val="∑"/>
                              <m:ctrlPr>
                                <a:rPr lang="en-US" sz="2000" b="0" i="1" smtClean="0">
                                  <a:latin typeface="Cambria Math" panose="02040503050406030204" pitchFamily="18" charset="0"/>
                                  <a:cs typeface="Calibri" panose="020F0502020204030204" pitchFamily="34" charset="0"/>
                                </a:rPr>
                              </m:ctrlPr>
                            </m:naryPr>
                            <m:sub>
                              <m:r>
                                <m:rPr>
                                  <m:brk m:alnAt="23"/>
                                </m:rPr>
                                <a:rPr lang="en-US" sz="2000" b="0" i="1" smtClean="0">
                                  <a:latin typeface="Cambria Math" panose="02040503050406030204" pitchFamily="18" charset="0"/>
                                  <a:cs typeface="Calibri" panose="020F0502020204030204" pitchFamily="34" charset="0"/>
                                </a:rPr>
                                <m:t>𝑘</m:t>
                              </m:r>
                              <m:r>
                                <a:rPr lang="en-US" sz="2000" b="0" i="1" smtClean="0">
                                  <a:latin typeface="Cambria Math" panose="02040503050406030204" pitchFamily="18" charset="0"/>
                                  <a:cs typeface="Calibri" panose="020F0502020204030204" pitchFamily="34" charset="0"/>
                                </a:rPr>
                                <m:t>=1</m:t>
                              </m:r>
                            </m:sub>
                            <m:sup>
                              <m:r>
                                <a:rPr lang="en-US" sz="2000" b="0" i="1" smtClean="0">
                                  <a:latin typeface="Cambria Math" panose="02040503050406030204" pitchFamily="18" charset="0"/>
                                  <a:cs typeface="Calibri" panose="020F0502020204030204" pitchFamily="34" charset="0"/>
                                </a:rPr>
                                <m:t>𝑇</m:t>
                              </m:r>
                            </m:sup>
                            <m:e>
                              <m:r>
                                <m:rPr>
                                  <m:sty m:val="p"/>
                                </m:rPr>
                                <a:rPr lang="en-US" sz="2000" b="0" i="0" smtClean="0">
                                  <a:latin typeface="Cambria Math" panose="02040503050406030204" pitchFamily="18" charset="0"/>
                                  <a:cs typeface="Calibri" panose="020F0502020204030204" pitchFamily="34" charset="0"/>
                                </a:rPr>
                                <m:t>exp</m:t>
                              </m:r>
                              <m:r>
                                <a:rPr lang="en-US" sz="2000" b="0" i="1" smtClean="0">
                                  <a:latin typeface="Cambria Math" panose="02040503050406030204" pitchFamily="18" charset="0"/>
                                  <a:cs typeface="Calibri" panose="020F0502020204030204" pitchFamily="34" charset="0"/>
                                </a:rPr>
                                <m:t>⁡(</m:t>
                              </m:r>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𝑒</m:t>
                                  </m:r>
                                </m:e>
                                <m:sub>
                                  <m:r>
                                    <a:rPr lang="en-US" sz="2000" b="0" i="1" smtClean="0">
                                      <a:latin typeface="Cambria Math" panose="02040503050406030204" pitchFamily="18" charset="0"/>
                                      <a:cs typeface="Calibri" panose="020F0502020204030204" pitchFamily="34" charset="0"/>
                                    </a:rPr>
                                    <m:t>𝑖</m:t>
                                  </m:r>
                                  <m:r>
                                    <a:rPr lang="en-US" sz="2000" b="0" i="1" smtClean="0">
                                      <a:latin typeface="Cambria Math" panose="02040503050406030204" pitchFamily="18" charset="0"/>
                                      <a:cs typeface="Calibri" panose="020F0502020204030204" pitchFamily="34" charset="0"/>
                                    </a:rPr>
                                    <m:t>,</m:t>
                                  </m:r>
                                  <m:r>
                                    <a:rPr lang="en-US" sz="2000" b="0" i="1" smtClean="0">
                                      <a:latin typeface="Cambria Math" panose="02040503050406030204" pitchFamily="18" charset="0"/>
                                      <a:cs typeface="Calibri" panose="020F0502020204030204" pitchFamily="34" charset="0"/>
                                    </a:rPr>
                                    <m:t>𝑘</m:t>
                                  </m:r>
                                </m:sub>
                              </m:sSub>
                              <m:r>
                                <a:rPr lang="en-US" sz="2000" b="0" i="1" smtClean="0">
                                  <a:latin typeface="Cambria Math" panose="02040503050406030204" pitchFamily="18" charset="0"/>
                                  <a:cs typeface="Calibri" panose="020F0502020204030204" pitchFamily="34" charset="0"/>
                                </a:rPr>
                                <m:t>)</m:t>
                              </m:r>
                            </m:e>
                          </m:nary>
                        </m:den>
                      </m:f>
                    </m:oMath>
                  </m:oMathPara>
                </a14:m>
                <a:endParaRPr sz="2000">
                  <a:latin typeface="Microsoft YaHei" panose="020B0503020204020204" pitchFamily="34" charset="-122"/>
                  <a:ea typeface="Microsoft YaHei" panose="020B0503020204020204" pitchFamily="34" charset="-122"/>
                  <a:cs typeface="Calibri" panose="020F0502020204030204" pitchFamily="34" charset="0"/>
                </a:endParaRPr>
              </a:p>
            </p:txBody>
          </p:sp>
        </mc:Choice>
        <mc:Fallback xmlns="">
          <p:sp>
            <p:nvSpPr>
              <p:cNvPr id="148" name="object 82">
                <a:extLst>
                  <a:ext uri="{FF2B5EF4-FFF2-40B4-BE49-F238E27FC236}">
                    <a16:creationId xmlns:a16="http://schemas.microsoft.com/office/drawing/2014/main" id="{A77D9615-4832-6803-2F86-552D5653C141}"/>
                  </a:ext>
                </a:extLst>
              </p:cNvPr>
              <p:cNvSpPr txBox="1">
                <a:spLocks noRot="1" noChangeAspect="1" noMove="1" noResize="1" noEditPoints="1" noAdjustHandles="1" noChangeArrowheads="1" noChangeShapeType="1" noTextEdit="1"/>
              </p:cNvSpPr>
              <p:nvPr/>
            </p:nvSpPr>
            <p:spPr>
              <a:xfrm>
                <a:off x="8436091" y="2986577"/>
                <a:ext cx="2949432" cy="1005895"/>
              </a:xfrm>
              <a:prstGeom prst="rect">
                <a:avLst/>
              </a:prstGeom>
              <a:blipFill>
                <a:blip r:embed="rId4"/>
                <a:stretch>
                  <a:fillRect l="-2575" t="-6250" b="-73750"/>
                </a:stretch>
              </a:blipFill>
            </p:spPr>
            <p:txBody>
              <a:bodyPr/>
              <a:lstStyle/>
              <a:p>
                <a:r>
                  <a:rPr lang="en-US">
                    <a:noFill/>
                  </a:rPr>
                  <a:t> </a:t>
                </a:r>
              </a:p>
            </p:txBody>
          </p:sp>
        </mc:Fallback>
      </mc:AlternateContent>
      <p:sp>
        <p:nvSpPr>
          <p:cNvPr id="149" name="object 37">
            <a:extLst>
              <a:ext uri="{FF2B5EF4-FFF2-40B4-BE49-F238E27FC236}">
                <a16:creationId xmlns:a16="http://schemas.microsoft.com/office/drawing/2014/main" id="{5AAE064A-AA68-4D52-FA50-133F0F0A0102}"/>
              </a:ext>
            </a:extLst>
          </p:cNvPr>
          <p:cNvSpPr txBox="1"/>
          <p:nvPr/>
        </p:nvSpPr>
        <p:spPr>
          <a:xfrm>
            <a:off x="4436928" y="2832407"/>
            <a:ext cx="2779607" cy="632651"/>
          </a:xfrm>
          <a:prstGeom prst="rect">
            <a:avLst/>
          </a:prstGeom>
        </p:spPr>
        <p:txBody>
          <a:bodyPr vert="horz" wrap="square" lIns="0" tIns="16933" rIns="0" bIns="0" rtlCol="0">
            <a:spAutoFit/>
          </a:bodyPr>
          <a:lstStyle/>
          <a:p>
            <a:pPr marL="50799">
              <a:spcBef>
                <a:spcPts val="133"/>
              </a:spcBef>
            </a:pPr>
            <a:r>
              <a:rPr lang="en-US" sz="2000" err="1">
                <a:latin typeface="Microsoft YaHei" panose="020B0503020204020204" pitchFamily="34" charset="-122"/>
                <a:ea typeface="Microsoft YaHei" panose="020B0503020204020204" pitchFamily="34" charset="-122"/>
                <a:cs typeface="Calibri" panose="020F0502020204030204" pitchFamily="34" charset="0"/>
              </a:rPr>
              <a:t>来自最后一个隐向量</a:t>
            </a:r>
            <a:r>
              <a:rPr sz="2000" spc="-13">
                <a:latin typeface="Microsoft YaHei" panose="020B0503020204020204" pitchFamily="34" charset="-122"/>
                <a:ea typeface="Microsoft YaHei" panose="020B0503020204020204" pitchFamily="34" charset="-122"/>
                <a:cs typeface="Calibri" panose="020F0502020204030204" pitchFamily="34" charset="0"/>
              </a:rPr>
              <a:t>:</a:t>
            </a:r>
            <a:endParaRPr sz="2000">
              <a:latin typeface="Microsoft YaHei" panose="020B0503020204020204" pitchFamily="34" charset="-122"/>
              <a:ea typeface="Microsoft YaHei" panose="020B0503020204020204" pitchFamily="34" charset="-122"/>
              <a:cs typeface="Calibri" panose="020F0502020204030204" pitchFamily="34" charset="0"/>
            </a:endParaRPr>
          </a:p>
          <a:p>
            <a:pPr marL="50799"/>
            <a:r>
              <a:rPr lang="en-US" sz="2000" b="1">
                <a:latin typeface="Microsoft YaHei" panose="020B0503020204020204" pitchFamily="34" charset="-122"/>
                <a:ea typeface="Microsoft YaHei" panose="020B0503020204020204" pitchFamily="34" charset="-122"/>
                <a:cs typeface="Calibri" panose="020F0502020204030204" pitchFamily="34" charset="0"/>
              </a:rPr>
              <a:t>解码器初始隐向量</a:t>
            </a:r>
            <a:r>
              <a:rPr sz="2000" spc="-33">
                <a:latin typeface="Microsoft YaHei" panose="020B0503020204020204" pitchFamily="34" charset="-122"/>
                <a:ea typeface="Microsoft YaHei" panose="020B0503020204020204" pitchFamily="34" charset="-122"/>
                <a:cs typeface="Calibri" panose="020F0502020204030204" pitchFamily="34" charset="0"/>
              </a:rPr>
              <a:t>s</a:t>
            </a:r>
            <a:r>
              <a:rPr sz="2000" spc="-49" baseline="-30555">
                <a:latin typeface="Microsoft YaHei" panose="020B0503020204020204" pitchFamily="34" charset="-122"/>
                <a:ea typeface="Microsoft YaHei" panose="020B0503020204020204" pitchFamily="34" charset="-122"/>
                <a:cs typeface="Calibri" panose="020F0502020204030204" pitchFamily="34" charset="0"/>
              </a:rPr>
              <a:t>0</a:t>
            </a:r>
            <a:endParaRPr sz="2000" baseline="-30555">
              <a:latin typeface="Microsoft YaHei" panose="020B0503020204020204" pitchFamily="34" charset="-122"/>
              <a:ea typeface="Microsoft YaHei" panose="020B0503020204020204" pitchFamily="34" charset="-122"/>
              <a:cs typeface="Calibri" panose="020F0502020204030204" pitchFamily="34" charset="0"/>
            </a:endParaRPr>
          </a:p>
        </p:txBody>
      </p:sp>
      <p:sp>
        <p:nvSpPr>
          <p:cNvPr id="151" name="object 67">
            <a:extLst>
              <a:ext uri="{FF2B5EF4-FFF2-40B4-BE49-F238E27FC236}">
                <a16:creationId xmlns:a16="http://schemas.microsoft.com/office/drawing/2014/main" id="{79913832-B54E-E408-D115-E3DCE160DC2B}"/>
              </a:ext>
            </a:extLst>
          </p:cNvPr>
          <p:cNvSpPr txBox="1"/>
          <p:nvPr/>
        </p:nvSpPr>
        <p:spPr>
          <a:xfrm>
            <a:off x="7707715" y="1092845"/>
            <a:ext cx="4140200" cy="324875"/>
          </a:xfrm>
          <a:prstGeom prst="rect">
            <a:avLst/>
          </a:prstGeom>
        </p:spPr>
        <p:txBody>
          <a:bodyPr vert="horz" wrap="square" lIns="0" tIns="16933" rIns="0" bIns="0" rtlCol="0">
            <a:spAutoFit/>
          </a:bodyPr>
          <a:lstStyle/>
          <a:p>
            <a:pPr marL="16933">
              <a:spcBef>
                <a:spcPts val="133"/>
              </a:spcBef>
            </a:pPr>
            <a:r>
              <a:rPr lang="en-US" sz="2000" err="1">
                <a:latin typeface="Microsoft YaHei" panose="020B0503020204020204" pitchFamily="34" charset="-122"/>
                <a:ea typeface="Microsoft YaHei" panose="020B0503020204020204" pitchFamily="34" charset="-122"/>
                <a:cs typeface="Calibri" panose="020F0502020204030204" pitchFamily="34" charset="0"/>
              </a:rPr>
              <a:t>计算对齐分数</a:t>
            </a:r>
            <a:endParaRPr sz="2000">
              <a:latin typeface="Microsoft YaHei" panose="020B0503020204020204" pitchFamily="34" charset="-122"/>
              <a:ea typeface="Microsoft YaHei" panose="020B0503020204020204" pitchFamily="34" charset="-122"/>
              <a:cs typeface="Calibri" panose="020F0502020204030204" pitchFamily="34" charset="0"/>
            </a:endParaRPr>
          </a:p>
        </p:txBody>
      </p:sp>
      <mc:AlternateContent xmlns:mc="http://schemas.openxmlformats.org/markup-compatibility/2006" xmlns:a14="http://schemas.microsoft.com/office/drawing/2010/main">
        <mc:Choice Requires="a14">
          <p:sp>
            <p:nvSpPr>
              <p:cNvPr id="154" name="TextBox 153">
                <a:extLst>
                  <a:ext uri="{FF2B5EF4-FFF2-40B4-BE49-F238E27FC236}">
                    <a16:creationId xmlns:a16="http://schemas.microsoft.com/office/drawing/2014/main" id="{21A92C1F-846F-C4AE-962D-74BD9807ABD9}"/>
                  </a:ext>
                </a:extLst>
              </p:cNvPr>
              <p:cNvSpPr txBox="1"/>
              <p:nvPr/>
            </p:nvSpPr>
            <p:spPr>
              <a:xfrm>
                <a:off x="7707715" y="1503273"/>
                <a:ext cx="1861985" cy="3324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𝑒</m:t>
                          </m:r>
                        </m:e>
                        <m:sub>
                          <m:r>
                            <a:rPr lang="en-US" sz="2000" b="0" i="1" smtClean="0">
                              <a:latin typeface="Cambria Math" panose="02040503050406030204" pitchFamily="18" charset="0"/>
                            </a:rPr>
                            <m:t>𝑖</m:t>
                          </m:r>
                          <m:r>
                            <a:rPr lang="en-US" sz="2000" b="0" i="1" smtClean="0">
                              <a:latin typeface="Cambria Math" panose="02040503050406030204" pitchFamily="18" charset="0"/>
                            </a:rPr>
                            <m:t>,</m:t>
                          </m:r>
                          <m:r>
                            <a:rPr lang="en-US" sz="2000" b="0" i="1" smtClean="0">
                              <a:latin typeface="Cambria Math" panose="02040503050406030204" pitchFamily="18" charset="0"/>
                            </a:rPr>
                            <m:t>𝑗</m:t>
                          </m:r>
                        </m:sub>
                      </m:sSub>
                      <m:r>
                        <a:rPr lang="en-US" sz="2000" b="0" i="1" smtClean="0">
                          <a:latin typeface="Cambria Math" panose="02040503050406030204" pitchFamily="18" charset="0"/>
                        </a:rPr>
                        <m:t>=</m:t>
                      </m:r>
                      <m:r>
                        <a:rPr lang="en-US" sz="2000" b="0" i="1" smtClean="0">
                          <a:latin typeface="Cambria Math" panose="02040503050406030204" pitchFamily="18" charset="0"/>
                        </a:rPr>
                        <m:t>𝑎</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𝑖</m:t>
                          </m:r>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h</m:t>
                          </m:r>
                        </m:e>
                        <m:sub>
                          <m:r>
                            <a:rPr lang="en-US" sz="2000" b="0" i="1" smtClean="0">
                              <a:latin typeface="Cambria Math" panose="02040503050406030204" pitchFamily="18" charset="0"/>
                            </a:rPr>
                            <m:t>𝑗</m:t>
                          </m:r>
                        </m:sub>
                      </m:sSub>
                      <m:r>
                        <a:rPr lang="en-US" sz="2000" b="0" i="1" smtClean="0">
                          <a:latin typeface="Cambria Math" panose="02040503050406030204" pitchFamily="18" charset="0"/>
                        </a:rPr>
                        <m:t>)</m:t>
                      </m:r>
                    </m:oMath>
                  </m:oMathPara>
                </a14:m>
                <a:endParaRPr lang="en-US" sz="2000">
                  <a:latin typeface="Microsoft YaHei" panose="020B0503020204020204" pitchFamily="34" charset="-122"/>
                  <a:ea typeface="Microsoft YaHei" panose="020B0503020204020204" pitchFamily="34" charset="-122"/>
                </a:endParaRPr>
              </a:p>
            </p:txBody>
          </p:sp>
        </mc:Choice>
        <mc:Fallback xmlns="">
          <p:sp>
            <p:nvSpPr>
              <p:cNvPr id="154" name="TextBox 153">
                <a:extLst>
                  <a:ext uri="{FF2B5EF4-FFF2-40B4-BE49-F238E27FC236}">
                    <a16:creationId xmlns:a16="http://schemas.microsoft.com/office/drawing/2014/main" id="{21A92C1F-846F-C4AE-962D-74BD9807ABD9}"/>
                  </a:ext>
                </a:extLst>
              </p:cNvPr>
              <p:cNvSpPr txBox="1">
                <a:spLocks noRot="1" noChangeAspect="1" noMove="1" noResize="1" noEditPoints="1" noAdjustHandles="1" noChangeArrowheads="1" noChangeShapeType="1" noTextEdit="1"/>
              </p:cNvSpPr>
              <p:nvPr/>
            </p:nvSpPr>
            <p:spPr>
              <a:xfrm>
                <a:off x="7707715" y="1503273"/>
                <a:ext cx="1861985" cy="332463"/>
              </a:xfrm>
              <a:prstGeom prst="rect">
                <a:avLst/>
              </a:prstGeom>
              <a:blipFill>
                <a:blip r:embed="rId5"/>
                <a:stretch>
                  <a:fillRect l="-676" r="-4054" b="-259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5" name="TextBox 154">
                <a:extLst>
                  <a:ext uri="{FF2B5EF4-FFF2-40B4-BE49-F238E27FC236}">
                    <a16:creationId xmlns:a16="http://schemas.microsoft.com/office/drawing/2014/main" id="{4808CF15-0761-B62F-EC54-963FC3B53CDA}"/>
                  </a:ext>
                </a:extLst>
              </p:cNvPr>
              <p:cNvSpPr txBox="1"/>
              <p:nvPr/>
            </p:nvSpPr>
            <p:spPr>
              <a:xfrm>
                <a:off x="7707715" y="1921289"/>
                <a:ext cx="3062039" cy="400110"/>
              </a:xfrm>
              <a:prstGeom prst="rect">
                <a:avLst/>
              </a:prstGeom>
              <a:noFill/>
            </p:spPr>
            <p:txBody>
              <a:bodyPr wrap="square">
                <a:spAutoFit/>
              </a:bodyPr>
              <a:lstStyle/>
              <a:p>
                <a14:m>
                  <m:oMath xmlns:m="http://schemas.openxmlformats.org/officeDocument/2006/math">
                    <m:r>
                      <a:rPr lang="en-US" sz="2000" b="0" i="1" smtClean="0">
                        <a:latin typeface="Cambria Math" panose="02040503050406030204" pitchFamily="18" charset="0"/>
                      </a:rPr>
                      <m:t>𝑎</m:t>
                    </m:r>
                  </m:oMath>
                </a14:m>
                <a:r>
                  <a:rPr lang="en-US" sz="2000" dirty="0">
                    <a:latin typeface="Microsoft YaHei" panose="020B0503020204020204" pitchFamily="34" charset="-122"/>
                    <a:ea typeface="Microsoft YaHei" panose="020B0503020204020204" pitchFamily="34" charset="-122"/>
                    <a:cs typeface="Calibri" panose="020F0502020204030204" pitchFamily="34" charset="0"/>
                  </a:rPr>
                  <a:t> </a:t>
                </a:r>
                <a:r>
                  <a:rPr lang="en-US" sz="2000" dirty="0" err="1">
                    <a:latin typeface="Microsoft YaHei" panose="020B0503020204020204" pitchFamily="34" charset="-122"/>
                    <a:ea typeface="Microsoft YaHei" panose="020B0503020204020204" pitchFamily="34" charset="-122"/>
                    <a:cs typeface="Calibri" panose="020F0502020204030204" pitchFamily="34" charset="0"/>
                  </a:rPr>
                  <a:t>是前馈注意力机制</a:t>
                </a:r>
                <a:endParaRPr lang="en-US" sz="2000" dirty="0">
                  <a:latin typeface="Microsoft YaHei" panose="020B0503020204020204" pitchFamily="34" charset="-122"/>
                  <a:ea typeface="Microsoft YaHei" panose="020B0503020204020204" pitchFamily="34" charset="-122"/>
                  <a:cs typeface="Calibri" panose="020F0502020204030204" pitchFamily="34" charset="0"/>
                </a:endParaRPr>
              </a:p>
            </p:txBody>
          </p:sp>
        </mc:Choice>
        <mc:Fallback xmlns="">
          <p:sp>
            <p:nvSpPr>
              <p:cNvPr id="155" name="TextBox 154">
                <a:extLst>
                  <a:ext uri="{FF2B5EF4-FFF2-40B4-BE49-F238E27FC236}">
                    <a16:creationId xmlns:a16="http://schemas.microsoft.com/office/drawing/2014/main" id="{4808CF15-0761-B62F-EC54-963FC3B53CDA}"/>
                  </a:ext>
                </a:extLst>
              </p:cNvPr>
              <p:cNvSpPr txBox="1">
                <a:spLocks noRot="1" noChangeAspect="1" noMove="1" noResize="1" noEditPoints="1" noAdjustHandles="1" noChangeArrowheads="1" noChangeShapeType="1" noTextEdit="1"/>
              </p:cNvSpPr>
              <p:nvPr/>
            </p:nvSpPr>
            <p:spPr>
              <a:xfrm>
                <a:off x="7707715" y="1921289"/>
                <a:ext cx="3062039" cy="400110"/>
              </a:xfrm>
              <a:prstGeom prst="rect">
                <a:avLst/>
              </a:prstGeom>
              <a:blipFill>
                <a:blip r:embed="rId6"/>
                <a:stretch>
                  <a:fillRect t="-9375" b="-28125"/>
                </a:stretch>
              </a:blipFill>
            </p:spPr>
            <p:txBody>
              <a:bodyPr/>
              <a:lstStyle/>
              <a:p>
                <a:r>
                  <a:rPr lang="en-US">
                    <a:noFill/>
                  </a:rPr>
                  <a:t> </a:t>
                </a:r>
              </a:p>
            </p:txBody>
          </p:sp>
        </mc:Fallback>
      </mc:AlternateContent>
      <p:sp>
        <p:nvSpPr>
          <p:cNvPr id="121" name="object 151">
            <a:extLst>
              <a:ext uri="{FF2B5EF4-FFF2-40B4-BE49-F238E27FC236}">
                <a16:creationId xmlns:a16="http://schemas.microsoft.com/office/drawing/2014/main" id="{0EC4D698-8E91-9121-6FB3-5BFECA418251}"/>
              </a:ext>
            </a:extLst>
          </p:cNvPr>
          <p:cNvSpPr txBox="1"/>
          <p:nvPr/>
        </p:nvSpPr>
        <p:spPr>
          <a:xfrm>
            <a:off x="4013539" y="4924271"/>
            <a:ext cx="2892740" cy="1125094"/>
          </a:xfrm>
          <a:prstGeom prst="rect">
            <a:avLst/>
          </a:prstGeom>
        </p:spPr>
        <p:txBody>
          <a:bodyPr vert="horz" wrap="square" lIns="0" tIns="16933" rIns="0" bIns="0" rtlCol="0">
            <a:spAutoFit/>
          </a:bodyPr>
          <a:lstStyle/>
          <a:p>
            <a:pPr marL="50799" marR="40639">
              <a:spcBef>
                <a:spcPts val="133"/>
              </a:spcBef>
            </a:pPr>
            <a:r>
              <a:rPr lang="en-US" spc="-40" dirty="0" err="1">
                <a:latin typeface="Calibri" panose="020F0502020204030204" pitchFamily="34" charset="0"/>
                <a:cs typeface="Calibri" panose="020F0502020204030204" pitchFamily="34" charset="0"/>
              </a:rPr>
              <a:t>上下文向量</a:t>
            </a:r>
            <a:r>
              <a:rPr lang="en-US" spc="-13" dirty="0" err="1">
                <a:latin typeface="Calibri" panose="020F0502020204030204" pitchFamily="34" charset="0"/>
                <a:cs typeface="Calibri" panose="020F0502020204030204" pitchFamily="34" charset="0"/>
              </a:rPr>
              <a:t>放更多的注意到相关的部分</a:t>
            </a:r>
            <a:endParaRPr dirty="0">
              <a:latin typeface="Calibri" panose="020F0502020204030204" pitchFamily="34" charset="0"/>
              <a:cs typeface="Calibri" panose="020F0502020204030204" pitchFamily="34" charset="0"/>
            </a:endParaRPr>
          </a:p>
          <a:p>
            <a:pPr marL="50799" marR="104137"/>
            <a:r>
              <a:rPr i="1" dirty="0">
                <a:latin typeface="Calibri" panose="020F0502020204030204" pitchFamily="34" charset="0"/>
                <a:cs typeface="Calibri" panose="020F0502020204030204" pitchFamily="34" charset="0"/>
              </a:rPr>
              <a:t>“</a:t>
            </a:r>
            <a:r>
              <a:rPr lang="en-US" i="1" dirty="0">
                <a:latin typeface="Calibri" panose="020F0502020204030204" pitchFamily="34" charset="0"/>
                <a:cs typeface="Calibri" panose="020F0502020204030204" pitchFamily="34" charset="0"/>
              </a:rPr>
              <a:t>I</a:t>
            </a:r>
            <a:r>
              <a:rPr i="1" dirty="0">
                <a:latin typeface="Calibri" panose="020F0502020204030204" pitchFamily="34" charset="0"/>
                <a:cs typeface="Calibri" panose="020F0502020204030204" pitchFamily="34" charset="0"/>
              </a:rPr>
              <a:t>”</a:t>
            </a:r>
            <a:r>
              <a:rPr i="1" spc="-27" dirty="0">
                <a:latin typeface="Calibri" panose="020F0502020204030204" pitchFamily="34" charset="0"/>
                <a:cs typeface="Calibri" panose="020F0502020204030204" pitchFamily="34" charset="0"/>
              </a:rPr>
              <a:t> </a:t>
            </a:r>
            <a:r>
              <a:rPr b="1" i="1" dirty="0">
                <a:latin typeface="Calibri" panose="020F0502020204030204" pitchFamily="34" charset="0"/>
                <a:cs typeface="Calibri" panose="020F0502020204030204" pitchFamily="34" charset="0"/>
              </a:rPr>
              <a:t>=</a:t>
            </a:r>
            <a:r>
              <a:rPr b="1" i="1" spc="-13" dirty="0">
                <a:latin typeface="Calibri" panose="020F0502020204030204" pitchFamily="34" charset="0"/>
                <a:cs typeface="Calibri" panose="020F0502020204030204" pitchFamily="34" charset="0"/>
              </a:rPr>
              <a:t> </a:t>
            </a:r>
            <a:r>
              <a:rPr i="1" dirty="0">
                <a:latin typeface="Calibri" panose="020F0502020204030204" pitchFamily="34" charset="0"/>
                <a:cs typeface="Calibri" panose="020F0502020204030204" pitchFamily="34" charset="0"/>
              </a:rPr>
              <a:t>“</a:t>
            </a:r>
            <a:r>
              <a:rPr lang="en-US" i="1" dirty="0" err="1">
                <a:latin typeface="Calibri" panose="020F0502020204030204" pitchFamily="34" charset="0"/>
                <a:cs typeface="Calibri" panose="020F0502020204030204" pitchFamily="34" charset="0"/>
              </a:rPr>
              <a:t>我</a:t>
            </a:r>
            <a:r>
              <a:rPr i="1" spc="-27" dirty="0">
                <a:latin typeface="Calibri" panose="020F0502020204030204" pitchFamily="34" charset="0"/>
                <a:cs typeface="Calibri" panose="020F0502020204030204" pitchFamily="34" charset="0"/>
              </a:rPr>
              <a:t>”</a:t>
            </a:r>
            <a:r>
              <a:rPr i="1" spc="667"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所以可能的情况是</a:t>
            </a:r>
            <a:r>
              <a:rPr lang="zh-CN" altLang="en-US" dirty="0">
                <a:latin typeface="Calibri" panose="020F0502020204030204" pitchFamily="34" charset="0"/>
                <a:cs typeface="Calibri" panose="020F0502020204030204" pitchFamily="34" charset="0"/>
              </a:rPr>
              <a:t> </a:t>
            </a:r>
            <a:r>
              <a:rPr spc="-27" dirty="0">
                <a:latin typeface="Calibri" panose="020F0502020204030204" pitchFamily="34" charset="0"/>
                <a:cs typeface="Calibri" panose="020F0502020204030204" pitchFamily="34" charset="0"/>
              </a:rPr>
              <a:t>a</a:t>
            </a:r>
            <a:r>
              <a:rPr lang="en-US" altLang="zh-CN" spc="-40" baseline="-30555" dirty="0">
                <a:latin typeface="Calibri" panose="020F0502020204030204" pitchFamily="34" charset="0"/>
                <a:cs typeface="Calibri" panose="020F0502020204030204" pitchFamily="34" charset="0"/>
              </a:rPr>
              <a:t>0</a:t>
            </a:r>
            <a:r>
              <a:rPr spc="-40" baseline="-30555" dirty="0">
                <a:latin typeface="Calibri" panose="020F0502020204030204" pitchFamily="34" charset="0"/>
                <a:cs typeface="Calibri" panose="020F0502020204030204" pitchFamily="34" charset="0"/>
              </a:rPr>
              <a:t>1</a:t>
            </a:r>
            <a:r>
              <a:rPr spc="-27" dirty="0">
                <a:latin typeface="Calibri" panose="020F0502020204030204" pitchFamily="34" charset="0"/>
                <a:cs typeface="Calibri" panose="020F0502020204030204" pitchFamily="34" charset="0"/>
              </a:rPr>
              <a:t>=0.</a:t>
            </a:r>
            <a:r>
              <a:rPr lang="en-US" altLang="zh-CN" spc="-27" dirty="0">
                <a:latin typeface="Calibri" panose="020F0502020204030204" pitchFamily="34" charset="0"/>
                <a:cs typeface="Calibri" panose="020F0502020204030204" pitchFamily="34" charset="0"/>
              </a:rPr>
              <a:t>85</a:t>
            </a:r>
            <a:r>
              <a:rPr spc="-27" dirty="0">
                <a:latin typeface="Calibri" panose="020F0502020204030204" pitchFamily="34" charset="0"/>
                <a:cs typeface="Calibri" panose="020F0502020204030204" pitchFamily="34" charset="0"/>
              </a:rPr>
              <a:t>, </a:t>
            </a:r>
            <a:r>
              <a:rPr spc="-13" dirty="0">
                <a:latin typeface="Calibri" panose="020F0502020204030204" pitchFamily="34" charset="0"/>
                <a:cs typeface="Calibri" panose="020F0502020204030204" pitchFamily="34" charset="0"/>
              </a:rPr>
              <a:t>a</a:t>
            </a:r>
            <a:r>
              <a:rPr lang="en-US" altLang="zh-CN" spc="-20" baseline="-30555" dirty="0">
                <a:latin typeface="Calibri" panose="020F0502020204030204" pitchFamily="34" charset="0"/>
                <a:cs typeface="Calibri" panose="020F0502020204030204" pitchFamily="34" charset="0"/>
              </a:rPr>
              <a:t>02</a:t>
            </a:r>
            <a:r>
              <a:rPr spc="-13" dirty="0">
                <a:latin typeface="Calibri" panose="020F0502020204030204" pitchFamily="34" charset="0"/>
                <a:cs typeface="Calibri" panose="020F0502020204030204" pitchFamily="34" charset="0"/>
              </a:rPr>
              <a:t>=</a:t>
            </a:r>
            <a:r>
              <a:rPr lang="en-US" spc="-13" dirty="0">
                <a:latin typeface="Calibri" panose="020F0502020204030204" pitchFamily="34" charset="0"/>
                <a:cs typeface="Calibri" panose="020F0502020204030204" pitchFamily="34" charset="0"/>
              </a:rPr>
              <a:t>a</a:t>
            </a:r>
            <a:r>
              <a:rPr lang="en-US" altLang="zh-CN" spc="-20" baseline="-30555" dirty="0">
                <a:latin typeface="Calibri" panose="020F0502020204030204" pitchFamily="34" charset="0"/>
                <a:cs typeface="Calibri" panose="020F0502020204030204" pitchFamily="34" charset="0"/>
              </a:rPr>
              <a:t>03</a:t>
            </a:r>
            <a:r>
              <a:rPr lang="en-US" altLang="zh-CN" spc="-13" dirty="0">
                <a:latin typeface="Calibri" panose="020F0502020204030204" pitchFamily="34" charset="0"/>
                <a:cs typeface="Calibri" panose="020F0502020204030204" pitchFamily="34" charset="0"/>
              </a:rPr>
              <a:t>=…</a:t>
            </a:r>
            <a:r>
              <a:rPr spc="-13" dirty="0">
                <a:latin typeface="Calibri" panose="020F0502020204030204" pitchFamily="34" charset="0"/>
                <a:cs typeface="Calibri" panose="020F0502020204030204" pitchFamily="34" charset="0"/>
              </a:rPr>
              <a:t>=0.0</a:t>
            </a:r>
            <a:r>
              <a:rPr lang="en-US" altLang="zh-CN" spc="-13" dirty="0">
                <a:latin typeface="Calibri" panose="020F0502020204030204" pitchFamily="34" charset="0"/>
                <a:cs typeface="Calibri" panose="020F0502020204030204" pitchFamily="34" charset="0"/>
              </a:rPr>
              <a:t>1</a:t>
            </a:r>
            <a:endParaRPr dirty="0">
              <a:latin typeface="Calibri" panose="020F0502020204030204" pitchFamily="34" charset="0"/>
              <a:cs typeface="Calibri" panose="020F0502020204030204" pitchFamily="34" charset="0"/>
            </a:endParaRPr>
          </a:p>
        </p:txBody>
      </p:sp>
      <p:sp>
        <p:nvSpPr>
          <p:cNvPr id="129" name="object 8">
            <a:extLst>
              <a:ext uri="{FF2B5EF4-FFF2-40B4-BE49-F238E27FC236}">
                <a16:creationId xmlns:a16="http://schemas.microsoft.com/office/drawing/2014/main" id="{20F55C96-1930-E443-B4A6-9793FF09EA1C}"/>
              </a:ext>
            </a:extLst>
          </p:cNvPr>
          <p:cNvSpPr txBox="1"/>
          <p:nvPr/>
        </p:nvSpPr>
        <p:spPr>
          <a:xfrm>
            <a:off x="692227" y="5627077"/>
            <a:ext cx="323772" cy="294097"/>
          </a:xfrm>
          <a:prstGeom prst="rect">
            <a:avLst/>
          </a:prstGeom>
        </p:spPr>
        <p:txBody>
          <a:bodyPr vert="horz" wrap="square" lIns="0" tIns="16933" rIns="0" bIns="0" rtlCol="0" anchor="t">
            <a:spAutoFit/>
          </a:bodyPr>
          <a:lstStyle/>
          <a:p>
            <a:pPr marL="16510">
              <a:spcBef>
                <a:spcPts val="133"/>
              </a:spcBef>
            </a:pPr>
            <a:r>
              <a:rPr lang="zh-CN" spc="-33">
                <a:latin typeface="Microsoft YaHei" panose="020B0503020204020204" pitchFamily="34" charset="-122"/>
                <a:ea typeface="Microsoft YaHei" panose="020B0503020204020204" pitchFamily="34" charset="-122"/>
                <a:cs typeface="Calibri"/>
              </a:rPr>
              <a:t>我</a:t>
            </a:r>
            <a:endParaRPr lang="zh-CN" altLang="en-US">
              <a:latin typeface="Microsoft YaHei" panose="020B0503020204020204" pitchFamily="34" charset="-122"/>
              <a:ea typeface="Microsoft YaHei" panose="020B0503020204020204" pitchFamily="34" charset="-122"/>
              <a:cs typeface="Calibri" panose="020F0502020204030204" pitchFamily="34" charset="0"/>
            </a:endParaRPr>
          </a:p>
        </p:txBody>
      </p:sp>
      <p:sp>
        <p:nvSpPr>
          <p:cNvPr id="156" name="object 9">
            <a:extLst>
              <a:ext uri="{FF2B5EF4-FFF2-40B4-BE49-F238E27FC236}">
                <a16:creationId xmlns:a16="http://schemas.microsoft.com/office/drawing/2014/main" id="{DDEB9635-C291-A95B-F870-07C0D97BD2EE}"/>
              </a:ext>
            </a:extLst>
          </p:cNvPr>
          <p:cNvSpPr txBox="1"/>
          <p:nvPr/>
        </p:nvSpPr>
        <p:spPr>
          <a:xfrm>
            <a:off x="1553348" y="5627077"/>
            <a:ext cx="360445" cy="294097"/>
          </a:xfrm>
          <a:prstGeom prst="rect">
            <a:avLst/>
          </a:prstGeom>
        </p:spPr>
        <p:txBody>
          <a:bodyPr vert="horz" wrap="square" lIns="0" tIns="16933" rIns="0" bIns="0" rtlCol="0" anchor="t">
            <a:spAutoFit/>
          </a:bodyPr>
          <a:lstStyle/>
          <a:p>
            <a:pPr marL="16510">
              <a:spcBef>
                <a:spcPts val="133"/>
              </a:spcBef>
            </a:pPr>
            <a:r>
              <a:rPr lang="zh-CN" spc="-33">
                <a:latin typeface="Microsoft YaHei" panose="020B0503020204020204" pitchFamily="34" charset="-122"/>
                <a:ea typeface="Microsoft YaHei" panose="020B0503020204020204" pitchFamily="34" charset="-122"/>
                <a:cs typeface="Calibri"/>
              </a:rPr>
              <a:t>买</a:t>
            </a:r>
            <a:endParaRPr lang="zh-CN" altLang="en-US">
              <a:latin typeface="Microsoft YaHei" panose="020B0503020204020204" pitchFamily="34" charset="-122"/>
              <a:ea typeface="Microsoft YaHei" panose="020B0503020204020204" pitchFamily="34" charset="-122"/>
              <a:cs typeface="Calibri" panose="020F0502020204030204" pitchFamily="34" charset="0"/>
            </a:endParaRPr>
          </a:p>
        </p:txBody>
      </p:sp>
      <p:sp>
        <p:nvSpPr>
          <p:cNvPr id="157" name="object 10">
            <a:extLst>
              <a:ext uri="{FF2B5EF4-FFF2-40B4-BE49-F238E27FC236}">
                <a16:creationId xmlns:a16="http://schemas.microsoft.com/office/drawing/2014/main" id="{8FEA013E-0492-273B-B6E3-557F0AB1EA38}"/>
              </a:ext>
            </a:extLst>
          </p:cNvPr>
          <p:cNvSpPr txBox="1"/>
          <p:nvPr/>
        </p:nvSpPr>
        <p:spPr>
          <a:xfrm>
            <a:off x="2375045" y="5627077"/>
            <a:ext cx="641258" cy="294097"/>
          </a:xfrm>
          <a:prstGeom prst="rect">
            <a:avLst/>
          </a:prstGeom>
        </p:spPr>
        <p:txBody>
          <a:bodyPr vert="horz" wrap="square" lIns="0" tIns="16933" rIns="0" bIns="0" rtlCol="0" anchor="t">
            <a:spAutoFit/>
          </a:bodyPr>
          <a:lstStyle/>
          <a:p>
            <a:pPr marL="16510" algn="ctr">
              <a:spcBef>
                <a:spcPts val="133"/>
              </a:spcBef>
            </a:pPr>
            <a:r>
              <a:rPr lang="zh-CN" spc="-13">
                <a:latin typeface="Microsoft YaHei" panose="020B0503020204020204" pitchFamily="34" charset="-122"/>
                <a:ea typeface="Microsoft YaHei" panose="020B0503020204020204" pitchFamily="34" charset="-122"/>
                <a:cs typeface="Calibri"/>
              </a:rPr>
              <a:t>了</a:t>
            </a:r>
            <a:endParaRPr lang="zh-CN" altLang="en-US">
              <a:latin typeface="Microsoft YaHei" panose="020B0503020204020204" pitchFamily="34" charset="-122"/>
              <a:ea typeface="Microsoft YaHei" panose="020B0503020204020204" pitchFamily="34" charset="-122"/>
              <a:cs typeface="Calibri" panose="020F0502020204030204" pitchFamily="34" charset="0"/>
            </a:endParaRPr>
          </a:p>
        </p:txBody>
      </p:sp>
      <p:sp>
        <p:nvSpPr>
          <p:cNvPr id="158" name="object 24">
            <a:extLst>
              <a:ext uri="{FF2B5EF4-FFF2-40B4-BE49-F238E27FC236}">
                <a16:creationId xmlns:a16="http://schemas.microsoft.com/office/drawing/2014/main" id="{6877E57F-1CE9-694E-2679-C5E65F113F0D}"/>
              </a:ext>
            </a:extLst>
          </p:cNvPr>
          <p:cNvSpPr txBox="1"/>
          <p:nvPr/>
        </p:nvSpPr>
        <p:spPr>
          <a:xfrm>
            <a:off x="3333099" y="5627077"/>
            <a:ext cx="604585" cy="294097"/>
          </a:xfrm>
          <a:prstGeom prst="rect">
            <a:avLst/>
          </a:prstGeom>
        </p:spPr>
        <p:txBody>
          <a:bodyPr vert="horz" wrap="square" lIns="0" tIns="16933" rIns="0" bIns="0" rtlCol="0" anchor="t">
            <a:spAutoFit/>
          </a:bodyPr>
          <a:lstStyle/>
          <a:p>
            <a:pPr marL="16510" algn="ctr">
              <a:spcBef>
                <a:spcPts val="133"/>
              </a:spcBef>
            </a:pPr>
            <a:r>
              <a:rPr lang="zh-CN" altLang="en-US" spc="-13" dirty="0">
                <a:latin typeface="Microsoft YaHei" panose="020B0503020204020204" pitchFamily="34" charset="-122"/>
                <a:ea typeface="Microsoft YaHei" panose="020B0503020204020204" pitchFamily="34" charset="-122"/>
                <a:cs typeface="Calibri"/>
              </a:rPr>
              <a:t>书</a:t>
            </a:r>
            <a:endParaRPr lang="zh-CN" altLang="en-US" dirty="0">
              <a:latin typeface="Microsoft YaHei" panose="020B0503020204020204" pitchFamily="34" charset="-122"/>
              <a:ea typeface="Microsoft YaHei" panose="020B0503020204020204" pitchFamily="34" charset="-122"/>
              <a:cs typeface="Calibri" panose="020F0502020204030204" pitchFamily="34" charset="0"/>
            </a:endParaRPr>
          </a:p>
        </p:txBody>
      </p:sp>
      <mc:AlternateContent xmlns:mc="http://schemas.openxmlformats.org/markup-compatibility/2006" xmlns:a14="http://schemas.microsoft.com/office/drawing/2010/main">
        <mc:Choice Requires="a14">
          <p:sp>
            <p:nvSpPr>
              <p:cNvPr id="176" name="TextBox 175">
                <a:extLst>
                  <a:ext uri="{FF2B5EF4-FFF2-40B4-BE49-F238E27FC236}">
                    <a16:creationId xmlns:a16="http://schemas.microsoft.com/office/drawing/2014/main" id="{AB072DE7-D185-824E-B6A0-45A5EFF3A02B}"/>
                  </a:ext>
                </a:extLst>
              </p:cNvPr>
              <p:cNvSpPr txBox="1"/>
              <p:nvPr/>
            </p:nvSpPr>
            <p:spPr>
              <a:xfrm>
                <a:off x="3056823" y="5662965"/>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176" name="TextBox 175">
                <a:extLst>
                  <a:ext uri="{FF2B5EF4-FFF2-40B4-BE49-F238E27FC236}">
                    <a16:creationId xmlns:a16="http://schemas.microsoft.com/office/drawing/2014/main" id="{AB072DE7-D185-824E-B6A0-45A5EFF3A02B}"/>
                  </a:ext>
                </a:extLst>
              </p:cNvPr>
              <p:cNvSpPr txBox="1">
                <a:spLocks noRot="1" noChangeAspect="1" noMove="1" noResize="1" noEditPoints="1" noAdjustHandles="1" noChangeArrowheads="1" noChangeShapeType="1" noTextEdit="1"/>
              </p:cNvSpPr>
              <p:nvPr/>
            </p:nvSpPr>
            <p:spPr>
              <a:xfrm>
                <a:off x="3056823" y="5662965"/>
                <a:ext cx="329532" cy="246221"/>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7" name="TextBox 176">
                <a:extLst>
                  <a:ext uri="{FF2B5EF4-FFF2-40B4-BE49-F238E27FC236}">
                    <a16:creationId xmlns:a16="http://schemas.microsoft.com/office/drawing/2014/main" id="{C4E42CE3-5DF2-F88B-CE9E-8EA83C3D6DC7}"/>
                  </a:ext>
                </a:extLst>
              </p:cNvPr>
              <p:cNvSpPr txBox="1"/>
              <p:nvPr/>
            </p:nvSpPr>
            <p:spPr>
              <a:xfrm>
                <a:off x="614540" y="5022798"/>
                <a:ext cx="47198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oMath>
                  </m:oMathPara>
                </a14:m>
                <a:endParaRPr lang="en-US" dirty="0"/>
              </a:p>
            </p:txBody>
          </p:sp>
        </mc:Choice>
        <mc:Fallback xmlns="">
          <p:sp>
            <p:nvSpPr>
              <p:cNvPr id="177" name="TextBox 176">
                <a:extLst>
                  <a:ext uri="{FF2B5EF4-FFF2-40B4-BE49-F238E27FC236}">
                    <a16:creationId xmlns:a16="http://schemas.microsoft.com/office/drawing/2014/main" id="{C4E42CE3-5DF2-F88B-CE9E-8EA83C3D6DC7}"/>
                  </a:ext>
                </a:extLst>
              </p:cNvPr>
              <p:cNvSpPr txBox="1">
                <a:spLocks noRot="1" noChangeAspect="1" noMove="1" noResize="1" noEditPoints="1" noAdjustHandles="1" noChangeArrowheads="1" noChangeShapeType="1" noTextEdit="1"/>
              </p:cNvSpPr>
              <p:nvPr/>
            </p:nvSpPr>
            <p:spPr>
              <a:xfrm>
                <a:off x="614540" y="5022798"/>
                <a:ext cx="471989"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72CECDD1-53BB-A551-3B45-F8D6C9FC67FC}"/>
                  </a:ext>
                </a:extLst>
              </p:cNvPr>
              <p:cNvSpPr txBox="1"/>
              <p:nvPr/>
            </p:nvSpPr>
            <p:spPr>
              <a:xfrm>
                <a:off x="1494969" y="5022798"/>
                <a:ext cx="47731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oMath>
                  </m:oMathPara>
                </a14:m>
                <a:endParaRPr lang="en-US" dirty="0"/>
              </a:p>
            </p:txBody>
          </p:sp>
        </mc:Choice>
        <mc:Fallback xmlns="">
          <p:sp>
            <p:nvSpPr>
              <p:cNvPr id="178" name="TextBox 177">
                <a:extLst>
                  <a:ext uri="{FF2B5EF4-FFF2-40B4-BE49-F238E27FC236}">
                    <a16:creationId xmlns:a16="http://schemas.microsoft.com/office/drawing/2014/main" id="{72CECDD1-53BB-A551-3B45-F8D6C9FC67FC}"/>
                  </a:ext>
                </a:extLst>
              </p:cNvPr>
              <p:cNvSpPr txBox="1">
                <a:spLocks noRot="1" noChangeAspect="1" noMove="1" noResize="1" noEditPoints="1" noAdjustHandles="1" noChangeArrowheads="1" noChangeShapeType="1" noTextEdit="1"/>
              </p:cNvSpPr>
              <p:nvPr/>
            </p:nvSpPr>
            <p:spPr>
              <a:xfrm>
                <a:off x="1494969" y="5022798"/>
                <a:ext cx="477310"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9" name="TextBox 178">
                <a:extLst>
                  <a:ext uri="{FF2B5EF4-FFF2-40B4-BE49-F238E27FC236}">
                    <a16:creationId xmlns:a16="http://schemas.microsoft.com/office/drawing/2014/main" id="{A8EB2CBA-E87B-E1E7-DC42-D79F931D75DB}"/>
                  </a:ext>
                </a:extLst>
              </p:cNvPr>
              <p:cNvSpPr txBox="1"/>
              <p:nvPr/>
            </p:nvSpPr>
            <p:spPr>
              <a:xfrm>
                <a:off x="2457019" y="5022798"/>
                <a:ext cx="47731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3</m:t>
                          </m:r>
                        </m:sub>
                      </m:sSub>
                    </m:oMath>
                  </m:oMathPara>
                </a14:m>
                <a:endParaRPr lang="en-US" dirty="0"/>
              </a:p>
            </p:txBody>
          </p:sp>
        </mc:Choice>
        <mc:Fallback xmlns="">
          <p:sp>
            <p:nvSpPr>
              <p:cNvPr id="179" name="TextBox 178">
                <a:extLst>
                  <a:ext uri="{FF2B5EF4-FFF2-40B4-BE49-F238E27FC236}">
                    <a16:creationId xmlns:a16="http://schemas.microsoft.com/office/drawing/2014/main" id="{A8EB2CBA-E87B-E1E7-DC42-D79F931D75DB}"/>
                  </a:ext>
                </a:extLst>
              </p:cNvPr>
              <p:cNvSpPr txBox="1">
                <a:spLocks noRot="1" noChangeAspect="1" noMove="1" noResize="1" noEditPoints="1" noAdjustHandles="1" noChangeArrowheads="1" noChangeShapeType="1" noTextEdit="1"/>
              </p:cNvSpPr>
              <p:nvPr/>
            </p:nvSpPr>
            <p:spPr>
              <a:xfrm>
                <a:off x="2457019" y="5022798"/>
                <a:ext cx="477310"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0" name="TextBox 179">
                <a:extLst>
                  <a:ext uri="{FF2B5EF4-FFF2-40B4-BE49-F238E27FC236}">
                    <a16:creationId xmlns:a16="http://schemas.microsoft.com/office/drawing/2014/main" id="{38BDA39B-528D-D721-5323-2A80F273D966}"/>
                  </a:ext>
                </a:extLst>
              </p:cNvPr>
              <p:cNvSpPr txBox="1"/>
              <p:nvPr/>
            </p:nvSpPr>
            <p:spPr>
              <a:xfrm>
                <a:off x="3419069" y="5049369"/>
                <a:ext cx="49699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𝑇</m:t>
                          </m:r>
                        </m:sub>
                      </m:sSub>
                    </m:oMath>
                  </m:oMathPara>
                </a14:m>
                <a:endParaRPr lang="en-US" dirty="0"/>
              </a:p>
            </p:txBody>
          </p:sp>
        </mc:Choice>
        <mc:Fallback xmlns="">
          <p:sp>
            <p:nvSpPr>
              <p:cNvPr id="180" name="TextBox 179">
                <a:extLst>
                  <a:ext uri="{FF2B5EF4-FFF2-40B4-BE49-F238E27FC236}">
                    <a16:creationId xmlns:a16="http://schemas.microsoft.com/office/drawing/2014/main" id="{38BDA39B-528D-D721-5323-2A80F273D966}"/>
                  </a:ext>
                </a:extLst>
              </p:cNvPr>
              <p:cNvSpPr txBox="1">
                <a:spLocks noRot="1" noChangeAspect="1" noMove="1" noResize="1" noEditPoints="1" noAdjustHandles="1" noChangeArrowheads="1" noChangeShapeType="1" noTextEdit="1"/>
              </p:cNvSpPr>
              <p:nvPr/>
            </p:nvSpPr>
            <p:spPr>
              <a:xfrm>
                <a:off x="3419069" y="5049369"/>
                <a:ext cx="496996" cy="369332"/>
              </a:xfrm>
              <a:prstGeom prst="rect">
                <a:avLst/>
              </a:prstGeom>
              <a:blipFill>
                <a:blip r:embed="rId11"/>
                <a:stretch>
                  <a:fillRect b="-3333"/>
                </a:stretch>
              </a:blipFill>
            </p:spPr>
            <p:txBody>
              <a:bodyPr/>
              <a:lstStyle/>
              <a:p>
                <a:r>
                  <a:rPr lang="en-US">
                    <a:noFill/>
                  </a:rPr>
                  <a:t> </a:t>
                </a:r>
              </a:p>
            </p:txBody>
          </p:sp>
        </mc:Fallback>
      </mc:AlternateContent>
      <p:cxnSp>
        <p:nvCxnSpPr>
          <p:cNvPr id="181" name="Straight Arrow Connector 180">
            <a:extLst>
              <a:ext uri="{FF2B5EF4-FFF2-40B4-BE49-F238E27FC236}">
                <a16:creationId xmlns:a16="http://schemas.microsoft.com/office/drawing/2014/main" id="{46B2EE79-DD1B-248F-2515-90EC6141C28B}"/>
              </a:ext>
            </a:extLst>
          </p:cNvPr>
          <p:cNvCxnSpPr>
            <a:stCxn id="129" idx="0"/>
            <a:endCxn id="177" idx="2"/>
          </p:cNvCxnSpPr>
          <p:nvPr/>
        </p:nvCxnSpPr>
        <p:spPr>
          <a:xfrm flipH="1" flipV="1">
            <a:off x="850535" y="5392130"/>
            <a:ext cx="3578"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2" name="Straight Arrow Connector 181">
            <a:extLst>
              <a:ext uri="{FF2B5EF4-FFF2-40B4-BE49-F238E27FC236}">
                <a16:creationId xmlns:a16="http://schemas.microsoft.com/office/drawing/2014/main" id="{C38F3128-2494-B367-AE77-5BAE1EFF9AD2}"/>
              </a:ext>
            </a:extLst>
          </p:cNvPr>
          <p:cNvCxnSpPr>
            <a:cxnSpLocks/>
            <a:stCxn id="156" idx="0"/>
            <a:endCxn id="178" idx="2"/>
          </p:cNvCxnSpPr>
          <p:nvPr/>
        </p:nvCxnSpPr>
        <p:spPr>
          <a:xfrm flipV="1">
            <a:off x="1733571" y="5392130"/>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3" name="Straight Arrow Connector 182">
            <a:extLst>
              <a:ext uri="{FF2B5EF4-FFF2-40B4-BE49-F238E27FC236}">
                <a16:creationId xmlns:a16="http://schemas.microsoft.com/office/drawing/2014/main" id="{F042E95D-72BC-6337-2AF1-F64F4386DC34}"/>
              </a:ext>
            </a:extLst>
          </p:cNvPr>
          <p:cNvCxnSpPr>
            <a:cxnSpLocks/>
          </p:cNvCxnSpPr>
          <p:nvPr/>
        </p:nvCxnSpPr>
        <p:spPr>
          <a:xfrm flipV="1">
            <a:off x="2679165" y="5358926"/>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4" name="Straight Arrow Connector 183">
            <a:extLst>
              <a:ext uri="{FF2B5EF4-FFF2-40B4-BE49-F238E27FC236}">
                <a16:creationId xmlns:a16="http://schemas.microsoft.com/office/drawing/2014/main" id="{BB4B77F5-B943-B2B4-38D0-D10F1D89F71D}"/>
              </a:ext>
            </a:extLst>
          </p:cNvPr>
          <p:cNvCxnSpPr>
            <a:cxnSpLocks/>
          </p:cNvCxnSpPr>
          <p:nvPr/>
        </p:nvCxnSpPr>
        <p:spPr>
          <a:xfrm flipV="1">
            <a:off x="3635391" y="5392129"/>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5" name="Rectangle 184">
                <a:extLst>
                  <a:ext uri="{FF2B5EF4-FFF2-40B4-BE49-F238E27FC236}">
                    <a16:creationId xmlns:a16="http://schemas.microsoft.com/office/drawing/2014/main" id="{2AEC1108-CD8F-70B5-186B-7544F3EB23D0}"/>
                  </a:ext>
                </a:extLst>
              </p:cNvPr>
              <p:cNvSpPr/>
              <p:nvPr/>
            </p:nvSpPr>
            <p:spPr>
              <a:xfrm>
                <a:off x="661797" y="4263656"/>
                <a:ext cx="424732" cy="43593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1</m:t>
                          </m:r>
                        </m:sub>
                      </m:sSub>
                    </m:oMath>
                  </m:oMathPara>
                </a14:m>
                <a:endParaRPr lang="en-US" dirty="0"/>
              </a:p>
            </p:txBody>
          </p:sp>
        </mc:Choice>
        <mc:Fallback xmlns="">
          <p:sp>
            <p:nvSpPr>
              <p:cNvPr id="185" name="Rectangle 184">
                <a:extLst>
                  <a:ext uri="{FF2B5EF4-FFF2-40B4-BE49-F238E27FC236}">
                    <a16:creationId xmlns:a16="http://schemas.microsoft.com/office/drawing/2014/main" id="{2AEC1108-CD8F-70B5-186B-7544F3EB23D0}"/>
                  </a:ext>
                </a:extLst>
              </p:cNvPr>
              <p:cNvSpPr>
                <a:spLocks noRot="1" noChangeAspect="1" noMove="1" noResize="1" noEditPoints="1" noAdjustHandles="1" noChangeArrowheads="1" noChangeShapeType="1" noTextEdit="1"/>
              </p:cNvSpPr>
              <p:nvPr/>
            </p:nvSpPr>
            <p:spPr>
              <a:xfrm>
                <a:off x="661797" y="4263656"/>
                <a:ext cx="424732" cy="435935"/>
              </a:xfrm>
              <a:prstGeom prst="rect">
                <a:avLst/>
              </a:prstGeom>
              <a:blipFill>
                <a:blip r:embed="rId12"/>
                <a:stretch>
                  <a:fillRect l="-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6" name="Rectangle 185">
                <a:extLst>
                  <a:ext uri="{FF2B5EF4-FFF2-40B4-BE49-F238E27FC236}">
                    <a16:creationId xmlns:a16="http://schemas.microsoft.com/office/drawing/2014/main" id="{D9EAE925-705C-E818-0496-F2DB60877692}"/>
                  </a:ext>
                </a:extLst>
              </p:cNvPr>
              <p:cNvSpPr/>
              <p:nvPr/>
            </p:nvSpPr>
            <p:spPr>
              <a:xfrm>
                <a:off x="1547547" y="4263656"/>
                <a:ext cx="424732" cy="43593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2</m:t>
                          </m:r>
                        </m:sub>
                      </m:sSub>
                    </m:oMath>
                  </m:oMathPara>
                </a14:m>
                <a:endParaRPr lang="en-US" dirty="0"/>
              </a:p>
            </p:txBody>
          </p:sp>
        </mc:Choice>
        <mc:Fallback xmlns="">
          <p:sp>
            <p:nvSpPr>
              <p:cNvPr id="186" name="Rectangle 185">
                <a:extLst>
                  <a:ext uri="{FF2B5EF4-FFF2-40B4-BE49-F238E27FC236}">
                    <a16:creationId xmlns:a16="http://schemas.microsoft.com/office/drawing/2014/main" id="{D9EAE925-705C-E818-0496-F2DB60877692}"/>
                  </a:ext>
                </a:extLst>
              </p:cNvPr>
              <p:cNvSpPr>
                <a:spLocks noRot="1" noChangeAspect="1" noMove="1" noResize="1" noEditPoints="1" noAdjustHandles="1" noChangeArrowheads="1" noChangeShapeType="1" noTextEdit="1"/>
              </p:cNvSpPr>
              <p:nvPr/>
            </p:nvSpPr>
            <p:spPr>
              <a:xfrm>
                <a:off x="1547547" y="4263656"/>
                <a:ext cx="424732" cy="435935"/>
              </a:xfrm>
              <a:prstGeom prst="rect">
                <a:avLst/>
              </a:prstGeom>
              <a:blipFill>
                <a:blip r:embed="rId13"/>
                <a:stretch>
                  <a:fillRect l="-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7" name="Rectangle 186">
                <a:extLst>
                  <a:ext uri="{FF2B5EF4-FFF2-40B4-BE49-F238E27FC236}">
                    <a16:creationId xmlns:a16="http://schemas.microsoft.com/office/drawing/2014/main" id="{5C297EA4-3007-C30B-1BC1-6D9F32B27692}"/>
                  </a:ext>
                </a:extLst>
              </p:cNvPr>
              <p:cNvSpPr/>
              <p:nvPr/>
            </p:nvSpPr>
            <p:spPr>
              <a:xfrm>
                <a:off x="2472323" y="4263656"/>
                <a:ext cx="424732" cy="43593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3</m:t>
                          </m:r>
                        </m:sub>
                      </m:sSub>
                    </m:oMath>
                  </m:oMathPara>
                </a14:m>
                <a:endParaRPr lang="en-US" dirty="0"/>
              </a:p>
            </p:txBody>
          </p:sp>
        </mc:Choice>
        <mc:Fallback xmlns="">
          <p:sp>
            <p:nvSpPr>
              <p:cNvPr id="187" name="Rectangle 186">
                <a:extLst>
                  <a:ext uri="{FF2B5EF4-FFF2-40B4-BE49-F238E27FC236}">
                    <a16:creationId xmlns:a16="http://schemas.microsoft.com/office/drawing/2014/main" id="{5C297EA4-3007-C30B-1BC1-6D9F32B27692}"/>
                  </a:ext>
                </a:extLst>
              </p:cNvPr>
              <p:cNvSpPr>
                <a:spLocks noRot="1" noChangeAspect="1" noMove="1" noResize="1" noEditPoints="1" noAdjustHandles="1" noChangeArrowheads="1" noChangeShapeType="1" noTextEdit="1"/>
              </p:cNvSpPr>
              <p:nvPr/>
            </p:nvSpPr>
            <p:spPr>
              <a:xfrm>
                <a:off x="2472323" y="4263656"/>
                <a:ext cx="424732" cy="435935"/>
              </a:xfrm>
              <a:prstGeom prst="rect">
                <a:avLst/>
              </a:prstGeom>
              <a:blipFill>
                <a:blip r:embed="rId14"/>
                <a:stretch>
                  <a:fillRect l="-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8" name="Rectangle 187">
                <a:extLst>
                  <a:ext uri="{FF2B5EF4-FFF2-40B4-BE49-F238E27FC236}">
                    <a16:creationId xmlns:a16="http://schemas.microsoft.com/office/drawing/2014/main" id="{518B3372-5166-D075-5E34-EDD0FCCDF574}"/>
                  </a:ext>
                </a:extLst>
              </p:cNvPr>
              <p:cNvSpPr/>
              <p:nvPr/>
            </p:nvSpPr>
            <p:spPr>
              <a:xfrm>
                <a:off x="3455201" y="4278211"/>
                <a:ext cx="424732" cy="43593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𝑇</m:t>
                          </m:r>
                        </m:sub>
                      </m:sSub>
                    </m:oMath>
                  </m:oMathPara>
                </a14:m>
                <a:endParaRPr lang="en-US" dirty="0"/>
              </a:p>
            </p:txBody>
          </p:sp>
        </mc:Choice>
        <mc:Fallback xmlns="">
          <p:sp>
            <p:nvSpPr>
              <p:cNvPr id="188" name="Rectangle 187">
                <a:extLst>
                  <a:ext uri="{FF2B5EF4-FFF2-40B4-BE49-F238E27FC236}">
                    <a16:creationId xmlns:a16="http://schemas.microsoft.com/office/drawing/2014/main" id="{518B3372-5166-D075-5E34-EDD0FCCDF574}"/>
                  </a:ext>
                </a:extLst>
              </p:cNvPr>
              <p:cNvSpPr>
                <a:spLocks noRot="1" noChangeAspect="1" noMove="1" noResize="1" noEditPoints="1" noAdjustHandles="1" noChangeArrowheads="1" noChangeShapeType="1" noTextEdit="1"/>
              </p:cNvSpPr>
              <p:nvPr/>
            </p:nvSpPr>
            <p:spPr>
              <a:xfrm>
                <a:off x="3455201" y="4278211"/>
                <a:ext cx="424732" cy="435935"/>
              </a:xfrm>
              <a:prstGeom prst="rect">
                <a:avLst/>
              </a:prstGeom>
              <a:blipFill>
                <a:blip r:embed="rId15"/>
                <a:stretch>
                  <a:fillRect l="-5714"/>
                </a:stretch>
              </a:blipFill>
            </p:spPr>
            <p:txBody>
              <a:bodyPr/>
              <a:lstStyle/>
              <a:p>
                <a:r>
                  <a:rPr lang="en-US">
                    <a:noFill/>
                  </a:rPr>
                  <a:t> </a:t>
                </a:r>
              </a:p>
            </p:txBody>
          </p:sp>
        </mc:Fallback>
      </mc:AlternateContent>
      <p:cxnSp>
        <p:nvCxnSpPr>
          <p:cNvPr id="189" name="Straight Arrow Connector 188">
            <a:extLst>
              <a:ext uri="{FF2B5EF4-FFF2-40B4-BE49-F238E27FC236}">
                <a16:creationId xmlns:a16="http://schemas.microsoft.com/office/drawing/2014/main" id="{8AF51558-19DA-4576-0A0C-6252676E99AD}"/>
              </a:ext>
            </a:extLst>
          </p:cNvPr>
          <p:cNvCxnSpPr>
            <a:cxnSpLocks/>
            <a:stCxn id="187" idx="3"/>
            <a:endCxn id="188" idx="1"/>
          </p:cNvCxnSpPr>
          <p:nvPr/>
        </p:nvCxnSpPr>
        <p:spPr>
          <a:xfrm>
            <a:off x="2897055" y="4481624"/>
            <a:ext cx="558146" cy="1455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90" name="Group 189">
            <a:extLst>
              <a:ext uri="{FF2B5EF4-FFF2-40B4-BE49-F238E27FC236}">
                <a16:creationId xmlns:a16="http://schemas.microsoft.com/office/drawing/2014/main" id="{9C6F6443-8724-179B-9B91-3FF058FAF867}"/>
              </a:ext>
            </a:extLst>
          </p:cNvPr>
          <p:cNvGrpSpPr/>
          <p:nvPr/>
        </p:nvGrpSpPr>
        <p:grpSpPr>
          <a:xfrm>
            <a:off x="2999905" y="4347165"/>
            <a:ext cx="329532" cy="246221"/>
            <a:chOff x="2966499" y="3857245"/>
            <a:chExt cx="329532" cy="246221"/>
          </a:xfrm>
        </p:grpSpPr>
        <p:sp>
          <p:nvSpPr>
            <p:cNvPr id="191" name="TextBox 190">
              <a:extLst>
                <a:ext uri="{FF2B5EF4-FFF2-40B4-BE49-F238E27FC236}">
                  <a16:creationId xmlns:a16="http://schemas.microsoft.com/office/drawing/2014/main" id="{92BACBC4-D591-D2AF-2E7E-9E412CAB6C00}"/>
                </a:ext>
              </a:extLst>
            </p:cNvPr>
            <p:cNvSpPr txBox="1"/>
            <p:nvPr/>
          </p:nvSpPr>
          <p:spPr>
            <a:xfrm>
              <a:off x="3033827" y="3907765"/>
              <a:ext cx="187762" cy="184666"/>
            </a:xfrm>
            <a:prstGeom prst="rect">
              <a:avLst/>
            </a:prstGeom>
            <a:solidFill>
              <a:schemeClr val="bg1"/>
            </a:solidFill>
          </p:spPr>
          <p:txBody>
            <a:bodyPr wrap="square" rtlCol="0">
              <a:spAutoFit/>
            </a:bodyPr>
            <a:lstStyle/>
            <a:p>
              <a:endParaRPr lang="en-US" sz="600" dirty="0">
                <a:latin typeface="Microsoft YaHei" panose="020B0503020204020204" pitchFamily="34" charset="-122"/>
                <a:ea typeface="Microsoft YaHei" panose="020B0503020204020204" pitchFamily="34" charset="-122"/>
              </a:endParaRPr>
            </a:p>
          </p:txBody>
        </p:sp>
        <mc:AlternateContent xmlns:mc="http://schemas.openxmlformats.org/markup-compatibility/2006" xmlns:a14="http://schemas.microsoft.com/office/drawing/2010/main">
          <mc:Choice Requires="a14">
            <p:sp>
              <p:nvSpPr>
                <p:cNvPr id="192" name="TextBox 191">
                  <a:extLst>
                    <a:ext uri="{FF2B5EF4-FFF2-40B4-BE49-F238E27FC236}">
                      <a16:creationId xmlns:a16="http://schemas.microsoft.com/office/drawing/2014/main" id="{3906FA40-41E6-9B8D-9319-FDAE107F3143}"/>
                    </a:ext>
                  </a:extLst>
                </p:cNvPr>
                <p:cNvSpPr txBox="1"/>
                <p:nvPr/>
              </p:nvSpPr>
              <p:spPr>
                <a:xfrm>
                  <a:off x="2966499" y="3857245"/>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192" name="TextBox 191">
                  <a:extLst>
                    <a:ext uri="{FF2B5EF4-FFF2-40B4-BE49-F238E27FC236}">
                      <a16:creationId xmlns:a16="http://schemas.microsoft.com/office/drawing/2014/main" id="{3906FA40-41E6-9B8D-9319-FDAE107F3143}"/>
                    </a:ext>
                  </a:extLst>
                </p:cNvPr>
                <p:cNvSpPr txBox="1">
                  <a:spLocks noRot="1" noChangeAspect="1" noMove="1" noResize="1" noEditPoints="1" noAdjustHandles="1" noChangeArrowheads="1" noChangeShapeType="1" noTextEdit="1"/>
                </p:cNvSpPr>
                <p:nvPr/>
              </p:nvSpPr>
              <p:spPr>
                <a:xfrm>
                  <a:off x="2966499" y="3857245"/>
                  <a:ext cx="329532" cy="246221"/>
                </a:xfrm>
                <a:prstGeom prst="rect">
                  <a:avLst/>
                </a:prstGeom>
                <a:blipFill>
                  <a:blip r:embed="rId16"/>
                  <a:stretch>
                    <a:fillRect/>
                  </a:stretch>
                </a:blipFill>
              </p:spPr>
              <p:txBody>
                <a:bodyPr/>
                <a:lstStyle/>
                <a:p>
                  <a:r>
                    <a:rPr lang="en-US">
                      <a:noFill/>
                    </a:rPr>
                    <a:t> </a:t>
                  </a:r>
                </a:p>
              </p:txBody>
            </p:sp>
          </mc:Fallback>
        </mc:AlternateContent>
      </p:grpSp>
      <p:cxnSp>
        <p:nvCxnSpPr>
          <p:cNvPr id="193" name="Straight Arrow Connector 192">
            <a:extLst>
              <a:ext uri="{FF2B5EF4-FFF2-40B4-BE49-F238E27FC236}">
                <a16:creationId xmlns:a16="http://schemas.microsoft.com/office/drawing/2014/main" id="{B0A260C2-2A4D-B879-F769-6FC9DCB4729F}"/>
              </a:ext>
            </a:extLst>
          </p:cNvPr>
          <p:cNvCxnSpPr>
            <a:cxnSpLocks/>
            <a:stCxn id="186" idx="3"/>
            <a:endCxn id="187" idx="1"/>
          </p:cNvCxnSpPr>
          <p:nvPr/>
        </p:nvCxnSpPr>
        <p:spPr>
          <a:xfrm>
            <a:off x="1972279" y="4481624"/>
            <a:ext cx="50004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1913CB43-E1F2-F81D-7971-ED45563B4F33}"/>
              </a:ext>
            </a:extLst>
          </p:cNvPr>
          <p:cNvCxnSpPr>
            <a:cxnSpLocks/>
            <a:stCxn id="185" idx="3"/>
            <a:endCxn id="186" idx="1"/>
          </p:cNvCxnSpPr>
          <p:nvPr/>
        </p:nvCxnSpPr>
        <p:spPr>
          <a:xfrm>
            <a:off x="1086529" y="4481624"/>
            <a:ext cx="46101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5" name="Straight Arrow Connector 194">
            <a:extLst>
              <a:ext uri="{FF2B5EF4-FFF2-40B4-BE49-F238E27FC236}">
                <a16:creationId xmlns:a16="http://schemas.microsoft.com/office/drawing/2014/main" id="{FB36F77A-3BBC-22F6-7C9F-39EDEEA725FD}"/>
              </a:ext>
            </a:extLst>
          </p:cNvPr>
          <p:cNvCxnSpPr/>
          <p:nvPr/>
        </p:nvCxnSpPr>
        <p:spPr>
          <a:xfrm flipH="1" flipV="1">
            <a:off x="850482" y="4861970"/>
            <a:ext cx="3578"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6" name="Straight Arrow Connector 195">
            <a:extLst>
              <a:ext uri="{FF2B5EF4-FFF2-40B4-BE49-F238E27FC236}">
                <a16:creationId xmlns:a16="http://schemas.microsoft.com/office/drawing/2014/main" id="{F72A4991-12D6-C3EF-2E42-8E6F68D4BB02}"/>
              </a:ext>
            </a:extLst>
          </p:cNvPr>
          <p:cNvCxnSpPr>
            <a:cxnSpLocks/>
          </p:cNvCxnSpPr>
          <p:nvPr/>
        </p:nvCxnSpPr>
        <p:spPr>
          <a:xfrm flipV="1">
            <a:off x="1733518" y="4861970"/>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7" name="Straight Arrow Connector 196">
            <a:extLst>
              <a:ext uri="{FF2B5EF4-FFF2-40B4-BE49-F238E27FC236}">
                <a16:creationId xmlns:a16="http://schemas.microsoft.com/office/drawing/2014/main" id="{9B79A50C-2325-E29B-F6AA-AB18CE535C06}"/>
              </a:ext>
            </a:extLst>
          </p:cNvPr>
          <p:cNvCxnSpPr>
            <a:cxnSpLocks/>
          </p:cNvCxnSpPr>
          <p:nvPr/>
        </p:nvCxnSpPr>
        <p:spPr>
          <a:xfrm flipV="1">
            <a:off x="2679112" y="4828766"/>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9BA56E42-A06C-8AF3-E298-BD674F66B213}"/>
              </a:ext>
            </a:extLst>
          </p:cNvPr>
          <p:cNvCxnSpPr>
            <a:cxnSpLocks/>
          </p:cNvCxnSpPr>
          <p:nvPr/>
        </p:nvCxnSpPr>
        <p:spPr>
          <a:xfrm flipV="1">
            <a:off x="3635338" y="4861969"/>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F84FEAE3-7B86-74FC-FCCE-61356177309A}"/>
                  </a:ext>
                </a:extLst>
              </p:cNvPr>
              <p:cNvSpPr txBox="1"/>
              <p:nvPr/>
            </p:nvSpPr>
            <p:spPr>
              <a:xfrm>
                <a:off x="3040699" y="5108610"/>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199" name="TextBox 198">
                <a:extLst>
                  <a:ext uri="{FF2B5EF4-FFF2-40B4-BE49-F238E27FC236}">
                    <a16:creationId xmlns:a16="http://schemas.microsoft.com/office/drawing/2014/main" id="{F84FEAE3-7B86-74FC-FCCE-61356177309A}"/>
                  </a:ext>
                </a:extLst>
              </p:cNvPr>
              <p:cNvSpPr txBox="1">
                <a:spLocks noRot="1" noChangeAspect="1" noMove="1" noResize="1" noEditPoints="1" noAdjustHandles="1" noChangeArrowheads="1" noChangeShapeType="1" noTextEdit="1"/>
              </p:cNvSpPr>
              <p:nvPr/>
            </p:nvSpPr>
            <p:spPr>
              <a:xfrm>
                <a:off x="3040699" y="5108610"/>
                <a:ext cx="329532" cy="246221"/>
              </a:xfrm>
              <a:prstGeom prst="rect">
                <a:avLst/>
              </a:prstGeom>
              <a:blipFill>
                <a:blip r:embed="rId17"/>
                <a:stretch>
                  <a:fillRect/>
                </a:stretch>
              </a:blipFill>
            </p:spPr>
            <p:txBody>
              <a:bodyPr/>
              <a:lstStyle/>
              <a:p>
                <a:r>
                  <a:rPr lang="en-US">
                    <a:noFill/>
                  </a:rPr>
                  <a:t> </a:t>
                </a:r>
              </a:p>
            </p:txBody>
          </p:sp>
        </mc:Fallback>
      </mc:AlternateContent>
      <p:cxnSp>
        <p:nvCxnSpPr>
          <p:cNvPr id="200" name="Straight Arrow Connector 199">
            <a:extLst>
              <a:ext uri="{FF2B5EF4-FFF2-40B4-BE49-F238E27FC236}">
                <a16:creationId xmlns:a16="http://schemas.microsoft.com/office/drawing/2014/main" id="{F8547AF9-87B7-E95B-CCC2-ACDB52BAF5D6}"/>
              </a:ext>
            </a:extLst>
          </p:cNvPr>
          <p:cNvCxnSpPr>
            <a:cxnSpLocks/>
          </p:cNvCxnSpPr>
          <p:nvPr/>
        </p:nvCxnSpPr>
        <p:spPr>
          <a:xfrm>
            <a:off x="3897926" y="4495611"/>
            <a:ext cx="1141907" cy="56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1" name="Rectangle 200">
                <a:extLst>
                  <a:ext uri="{FF2B5EF4-FFF2-40B4-BE49-F238E27FC236}">
                    <a16:creationId xmlns:a16="http://schemas.microsoft.com/office/drawing/2014/main" id="{8CC6FA6D-88EA-5073-49B9-698D825AC84D}"/>
                  </a:ext>
                </a:extLst>
              </p:cNvPr>
              <p:cNvSpPr/>
              <p:nvPr/>
            </p:nvSpPr>
            <p:spPr>
              <a:xfrm>
                <a:off x="5061463" y="4278211"/>
                <a:ext cx="424732" cy="43593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𝑠</m:t>
                          </m:r>
                        </m:e>
                        <m:sub>
                          <m:r>
                            <a:rPr lang="en-US" altLang="zh-CN" b="0" i="1" smtClean="0">
                              <a:solidFill>
                                <a:schemeClr val="tx1"/>
                              </a:solidFill>
                              <a:latin typeface="Cambria Math" panose="02040503050406030204" pitchFamily="18" charset="0"/>
                            </a:rPr>
                            <m:t>0</m:t>
                          </m:r>
                        </m:sub>
                      </m:sSub>
                    </m:oMath>
                  </m:oMathPara>
                </a14:m>
                <a:endParaRPr lang="en-US" dirty="0"/>
              </a:p>
            </p:txBody>
          </p:sp>
        </mc:Choice>
        <mc:Fallback xmlns="">
          <p:sp>
            <p:nvSpPr>
              <p:cNvPr id="201" name="Rectangle 200">
                <a:extLst>
                  <a:ext uri="{FF2B5EF4-FFF2-40B4-BE49-F238E27FC236}">
                    <a16:creationId xmlns:a16="http://schemas.microsoft.com/office/drawing/2014/main" id="{8CC6FA6D-88EA-5073-49B9-698D825AC84D}"/>
                  </a:ext>
                </a:extLst>
              </p:cNvPr>
              <p:cNvSpPr>
                <a:spLocks noRot="1" noChangeAspect="1" noMove="1" noResize="1" noEditPoints="1" noAdjustHandles="1" noChangeArrowheads="1" noChangeShapeType="1" noTextEdit="1"/>
              </p:cNvSpPr>
              <p:nvPr/>
            </p:nvSpPr>
            <p:spPr>
              <a:xfrm>
                <a:off x="5061463" y="4278211"/>
                <a:ext cx="424732" cy="435935"/>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2" name="TextBox 201">
                <a:extLst>
                  <a:ext uri="{FF2B5EF4-FFF2-40B4-BE49-F238E27FC236}">
                    <a16:creationId xmlns:a16="http://schemas.microsoft.com/office/drawing/2014/main" id="{7AF909CA-D924-4AA8-22F3-0192B08426EB}"/>
                  </a:ext>
                </a:extLst>
              </p:cNvPr>
              <p:cNvSpPr txBox="1"/>
              <p:nvPr/>
            </p:nvSpPr>
            <p:spPr>
              <a:xfrm>
                <a:off x="574219" y="3546585"/>
                <a:ext cx="56098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01</m:t>
                          </m:r>
                        </m:sub>
                      </m:sSub>
                    </m:oMath>
                  </m:oMathPara>
                </a14:m>
                <a:endParaRPr lang="en-US" dirty="0"/>
              </a:p>
            </p:txBody>
          </p:sp>
        </mc:Choice>
        <mc:Fallback xmlns="">
          <p:sp>
            <p:nvSpPr>
              <p:cNvPr id="202" name="TextBox 201">
                <a:extLst>
                  <a:ext uri="{FF2B5EF4-FFF2-40B4-BE49-F238E27FC236}">
                    <a16:creationId xmlns:a16="http://schemas.microsoft.com/office/drawing/2014/main" id="{7AF909CA-D924-4AA8-22F3-0192B08426EB}"/>
                  </a:ext>
                </a:extLst>
              </p:cNvPr>
              <p:cNvSpPr txBox="1">
                <a:spLocks noRot="1" noChangeAspect="1" noMove="1" noResize="1" noEditPoints="1" noAdjustHandles="1" noChangeArrowheads="1" noChangeShapeType="1" noTextEdit="1"/>
              </p:cNvSpPr>
              <p:nvPr/>
            </p:nvSpPr>
            <p:spPr>
              <a:xfrm>
                <a:off x="574219" y="3546585"/>
                <a:ext cx="560987"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3" name="TextBox 202">
                <a:extLst>
                  <a:ext uri="{FF2B5EF4-FFF2-40B4-BE49-F238E27FC236}">
                    <a16:creationId xmlns:a16="http://schemas.microsoft.com/office/drawing/2014/main" id="{AD7365F7-0B84-9BC6-B884-71B59B7269BD}"/>
                  </a:ext>
                </a:extLst>
              </p:cNvPr>
              <p:cNvSpPr txBox="1"/>
              <p:nvPr/>
            </p:nvSpPr>
            <p:spPr>
              <a:xfrm>
                <a:off x="1454648" y="3546585"/>
                <a:ext cx="56098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02</m:t>
                          </m:r>
                        </m:sub>
                      </m:sSub>
                    </m:oMath>
                  </m:oMathPara>
                </a14:m>
                <a:endParaRPr lang="en-US" dirty="0"/>
              </a:p>
            </p:txBody>
          </p:sp>
        </mc:Choice>
        <mc:Fallback xmlns="">
          <p:sp>
            <p:nvSpPr>
              <p:cNvPr id="203" name="TextBox 202">
                <a:extLst>
                  <a:ext uri="{FF2B5EF4-FFF2-40B4-BE49-F238E27FC236}">
                    <a16:creationId xmlns:a16="http://schemas.microsoft.com/office/drawing/2014/main" id="{AD7365F7-0B84-9BC6-B884-71B59B7269BD}"/>
                  </a:ext>
                </a:extLst>
              </p:cNvPr>
              <p:cNvSpPr txBox="1">
                <a:spLocks noRot="1" noChangeAspect="1" noMove="1" noResize="1" noEditPoints="1" noAdjustHandles="1" noChangeArrowheads="1" noChangeShapeType="1" noTextEdit="1"/>
              </p:cNvSpPr>
              <p:nvPr/>
            </p:nvSpPr>
            <p:spPr>
              <a:xfrm>
                <a:off x="1454648" y="3546585"/>
                <a:ext cx="560987"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15E4F709-FD6D-2BFD-8433-42DFB9D3E797}"/>
                  </a:ext>
                </a:extLst>
              </p:cNvPr>
              <p:cNvSpPr txBox="1"/>
              <p:nvPr/>
            </p:nvSpPr>
            <p:spPr>
              <a:xfrm>
                <a:off x="2393548" y="3546585"/>
                <a:ext cx="56098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03</m:t>
                          </m:r>
                        </m:sub>
                      </m:sSub>
                    </m:oMath>
                  </m:oMathPara>
                </a14:m>
                <a:endParaRPr lang="en-US" dirty="0"/>
              </a:p>
            </p:txBody>
          </p:sp>
        </mc:Choice>
        <mc:Fallback xmlns="">
          <p:sp>
            <p:nvSpPr>
              <p:cNvPr id="204" name="TextBox 203">
                <a:extLst>
                  <a:ext uri="{FF2B5EF4-FFF2-40B4-BE49-F238E27FC236}">
                    <a16:creationId xmlns:a16="http://schemas.microsoft.com/office/drawing/2014/main" id="{15E4F709-FD6D-2BFD-8433-42DFB9D3E797}"/>
                  </a:ext>
                </a:extLst>
              </p:cNvPr>
              <p:cNvSpPr txBox="1">
                <a:spLocks noRot="1" noChangeAspect="1" noMove="1" noResize="1" noEditPoints="1" noAdjustHandles="1" noChangeArrowheads="1" noChangeShapeType="1" noTextEdit="1"/>
              </p:cNvSpPr>
              <p:nvPr/>
            </p:nvSpPr>
            <p:spPr>
              <a:xfrm>
                <a:off x="2393548" y="3546585"/>
                <a:ext cx="560987"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6E11376-F31D-3FF5-5B5C-6B610B4783BA}"/>
                  </a:ext>
                </a:extLst>
              </p:cNvPr>
              <p:cNvSpPr txBox="1"/>
              <p:nvPr/>
            </p:nvSpPr>
            <p:spPr>
              <a:xfrm>
                <a:off x="3367173" y="3573156"/>
                <a:ext cx="57246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0</m:t>
                          </m:r>
                          <m:r>
                            <a:rPr lang="en-US" altLang="zh-CN" b="0" i="1" smtClean="0">
                              <a:latin typeface="Cambria Math" panose="02040503050406030204" pitchFamily="18" charset="0"/>
                            </a:rPr>
                            <m:t>𝑇</m:t>
                          </m:r>
                        </m:sub>
                      </m:sSub>
                    </m:oMath>
                  </m:oMathPara>
                </a14:m>
                <a:endParaRPr lang="en-US" dirty="0"/>
              </a:p>
            </p:txBody>
          </p:sp>
        </mc:Choice>
        <mc:Fallback xmlns="">
          <p:sp>
            <p:nvSpPr>
              <p:cNvPr id="205" name="TextBox 204">
                <a:extLst>
                  <a:ext uri="{FF2B5EF4-FFF2-40B4-BE49-F238E27FC236}">
                    <a16:creationId xmlns:a16="http://schemas.microsoft.com/office/drawing/2014/main" id="{E6E11376-F31D-3FF5-5B5C-6B610B4783BA}"/>
                  </a:ext>
                </a:extLst>
              </p:cNvPr>
              <p:cNvSpPr txBox="1">
                <a:spLocks noRot="1" noChangeAspect="1" noMove="1" noResize="1" noEditPoints="1" noAdjustHandles="1" noChangeArrowheads="1" noChangeShapeType="1" noTextEdit="1"/>
              </p:cNvSpPr>
              <p:nvPr/>
            </p:nvSpPr>
            <p:spPr>
              <a:xfrm>
                <a:off x="3367173" y="3573156"/>
                <a:ext cx="572464" cy="369332"/>
              </a:xfrm>
              <a:prstGeom prst="rect">
                <a:avLst/>
              </a:prstGeom>
              <a:blipFill>
                <a:blip r:embed="rId22"/>
                <a:stretch>
                  <a:fillRect b="-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07224881-867F-1E84-0063-2C4D16AFBB3E}"/>
                  </a:ext>
                </a:extLst>
              </p:cNvPr>
              <p:cNvSpPr txBox="1"/>
              <p:nvPr/>
            </p:nvSpPr>
            <p:spPr>
              <a:xfrm>
                <a:off x="3058253" y="3632397"/>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206" name="TextBox 205">
                <a:extLst>
                  <a:ext uri="{FF2B5EF4-FFF2-40B4-BE49-F238E27FC236}">
                    <a16:creationId xmlns:a16="http://schemas.microsoft.com/office/drawing/2014/main" id="{07224881-867F-1E84-0063-2C4D16AFBB3E}"/>
                  </a:ext>
                </a:extLst>
              </p:cNvPr>
              <p:cNvSpPr txBox="1">
                <a:spLocks noRot="1" noChangeAspect="1" noMove="1" noResize="1" noEditPoints="1" noAdjustHandles="1" noChangeArrowheads="1" noChangeShapeType="1" noTextEdit="1"/>
              </p:cNvSpPr>
              <p:nvPr/>
            </p:nvSpPr>
            <p:spPr>
              <a:xfrm>
                <a:off x="3058253" y="3632397"/>
                <a:ext cx="329532" cy="246221"/>
              </a:xfrm>
              <a:prstGeom prst="rect">
                <a:avLst/>
              </a:prstGeom>
              <a:blipFill>
                <a:blip r:embed="rId23"/>
                <a:stretch>
                  <a:fillRect/>
                </a:stretch>
              </a:blipFill>
            </p:spPr>
            <p:txBody>
              <a:bodyPr/>
              <a:lstStyle/>
              <a:p>
                <a:r>
                  <a:rPr lang="en-US">
                    <a:noFill/>
                  </a:rPr>
                  <a:t> </a:t>
                </a:r>
              </a:p>
            </p:txBody>
          </p:sp>
        </mc:Fallback>
      </mc:AlternateContent>
      <p:cxnSp>
        <p:nvCxnSpPr>
          <p:cNvPr id="207" name="Straight Arrow Connector 206">
            <a:extLst>
              <a:ext uri="{FF2B5EF4-FFF2-40B4-BE49-F238E27FC236}">
                <a16:creationId xmlns:a16="http://schemas.microsoft.com/office/drawing/2014/main" id="{6C7ED68E-8C56-DB5F-84B4-4F63AE3E4CD9}"/>
              </a:ext>
            </a:extLst>
          </p:cNvPr>
          <p:cNvCxnSpPr>
            <a:cxnSpLocks/>
          </p:cNvCxnSpPr>
          <p:nvPr/>
        </p:nvCxnSpPr>
        <p:spPr>
          <a:xfrm flipV="1">
            <a:off x="749886" y="3915917"/>
            <a:ext cx="6975" cy="30723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8" name="Straight Arrow Connector 207">
            <a:extLst>
              <a:ext uri="{FF2B5EF4-FFF2-40B4-BE49-F238E27FC236}">
                <a16:creationId xmlns:a16="http://schemas.microsoft.com/office/drawing/2014/main" id="{891C67F0-A935-6542-D64A-6CE54DD76600}"/>
              </a:ext>
            </a:extLst>
          </p:cNvPr>
          <p:cNvCxnSpPr>
            <a:cxnSpLocks/>
          </p:cNvCxnSpPr>
          <p:nvPr/>
        </p:nvCxnSpPr>
        <p:spPr>
          <a:xfrm flipV="1">
            <a:off x="1629343" y="3915917"/>
            <a:ext cx="0" cy="30723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9" name="Straight Arrow Connector 208">
            <a:extLst>
              <a:ext uri="{FF2B5EF4-FFF2-40B4-BE49-F238E27FC236}">
                <a16:creationId xmlns:a16="http://schemas.microsoft.com/office/drawing/2014/main" id="{39661A70-105A-4B2C-AC3B-7F69475D5BAF}"/>
              </a:ext>
            </a:extLst>
          </p:cNvPr>
          <p:cNvCxnSpPr>
            <a:cxnSpLocks/>
          </p:cNvCxnSpPr>
          <p:nvPr/>
        </p:nvCxnSpPr>
        <p:spPr>
          <a:xfrm flipH="1" flipV="1">
            <a:off x="2578850" y="3915917"/>
            <a:ext cx="1664" cy="34773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0" name="Straight Arrow Connector 209">
            <a:extLst>
              <a:ext uri="{FF2B5EF4-FFF2-40B4-BE49-F238E27FC236}">
                <a16:creationId xmlns:a16="http://schemas.microsoft.com/office/drawing/2014/main" id="{3FD73929-A4AB-90FB-B8AE-00AC13AF83E5}"/>
              </a:ext>
            </a:extLst>
          </p:cNvPr>
          <p:cNvCxnSpPr>
            <a:cxnSpLocks/>
          </p:cNvCxnSpPr>
          <p:nvPr/>
        </p:nvCxnSpPr>
        <p:spPr>
          <a:xfrm flipH="1" flipV="1">
            <a:off x="3562317" y="3942488"/>
            <a:ext cx="1075" cy="33572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1" name="Elbow Connector 210">
            <a:extLst>
              <a:ext uri="{FF2B5EF4-FFF2-40B4-BE49-F238E27FC236}">
                <a16:creationId xmlns:a16="http://schemas.microsoft.com/office/drawing/2014/main" id="{14430B9D-3E1F-F698-79D7-20B328EFEFFE}"/>
              </a:ext>
            </a:extLst>
          </p:cNvPr>
          <p:cNvCxnSpPr>
            <a:stCxn id="201" idx="0"/>
            <a:endCxn id="202" idx="2"/>
          </p:cNvCxnSpPr>
          <p:nvPr/>
        </p:nvCxnSpPr>
        <p:spPr>
          <a:xfrm rot="16200000" flipV="1">
            <a:off x="2883124" y="1887506"/>
            <a:ext cx="362294" cy="4419116"/>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2" name="Straight Arrow Connector 211">
            <a:extLst>
              <a:ext uri="{FF2B5EF4-FFF2-40B4-BE49-F238E27FC236}">
                <a16:creationId xmlns:a16="http://schemas.microsoft.com/office/drawing/2014/main" id="{6E3D4D30-6F63-6C72-3AD0-350717CE14D5}"/>
              </a:ext>
            </a:extLst>
          </p:cNvPr>
          <p:cNvCxnSpPr>
            <a:cxnSpLocks/>
          </p:cNvCxnSpPr>
          <p:nvPr/>
        </p:nvCxnSpPr>
        <p:spPr>
          <a:xfrm flipV="1">
            <a:off x="1781743" y="3929420"/>
            <a:ext cx="0" cy="180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3" name="Straight Arrow Connector 212">
            <a:extLst>
              <a:ext uri="{FF2B5EF4-FFF2-40B4-BE49-F238E27FC236}">
                <a16:creationId xmlns:a16="http://schemas.microsoft.com/office/drawing/2014/main" id="{BCD12F0B-2EFC-A5AF-E8AE-A78B6C0A6D6E}"/>
              </a:ext>
            </a:extLst>
          </p:cNvPr>
          <p:cNvCxnSpPr>
            <a:cxnSpLocks/>
          </p:cNvCxnSpPr>
          <p:nvPr/>
        </p:nvCxnSpPr>
        <p:spPr>
          <a:xfrm flipH="1" flipV="1">
            <a:off x="2731250" y="3929420"/>
            <a:ext cx="1664" cy="180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4" name="Straight Arrow Connector 213">
            <a:extLst>
              <a:ext uri="{FF2B5EF4-FFF2-40B4-BE49-F238E27FC236}">
                <a16:creationId xmlns:a16="http://schemas.microsoft.com/office/drawing/2014/main" id="{07B39721-9CFA-E891-37AD-4767A7E537F4}"/>
              </a:ext>
            </a:extLst>
          </p:cNvPr>
          <p:cNvCxnSpPr>
            <a:cxnSpLocks/>
          </p:cNvCxnSpPr>
          <p:nvPr/>
        </p:nvCxnSpPr>
        <p:spPr>
          <a:xfrm flipH="1" flipV="1">
            <a:off x="3714717" y="3955991"/>
            <a:ext cx="1075" cy="180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5" name="Rectangle 214">
                <a:extLst>
                  <a:ext uri="{FF2B5EF4-FFF2-40B4-BE49-F238E27FC236}">
                    <a16:creationId xmlns:a16="http://schemas.microsoft.com/office/drawing/2014/main" id="{2919BB17-0D27-9ABF-D0F3-2A394BC3FDBB}"/>
                  </a:ext>
                </a:extLst>
              </p:cNvPr>
              <p:cNvSpPr/>
              <p:nvPr/>
            </p:nvSpPr>
            <p:spPr>
              <a:xfrm>
                <a:off x="614539" y="2848439"/>
                <a:ext cx="3265393" cy="43593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n-US" altLang="zh-CN" b="0" i="0" smtClean="0">
                          <a:solidFill>
                            <a:schemeClr val="tx1"/>
                          </a:solidFill>
                          <a:latin typeface="Cambria Math" panose="02040503050406030204" pitchFamily="18" charset="0"/>
                        </a:rPr>
                        <m:t>Softmax</m:t>
                      </m:r>
                    </m:oMath>
                  </m:oMathPara>
                </a14:m>
                <a:endParaRPr lang="en-US" dirty="0"/>
              </a:p>
            </p:txBody>
          </p:sp>
        </mc:Choice>
        <mc:Fallback xmlns="">
          <p:sp>
            <p:nvSpPr>
              <p:cNvPr id="215" name="Rectangle 214">
                <a:extLst>
                  <a:ext uri="{FF2B5EF4-FFF2-40B4-BE49-F238E27FC236}">
                    <a16:creationId xmlns:a16="http://schemas.microsoft.com/office/drawing/2014/main" id="{2919BB17-0D27-9ABF-D0F3-2A394BC3FDBB}"/>
                  </a:ext>
                </a:extLst>
              </p:cNvPr>
              <p:cNvSpPr>
                <a:spLocks noRot="1" noChangeAspect="1" noMove="1" noResize="1" noEditPoints="1" noAdjustHandles="1" noChangeArrowheads="1" noChangeShapeType="1" noTextEdit="1"/>
              </p:cNvSpPr>
              <p:nvPr/>
            </p:nvSpPr>
            <p:spPr>
              <a:xfrm>
                <a:off x="614539" y="2848439"/>
                <a:ext cx="3265393" cy="435935"/>
              </a:xfrm>
              <a:prstGeom prst="rect">
                <a:avLst/>
              </a:prstGeom>
              <a:blipFill>
                <a:blip r:embed="rId24"/>
                <a:stretch>
                  <a:fillRect/>
                </a:stretch>
              </a:blipFill>
            </p:spPr>
            <p:txBody>
              <a:bodyPr/>
              <a:lstStyle/>
              <a:p>
                <a:r>
                  <a:rPr lang="en-US">
                    <a:noFill/>
                  </a:rPr>
                  <a:t> </a:t>
                </a:r>
              </a:p>
            </p:txBody>
          </p:sp>
        </mc:Fallback>
      </mc:AlternateContent>
      <p:cxnSp>
        <p:nvCxnSpPr>
          <p:cNvPr id="216" name="Straight Arrow Connector 215">
            <a:extLst>
              <a:ext uri="{FF2B5EF4-FFF2-40B4-BE49-F238E27FC236}">
                <a16:creationId xmlns:a16="http://schemas.microsoft.com/office/drawing/2014/main" id="{D2178FF2-C653-2DBF-1F63-92F9E0382A32}"/>
              </a:ext>
            </a:extLst>
          </p:cNvPr>
          <p:cNvCxnSpPr>
            <a:cxnSpLocks/>
          </p:cNvCxnSpPr>
          <p:nvPr/>
        </p:nvCxnSpPr>
        <p:spPr>
          <a:xfrm flipH="1" flipV="1">
            <a:off x="838666" y="3371413"/>
            <a:ext cx="3578"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7" name="Straight Arrow Connector 216">
            <a:extLst>
              <a:ext uri="{FF2B5EF4-FFF2-40B4-BE49-F238E27FC236}">
                <a16:creationId xmlns:a16="http://schemas.microsoft.com/office/drawing/2014/main" id="{62BCC3CE-6859-E05B-6D14-31C54E64143E}"/>
              </a:ext>
            </a:extLst>
          </p:cNvPr>
          <p:cNvCxnSpPr>
            <a:cxnSpLocks/>
          </p:cNvCxnSpPr>
          <p:nvPr/>
        </p:nvCxnSpPr>
        <p:spPr>
          <a:xfrm flipV="1">
            <a:off x="1721702" y="3371413"/>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8" name="Straight Arrow Connector 217">
            <a:extLst>
              <a:ext uri="{FF2B5EF4-FFF2-40B4-BE49-F238E27FC236}">
                <a16:creationId xmlns:a16="http://schemas.microsoft.com/office/drawing/2014/main" id="{79502126-230A-1CE5-8E8B-65CC6C24BF82}"/>
              </a:ext>
            </a:extLst>
          </p:cNvPr>
          <p:cNvCxnSpPr>
            <a:cxnSpLocks/>
          </p:cNvCxnSpPr>
          <p:nvPr/>
        </p:nvCxnSpPr>
        <p:spPr>
          <a:xfrm flipV="1">
            <a:off x="2667296" y="3371413"/>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9" name="Straight Arrow Connector 218">
            <a:extLst>
              <a:ext uri="{FF2B5EF4-FFF2-40B4-BE49-F238E27FC236}">
                <a16:creationId xmlns:a16="http://schemas.microsoft.com/office/drawing/2014/main" id="{CCF0E6EA-94E6-2E81-9486-E6DC8F217849}"/>
              </a:ext>
            </a:extLst>
          </p:cNvPr>
          <p:cNvCxnSpPr>
            <a:cxnSpLocks/>
          </p:cNvCxnSpPr>
          <p:nvPr/>
        </p:nvCxnSpPr>
        <p:spPr>
          <a:xfrm flipV="1">
            <a:off x="3623522" y="3371413"/>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0" name="TextBox 219">
                <a:extLst>
                  <a:ext uri="{FF2B5EF4-FFF2-40B4-BE49-F238E27FC236}">
                    <a16:creationId xmlns:a16="http://schemas.microsoft.com/office/drawing/2014/main" id="{924B39BA-7803-4C3A-9319-7915F91656BB}"/>
                  </a:ext>
                </a:extLst>
              </p:cNvPr>
              <p:cNvSpPr txBox="1"/>
              <p:nvPr/>
            </p:nvSpPr>
            <p:spPr>
              <a:xfrm>
                <a:off x="555716" y="2113544"/>
                <a:ext cx="58214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01</m:t>
                          </m:r>
                        </m:sub>
                      </m:sSub>
                    </m:oMath>
                  </m:oMathPara>
                </a14:m>
                <a:endParaRPr lang="en-US" dirty="0"/>
              </a:p>
            </p:txBody>
          </p:sp>
        </mc:Choice>
        <mc:Fallback xmlns="">
          <p:sp>
            <p:nvSpPr>
              <p:cNvPr id="220" name="TextBox 219">
                <a:extLst>
                  <a:ext uri="{FF2B5EF4-FFF2-40B4-BE49-F238E27FC236}">
                    <a16:creationId xmlns:a16="http://schemas.microsoft.com/office/drawing/2014/main" id="{924B39BA-7803-4C3A-9319-7915F91656BB}"/>
                  </a:ext>
                </a:extLst>
              </p:cNvPr>
              <p:cNvSpPr txBox="1">
                <a:spLocks noRot="1" noChangeAspect="1" noMove="1" noResize="1" noEditPoints="1" noAdjustHandles="1" noChangeArrowheads="1" noChangeShapeType="1" noTextEdit="1"/>
              </p:cNvSpPr>
              <p:nvPr/>
            </p:nvSpPr>
            <p:spPr>
              <a:xfrm>
                <a:off x="555716" y="2113544"/>
                <a:ext cx="582147"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1" name="TextBox 220">
                <a:extLst>
                  <a:ext uri="{FF2B5EF4-FFF2-40B4-BE49-F238E27FC236}">
                    <a16:creationId xmlns:a16="http://schemas.microsoft.com/office/drawing/2014/main" id="{28117F12-2542-1FB7-2ACC-2DD3192CFEE6}"/>
                  </a:ext>
                </a:extLst>
              </p:cNvPr>
              <p:cNvSpPr txBox="1"/>
              <p:nvPr/>
            </p:nvSpPr>
            <p:spPr>
              <a:xfrm>
                <a:off x="1436145" y="2113544"/>
                <a:ext cx="58214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02</m:t>
                          </m:r>
                        </m:sub>
                      </m:sSub>
                    </m:oMath>
                  </m:oMathPara>
                </a14:m>
                <a:endParaRPr lang="en-US" dirty="0"/>
              </a:p>
            </p:txBody>
          </p:sp>
        </mc:Choice>
        <mc:Fallback xmlns="">
          <p:sp>
            <p:nvSpPr>
              <p:cNvPr id="221" name="TextBox 220">
                <a:extLst>
                  <a:ext uri="{FF2B5EF4-FFF2-40B4-BE49-F238E27FC236}">
                    <a16:creationId xmlns:a16="http://schemas.microsoft.com/office/drawing/2014/main" id="{28117F12-2542-1FB7-2ACC-2DD3192CFEE6}"/>
                  </a:ext>
                </a:extLst>
              </p:cNvPr>
              <p:cNvSpPr txBox="1">
                <a:spLocks noRot="1" noChangeAspect="1" noMove="1" noResize="1" noEditPoints="1" noAdjustHandles="1" noChangeArrowheads="1" noChangeShapeType="1" noTextEdit="1"/>
              </p:cNvSpPr>
              <p:nvPr/>
            </p:nvSpPr>
            <p:spPr>
              <a:xfrm>
                <a:off x="1436145" y="2113544"/>
                <a:ext cx="582147"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2" name="TextBox 221">
                <a:extLst>
                  <a:ext uri="{FF2B5EF4-FFF2-40B4-BE49-F238E27FC236}">
                    <a16:creationId xmlns:a16="http://schemas.microsoft.com/office/drawing/2014/main" id="{8ADB19F6-5C4E-C2DD-9D03-8C911610CAEA}"/>
                  </a:ext>
                </a:extLst>
              </p:cNvPr>
              <p:cNvSpPr txBox="1"/>
              <p:nvPr/>
            </p:nvSpPr>
            <p:spPr>
              <a:xfrm>
                <a:off x="2375045" y="2113544"/>
                <a:ext cx="58214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03</m:t>
                          </m:r>
                        </m:sub>
                      </m:sSub>
                    </m:oMath>
                  </m:oMathPara>
                </a14:m>
                <a:endParaRPr lang="en-US" dirty="0"/>
              </a:p>
            </p:txBody>
          </p:sp>
        </mc:Choice>
        <mc:Fallback xmlns="">
          <p:sp>
            <p:nvSpPr>
              <p:cNvPr id="222" name="TextBox 221">
                <a:extLst>
                  <a:ext uri="{FF2B5EF4-FFF2-40B4-BE49-F238E27FC236}">
                    <a16:creationId xmlns:a16="http://schemas.microsoft.com/office/drawing/2014/main" id="{8ADB19F6-5C4E-C2DD-9D03-8C911610CAEA}"/>
                  </a:ext>
                </a:extLst>
              </p:cNvPr>
              <p:cNvSpPr txBox="1">
                <a:spLocks noRot="1" noChangeAspect="1" noMove="1" noResize="1" noEditPoints="1" noAdjustHandles="1" noChangeArrowheads="1" noChangeShapeType="1" noTextEdit="1"/>
              </p:cNvSpPr>
              <p:nvPr/>
            </p:nvSpPr>
            <p:spPr>
              <a:xfrm>
                <a:off x="2375045" y="2113544"/>
                <a:ext cx="582147" cy="369332"/>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3" name="TextBox 222">
                <a:extLst>
                  <a:ext uri="{FF2B5EF4-FFF2-40B4-BE49-F238E27FC236}">
                    <a16:creationId xmlns:a16="http://schemas.microsoft.com/office/drawing/2014/main" id="{4DD8CBCF-4D87-6545-D60D-0A22C7323200}"/>
                  </a:ext>
                </a:extLst>
              </p:cNvPr>
              <p:cNvSpPr txBox="1"/>
              <p:nvPr/>
            </p:nvSpPr>
            <p:spPr>
              <a:xfrm>
                <a:off x="3348670" y="2140115"/>
                <a:ext cx="59362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0</m:t>
                          </m:r>
                          <m:r>
                            <a:rPr lang="en-US" altLang="zh-CN" b="0" i="1" smtClean="0">
                              <a:latin typeface="Cambria Math" panose="02040503050406030204" pitchFamily="18" charset="0"/>
                            </a:rPr>
                            <m:t>𝑇</m:t>
                          </m:r>
                        </m:sub>
                      </m:sSub>
                    </m:oMath>
                  </m:oMathPara>
                </a14:m>
                <a:endParaRPr lang="en-US" dirty="0"/>
              </a:p>
            </p:txBody>
          </p:sp>
        </mc:Choice>
        <mc:Fallback xmlns="">
          <p:sp>
            <p:nvSpPr>
              <p:cNvPr id="223" name="TextBox 222">
                <a:extLst>
                  <a:ext uri="{FF2B5EF4-FFF2-40B4-BE49-F238E27FC236}">
                    <a16:creationId xmlns:a16="http://schemas.microsoft.com/office/drawing/2014/main" id="{4DD8CBCF-4D87-6545-D60D-0A22C7323200}"/>
                  </a:ext>
                </a:extLst>
              </p:cNvPr>
              <p:cNvSpPr txBox="1">
                <a:spLocks noRot="1" noChangeAspect="1" noMove="1" noResize="1" noEditPoints="1" noAdjustHandles="1" noChangeArrowheads="1" noChangeShapeType="1" noTextEdit="1"/>
              </p:cNvSpPr>
              <p:nvPr/>
            </p:nvSpPr>
            <p:spPr>
              <a:xfrm>
                <a:off x="3348670" y="2140115"/>
                <a:ext cx="593624" cy="369332"/>
              </a:xfrm>
              <a:prstGeom prst="rect">
                <a:avLst/>
              </a:prstGeom>
              <a:blipFill>
                <a:blip r:embed="rId28"/>
                <a:stretch>
                  <a:fillRect b="-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4" name="TextBox 223">
                <a:extLst>
                  <a:ext uri="{FF2B5EF4-FFF2-40B4-BE49-F238E27FC236}">
                    <a16:creationId xmlns:a16="http://schemas.microsoft.com/office/drawing/2014/main" id="{B78D165C-33C4-6CEB-2C7D-C435EAA0926F}"/>
                  </a:ext>
                </a:extLst>
              </p:cNvPr>
              <p:cNvSpPr txBox="1"/>
              <p:nvPr/>
            </p:nvSpPr>
            <p:spPr>
              <a:xfrm>
                <a:off x="3039750" y="2199356"/>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224" name="TextBox 223">
                <a:extLst>
                  <a:ext uri="{FF2B5EF4-FFF2-40B4-BE49-F238E27FC236}">
                    <a16:creationId xmlns:a16="http://schemas.microsoft.com/office/drawing/2014/main" id="{B78D165C-33C4-6CEB-2C7D-C435EAA0926F}"/>
                  </a:ext>
                </a:extLst>
              </p:cNvPr>
              <p:cNvSpPr txBox="1">
                <a:spLocks noRot="1" noChangeAspect="1" noMove="1" noResize="1" noEditPoints="1" noAdjustHandles="1" noChangeArrowheads="1" noChangeShapeType="1" noTextEdit="1"/>
              </p:cNvSpPr>
              <p:nvPr/>
            </p:nvSpPr>
            <p:spPr>
              <a:xfrm>
                <a:off x="3039750" y="2199356"/>
                <a:ext cx="329532" cy="246221"/>
              </a:xfrm>
              <a:prstGeom prst="rect">
                <a:avLst/>
              </a:prstGeom>
              <a:blipFill>
                <a:blip r:embed="rId17"/>
                <a:stretch>
                  <a:fillRect/>
                </a:stretch>
              </a:blipFill>
            </p:spPr>
            <p:txBody>
              <a:bodyPr/>
              <a:lstStyle/>
              <a:p>
                <a:r>
                  <a:rPr lang="en-US">
                    <a:noFill/>
                  </a:rPr>
                  <a:t> </a:t>
                </a:r>
              </a:p>
            </p:txBody>
          </p:sp>
        </mc:Fallback>
      </mc:AlternateContent>
      <p:cxnSp>
        <p:nvCxnSpPr>
          <p:cNvPr id="225" name="Straight Arrow Connector 224">
            <a:extLst>
              <a:ext uri="{FF2B5EF4-FFF2-40B4-BE49-F238E27FC236}">
                <a16:creationId xmlns:a16="http://schemas.microsoft.com/office/drawing/2014/main" id="{037B53FA-5C8A-EBE9-64C6-97B9E8D1A404}"/>
              </a:ext>
            </a:extLst>
          </p:cNvPr>
          <p:cNvCxnSpPr>
            <a:cxnSpLocks/>
          </p:cNvCxnSpPr>
          <p:nvPr/>
        </p:nvCxnSpPr>
        <p:spPr>
          <a:xfrm flipH="1" flipV="1">
            <a:off x="838613" y="2575095"/>
            <a:ext cx="3578"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6" name="Straight Arrow Connector 225">
            <a:extLst>
              <a:ext uri="{FF2B5EF4-FFF2-40B4-BE49-F238E27FC236}">
                <a16:creationId xmlns:a16="http://schemas.microsoft.com/office/drawing/2014/main" id="{AAA0B339-9BE1-4373-F295-B5D18D1D5BA0}"/>
              </a:ext>
            </a:extLst>
          </p:cNvPr>
          <p:cNvCxnSpPr>
            <a:cxnSpLocks/>
          </p:cNvCxnSpPr>
          <p:nvPr/>
        </p:nvCxnSpPr>
        <p:spPr>
          <a:xfrm flipV="1">
            <a:off x="1721649" y="2575095"/>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7" name="Straight Arrow Connector 226">
            <a:extLst>
              <a:ext uri="{FF2B5EF4-FFF2-40B4-BE49-F238E27FC236}">
                <a16:creationId xmlns:a16="http://schemas.microsoft.com/office/drawing/2014/main" id="{94CBA99C-1700-33BE-5758-25C3E17845AE}"/>
              </a:ext>
            </a:extLst>
          </p:cNvPr>
          <p:cNvCxnSpPr>
            <a:cxnSpLocks/>
          </p:cNvCxnSpPr>
          <p:nvPr/>
        </p:nvCxnSpPr>
        <p:spPr>
          <a:xfrm flipV="1">
            <a:off x="2667243" y="2575095"/>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8" name="Straight Arrow Connector 227">
            <a:extLst>
              <a:ext uri="{FF2B5EF4-FFF2-40B4-BE49-F238E27FC236}">
                <a16:creationId xmlns:a16="http://schemas.microsoft.com/office/drawing/2014/main" id="{6D1431F4-803C-5F0A-4EE3-438F1390BCC4}"/>
              </a:ext>
            </a:extLst>
          </p:cNvPr>
          <p:cNvCxnSpPr>
            <a:cxnSpLocks/>
          </p:cNvCxnSpPr>
          <p:nvPr/>
        </p:nvCxnSpPr>
        <p:spPr>
          <a:xfrm flipV="1">
            <a:off x="3623469" y="2575095"/>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9" name="TextBox 228">
                <a:extLst>
                  <a:ext uri="{FF2B5EF4-FFF2-40B4-BE49-F238E27FC236}">
                    <a16:creationId xmlns:a16="http://schemas.microsoft.com/office/drawing/2014/main" id="{B143B570-CDCC-CD2D-C30B-F277FE18819A}"/>
                  </a:ext>
                </a:extLst>
              </p:cNvPr>
              <p:cNvSpPr txBox="1"/>
              <p:nvPr/>
            </p:nvSpPr>
            <p:spPr>
              <a:xfrm>
                <a:off x="7637282" y="5063713"/>
                <a:ext cx="45095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1</m:t>
                          </m:r>
                        </m:sub>
                      </m:sSub>
                    </m:oMath>
                  </m:oMathPara>
                </a14:m>
                <a:endParaRPr lang="en-US" dirty="0"/>
              </a:p>
            </p:txBody>
          </p:sp>
        </mc:Choice>
        <mc:Fallback xmlns="">
          <p:sp>
            <p:nvSpPr>
              <p:cNvPr id="229" name="TextBox 228">
                <a:extLst>
                  <a:ext uri="{FF2B5EF4-FFF2-40B4-BE49-F238E27FC236}">
                    <a16:creationId xmlns:a16="http://schemas.microsoft.com/office/drawing/2014/main" id="{B143B570-CDCC-CD2D-C30B-F277FE18819A}"/>
                  </a:ext>
                </a:extLst>
              </p:cNvPr>
              <p:cNvSpPr txBox="1">
                <a:spLocks noRot="1" noChangeAspect="1" noMove="1" noResize="1" noEditPoints="1" noAdjustHandles="1" noChangeArrowheads="1" noChangeShapeType="1" noTextEdit="1"/>
              </p:cNvSpPr>
              <p:nvPr/>
            </p:nvSpPr>
            <p:spPr>
              <a:xfrm>
                <a:off x="7637282" y="5063713"/>
                <a:ext cx="450956" cy="369332"/>
              </a:xfrm>
              <a:prstGeom prst="rect">
                <a:avLst/>
              </a:prstGeom>
              <a:blipFill>
                <a:blip r:embed="rId29"/>
                <a:stretch>
                  <a:fillRect b="-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0" name="TextBox 229">
                <a:extLst>
                  <a:ext uri="{FF2B5EF4-FFF2-40B4-BE49-F238E27FC236}">
                    <a16:creationId xmlns:a16="http://schemas.microsoft.com/office/drawing/2014/main" id="{7C6325A9-03FA-5011-4200-1F65A5F05BF3}"/>
                  </a:ext>
                </a:extLst>
              </p:cNvPr>
              <p:cNvSpPr txBox="1"/>
              <p:nvPr/>
            </p:nvSpPr>
            <p:spPr>
              <a:xfrm>
                <a:off x="7892986" y="5034079"/>
                <a:ext cx="47897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0</m:t>
                          </m:r>
                        </m:sub>
                      </m:sSub>
                    </m:oMath>
                  </m:oMathPara>
                </a14:m>
                <a:endParaRPr lang="en-US" dirty="0"/>
              </a:p>
            </p:txBody>
          </p:sp>
        </mc:Choice>
        <mc:Fallback xmlns="">
          <p:sp>
            <p:nvSpPr>
              <p:cNvPr id="230" name="TextBox 229">
                <a:extLst>
                  <a:ext uri="{FF2B5EF4-FFF2-40B4-BE49-F238E27FC236}">
                    <a16:creationId xmlns:a16="http://schemas.microsoft.com/office/drawing/2014/main" id="{7C6325A9-03FA-5011-4200-1F65A5F05BF3}"/>
                  </a:ext>
                </a:extLst>
              </p:cNvPr>
              <p:cNvSpPr txBox="1">
                <a:spLocks noRot="1" noChangeAspect="1" noMove="1" noResize="1" noEditPoints="1" noAdjustHandles="1" noChangeArrowheads="1" noChangeShapeType="1" noTextEdit="1"/>
              </p:cNvSpPr>
              <p:nvPr/>
            </p:nvSpPr>
            <p:spPr>
              <a:xfrm>
                <a:off x="7892986" y="5034079"/>
                <a:ext cx="478977" cy="369332"/>
              </a:xfrm>
              <a:prstGeom prst="rect">
                <a:avLst/>
              </a:prstGeom>
              <a:blipFill>
                <a:blip r:embed="rId30"/>
                <a:stretch>
                  <a:fillRect b="-10000"/>
                </a:stretch>
              </a:blipFill>
            </p:spPr>
            <p:txBody>
              <a:bodyPr/>
              <a:lstStyle/>
              <a:p>
                <a:r>
                  <a:rPr lang="en-US">
                    <a:noFill/>
                  </a:rPr>
                  <a:t> </a:t>
                </a:r>
              </a:p>
            </p:txBody>
          </p:sp>
        </mc:Fallback>
      </mc:AlternateContent>
      <p:sp>
        <p:nvSpPr>
          <p:cNvPr id="231" name="Rectangle 230">
            <a:extLst>
              <a:ext uri="{FF2B5EF4-FFF2-40B4-BE49-F238E27FC236}">
                <a16:creationId xmlns:a16="http://schemas.microsoft.com/office/drawing/2014/main" id="{F0958DE2-CEE9-A104-D14E-DE9125B8B58F}"/>
              </a:ext>
            </a:extLst>
          </p:cNvPr>
          <p:cNvSpPr/>
          <p:nvPr/>
        </p:nvSpPr>
        <p:spPr>
          <a:xfrm>
            <a:off x="6873984" y="4263656"/>
            <a:ext cx="424732" cy="43593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endParaRPr lang="en-US" dirty="0">
              <a:solidFill>
                <a:schemeClr val="tx1"/>
              </a:solidFill>
            </a:endParaRPr>
          </a:p>
        </p:txBody>
      </p:sp>
      <p:sp>
        <p:nvSpPr>
          <p:cNvPr id="232" name="Left Brace 231">
            <a:extLst>
              <a:ext uri="{FF2B5EF4-FFF2-40B4-BE49-F238E27FC236}">
                <a16:creationId xmlns:a16="http://schemas.microsoft.com/office/drawing/2014/main" id="{99C2048C-6FBC-BD48-C5CF-281451509513}"/>
              </a:ext>
            </a:extLst>
          </p:cNvPr>
          <p:cNvSpPr/>
          <p:nvPr/>
        </p:nvSpPr>
        <p:spPr>
          <a:xfrm rot="5400000">
            <a:off x="2101670" y="-454665"/>
            <a:ext cx="241260" cy="3062039"/>
          </a:xfrm>
          <a:prstGeom prst="leftBrace">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33" name="Elbow Connector 232">
            <a:extLst>
              <a:ext uri="{FF2B5EF4-FFF2-40B4-BE49-F238E27FC236}">
                <a16:creationId xmlns:a16="http://schemas.microsoft.com/office/drawing/2014/main" id="{636A4D52-2CC2-714F-23B3-E52CAFF6645C}"/>
              </a:ext>
            </a:extLst>
          </p:cNvPr>
          <p:cNvCxnSpPr>
            <a:cxnSpLocks/>
            <a:stCxn id="232" idx="1"/>
            <a:endCxn id="231" idx="0"/>
          </p:cNvCxnSpPr>
          <p:nvPr/>
        </p:nvCxnSpPr>
        <p:spPr>
          <a:xfrm rot="16200000" flipH="1">
            <a:off x="3000359" y="177665"/>
            <a:ext cx="3307931" cy="4864050"/>
          </a:xfrm>
          <a:prstGeom prst="bentConnector3">
            <a:avLst>
              <a:gd name="adj1" fmla="val -2106"/>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4" name="Elbow Connector 233">
            <a:extLst>
              <a:ext uri="{FF2B5EF4-FFF2-40B4-BE49-F238E27FC236}">
                <a16:creationId xmlns:a16="http://schemas.microsoft.com/office/drawing/2014/main" id="{F3034321-6F41-0A1F-884C-2F56D12B1E4C}"/>
              </a:ext>
            </a:extLst>
          </p:cNvPr>
          <p:cNvCxnSpPr>
            <a:cxnSpLocks/>
            <a:stCxn id="231" idx="2"/>
            <a:endCxn id="229" idx="1"/>
          </p:cNvCxnSpPr>
          <p:nvPr/>
        </p:nvCxnSpPr>
        <p:spPr>
          <a:xfrm rot="16200000" flipH="1">
            <a:off x="7087422" y="4698519"/>
            <a:ext cx="548788" cy="550932"/>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5" name="Rectangle 234">
            <a:extLst>
              <a:ext uri="{FF2B5EF4-FFF2-40B4-BE49-F238E27FC236}">
                <a16:creationId xmlns:a16="http://schemas.microsoft.com/office/drawing/2014/main" id="{6A2D34DE-F542-1DE6-6A22-D79E827F15C7}"/>
              </a:ext>
            </a:extLst>
          </p:cNvPr>
          <p:cNvSpPr/>
          <p:nvPr/>
        </p:nvSpPr>
        <p:spPr>
          <a:xfrm>
            <a:off x="3402941" y="1433031"/>
            <a:ext cx="424732" cy="43593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x</a:t>
            </a:r>
            <a:endParaRPr lang="en-US" dirty="0">
              <a:solidFill>
                <a:schemeClr val="tx1"/>
              </a:solidFill>
            </a:endParaRPr>
          </a:p>
        </p:txBody>
      </p:sp>
      <p:sp>
        <p:nvSpPr>
          <p:cNvPr id="236" name="Rectangle 235">
            <a:extLst>
              <a:ext uri="{FF2B5EF4-FFF2-40B4-BE49-F238E27FC236}">
                <a16:creationId xmlns:a16="http://schemas.microsoft.com/office/drawing/2014/main" id="{906E0128-478E-2F31-10BF-A54889F38162}"/>
              </a:ext>
            </a:extLst>
          </p:cNvPr>
          <p:cNvSpPr/>
          <p:nvPr/>
        </p:nvSpPr>
        <p:spPr>
          <a:xfrm>
            <a:off x="2458044" y="1433031"/>
            <a:ext cx="424732" cy="43593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x</a:t>
            </a:r>
            <a:endParaRPr lang="en-US" dirty="0">
              <a:solidFill>
                <a:schemeClr val="tx1"/>
              </a:solidFill>
            </a:endParaRPr>
          </a:p>
        </p:txBody>
      </p:sp>
      <p:sp>
        <p:nvSpPr>
          <p:cNvPr id="237" name="Rectangle 236">
            <a:extLst>
              <a:ext uri="{FF2B5EF4-FFF2-40B4-BE49-F238E27FC236}">
                <a16:creationId xmlns:a16="http://schemas.microsoft.com/office/drawing/2014/main" id="{6F52525F-02AC-5CE1-A1C5-8BBCA818E9EB}"/>
              </a:ext>
            </a:extLst>
          </p:cNvPr>
          <p:cNvSpPr/>
          <p:nvPr/>
        </p:nvSpPr>
        <p:spPr>
          <a:xfrm>
            <a:off x="1544828" y="1433031"/>
            <a:ext cx="424732" cy="43593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x</a:t>
            </a:r>
            <a:endParaRPr lang="en-US" dirty="0">
              <a:solidFill>
                <a:schemeClr val="tx1"/>
              </a:solidFill>
            </a:endParaRPr>
          </a:p>
        </p:txBody>
      </p:sp>
      <p:sp>
        <p:nvSpPr>
          <p:cNvPr id="238" name="Rectangle 237">
            <a:extLst>
              <a:ext uri="{FF2B5EF4-FFF2-40B4-BE49-F238E27FC236}">
                <a16:creationId xmlns:a16="http://schemas.microsoft.com/office/drawing/2014/main" id="{F8FE1FCC-276F-15CE-C574-3FC1399A73C0}"/>
              </a:ext>
            </a:extLst>
          </p:cNvPr>
          <p:cNvSpPr/>
          <p:nvPr/>
        </p:nvSpPr>
        <p:spPr>
          <a:xfrm>
            <a:off x="647648" y="1433031"/>
            <a:ext cx="424732" cy="43593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x</a:t>
            </a:r>
            <a:endParaRPr lang="en-US" dirty="0">
              <a:solidFill>
                <a:schemeClr val="tx1"/>
              </a:solidFill>
            </a:endParaRPr>
          </a:p>
        </p:txBody>
      </p:sp>
      <p:cxnSp>
        <p:nvCxnSpPr>
          <p:cNvPr id="239" name="Straight Arrow Connector 238">
            <a:extLst>
              <a:ext uri="{FF2B5EF4-FFF2-40B4-BE49-F238E27FC236}">
                <a16:creationId xmlns:a16="http://schemas.microsoft.com/office/drawing/2014/main" id="{1337213E-FDF6-CCDA-C5E3-36667235CC29}"/>
              </a:ext>
            </a:extLst>
          </p:cNvPr>
          <p:cNvCxnSpPr>
            <a:cxnSpLocks/>
          </p:cNvCxnSpPr>
          <p:nvPr/>
        </p:nvCxnSpPr>
        <p:spPr>
          <a:xfrm flipH="1" flipV="1">
            <a:off x="822634" y="1959749"/>
            <a:ext cx="3578"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a16="http://schemas.microsoft.com/office/drawing/2014/main" id="{846061CC-7BF4-583E-4B08-9FC82E2A7623}"/>
              </a:ext>
            </a:extLst>
          </p:cNvPr>
          <p:cNvCxnSpPr>
            <a:cxnSpLocks/>
          </p:cNvCxnSpPr>
          <p:nvPr/>
        </p:nvCxnSpPr>
        <p:spPr>
          <a:xfrm flipV="1">
            <a:off x="1705670" y="1959749"/>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1" name="Straight Arrow Connector 240">
            <a:extLst>
              <a:ext uri="{FF2B5EF4-FFF2-40B4-BE49-F238E27FC236}">
                <a16:creationId xmlns:a16="http://schemas.microsoft.com/office/drawing/2014/main" id="{4F52AF3B-7242-65D4-4389-073DB26ED2D4}"/>
              </a:ext>
            </a:extLst>
          </p:cNvPr>
          <p:cNvCxnSpPr>
            <a:cxnSpLocks/>
          </p:cNvCxnSpPr>
          <p:nvPr/>
        </p:nvCxnSpPr>
        <p:spPr>
          <a:xfrm flipV="1">
            <a:off x="2651264" y="1959749"/>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2" name="Straight Arrow Connector 241">
            <a:extLst>
              <a:ext uri="{FF2B5EF4-FFF2-40B4-BE49-F238E27FC236}">
                <a16:creationId xmlns:a16="http://schemas.microsoft.com/office/drawing/2014/main" id="{1D7DE9CB-AB6D-7E0B-3F23-819637ACDCAF}"/>
              </a:ext>
            </a:extLst>
          </p:cNvPr>
          <p:cNvCxnSpPr>
            <a:cxnSpLocks/>
          </p:cNvCxnSpPr>
          <p:nvPr/>
        </p:nvCxnSpPr>
        <p:spPr>
          <a:xfrm flipV="1">
            <a:off x="3607490" y="1959749"/>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3" name="Straight Arrow Connector 242">
            <a:extLst>
              <a:ext uri="{FF2B5EF4-FFF2-40B4-BE49-F238E27FC236}">
                <a16:creationId xmlns:a16="http://schemas.microsoft.com/office/drawing/2014/main" id="{BE91913C-AA5A-99D0-D556-3F184454B267}"/>
              </a:ext>
            </a:extLst>
          </p:cNvPr>
          <p:cNvCxnSpPr>
            <a:cxnSpLocks/>
          </p:cNvCxnSpPr>
          <p:nvPr/>
        </p:nvCxnSpPr>
        <p:spPr>
          <a:xfrm flipH="1" flipV="1">
            <a:off x="811557" y="1160624"/>
            <a:ext cx="3578"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4" name="Straight Arrow Connector 243">
            <a:extLst>
              <a:ext uri="{FF2B5EF4-FFF2-40B4-BE49-F238E27FC236}">
                <a16:creationId xmlns:a16="http://schemas.microsoft.com/office/drawing/2014/main" id="{E2193994-FA20-8861-5A8B-3DFD4D67A079}"/>
              </a:ext>
            </a:extLst>
          </p:cNvPr>
          <p:cNvCxnSpPr>
            <a:cxnSpLocks/>
          </p:cNvCxnSpPr>
          <p:nvPr/>
        </p:nvCxnSpPr>
        <p:spPr>
          <a:xfrm flipV="1">
            <a:off x="1694593" y="1160624"/>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5" name="Straight Arrow Connector 244">
            <a:extLst>
              <a:ext uri="{FF2B5EF4-FFF2-40B4-BE49-F238E27FC236}">
                <a16:creationId xmlns:a16="http://schemas.microsoft.com/office/drawing/2014/main" id="{A2F468BF-AC31-EDF7-4DAE-111887518522}"/>
              </a:ext>
            </a:extLst>
          </p:cNvPr>
          <p:cNvCxnSpPr>
            <a:cxnSpLocks/>
          </p:cNvCxnSpPr>
          <p:nvPr/>
        </p:nvCxnSpPr>
        <p:spPr>
          <a:xfrm flipV="1">
            <a:off x="2640187" y="1160624"/>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6" name="Straight Arrow Connector 245">
            <a:extLst>
              <a:ext uri="{FF2B5EF4-FFF2-40B4-BE49-F238E27FC236}">
                <a16:creationId xmlns:a16="http://schemas.microsoft.com/office/drawing/2014/main" id="{CAFD747B-116F-A81D-0A40-AA333FB41AB0}"/>
              </a:ext>
            </a:extLst>
          </p:cNvPr>
          <p:cNvCxnSpPr>
            <a:cxnSpLocks/>
          </p:cNvCxnSpPr>
          <p:nvPr/>
        </p:nvCxnSpPr>
        <p:spPr>
          <a:xfrm flipV="1">
            <a:off x="3596413" y="1160624"/>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7" name="Curved Connector 246">
            <a:extLst>
              <a:ext uri="{FF2B5EF4-FFF2-40B4-BE49-F238E27FC236}">
                <a16:creationId xmlns:a16="http://schemas.microsoft.com/office/drawing/2014/main" id="{991A8868-004C-3F26-5D28-F89814532810}"/>
              </a:ext>
            </a:extLst>
          </p:cNvPr>
          <p:cNvCxnSpPr>
            <a:stCxn id="188" idx="1"/>
            <a:endCxn id="235" idx="1"/>
          </p:cNvCxnSpPr>
          <p:nvPr/>
        </p:nvCxnSpPr>
        <p:spPr>
          <a:xfrm rot="10800000">
            <a:off x="3402941" y="1650999"/>
            <a:ext cx="52260" cy="2845180"/>
          </a:xfrm>
          <a:prstGeom prst="curvedConnector3">
            <a:avLst>
              <a:gd name="adj1" fmla="val 537428"/>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8" name="Curved Connector 247">
            <a:extLst>
              <a:ext uri="{FF2B5EF4-FFF2-40B4-BE49-F238E27FC236}">
                <a16:creationId xmlns:a16="http://schemas.microsoft.com/office/drawing/2014/main" id="{F7F571F6-6C76-FCB3-3431-2EE7FA69C09D}"/>
              </a:ext>
            </a:extLst>
          </p:cNvPr>
          <p:cNvCxnSpPr>
            <a:cxnSpLocks/>
            <a:stCxn id="187" idx="1"/>
            <a:endCxn id="236" idx="1"/>
          </p:cNvCxnSpPr>
          <p:nvPr/>
        </p:nvCxnSpPr>
        <p:spPr>
          <a:xfrm rot="10800000">
            <a:off x="2458045" y="1651000"/>
            <a:ext cx="14279" cy="2830625"/>
          </a:xfrm>
          <a:prstGeom prst="curvedConnector3">
            <a:avLst>
              <a:gd name="adj1" fmla="val 170095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9" name="Curved Connector 248">
            <a:extLst>
              <a:ext uri="{FF2B5EF4-FFF2-40B4-BE49-F238E27FC236}">
                <a16:creationId xmlns:a16="http://schemas.microsoft.com/office/drawing/2014/main" id="{30D9CFE9-726E-9F4C-188F-E8820CC4F89B}"/>
              </a:ext>
            </a:extLst>
          </p:cNvPr>
          <p:cNvCxnSpPr>
            <a:cxnSpLocks/>
            <a:stCxn id="186" idx="1"/>
            <a:endCxn id="237" idx="1"/>
          </p:cNvCxnSpPr>
          <p:nvPr/>
        </p:nvCxnSpPr>
        <p:spPr>
          <a:xfrm rot="10800000">
            <a:off x="1544829" y="1651000"/>
            <a:ext cx="2719" cy="2830625"/>
          </a:xfrm>
          <a:prstGeom prst="curvedConnector3">
            <a:avLst>
              <a:gd name="adj1" fmla="val 850750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0" name="Curved Connector 249">
            <a:extLst>
              <a:ext uri="{FF2B5EF4-FFF2-40B4-BE49-F238E27FC236}">
                <a16:creationId xmlns:a16="http://schemas.microsoft.com/office/drawing/2014/main" id="{964EE914-C06E-F346-F9AC-E959549D1F13}"/>
              </a:ext>
            </a:extLst>
          </p:cNvPr>
          <p:cNvCxnSpPr>
            <a:cxnSpLocks/>
            <a:stCxn id="185" idx="1"/>
            <a:endCxn id="238" idx="1"/>
          </p:cNvCxnSpPr>
          <p:nvPr/>
        </p:nvCxnSpPr>
        <p:spPr>
          <a:xfrm rot="10800000">
            <a:off x="647649" y="1651000"/>
            <a:ext cx="14149" cy="2830625"/>
          </a:xfrm>
          <a:prstGeom prst="curvedConnector3">
            <a:avLst>
              <a:gd name="adj1" fmla="val 171566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1" name="Rectangle 250">
                <a:extLst>
                  <a:ext uri="{FF2B5EF4-FFF2-40B4-BE49-F238E27FC236}">
                    <a16:creationId xmlns:a16="http://schemas.microsoft.com/office/drawing/2014/main" id="{DDDBA6E2-31BB-DE36-8694-7C9949D8F794}"/>
                  </a:ext>
                </a:extLst>
              </p:cNvPr>
              <p:cNvSpPr/>
              <p:nvPr/>
            </p:nvSpPr>
            <p:spPr>
              <a:xfrm>
                <a:off x="7774840" y="4263655"/>
                <a:ext cx="424732" cy="43593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𝑠</m:t>
                          </m:r>
                        </m:e>
                        <m:sub>
                          <m:r>
                            <a:rPr lang="en-US" altLang="zh-CN" b="0" i="1" smtClean="0">
                              <a:solidFill>
                                <a:schemeClr val="tx1"/>
                              </a:solidFill>
                              <a:latin typeface="Cambria Math" panose="02040503050406030204" pitchFamily="18" charset="0"/>
                            </a:rPr>
                            <m:t>1</m:t>
                          </m:r>
                        </m:sub>
                      </m:sSub>
                    </m:oMath>
                  </m:oMathPara>
                </a14:m>
                <a:endParaRPr lang="en-US" dirty="0"/>
              </a:p>
            </p:txBody>
          </p:sp>
        </mc:Choice>
        <mc:Fallback xmlns="">
          <p:sp>
            <p:nvSpPr>
              <p:cNvPr id="251" name="Rectangle 250">
                <a:extLst>
                  <a:ext uri="{FF2B5EF4-FFF2-40B4-BE49-F238E27FC236}">
                    <a16:creationId xmlns:a16="http://schemas.microsoft.com/office/drawing/2014/main" id="{DDDBA6E2-31BB-DE36-8694-7C9949D8F794}"/>
                  </a:ext>
                </a:extLst>
              </p:cNvPr>
              <p:cNvSpPr>
                <a:spLocks noRot="1" noChangeAspect="1" noMove="1" noResize="1" noEditPoints="1" noAdjustHandles="1" noChangeArrowheads="1" noChangeShapeType="1" noTextEdit="1"/>
              </p:cNvSpPr>
              <p:nvPr/>
            </p:nvSpPr>
            <p:spPr>
              <a:xfrm>
                <a:off x="7774840" y="4263655"/>
                <a:ext cx="424732" cy="435935"/>
              </a:xfrm>
              <a:prstGeom prst="rect">
                <a:avLst/>
              </a:prstGeom>
              <a:blipFill>
                <a:blip r:embed="rId3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2" name="TextBox 251">
                <a:extLst>
                  <a:ext uri="{FF2B5EF4-FFF2-40B4-BE49-F238E27FC236}">
                    <a16:creationId xmlns:a16="http://schemas.microsoft.com/office/drawing/2014/main" id="{05785555-3B74-2B2A-D79D-EF3A2E798A07}"/>
                  </a:ext>
                </a:extLst>
              </p:cNvPr>
              <p:cNvSpPr txBox="1"/>
              <p:nvPr/>
            </p:nvSpPr>
            <p:spPr>
              <a:xfrm>
                <a:off x="7760659" y="3447731"/>
                <a:ext cx="47365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1</m:t>
                          </m:r>
                        </m:sub>
                      </m:sSub>
                    </m:oMath>
                  </m:oMathPara>
                </a14:m>
                <a:endParaRPr lang="en-US" dirty="0"/>
              </a:p>
            </p:txBody>
          </p:sp>
        </mc:Choice>
        <mc:Fallback xmlns="">
          <p:sp>
            <p:nvSpPr>
              <p:cNvPr id="252" name="TextBox 251">
                <a:extLst>
                  <a:ext uri="{FF2B5EF4-FFF2-40B4-BE49-F238E27FC236}">
                    <a16:creationId xmlns:a16="http://schemas.microsoft.com/office/drawing/2014/main" id="{05785555-3B74-2B2A-D79D-EF3A2E798A07}"/>
                  </a:ext>
                </a:extLst>
              </p:cNvPr>
              <p:cNvSpPr txBox="1">
                <a:spLocks noRot="1" noChangeAspect="1" noMove="1" noResize="1" noEditPoints="1" noAdjustHandles="1" noChangeArrowheads="1" noChangeShapeType="1" noTextEdit="1"/>
              </p:cNvSpPr>
              <p:nvPr/>
            </p:nvSpPr>
            <p:spPr>
              <a:xfrm>
                <a:off x="7760659" y="3447731"/>
                <a:ext cx="473656" cy="369332"/>
              </a:xfrm>
              <a:prstGeom prst="rect">
                <a:avLst/>
              </a:prstGeom>
              <a:blipFill>
                <a:blip r:embed="rId32"/>
                <a:stretch>
                  <a:fillRect b="-10000"/>
                </a:stretch>
              </a:blipFill>
            </p:spPr>
            <p:txBody>
              <a:bodyPr/>
              <a:lstStyle/>
              <a:p>
                <a:r>
                  <a:rPr lang="en-US">
                    <a:noFill/>
                  </a:rPr>
                  <a:t> </a:t>
                </a:r>
              </a:p>
            </p:txBody>
          </p:sp>
        </mc:Fallback>
      </mc:AlternateContent>
      <p:cxnSp>
        <p:nvCxnSpPr>
          <p:cNvPr id="253" name="Straight Arrow Connector 252">
            <a:extLst>
              <a:ext uri="{FF2B5EF4-FFF2-40B4-BE49-F238E27FC236}">
                <a16:creationId xmlns:a16="http://schemas.microsoft.com/office/drawing/2014/main" id="{E6C8E583-DF78-F3B2-6238-BFD262B7D466}"/>
              </a:ext>
            </a:extLst>
          </p:cNvPr>
          <p:cNvCxnSpPr>
            <a:cxnSpLocks/>
          </p:cNvCxnSpPr>
          <p:nvPr/>
        </p:nvCxnSpPr>
        <p:spPr>
          <a:xfrm flipV="1">
            <a:off x="7994608" y="3878618"/>
            <a:ext cx="0" cy="38761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4" name="Straight Arrow Connector 253">
            <a:extLst>
              <a:ext uri="{FF2B5EF4-FFF2-40B4-BE49-F238E27FC236}">
                <a16:creationId xmlns:a16="http://schemas.microsoft.com/office/drawing/2014/main" id="{B8B388A4-A173-A006-DD5B-683CA97390AF}"/>
              </a:ext>
            </a:extLst>
          </p:cNvPr>
          <p:cNvCxnSpPr>
            <a:cxnSpLocks/>
          </p:cNvCxnSpPr>
          <p:nvPr/>
        </p:nvCxnSpPr>
        <p:spPr>
          <a:xfrm flipV="1">
            <a:off x="8104622" y="4709300"/>
            <a:ext cx="0" cy="38761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5" name="Straight Arrow Connector 254">
            <a:extLst>
              <a:ext uri="{FF2B5EF4-FFF2-40B4-BE49-F238E27FC236}">
                <a16:creationId xmlns:a16="http://schemas.microsoft.com/office/drawing/2014/main" id="{9E27408A-BF9C-CDAE-AA6B-32E282E1EEBC}"/>
              </a:ext>
            </a:extLst>
          </p:cNvPr>
          <p:cNvCxnSpPr>
            <a:cxnSpLocks/>
          </p:cNvCxnSpPr>
          <p:nvPr/>
        </p:nvCxnSpPr>
        <p:spPr>
          <a:xfrm flipV="1">
            <a:off x="7873961" y="4725773"/>
            <a:ext cx="0" cy="38761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6" name="TextBox 255">
            <a:extLst>
              <a:ext uri="{FF2B5EF4-FFF2-40B4-BE49-F238E27FC236}">
                <a16:creationId xmlns:a16="http://schemas.microsoft.com/office/drawing/2014/main" id="{71825148-4D13-0C31-D6CD-95B368678263}"/>
              </a:ext>
            </a:extLst>
          </p:cNvPr>
          <p:cNvSpPr txBox="1"/>
          <p:nvPr/>
        </p:nvSpPr>
        <p:spPr>
          <a:xfrm>
            <a:off x="7862760" y="2932457"/>
            <a:ext cx="248786" cy="369332"/>
          </a:xfrm>
          <a:prstGeom prst="rect">
            <a:avLst/>
          </a:prstGeom>
          <a:noFill/>
        </p:spPr>
        <p:txBody>
          <a:bodyPr wrap="none" rtlCol="0">
            <a:spAutoFit/>
          </a:bodyPr>
          <a:lstStyle/>
          <a:p>
            <a:r>
              <a:rPr lang="en-US" altLang="zh-CN" dirty="0"/>
              <a:t>I</a:t>
            </a:r>
            <a:endParaRPr lang="en-US" dirty="0"/>
          </a:p>
        </p:txBody>
      </p:sp>
      <p:sp>
        <p:nvSpPr>
          <p:cNvPr id="257" name="TextBox 256">
            <a:extLst>
              <a:ext uri="{FF2B5EF4-FFF2-40B4-BE49-F238E27FC236}">
                <a16:creationId xmlns:a16="http://schemas.microsoft.com/office/drawing/2014/main" id="{AE011BD0-F436-3D45-96D0-932D32173322}"/>
              </a:ext>
            </a:extLst>
          </p:cNvPr>
          <p:cNvSpPr txBox="1"/>
          <p:nvPr/>
        </p:nvSpPr>
        <p:spPr>
          <a:xfrm>
            <a:off x="7564120" y="5524615"/>
            <a:ext cx="1048236" cy="369332"/>
          </a:xfrm>
          <a:prstGeom prst="rect">
            <a:avLst/>
          </a:prstGeom>
          <a:noFill/>
        </p:spPr>
        <p:txBody>
          <a:bodyPr wrap="none" rtlCol="0">
            <a:spAutoFit/>
          </a:bodyPr>
          <a:lstStyle/>
          <a:p>
            <a:r>
              <a:rPr lang="en-US" altLang="zh-CN" dirty="0"/>
              <a:t>[START]</a:t>
            </a:r>
            <a:endParaRPr lang="en-US" dirty="0"/>
          </a:p>
        </p:txBody>
      </p:sp>
    </p:spTree>
    <p:extLst>
      <p:ext uri="{BB962C8B-B14F-4D97-AF65-F5344CB8AC3E}">
        <p14:creationId xmlns:p14="http://schemas.microsoft.com/office/powerpoint/2010/main" val="5393167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object 153"/>
          <p:cNvSpPr txBox="1"/>
          <p:nvPr/>
        </p:nvSpPr>
        <p:spPr>
          <a:xfrm>
            <a:off x="75718" y="6658539"/>
            <a:ext cx="5729465" cy="158163"/>
          </a:xfrm>
          <a:prstGeom prst="rect">
            <a:avLst/>
          </a:prstGeom>
        </p:spPr>
        <p:txBody>
          <a:bodyPr vert="horz" wrap="square" lIns="0" tIns="4233" rIns="0" bIns="0" rtlCol="0">
            <a:spAutoFit/>
          </a:bodyPr>
          <a:lstStyle/>
          <a:p>
            <a:pPr marL="16933">
              <a:spcBef>
                <a:spcPts val="33"/>
              </a:spcBef>
            </a:pPr>
            <a:r>
              <a:rPr sz="1000">
                <a:latin typeface="Arial"/>
                <a:cs typeface="Arial"/>
              </a:rPr>
              <a:t>Bahdanau</a:t>
            </a:r>
            <a:r>
              <a:rPr sz="1000" spc="-27">
                <a:latin typeface="Arial"/>
                <a:cs typeface="Arial"/>
              </a:rPr>
              <a:t> </a:t>
            </a:r>
            <a:r>
              <a:rPr sz="1000">
                <a:latin typeface="Arial"/>
                <a:cs typeface="Arial"/>
              </a:rPr>
              <a:t>et</a:t>
            </a:r>
            <a:r>
              <a:rPr sz="1000" spc="-13">
                <a:latin typeface="Arial"/>
                <a:cs typeface="Arial"/>
              </a:rPr>
              <a:t> </a:t>
            </a:r>
            <a:r>
              <a:rPr sz="1000">
                <a:latin typeface="Arial"/>
                <a:cs typeface="Arial"/>
              </a:rPr>
              <a:t>al,</a:t>
            </a:r>
            <a:r>
              <a:rPr sz="1000" spc="-13">
                <a:latin typeface="Arial"/>
                <a:cs typeface="Arial"/>
              </a:rPr>
              <a:t> </a:t>
            </a:r>
            <a:r>
              <a:rPr sz="1000">
                <a:latin typeface="Arial"/>
                <a:cs typeface="Arial"/>
              </a:rPr>
              <a:t>“Neural</a:t>
            </a:r>
            <a:r>
              <a:rPr sz="1000" spc="-7">
                <a:latin typeface="Arial"/>
                <a:cs typeface="Arial"/>
              </a:rPr>
              <a:t> </a:t>
            </a:r>
            <a:r>
              <a:rPr sz="1000">
                <a:latin typeface="Arial"/>
                <a:cs typeface="Arial"/>
              </a:rPr>
              <a:t>machine</a:t>
            </a:r>
            <a:r>
              <a:rPr sz="1000" spc="-13">
                <a:latin typeface="Arial"/>
                <a:cs typeface="Arial"/>
              </a:rPr>
              <a:t> translation </a:t>
            </a:r>
            <a:r>
              <a:rPr sz="1000">
                <a:latin typeface="Arial"/>
                <a:cs typeface="Arial"/>
              </a:rPr>
              <a:t>by</a:t>
            </a:r>
            <a:r>
              <a:rPr sz="1000" spc="-7">
                <a:latin typeface="Arial"/>
                <a:cs typeface="Arial"/>
              </a:rPr>
              <a:t> </a:t>
            </a:r>
            <a:r>
              <a:rPr sz="1000">
                <a:latin typeface="Arial"/>
                <a:cs typeface="Arial"/>
              </a:rPr>
              <a:t>jointly</a:t>
            </a:r>
            <a:r>
              <a:rPr sz="1000" spc="-13">
                <a:latin typeface="Arial"/>
                <a:cs typeface="Arial"/>
              </a:rPr>
              <a:t> </a:t>
            </a:r>
            <a:r>
              <a:rPr sz="1000">
                <a:latin typeface="Arial"/>
                <a:cs typeface="Arial"/>
              </a:rPr>
              <a:t>learning</a:t>
            </a:r>
            <a:r>
              <a:rPr sz="1000" spc="-13">
                <a:latin typeface="Arial"/>
                <a:cs typeface="Arial"/>
              </a:rPr>
              <a:t> </a:t>
            </a:r>
            <a:r>
              <a:rPr sz="1000">
                <a:latin typeface="Arial"/>
                <a:cs typeface="Arial"/>
              </a:rPr>
              <a:t>to</a:t>
            </a:r>
            <a:r>
              <a:rPr sz="1000" spc="-13">
                <a:latin typeface="Arial"/>
                <a:cs typeface="Arial"/>
              </a:rPr>
              <a:t> </a:t>
            </a:r>
            <a:r>
              <a:rPr sz="1000">
                <a:latin typeface="Arial"/>
                <a:cs typeface="Arial"/>
              </a:rPr>
              <a:t>align</a:t>
            </a:r>
            <a:r>
              <a:rPr sz="1000" spc="-7">
                <a:latin typeface="Arial"/>
                <a:cs typeface="Arial"/>
              </a:rPr>
              <a:t> </a:t>
            </a:r>
            <a:r>
              <a:rPr sz="1000">
                <a:latin typeface="Arial"/>
                <a:cs typeface="Arial"/>
              </a:rPr>
              <a:t>and</a:t>
            </a:r>
            <a:r>
              <a:rPr sz="1000" spc="-13">
                <a:latin typeface="Arial"/>
                <a:cs typeface="Arial"/>
              </a:rPr>
              <a:t> translate”, </a:t>
            </a:r>
            <a:r>
              <a:rPr sz="1000">
                <a:latin typeface="Arial"/>
                <a:cs typeface="Arial"/>
              </a:rPr>
              <a:t>ICLR</a:t>
            </a:r>
            <a:r>
              <a:rPr lang="zh-CN" altLang="en-US" sz="1000" spc="-7">
                <a:latin typeface="Arial"/>
                <a:cs typeface="Arial"/>
              </a:rPr>
              <a:t> </a:t>
            </a:r>
            <a:r>
              <a:rPr sz="1000" spc="-27">
                <a:latin typeface="Arial"/>
                <a:cs typeface="Arial"/>
              </a:rPr>
              <a:t>201</a:t>
            </a:r>
            <a:r>
              <a:rPr lang="en-US" altLang="zh-CN" sz="1000" spc="-27">
                <a:latin typeface="Arial"/>
                <a:cs typeface="Arial"/>
              </a:rPr>
              <a:t>5</a:t>
            </a:r>
            <a:endParaRPr sz="2400">
              <a:latin typeface="Arial"/>
              <a:cs typeface="Arial"/>
            </a:endParaRPr>
          </a:p>
        </p:txBody>
      </p:sp>
      <p:sp>
        <p:nvSpPr>
          <p:cNvPr id="110" name="object 124">
            <a:extLst>
              <a:ext uri="{FF2B5EF4-FFF2-40B4-BE49-F238E27FC236}">
                <a16:creationId xmlns:a16="http://schemas.microsoft.com/office/drawing/2014/main" id="{D19EE304-29A7-14A1-747D-325E92D75C3F}"/>
              </a:ext>
            </a:extLst>
          </p:cNvPr>
          <p:cNvSpPr txBox="1"/>
          <p:nvPr/>
        </p:nvSpPr>
        <p:spPr>
          <a:xfrm>
            <a:off x="8447196" y="1396428"/>
            <a:ext cx="3734839" cy="324875"/>
          </a:xfrm>
          <a:prstGeom prst="rect">
            <a:avLst/>
          </a:prstGeom>
        </p:spPr>
        <p:txBody>
          <a:bodyPr vert="horz" wrap="square" lIns="0" tIns="16933" rIns="0" bIns="0" rtlCol="0">
            <a:spAutoFit/>
          </a:bodyPr>
          <a:lstStyle/>
          <a:p>
            <a:pPr marL="50799" marR="40639">
              <a:spcBef>
                <a:spcPts val="133"/>
              </a:spcBef>
            </a:pPr>
            <a:r>
              <a:rPr lang="en-US" sz="2000" dirty="0" err="1">
                <a:latin typeface="Microsoft YaHei" panose="020B0503020204020204" pitchFamily="34" charset="-122"/>
                <a:ea typeface="Microsoft YaHei" panose="020B0503020204020204" pitchFamily="34" charset="-122"/>
                <a:cs typeface="Calibri" panose="020F0502020204030204" pitchFamily="34" charset="0"/>
              </a:rPr>
              <a:t>重复</a:t>
            </a:r>
            <a:r>
              <a:rPr sz="2000" dirty="0">
                <a:latin typeface="Microsoft YaHei" panose="020B0503020204020204" pitchFamily="34" charset="-122"/>
                <a:ea typeface="Microsoft YaHei" panose="020B0503020204020204" pitchFamily="34" charset="-122"/>
                <a:cs typeface="Calibri" panose="020F0502020204030204" pitchFamily="34" charset="0"/>
              </a:rPr>
              <a:t>:</a:t>
            </a:r>
            <a:r>
              <a:rPr sz="2000" spc="-20" dirty="0">
                <a:latin typeface="Microsoft YaHei" panose="020B0503020204020204" pitchFamily="34" charset="-122"/>
                <a:ea typeface="Microsoft YaHei" panose="020B0503020204020204" pitchFamily="34" charset="-122"/>
                <a:cs typeface="Calibri" panose="020F0502020204030204" pitchFamily="34" charset="0"/>
              </a:rPr>
              <a:t> </a:t>
            </a:r>
            <a:r>
              <a:rPr lang="en-US" sz="2000" dirty="0" err="1">
                <a:latin typeface="Microsoft YaHei" panose="020B0503020204020204" pitchFamily="34" charset="-122"/>
                <a:ea typeface="Microsoft YaHei" panose="020B0503020204020204" pitchFamily="34" charset="-122"/>
                <a:cs typeface="Calibri" panose="020F0502020204030204" pitchFamily="34" charset="0"/>
              </a:rPr>
              <a:t>使用</a:t>
            </a:r>
            <a:r>
              <a:rPr sz="2000" spc="-20" dirty="0">
                <a:latin typeface="Microsoft YaHei" panose="020B0503020204020204" pitchFamily="34" charset="-122"/>
                <a:ea typeface="Microsoft YaHei" panose="020B0503020204020204" pitchFamily="34" charset="-122"/>
                <a:cs typeface="Calibri" panose="020F0502020204030204" pitchFamily="34" charset="0"/>
              </a:rPr>
              <a:t> </a:t>
            </a:r>
            <a:r>
              <a:rPr sz="2000" dirty="0">
                <a:latin typeface="Microsoft YaHei" panose="020B0503020204020204" pitchFamily="34" charset="-122"/>
                <a:ea typeface="Microsoft YaHei" panose="020B0503020204020204" pitchFamily="34" charset="-122"/>
                <a:cs typeface="Calibri" panose="020F0502020204030204" pitchFamily="34" charset="0"/>
              </a:rPr>
              <a:t>s</a:t>
            </a:r>
            <a:r>
              <a:rPr sz="2000" baseline="-30555" dirty="0">
                <a:latin typeface="Microsoft YaHei" panose="020B0503020204020204" pitchFamily="34" charset="-122"/>
                <a:ea typeface="Microsoft YaHei" panose="020B0503020204020204" pitchFamily="34" charset="-122"/>
                <a:cs typeface="Calibri" panose="020F0502020204030204" pitchFamily="34" charset="0"/>
              </a:rPr>
              <a:t>1</a:t>
            </a:r>
            <a:r>
              <a:rPr sz="2000" spc="249" baseline="-30555" dirty="0">
                <a:latin typeface="Microsoft YaHei" panose="020B0503020204020204" pitchFamily="34" charset="-122"/>
                <a:ea typeface="Microsoft YaHei" panose="020B0503020204020204" pitchFamily="34" charset="-122"/>
                <a:cs typeface="Calibri" panose="020F0502020204030204" pitchFamily="34" charset="0"/>
              </a:rPr>
              <a:t> </a:t>
            </a:r>
            <a:r>
              <a:rPr lang="en-US" sz="2000" dirty="0">
                <a:latin typeface="Microsoft YaHei" panose="020B0503020204020204" pitchFamily="34" charset="-122"/>
                <a:ea typeface="Microsoft YaHei" panose="020B0503020204020204" pitchFamily="34" charset="-122"/>
                <a:cs typeface="Calibri" panose="020F0502020204030204" pitchFamily="34" charset="0"/>
              </a:rPr>
              <a:t>计算上下文向量</a:t>
            </a:r>
            <a:r>
              <a:rPr sz="2000" spc="-33" dirty="0">
                <a:latin typeface="Microsoft YaHei" panose="020B0503020204020204" pitchFamily="34" charset="-122"/>
                <a:ea typeface="Microsoft YaHei" panose="020B0503020204020204" pitchFamily="34" charset="-122"/>
                <a:cs typeface="Calibri" panose="020F0502020204030204" pitchFamily="34" charset="0"/>
              </a:rPr>
              <a:t>c</a:t>
            </a:r>
            <a:r>
              <a:rPr sz="2000" spc="-49" baseline="-30555" dirty="0">
                <a:latin typeface="Microsoft YaHei" panose="020B0503020204020204" pitchFamily="34" charset="-122"/>
                <a:ea typeface="Microsoft YaHei" panose="020B0503020204020204" pitchFamily="34" charset="-122"/>
                <a:cs typeface="Calibri" panose="020F0502020204030204" pitchFamily="34" charset="0"/>
              </a:rPr>
              <a:t>2</a:t>
            </a:r>
            <a:endParaRPr sz="2000" baseline="-30555" dirty="0">
              <a:latin typeface="Microsoft YaHei" panose="020B0503020204020204" pitchFamily="34" charset="-122"/>
              <a:ea typeface="Microsoft YaHei" panose="020B0503020204020204" pitchFamily="34" charset="-122"/>
              <a:cs typeface="Calibri" panose="020F0502020204030204" pitchFamily="34" charset="0"/>
            </a:endParaRPr>
          </a:p>
        </p:txBody>
      </p:sp>
      <p:sp>
        <p:nvSpPr>
          <p:cNvPr id="203" name="object 140">
            <a:extLst>
              <a:ext uri="{FF2B5EF4-FFF2-40B4-BE49-F238E27FC236}">
                <a16:creationId xmlns:a16="http://schemas.microsoft.com/office/drawing/2014/main" id="{A2204293-EF40-E9BB-7A5E-440FEECC587C}"/>
              </a:ext>
            </a:extLst>
          </p:cNvPr>
          <p:cNvSpPr txBox="1"/>
          <p:nvPr/>
        </p:nvSpPr>
        <p:spPr>
          <a:xfrm>
            <a:off x="9588324" y="3737017"/>
            <a:ext cx="2266555" cy="294097"/>
          </a:xfrm>
          <a:prstGeom prst="rect">
            <a:avLst/>
          </a:prstGeom>
        </p:spPr>
        <p:txBody>
          <a:bodyPr vert="horz" wrap="square" lIns="0" tIns="16933" rIns="0" bIns="0" rtlCol="0">
            <a:spAutoFit/>
          </a:bodyPr>
          <a:lstStyle/>
          <a:p>
            <a:pPr marL="50799">
              <a:spcBef>
                <a:spcPts val="133"/>
              </a:spcBef>
            </a:pPr>
            <a:r>
              <a:rPr lang="en-US" dirty="0" err="1">
                <a:latin typeface="Microsoft YaHei" panose="020B0503020204020204" pitchFamily="34" charset="-122"/>
                <a:ea typeface="Microsoft YaHei" panose="020B0503020204020204" pitchFamily="34" charset="-122"/>
                <a:cs typeface="Arial"/>
              </a:rPr>
              <a:t>使用</a:t>
            </a:r>
            <a:r>
              <a:rPr spc="-13" dirty="0">
                <a:latin typeface="Microsoft YaHei" panose="020B0503020204020204" pitchFamily="34" charset="-122"/>
                <a:ea typeface="Microsoft YaHei" panose="020B0503020204020204" pitchFamily="34" charset="-122"/>
                <a:cs typeface="Arial"/>
              </a:rPr>
              <a:t> </a:t>
            </a:r>
            <a:r>
              <a:rPr dirty="0">
                <a:latin typeface="Microsoft YaHei" panose="020B0503020204020204" pitchFamily="34" charset="-122"/>
                <a:ea typeface="Microsoft YaHei" panose="020B0503020204020204" pitchFamily="34" charset="-122"/>
                <a:cs typeface="Arial"/>
              </a:rPr>
              <a:t>c</a:t>
            </a:r>
            <a:r>
              <a:rPr baseline="-30555" dirty="0">
                <a:latin typeface="Microsoft YaHei" panose="020B0503020204020204" pitchFamily="34" charset="-122"/>
                <a:ea typeface="Microsoft YaHei" panose="020B0503020204020204" pitchFamily="34" charset="-122"/>
                <a:cs typeface="Arial"/>
              </a:rPr>
              <a:t>2</a:t>
            </a:r>
            <a:r>
              <a:rPr spc="260" baseline="-30555" dirty="0">
                <a:latin typeface="Microsoft YaHei" panose="020B0503020204020204" pitchFamily="34" charset="-122"/>
                <a:ea typeface="Microsoft YaHei" panose="020B0503020204020204" pitchFamily="34" charset="-122"/>
                <a:cs typeface="Arial"/>
              </a:rPr>
              <a:t> </a:t>
            </a:r>
            <a:r>
              <a:rPr lang="en-US" spc="260" dirty="0">
                <a:latin typeface="Microsoft YaHei" panose="020B0503020204020204" pitchFamily="34" charset="-122"/>
                <a:ea typeface="Microsoft YaHei" panose="020B0503020204020204" pitchFamily="34" charset="-122"/>
                <a:cs typeface="Arial"/>
              </a:rPr>
              <a:t>计算</a:t>
            </a:r>
            <a:r>
              <a:rPr dirty="0">
                <a:latin typeface="Microsoft YaHei" panose="020B0503020204020204" pitchFamily="34" charset="-122"/>
                <a:ea typeface="Microsoft YaHei" panose="020B0503020204020204" pitchFamily="34" charset="-122"/>
                <a:cs typeface="Arial"/>
              </a:rPr>
              <a:t>s</a:t>
            </a:r>
            <a:r>
              <a:rPr baseline="-30555" dirty="0">
                <a:latin typeface="Microsoft YaHei" panose="020B0503020204020204" pitchFamily="34" charset="-122"/>
                <a:ea typeface="Microsoft YaHei" panose="020B0503020204020204" pitchFamily="34" charset="-122"/>
                <a:cs typeface="Arial"/>
              </a:rPr>
              <a:t>2</a:t>
            </a:r>
            <a:r>
              <a:rPr dirty="0">
                <a:latin typeface="Microsoft YaHei" panose="020B0503020204020204" pitchFamily="34" charset="-122"/>
                <a:ea typeface="Microsoft YaHei" panose="020B0503020204020204" pitchFamily="34" charset="-122"/>
                <a:cs typeface="Arial"/>
              </a:rPr>
              <a:t>,</a:t>
            </a:r>
            <a:r>
              <a:rPr spc="-7" dirty="0">
                <a:latin typeface="Microsoft YaHei" panose="020B0503020204020204" pitchFamily="34" charset="-122"/>
                <a:ea typeface="Microsoft YaHei" panose="020B0503020204020204" pitchFamily="34" charset="-122"/>
                <a:cs typeface="Arial"/>
              </a:rPr>
              <a:t> </a:t>
            </a:r>
            <a:r>
              <a:rPr spc="-33" dirty="0">
                <a:latin typeface="Microsoft YaHei" panose="020B0503020204020204" pitchFamily="34" charset="-122"/>
                <a:ea typeface="Microsoft YaHei" panose="020B0503020204020204" pitchFamily="34" charset="-122"/>
                <a:cs typeface="Arial"/>
              </a:rPr>
              <a:t>y</a:t>
            </a:r>
            <a:r>
              <a:rPr spc="-49" baseline="-30555" dirty="0">
                <a:latin typeface="Microsoft YaHei" panose="020B0503020204020204" pitchFamily="34" charset="-122"/>
                <a:ea typeface="Microsoft YaHei" panose="020B0503020204020204" pitchFamily="34" charset="-122"/>
                <a:cs typeface="Arial"/>
              </a:rPr>
              <a:t>2</a:t>
            </a:r>
            <a:endParaRPr baseline="-30555" dirty="0">
              <a:latin typeface="Microsoft YaHei" panose="020B0503020204020204" pitchFamily="34" charset="-122"/>
              <a:ea typeface="Microsoft YaHei" panose="020B0503020204020204" pitchFamily="34" charset="-122"/>
              <a:cs typeface="Arial"/>
            </a:endParaRPr>
          </a:p>
        </p:txBody>
      </p:sp>
      <p:grpSp>
        <p:nvGrpSpPr>
          <p:cNvPr id="43" name="Group 42">
            <a:extLst>
              <a:ext uri="{FF2B5EF4-FFF2-40B4-BE49-F238E27FC236}">
                <a16:creationId xmlns:a16="http://schemas.microsoft.com/office/drawing/2014/main" id="{A46103D4-570E-4490-3B19-A679154A7FE0}"/>
              </a:ext>
            </a:extLst>
          </p:cNvPr>
          <p:cNvGrpSpPr/>
          <p:nvPr/>
        </p:nvGrpSpPr>
        <p:grpSpPr>
          <a:xfrm>
            <a:off x="0" y="-1589"/>
            <a:ext cx="12191999" cy="768585"/>
            <a:chOff x="0" y="-1589"/>
            <a:chExt cx="12191999" cy="768585"/>
          </a:xfrm>
        </p:grpSpPr>
        <p:grpSp>
          <p:nvGrpSpPr>
            <p:cNvPr id="44" name="Group 9">
              <a:extLst>
                <a:ext uri="{FF2B5EF4-FFF2-40B4-BE49-F238E27FC236}">
                  <a16:creationId xmlns:a16="http://schemas.microsoft.com/office/drawing/2014/main" id="{74214C94-50A4-0237-B9B8-F30D78057112}"/>
                </a:ext>
              </a:extLst>
            </p:cNvPr>
            <p:cNvGrpSpPr>
              <a:grpSpLocks noChangeAspect="1"/>
            </p:cNvGrpSpPr>
            <p:nvPr/>
          </p:nvGrpSpPr>
          <p:grpSpPr bwMode="auto">
            <a:xfrm>
              <a:off x="0" y="-1589"/>
              <a:ext cx="12191999" cy="767234"/>
              <a:chOff x="-1" y="-1"/>
              <a:chExt cx="7719" cy="568"/>
            </a:xfrm>
          </p:grpSpPr>
          <p:sp>
            <p:nvSpPr>
              <p:cNvPr id="47" name="Freeform 46">
                <a:extLst>
                  <a:ext uri="{FF2B5EF4-FFF2-40B4-BE49-F238E27FC236}">
                    <a16:creationId xmlns:a16="http://schemas.microsoft.com/office/drawing/2014/main" id="{35680FDB-6C6C-17E6-AEAA-7F786D5799A4}"/>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48" name="AutoShape 8">
                <a:extLst>
                  <a:ext uri="{FF2B5EF4-FFF2-40B4-BE49-F238E27FC236}">
                    <a16:creationId xmlns:a16="http://schemas.microsoft.com/office/drawing/2014/main" id="{FAA84F04-1D92-6E16-3F34-C5EB1809A157}"/>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45" name="任意多边形: 形状 12">
              <a:extLst>
                <a:ext uri="{FF2B5EF4-FFF2-40B4-BE49-F238E27FC236}">
                  <a16:creationId xmlns:a16="http://schemas.microsoft.com/office/drawing/2014/main" id="{0857C660-ACC1-6F33-0497-1F98C6B6F061}"/>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46" name="文本框 18">
              <a:extLst>
                <a:ext uri="{FF2B5EF4-FFF2-40B4-BE49-F238E27FC236}">
                  <a16:creationId xmlns:a16="http://schemas.microsoft.com/office/drawing/2014/main" id="{7BF87D01-CE85-1B6D-DA1B-EDDC3C462018}"/>
                </a:ext>
              </a:extLst>
            </p:cNvPr>
            <p:cNvSpPr txBox="1"/>
            <p:nvPr/>
          </p:nvSpPr>
          <p:spPr>
            <a:xfrm>
              <a:off x="350439" y="120418"/>
              <a:ext cx="3477234" cy="523220"/>
            </a:xfrm>
            <a:prstGeom prst="rect">
              <a:avLst/>
            </a:prstGeom>
            <a:noFill/>
          </p:spPr>
          <p:txBody>
            <a:bodyPr wrap="none" rtlCol="0">
              <a:spAutoFit/>
            </a:bodyPr>
            <a:lstStyle/>
            <a:p>
              <a:pPr>
                <a:defRPr/>
              </a:pPr>
              <a:r>
                <a:rPr lang="zh-CN" altLang="en-US" sz="2800" b="1">
                  <a:solidFill>
                    <a:prstClr val="white"/>
                  </a:solidFill>
                  <a:cs typeface="+mn-ea"/>
                  <a:sym typeface="+mn-lt"/>
                </a:rPr>
                <a:t>在</a:t>
              </a:r>
              <a:r>
                <a:rPr lang="en-US" altLang="zh-CN" sz="2800" b="1">
                  <a:solidFill>
                    <a:prstClr val="white"/>
                  </a:solidFill>
                  <a:cs typeface="+mn-ea"/>
                  <a:sym typeface="+mn-lt"/>
                </a:rPr>
                <a:t>RNN</a:t>
              </a:r>
              <a:r>
                <a:rPr lang="zh-CN" altLang="en-US" sz="2800" b="1">
                  <a:solidFill>
                    <a:prstClr val="white"/>
                  </a:solidFill>
                  <a:cs typeface="+mn-ea"/>
                  <a:sym typeface="+mn-lt"/>
                </a:rPr>
                <a:t>中使用注意力</a:t>
              </a:r>
            </a:p>
          </p:txBody>
        </p:sp>
      </p:grpSp>
      <p:sp>
        <p:nvSpPr>
          <p:cNvPr id="55" name="object 8">
            <a:extLst>
              <a:ext uri="{FF2B5EF4-FFF2-40B4-BE49-F238E27FC236}">
                <a16:creationId xmlns:a16="http://schemas.microsoft.com/office/drawing/2014/main" id="{1572880C-7A95-34B1-0AE8-5CD18AE7C3BF}"/>
              </a:ext>
            </a:extLst>
          </p:cNvPr>
          <p:cNvSpPr txBox="1"/>
          <p:nvPr/>
        </p:nvSpPr>
        <p:spPr>
          <a:xfrm>
            <a:off x="692227" y="5627077"/>
            <a:ext cx="323772" cy="294097"/>
          </a:xfrm>
          <a:prstGeom prst="rect">
            <a:avLst/>
          </a:prstGeom>
        </p:spPr>
        <p:txBody>
          <a:bodyPr vert="horz" wrap="square" lIns="0" tIns="16933" rIns="0" bIns="0" rtlCol="0" anchor="t">
            <a:spAutoFit/>
          </a:bodyPr>
          <a:lstStyle/>
          <a:p>
            <a:pPr marL="16510">
              <a:spcBef>
                <a:spcPts val="133"/>
              </a:spcBef>
            </a:pPr>
            <a:r>
              <a:rPr lang="zh-CN" spc="-33">
                <a:latin typeface="Microsoft YaHei" panose="020B0503020204020204" pitchFamily="34" charset="-122"/>
                <a:ea typeface="Microsoft YaHei" panose="020B0503020204020204" pitchFamily="34" charset="-122"/>
                <a:cs typeface="Calibri"/>
              </a:rPr>
              <a:t>我</a:t>
            </a:r>
            <a:endParaRPr lang="zh-CN" altLang="en-US">
              <a:latin typeface="Microsoft YaHei" panose="020B0503020204020204" pitchFamily="34" charset="-122"/>
              <a:ea typeface="Microsoft YaHei" panose="020B0503020204020204" pitchFamily="34" charset="-122"/>
              <a:cs typeface="Calibri" panose="020F0502020204030204" pitchFamily="34" charset="0"/>
            </a:endParaRPr>
          </a:p>
        </p:txBody>
      </p:sp>
      <p:sp>
        <p:nvSpPr>
          <p:cNvPr id="56" name="object 9">
            <a:extLst>
              <a:ext uri="{FF2B5EF4-FFF2-40B4-BE49-F238E27FC236}">
                <a16:creationId xmlns:a16="http://schemas.microsoft.com/office/drawing/2014/main" id="{7D430023-C669-F220-2704-9AD242656252}"/>
              </a:ext>
            </a:extLst>
          </p:cNvPr>
          <p:cNvSpPr txBox="1"/>
          <p:nvPr/>
        </p:nvSpPr>
        <p:spPr>
          <a:xfrm>
            <a:off x="1553348" y="5627077"/>
            <a:ext cx="360445" cy="294097"/>
          </a:xfrm>
          <a:prstGeom prst="rect">
            <a:avLst/>
          </a:prstGeom>
        </p:spPr>
        <p:txBody>
          <a:bodyPr vert="horz" wrap="square" lIns="0" tIns="16933" rIns="0" bIns="0" rtlCol="0" anchor="t">
            <a:spAutoFit/>
          </a:bodyPr>
          <a:lstStyle/>
          <a:p>
            <a:pPr marL="16510">
              <a:spcBef>
                <a:spcPts val="133"/>
              </a:spcBef>
            </a:pPr>
            <a:r>
              <a:rPr lang="zh-CN" spc="-33">
                <a:latin typeface="Microsoft YaHei" panose="020B0503020204020204" pitchFamily="34" charset="-122"/>
                <a:ea typeface="Microsoft YaHei" panose="020B0503020204020204" pitchFamily="34" charset="-122"/>
                <a:cs typeface="Calibri"/>
              </a:rPr>
              <a:t>买</a:t>
            </a:r>
            <a:endParaRPr lang="zh-CN" altLang="en-US">
              <a:latin typeface="Microsoft YaHei" panose="020B0503020204020204" pitchFamily="34" charset="-122"/>
              <a:ea typeface="Microsoft YaHei" panose="020B0503020204020204" pitchFamily="34" charset="-122"/>
              <a:cs typeface="Calibri" panose="020F0502020204030204" pitchFamily="34" charset="0"/>
            </a:endParaRPr>
          </a:p>
        </p:txBody>
      </p:sp>
      <p:sp>
        <p:nvSpPr>
          <p:cNvPr id="58" name="object 10">
            <a:extLst>
              <a:ext uri="{FF2B5EF4-FFF2-40B4-BE49-F238E27FC236}">
                <a16:creationId xmlns:a16="http://schemas.microsoft.com/office/drawing/2014/main" id="{82D48CE1-FB97-CE1B-A65A-16D58602DA85}"/>
              </a:ext>
            </a:extLst>
          </p:cNvPr>
          <p:cNvSpPr txBox="1"/>
          <p:nvPr/>
        </p:nvSpPr>
        <p:spPr>
          <a:xfrm>
            <a:off x="2375045" y="5627077"/>
            <a:ext cx="641258" cy="294097"/>
          </a:xfrm>
          <a:prstGeom prst="rect">
            <a:avLst/>
          </a:prstGeom>
        </p:spPr>
        <p:txBody>
          <a:bodyPr vert="horz" wrap="square" lIns="0" tIns="16933" rIns="0" bIns="0" rtlCol="0" anchor="t">
            <a:spAutoFit/>
          </a:bodyPr>
          <a:lstStyle/>
          <a:p>
            <a:pPr marL="16510" algn="ctr">
              <a:spcBef>
                <a:spcPts val="133"/>
              </a:spcBef>
            </a:pPr>
            <a:r>
              <a:rPr lang="zh-CN" spc="-13">
                <a:latin typeface="Microsoft YaHei" panose="020B0503020204020204" pitchFamily="34" charset="-122"/>
                <a:ea typeface="Microsoft YaHei" panose="020B0503020204020204" pitchFamily="34" charset="-122"/>
                <a:cs typeface="Calibri"/>
              </a:rPr>
              <a:t>了</a:t>
            </a:r>
            <a:endParaRPr lang="zh-CN" altLang="en-US">
              <a:latin typeface="Microsoft YaHei" panose="020B0503020204020204" pitchFamily="34" charset="-122"/>
              <a:ea typeface="Microsoft YaHei" panose="020B0503020204020204" pitchFamily="34" charset="-122"/>
              <a:cs typeface="Calibri" panose="020F0502020204030204" pitchFamily="34" charset="0"/>
            </a:endParaRPr>
          </a:p>
        </p:txBody>
      </p:sp>
      <p:sp>
        <p:nvSpPr>
          <p:cNvPr id="59" name="object 24">
            <a:extLst>
              <a:ext uri="{FF2B5EF4-FFF2-40B4-BE49-F238E27FC236}">
                <a16:creationId xmlns:a16="http://schemas.microsoft.com/office/drawing/2014/main" id="{C9E1D721-7616-1BB6-411C-03EF1599289D}"/>
              </a:ext>
            </a:extLst>
          </p:cNvPr>
          <p:cNvSpPr txBox="1"/>
          <p:nvPr/>
        </p:nvSpPr>
        <p:spPr>
          <a:xfrm>
            <a:off x="3333099" y="5627077"/>
            <a:ext cx="604585" cy="294097"/>
          </a:xfrm>
          <a:prstGeom prst="rect">
            <a:avLst/>
          </a:prstGeom>
        </p:spPr>
        <p:txBody>
          <a:bodyPr vert="horz" wrap="square" lIns="0" tIns="16933" rIns="0" bIns="0" rtlCol="0" anchor="t">
            <a:spAutoFit/>
          </a:bodyPr>
          <a:lstStyle/>
          <a:p>
            <a:pPr marL="16510" algn="ctr">
              <a:spcBef>
                <a:spcPts val="133"/>
              </a:spcBef>
            </a:pPr>
            <a:r>
              <a:rPr lang="zh-CN" altLang="en-US" spc="-13" dirty="0">
                <a:latin typeface="Microsoft YaHei" panose="020B0503020204020204" pitchFamily="34" charset="-122"/>
                <a:ea typeface="Microsoft YaHei" panose="020B0503020204020204" pitchFamily="34" charset="-122"/>
                <a:cs typeface="Calibri"/>
              </a:rPr>
              <a:t>书</a:t>
            </a:r>
            <a:endParaRPr lang="zh-CN" altLang="en-US" dirty="0">
              <a:latin typeface="Microsoft YaHei" panose="020B0503020204020204" pitchFamily="34" charset="-122"/>
              <a:ea typeface="Microsoft YaHei" panose="020B0503020204020204" pitchFamily="34" charset="-122"/>
              <a:cs typeface="Calibri" panose="020F0502020204030204" pitchFamily="34" charset="0"/>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0696A3E8-B0EF-9629-2F90-BC50F0C006C9}"/>
                  </a:ext>
                </a:extLst>
              </p:cNvPr>
              <p:cNvSpPr txBox="1"/>
              <p:nvPr/>
            </p:nvSpPr>
            <p:spPr>
              <a:xfrm>
                <a:off x="3056823" y="5662965"/>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60" name="TextBox 59">
                <a:extLst>
                  <a:ext uri="{FF2B5EF4-FFF2-40B4-BE49-F238E27FC236}">
                    <a16:creationId xmlns:a16="http://schemas.microsoft.com/office/drawing/2014/main" id="{0696A3E8-B0EF-9629-2F90-BC50F0C006C9}"/>
                  </a:ext>
                </a:extLst>
              </p:cNvPr>
              <p:cNvSpPr txBox="1">
                <a:spLocks noRot="1" noChangeAspect="1" noMove="1" noResize="1" noEditPoints="1" noAdjustHandles="1" noChangeArrowheads="1" noChangeShapeType="1" noTextEdit="1"/>
              </p:cNvSpPr>
              <p:nvPr/>
            </p:nvSpPr>
            <p:spPr>
              <a:xfrm>
                <a:off x="3056823" y="5662965"/>
                <a:ext cx="329532" cy="24622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40949233-21DC-80F8-F3CB-9D1770027B37}"/>
                  </a:ext>
                </a:extLst>
              </p:cNvPr>
              <p:cNvSpPr txBox="1"/>
              <p:nvPr/>
            </p:nvSpPr>
            <p:spPr>
              <a:xfrm>
                <a:off x="614540" y="5022798"/>
                <a:ext cx="47198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oMath>
                  </m:oMathPara>
                </a14:m>
                <a:endParaRPr lang="en-US" dirty="0"/>
              </a:p>
            </p:txBody>
          </p:sp>
        </mc:Choice>
        <mc:Fallback xmlns="">
          <p:sp>
            <p:nvSpPr>
              <p:cNvPr id="62" name="TextBox 61">
                <a:extLst>
                  <a:ext uri="{FF2B5EF4-FFF2-40B4-BE49-F238E27FC236}">
                    <a16:creationId xmlns:a16="http://schemas.microsoft.com/office/drawing/2014/main" id="{40949233-21DC-80F8-F3CB-9D1770027B37}"/>
                  </a:ext>
                </a:extLst>
              </p:cNvPr>
              <p:cNvSpPr txBox="1">
                <a:spLocks noRot="1" noChangeAspect="1" noMove="1" noResize="1" noEditPoints="1" noAdjustHandles="1" noChangeArrowheads="1" noChangeShapeType="1" noTextEdit="1"/>
              </p:cNvSpPr>
              <p:nvPr/>
            </p:nvSpPr>
            <p:spPr>
              <a:xfrm>
                <a:off x="614540" y="5022798"/>
                <a:ext cx="471989"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EF31A178-07FE-78D7-F26E-C57259D36A96}"/>
                  </a:ext>
                </a:extLst>
              </p:cNvPr>
              <p:cNvSpPr txBox="1"/>
              <p:nvPr/>
            </p:nvSpPr>
            <p:spPr>
              <a:xfrm>
                <a:off x="1494969" y="5022798"/>
                <a:ext cx="47731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oMath>
                  </m:oMathPara>
                </a14:m>
                <a:endParaRPr lang="en-US" dirty="0"/>
              </a:p>
            </p:txBody>
          </p:sp>
        </mc:Choice>
        <mc:Fallback xmlns="">
          <p:sp>
            <p:nvSpPr>
              <p:cNvPr id="63" name="TextBox 62">
                <a:extLst>
                  <a:ext uri="{FF2B5EF4-FFF2-40B4-BE49-F238E27FC236}">
                    <a16:creationId xmlns:a16="http://schemas.microsoft.com/office/drawing/2014/main" id="{EF31A178-07FE-78D7-F26E-C57259D36A96}"/>
                  </a:ext>
                </a:extLst>
              </p:cNvPr>
              <p:cNvSpPr txBox="1">
                <a:spLocks noRot="1" noChangeAspect="1" noMove="1" noResize="1" noEditPoints="1" noAdjustHandles="1" noChangeArrowheads="1" noChangeShapeType="1" noTextEdit="1"/>
              </p:cNvSpPr>
              <p:nvPr/>
            </p:nvSpPr>
            <p:spPr>
              <a:xfrm>
                <a:off x="1494969" y="5022798"/>
                <a:ext cx="477310"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15C17B4B-0373-3E65-733F-845C2700C9DC}"/>
                  </a:ext>
                </a:extLst>
              </p:cNvPr>
              <p:cNvSpPr txBox="1"/>
              <p:nvPr/>
            </p:nvSpPr>
            <p:spPr>
              <a:xfrm>
                <a:off x="2457019" y="5022798"/>
                <a:ext cx="47731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3</m:t>
                          </m:r>
                        </m:sub>
                      </m:sSub>
                    </m:oMath>
                  </m:oMathPara>
                </a14:m>
                <a:endParaRPr lang="en-US" dirty="0"/>
              </a:p>
            </p:txBody>
          </p:sp>
        </mc:Choice>
        <mc:Fallback xmlns="">
          <p:sp>
            <p:nvSpPr>
              <p:cNvPr id="65" name="TextBox 64">
                <a:extLst>
                  <a:ext uri="{FF2B5EF4-FFF2-40B4-BE49-F238E27FC236}">
                    <a16:creationId xmlns:a16="http://schemas.microsoft.com/office/drawing/2014/main" id="{15C17B4B-0373-3E65-733F-845C2700C9DC}"/>
                  </a:ext>
                </a:extLst>
              </p:cNvPr>
              <p:cNvSpPr txBox="1">
                <a:spLocks noRot="1" noChangeAspect="1" noMove="1" noResize="1" noEditPoints="1" noAdjustHandles="1" noChangeArrowheads="1" noChangeShapeType="1" noTextEdit="1"/>
              </p:cNvSpPr>
              <p:nvPr/>
            </p:nvSpPr>
            <p:spPr>
              <a:xfrm>
                <a:off x="2457019" y="5022798"/>
                <a:ext cx="477310"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81472728-29C8-708C-9753-47D8BF32D86C}"/>
                  </a:ext>
                </a:extLst>
              </p:cNvPr>
              <p:cNvSpPr txBox="1"/>
              <p:nvPr/>
            </p:nvSpPr>
            <p:spPr>
              <a:xfrm>
                <a:off x="3419069" y="5049369"/>
                <a:ext cx="49699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𝑇</m:t>
                          </m:r>
                        </m:sub>
                      </m:sSub>
                    </m:oMath>
                  </m:oMathPara>
                </a14:m>
                <a:endParaRPr lang="en-US" dirty="0"/>
              </a:p>
            </p:txBody>
          </p:sp>
        </mc:Choice>
        <mc:Fallback xmlns="">
          <p:sp>
            <p:nvSpPr>
              <p:cNvPr id="66" name="TextBox 65">
                <a:extLst>
                  <a:ext uri="{FF2B5EF4-FFF2-40B4-BE49-F238E27FC236}">
                    <a16:creationId xmlns:a16="http://schemas.microsoft.com/office/drawing/2014/main" id="{81472728-29C8-708C-9753-47D8BF32D86C}"/>
                  </a:ext>
                </a:extLst>
              </p:cNvPr>
              <p:cNvSpPr txBox="1">
                <a:spLocks noRot="1" noChangeAspect="1" noMove="1" noResize="1" noEditPoints="1" noAdjustHandles="1" noChangeArrowheads="1" noChangeShapeType="1" noTextEdit="1"/>
              </p:cNvSpPr>
              <p:nvPr/>
            </p:nvSpPr>
            <p:spPr>
              <a:xfrm>
                <a:off x="3419069" y="5049369"/>
                <a:ext cx="496996" cy="369332"/>
              </a:xfrm>
              <a:prstGeom prst="rect">
                <a:avLst/>
              </a:prstGeom>
              <a:blipFill>
                <a:blip r:embed="rId7"/>
                <a:stretch>
                  <a:fillRect b="-3333"/>
                </a:stretch>
              </a:blipFill>
            </p:spPr>
            <p:txBody>
              <a:bodyPr/>
              <a:lstStyle/>
              <a:p>
                <a:r>
                  <a:rPr lang="en-US">
                    <a:noFill/>
                  </a:rPr>
                  <a:t> </a:t>
                </a:r>
              </a:p>
            </p:txBody>
          </p:sp>
        </mc:Fallback>
      </mc:AlternateContent>
      <p:cxnSp>
        <p:nvCxnSpPr>
          <p:cNvPr id="68" name="Straight Arrow Connector 67">
            <a:extLst>
              <a:ext uri="{FF2B5EF4-FFF2-40B4-BE49-F238E27FC236}">
                <a16:creationId xmlns:a16="http://schemas.microsoft.com/office/drawing/2014/main" id="{905ECCF5-224D-CA11-ABE4-F49F93E595C3}"/>
              </a:ext>
            </a:extLst>
          </p:cNvPr>
          <p:cNvCxnSpPr>
            <a:stCxn id="55" idx="0"/>
            <a:endCxn id="62" idx="2"/>
          </p:cNvCxnSpPr>
          <p:nvPr/>
        </p:nvCxnSpPr>
        <p:spPr>
          <a:xfrm flipH="1" flipV="1">
            <a:off x="850535" y="5392130"/>
            <a:ext cx="3578"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A1801624-0A5B-8411-E1E7-60AC8B75FB0E}"/>
              </a:ext>
            </a:extLst>
          </p:cNvPr>
          <p:cNvCxnSpPr>
            <a:cxnSpLocks/>
            <a:stCxn id="56" idx="0"/>
            <a:endCxn id="63" idx="2"/>
          </p:cNvCxnSpPr>
          <p:nvPr/>
        </p:nvCxnSpPr>
        <p:spPr>
          <a:xfrm flipV="1">
            <a:off x="1733571" y="5392130"/>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4FE3EA4E-6C4B-DA90-65D0-44D25188642D}"/>
              </a:ext>
            </a:extLst>
          </p:cNvPr>
          <p:cNvCxnSpPr>
            <a:cxnSpLocks/>
          </p:cNvCxnSpPr>
          <p:nvPr/>
        </p:nvCxnSpPr>
        <p:spPr>
          <a:xfrm flipV="1">
            <a:off x="2679165" y="5358926"/>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9FEA63C2-50D5-8DF2-BFE7-61B0672B7546}"/>
              </a:ext>
            </a:extLst>
          </p:cNvPr>
          <p:cNvCxnSpPr>
            <a:cxnSpLocks/>
          </p:cNvCxnSpPr>
          <p:nvPr/>
        </p:nvCxnSpPr>
        <p:spPr>
          <a:xfrm flipV="1">
            <a:off x="3635391" y="5392129"/>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2" name="Rectangle 71">
                <a:extLst>
                  <a:ext uri="{FF2B5EF4-FFF2-40B4-BE49-F238E27FC236}">
                    <a16:creationId xmlns:a16="http://schemas.microsoft.com/office/drawing/2014/main" id="{F4B6B498-98B3-7E42-425D-E98089C8299D}"/>
                  </a:ext>
                </a:extLst>
              </p:cNvPr>
              <p:cNvSpPr/>
              <p:nvPr/>
            </p:nvSpPr>
            <p:spPr>
              <a:xfrm>
                <a:off x="661797" y="4263656"/>
                <a:ext cx="424732" cy="43593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1</m:t>
                          </m:r>
                        </m:sub>
                      </m:sSub>
                    </m:oMath>
                  </m:oMathPara>
                </a14:m>
                <a:endParaRPr lang="en-US" dirty="0"/>
              </a:p>
            </p:txBody>
          </p:sp>
        </mc:Choice>
        <mc:Fallback xmlns="">
          <p:sp>
            <p:nvSpPr>
              <p:cNvPr id="72" name="Rectangle 71">
                <a:extLst>
                  <a:ext uri="{FF2B5EF4-FFF2-40B4-BE49-F238E27FC236}">
                    <a16:creationId xmlns:a16="http://schemas.microsoft.com/office/drawing/2014/main" id="{F4B6B498-98B3-7E42-425D-E98089C8299D}"/>
                  </a:ext>
                </a:extLst>
              </p:cNvPr>
              <p:cNvSpPr>
                <a:spLocks noRot="1" noChangeAspect="1" noMove="1" noResize="1" noEditPoints="1" noAdjustHandles="1" noChangeArrowheads="1" noChangeShapeType="1" noTextEdit="1"/>
              </p:cNvSpPr>
              <p:nvPr/>
            </p:nvSpPr>
            <p:spPr>
              <a:xfrm>
                <a:off x="661797" y="4263656"/>
                <a:ext cx="424732" cy="435935"/>
              </a:xfrm>
              <a:prstGeom prst="rect">
                <a:avLst/>
              </a:prstGeom>
              <a:blipFill>
                <a:blip r:embed="rId8"/>
                <a:stretch>
                  <a:fillRect l="-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Rectangle 72">
                <a:extLst>
                  <a:ext uri="{FF2B5EF4-FFF2-40B4-BE49-F238E27FC236}">
                    <a16:creationId xmlns:a16="http://schemas.microsoft.com/office/drawing/2014/main" id="{BD39E580-8092-71C8-7756-140CF2B1903F}"/>
                  </a:ext>
                </a:extLst>
              </p:cNvPr>
              <p:cNvSpPr/>
              <p:nvPr/>
            </p:nvSpPr>
            <p:spPr>
              <a:xfrm>
                <a:off x="1547547" y="4263656"/>
                <a:ext cx="424732" cy="43593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2</m:t>
                          </m:r>
                        </m:sub>
                      </m:sSub>
                    </m:oMath>
                  </m:oMathPara>
                </a14:m>
                <a:endParaRPr lang="en-US" dirty="0"/>
              </a:p>
            </p:txBody>
          </p:sp>
        </mc:Choice>
        <mc:Fallback xmlns="">
          <p:sp>
            <p:nvSpPr>
              <p:cNvPr id="73" name="Rectangle 72">
                <a:extLst>
                  <a:ext uri="{FF2B5EF4-FFF2-40B4-BE49-F238E27FC236}">
                    <a16:creationId xmlns:a16="http://schemas.microsoft.com/office/drawing/2014/main" id="{BD39E580-8092-71C8-7756-140CF2B1903F}"/>
                  </a:ext>
                </a:extLst>
              </p:cNvPr>
              <p:cNvSpPr>
                <a:spLocks noRot="1" noChangeAspect="1" noMove="1" noResize="1" noEditPoints="1" noAdjustHandles="1" noChangeArrowheads="1" noChangeShapeType="1" noTextEdit="1"/>
              </p:cNvSpPr>
              <p:nvPr/>
            </p:nvSpPr>
            <p:spPr>
              <a:xfrm>
                <a:off x="1547547" y="4263656"/>
                <a:ext cx="424732" cy="435935"/>
              </a:xfrm>
              <a:prstGeom prst="rect">
                <a:avLst/>
              </a:prstGeom>
              <a:blipFill>
                <a:blip r:embed="rId9"/>
                <a:stretch>
                  <a:fillRect l="-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Rectangle 73">
                <a:extLst>
                  <a:ext uri="{FF2B5EF4-FFF2-40B4-BE49-F238E27FC236}">
                    <a16:creationId xmlns:a16="http://schemas.microsoft.com/office/drawing/2014/main" id="{0F66A3B5-DB18-F321-6116-D5F7E7C66F4F}"/>
                  </a:ext>
                </a:extLst>
              </p:cNvPr>
              <p:cNvSpPr/>
              <p:nvPr/>
            </p:nvSpPr>
            <p:spPr>
              <a:xfrm>
                <a:off x="2472323" y="4263656"/>
                <a:ext cx="424732" cy="43593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3</m:t>
                          </m:r>
                        </m:sub>
                      </m:sSub>
                    </m:oMath>
                  </m:oMathPara>
                </a14:m>
                <a:endParaRPr lang="en-US" dirty="0"/>
              </a:p>
            </p:txBody>
          </p:sp>
        </mc:Choice>
        <mc:Fallback xmlns="">
          <p:sp>
            <p:nvSpPr>
              <p:cNvPr id="74" name="Rectangle 73">
                <a:extLst>
                  <a:ext uri="{FF2B5EF4-FFF2-40B4-BE49-F238E27FC236}">
                    <a16:creationId xmlns:a16="http://schemas.microsoft.com/office/drawing/2014/main" id="{0F66A3B5-DB18-F321-6116-D5F7E7C66F4F}"/>
                  </a:ext>
                </a:extLst>
              </p:cNvPr>
              <p:cNvSpPr>
                <a:spLocks noRot="1" noChangeAspect="1" noMove="1" noResize="1" noEditPoints="1" noAdjustHandles="1" noChangeArrowheads="1" noChangeShapeType="1" noTextEdit="1"/>
              </p:cNvSpPr>
              <p:nvPr/>
            </p:nvSpPr>
            <p:spPr>
              <a:xfrm>
                <a:off x="2472323" y="4263656"/>
                <a:ext cx="424732" cy="435935"/>
              </a:xfrm>
              <a:prstGeom prst="rect">
                <a:avLst/>
              </a:prstGeom>
              <a:blipFill>
                <a:blip r:embed="rId10"/>
                <a:stretch>
                  <a:fillRect l="-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Rectangle 74">
                <a:extLst>
                  <a:ext uri="{FF2B5EF4-FFF2-40B4-BE49-F238E27FC236}">
                    <a16:creationId xmlns:a16="http://schemas.microsoft.com/office/drawing/2014/main" id="{B9AC9ADA-503C-487A-CC96-EFEB5532C0A2}"/>
                  </a:ext>
                </a:extLst>
              </p:cNvPr>
              <p:cNvSpPr/>
              <p:nvPr/>
            </p:nvSpPr>
            <p:spPr>
              <a:xfrm>
                <a:off x="3455201" y="4278211"/>
                <a:ext cx="424732" cy="43593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𝑇</m:t>
                          </m:r>
                        </m:sub>
                      </m:sSub>
                    </m:oMath>
                  </m:oMathPara>
                </a14:m>
                <a:endParaRPr lang="en-US" dirty="0"/>
              </a:p>
            </p:txBody>
          </p:sp>
        </mc:Choice>
        <mc:Fallback xmlns="">
          <p:sp>
            <p:nvSpPr>
              <p:cNvPr id="75" name="Rectangle 74">
                <a:extLst>
                  <a:ext uri="{FF2B5EF4-FFF2-40B4-BE49-F238E27FC236}">
                    <a16:creationId xmlns:a16="http://schemas.microsoft.com/office/drawing/2014/main" id="{B9AC9ADA-503C-487A-CC96-EFEB5532C0A2}"/>
                  </a:ext>
                </a:extLst>
              </p:cNvPr>
              <p:cNvSpPr>
                <a:spLocks noRot="1" noChangeAspect="1" noMove="1" noResize="1" noEditPoints="1" noAdjustHandles="1" noChangeArrowheads="1" noChangeShapeType="1" noTextEdit="1"/>
              </p:cNvSpPr>
              <p:nvPr/>
            </p:nvSpPr>
            <p:spPr>
              <a:xfrm>
                <a:off x="3455201" y="4278211"/>
                <a:ext cx="424732" cy="435935"/>
              </a:xfrm>
              <a:prstGeom prst="rect">
                <a:avLst/>
              </a:prstGeom>
              <a:blipFill>
                <a:blip r:embed="rId11"/>
                <a:stretch>
                  <a:fillRect l="-5714"/>
                </a:stretch>
              </a:blipFill>
            </p:spPr>
            <p:txBody>
              <a:bodyPr/>
              <a:lstStyle/>
              <a:p>
                <a:r>
                  <a:rPr lang="en-US">
                    <a:noFill/>
                  </a:rPr>
                  <a:t> </a:t>
                </a:r>
              </a:p>
            </p:txBody>
          </p:sp>
        </mc:Fallback>
      </mc:AlternateContent>
      <p:cxnSp>
        <p:nvCxnSpPr>
          <p:cNvPr id="76" name="Straight Arrow Connector 75">
            <a:extLst>
              <a:ext uri="{FF2B5EF4-FFF2-40B4-BE49-F238E27FC236}">
                <a16:creationId xmlns:a16="http://schemas.microsoft.com/office/drawing/2014/main" id="{8201AE7E-4779-FE33-912E-F0D5F1E3500F}"/>
              </a:ext>
            </a:extLst>
          </p:cNvPr>
          <p:cNvCxnSpPr>
            <a:cxnSpLocks/>
            <a:stCxn id="74" idx="3"/>
            <a:endCxn id="75" idx="1"/>
          </p:cNvCxnSpPr>
          <p:nvPr/>
        </p:nvCxnSpPr>
        <p:spPr>
          <a:xfrm>
            <a:off x="2897055" y="4481624"/>
            <a:ext cx="558146" cy="1455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7" name="Group 76">
            <a:extLst>
              <a:ext uri="{FF2B5EF4-FFF2-40B4-BE49-F238E27FC236}">
                <a16:creationId xmlns:a16="http://schemas.microsoft.com/office/drawing/2014/main" id="{5F7F6E6A-51C9-D6A8-DAED-EA56A4CB8270}"/>
              </a:ext>
            </a:extLst>
          </p:cNvPr>
          <p:cNvGrpSpPr/>
          <p:nvPr/>
        </p:nvGrpSpPr>
        <p:grpSpPr>
          <a:xfrm>
            <a:off x="2999905" y="4347165"/>
            <a:ext cx="329532" cy="246221"/>
            <a:chOff x="2966499" y="3857245"/>
            <a:chExt cx="329532" cy="246221"/>
          </a:xfrm>
        </p:grpSpPr>
        <p:sp>
          <p:nvSpPr>
            <p:cNvPr id="78" name="TextBox 77">
              <a:extLst>
                <a:ext uri="{FF2B5EF4-FFF2-40B4-BE49-F238E27FC236}">
                  <a16:creationId xmlns:a16="http://schemas.microsoft.com/office/drawing/2014/main" id="{D290B49F-91C8-B13C-6D0D-7C6B23E5A1B3}"/>
                </a:ext>
              </a:extLst>
            </p:cNvPr>
            <p:cNvSpPr txBox="1"/>
            <p:nvPr/>
          </p:nvSpPr>
          <p:spPr>
            <a:xfrm>
              <a:off x="3033827" y="3907765"/>
              <a:ext cx="187762" cy="184666"/>
            </a:xfrm>
            <a:prstGeom prst="rect">
              <a:avLst/>
            </a:prstGeom>
            <a:solidFill>
              <a:schemeClr val="bg1"/>
            </a:solidFill>
          </p:spPr>
          <p:txBody>
            <a:bodyPr wrap="square" rtlCol="0">
              <a:spAutoFit/>
            </a:bodyPr>
            <a:lstStyle/>
            <a:p>
              <a:endParaRPr lang="en-US" sz="600" dirty="0">
                <a:latin typeface="Microsoft YaHei" panose="020B0503020204020204" pitchFamily="34" charset="-122"/>
                <a:ea typeface="Microsoft YaHei" panose="020B0503020204020204" pitchFamily="34" charset="-122"/>
              </a:endParaRPr>
            </a:p>
          </p:txBody>
        </p: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58A5D4D7-5DF7-A82C-E3CD-3515D336E9B9}"/>
                    </a:ext>
                  </a:extLst>
                </p:cNvPr>
                <p:cNvSpPr txBox="1"/>
                <p:nvPr/>
              </p:nvSpPr>
              <p:spPr>
                <a:xfrm>
                  <a:off x="2966499" y="3857245"/>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79" name="TextBox 78">
                  <a:extLst>
                    <a:ext uri="{FF2B5EF4-FFF2-40B4-BE49-F238E27FC236}">
                      <a16:creationId xmlns:a16="http://schemas.microsoft.com/office/drawing/2014/main" id="{58A5D4D7-5DF7-A82C-E3CD-3515D336E9B9}"/>
                    </a:ext>
                  </a:extLst>
                </p:cNvPr>
                <p:cNvSpPr txBox="1">
                  <a:spLocks noRot="1" noChangeAspect="1" noMove="1" noResize="1" noEditPoints="1" noAdjustHandles="1" noChangeArrowheads="1" noChangeShapeType="1" noTextEdit="1"/>
                </p:cNvSpPr>
                <p:nvPr/>
              </p:nvSpPr>
              <p:spPr>
                <a:xfrm>
                  <a:off x="2966499" y="3857245"/>
                  <a:ext cx="329532" cy="246221"/>
                </a:xfrm>
                <a:prstGeom prst="rect">
                  <a:avLst/>
                </a:prstGeom>
                <a:blipFill>
                  <a:blip r:embed="rId12"/>
                  <a:stretch>
                    <a:fillRect/>
                  </a:stretch>
                </a:blipFill>
              </p:spPr>
              <p:txBody>
                <a:bodyPr/>
                <a:lstStyle/>
                <a:p>
                  <a:r>
                    <a:rPr lang="en-US">
                      <a:noFill/>
                    </a:rPr>
                    <a:t> </a:t>
                  </a:r>
                </a:p>
              </p:txBody>
            </p:sp>
          </mc:Fallback>
        </mc:AlternateContent>
      </p:grpSp>
      <p:cxnSp>
        <p:nvCxnSpPr>
          <p:cNvPr id="80" name="Straight Arrow Connector 79">
            <a:extLst>
              <a:ext uri="{FF2B5EF4-FFF2-40B4-BE49-F238E27FC236}">
                <a16:creationId xmlns:a16="http://schemas.microsoft.com/office/drawing/2014/main" id="{38348B65-4660-EC43-58DA-2074D6E3F057}"/>
              </a:ext>
            </a:extLst>
          </p:cNvPr>
          <p:cNvCxnSpPr>
            <a:cxnSpLocks/>
            <a:stCxn id="73" idx="3"/>
            <a:endCxn id="74" idx="1"/>
          </p:cNvCxnSpPr>
          <p:nvPr/>
        </p:nvCxnSpPr>
        <p:spPr>
          <a:xfrm>
            <a:off x="1972279" y="4481624"/>
            <a:ext cx="50004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0E75E517-B439-AF32-BEFD-A0543B31BA55}"/>
              </a:ext>
            </a:extLst>
          </p:cNvPr>
          <p:cNvCxnSpPr>
            <a:cxnSpLocks/>
            <a:stCxn id="72" idx="3"/>
            <a:endCxn id="73" idx="1"/>
          </p:cNvCxnSpPr>
          <p:nvPr/>
        </p:nvCxnSpPr>
        <p:spPr>
          <a:xfrm>
            <a:off x="1086529" y="4481624"/>
            <a:ext cx="46101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D51CB51A-933A-E187-1335-C7947756A2A3}"/>
              </a:ext>
            </a:extLst>
          </p:cNvPr>
          <p:cNvCxnSpPr/>
          <p:nvPr/>
        </p:nvCxnSpPr>
        <p:spPr>
          <a:xfrm flipH="1" flipV="1">
            <a:off x="850482" y="4861970"/>
            <a:ext cx="3578"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26463FC7-7E40-2DAC-F49F-4A9211CF3642}"/>
              </a:ext>
            </a:extLst>
          </p:cNvPr>
          <p:cNvCxnSpPr>
            <a:cxnSpLocks/>
          </p:cNvCxnSpPr>
          <p:nvPr/>
        </p:nvCxnSpPr>
        <p:spPr>
          <a:xfrm flipV="1">
            <a:off x="1733518" y="4861970"/>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FEF7FAD6-904A-2F29-B625-4215ABC224A7}"/>
              </a:ext>
            </a:extLst>
          </p:cNvPr>
          <p:cNvCxnSpPr>
            <a:cxnSpLocks/>
          </p:cNvCxnSpPr>
          <p:nvPr/>
        </p:nvCxnSpPr>
        <p:spPr>
          <a:xfrm flipV="1">
            <a:off x="2679112" y="4828766"/>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E9A83B1A-0491-AA71-9269-3380D3B6FF4F}"/>
              </a:ext>
            </a:extLst>
          </p:cNvPr>
          <p:cNvCxnSpPr>
            <a:cxnSpLocks/>
          </p:cNvCxnSpPr>
          <p:nvPr/>
        </p:nvCxnSpPr>
        <p:spPr>
          <a:xfrm flipV="1">
            <a:off x="3635338" y="4861969"/>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E78E3CC7-E295-8920-79DD-3A321A690224}"/>
                  </a:ext>
                </a:extLst>
              </p:cNvPr>
              <p:cNvSpPr txBox="1"/>
              <p:nvPr/>
            </p:nvSpPr>
            <p:spPr>
              <a:xfrm>
                <a:off x="3040699" y="5108610"/>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86" name="TextBox 85">
                <a:extLst>
                  <a:ext uri="{FF2B5EF4-FFF2-40B4-BE49-F238E27FC236}">
                    <a16:creationId xmlns:a16="http://schemas.microsoft.com/office/drawing/2014/main" id="{E78E3CC7-E295-8920-79DD-3A321A690224}"/>
                  </a:ext>
                </a:extLst>
              </p:cNvPr>
              <p:cNvSpPr txBox="1">
                <a:spLocks noRot="1" noChangeAspect="1" noMove="1" noResize="1" noEditPoints="1" noAdjustHandles="1" noChangeArrowheads="1" noChangeShapeType="1" noTextEdit="1"/>
              </p:cNvSpPr>
              <p:nvPr/>
            </p:nvSpPr>
            <p:spPr>
              <a:xfrm>
                <a:off x="3040699" y="5108610"/>
                <a:ext cx="329532" cy="246221"/>
              </a:xfrm>
              <a:prstGeom prst="rect">
                <a:avLst/>
              </a:prstGeom>
              <a:blipFill>
                <a:blip r:embed="rId13"/>
                <a:stretch>
                  <a:fillRect/>
                </a:stretch>
              </a:blipFill>
            </p:spPr>
            <p:txBody>
              <a:bodyPr/>
              <a:lstStyle/>
              <a:p>
                <a:r>
                  <a:rPr lang="en-US">
                    <a:noFill/>
                  </a:rPr>
                  <a:t> </a:t>
                </a:r>
              </a:p>
            </p:txBody>
          </p:sp>
        </mc:Fallback>
      </mc:AlternateContent>
      <p:cxnSp>
        <p:nvCxnSpPr>
          <p:cNvPr id="87" name="Straight Arrow Connector 86">
            <a:extLst>
              <a:ext uri="{FF2B5EF4-FFF2-40B4-BE49-F238E27FC236}">
                <a16:creationId xmlns:a16="http://schemas.microsoft.com/office/drawing/2014/main" id="{148BEBD6-596F-E25C-AE32-FCDCC630839E}"/>
              </a:ext>
            </a:extLst>
          </p:cNvPr>
          <p:cNvCxnSpPr>
            <a:cxnSpLocks/>
          </p:cNvCxnSpPr>
          <p:nvPr/>
        </p:nvCxnSpPr>
        <p:spPr>
          <a:xfrm>
            <a:off x="3897926" y="4495611"/>
            <a:ext cx="1141907" cy="56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8" name="Rectangle 87">
                <a:extLst>
                  <a:ext uri="{FF2B5EF4-FFF2-40B4-BE49-F238E27FC236}">
                    <a16:creationId xmlns:a16="http://schemas.microsoft.com/office/drawing/2014/main" id="{81E7D60A-A682-84EE-3212-945158661335}"/>
                  </a:ext>
                </a:extLst>
              </p:cNvPr>
              <p:cNvSpPr/>
              <p:nvPr/>
            </p:nvSpPr>
            <p:spPr>
              <a:xfrm>
                <a:off x="5061463" y="4278211"/>
                <a:ext cx="424732" cy="43593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𝑠</m:t>
                          </m:r>
                        </m:e>
                        <m:sub>
                          <m:r>
                            <a:rPr lang="en-US" altLang="zh-CN" b="0" i="1" smtClean="0">
                              <a:solidFill>
                                <a:schemeClr val="tx1"/>
                              </a:solidFill>
                              <a:latin typeface="Cambria Math" panose="02040503050406030204" pitchFamily="18" charset="0"/>
                            </a:rPr>
                            <m:t>0</m:t>
                          </m:r>
                        </m:sub>
                      </m:sSub>
                    </m:oMath>
                  </m:oMathPara>
                </a14:m>
                <a:endParaRPr lang="en-US" dirty="0"/>
              </a:p>
            </p:txBody>
          </p:sp>
        </mc:Choice>
        <mc:Fallback xmlns="">
          <p:sp>
            <p:nvSpPr>
              <p:cNvPr id="88" name="Rectangle 87">
                <a:extLst>
                  <a:ext uri="{FF2B5EF4-FFF2-40B4-BE49-F238E27FC236}">
                    <a16:creationId xmlns:a16="http://schemas.microsoft.com/office/drawing/2014/main" id="{81E7D60A-A682-84EE-3212-945158661335}"/>
                  </a:ext>
                </a:extLst>
              </p:cNvPr>
              <p:cNvSpPr>
                <a:spLocks noRot="1" noChangeAspect="1" noMove="1" noResize="1" noEditPoints="1" noAdjustHandles="1" noChangeArrowheads="1" noChangeShapeType="1" noTextEdit="1"/>
              </p:cNvSpPr>
              <p:nvPr/>
            </p:nvSpPr>
            <p:spPr>
              <a:xfrm>
                <a:off x="5061463" y="4278211"/>
                <a:ext cx="424732" cy="435935"/>
              </a:xfrm>
              <a:prstGeom prst="rect">
                <a:avLst/>
              </a:prstGeom>
              <a:blipFill>
                <a:blip r:embed="rId14"/>
                <a:stretch>
                  <a:fillRect/>
                </a:stretch>
              </a:blipFill>
            </p:spPr>
            <p:txBody>
              <a:bodyPr/>
              <a:lstStyle/>
              <a:p>
                <a:r>
                  <a:rPr lang="en-US">
                    <a:noFill/>
                  </a:rPr>
                  <a:t> </a:t>
                </a:r>
              </a:p>
            </p:txBody>
          </p:sp>
        </mc:Fallback>
      </mc:AlternateContent>
      <p:cxnSp>
        <p:nvCxnSpPr>
          <p:cNvPr id="96" name="Straight Arrow Connector 95">
            <a:extLst>
              <a:ext uri="{FF2B5EF4-FFF2-40B4-BE49-F238E27FC236}">
                <a16:creationId xmlns:a16="http://schemas.microsoft.com/office/drawing/2014/main" id="{9C321CD8-C772-E5BA-3689-BB8B6D75832C}"/>
              </a:ext>
            </a:extLst>
          </p:cNvPr>
          <p:cNvCxnSpPr>
            <a:cxnSpLocks/>
          </p:cNvCxnSpPr>
          <p:nvPr/>
        </p:nvCxnSpPr>
        <p:spPr>
          <a:xfrm flipH="1" flipV="1">
            <a:off x="2676824" y="4042846"/>
            <a:ext cx="1664" cy="216000"/>
          </a:xfrm>
          <a:prstGeom prst="straightConnector1">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5A8ABA36-B567-4D4F-D21B-2C4CAAE53647}"/>
              </a:ext>
            </a:extLst>
          </p:cNvPr>
          <p:cNvCxnSpPr>
            <a:cxnSpLocks/>
          </p:cNvCxnSpPr>
          <p:nvPr/>
        </p:nvCxnSpPr>
        <p:spPr>
          <a:xfrm flipH="1" flipV="1">
            <a:off x="3660291" y="4042846"/>
            <a:ext cx="1075" cy="216000"/>
          </a:xfrm>
          <a:prstGeom prst="straightConnector1">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99" name="Elbow Connector 98">
            <a:extLst>
              <a:ext uri="{FF2B5EF4-FFF2-40B4-BE49-F238E27FC236}">
                <a16:creationId xmlns:a16="http://schemas.microsoft.com/office/drawing/2014/main" id="{0B127D5F-B1ED-B493-87FB-F3A6FF4F9E09}"/>
              </a:ext>
            </a:extLst>
          </p:cNvPr>
          <p:cNvCxnSpPr>
            <a:cxnSpLocks/>
            <a:stCxn id="72" idx="0"/>
            <a:endCxn id="119" idx="1"/>
          </p:cNvCxnSpPr>
          <p:nvPr/>
        </p:nvCxnSpPr>
        <p:spPr>
          <a:xfrm rot="16200000" flipH="1">
            <a:off x="3763360" y="1374458"/>
            <a:ext cx="984723" cy="6763119"/>
          </a:xfrm>
          <a:prstGeom prst="bentConnector4">
            <a:avLst>
              <a:gd name="adj1" fmla="val -23215"/>
              <a:gd name="adj2" fmla="val 91165"/>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9" name="TextBox 118">
                <a:extLst>
                  <a:ext uri="{FF2B5EF4-FFF2-40B4-BE49-F238E27FC236}">
                    <a16:creationId xmlns:a16="http://schemas.microsoft.com/office/drawing/2014/main" id="{85A695CC-A0E9-591B-9C3B-B1BAE14E5910}"/>
                  </a:ext>
                </a:extLst>
              </p:cNvPr>
              <p:cNvSpPr txBox="1"/>
              <p:nvPr/>
            </p:nvSpPr>
            <p:spPr>
              <a:xfrm>
                <a:off x="7637282" y="5063713"/>
                <a:ext cx="45095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1</m:t>
                          </m:r>
                        </m:sub>
                      </m:sSub>
                    </m:oMath>
                  </m:oMathPara>
                </a14:m>
                <a:endParaRPr lang="en-US" dirty="0"/>
              </a:p>
            </p:txBody>
          </p:sp>
        </mc:Choice>
        <mc:Fallback xmlns="">
          <p:sp>
            <p:nvSpPr>
              <p:cNvPr id="119" name="TextBox 118">
                <a:extLst>
                  <a:ext uri="{FF2B5EF4-FFF2-40B4-BE49-F238E27FC236}">
                    <a16:creationId xmlns:a16="http://schemas.microsoft.com/office/drawing/2014/main" id="{85A695CC-A0E9-591B-9C3B-B1BAE14E5910}"/>
                  </a:ext>
                </a:extLst>
              </p:cNvPr>
              <p:cNvSpPr txBox="1">
                <a:spLocks noRot="1" noChangeAspect="1" noMove="1" noResize="1" noEditPoints="1" noAdjustHandles="1" noChangeArrowheads="1" noChangeShapeType="1" noTextEdit="1"/>
              </p:cNvSpPr>
              <p:nvPr/>
            </p:nvSpPr>
            <p:spPr>
              <a:xfrm>
                <a:off x="7637282" y="5063713"/>
                <a:ext cx="450956" cy="369332"/>
              </a:xfrm>
              <a:prstGeom prst="rect">
                <a:avLst/>
              </a:prstGeom>
              <a:blipFill>
                <a:blip r:embed="rId15"/>
                <a:stretch>
                  <a:fillRect b="-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0" name="TextBox 119">
                <a:extLst>
                  <a:ext uri="{FF2B5EF4-FFF2-40B4-BE49-F238E27FC236}">
                    <a16:creationId xmlns:a16="http://schemas.microsoft.com/office/drawing/2014/main" id="{7C49D22D-D162-1434-B95A-B7C5EED95829}"/>
                  </a:ext>
                </a:extLst>
              </p:cNvPr>
              <p:cNvSpPr txBox="1"/>
              <p:nvPr/>
            </p:nvSpPr>
            <p:spPr>
              <a:xfrm>
                <a:off x="7892986" y="5034079"/>
                <a:ext cx="47897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0</m:t>
                          </m:r>
                        </m:sub>
                      </m:sSub>
                    </m:oMath>
                  </m:oMathPara>
                </a14:m>
                <a:endParaRPr lang="en-US" dirty="0"/>
              </a:p>
            </p:txBody>
          </p:sp>
        </mc:Choice>
        <mc:Fallback xmlns="">
          <p:sp>
            <p:nvSpPr>
              <p:cNvPr id="120" name="TextBox 119">
                <a:extLst>
                  <a:ext uri="{FF2B5EF4-FFF2-40B4-BE49-F238E27FC236}">
                    <a16:creationId xmlns:a16="http://schemas.microsoft.com/office/drawing/2014/main" id="{7C49D22D-D162-1434-B95A-B7C5EED95829}"/>
                  </a:ext>
                </a:extLst>
              </p:cNvPr>
              <p:cNvSpPr txBox="1">
                <a:spLocks noRot="1" noChangeAspect="1" noMove="1" noResize="1" noEditPoints="1" noAdjustHandles="1" noChangeArrowheads="1" noChangeShapeType="1" noTextEdit="1"/>
              </p:cNvSpPr>
              <p:nvPr/>
            </p:nvSpPr>
            <p:spPr>
              <a:xfrm>
                <a:off x="7892986" y="5034079"/>
                <a:ext cx="478977" cy="369332"/>
              </a:xfrm>
              <a:prstGeom prst="rect">
                <a:avLst/>
              </a:prstGeom>
              <a:blipFill>
                <a:blip r:embed="rId16"/>
                <a:stretch>
                  <a:fillRect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6" name="Rectangle 155">
                <a:extLst>
                  <a:ext uri="{FF2B5EF4-FFF2-40B4-BE49-F238E27FC236}">
                    <a16:creationId xmlns:a16="http://schemas.microsoft.com/office/drawing/2014/main" id="{2D9736D2-984F-B979-2BD2-4AE815658381}"/>
                  </a:ext>
                </a:extLst>
              </p:cNvPr>
              <p:cNvSpPr/>
              <p:nvPr/>
            </p:nvSpPr>
            <p:spPr>
              <a:xfrm>
                <a:off x="7774840" y="4263655"/>
                <a:ext cx="424732" cy="43593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𝑠</m:t>
                          </m:r>
                        </m:e>
                        <m:sub>
                          <m:r>
                            <a:rPr lang="en-US" altLang="zh-CN" b="0" i="1" smtClean="0">
                              <a:solidFill>
                                <a:schemeClr val="tx1"/>
                              </a:solidFill>
                              <a:latin typeface="Cambria Math" panose="02040503050406030204" pitchFamily="18" charset="0"/>
                            </a:rPr>
                            <m:t>1</m:t>
                          </m:r>
                        </m:sub>
                      </m:sSub>
                    </m:oMath>
                  </m:oMathPara>
                </a14:m>
                <a:endParaRPr lang="en-US" dirty="0"/>
              </a:p>
            </p:txBody>
          </p:sp>
        </mc:Choice>
        <mc:Fallback xmlns="">
          <p:sp>
            <p:nvSpPr>
              <p:cNvPr id="156" name="Rectangle 155">
                <a:extLst>
                  <a:ext uri="{FF2B5EF4-FFF2-40B4-BE49-F238E27FC236}">
                    <a16:creationId xmlns:a16="http://schemas.microsoft.com/office/drawing/2014/main" id="{2D9736D2-984F-B979-2BD2-4AE815658381}"/>
                  </a:ext>
                </a:extLst>
              </p:cNvPr>
              <p:cNvSpPr>
                <a:spLocks noRot="1" noChangeAspect="1" noMove="1" noResize="1" noEditPoints="1" noAdjustHandles="1" noChangeArrowheads="1" noChangeShapeType="1" noTextEdit="1"/>
              </p:cNvSpPr>
              <p:nvPr/>
            </p:nvSpPr>
            <p:spPr>
              <a:xfrm>
                <a:off x="7774840" y="4263655"/>
                <a:ext cx="424732" cy="435935"/>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7" name="TextBox 156">
                <a:extLst>
                  <a:ext uri="{FF2B5EF4-FFF2-40B4-BE49-F238E27FC236}">
                    <a16:creationId xmlns:a16="http://schemas.microsoft.com/office/drawing/2014/main" id="{FA70EC34-611A-C7C9-756E-085901BB88C8}"/>
                  </a:ext>
                </a:extLst>
              </p:cNvPr>
              <p:cNvSpPr txBox="1"/>
              <p:nvPr/>
            </p:nvSpPr>
            <p:spPr>
              <a:xfrm>
                <a:off x="7760659" y="3447731"/>
                <a:ext cx="47365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1</m:t>
                          </m:r>
                        </m:sub>
                      </m:sSub>
                    </m:oMath>
                  </m:oMathPara>
                </a14:m>
                <a:endParaRPr lang="en-US" dirty="0"/>
              </a:p>
            </p:txBody>
          </p:sp>
        </mc:Choice>
        <mc:Fallback xmlns="">
          <p:sp>
            <p:nvSpPr>
              <p:cNvPr id="157" name="TextBox 156">
                <a:extLst>
                  <a:ext uri="{FF2B5EF4-FFF2-40B4-BE49-F238E27FC236}">
                    <a16:creationId xmlns:a16="http://schemas.microsoft.com/office/drawing/2014/main" id="{FA70EC34-611A-C7C9-756E-085901BB88C8}"/>
                  </a:ext>
                </a:extLst>
              </p:cNvPr>
              <p:cNvSpPr txBox="1">
                <a:spLocks noRot="1" noChangeAspect="1" noMove="1" noResize="1" noEditPoints="1" noAdjustHandles="1" noChangeArrowheads="1" noChangeShapeType="1" noTextEdit="1"/>
              </p:cNvSpPr>
              <p:nvPr/>
            </p:nvSpPr>
            <p:spPr>
              <a:xfrm>
                <a:off x="7760659" y="3447731"/>
                <a:ext cx="473656" cy="369332"/>
              </a:xfrm>
              <a:prstGeom prst="rect">
                <a:avLst/>
              </a:prstGeom>
              <a:blipFill>
                <a:blip r:embed="rId18"/>
                <a:stretch>
                  <a:fillRect b="-10000"/>
                </a:stretch>
              </a:blipFill>
            </p:spPr>
            <p:txBody>
              <a:bodyPr/>
              <a:lstStyle/>
              <a:p>
                <a:r>
                  <a:rPr lang="en-US">
                    <a:noFill/>
                  </a:rPr>
                  <a:t> </a:t>
                </a:r>
              </a:p>
            </p:txBody>
          </p:sp>
        </mc:Fallback>
      </mc:AlternateContent>
      <p:cxnSp>
        <p:nvCxnSpPr>
          <p:cNvPr id="158" name="Straight Arrow Connector 157">
            <a:extLst>
              <a:ext uri="{FF2B5EF4-FFF2-40B4-BE49-F238E27FC236}">
                <a16:creationId xmlns:a16="http://schemas.microsoft.com/office/drawing/2014/main" id="{F9EA7E5D-30E6-0A9B-3422-299A9ABB56D4}"/>
              </a:ext>
            </a:extLst>
          </p:cNvPr>
          <p:cNvCxnSpPr>
            <a:cxnSpLocks/>
          </p:cNvCxnSpPr>
          <p:nvPr/>
        </p:nvCxnSpPr>
        <p:spPr>
          <a:xfrm flipV="1">
            <a:off x="7994608" y="3878618"/>
            <a:ext cx="0" cy="38761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9" name="Straight Arrow Connector 158">
            <a:extLst>
              <a:ext uri="{FF2B5EF4-FFF2-40B4-BE49-F238E27FC236}">
                <a16:creationId xmlns:a16="http://schemas.microsoft.com/office/drawing/2014/main" id="{454B6213-4E78-7952-7138-9733569A9BAF}"/>
              </a:ext>
            </a:extLst>
          </p:cNvPr>
          <p:cNvCxnSpPr>
            <a:cxnSpLocks/>
          </p:cNvCxnSpPr>
          <p:nvPr/>
        </p:nvCxnSpPr>
        <p:spPr>
          <a:xfrm flipV="1">
            <a:off x="8104622" y="4709300"/>
            <a:ext cx="0" cy="38761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0" name="Straight Arrow Connector 159">
            <a:extLst>
              <a:ext uri="{FF2B5EF4-FFF2-40B4-BE49-F238E27FC236}">
                <a16:creationId xmlns:a16="http://schemas.microsoft.com/office/drawing/2014/main" id="{8A1D50C4-B61A-E16B-DD39-92DBB3BF7B88}"/>
              </a:ext>
            </a:extLst>
          </p:cNvPr>
          <p:cNvCxnSpPr>
            <a:cxnSpLocks/>
          </p:cNvCxnSpPr>
          <p:nvPr/>
        </p:nvCxnSpPr>
        <p:spPr>
          <a:xfrm flipV="1">
            <a:off x="7873961" y="4725773"/>
            <a:ext cx="0" cy="38761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1" name="TextBox 160">
            <a:extLst>
              <a:ext uri="{FF2B5EF4-FFF2-40B4-BE49-F238E27FC236}">
                <a16:creationId xmlns:a16="http://schemas.microsoft.com/office/drawing/2014/main" id="{62A0D6D8-CBF8-815B-A6C0-6559DB078FBB}"/>
              </a:ext>
            </a:extLst>
          </p:cNvPr>
          <p:cNvSpPr txBox="1"/>
          <p:nvPr/>
        </p:nvSpPr>
        <p:spPr>
          <a:xfrm>
            <a:off x="7862760" y="2932457"/>
            <a:ext cx="248786" cy="369332"/>
          </a:xfrm>
          <a:prstGeom prst="rect">
            <a:avLst/>
          </a:prstGeom>
          <a:noFill/>
        </p:spPr>
        <p:txBody>
          <a:bodyPr wrap="none" rtlCol="0">
            <a:spAutoFit/>
          </a:bodyPr>
          <a:lstStyle/>
          <a:p>
            <a:r>
              <a:rPr lang="en-US" altLang="zh-CN" dirty="0"/>
              <a:t>I</a:t>
            </a:r>
            <a:endParaRPr lang="en-US" dirty="0"/>
          </a:p>
        </p:txBody>
      </p:sp>
      <p:sp>
        <p:nvSpPr>
          <p:cNvPr id="162" name="TextBox 161">
            <a:extLst>
              <a:ext uri="{FF2B5EF4-FFF2-40B4-BE49-F238E27FC236}">
                <a16:creationId xmlns:a16="http://schemas.microsoft.com/office/drawing/2014/main" id="{9CBB28D4-76B8-8398-D911-CB9548CD611C}"/>
              </a:ext>
            </a:extLst>
          </p:cNvPr>
          <p:cNvSpPr txBox="1"/>
          <p:nvPr/>
        </p:nvSpPr>
        <p:spPr>
          <a:xfrm>
            <a:off x="7564120" y="5524615"/>
            <a:ext cx="1048236" cy="369332"/>
          </a:xfrm>
          <a:prstGeom prst="rect">
            <a:avLst/>
          </a:prstGeom>
          <a:noFill/>
        </p:spPr>
        <p:txBody>
          <a:bodyPr wrap="none" rtlCol="0">
            <a:spAutoFit/>
          </a:bodyPr>
          <a:lstStyle/>
          <a:p>
            <a:r>
              <a:rPr lang="en-US" altLang="zh-CN" dirty="0"/>
              <a:t>[START]</a:t>
            </a:r>
            <a:endParaRPr lang="en-US" dirty="0"/>
          </a:p>
        </p:txBody>
      </p:sp>
      <p:cxnSp>
        <p:nvCxnSpPr>
          <p:cNvPr id="163" name="Elbow Connector 162">
            <a:extLst>
              <a:ext uri="{FF2B5EF4-FFF2-40B4-BE49-F238E27FC236}">
                <a16:creationId xmlns:a16="http://schemas.microsoft.com/office/drawing/2014/main" id="{299FD1F3-B216-89B0-7CB2-33FF9BEEA060}"/>
              </a:ext>
            </a:extLst>
          </p:cNvPr>
          <p:cNvCxnSpPr>
            <a:cxnSpLocks/>
          </p:cNvCxnSpPr>
          <p:nvPr/>
        </p:nvCxnSpPr>
        <p:spPr>
          <a:xfrm>
            <a:off x="5486195" y="4496181"/>
            <a:ext cx="2151087" cy="864000"/>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9" name="Straight Arrow Connector 168">
            <a:extLst>
              <a:ext uri="{FF2B5EF4-FFF2-40B4-BE49-F238E27FC236}">
                <a16:creationId xmlns:a16="http://schemas.microsoft.com/office/drawing/2014/main" id="{8BF42458-8828-2204-FEC5-44F71C7A4D52}"/>
              </a:ext>
            </a:extLst>
          </p:cNvPr>
          <p:cNvCxnSpPr>
            <a:cxnSpLocks/>
          </p:cNvCxnSpPr>
          <p:nvPr/>
        </p:nvCxnSpPr>
        <p:spPr>
          <a:xfrm flipH="1" flipV="1">
            <a:off x="1785348" y="4038182"/>
            <a:ext cx="1664" cy="216000"/>
          </a:xfrm>
          <a:prstGeom prst="straightConnector1">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36159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object 153"/>
          <p:cNvSpPr txBox="1"/>
          <p:nvPr/>
        </p:nvSpPr>
        <p:spPr>
          <a:xfrm>
            <a:off x="75718" y="6658539"/>
            <a:ext cx="5729465" cy="158163"/>
          </a:xfrm>
          <a:prstGeom prst="rect">
            <a:avLst/>
          </a:prstGeom>
        </p:spPr>
        <p:txBody>
          <a:bodyPr vert="horz" wrap="square" lIns="0" tIns="4233" rIns="0" bIns="0" rtlCol="0">
            <a:spAutoFit/>
          </a:bodyPr>
          <a:lstStyle/>
          <a:p>
            <a:pPr marL="16933">
              <a:spcBef>
                <a:spcPts val="33"/>
              </a:spcBef>
            </a:pPr>
            <a:r>
              <a:rPr sz="1000">
                <a:latin typeface="Arial"/>
                <a:cs typeface="Arial"/>
              </a:rPr>
              <a:t>Bahdanau</a:t>
            </a:r>
            <a:r>
              <a:rPr sz="1000" spc="-27">
                <a:latin typeface="Arial"/>
                <a:cs typeface="Arial"/>
              </a:rPr>
              <a:t> </a:t>
            </a:r>
            <a:r>
              <a:rPr sz="1000">
                <a:latin typeface="Arial"/>
                <a:cs typeface="Arial"/>
              </a:rPr>
              <a:t>et</a:t>
            </a:r>
            <a:r>
              <a:rPr sz="1000" spc="-13">
                <a:latin typeface="Arial"/>
                <a:cs typeface="Arial"/>
              </a:rPr>
              <a:t> </a:t>
            </a:r>
            <a:r>
              <a:rPr sz="1000">
                <a:latin typeface="Arial"/>
                <a:cs typeface="Arial"/>
              </a:rPr>
              <a:t>al,</a:t>
            </a:r>
            <a:r>
              <a:rPr sz="1000" spc="-13">
                <a:latin typeface="Arial"/>
                <a:cs typeface="Arial"/>
              </a:rPr>
              <a:t> </a:t>
            </a:r>
            <a:r>
              <a:rPr sz="1000">
                <a:latin typeface="Arial"/>
                <a:cs typeface="Arial"/>
              </a:rPr>
              <a:t>“Neural</a:t>
            </a:r>
            <a:r>
              <a:rPr sz="1000" spc="-7">
                <a:latin typeface="Arial"/>
                <a:cs typeface="Arial"/>
              </a:rPr>
              <a:t> </a:t>
            </a:r>
            <a:r>
              <a:rPr sz="1000">
                <a:latin typeface="Arial"/>
                <a:cs typeface="Arial"/>
              </a:rPr>
              <a:t>machine</a:t>
            </a:r>
            <a:r>
              <a:rPr sz="1000" spc="-13">
                <a:latin typeface="Arial"/>
                <a:cs typeface="Arial"/>
              </a:rPr>
              <a:t> translation </a:t>
            </a:r>
            <a:r>
              <a:rPr sz="1000">
                <a:latin typeface="Arial"/>
                <a:cs typeface="Arial"/>
              </a:rPr>
              <a:t>by</a:t>
            </a:r>
            <a:r>
              <a:rPr sz="1000" spc="-7">
                <a:latin typeface="Arial"/>
                <a:cs typeface="Arial"/>
              </a:rPr>
              <a:t> </a:t>
            </a:r>
            <a:r>
              <a:rPr sz="1000">
                <a:latin typeface="Arial"/>
                <a:cs typeface="Arial"/>
              </a:rPr>
              <a:t>jointly</a:t>
            </a:r>
            <a:r>
              <a:rPr sz="1000" spc="-13">
                <a:latin typeface="Arial"/>
                <a:cs typeface="Arial"/>
              </a:rPr>
              <a:t> </a:t>
            </a:r>
            <a:r>
              <a:rPr sz="1000">
                <a:latin typeface="Arial"/>
                <a:cs typeface="Arial"/>
              </a:rPr>
              <a:t>learning</a:t>
            </a:r>
            <a:r>
              <a:rPr sz="1000" spc="-13">
                <a:latin typeface="Arial"/>
                <a:cs typeface="Arial"/>
              </a:rPr>
              <a:t> </a:t>
            </a:r>
            <a:r>
              <a:rPr sz="1000">
                <a:latin typeface="Arial"/>
                <a:cs typeface="Arial"/>
              </a:rPr>
              <a:t>to</a:t>
            </a:r>
            <a:r>
              <a:rPr sz="1000" spc="-13">
                <a:latin typeface="Arial"/>
                <a:cs typeface="Arial"/>
              </a:rPr>
              <a:t> </a:t>
            </a:r>
            <a:r>
              <a:rPr sz="1000">
                <a:latin typeface="Arial"/>
                <a:cs typeface="Arial"/>
              </a:rPr>
              <a:t>align</a:t>
            </a:r>
            <a:r>
              <a:rPr sz="1000" spc="-7">
                <a:latin typeface="Arial"/>
                <a:cs typeface="Arial"/>
              </a:rPr>
              <a:t> </a:t>
            </a:r>
            <a:r>
              <a:rPr sz="1000">
                <a:latin typeface="Arial"/>
                <a:cs typeface="Arial"/>
              </a:rPr>
              <a:t>and</a:t>
            </a:r>
            <a:r>
              <a:rPr sz="1000" spc="-13">
                <a:latin typeface="Arial"/>
                <a:cs typeface="Arial"/>
              </a:rPr>
              <a:t> translate”, </a:t>
            </a:r>
            <a:r>
              <a:rPr sz="1000">
                <a:latin typeface="Arial"/>
                <a:cs typeface="Arial"/>
              </a:rPr>
              <a:t>ICLR</a:t>
            </a:r>
            <a:r>
              <a:rPr lang="zh-CN" altLang="en-US" sz="1000" spc="-7">
                <a:latin typeface="Arial"/>
                <a:cs typeface="Arial"/>
              </a:rPr>
              <a:t> </a:t>
            </a:r>
            <a:r>
              <a:rPr sz="1000" spc="-27">
                <a:latin typeface="Arial"/>
                <a:cs typeface="Arial"/>
              </a:rPr>
              <a:t>201</a:t>
            </a:r>
            <a:r>
              <a:rPr lang="en-US" altLang="zh-CN" sz="1000" spc="-27">
                <a:latin typeface="Arial"/>
                <a:cs typeface="Arial"/>
              </a:rPr>
              <a:t>5</a:t>
            </a:r>
            <a:endParaRPr sz="2400">
              <a:latin typeface="Arial"/>
              <a:cs typeface="Arial"/>
            </a:endParaRPr>
          </a:p>
        </p:txBody>
      </p:sp>
      <p:grpSp>
        <p:nvGrpSpPr>
          <p:cNvPr id="107" name="Group 106">
            <a:extLst>
              <a:ext uri="{FF2B5EF4-FFF2-40B4-BE49-F238E27FC236}">
                <a16:creationId xmlns:a16="http://schemas.microsoft.com/office/drawing/2014/main" id="{7D40830A-1692-00CB-9E20-FC7B1EB9F1B3}"/>
              </a:ext>
            </a:extLst>
          </p:cNvPr>
          <p:cNvGrpSpPr/>
          <p:nvPr/>
        </p:nvGrpSpPr>
        <p:grpSpPr>
          <a:xfrm>
            <a:off x="0" y="-1589"/>
            <a:ext cx="12191999" cy="768585"/>
            <a:chOff x="0" y="-1589"/>
            <a:chExt cx="12191999" cy="768585"/>
          </a:xfrm>
        </p:grpSpPr>
        <p:grpSp>
          <p:nvGrpSpPr>
            <p:cNvPr id="120" name="Group 9">
              <a:extLst>
                <a:ext uri="{FF2B5EF4-FFF2-40B4-BE49-F238E27FC236}">
                  <a16:creationId xmlns:a16="http://schemas.microsoft.com/office/drawing/2014/main" id="{815F62E1-89FF-AC6C-DAB6-B7F01168E41C}"/>
                </a:ext>
              </a:extLst>
            </p:cNvPr>
            <p:cNvGrpSpPr>
              <a:grpSpLocks noChangeAspect="1"/>
            </p:cNvGrpSpPr>
            <p:nvPr/>
          </p:nvGrpSpPr>
          <p:grpSpPr bwMode="auto">
            <a:xfrm>
              <a:off x="0" y="-1589"/>
              <a:ext cx="12191999" cy="767234"/>
              <a:chOff x="-1" y="-1"/>
              <a:chExt cx="7719" cy="568"/>
            </a:xfrm>
          </p:grpSpPr>
          <p:sp>
            <p:nvSpPr>
              <p:cNvPr id="124" name="Freeform 123">
                <a:extLst>
                  <a:ext uri="{FF2B5EF4-FFF2-40B4-BE49-F238E27FC236}">
                    <a16:creationId xmlns:a16="http://schemas.microsoft.com/office/drawing/2014/main" id="{D0A9EC49-F5CA-C279-D6E4-F27717E5B84D}"/>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25" name="AutoShape 8">
                <a:extLst>
                  <a:ext uri="{FF2B5EF4-FFF2-40B4-BE49-F238E27FC236}">
                    <a16:creationId xmlns:a16="http://schemas.microsoft.com/office/drawing/2014/main" id="{F90F04D6-5E47-4EB7-19F1-D79A7361C5C2}"/>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121" name="任意多边形: 形状 12">
              <a:extLst>
                <a:ext uri="{FF2B5EF4-FFF2-40B4-BE49-F238E27FC236}">
                  <a16:creationId xmlns:a16="http://schemas.microsoft.com/office/drawing/2014/main" id="{CEEA14E8-C441-4C15-1BAD-AF283FC4ACA3}"/>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22" name="文本框 18">
              <a:extLst>
                <a:ext uri="{FF2B5EF4-FFF2-40B4-BE49-F238E27FC236}">
                  <a16:creationId xmlns:a16="http://schemas.microsoft.com/office/drawing/2014/main" id="{1A021451-7023-97C5-38A4-66CFD3D75515}"/>
                </a:ext>
              </a:extLst>
            </p:cNvPr>
            <p:cNvSpPr txBox="1"/>
            <p:nvPr/>
          </p:nvSpPr>
          <p:spPr>
            <a:xfrm>
              <a:off x="350439" y="120418"/>
              <a:ext cx="3477234" cy="523220"/>
            </a:xfrm>
            <a:prstGeom prst="rect">
              <a:avLst/>
            </a:prstGeom>
            <a:noFill/>
          </p:spPr>
          <p:txBody>
            <a:bodyPr wrap="none" rtlCol="0">
              <a:spAutoFit/>
            </a:bodyPr>
            <a:lstStyle/>
            <a:p>
              <a:pPr>
                <a:defRPr/>
              </a:pPr>
              <a:r>
                <a:rPr lang="zh-CN" altLang="en-US" sz="2800" b="1">
                  <a:solidFill>
                    <a:prstClr val="white"/>
                  </a:solidFill>
                  <a:cs typeface="+mn-ea"/>
                  <a:sym typeface="+mn-lt"/>
                </a:rPr>
                <a:t>在</a:t>
              </a:r>
              <a:r>
                <a:rPr lang="en-US" altLang="zh-CN" sz="2800" b="1">
                  <a:solidFill>
                    <a:prstClr val="white"/>
                  </a:solidFill>
                  <a:cs typeface="+mn-ea"/>
                  <a:sym typeface="+mn-lt"/>
                </a:rPr>
                <a:t>RNN</a:t>
              </a:r>
              <a:r>
                <a:rPr lang="zh-CN" altLang="en-US" sz="2800" b="1">
                  <a:solidFill>
                    <a:prstClr val="white"/>
                  </a:solidFill>
                  <a:cs typeface="+mn-ea"/>
                  <a:sym typeface="+mn-lt"/>
                </a:rPr>
                <a:t>中使用注意力</a:t>
              </a:r>
            </a:p>
          </p:txBody>
        </p:sp>
      </p:grpSp>
      <p:sp>
        <p:nvSpPr>
          <p:cNvPr id="126" name="object 124">
            <a:extLst>
              <a:ext uri="{FF2B5EF4-FFF2-40B4-BE49-F238E27FC236}">
                <a16:creationId xmlns:a16="http://schemas.microsoft.com/office/drawing/2014/main" id="{75A61C69-D0B5-57B9-DFEA-60615FCE5F6A}"/>
              </a:ext>
            </a:extLst>
          </p:cNvPr>
          <p:cNvSpPr txBox="1"/>
          <p:nvPr/>
        </p:nvSpPr>
        <p:spPr>
          <a:xfrm>
            <a:off x="8529937" y="1396428"/>
            <a:ext cx="3652098" cy="324875"/>
          </a:xfrm>
          <a:prstGeom prst="rect">
            <a:avLst/>
          </a:prstGeom>
        </p:spPr>
        <p:txBody>
          <a:bodyPr vert="horz" wrap="square" lIns="0" tIns="16933" rIns="0" bIns="0" rtlCol="0">
            <a:spAutoFit/>
          </a:bodyPr>
          <a:lstStyle/>
          <a:p>
            <a:pPr marL="50799" marR="40639">
              <a:spcBef>
                <a:spcPts val="133"/>
              </a:spcBef>
            </a:pPr>
            <a:r>
              <a:rPr lang="en-US" sz="2000" dirty="0" err="1">
                <a:latin typeface="Calibri" panose="020F0502020204030204" pitchFamily="34" charset="0"/>
                <a:cs typeface="Calibri" panose="020F0502020204030204" pitchFamily="34" charset="0"/>
              </a:rPr>
              <a:t>重复</a:t>
            </a:r>
            <a:r>
              <a:rPr sz="2000" dirty="0">
                <a:latin typeface="Calibri" panose="020F0502020204030204" pitchFamily="34" charset="0"/>
                <a:cs typeface="Calibri" panose="020F0502020204030204" pitchFamily="34" charset="0"/>
              </a:rPr>
              <a:t>:</a:t>
            </a:r>
            <a:r>
              <a:rPr sz="2000" spc="-2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使用</a:t>
            </a:r>
            <a:r>
              <a:rPr sz="2000" spc="-20" dirty="0">
                <a:latin typeface="Calibri" panose="020F0502020204030204" pitchFamily="34" charset="0"/>
                <a:cs typeface="Calibri" panose="020F0502020204030204" pitchFamily="34" charset="0"/>
              </a:rPr>
              <a:t> </a:t>
            </a:r>
            <a:r>
              <a:rPr sz="2000" dirty="0">
                <a:latin typeface="Calibri" panose="020F0502020204030204" pitchFamily="34" charset="0"/>
                <a:cs typeface="Calibri" panose="020F0502020204030204" pitchFamily="34" charset="0"/>
              </a:rPr>
              <a:t>s</a:t>
            </a:r>
            <a:r>
              <a:rPr sz="2000" baseline="-30555" dirty="0">
                <a:latin typeface="Calibri" panose="020F0502020204030204" pitchFamily="34" charset="0"/>
                <a:cs typeface="Calibri" panose="020F0502020204030204" pitchFamily="34" charset="0"/>
              </a:rPr>
              <a:t>1</a:t>
            </a:r>
            <a:r>
              <a:rPr sz="2000" spc="249" baseline="-30555"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计算上下文向量</a:t>
            </a:r>
            <a:r>
              <a:rPr sz="2000" spc="-33" dirty="0">
                <a:latin typeface="Calibri" panose="020F0502020204030204" pitchFamily="34" charset="0"/>
                <a:cs typeface="Calibri" panose="020F0502020204030204" pitchFamily="34" charset="0"/>
              </a:rPr>
              <a:t>c</a:t>
            </a:r>
            <a:r>
              <a:rPr sz="2000" spc="-49" baseline="-30555" dirty="0">
                <a:latin typeface="Calibri" panose="020F0502020204030204" pitchFamily="34" charset="0"/>
                <a:cs typeface="Calibri" panose="020F0502020204030204" pitchFamily="34" charset="0"/>
              </a:rPr>
              <a:t>2</a:t>
            </a:r>
            <a:endParaRPr sz="2000" baseline="-30555" dirty="0">
              <a:latin typeface="Calibri" panose="020F0502020204030204" pitchFamily="34" charset="0"/>
              <a:cs typeface="Calibri" panose="020F0502020204030204" pitchFamily="34" charset="0"/>
            </a:endParaRPr>
          </a:p>
        </p:txBody>
      </p:sp>
      <p:sp>
        <p:nvSpPr>
          <p:cNvPr id="127" name="object 140">
            <a:extLst>
              <a:ext uri="{FF2B5EF4-FFF2-40B4-BE49-F238E27FC236}">
                <a16:creationId xmlns:a16="http://schemas.microsoft.com/office/drawing/2014/main" id="{DA54C489-573D-A00A-141F-30C107E69C91}"/>
              </a:ext>
            </a:extLst>
          </p:cNvPr>
          <p:cNvSpPr txBox="1"/>
          <p:nvPr/>
        </p:nvSpPr>
        <p:spPr>
          <a:xfrm>
            <a:off x="9588324" y="3737017"/>
            <a:ext cx="2827020" cy="294097"/>
          </a:xfrm>
          <a:prstGeom prst="rect">
            <a:avLst/>
          </a:prstGeom>
        </p:spPr>
        <p:txBody>
          <a:bodyPr vert="horz" wrap="square" lIns="0" tIns="16933" rIns="0" bIns="0" rtlCol="0">
            <a:spAutoFit/>
          </a:bodyPr>
          <a:lstStyle/>
          <a:p>
            <a:pPr marL="50799">
              <a:spcBef>
                <a:spcPts val="133"/>
              </a:spcBef>
            </a:pPr>
            <a:r>
              <a:rPr lang="en-US" err="1">
                <a:latin typeface="Arial"/>
                <a:cs typeface="Arial"/>
              </a:rPr>
              <a:t>使用</a:t>
            </a:r>
            <a:r>
              <a:rPr spc="-13">
                <a:latin typeface="Arial"/>
                <a:cs typeface="Arial"/>
              </a:rPr>
              <a:t> </a:t>
            </a:r>
            <a:r>
              <a:rPr>
                <a:latin typeface="Arial"/>
                <a:cs typeface="Arial"/>
              </a:rPr>
              <a:t>c</a:t>
            </a:r>
            <a:r>
              <a:rPr baseline="-30555">
                <a:latin typeface="Arial"/>
                <a:cs typeface="Arial"/>
              </a:rPr>
              <a:t>2</a:t>
            </a:r>
            <a:r>
              <a:rPr spc="260" baseline="-30555">
                <a:latin typeface="Arial"/>
                <a:cs typeface="Arial"/>
              </a:rPr>
              <a:t> </a:t>
            </a:r>
            <a:r>
              <a:rPr lang="en-US" spc="260">
                <a:latin typeface="Arial"/>
                <a:cs typeface="Arial"/>
              </a:rPr>
              <a:t>计算</a:t>
            </a:r>
            <a:r>
              <a:rPr>
                <a:latin typeface="Arial"/>
                <a:cs typeface="Arial"/>
              </a:rPr>
              <a:t>s</a:t>
            </a:r>
            <a:r>
              <a:rPr baseline="-30555">
                <a:latin typeface="Arial"/>
                <a:cs typeface="Arial"/>
              </a:rPr>
              <a:t>2</a:t>
            </a:r>
            <a:r>
              <a:rPr>
                <a:latin typeface="Arial"/>
                <a:cs typeface="Arial"/>
              </a:rPr>
              <a:t>,</a:t>
            </a:r>
            <a:r>
              <a:rPr spc="-7">
                <a:latin typeface="Arial"/>
                <a:cs typeface="Arial"/>
              </a:rPr>
              <a:t> </a:t>
            </a:r>
            <a:r>
              <a:rPr spc="-33">
                <a:latin typeface="Arial"/>
                <a:cs typeface="Arial"/>
              </a:rPr>
              <a:t>y</a:t>
            </a:r>
            <a:r>
              <a:rPr spc="-49" baseline="-30555">
                <a:latin typeface="Arial"/>
                <a:cs typeface="Arial"/>
              </a:rPr>
              <a:t>2</a:t>
            </a:r>
            <a:endParaRPr baseline="-30555">
              <a:latin typeface="Arial"/>
              <a:cs typeface="Arial"/>
            </a:endParaRPr>
          </a:p>
        </p:txBody>
      </p:sp>
      <p:sp>
        <p:nvSpPr>
          <p:cNvPr id="156" name="object 8">
            <a:extLst>
              <a:ext uri="{FF2B5EF4-FFF2-40B4-BE49-F238E27FC236}">
                <a16:creationId xmlns:a16="http://schemas.microsoft.com/office/drawing/2014/main" id="{93B779F6-C2A2-EF44-7991-E94B01733878}"/>
              </a:ext>
            </a:extLst>
          </p:cNvPr>
          <p:cNvSpPr txBox="1"/>
          <p:nvPr/>
        </p:nvSpPr>
        <p:spPr>
          <a:xfrm>
            <a:off x="692227" y="5627077"/>
            <a:ext cx="323772" cy="294097"/>
          </a:xfrm>
          <a:prstGeom prst="rect">
            <a:avLst/>
          </a:prstGeom>
        </p:spPr>
        <p:txBody>
          <a:bodyPr vert="horz" wrap="square" lIns="0" tIns="16933" rIns="0" bIns="0" rtlCol="0" anchor="t">
            <a:spAutoFit/>
          </a:bodyPr>
          <a:lstStyle/>
          <a:p>
            <a:pPr marL="16510">
              <a:spcBef>
                <a:spcPts val="133"/>
              </a:spcBef>
            </a:pPr>
            <a:r>
              <a:rPr lang="zh-CN" spc="-33">
                <a:latin typeface="Microsoft YaHei" panose="020B0503020204020204" pitchFamily="34" charset="-122"/>
                <a:ea typeface="Microsoft YaHei" panose="020B0503020204020204" pitchFamily="34" charset="-122"/>
                <a:cs typeface="Calibri"/>
              </a:rPr>
              <a:t>我</a:t>
            </a:r>
            <a:endParaRPr lang="zh-CN" altLang="en-US">
              <a:latin typeface="Microsoft YaHei" panose="020B0503020204020204" pitchFamily="34" charset="-122"/>
              <a:ea typeface="Microsoft YaHei" panose="020B0503020204020204" pitchFamily="34" charset="-122"/>
              <a:cs typeface="Calibri" panose="020F0502020204030204" pitchFamily="34" charset="0"/>
            </a:endParaRPr>
          </a:p>
        </p:txBody>
      </p:sp>
      <p:sp>
        <p:nvSpPr>
          <p:cNvPr id="157" name="object 9">
            <a:extLst>
              <a:ext uri="{FF2B5EF4-FFF2-40B4-BE49-F238E27FC236}">
                <a16:creationId xmlns:a16="http://schemas.microsoft.com/office/drawing/2014/main" id="{0F5551C0-0E28-D86D-BB84-FFECE589F229}"/>
              </a:ext>
            </a:extLst>
          </p:cNvPr>
          <p:cNvSpPr txBox="1"/>
          <p:nvPr/>
        </p:nvSpPr>
        <p:spPr>
          <a:xfrm>
            <a:off x="1553348" y="5627077"/>
            <a:ext cx="360445" cy="294097"/>
          </a:xfrm>
          <a:prstGeom prst="rect">
            <a:avLst/>
          </a:prstGeom>
        </p:spPr>
        <p:txBody>
          <a:bodyPr vert="horz" wrap="square" lIns="0" tIns="16933" rIns="0" bIns="0" rtlCol="0" anchor="t">
            <a:spAutoFit/>
          </a:bodyPr>
          <a:lstStyle/>
          <a:p>
            <a:pPr marL="16510">
              <a:spcBef>
                <a:spcPts val="133"/>
              </a:spcBef>
            </a:pPr>
            <a:r>
              <a:rPr lang="zh-CN" spc="-33">
                <a:latin typeface="Microsoft YaHei" panose="020B0503020204020204" pitchFamily="34" charset="-122"/>
                <a:ea typeface="Microsoft YaHei" panose="020B0503020204020204" pitchFamily="34" charset="-122"/>
                <a:cs typeface="Calibri"/>
              </a:rPr>
              <a:t>买</a:t>
            </a:r>
            <a:endParaRPr lang="zh-CN" altLang="en-US">
              <a:latin typeface="Microsoft YaHei" panose="020B0503020204020204" pitchFamily="34" charset="-122"/>
              <a:ea typeface="Microsoft YaHei" panose="020B0503020204020204" pitchFamily="34" charset="-122"/>
              <a:cs typeface="Calibri" panose="020F0502020204030204" pitchFamily="34" charset="0"/>
            </a:endParaRPr>
          </a:p>
        </p:txBody>
      </p:sp>
      <p:sp>
        <p:nvSpPr>
          <p:cNvPr id="158" name="object 10">
            <a:extLst>
              <a:ext uri="{FF2B5EF4-FFF2-40B4-BE49-F238E27FC236}">
                <a16:creationId xmlns:a16="http://schemas.microsoft.com/office/drawing/2014/main" id="{2A4AA226-6672-FAEF-9606-3C9CAC49102D}"/>
              </a:ext>
            </a:extLst>
          </p:cNvPr>
          <p:cNvSpPr txBox="1"/>
          <p:nvPr/>
        </p:nvSpPr>
        <p:spPr>
          <a:xfrm>
            <a:off x="2375045" y="5627077"/>
            <a:ext cx="641258" cy="294097"/>
          </a:xfrm>
          <a:prstGeom prst="rect">
            <a:avLst/>
          </a:prstGeom>
        </p:spPr>
        <p:txBody>
          <a:bodyPr vert="horz" wrap="square" lIns="0" tIns="16933" rIns="0" bIns="0" rtlCol="0" anchor="t">
            <a:spAutoFit/>
          </a:bodyPr>
          <a:lstStyle/>
          <a:p>
            <a:pPr marL="16510" algn="ctr">
              <a:spcBef>
                <a:spcPts val="133"/>
              </a:spcBef>
            </a:pPr>
            <a:r>
              <a:rPr lang="zh-CN" spc="-13">
                <a:latin typeface="Microsoft YaHei" panose="020B0503020204020204" pitchFamily="34" charset="-122"/>
                <a:ea typeface="Microsoft YaHei" panose="020B0503020204020204" pitchFamily="34" charset="-122"/>
                <a:cs typeface="Calibri"/>
              </a:rPr>
              <a:t>了</a:t>
            </a:r>
            <a:endParaRPr lang="zh-CN" altLang="en-US">
              <a:latin typeface="Microsoft YaHei" panose="020B0503020204020204" pitchFamily="34" charset="-122"/>
              <a:ea typeface="Microsoft YaHei" panose="020B0503020204020204" pitchFamily="34" charset="-122"/>
              <a:cs typeface="Calibri" panose="020F0502020204030204" pitchFamily="34" charset="0"/>
            </a:endParaRPr>
          </a:p>
        </p:txBody>
      </p:sp>
      <p:sp>
        <p:nvSpPr>
          <p:cNvPr id="174" name="object 24">
            <a:extLst>
              <a:ext uri="{FF2B5EF4-FFF2-40B4-BE49-F238E27FC236}">
                <a16:creationId xmlns:a16="http://schemas.microsoft.com/office/drawing/2014/main" id="{FB4385D5-02A7-0D5E-3EFE-47A08175A5AD}"/>
              </a:ext>
            </a:extLst>
          </p:cNvPr>
          <p:cNvSpPr txBox="1"/>
          <p:nvPr/>
        </p:nvSpPr>
        <p:spPr>
          <a:xfrm>
            <a:off x="3333099" y="5627077"/>
            <a:ext cx="604585" cy="294097"/>
          </a:xfrm>
          <a:prstGeom prst="rect">
            <a:avLst/>
          </a:prstGeom>
        </p:spPr>
        <p:txBody>
          <a:bodyPr vert="horz" wrap="square" lIns="0" tIns="16933" rIns="0" bIns="0" rtlCol="0" anchor="t">
            <a:spAutoFit/>
          </a:bodyPr>
          <a:lstStyle/>
          <a:p>
            <a:pPr marL="16510" algn="ctr">
              <a:spcBef>
                <a:spcPts val="133"/>
              </a:spcBef>
            </a:pPr>
            <a:r>
              <a:rPr lang="zh-CN" altLang="en-US" spc="-13" dirty="0">
                <a:latin typeface="Microsoft YaHei" panose="020B0503020204020204" pitchFamily="34" charset="-122"/>
                <a:ea typeface="Microsoft YaHei" panose="020B0503020204020204" pitchFamily="34" charset="-122"/>
                <a:cs typeface="Calibri"/>
              </a:rPr>
              <a:t>书</a:t>
            </a:r>
            <a:endParaRPr lang="zh-CN" altLang="en-US" dirty="0">
              <a:latin typeface="Microsoft YaHei" panose="020B0503020204020204" pitchFamily="34" charset="-122"/>
              <a:ea typeface="Microsoft YaHei" panose="020B0503020204020204" pitchFamily="34" charset="-122"/>
              <a:cs typeface="Calibri" panose="020F0502020204030204" pitchFamily="34" charset="0"/>
            </a:endParaRPr>
          </a:p>
        </p:txBody>
      </p:sp>
      <mc:AlternateContent xmlns:mc="http://schemas.openxmlformats.org/markup-compatibility/2006" xmlns:a14="http://schemas.microsoft.com/office/drawing/2010/main">
        <mc:Choice Requires="a14">
          <p:sp>
            <p:nvSpPr>
              <p:cNvPr id="175" name="TextBox 174">
                <a:extLst>
                  <a:ext uri="{FF2B5EF4-FFF2-40B4-BE49-F238E27FC236}">
                    <a16:creationId xmlns:a16="http://schemas.microsoft.com/office/drawing/2014/main" id="{569DB7CC-2605-B617-A86A-8FB74DCB6BF3}"/>
                  </a:ext>
                </a:extLst>
              </p:cNvPr>
              <p:cNvSpPr txBox="1"/>
              <p:nvPr/>
            </p:nvSpPr>
            <p:spPr>
              <a:xfrm>
                <a:off x="3056823" y="5662965"/>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175" name="TextBox 174">
                <a:extLst>
                  <a:ext uri="{FF2B5EF4-FFF2-40B4-BE49-F238E27FC236}">
                    <a16:creationId xmlns:a16="http://schemas.microsoft.com/office/drawing/2014/main" id="{569DB7CC-2605-B617-A86A-8FB74DCB6BF3}"/>
                  </a:ext>
                </a:extLst>
              </p:cNvPr>
              <p:cNvSpPr txBox="1">
                <a:spLocks noRot="1" noChangeAspect="1" noMove="1" noResize="1" noEditPoints="1" noAdjustHandles="1" noChangeArrowheads="1" noChangeShapeType="1" noTextEdit="1"/>
              </p:cNvSpPr>
              <p:nvPr/>
            </p:nvSpPr>
            <p:spPr>
              <a:xfrm>
                <a:off x="3056823" y="5662965"/>
                <a:ext cx="329532" cy="24622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6" name="TextBox 175">
                <a:extLst>
                  <a:ext uri="{FF2B5EF4-FFF2-40B4-BE49-F238E27FC236}">
                    <a16:creationId xmlns:a16="http://schemas.microsoft.com/office/drawing/2014/main" id="{E480C1BA-4CA4-E5B2-C632-574B3036DB4F}"/>
                  </a:ext>
                </a:extLst>
              </p:cNvPr>
              <p:cNvSpPr txBox="1"/>
              <p:nvPr/>
            </p:nvSpPr>
            <p:spPr>
              <a:xfrm>
                <a:off x="614540" y="5022798"/>
                <a:ext cx="47198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oMath>
                  </m:oMathPara>
                </a14:m>
                <a:endParaRPr lang="en-US" dirty="0"/>
              </a:p>
            </p:txBody>
          </p:sp>
        </mc:Choice>
        <mc:Fallback xmlns="">
          <p:sp>
            <p:nvSpPr>
              <p:cNvPr id="176" name="TextBox 175">
                <a:extLst>
                  <a:ext uri="{FF2B5EF4-FFF2-40B4-BE49-F238E27FC236}">
                    <a16:creationId xmlns:a16="http://schemas.microsoft.com/office/drawing/2014/main" id="{E480C1BA-4CA4-E5B2-C632-574B3036DB4F}"/>
                  </a:ext>
                </a:extLst>
              </p:cNvPr>
              <p:cNvSpPr txBox="1">
                <a:spLocks noRot="1" noChangeAspect="1" noMove="1" noResize="1" noEditPoints="1" noAdjustHandles="1" noChangeArrowheads="1" noChangeShapeType="1" noTextEdit="1"/>
              </p:cNvSpPr>
              <p:nvPr/>
            </p:nvSpPr>
            <p:spPr>
              <a:xfrm>
                <a:off x="614540" y="5022798"/>
                <a:ext cx="471989"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1" name="TextBox 190">
                <a:extLst>
                  <a:ext uri="{FF2B5EF4-FFF2-40B4-BE49-F238E27FC236}">
                    <a16:creationId xmlns:a16="http://schemas.microsoft.com/office/drawing/2014/main" id="{42128277-6E9A-0285-BC25-28634140C446}"/>
                  </a:ext>
                </a:extLst>
              </p:cNvPr>
              <p:cNvSpPr txBox="1"/>
              <p:nvPr/>
            </p:nvSpPr>
            <p:spPr>
              <a:xfrm>
                <a:off x="1494969" y="5022798"/>
                <a:ext cx="47731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oMath>
                  </m:oMathPara>
                </a14:m>
                <a:endParaRPr lang="en-US" dirty="0"/>
              </a:p>
            </p:txBody>
          </p:sp>
        </mc:Choice>
        <mc:Fallback xmlns="">
          <p:sp>
            <p:nvSpPr>
              <p:cNvPr id="191" name="TextBox 190">
                <a:extLst>
                  <a:ext uri="{FF2B5EF4-FFF2-40B4-BE49-F238E27FC236}">
                    <a16:creationId xmlns:a16="http://schemas.microsoft.com/office/drawing/2014/main" id="{42128277-6E9A-0285-BC25-28634140C446}"/>
                  </a:ext>
                </a:extLst>
              </p:cNvPr>
              <p:cNvSpPr txBox="1">
                <a:spLocks noRot="1" noChangeAspect="1" noMove="1" noResize="1" noEditPoints="1" noAdjustHandles="1" noChangeArrowheads="1" noChangeShapeType="1" noTextEdit="1"/>
              </p:cNvSpPr>
              <p:nvPr/>
            </p:nvSpPr>
            <p:spPr>
              <a:xfrm>
                <a:off x="1494969" y="5022798"/>
                <a:ext cx="477310"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7E9E4F19-E4E3-65B5-46B3-A0475B674795}"/>
                  </a:ext>
                </a:extLst>
              </p:cNvPr>
              <p:cNvSpPr txBox="1"/>
              <p:nvPr/>
            </p:nvSpPr>
            <p:spPr>
              <a:xfrm>
                <a:off x="2457019" y="5022798"/>
                <a:ext cx="47731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3</m:t>
                          </m:r>
                        </m:sub>
                      </m:sSub>
                    </m:oMath>
                  </m:oMathPara>
                </a14:m>
                <a:endParaRPr lang="en-US" dirty="0"/>
              </a:p>
            </p:txBody>
          </p:sp>
        </mc:Choice>
        <mc:Fallback xmlns="">
          <p:sp>
            <p:nvSpPr>
              <p:cNvPr id="194" name="TextBox 193">
                <a:extLst>
                  <a:ext uri="{FF2B5EF4-FFF2-40B4-BE49-F238E27FC236}">
                    <a16:creationId xmlns:a16="http://schemas.microsoft.com/office/drawing/2014/main" id="{7E9E4F19-E4E3-65B5-46B3-A0475B674795}"/>
                  </a:ext>
                </a:extLst>
              </p:cNvPr>
              <p:cNvSpPr txBox="1">
                <a:spLocks noRot="1" noChangeAspect="1" noMove="1" noResize="1" noEditPoints="1" noAdjustHandles="1" noChangeArrowheads="1" noChangeShapeType="1" noTextEdit="1"/>
              </p:cNvSpPr>
              <p:nvPr/>
            </p:nvSpPr>
            <p:spPr>
              <a:xfrm>
                <a:off x="2457019" y="5022798"/>
                <a:ext cx="477310"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5" name="TextBox 194">
                <a:extLst>
                  <a:ext uri="{FF2B5EF4-FFF2-40B4-BE49-F238E27FC236}">
                    <a16:creationId xmlns:a16="http://schemas.microsoft.com/office/drawing/2014/main" id="{B7EBA0CE-FE22-E5BD-F10B-249C6F18F328}"/>
                  </a:ext>
                </a:extLst>
              </p:cNvPr>
              <p:cNvSpPr txBox="1"/>
              <p:nvPr/>
            </p:nvSpPr>
            <p:spPr>
              <a:xfrm>
                <a:off x="3419069" y="5049369"/>
                <a:ext cx="49699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𝑇</m:t>
                          </m:r>
                        </m:sub>
                      </m:sSub>
                    </m:oMath>
                  </m:oMathPara>
                </a14:m>
                <a:endParaRPr lang="en-US" dirty="0"/>
              </a:p>
            </p:txBody>
          </p:sp>
        </mc:Choice>
        <mc:Fallback xmlns="">
          <p:sp>
            <p:nvSpPr>
              <p:cNvPr id="195" name="TextBox 194">
                <a:extLst>
                  <a:ext uri="{FF2B5EF4-FFF2-40B4-BE49-F238E27FC236}">
                    <a16:creationId xmlns:a16="http://schemas.microsoft.com/office/drawing/2014/main" id="{B7EBA0CE-FE22-E5BD-F10B-249C6F18F328}"/>
                  </a:ext>
                </a:extLst>
              </p:cNvPr>
              <p:cNvSpPr txBox="1">
                <a:spLocks noRot="1" noChangeAspect="1" noMove="1" noResize="1" noEditPoints="1" noAdjustHandles="1" noChangeArrowheads="1" noChangeShapeType="1" noTextEdit="1"/>
              </p:cNvSpPr>
              <p:nvPr/>
            </p:nvSpPr>
            <p:spPr>
              <a:xfrm>
                <a:off x="3419069" y="5049369"/>
                <a:ext cx="496996" cy="369332"/>
              </a:xfrm>
              <a:prstGeom prst="rect">
                <a:avLst/>
              </a:prstGeom>
              <a:blipFill>
                <a:blip r:embed="rId7"/>
                <a:stretch>
                  <a:fillRect b="-3333"/>
                </a:stretch>
              </a:blipFill>
            </p:spPr>
            <p:txBody>
              <a:bodyPr/>
              <a:lstStyle/>
              <a:p>
                <a:r>
                  <a:rPr lang="en-US">
                    <a:noFill/>
                  </a:rPr>
                  <a:t> </a:t>
                </a:r>
              </a:p>
            </p:txBody>
          </p:sp>
        </mc:Fallback>
      </mc:AlternateContent>
      <p:cxnSp>
        <p:nvCxnSpPr>
          <p:cNvPr id="196" name="Straight Arrow Connector 195">
            <a:extLst>
              <a:ext uri="{FF2B5EF4-FFF2-40B4-BE49-F238E27FC236}">
                <a16:creationId xmlns:a16="http://schemas.microsoft.com/office/drawing/2014/main" id="{1286FE27-0455-4FDE-9E20-CA0812106BB7}"/>
              </a:ext>
            </a:extLst>
          </p:cNvPr>
          <p:cNvCxnSpPr>
            <a:stCxn id="156" idx="0"/>
            <a:endCxn id="176" idx="2"/>
          </p:cNvCxnSpPr>
          <p:nvPr/>
        </p:nvCxnSpPr>
        <p:spPr>
          <a:xfrm flipH="1" flipV="1">
            <a:off x="850535" y="5392130"/>
            <a:ext cx="3578"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7" name="Straight Arrow Connector 196">
            <a:extLst>
              <a:ext uri="{FF2B5EF4-FFF2-40B4-BE49-F238E27FC236}">
                <a16:creationId xmlns:a16="http://schemas.microsoft.com/office/drawing/2014/main" id="{CFE3A3A7-96BE-230E-C970-31A04D1838B1}"/>
              </a:ext>
            </a:extLst>
          </p:cNvPr>
          <p:cNvCxnSpPr>
            <a:cxnSpLocks/>
            <a:stCxn id="157" idx="0"/>
            <a:endCxn id="191" idx="2"/>
          </p:cNvCxnSpPr>
          <p:nvPr/>
        </p:nvCxnSpPr>
        <p:spPr>
          <a:xfrm flipV="1">
            <a:off x="1733571" y="5392130"/>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1679DDF9-6B02-D114-7A3B-4E2680D03C8A}"/>
              </a:ext>
            </a:extLst>
          </p:cNvPr>
          <p:cNvCxnSpPr>
            <a:cxnSpLocks/>
          </p:cNvCxnSpPr>
          <p:nvPr/>
        </p:nvCxnSpPr>
        <p:spPr>
          <a:xfrm flipV="1">
            <a:off x="2679165" y="5358926"/>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CD3755BE-C970-AB59-9C32-65A8D160FADA}"/>
              </a:ext>
            </a:extLst>
          </p:cNvPr>
          <p:cNvCxnSpPr>
            <a:cxnSpLocks/>
          </p:cNvCxnSpPr>
          <p:nvPr/>
        </p:nvCxnSpPr>
        <p:spPr>
          <a:xfrm flipV="1">
            <a:off x="3635391" y="5392129"/>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0" name="Rectangle 199">
                <a:extLst>
                  <a:ext uri="{FF2B5EF4-FFF2-40B4-BE49-F238E27FC236}">
                    <a16:creationId xmlns:a16="http://schemas.microsoft.com/office/drawing/2014/main" id="{42B20DA5-C053-9BB4-A760-30B8AEDC86E7}"/>
                  </a:ext>
                </a:extLst>
              </p:cNvPr>
              <p:cNvSpPr/>
              <p:nvPr/>
            </p:nvSpPr>
            <p:spPr>
              <a:xfrm>
                <a:off x="661797" y="4263656"/>
                <a:ext cx="424732" cy="43593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1</m:t>
                          </m:r>
                        </m:sub>
                      </m:sSub>
                    </m:oMath>
                  </m:oMathPara>
                </a14:m>
                <a:endParaRPr lang="en-US" dirty="0"/>
              </a:p>
            </p:txBody>
          </p:sp>
        </mc:Choice>
        <mc:Fallback xmlns="">
          <p:sp>
            <p:nvSpPr>
              <p:cNvPr id="200" name="Rectangle 199">
                <a:extLst>
                  <a:ext uri="{FF2B5EF4-FFF2-40B4-BE49-F238E27FC236}">
                    <a16:creationId xmlns:a16="http://schemas.microsoft.com/office/drawing/2014/main" id="{42B20DA5-C053-9BB4-A760-30B8AEDC86E7}"/>
                  </a:ext>
                </a:extLst>
              </p:cNvPr>
              <p:cNvSpPr>
                <a:spLocks noRot="1" noChangeAspect="1" noMove="1" noResize="1" noEditPoints="1" noAdjustHandles="1" noChangeArrowheads="1" noChangeShapeType="1" noTextEdit="1"/>
              </p:cNvSpPr>
              <p:nvPr/>
            </p:nvSpPr>
            <p:spPr>
              <a:xfrm>
                <a:off x="661797" y="4263656"/>
                <a:ext cx="424732" cy="435935"/>
              </a:xfrm>
              <a:prstGeom prst="rect">
                <a:avLst/>
              </a:prstGeom>
              <a:blipFill>
                <a:blip r:embed="rId8"/>
                <a:stretch>
                  <a:fillRect l="-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1" name="Rectangle 200">
                <a:extLst>
                  <a:ext uri="{FF2B5EF4-FFF2-40B4-BE49-F238E27FC236}">
                    <a16:creationId xmlns:a16="http://schemas.microsoft.com/office/drawing/2014/main" id="{D1828E30-5532-79C0-9029-A97097A26BC3}"/>
                  </a:ext>
                </a:extLst>
              </p:cNvPr>
              <p:cNvSpPr/>
              <p:nvPr/>
            </p:nvSpPr>
            <p:spPr>
              <a:xfrm>
                <a:off x="1547547" y="4263656"/>
                <a:ext cx="424732" cy="43593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2</m:t>
                          </m:r>
                        </m:sub>
                      </m:sSub>
                    </m:oMath>
                  </m:oMathPara>
                </a14:m>
                <a:endParaRPr lang="en-US" dirty="0"/>
              </a:p>
            </p:txBody>
          </p:sp>
        </mc:Choice>
        <mc:Fallback xmlns="">
          <p:sp>
            <p:nvSpPr>
              <p:cNvPr id="201" name="Rectangle 200">
                <a:extLst>
                  <a:ext uri="{FF2B5EF4-FFF2-40B4-BE49-F238E27FC236}">
                    <a16:creationId xmlns:a16="http://schemas.microsoft.com/office/drawing/2014/main" id="{D1828E30-5532-79C0-9029-A97097A26BC3}"/>
                  </a:ext>
                </a:extLst>
              </p:cNvPr>
              <p:cNvSpPr>
                <a:spLocks noRot="1" noChangeAspect="1" noMove="1" noResize="1" noEditPoints="1" noAdjustHandles="1" noChangeArrowheads="1" noChangeShapeType="1" noTextEdit="1"/>
              </p:cNvSpPr>
              <p:nvPr/>
            </p:nvSpPr>
            <p:spPr>
              <a:xfrm>
                <a:off x="1547547" y="4263656"/>
                <a:ext cx="424732" cy="435935"/>
              </a:xfrm>
              <a:prstGeom prst="rect">
                <a:avLst/>
              </a:prstGeom>
              <a:blipFill>
                <a:blip r:embed="rId9"/>
                <a:stretch>
                  <a:fillRect l="-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3" name="Rectangle 202">
                <a:extLst>
                  <a:ext uri="{FF2B5EF4-FFF2-40B4-BE49-F238E27FC236}">
                    <a16:creationId xmlns:a16="http://schemas.microsoft.com/office/drawing/2014/main" id="{9A3D8A1A-DDC0-3EAF-8C3B-BA4712514884}"/>
                  </a:ext>
                </a:extLst>
              </p:cNvPr>
              <p:cNvSpPr/>
              <p:nvPr/>
            </p:nvSpPr>
            <p:spPr>
              <a:xfrm>
                <a:off x="2472323" y="4263656"/>
                <a:ext cx="424732" cy="43593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3</m:t>
                          </m:r>
                        </m:sub>
                      </m:sSub>
                    </m:oMath>
                  </m:oMathPara>
                </a14:m>
                <a:endParaRPr lang="en-US" dirty="0"/>
              </a:p>
            </p:txBody>
          </p:sp>
        </mc:Choice>
        <mc:Fallback xmlns="">
          <p:sp>
            <p:nvSpPr>
              <p:cNvPr id="203" name="Rectangle 202">
                <a:extLst>
                  <a:ext uri="{FF2B5EF4-FFF2-40B4-BE49-F238E27FC236}">
                    <a16:creationId xmlns:a16="http://schemas.microsoft.com/office/drawing/2014/main" id="{9A3D8A1A-DDC0-3EAF-8C3B-BA4712514884}"/>
                  </a:ext>
                </a:extLst>
              </p:cNvPr>
              <p:cNvSpPr>
                <a:spLocks noRot="1" noChangeAspect="1" noMove="1" noResize="1" noEditPoints="1" noAdjustHandles="1" noChangeArrowheads="1" noChangeShapeType="1" noTextEdit="1"/>
              </p:cNvSpPr>
              <p:nvPr/>
            </p:nvSpPr>
            <p:spPr>
              <a:xfrm>
                <a:off x="2472323" y="4263656"/>
                <a:ext cx="424732" cy="435935"/>
              </a:xfrm>
              <a:prstGeom prst="rect">
                <a:avLst/>
              </a:prstGeom>
              <a:blipFill>
                <a:blip r:embed="rId10"/>
                <a:stretch>
                  <a:fillRect l="-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5" name="Rectangle 204">
                <a:extLst>
                  <a:ext uri="{FF2B5EF4-FFF2-40B4-BE49-F238E27FC236}">
                    <a16:creationId xmlns:a16="http://schemas.microsoft.com/office/drawing/2014/main" id="{EC03272F-03AF-4B66-A3C9-D31B856919CA}"/>
                  </a:ext>
                </a:extLst>
              </p:cNvPr>
              <p:cNvSpPr/>
              <p:nvPr/>
            </p:nvSpPr>
            <p:spPr>
              <a:xfrm>
                <a:off x="3455201" y="4278211"/>
                <a:ext cx="424732" cy="43593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𝑇</m:t>
                          </m:r>
                        </m:sub>
                      </m:sSub>
                    </m:oMath>
                  </m:oMathPara>
                </a14:m>
                <a:endParaRPr lang="en-US" dirty="0"/>
              </a:p>
            </p:txBody>
          </p:sp>
        </mc:Choice>
        <mc:Fallback xmlns="">
          <p:sp>
            <p:nvSpPr>
              <p:cNvPr id="205" name="Rectangle 204">
                <a:extLst>
                  <a:ext uri="{FF2B5EF4-FFF2-40B4-BE49-F238E27FC236}">
                    <a16:creationId xmlns:a16="http://schemas.microsoft.com/office/drawing/2014/main" id="{EC03272F-03AF-4B66-A3C9-D31B856919CA}"/>
                  </a:ext>
                </a:extLst>
              </p:cNvPr>
              <p:cNvSpPr>
                <a:spLocks noRot="1" noChangeAspect="1" noMove="1" noResize="1" noEditPoints="1" noAdjustHandles="1" noChangeArrowheads="1" noChangeShapeType="1" noTextEdit="1"/>
              </p:cNvSpPr>
              <p:nvPr/>
            </p:nvSpPr>
            <p:spPr>
              <a:xfrm>
                <a:off x="3455201" y="4278211"/>
                <a:ext cx="424732" cy="435935"/>
              </a:xfrm>
              <a:prstGeom prst="rect">
                <a:avLst/>
              </a:prstGeom>
              <a:blipFill>
                <a:blip r:embed="rId11"/>
                <a:stretch>
                  <a:fillRect l="-5714"/>
                </a:stretch>
              </a:blipFill>
            </p:spPr>
            <p:txBody>
              <a:bodyPr/>
              <a:lstStyle/>
              <a:p>
                <a:r>
                  <a:rPr lang="en-US">
                    <a:noFill/>
                  </a:rPr>
                  <a:t> </a:t>
                </a:r>
              </a:p>
            </p:txBody>
          </p:sp>
        </mc:Fallback>
      </mc:AlternateContent>
      <p:cxnSp>
        <p:nvCxnSpPr>
          <p:cNvPr id="206" name="Straight Arrow Connector 205">
            <a:extLst>
              <a:ext uri="{FF2B5EF4-FFF2-40B4-BE49-F238E27FC236}">
                <a16:creationId xmlns:a16="http://schemas.microsoft.com/office/drawing/2014/main" id="{A70908AB-3295-0A44-D597-BBFE67E3BDB4}"/>
              </a:ext>
            </a:extLst>
          </p:cNvPr>
          <p:cNvCxnSpPr>
            <a:cxnSpLocks/>
            <a:stCxn id="203" idx="3"/>
            <a:endCxn id="205" idx="1"/>
          </p:cNvCxnSpPr>
          <p:nvPr/>
        </p:nvCxnSpPr>
        <p:spPr>
          <a:xfrm>
            <a:off x="2897055" y="4481624"/>
            <a:ext cx="558146" cy="1455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07" name="Group 206">
            <a:extLst>
              <a:ext uri="{FF2B5EF4-FFF2-40B4-BE49-F238E27FC236}">
                <a16:creationId xmlns:a16="http://schemas.microsoft.com/office/drawing/2014/main" id="{CC0B581D-08C9-A0AA-451B-466C4E1D9F4D}"/>
              </a:ext>
            </a:extLst>
          </p:cNvPr>
          <p:cNvGrpSpPr/>
          <p:nvPr/>
        </p:nvGrpSpPr>
        <p:grpSpPr>
          <a:xfrm>
            <a:off x="2999905" y="4347165"/>
            <a:ext cx="329532" cy="246221"/>
            <a:chOff x="2966499" y="3857245"/>
            <a:chExt cx="329532" cy="246221"/>
          </a:xfrm>
        </p:grpSpPr>
        <p:sp>
          <p:nvSpPr>
            <p:cNvPr id="208" name="TextBox 207">
              <a:extLst>
                <a:ext uri="{FF2B5EF4-FFF2-40B4-BE49-F238E27FC236}">
                  <a16:creationId xmlns:a16="http://schemas.microsoft.com/office/drawing/2014/main" id="{FCF31094-A03A-0984-A8F9-9C939D37DC5B}"/>
                </a:ext>
              </a:extLst>
            </p:cNvPr>
            <p:cNvSpPr txBox="1"/>
            <p:nvPr/>
          </p:nvSpPr>
          <p:spPr>
            <a:xfrm>
              <a:off x="3033827" y="3907765"/>
              <a:ext cx="187762" cy="184666"/>
            </a:xfrm>
            <a:prstGeom prst="rect">
              <a:avLst/>
            </a:prstGeom>
            <a:solidFill>
              <a:schemeClr val="bg1"/>
            </a:solidFill>
          </p:spPr>
          <p:txBody>
            <a:bodyPr wrap="square" rtlCol="0">
              <a:spAutoFit/>
            </a:bodyPr>
            <a:lstStyle/>
            <a:p>
              <a:endParaRPr lang="en-US" sz="600" dirty="0">
                <a:latin typeface="Microsoft YaHei" panose="020B0503020204020204" pitchFamily="34" charset="-122"/>
                <a:ea typeface="Microsoft YaHei" panose="020B0503020204020204" pitchFamily="34" charset="-122"/>
              </a:endParaRPr>
            </a:p>
          </p:txBody>
        </p:sp>
        <mc:AlternateContent xmlns:mc="http://schemas.openxmlformats.org/markup-compatibility/2006" xmlns:a14="http://schemas.microsoft.com/office/drawing/2010/main">
          <mc:Choice Requires="a14">
            <p:sp>
              <p:nvSpPr>
                <p:cNvPr id="209" name="TextBox 208">
                  <a:extLst>
                    <a:ext uri="{FF2B5EF4-FFF2-40B4-BE49-F238E27FC236}">
                      <a16:creationId xmlns:a16="http://schemas.microsoft.com/office/drawing/2014/main" id="{4076C654-555C-15F6-DC43-C98B2E3B2B36}"/>
                    </a:ext>
                  </a:extLst>
                </p:cNvPr>
                <p:cNvSpPr txBox="1"/>
                <p:nvPr/>
              </p:nvSpPr>
              <p:spPr>
                <a:xfrm>
                  <a:off x="2966499" y="3857245"/>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209" name="TextBox 208">
                  <a:extLst>
                    <a:ext uri="{FF2B5EF4-FFF2-40B4-BE49-F238E27FC236}">
                      <a16:creationId xmlns:a16="http://schemas.microsoft.com/office/drawing/2014/main" id="{4076C654-555C-15F6-DC43-C98B2E3B2B36}"/>
                    </a:ext>
                  </a:extLst>
                </p:cNvPr>
                <p:cNvSpPr txBox="1">
                  <a:spLocks noRot="1" noChangeAspect="1" noMove="1" noResize="1" noEditPoints="1" noAdjustHandles="1" noChangeArrowheads="1" noChangeShapeType="1" noTextEdit="1"/>
                </p:cNvSpPr>
                <p:nvPr/>
              </p:nvSpPr>
              <p:spPr>
                <a:xfrm>
                  <a:off x="2966499" y="3857245"/>
                  <a:ext cx="329532" cy="246221"/>
                </a:xfrm>
                <a:prstGeom prst="rect">
                  <a:avLst/>
                </a:prstGeom>
                <a:blipFill>
                  <a:blip r:embed="rId12"/>
                  <a:stretch>
                    <a:fillRect/>
                  </a:stretch>
                </a:blipFill>
              </p:spPr>
              <p:txBody>
                <a:bodyPr/>
                <a:lstStyle/>
                <a:p>
                  <a:r>
                    <a:rPr lang="en-US">
                      <a:noFill/>
                    </a:rPr>
                    <a:t> </a:t>
                  </a:r>
                </a:p>
              </p:txBody>
            </p:sp>
          </mc:Fallback>
        </mc:AlternateContent>
      </p:grpSp>
      <p:cxnSp>
        <p:nvCxnSpPr>
          <p:cNvPr id="210" name="Straight Arrow Connector 209">
            <a:extLst>
              <a:ext uri="{FF2B5EF4-FFF2-40B4-BE49-F238E27FC236}">
                <a16:creationId xmlns:a16="http://schemas.microsoft.com/office/drawing/2014/main" id="{740293C2-2142-E297-21BC-3EEA1B1776AB}"/>
              </a:ext>
            </a:extLst>
          </p:cNvPr>
          <p:cNvCxnSpPr>
            <a:cxnSpLocks/>
            <a:stCxn id="201" idx="3"/>
            <a:endCxn id="203" idx="1"/>
          </p:cNvCxnSpPr>
          <p:nvPr/>
        </p:nvCxnSpPr>
        <p:spPr>
          <a:xfrm>
            <a:off x="1972279" y="4481624"/>
            <a:ext cx="50004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1" name="Straight Arrow Connector 210">
            <a:extLst>
              <a:ext uri="{FF2B5EF4-FFF2-40B4-BE49-F238E27FC236}">
                <a16:creationId xmlns:a16="http://schemas.microsoft.com/office/drawing/2014/main" id="{77BEB807-CD5D-01DD-563D-391D1460E3A5}"/>
              </a:ext>
            </a:extLst>
          </p:cNvPr>
          <p:cNvCxnSpPr>
            <a:cxnSpLocks/>
            <a:stCxn id="200" idx="3"/>
            <a:endCxn id="201" idx="1"/>
          </p:cNvCxnSpPr>
          <p:nvPr/>
        </p:nvCxnSpPr>
        <p:spPr>
          <a:xfrm>
            <a:off x="1086529" y="4481624"/>
            <a:ext cx="46101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2" name="Straight Arrow Connector 211">
            <a:extLst>
              <a:ext uri="{FF2B5EF4-FFF2-40B4-BE49-F238E27FC236}">
                <a16:creationId xmlns:a16="http://schemas.microsoft.com/office/drawing/2014/main" id="{9A94BF2B-37F9-165A-AAB5-CA625F7E150C}"/>
              </a:ext>
            </a:extLst>
          </p:cNvPr>
          <p:cNvCxnSpPr/>
          <p:nvPr/>
        </p:nvCxnSpPr>
        <p:spPr>
          <a:xfrm flipH="1" flipV="1">
            <a:off x="850482" y="4861970"/>
            <a:ext cx="3578"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3" name="Straight Arrow Connector 212">
            <a:extLst>
              <a:ext uri="{FF2B5EF4-FFF2-40B4-BE49-F238E27FC236}">
                <a16:creationId xmlns:a16="http://schemas.microsoft.com/office/drawing/2014/main" id="{7FB18E9F-E514-BEB2-6B5E-8DAA172CB2A3}"/>
              </a:ext>
            </a:extLst>
          </p:cNvPr>
          <p:cNvCxnSpPr>
            <a:cxnSpLocks/>
          </p:cNvCxnSpPr>
          <p:nvPr/>
        </p:nvCxnSpPr>
        <p:spPr>
          <a:xfrm flipV="1">
            <a:off x="1733518" y="4861970"/>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4" name="Straight Arrow Connector 213">
            <a:extLst>
              <a:ext uri="{FF2B5EF4-FFF2-40B4-BE49-F238E27FC236}">
                <a16:creationId xmlns:a16="http://schemas.microsoft.com/office/drawing/2014/main" id="{B1E5E9D7-8199-8324-C292-AC26EFCF135D}"/>
              </a:ext>
            </a:extLst>
          </p:cNvPr>
          <p:cNvCxnSpPr>
            <a:cxnSpLocks/>
          </p:cNvCxnSpPr>
          <p:nvPr/>
        </p:nvCxnSpPr>
        <p:spPr>
          <a:xfrm flipV="1">
            <a:off x="2679112" y="4828766"/>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5" name="Straight Arrow Connector 214">
            <a:extLst>
              <a:ext uri="{FF2B5EF4-FFF2-40B4-BE49-F238E27FC236}">
                <a16:creationId xmlns:a16="http://schemas.microsoft.com/office/drawing/2014/main" id="{284D598C-D732-05F1-ED2F-EAC5A3F65F4C}"/>
              </a:ext>
            </a:extLst>
          </p:cNvPr>
          <p:cNvCxnSpPr>
            <a:cxnSpLocks/>
          </p:cNvCxnSpPr>
          <p:nvPr/>
        </p:nvCxnSpPr>
        <p:spPr>
          <a:xfrm flipV="1">
            <a:off x="3635338" y="4861969"/>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6" name="TextBox 215">
                <a:extLst>
                  <a:ext uri="{FF2B5EF4-FFF2-40B4-BE49-F238E27FC236}">
                    <a16:creationId xmlns:a16="http://schemas.microsoft.com/office/drawing/2014/main" id="{F4B84927-401B-5E46-7F7B-F39E618B8436}"/>
                  </a:ext>
                </a:extLst>
              </p:cNvPr>
              <p:cNvSpPr txBox="1"/>
              <p:nvPr/>
            </p:nvSpPr>
            <p:spPr>
              <a:xfrm>
                <a:off x="3040699" y="5108610"/>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216" name="TextBox 215">
                <a:extLst>
                  <a:ext uri="{FF2B5EF4-FFF2-40B4-BE49-F238E27FC236}">
                    <a16:creationId xmlns:a16="http://schemas.microsoft.com/office/drawing/2014/main" id="{F4B84927-401B-5E46-7F7B-F39E618B8436}"/>
                  </a:ext>
                </a:extLst>
              </p:cNvPr>
              <p:cNvSpPr txBox="1">
                <a:spLocks noRot="1" noChangeAspect="1" noMove="1" noResize="1" noEditPoints="1" noAdjustHandles="1" noChangeArrowheads="1" noChangeShapeType="1" noTextEdit="1"/>
              </p:cNvSpPr>
              <p:nvPr/>
            </p:nvSpPr>
            <p:spPr>
              <a:xfrm>
                <a:off x="3040699" y="5108610"/>
                <a:ext cx="329532" cy="246221"/>
              </a:xfrm>
              <a:prstGeom prst="rect">
                <a:avLst/>
              </a:prstGeom>
              <a:blipFill>
                <a:blip r:embed="rId13"/>
                <a:stretch>
                  <a:fillRect/>
                </a:stretch>
              </a:blipFill>
            </p:spPr>
            <p:txBody>
              <a:bodyPr/>
              <a:lstStyle/>
              <a:p>
                <a:r>
                  <a:rPr lang="en-US">
                    <a:noFill/>
                  </a:rPr>
                  <a:t> </a:t>
                </a:r>
              </a:p>
            </p:txBody>
          </p:sp>
        </mc:Fallback>
      </mc:AlternateContent>
      <p:cxnSp>
        <p:nvCxnSpPr>
          <p:cNvPr id="217" name="Straight Arrow Connector 216">
            <a:extLst>
              <a:ext uri="{FF2B5EF4-FFF2-40B4-BE49-F238E27FC236}">
                <a16:creationId xmlns:a16="http://schemas.microsoft.com/office/drawing/2014/main" id="{5D86167F-CBBD-58B6-FAB0-464E5DFF95B1}"/>
              </a:ext>
            </a:extLst>
          </p:cNvPr>
          <p:cNvCxnSpPr>
            <a:cxnSpLocks/>
          </p:cNvCxnSpPr>
          <p:nvPr/>
        </p:nvCxnSpPr>
        <p:spPr>
          <a:xfrm>
            <a:off x="3897926" y="4495611"/>
            <a:ext cx="1141907" cy="56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8" name="Rectangle 217">
                <a:extLst>
                  <a:ext uri="{FF2B5EF4-FFF2-40B4-BE49-F238E27FC236}">
                    <a16:creationId xmlns:a16="http://schemas.microsoft.com/office/drawing/2014/main" id="{68ED56CC-5720-F599-E5DA-7AAE15FB4F2C}"/>
                  </a:ext>
                </a:extLst>
              </p:cNvPr>
              <p:cNvSpPr/>
              <p:nvPr/>
            </p:nvSpPr>
            <p:spPr>
              <a:xfrm>
                <a:off x="5061463" y="4278211"/>
                <a:ext cx="424732" cy="43593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𝑠</m:t>
                          </m:r>
                        </m:e>
                        <m:sub>
                          <m:r>
                            <a:rPr lang="en-US" altLang="zh-CN" b="0" i="1" smtClean="0">
                              <a:solidFill>
                                <a:schemeClr val="tx1"/>
                              </a:solidFill>
                              <a:latin typeface="Cambria Math" panose="02040503050406030204" pitchFamily="18" charset="0"/>
                            </a:rPr>
                            <m:t>0</m:t>
                          </m:r>
                        </m:sub>
                      </m:sSub>
                    </m:oMath>
                  </m:oMathPara>
                </a14:m>
                <a:endParaRPr lang="en-US" dirty="0"/>
              </a:p>
            </p:txBody>
          </p:sp>
        </mc:Choice>
        <mc:Fallback xmlns="">
          <p:sp>
            <p:nvSpPr>
              <p:cNvPr id="218" name="Rectangle 217">
                <a:extLst>
                  <a:ext uri="{FF2B5EF4-FFF2-40B4-BE49-F238E27FC236}">
                    <a16:creationId xmlns:a16="http://schemas.microsoft.com/office/drawing/2014/main" id="{68ED56CC-5720-F599-E5DA-7AAE15FB4F2C}"/>
                  </a:ext>
                </a:extLst>
              </p:cNvPr>
              <p:cNvSpPr>
                <a:spLocks noRot="1" noChangeAspect="1" noMove="1" noResize="1" noEditPoints="1" noAdjustHandles="1" noChangeArrowheads="1" noChangeShapeType="1" noTextEdit="1"/>
              </p:cNvSpPr>
              <p:nvPr/>
            </p:nvSpPr>
            <p:spPr>
              <a:xfrm>
                <a:off x="5061463" y="4278211"/>
                <a:ext cx="424732" cy="435935"/>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9" name="TextBox 218">
                <a:extLst>
                  <a:ext uri="{FF2B5EF4-FFF2-40B4-BE49-F238E27FC236}">
                    <a16:creationId xmlns:a16="http://schemas.microsoft.com/office/drawing/2014/main" id="{8E4FE679-E13D-CCB2-CA8E-BAC502430EFC}"/>
                  </a:ext>
                </a:extLst>
              </p:cNvPr>
              <p:cNvSpPr txBox="1"/>
              <p:nvPr/>
            </p:nvSpPr>
            <p:spPr>
              <a:xfrm>
                <a:off x="574219" y="3546585"/>
                <a:ext cx="55566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11</m:t>
                          </m:r>
                        </m:sub>
                      </m:sSub>
                    </m:oMath>
                  </m:oMathPara>
                </a14:m>
                <a:endParaRPr lang="en-US" dirty="0"/>
              </a:p>
            </p:txBody>
          </p:sp>
        </mc:Choice>
        <mc:Fallback xmlns="">
          <p:sp>
            <p:nvSpPr>
              <p:cNvPr id="219" name="TextBox 218">
                <a:extLst>
                  <a:ext uri="{FF2B5EF4-FFF2-40B4-BE49-F238E27FC236}">
                    <a16:creationId xmlns:a16="http://schemas.microsoft.com/office/drawing/2014/main" id="{8E4FE679-E13D-CCB2-CA8E-BAC502430EFC}"/>
                  </a:ext>
                </a:extLst>
              </p:cNvPr>
              <p:cNvSpPr txBox="1">
                <a:spLocks noRot="1" noChangeAspect="1" noMove="1" noResize="1" noEditPoints="1" noAdjustHandles="1" noChangeArrowheads="1" noChangeShapeType="1" noTextEdit="1"/>
              </p:cNvSpPr>
              <p:nvPr/>
            </p:nvSpPr>
            <p:spPr>
              <a:xfrm>
                <a:off x="574219" y="3546585"/>
                <a:ext cx="555665"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0" name="TextBox 219">
                <a:extLst>
                  <a:ext uri="{FF2B5EF4-FFF2-40B4-BE49-F238E27FC236}">
                    <a16:creationId xmlns:a16="http://schemas.microsoft.com/office/drawing/2014/main" id="{CF2ECC2A-13BE-E54D-F4EA-A51CE8BA0914}"/>
                  </a:ext>
                </a:extLst>
              </p:cNvPr>
              <p:cNvSpPr txBox="1"/>
              <p:nvPr/>
            </p:nvSpPr>
            <p:spPr>
              <a:xfrm>
                <a:off x="1454648" y="3546585"/>
                <a:ext cx="55566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12</m:t>
                          </m:r>
                        </m:sub>
                      </m:sSub>
                    </m:oMath>
                  </m:oMathPara>
                </a14:m>
                <a:endParaRPr lang="en-US" dirty="0"/>
              </a:p>
            </p:txBody>
          </p:sp>
        </mc:Choice>
        <mc:Fallback xmlns="">
          <p:sp>
            <p:nvSpPr>
              <p:cNvPr id="220" name="TextBox 219">
                <a:extLst>
                  <a:ext uri="{FF2B5EF4-FFF2-40B4-BE49-F238E27FC236}">
                    <a16:creationId xmlns:a16="http://schemas.microsoft.com/office/drawing/2014/main" id="{CF2ECC2A-13BE-E54D-F4EA-A51CE8BA0914}"/>
                  </a:ext>
                </a:extLst>
              </p:cNvPr>
              <p:cNvSpPr txBox="1">
                <a:spLocks noRot="1" noChangeAspect="1" noMove="1" noResize="1" noEditPoints="1" noAdjustHandles="1" noChangeArrowheads="1" noChangeShapeType="1" noTextEdit="1"/>
              </p:cNvSpPr>
              <p:nvPr/>
            </p:nvSpPr>
            <p:spPr>
              <a:xfrm>
                <a:off x="1454648" y="3546585"/>
                <a:ext cx="555665"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1" name="TextBox 220">
                <a:extLst>
                  <a:ext uri="{FF2B5EF4-FFF2-40B4-BE49-F238E27FC236}">
                    <a16:creationId xmlns:a16="http://schemas.microsoft.com/office/drawing/2014/main" id="{18CB79AD-22BE-8815-53C4-9AAE5E267D58}"/>
                  </a:ext>
                </a:extLst>
              </p:cNvPr>
              <p:cNvSpPr txBox="1"/>
              <p:nvPr/>
            </p:nvSpPr>
            <p:spPr>
              <a:xfrm>
                <a:off x="2393548" y="3546585"/>
                <a:ext cx="55566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13</m:t>
                          </m:r>
                        </m:sub>
                      </m:sSub>
                    </m:oMath>
                  </m:oMathPara>
                </a14:m>
                <a:endParaRPr lang="en-US" dirty="0"/>
              </a:p>
            </p:txBody>
          </p:sp>
        </mc:Choice>
        <mc:Fallback xmlns="">
          <p:sp>
            <p:nvSpPr>
              <p:cNvPr id="221" name="TextBox 220">
                <a:extLst>
                  <a:ext uri="{FF2B5EF4-FFF2-40B4-BE49-F238E27FC236}">
                    <a16:creationId xmlns:a16="http://schemas.microsoft.com/office/drawing/2014/main" id="{18CB79AD-22BE-8815-53C4-9AAE5E267D58}"/>
                  </a:ext>
                </a:extLst>
              </p:cNvPr>
              <p:cNvSpPr txBox="1">
                <a:spLocks noRot="1" noChangeAspect="1" noMove="1" noResize="1" noEditPoints="1" noAdjustHandles="1" noChangeArrowheads="1" noChangeShapeType="1" noTextEdit="1"/>
              </p:cNvSpPr>
              <p:nvPr/>
            </p:nvSpPr>
            <p:spPr>
              <a:xfrm>
                <a:off x="2393548" y="3546585"/>
                <a:ext cx="555665"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2" name="TextBox 221">
                <a:extLst>
                  <a:ext uri="{FF2B5EF4-FFF2-40B4-BE49-F238E27FC236}">
                    <a16:creationId xmlns:a16="http://schemas.microsoft.com/office/drawing/2014/main" id="{3ADEAEA9-ECF2-9127-5239-751BD028D1D2}"/>
                  </a:ext>
                </a:extLst>
              </p:cNvPr>
              <p:cNvSpPr txBox="1"/>
              <p:nvPr/>
            </p:nvSpPr>
            <p:spPr>
              <a:xfrm>
                <a:off x="3367173" y="3573156"/>
                <a:ext cx="56714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1</m:t>
                          </m:r>
                          <m:r>
                            <a:rPr lang="en-US" altLang="zh-CN" b="0" i="1" smtClean="0">
                              <a:latin typeface="Cambria Math" panose="02040503050406030204" pitchFamily="18" charset="0"/>
                            </a:rPr>
                            <m:t>𝑇</m:t>
                          </m:r>
                        </m:sub>
                      </m:sSub>
                    </m:oMath>
                  </m:oMathPara>
                </a14:m>
                <a:endParaRPr lang="en-US" dirty="0"/>
              </a:p>
            </p:txBody>
          </p:sp>
        </mc:Choice>
        <mc:Fallback xmlns="">
          <p:sp>
            <p:nvSpPr>
              <p:cNvPr id="222" name="TextBox 221">
                <a:extLst>
                  <a:ext uri="{FF2B5EF4-FFF2-40B4-BE49-F238E27FC236}">
                    <a16:creationId xmlns:a16="http://schemas.microsoft.com/office/drawing/2014/main" id="{3ADEAEA9-ECF2-9127-5239-751BD028D1D2}"/>
                  </a:ext>
                </a:extLst>
              </p:cNvPr>
              <p:cNvSpPr txBox="1">
                <a:spLocks noRot="1" noChangeAspect="1" noMove="1" noResize="1" noEditPoints="1" noAdjustHandles="1" noChangeArrowheads="1" noChangeShapeType="1" noTextEdit="1"/>
              </p:cNvSpPr>
              <p:nvPr/>
            </p:nvSpPr>
            <p:spPr>
              <a:xfrm>
                <a:off x="3367173" y="3573156"/>
                <a:ext cx="567143" cy="369332"/>
              </a:xfrm>
              <a:prstGeom prst="rect">
                <a:avLst/>
              </a:prstGeom>
              <a:blipFill>
                <a:blip r:embed="rId18"/>
                <a:stretch>
                  <a:fillRect b="-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3" name="TextBox 222">
                <a:extLst>
                  <a:ext uri="{FF2B5EF4-FFF2-40B4-BE49-F238E27FC236}">
                    <a16:creationId xmlns:a16="http://schemas.microsoft.com/office/drawing/2014/main" id="{5E92A6F7-02CE-D4C0-9220-A6D1F1471605}"/>
                  </a:ext>
                </a:extLst>
              </p:cNvPr>
              <p:cNvSpPr txBox="1"/>
              <p:nvPr/>
            </p:nvSpPr>
            <p:spPr>
              <a:xfrm>
                <a:off x="3058253" y="3632397"/>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223" name="TextBox 222">
                <a:extLst>
                  <a:ext uri="{FF2B5EF4-FFF2-40B4-BE49-F238E27FC236}">
                    <a16:creationId xmlns:a16="http://schemas.microsoft.com/office/drawing/2014/main" id="{5E92A6F7-02CE-D4C0-9220-A6D1F1471605}"/>
                  </a:ext>
                </a:extLst>
              </p:cNvPr>
              <p:cNvSpPr txBox="1">
                <a:spLocks noRot="1" noChangeAspect="1" noMove="1" noResize="1" noEditPoints="1" noAdjustHandles="1" noChangeArrowheads="1" noChangeShapeType="1" noTextEdit="1"/>
              </p:cNvSpPr>
              <p:nvPr/>
            </p:nvSpPr>
            <p:spPr>
              <a:xfrm>
                <a:off x="3058253" y="3632397"/>
                <a:ext cx="329532" cy="246221"/>
              </a:xfrm>
              <a:prstGeom prst="rect">
                <a:avLst/>
              </a:prstGeom>
              <a:blipFill>
                <a:blip r:embed="rId19"/>
                <a:stretch>
                  <a:fillRect/>
                </a:stretch>
              </a:blipFill>
            </p:spPr>
            <p:txBody>
              <a:bodyPr/>
              <a:lstStyle/>
              <a:p>
                <a:r>
                  <a:rPr lang="en-US">
                    <a:noFill/>
                  </a:rPr>
                  <a:t> </a:t>
                </a:r>
              </a:p>
            </p:txBody>
          </p:sp>
        </mc:Fallback>
      </mc:AlternateContent>
      <p:cxnSp>
        <p:nvCxnSpPr>
          <p:cNvPr id="224" name="Straight Arrow Connector 223">
            <a:extLst>
              <a:ext uri="{FF2B5EF4-FFF2-40B4-BE49-F238E27FC236}">
                <a16:creationId xmlns:a16="http://schemas.microsoft.com/office/drawing/2014/main" id="{75A8A62C-7F19-04A0-F537-D6947A828A93}"/>
              </a:ext>
            </a:extLst>
          </p:cNvPr>
          <p:cNvCxnSpPr>
            <a:cxnSpLocks/>
          </p:cNvCxnSpPr>
          <p:nvPr/>
        </p:nvCxnSpPr>
        <p:spPr>
          <a:xfrm flipV="1">
            <a:off x="749886" y="3915917"/>
            <a:ext cx="6975" cy="30723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5" name="Straight Arrow Connector 224">
            <a:extLst>
              <a:ext uri="{FF2B5EF4-FFF2-40B4-BE49-F238E27FC236}">
                <a16:creationId xmlns:a16="http://schemas.microsoft.com/office/drawing/2014/main" id="{FD57E209-7A5C-12BB-4088-A165BF4CADC8}"/>
              </a:ext>
            </a:extLst>
          </p:cNvPr>
          <p:cNvCxnSpPr>
            <a:cxnSpLocks/>
          </p:cNvCxnSpPr>
          <p:nvPr/>
        </p:nvCxnSpPr>
        <p:spPr>
          <a:xfrm flipV="1">
            <a:off x="1629343" y="3915917"/>
            <a:ext cx="0" cy="30723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6" name="Straight Arrow Connector 225">
            <a:extLst>
              <a:ext uri="{FF2B5EF4-FFF2-40B4-BE49-F238E27FC236}">
                <a16:creationId xmlns:a16="http://schemas.microsoft.com/office/drawing/2014/main" id="{A9A205A8-BFFC-E178-1F14-068EB85F3620}"/>
              </a:ext>
            </a:extLst>
          </p:cNvPr>
          <p:cNvCxnSpPr>
            <a:cxnSpLocks/>
          </p:cNvCxnSpPr>
          <p:nvPr/>
        </p:nvCxnSpPr>
        <p:spPr>
          <a:xfrm flipH="1" flipV="1">
            <a:off x="2578850" y="3915917"/>
            <a:ext cx="1664" cy="34773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7" name="Straight Arrow Connector 226">
            <a:extLst>
              <a:ext uri="{FF2B5EF4-FFF2-40B4-BE49-F238E27FC236}">
                <a16:creationId xmlns:a16="http://schemas.microsoft.com/office/drawing/2014/main" id="{68093FC4-44E8-759B-2A75-45126F37699C}"/>
              </a:ext>
            </a:extLst>
          </p:cNvPr>
          <p:cNvCxnSpPr>
            <a:cxnSpLocks/>
          </p:cNvCxnSpPr>
          <p:nvPr/>
        </p:nvCxnSpPr>
        <p:spPr>
          <a:xfrm flipH="1" flipV="1">
            <a:off x="3562317" y="3942488"/>
            <a:ext cx="1075" cy="33572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8" name="Elbow Connector 227">
            <a:extLst>
              <a:ext uri="{FF2B5EF4-FFF2-40B4-BE49-F238E27FC236}">
                <a16:creationId xmlns:a16="http://schemas.microsoft.com/office/drawing/2014/main" id="{B2FD6E70-2942-BE03-2128-6F305F1DB45B}"/>
              </a:ext>
            </a:extLst>
          </p:cNvPr>
          <p:cNvCxnSpPr>
            <a:cxnSpLocks/>
            <a:endCxn id="219" idx="2"/>
          </p:cNvCxnSpPr>
          <p:nvPr/>
        </p:nvCxnSpPr>
        <p:spPr>
          <a:xfrm rot="10800000">
            <a:off x="852053" y="3915917"/>
            <a:ext cx="5853755" cy="220074"/>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9" name="Straight Arrow Connector 228">
            <a:extLst>
              <a:ext uri="{FF2B5EF4-FFF2-40B4-BE49-F238E27FC236}">
                <a16:creationId xmlns:a16="http://schemas.microsoft.com/office/drawing/2014/main" id="{FA6B0261-7ECF-7705-272A-49481E7EA9AB}"/>
              </a:ext>
            </a:extLst>
          </p:cNvPr>
          <p:cNvCxnSpPr>
            <a:cxnSpLocks/>
          </p:cNvCxnSpPr>
          <p:nvPr/>
        </p:nvCxnSpPr>
        <p:spPr>
          <a:xfrm flipV="1">
            <a:off x="1781743" y="3954134"/>
            <a:ext cx="0" cy="180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0" name="Straight Arrow Connector 229">
            <a:extLst>
              <a:ext uri="{FF2B5EF4-FFF2-40B4-BE49-F238E27FC236}">
                <a16:creationId xmlns:a16="http://schemas.microsoft.com/office/drawing/2014/main" id="{3206C705-E632-6AC0-441B-38F32FFFCC20}"/>
              </a:ext>
            </a:extLst>
          </p:cNvPr>
          <p:cNvCxnSpPr>
            <a:cxnSpLocks/>
          </p:cNvCxnSpPr>
          <p:nvPr/>
        </p:nvCxnSpPr>
        <p:spPr>
          <a:xfrm flipH="1" flipV="1">
            <a:off x="2731250" y="3954134"/>
            <a:ext cx="1664" cy="180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1" name="Straight Arrow Connector 230">
            <a:extLst>
              <a:ext uri="{FF2B5EF4-FFF2-40B4-BE49-F238E27FC236}">
                <a16:creationId xmlns:a16="http://schemas.microsoft.com/office/drawing/2014/main" id="{4288A823-A8AC-3B44-29A2-9F36B3F5C75C}"/>
              </a:ext>
            </a:extLst>
          </p:cNvPr>
          <p:cNvCxnSpPr>
            <a:cxnSpLocks/>
          </p:cNvCxnSpPr>
          <p:nvPr/>
        </p:nvCxnSpPr>
        <p:spPr>
          <a:xfrm flipH="1" flipV="1">
            <a:off x="3714717" y="3955991"/>
            <a:ext cx="1075" cy="180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2" name="Rectangle 231">
                <a:extLst>
                  <a:ext uri="{FF2B5EF4-FFF2-40B4-BE49-F238E27FC236}">
                    <a16:creationId xmlns:a16="http://schemas.microsoft.com/office/drawing/2014/main" id="{482C52FE-D205-A860-B633-325F2E522D2F}"/>
                  </a:ext>
                </a:extLst>
              </p:cNvPr>
              <p:cNvSpPr/>
              <p:nvPr/>
            </p:nvSpPr>
            <p:spPr>
              <a:xfrm>
                <a:off x="614539" y="2848439"/>
                <a:ext cx="3265393" cy="43593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n-US" altLang="zh-CN" b="0" i="0" smtClean="0">
                          <a:solidFill>
                            <a:schemeClr val="tx1"/>
                          </a:solidFill>
                          <a:latin typeface="Cambria Math" panose="02040503050406030204" pitchFamily="18" charset="0"/>
                        </a:rPr>
                        <m:t>Softmax</m:t>
                      </m:r>
                    </m:oMath>
                  </m:oMathPara>
                </a14:m>
                <a:endParaRPr lang="en-US" dirty="0"/>
              </a:p>
            </p:txBody>
          </p:sp>
        </mc:Choice>
        <mc:Fallback xmlns="">
          <p:sp>
            <p:nvSpPr>
              <p:cNvPr id="232" name="Rectangle 231">
                <a:extLst>
                  <a:ext uri="{FF2B5EF4-FFF2-40B4-BE49-F238E27FC236}">
                    <a16:creationId xmlns:a16="http://schemas.microsoft.com/office/drawing/2014/main" id="{482C52FE-D205-A860-B633-325F2E522D2F}"/>
                  </a:ext>
                </a:extLst>
              </p:cNvPr>
              <p:cNvSpPr>
                <a:spLocks noRot="1" noChangeAspect="1" noMove="1" noResize="1" noEditPoints="1" noAdjustHandles="1" noChangeArrowheads="1" noChangeShapeType="1" noTextEdit="1"/>
              </p:cNvSpPr>
              <p:nvPr/>
            </p:nvSpPr>
            <p:spPr>
              <a:xfrm>
                <a:off x="614539" y="2848439"/>
                <a:ext cx="3265393" cy="435935"/>
              </a:xfrm>
              <a:prstGeom prst="rect">
                <a:avLst/>
              </a:prstGeom>
              <a:blipFill>
                <a:blip r:embed="rId20"/>
                <a:stretch>
                  <a:fillRect/>
                </a:stretch>
              </a:blipFill>
            </p:spPr>
            <p:txBody>
              <a:bodyPr/>
              <a:lstStyle/>
              <a:p>
                <a:r>
                  <a:rPr lang="en-US">
                    <a:noFill/>
                  </a:rPr>
                  <a:t> </a:t>
                </a:r>
              </a:p>
            </p:txBody>
          </p:sp>
        </mc:Fallback>
      </mc:AlternateContent>
      <p:cxnSp>
        <p:nvCxnSpPr>
          <p:cNvPr id="233" name="Straight Arrow Connector 232">
            <a:extLst>
              <a:ext uri="{FF2B5EF4-FFF2-40B4-BE49-F238E27FC236}">
                <a16:creationId xmlns:a16="http://schemas.microsoft.com/office/drawing/2014/main" id="{2FF74A47-7A55-2D9F-B771-393DB7B68C84}"/>
              </a:ext>
            </a:extLst>
          </p:cNvPr>
          <p:cNvCxnSpPr>
            <a:cxnSpLocks/>
          </p:cNvCxnSpPr>
          <p:nvPr/>
        </p:nvCxnSpPr>
        <p:spPr>
          <a:xfrm flipH="1" flipV="1">
            <a:off x="838666" y="3371413"/>
            <a:ext cx="3578"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4" name="Straight Arrow Connector 233">
            <a:extLst>
              <a:ext uri="{FF2B5EF4-FFF2-40B4-BE49-F238E27FC236}">
                <a16:creationId xmlns:a16="http://schemas.microsoft.com/office/drawing/2014/main" id="{2CCF3E94-7FDF-0DE9-9842-19D3A921AD96}"/>
              </a:ext>
            </a:extLst>
          </p:cNvPr>
          <p:cNvCxnSpPr>
            <a:cxnSpLocks/>
          </p:cNvCxnSpPr>
          <p:nvPr/>
        </p:nvCxnSpPr>
        <p:spPr>
          <a:xfrm flipV="1">
            <a:off x="1721702" y="3371413"/>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5" name="Straight Arrow Connector 234">
            <a:extLst>
              <a:ext uri="{FF2B5EF4-FFF2-40B4-BE49-F238E27FC236}">
                <a16:creationId xmlns:a16="http://schemas.microsoft.com/office/drawing/2014/main" id="{D93DD5F5-2D43-BA58-B619-DD3A10E5E8D6}"/>
              </a:ext>
            </a:extLst>
          </p:cNvPr>
          <p:cNvCxnSpPr>
            <a:cxnSpLocks/>
          </p:cNvCxnSpPr>
          <p:nvPr/>
        </p:nvCxnSpPr>
        <p:spPr>
          <a:xfrm flipV="1">
            <a:off x="2667296" y="3371413"/>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6" name="Straight Arrow Connector 235">
            <a:extLst>
              <a:ext uri="{FF2B5EF4-FFF2-40B4-BE49-F238E27FC236}">
                <a16:creationId xmlns:a16="http://schemas.microsoft.com/office/drawing/2014/main" id="{CAB54E34-7A65-0B22-69D3-B64F4F3361CF}"/>
              </a:ext>
            </a:extLst>
          </p:cNvPr>
          <p:cNvCxnSpPr>
            <a:cxnSpLocks/>
          </p:cNvCxnSpPr>
          <p:nvPr/>
        </p:nvCxnSpPr>
        <p:spPr>
          <a:xfrm flipV="1">
            <a:off x="3623522" y="3371413"/>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7" name="TextBox 236">
                <a:extLst>
                  <a:ext uri="{FF2B5EF4-FFF2-40B4-BE49-F238E27FC236}">
                    <a16:creationId xmlns:a16="http://schemas.microsoft.com/office/drawing/2014/main" id="{A62E51AE-90E7-9E4C-D214-0C2721A1F91E}"/>
                  </a:ext>
                </a:extLst>
              </p:cNvPr>
              <p:cNvSpPr txBox="1"/>
              <p:nvPr/>
            </p:nvSpPr>
            <p:spPr>
              <a:xfrm>
                <a:off x="555716" y="2113544"/>
                <a:ext cx="57682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11</m:t>
                          </m:r>
                        </m:sub>
                      </m:sSub>
                    </m:oMath>
                  </m:oMathPara>
                </a14:m>
                <a:endParaRPr lang="en-US" dirty="0"/>
              </a:p>
            </p:txBody>
          </p:sp>
        </mc:Choice>
        <mc:Fallback xmlns="">
          <p:sp>
            <p:nvSpPr>
              <p:cNvPr id="237" name="TextBox 236">
                <a:extLst>
                  <a:ext uri="{FF2B5EF4-FFF2-40B4-BE49-F238E27FC236}">
                    <a16:creationId xmlns:a16="http://schemas.microsoft.com/office/drawing/2014/main" id="{A62E51AE-90E7-9E4C-D214-0C2721A1F91E}"/>
                  </a:ext>
                </a:extLst>
              </p:cNvPr>
              <p:cNvSpPr txBox="1">
                <a:spLocks noRot="1" noChangeAspect="1" noMove="1" noResize="1" noEditPoints="1" noAdjustHandles="1" noChangeArrowheads="1" noChangeShapeType="1" noTextEdit="1"/>
              </p:cNvSpPr>
              <p:nvPr/>
            </p:nvSpPr>
            <p:spPr>
              <a:xfrm>
                <a:off x="555716" y="2113544"/>
                <a:ext cx="576825"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8" name="TextBox 237">
                <a:extLst>
                  <a:ext uri="{FF2B5EF4-FFF2-40B4-BE49-F238E27FC236}">
                    <a16:creationId xmlns:a16="http://schemas.microsoft.com/office/drawing/2014/main" id="{FE05371C-C850-C735-5EDB-7ED35F785CD6}"/>
                  </a:ext>
                </a:extLst>
              </p:cNvPr>
              <p:cNvSpPr txBox="1"/>
              <p:nvPr/>
            </p:nvSpPr>
            <p:spPr>
              <a:xfrm>
                <a:off x="1436145" y="2113544"/>
                <a:ext cx="57682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12</m:t>
                          </m:r>
                        </m:sub>
                      </m:sSub>
                    </m:oMath>
                  </m:oMathPara>
                </a14:m>
                <a:endParaRPr lang="en-US" dirty="0"/>
              </a:p>
            </p:txBody>
          </p:sp>
        </mc:Choice>
        <mc:Fallback xmlns="">
          <p:sp>
            <p:nvSpPr>
              <p:cNvPr id="238" name="TextBox 237">
                <a:extLst>
                  <a:ext uri="{FF2B5EF4-FFF2-40B4-BE49-F238E27FC236}">
                    <a16:creationId xmlns:a16="http://schemas.microsoft.com/office/drawing/2014/main" id="{FE05371C-C850-C735-5EDB-7ED35F785CD6}"/>
                  </a:ext>
                </a:extLst>
              </p:cNvPr>
              <p:cNvSpPr txBox="1">
                <a:spLocks noRot="1" noChangeAspect="1" noMove="1" noResize="1" noEditPoints="1" noAdjustHandles="1" noChangeArrowheads="1" noChangeShapeType="1" noTextEdit="1"/>
              </p:cNvSpPr>
              <p:nvPr/>
            </p:nvSpPr>
            <p:spPr>
              <a:xfrm>
                <a:off x="1436145" y="2113544"/>
                <a:ext cx="576825"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9" name="TextBox 238">
                <a:extLst>
                  <a:ext uri="{FF2B5EF4-FFF2-40B4-BE49-F238E27FC236}">
                    <a16:creationId xmlns:a16="http://schemas.microsoft.com/office/drawing/2014/main" id="{5F5E02C1-3401-731D-39BB-6E718749AC8D}"/>
                  </a:ext>
                </a:extLst>
              </p:cNvPr>
              <p:cNvSpPr txBox="1"/>
              <p:nvPr/>
            </p:nvSpPr>
            <p:spPr>
              <a:xfrm>
                <a:off x="2375045" y="2113544"/>
                <a:ext cx="57682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13</m:t>
                          </m:r>
                        </m:sub>
                      </m:sSub>
                    </m:oMath>
                  </m:oMathPara>
                </a14:m>
                <a:endParaRPr lang="en-US" dirty="0"/>
              </a:p>
            </p:txBody>
          </p:sp>
        </mc:Choice>
        <mc:Fallback xmlns="">
          <p:sp>
            <p:nvSpPr>
              <p:cNvPr id="239" name="TextBox 238">
                <a:extLst>
                  <a:ext uri="{FF2B5EF4-FFF2-40B4-BE49-F238E27FC236}">
                    <a16:creationId xmlns:a16="http://schemas.microsoft.com/office/drawing/2014/main" id="{5F5E02C1-3401-731D-39BB-6E718749AC8D}"/>
                  </a:ext>
                </a:extLst>
              </p:cNvPr>
              <p:cNvSpPr txBox="1">
                <a:spLocks noRot="1" noChangeAspect="1" noMove="1" noResize="1" noEditPoints="1" noAdjustHandles="1" noChangeArrowheads="1" noChangeShapeType="1" noTextEdit="1"/>
              </p:cNvSpPr>
              <p:nvPr/>
            </p:nvSpPr>
            <p:spPr>
              <a:xfrm>
                <a:off x="2375045" y="2113544"/>
                <a:ext cx="576825"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0" name="TextBox 239">
                <a:extLst>
                  <a:ext uri="{FF2B5EF4-FFF2-40B4-BE49-F238E27FC236}">
                    <a16:creationId xmlns:a16="http://schemas.microsoft.com/office/drawing/2014/main" id="{14986635-9560-E585-1BF3-B14B4E2A9E88}"/>
                  </a:ext>
                </a:extLst>
              </p:cNvPr>
              <p:cNvSpPr txBox="1"/>
              <p:nvPr/>
            </p:nvSpPr>
            <p:spPr>
              <a:xfrm>
                <a:off x="3348670" y="2140115"/>
                <a:ext cx="58830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1</m:t>
                          </m:r>
                          <m:r>
                            <a:rPr lang="en-US" altLang="zh-CN" b="0" i="1" smtClean="0">
                              <a:latin typeface="Cambria Math" panose="02040503050406030204" pitchFamily="18" charset="0"/>
                            </a:rPr>
                            <m:t>𝑇</m:t>
                          </m:r>
                        </m:sub>
                      </m:sSub>
                    </m:oMath>
                  </m:oMathPara>
                </a14:m>
                <a:endParaRPr lang="en-US" dirty="0"/>
              </a:p>
            </p:txBody>
          </p:sp>
        </mc:Choice>
        <mc:Fallback xmlns="">
          <p:sp>
            <p:nvSpPr>
              <p:cNvPr id="240" name="TextBox 239">
                <a:extLst>
                  <a:ext uri="{FF2B5EF4-FFF2-40B4-BE49-F238E27FC236}">
                    <a16:creationId xmlns:a16="http://schemas.microsoft.com/office/drawing/2014/main" id="{14986635-9560-E585-1BF3-B14B4E2A9E88}"/>
                  </a:ext>
                </a:extLst>
              </p:cNvPr>
              <p:cNvSpPr txBox="1">
                <a:spLocks noRot="1" noChangeAspect="1" noMove="1" noResize="1" noEditPoints="1" noAdjustHandles="1" noChangeArrowheads="1" noChangeShapeType="1" noTextEdit="1"/>
              </p:cNvSpPr>
              <p:nvPr/>
            </p:nvSpPr>
            <p:spPr>
              <a:xfrm>
                <a:off x="3348670" y="2140115"/>
                <a:ext cx="588303" cy="369332"/>
              </a:xfrm>
              <a:prstGeom prst="rect">
                <a:avLst/>
              </a:prstGeom>
              <a:blipFill>
                <a:blip r:embed="rId24"/>
                <a:stretch>
                  <a:fillRect b="-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1" name="TextBox 240">
                <a:extLst>
                  <a:ext uri="{FF2B5EF4-FFF2-40B4-BE49-F238E27FC236}">
                    <a16:creationId xmlns:a16="http://schemas.microsoft.com/office/drawing/2014/main" id="{E474DD0C-88BF-1E19-4747-A10867FF6130}"/>
                  </a:ext>
                </a:extLst>
              </p:cNvPr>
              <p:cNvSpPr txBox="1"/>
              <p:nvPr/>
            </p:nvSpPr>
            <p:spPr>
              <a:xfrm>
                <a:off x="3039750" y="2199356"/>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241" name="TextBox 240">
                <a:extLst>
                  <a:ext uri="{FF2B5EF4-FFF2-40B4-BE49-F238E27FC236}">
                    <a16:creationId xmlns:a16="http://schemas.microsoft.com/office/drawing/2014/main" id="{E474DD0C-88BF-1E19-4747-A10867FF6130}"/>
                  </a:ext>
                </a:extLst>
              </p:cNvPr>
              <p:cNvSpPr txBox="1">
                <a:spLocks noRot="1" noChangeAspect="1" noMove="1" noResize="1" noEditPoints="1" noAdjustHandles="1" noChangeArrowheads="1" noChangeShapeType="1" noTextEdit="1"/>
              </p:cNvSpPr>
              <p:nvPr/>
            </p:nvSpPr>
            <p:spPr>
              <a:xfrm>
                <a:off x="3039750" y="2199356"/>
                <a:ext cx="329532" cy="246221"/>
              </a:xfrm>
              <a:prstGeom prst="rect">
                <a:avLst/>
              </a:prstGeom>
              <a:blipFill>
                <a:blip r:embed="rId13"/>
                <a:stretch>
                  <a:fillRect/>
                </a:stretch>
              </a:blipFill>
            </p:spPr>
            <p:txBody>
              <a:bodyPr/>
              <a:lstStyle/>
              <a:p>
                <a:r>
                  <a:rPr lang="en-US">
                    <a:noFill/>
                  </a:rPr>
                  <a:t> </a:t>
                </a:r>
              </a:p>
            </p:txBody>
          </p:sp>
        </mc:Fallback>
      </mc:AlternateContent>
      <p:cxnSp>
        <p:nvCxnSpPr>
          <p:cNvPr id="242" name="Straight Arrow Connector 241">
            <a:extLst>
              <a:ext uri="{FF2B5EF4-FFF2-40B4-BE49-F238E27FC236}">
                <a16:creationId xmlns:a16="http://schemas.microsoft.com/office/drawing/2014/main" id="{23CE8E9F-4B89-F447-1AC3-FA5C4AAF43EB}"/>
              </a:ext>
            </a:extLst>
          </p:cNvPr>
          <p:cNvCxnSpPr>
            <a:cxnSpLocks/>
          </p:cNvCxnSpPr>
          <p:nvPr/>
        </p:nvCxnSpPr>
        <p:spPr>
          <a:xfrm flipH="1" flipV="1">
            <a:off x="838613" y="2575095"/>
            <a:ext cx="3578"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3" name="Straight Arrow Connector 242">
            <a:extLst>
              <a:ext uri="{FF2B5EF4-FFF2-40B4-BE49-F238E27FC236}">
                <a16:creationId xmlns:a16="http://schemas.microsoft.com/office/drawing/2014/main" id="{12B9DAAB-EBFA-ABC8-0943-2D4F61CBFD71}"/>
              </a:ext>
            </a:extLst>
          </p:cNvPr>
          <p:cNvCxnSpPr>
            <a:cxnSpLocks/>
          </p:cNvCxnSpPr>
          <p:nvPr/>
        </p:nvCxnSpPr>
        <p:spPr>
          <a:xfrm flipV="1">
            <a:off x="1721649" y="2575095"/>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4" name="Straight Arrow Connector 243">
            <a:extLst>
              <a:ext uri="{FF2B5EF4-FFF2-40B4-BE49-F238E27FC236}">
                <a16:creationId xmlns:a16="http://schemas.microsoft.com/office/drawing/2014/main" id="{995601FA-540C-E2EC-CAC3-CD6931E4CDE1}"/>
              </a:ext>
            </a:extLst>
          </p:cNvPr>
          <p:cNvCxnSpPr>
            <a:cxnSpLocks/>
          </p:cNvCxnSpPr>
          <p:nvPr/>
        </p:nvCxnSpPr>
        <p:spPr>
          <a:xfrm flipV="1">
            <a:off x="2667243" y="2575095"/>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5" name="Straight Arrow Connector 244">
            <a:extLst>
              <a:ext uri="{FF2B5EF4-FFF2-40B4-BE49-F238E27FC236}">
                <a16:creationId xmlns:a16="http://schemas.microsoft.com/office/drawing/2014/main" id="{6192D096-3A5F-4679-2EB7-22CA7150FB52}"/>
              </a:ext>
            </a:extLst>
          </p:cNvPr>
          <p:cNvCxnSpPr>
            <a:cxnSpLocks/>
          </p:cNvCxnSpPr>
          <p:nvPr/>
        </p:nvCxnSpPr>
        <p:spPr>
          <a:xfrm flipV="1">
            <a:off x="3623469" y="2575095"/>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6" name="TextBox 245">
                <a:extLst>
                  <a:ext uri="{FF2B5EF4-FFF2-40B4-BE49-F238E27FC236}">
                    <a16:creationId xmlns:a16="http://schemas.microsoft.com/office/drawing/2014/main" id="{8104CF20-AB32-23AA-DE6E-B14938EEB2BC}"/>
                  </a:ext>
                </a:extLst>
              </p:cNvPr>
              <p:cNvSpPr txBox="1"/>
              <p:nvPr/>
            </p:nvSpPr>
            <p:spPr>
              <a:xfrm>
                <a:off x="7637282" y="5063713"/>
                <a:ext cx="45095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1</m:t>
                          </m:r>
                        </m:sub>
                      </m:sSub>
                    </m:oMath>
                  </m:oMathPara>
                </a14:m>
                <a:endParaRPr lang="en-US" dirty="0"/>
              </a:p>
            </p:txBody>
          </p:sp>
        </mc:Choice>
        <mc:Fallback xmlns="">
          <p:sp>
            <p:nvSpPr>
              <p:cNvPr id="246" name="TextBox 245">
                <a:extLst>
                  <a:ext uri="{FF2B5EF4-FFF2-40B4-BE49-F238E27FC236}">
                    <a16:creationId xmlns:a16="http://schemas.microsoft.com/office/drawing/2014/main" id="{8104CF20-AB32-23AA-DE6E-B14938EEB2BC}"/>
                  </a:ext>
                </a:extLst>
              </p:cNvPr>
              <p:cNvSpPr txBox="1">
                <a:spLocks noRot="1" noChangeAspect="1" noMove="1" noResize="1" noEditPoints="1" noAdjustHandles="1" noChangeArrowheads="1" noChangeShapeType="1" noTextEdit="1"/>
              </p:cNvSpPr>
              <p:nvPr/>
            </p:nvSpPr>
            <p:spPr>
              <a:xfrm>
                <a:off x="7637282" y="5063713"/>
                <a:ext cx="450956" cy="369332"/>
              </a:xfrm>
              <a:prstGeom prst="rect">
                <a:avLst/>
              </a:prstGeom>
              <a:blipFill>
                <a:blip r:embed="rId25"/>
                <a:stretch>
                  <a:fillRect b="-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7" name="TextBox 246">
                <a:extLst>
                  <a:ext uri="{FF2B5EF4-FFF2-40B4-BE49-F238E27FC236}">
                    <a16:creationId xmlns:a16="http://schemas.microsoft.com/office/drawing/2014/main" id="{204D08C5-14BB-DD27-E5DA-265D393BAE29}"/>
                  </a:ext>
                </a:extLst>
              </p:cNvPr>
              <p:cNvSpPr txBox="1"/>
              <p:nvPr/>
            </p:nvSpPr>
            <p:spPr>
              <a:xfrm>
                <a:off x="7892986" y="5034079"/>
                <a:ext cx="47897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0</m:t>
                          </m:r>
                        </m:sub>
                      </m:sSub>
                    </m:oMath>
                  </m:oMathPara>
                </a14:m>
                <a:endParaRPr lang="en-US" dirty="0"/>
              </a:p>
            </p:txBody>
          </p:sp>
        </mc:Choice>
        <mc:Fallback xmlns="">
          <p:sp>
            <p:nvSpPr>
              <p:cNvPr id="247" name="TextBox 246">
                <a:extLst>
                  <a:ext uri="{FF2B5EF4-FFF2-40B4-BE49-F238E27FC236}">
                    <a16:creationId xmlns:a16="http://schemas.microsoft.com/office/drawing/2014/main" id="{204D08C5-14BB-DD27-E5DA-265D393BAE29}"/>
                  </a:ext>
                </a:extLst>
              </p:cNvPr>
              <p:cNvSpPr txBox="1">
                <a:spLocks noRot="1" noChangeAspect="1" noMove="1" noResize="1" noEditPoints="1" noAdjustHandles="1" noChangeArrowheads="1" noChangeShapeType="1" noTextEdit="1"/>
              </p:cNvSpPr>
              <p:nvPr/>
            </p:nvSpPr>
            <p:spPr>
              <a:xfrm>
                <a:off x="7892986" y="5034079"/>
                <a:ext cx="478977" cy="369332"/>
              </a:xfrm>
              <a:prstGeom prst="rect">
                <a:avLst/>
              </a:prstGeom>
              <a:blipFill>
                <a:blip r:embed="rId26"/>
                <a:stretch>
                  <a:fillRect b="-10000"/>
                </a:stretch>
              </a:blipFill>
            </p:spPr>
            <p:txBody>
              <a:bodyPr/>
              <a:lstStyle/>
              <a:p>
                <a:r>
                  <a:rPr lang="en-US">
                    <a:noFill/>
                  </a:rPr>
                  <a:t> </a:t>
                </a:r>
              </a:p>
            </p:txBody>
          </p:sp>
        </mc:Fallback>
      </mc:AlternateContent>
      <p:sp>
        <p:nvSpPr>
          <p:cNvPr id="248" name="Rectangle 247">
            <a:extLst>
              <a:ext uri="{FF2B5EF4-FFF2-40B4-BE49-F238E27FC236}">
                <a16:creationId xmlns:a16="http://schemas.microsoft.com/office/drawing/2014/main" id="{A9E0CBA9-555E-3B09-C4C7-4952D47B0254}"/>
              </a:ext>
            </a:extLst>
          </p:cNvPr>
          <p:cNvSpPr/>
          <p:nvPr/>
        </p:nvSpPr>
        <p:spPr>
          <a:xfrm>
            <a:off x="7060350" y="3182702"/>
            <a:ext cx="424732" cy="43593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endParaRPr lang="en-US" dirty="0">
              <a:solidFill>
                <a:schemeClr val="tx1"/>
              </a:solidFill>
            </a:endParaRPr>
          </a:p>
        </p:txBody>
      </p:sp>
      <p:sp>
        <p:nvSpPr>
          <p:cNvPr id="249" name="Left Brace 248">
            <a:extLst>
              <a:ext uri="{FF2B5EF4-FFF2-40B4-BE49-F238E27FC236}">
                <a16:creationId xmlns:a16="http://schemas.microsoft.com/office/drawing/2014/main" id="{8D945C24-279A-B590-1421-5B54CFEB149B}"/>
              </a:ext>
            </a:extLst>
          </p:cNvPr>
          <p:cNvSpPr/>
          <p:nvPr/>
        </p:nvSpPr>
        <p:spPr>
          <a:xfrm rot="5400000">
            <a:off x="2101670" y="-454665"/>
            <a:ext cx="241260" cy="3062039"/>
          </a:xfrm>
          <a:prstGeom prst="leftBrace">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50" name="Elbow Connector 249">
            <a:extLst>
              <a:ext uri="{FF2B5EF4-FFF2-40B4-BE49-F238E27FC236}">
                <a16:creationId xmlns:a16="http://schemas.microsoft.com/office/drawing/2014/main" id="{16133CB1-138C-8B33-7DDE-60B2453E7820}"/>
              </a:ext>
            </a:extLst>
          </p:cNvPr>
          <p:cNvCxnSpPr>
            <a:cxnSpLocks/>
            <a:stCxn id="249" idx="1"/>
            <a:endCxn id="248" idx="0"/>
          </p:cNvCxnSpPr>
          <p:nvPr/>
        </p:nvCxnSpPr>
        <p:spPr>
          <a:xfrm rot="16200000" flipH="1">
            <a:off x="3634019" y="-455995"/>
            <a:ext cx="2226977" cy="5050416"/>
          </a:xfrm>
          <a:prstGeom prst="bentConnector3">
            <a:avLst>
              <a:gd name="adj1" fmla="val -3129"/>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1" name="Elbow Connector 250">
            <a:extLst>
              <a:ext uri="{FF2B5EF4-FFF2-40B4-BE49-F238E27FC236}">
                <a16:creationId xmlns:a16="http://schemas.microsoft.com/office/drawing/2014/main" id="{706DFDEB-B0A1-010E-7C0C-B0B0632C0996}"/>
              </a:ext>
            </a:extLst>
          </p:cNvPr>
          <p:cNvCxnSpPr>
            <a:cxnSpLocks/>
            <a:stCxn id="248" idx="3"/>
            <a:endCxn id="289" idx="1"/>
          </p:cNvCxnSpPr>
          <p:nvPr/>
        </p:nvCxnSpPr>
        <p:spPr>
          <a:xfrm>
            <a:off x="7485082" y="3400670"/>
            <a:ext cx="1141288" cy="1833104"/>
          </a:xfrm>
          <a:prstGeom prst="bentConnector3">
            <a:avLst>
              <a:gd name="adj1" fmla="val 8248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2" name="Rectangle 251">
            <a:extLst>
              <a:ext uri="{FF2B5EF4-FFF2-40B4-BE49-F238E27FC236}">
                <a16:creationId xmlns:a16="http://schemas.microsoft.com/office/drawing/2014/main" id="{A8F9311A-9FF6-62EC-3866-ACB6721CC83B}"/>
              </a:ext>
            </a:extLst>
          </p:cNvPr>
          <p:cNvSpPr/>
          <p:nvPr/>
        </p:nvSpPr>
        <p:spPr>
          <a:xfrm>
            <a:off x="3402941" y="1433031"/>
            <a:ext cx="424732" cy="43593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x</a:t>
            </a:r>
            <a:endParaRPr lang="en-US" dirty="0">
              <a:solidFill>
                <a:schemeClr val="tx1"/>
              </a:solidFill>
            </a:endParaRPr>
          </a:p>
        </p:txBody>
      </p:sp>
      <p:sp>
        <p:nvSpPr>
          <p:cNvPr id="253" name="Rectangle 252">
            <a:extLst>
              <a:ext uri="{FF2B5EF4-FFF2-40B4-BE49-F238E27FC236}">
                <a16:creationId xmlns:a16="http://schemas.microsoft.com/office/drawing/2014/main" id="{978D5396-B13B-17D6-140A-14CDF8C2694F}"/>
              </a:ext>
            </a:extLst>
          </p:cNvPr>
          <p:cNvSpPr/>
          <p:nvPr/>
        </p:nvSpPr>
        <p:spPr>
          <a:xfrm>
            <a:off x="2458044" y="1433031"/>
            <a:ext cx="424732" cy="43593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x</a:t>
            </a:r>
            <a:endParaRPr lang="en-US" dirty="0">
              <a:solidFill>
                <a:schemeClr val="tx1"/>
              </a:solidFill>
            </a:endParaRPr>
          </a:p>
        </p:txBody>
      </p:sp>
      <p:sp>
        <p:nvSpPr>
          <p:cNvPr id="254" name="Rectangle 253">
            <a:extLst>
              <a:ext uri="{FF2B5EF4-FFF2-40B4-BE49-F238E27FC236}">
                <a16:creationId xmlns:a16="http://schemas.microsoft.com/office/drawing/2014/main" id="{5BCB8789-E434-09F4-EC74-45654DE185F0}"/>
              </a:ext>
            </a:extLst>
          </p:cNvPr>
          <p:cNvSpPr/>
          <p:nvPr/>
        </p:nvSpPr>
        <p:spPr>
          <a:xfrm>
            <a:off x="1544828" y="1433031"/>
            <a:ext cx="424732" cy="43593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x</a:t>
            </a:r>
            <a:endParaRPr lang="en-US" dirty="0">
              <a:solidFill>
                <a:schemeClr val="tx1"/>
              </a:solidFill>
            </a:endParaRPr>
          </a:p>
        </p:txBody>
      </p:sp>
      <p:sp>
        <p:nvSpPr>
          <p:cNvPr id="255" name="Rectangle 254">
            <a:extLst>
              <a:ext uri="{FF2B5EF4-FFF2-40B4-BE49-F238E27FC236}">
                <a16:creationId xmlns:a16="http://schemas.microsoft.com/office/drawing/2014/main" id="{54455BB0-DCC9-6C31-6127-7ED339D8A20D}"/>
              </a:ext>
            </a:extLst>
          </p:cNvPr>
          <p:cNvSpPr/>
          <p:nvPr/>
        </p:nvSpPr>
        <p:spPr>
          <a:xfrm>
            <a:off x="647648" y="1433031"/>
            <a:ext cx="424732" cy="43593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x</a:t>
            </a:r>
            <a:endParaRPr lang="en-US" dirty="0">
              <a:solidFill>
                <a:schemeClr val="tx1"/>
              </a:solidFill>
            </a:endParaRPr>
          </a:p>
        </p:txBody>
      </p:sp>
      <p:cxnSp>
        <p:nvCxnSpPr>
          <p:cNvPr id="256" name="Straight Arrow Connector 255">
            <a:extLst>
              <a:ext uri="{FF2B5EF4-FFF2-40B4-BE49-F238E27FC236}">
                <a16:creationId xmlns:a16="http://schemas.microsoft.com/office/drawing/2014/main" id="{57014B6B-FD51-7E73-B84E-1837A27E6B29}"/>
              </a:ext>
            </a:extLst>
          </p:cNvPr>
          <p:cNvCxnSpPr>
            <a:cxnSpLocks/>
          </p:cNvCxnSpPr>
          <p:nvPr/>
        </p:nvCxnSpPr>
        <p:spPr>
          <a:xfrm flipH="1" flipV="1">
            <a:off x="822634" y="1959749"/>
            <a:ext cx="3578"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7" name="Straight Arrow Connector 256">
            <a:extLst>
              <a:ext uri="{FF2B5EF4-FFF2-40B4-BE49-F238E27FC236}">
                <a16:creationId xmlns:a16="http://schemas.microsoft.com/office/drawing/2014/main" id="{9E4F592E-1844-4DE1-DB11-18E2032F7555}"/>
              </a:ext>
            </a:extLst>
          </p:cNvPr>
          <p:cNvCxnSpPr>
            <a:cxnSpLocks/>
          </p:cNvCxnSpPr>
          <p:nvPr/>
        </p:nvCxnSpPr>
        <p:spPr>
          <a:xfrm flipV="1">
            <a:off x="1705670" y="1959749"/>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8" name="Straight Arrow Connector 257">
            <a:extLst>
              <a:ext uri="{FF2B5EF4-FFF2-40B4-BE49-F238E27FC236}">
                <a16:creationId xmlns:a16="http://schemas.microsoft.com/office/drawing/2014/main" id="{B2522453-C84C-5F8A-4519-D2CDB1ECE3DD}"/>
              </a:ext>
            </a:extLst>
          </p:cNvPr>
          <p:cNvCxnSpPr>
            <a:cxnSpLocks/>
          </p:cNvCxnSpPr>
          <p:nvPr/>
        </p:nvCxnSpPr>
        <p:spPr>
          <a:xfrm flipV="1">
            <a:off x="2651264" y="1959749"/>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9" name="Straight Arrow Connector 258">
            <a:extLst>
              <a:ext uri="{FF2B5EF4-FFF2-40B4-BE49-F238E27FC236}">
                <a16:creationId xmlns:a16="http://schemas.microsoft.com/office/drawing/2014/main" id="{16887E11-7738-CA58-E45B-623E10202166}"/>
              </a:ext>
            </a:extLst>
          </p:cNvPr>
          <p:cNvCxnSpPr>
            <a:cxnSpLocks/>
          </p:cNvCxnSpPr>
          <p:nvPr/>
        </p:nvCxnSpPr>
        <p:spPr>
          <a:xfrm flipV="1">
            <a:off x="3607490" y="1959749"/>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0" name="Straight Arrow Connector 259">
            <a:extLst>
              <a:ext uri="{FF2B5EF4-FFF2-40B4-BE49-F238E27FC236}">
                <a16:creationId xmlns:a16="http://schemas.microsoft.com/office/drawing/2014/main" id="{06071122-9001-2E0C-6122-3B1ECD35F93A}"/>
              </a:ext>
            </a:extLst>
          </p:cNvPr>
          <p:cNvCxnSpPr>
            <a:cxnSpLocks/>
          </p:cNvCxnSpPr>
          <p:nvPr/>
        </p:nvCxnSpPr>
        <p:spPr>
          <a:xfrm flipH="1" flipV="1">
            <a:off x="811557" y="1160624"/>
            <a:ext cx="3578"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1" name="Straight Arrow Connector 260">
            <a:extLst>
              <a:ext uri="{FF2B5EF4-FFF2-40B4-BE49-F238E27FC236}">
                <a16:creationId xmlns:a16="http://schemas.microsoft.com/office/drawing/2014/main" id="{805DC8C8-40F7-5952-7012-9F31CA95C888}"/>
              </a:ext>
            </a:extLst>
          </p:cNvPr>
          <p:cNvCxnSpPr>
            <a:cxnSpLocks/>
          </p:cNvCxnSpPr>
          <p:nvPr/>
        </p:nvCxnSpPr>
        <p:spPr>
          <a:xfrm flipV="1">
            <a:off x="1694593" y="1160624"/>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2" name="Straight Arrow Connector 261">
            <a:extLst>
              <a:ext uri="{FF2B5EF4-FFF2-40B4-BE49-F238E27FC236}">
                <a16:creationId xmlns:a16="http://schemas.microsoft.com/office/drawing/2014/main" id="{7E1BD6F8-25F0-E0F6-AF05-80983279DFD4}"/>
              </a:ext>
            </a:extLst>
          </p:cNvPr>
          <p:cNvCxnSpPr>
            <a:cxnSpLocks/>
          </p:cNvCxnSpPr>
          <p:nvPr/>
        </p:nvCxnSpPr>
        <p:spPr>
          <a:xfrm flipV="1">
            <a:off x="2640187" y="1160624"/>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3" name="Straight Arrow Connector 262">
            <a:extLst>
              <a:ext uri="{FF2B5EF4-FFF2-40B4-BE49-F238E27FC236}">
                <a16:creationId xmlns:a16="http://schemas.microsoft.com/office/drawing/2014/main" id="{99C79B72-49DD-20A1-1596-ACC76B7B8A76}"/>
              </a:ext>
            </a:extLst>
          </p:cNvPr>
          <p:cNvCxnSpPr>
            <a:cxnSpLocks/>
          </p:cNvCxnSpPr>
          <p:nvPr/>
        </p:nvCxnSpPr>
        <p:spPr>
          <a:xfrm flipV="1">
            <a:off x="3596413" y="1160624"/>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4" name="Curved Connector 263">
            <a:extLst>
              <a:ext uri="{FF2B5EF4-FFF2-40B4-BE49-F238E27FC236}">
                <a16:creationId xmlns:a16="http://schemas.microsoft.com/office/drawing/2014/main" id="{337DCC18-7084-3E9C-EAFC-8CB1E5A26E7B}"/>
              </a:ext>
            </a:extLst>
          </p:cNvPr>
          <p:cNvCxnSpPr>
            <a:stCxn id="205" idx="1"/>
            <a:endCxn id="252" idx="1"/>
          </p:cNvCxnSpPr>
          <p:nvPr/>
        </p:nvCxnSpPr>
        <p:spPr>
          <a:xfrm rot="10800000">
            <a:off x="3402941" y="1650999"/>
            <a:ext cx="52260" cy="2845180"/>
          </a:xfrm>
          <a:prstGeom prst="curvedConnector3">
            <a:avLst>
              <a:gd name="adj1" fmla="val 537428"/>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5" name="Curved Connector 264">
            <a:extLst>
              <a:ext uri="{FF2B5EF4-FFF2-40B4-BE49-F238E27FC236}">
                <a16:creationId xmlns:a16="http://schemas.microsoft.com/office/drawing/2014/main" id="{5ECD1A63-EFB6-00AB-7C1E-9D8D155F2154}"/>
              </a:ext>
            </a:extLst>
          </p:cNvPr>
          <p:cNvCxnSpPr>
            <a:cxnSpLocks/>
            <a:stCxn id="203" idx="1"/>
            <a:endCxn id="253" idx="1"/>
          </p:cNvCxnSpPr>
          <p:nvPr/>
        </p:nvCxnSpPr>
        <p:spPr>
          <a:xfrm rot="10800000">
            <a:off x="2458045" y="1651000"/>
            <a:ext cx="14279" cy="2830625"/>
          </a:xfrm>
          <a:prstGeom prst="curvedConnector3">
            <a:avLst>
              <a:gd name="adj1" fmla="val 170095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6" name="Curved Connector 265">
            <a:extLst>
              <a:ext uri="{FF2B5EF4-FFF2-40B4-BE49-F238E27FC236}">
                <a16:creationId xmlns:a16="http://schemas.microsoft.com/office/drawing/2014/main" id="{8187163A-F83C-B0E2-2FD4-2F6EAE4F2451}"/>
              </a:ext>
            </a:extLst>
          </p:cNvPr>
          <p:cNvCxnSpPr>
            <a:cxnSpLocks/>
            <a:stCxn id="201" idx="1"/>
            <a:endCxn id="254" idx="1"/>
          </p:cNvCxnSpPr>
          <p:nvPr/>
        </p:nvCxnSpPr>
        <p:spPr>
          <a:xfrm rot="10800000">
            <a:off x="1544829" y="1651000"/>
            <a:ext cx="2719" cy="2830625"/>
          </a:xfrm>
          <a:prstGeom prst="curvedConnector3">
            <a:avLst>
              <a:gd name="adj1" fmla="val 850750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7" name="Curved Connector 266">
            <a:extLst>
              <a:ext uri="{FF2B5EF4-FFF2-40B4-BE49-F238E27FC236}">
                <a16:creationId xmlns:a16="http://schemas.microsoft.com/office/drawing/2014/main" id="{7AEA4B09-8A49-2FEE-DFBD-AEB25B3B3A0E}"/>
              </a:ext>
            </a:extLst>
          </p:cNvPr>
          <p:cNvCxnSpPr>
            <a:cxnSpLocks/>
            <a:stCxn id="200" idx="1"/>
            <a:endCxn id="255" idx="1"/>
          </p:cNvCxnSpPr>
          <p:nvPr/>
        </p:nvCxnSpPr>
        <p:spPr>
          <a:xfrm rot="10800000">
            <a:off x="647649" y="1651000"/>
            <a:ext cx="14149" cy="2830625"/>
          </a:xfrm>
          <a:prstGeom prst="curvedConnector3">
            <a:avLst>
              <a:gd name="adj1" fmla="val 171566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8" name="Rectangle 267">
                <a:extLst>
                  <a:ext uri="{FF2B5EF4-FFF2-40B4-BE49-F238E27FC236}">
                    <a16:creationId xmlns:a16="http://schemas.microsoft.com/office/drawing/2014/main" id="{DEF0808E-9421-FE60-09A2-723CA161723D}"/>
                  </a:ext>
                </a:extLst>
              </p:cNvPr>
              <p:cNvSpPr/>
              <p:nvPr/>
            </p:nvSpPr>
            <p:spPr>
              <a:xfrm>
                <a:off x="7774840" y="4263655"/>
                <a:ext cx="424732" cy="43593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𝑠</m:t>
                          </m:r>
                        </m:e>
                        <m:sub>
                          <m:r>
                            <a:rPr lang="en-US" altLang="zh-CN" b="0" i="1" smtClean="0">
                              <a:solidFill>
                                <a:schemeClr val="tx1"/>
                              </a:solidFill>
                              <a:latin typeface="Cambria Math" panose="02040503050406030204" pitchFamily="18" charset="0"/>
                            </a:rPr>
                            <m:t>1</m:t>
                          </m:r>
                        </m:sub>
                      </m:sSub>
                    </m:oMath>
                  </m:oMathPara>
                </a14:m>
                <a:endParaRPr lang="en-US" dirty="0"/>
              </a:p>
            </p:txBody>
          </p:sp>
        </mc:Choice>
        <mc:Fallback xmlns="">
          <p:sp>
            <p:nvSpPr>
              <p:cNvPr id="268" name="Rectangle 267">
                <a:extLst>
                  <a:ext uri="{FF2B5EF4-FFF2-40B4-BE49-F238E27FC236}">
                    <a16:creationId xmlns:a16="http://schemas.microsoft.com/office/drawing/2014/main" id="{DEF0808E-9421-FE60-09A2-723CA161723D}"/>
                  </a:ext>
                </a:extLst>
              </p:cNvPr>
              <p:cNvSpPr>
                <a:spLocks noRot="1" noChangeAspect="1" noMove="1" noResize="1" noEditPoints="1" noAdjustHandles="1" noChangeArrowheads="1" noChangeShapeType="1" noTextEdit="1"/>
              </p:cNvSpPr>
              <p:nvPr/>
            </p:nvSpPr>
            <p:spPr>
              <a:xfrm>
                <a:off x="7774840" y="4263655"/>
                <a:ext cx="424732" cy="435935"/>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9" name="TextBox 268">
                <a:extLst>
                  <a:ext uri="{FF2B5EF4-FFF2-40B4-BE49-F238E27FC236}">
                    <a16:creationId xmlns:a16="http://schemas.microsoft.com/office/drawing/2014/main" id="{FDCBDB6D-01D2-6D5C-1143-E5D1343A713A}"/>
                  </a:ext>
                </a:extLst>
              </p:cNvPr>
              <p:cNvSpPr txBox="1"/>
              <p:nvPr/>
            </p:nvSpPr>
            <p:spPr>
              <a:xfrm>
                <a:off x="7760659" y="3447731"/>
                <a:ext cx="47365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1</m:t>
                          </m:r>
                        </m:sub>
                      </m:sSub>
                    </m:oMath>
                  </m:oMathPara>
                </a14:m>
                <a:endParaRPr lang="en-US" dirty="0"/>
              </a:p>
            </p:txBody>
          </p:sp>
        </mc:Choice>
        <mc:Fallback xmlns="">
          <p:sp>
            <p:nvSpPr>
              <p:cNvPr id="269" name="TextBox 268">
                <a:extLst>
                  <a:ext uri="{FF2B5EF4-FFF2-40B4-BE49-F238E27FC236}">
                    <a16:creationId xmlns:a16="http://schemas.microsoft.com/office/drawing/2014/main" id="{FDCBDB6D-01D2-6D5C-1143-E5D1343A713A}"/>
                  </a:ext>
                </a:extLst>
              </p:cNvPr>
              <p:cNvSpPr txBox="1">
                <a:spLocks noRot="1" noChangeAspect="1" noMove="1" noResize="1" noEditPoints="1" noAdjustHandles="1" noChangeArrowheads="1" noChangeShapeType="1" noTextEdit="1"/>
              </p:cNvSpPr>
              <p:nvPr/>
            </p:nvSpPr>
            <p:spPr>
              <a:xfrm>
                <a:off x="7760659" y="3447731"/>
                <a:ext cx="473656" cy="369332"/>
              </a:xfrm>
              <a:prstGeom prst="rect">
                <a:avLst/>
              </a:prstGeom>
              <a:blipFill>
                <a:blip r:embed="rId28"/>
                <a:stretch>
                  <a:fillRect b="-10000"/>
                </a:stretch>
              </a:blipFill>
            </p:spPr>
            <p:txBody>
              <a:bodyPr/>
              <a:lstStyle/>
              <a:p>
                <a:r>
                  <a:rPr lang="en-US">
                    <a:noFill/>
                  </a:rPr>
                  <a:t> </a:t>
                </a:r>
              </a:p>
            </p:txBody>
          </p:sp>
        </mc:Fallback>
      </mc:AlternateContent>
      <p:cxnSp>
        <p:nvCxnSpPr>
          <p:cNvPr id="270" name="Straight Arrow Connector 269">
            <a:extLst>
              <a:ext uri="{FF2B5EF4-FFF2-40B4-BE49-F238E27FC236}">
                <a16:creationId xmlns:a16="http://schemas.microsoft.com/office/drawing/2014/main" id="{B77B1B0F-2755-4EB6-789C-60698CC3A415}"/>
              </a:ext>
            </a:extLst>
          </p:cNvPr>
          <p:cNvCxnSpPr>
            <a:cxnSpLocks/>
          </p:cNvCxnSpPr>
          <p:nvPr/>
        </p:nvCxnSpPr>
        <p:spPr>
          <a:xfrm flipV="1">
            <a:off x="7994608" y="3878618"/>
            <a:ext cx="0" cy="38761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1" name="Straight Arrow Connector 270">
            <a:extLst>
              <a:ext uri="{FF2B5EF4-FFF2-40B4-BE49-F238E27FC236}">
                <a16:creationId xmlns:a16="http://schemas.microsoft.com/office/drawing/2014/main" id="{81A7CF53-AF7F-18FC-A6E0-08A2C964C5F6}"/>
              </a:ext>
            </a:extLst>
          </p:cNvPr>
          <p:cNvCxnSpPr>
            <a:cxnSpLocks/>
          </p:cNvCxnSpPr>
          <p:nvPr/>
        </p:nvCxnSpPr>
        <p:spPr>
          <a:xfrm flipV="1">
            <a:off x="8104622" y="4709300"/>
            <a:ext cx="0" cy="38761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2" name="Straight Arrow Connector 271">
            <a:extLst>
              <a:ext uri="{FF2B5EF4-FFF2-40B4-BE49-F238E27FC236}">
                <a16:creationId xmlns:a16="http://schemas.microsoft.com/office/drawing/2014/main" id="{934EE093-8E5D-6BDB-A920-84BFE567EAF0}"/>
              </a:ext>
            </a:extLst>
          </p:cNvPr>
          <p:cNvCxnSpPr>
            <a:cxnSpLocks/>
          </p:cNvCxnSpPr>
          <p:nvPr/>
        </p:nvCxnSpPr>
        <p:spPr>
          <a:xfrm flipV="1">
            <a:off x="7873961" y="4725773"/>
            <a:ext cx="0" cy="38761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3" name="TextBox 272">
            <a:extLst>
              <a:ext uri="{FF2B5EF4-FFF2-40B4-BE49-F238E27FC236}">
                <a16:creationId xmlns:a16="http://schemas.microsoft.com/office/drawing/2014/main" id="{EF4C44E7-1697-3494-4E04-52A90EF0C40C}"/>
              </a:ext>
            </a:extLst>
          </p:cNvPr>
          <p:cNvSpPr txBox="1"/>
          <p:nvPr/>
        </p:nvSpPr>
        <p:spPr>
          <a:xfrm>
            <a:off x="7862760" y="2920100"/>
            <a:ext cx="248786" cy="369332"/>
          </a:xfrm>
          <a:prstGeom prst="rect">
            <a:avLst/>
          </a:prstGeom>
          <a:noFill/>
        </p:spPr>
        <p:txBody>
          <a:bodyPr wrap="none" rtlCol="0">
            <a:spAutoFit/>
          </a:bodyPr>
          <a:lstStyle/>
          <a:p>
            <a:r>
              <a:rPr lang="en-US" altLang="zh-CN" dirty="0"/>
              <a:t>I</a:t>
            </a:r>
            <a:endParaRPr lang="en-US" dirty="0"/>
          </a:p>
        </p:txBody>
      </p:sp>
      <p:sp>
        <p:nvSpPr>
          <p:cNvPr id="274" name="TextBox 273">
            <a:extLst>
              <a:ext uri="{FF2B5EF4-FFF2-40B4-BE49-F238E27FC236}">
                <a16:creationId xmlns:a16="http://schemas.microsoft.com/office/drawing/2014/main" id="{0238A3B2-F2DA-769A-2F18-9E5A11F971D4}"/>
              </a:ext>
            </a:extLst>
          </p:cNvPr>
          <p:cNvSpPr txBox="1"/>
          <p:nvPr/>
        </p:nvSpPr>
        <p:spPr>
          <a:xfrm>
            <a:off x="7564120" y="5524615"/>
            <a:ext cx="1048236" cy="369332"/>
          </a:xfrm>
          <a:prstGeom prst="rect">
            <a:avLst/>
          </a:prstGeom>
          <a:noFill/>
        </p:spPr>
        <p:txBody>
          <a:bodyPr wrap="none" rtlCol="0">
            <a:spAutoFit/>
          </a:bodyPr>
          <a:lstStyle/>
          <a:p>
            <a:r>
              <a:rPr lang="en-US" altLang="zh-CN" dirty="0"/>
              <a:t>[START]</a:t>
            </a:r>
            <a:endParaRPr lang="en-US" dirty="0"/>
          </a:p>
        </p:txBody>
      </p:sp>
      <p:sp>
        <p:nvSpPr>
          <p:cNvPr id="275" name="object 143">
            <a:extLst>
              <a:ext uri="{FF2B5EF4-FFF2-40B4-BE49-F238E27FC236}">
                <a16:creationId xmlns:a16="http://schemas.microsoft.com/office/drawing/2014/main" id="{650048A6-641D-E985-DBC9-8CEDB7C70BEF}"/>
              </a:ext>
            </a:extLst>
          </p:cNvPr>
          <p:cNvSpPr txBox="1"/>
          <p:nvPr/>
        </p:nvSpPr>
        <p:spPr>
          <a:xfrm>
            <a:off x="4238910" y="4927533"/>
            <a:ext cx="2838873" cy="1125094"/>
          </a:xfrm>
          <a:prstGeom prst="rect">
            <a:avLst/>
          </a:prstGeom>
        </p:spPr>
        <p:txBody>
          <a:bodyPr vert="horz" wrap="square" lIns="0" tIns="16933" rIns="0" bIns="0" rtlCol="0">
            <a:spAutoFit/>
          </a:bodyPr>
          <a:lstStyle/>
          <a:p>
            <a:pPr marL="50799" marR="85511"/>
            <a:r>
              <a:rPr i="1" dirty="0">
                <a:latin typeface="Calibri" panose="020F0502020204030204" pitchFamily="34" charset="0"/>
                <a:cs typeface="Calibri" panose="020F0502020204030204" pitchFamily="34" charset="0"/>
              </a:rPr>
              <a:t>“</a:t>
            </a:r>
            <a:r>
              <a:rPr lang="en-US" i="1" dirty="0">
                <a:latin typeface="Calibri" panose="020F0502020204030204" pitchFamily="34" charset="0"/>
                <a:cs typeface="Calibri" panose="020F0502020204030204" pitchFamily="34" charset="0"/>
              </a:rPr>
              <a:t>bought</a:t>
            </a:r>
            <a:r>
              <a:rPr i="1" dirty="0">
                <a:latin typeface="Calibri" panose="020F0502020204030204" pitchFamily="34" charset="0"/>
                <a:cs typeface="Calibri" panose="020F0502020204030204" pitchFamily="34" charset="0"/>
              </a:rPr>
              <a:t>”</a:t>
            </a:r>
            <a:r>
              <a:rPr i="1" spc="-7" dirty="0">
                <a:latin typeface="Calibri" panose="020F0502020204030204" pitchFamily="34" charset="0"/>
                <a:cs typeface="Calibri" panose="020F0502020204030204" pitchFamily="34" charset="0"/>
              </a:rPr>
              <a:t> </a:t>
            </a:r>
            <a:r>
              <a:rPr b="1" i="1" dirty="0">
                <a:latin typeface="Calibri" panose="020F0502020204030204" pitchFamily="34" charset="0"/>
                <a:cs typeface="Calibri" panose="020F0502020204030204" pitchFamily="34" charset="0"/>
              </a:rPr>
              <a:t>= </a:t>
            </a:r>
            <a:r>
              <a:rPr i="1" spc="-13" dirty="0">
                <a:latin typeface="Calibri" panose="020F0502020204030204" pitchFamily="34" charset="0"/>
                <a:cs typeface="Calibri" panose="020F0502020204030204" pitchFamily="34" charset="0"/>
              </a:rPr>
              <a:t>“</a:t>
            </a:r>
            <a:r>
              <a:rPr lang="en-US" i="1" spc="-13" dirty="0" err="1">
                <a:latin typeface="Calibri" panose="020F0502020204030204" pitchFamily="34" charset="0"/>
                <a:cs typeface="Calibri" panose="020F0502020204030204" pitchFamily="34" charset="0"/>
              </a:rPr>
              <a:t>买了</a:t>
            </a:r>
            <a:r>
              <a:rPr i="1" spc="-13"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所以可能的情况是</a:t>
            </a:r>
            <a:r>
              <a:rPr spc="-7" dirty="0">
                <a:latin typeface="Calibri" panose="020F0502020204030204" pitchFamily="34" charset="0"/>
                <a:cs typeface="Calibri" panose="020F0502020204030204" pitchFamily="34" charset="0"/>
              </a:rPr>
              <a:t> </a:t>
            </a:r>
            <a:endParaRPr lang="en-US" spc="-7" dirty="0">
              <a:latin typeface="Calibri" panose="020F0502020204030204" pitchFamily="34" charset="0"/>
              <a:cs typeface="Calibri" panose="020F0502020204030204" pitchFamily="34" charset="0"/>
            </a:endParaRPr>
          </a:p>
          <a:p>
            <a:pPr marL="50799" marR="85511"/>
            <a:r>
              <a:rPr spc="-13" dirty="0">
                <a:latin typeface="Calibri" panose="020F0502020204030204" pitchFamily="34" charset="0"/>
                <a:cs typeface="Calibri" panose="020F0502020204030204" pitchFamily="34" charset="0"/>
              </a:rPr>
              <a:t>a</a:t>
            </a:r>
            <a:r>
              <a:rPr spc="-20" baseline="-30555" dirty="0">
                <a:latin typeface="Calibri" panose="020F0502020204030204" pitchFamily="34" charset="0"/>
                <a:cs typeface="Calibri" panose="020F0502020204030204" pitchFamily="34" charset="0"/>
              </a:rPr>
              <a:t>2</a:t>
            </a:r>
            <a:r>
              <a:rPr lang="en-US" altLang="zh-CN" spc="-20" baseline="-30555" dirty="0">
                <a:latin typeface="Calibri" panose="020F0502020204030204" pitchFamily="34" charset="0"/>
                <a:cs typeface="Calibri" panose="020F0502020204030204" pitchFamily="34" charset="0"/>
              </a:rPr>
              <a:t>2</a:t>
            </a:r>
            <a:r>
              <a:rPr spc="-13" dirty="0">
                <a:latin typeface="Calibri" panose="020F0502020204030204" pitchFamily="34" charset="0"/>
                <a:cs typeface="Calibri" panose="020F0502020204030204" pitchFamily="34" charset="0"/>
              </a:rPr>
              <a:t>=a</a:t>
            </a:r>
            <a:r>
              <a:rPr spc="-20" baseline="-30555" dirty="0">
                <a:latin typeface="Calibri" panose="020F0502020204030204" pitchFamily="34" charset="0"/>
                <a:cs typeface="Calibri" panose="020F0502020204030204" pitchFamily="34" charset="0"/>
              </a:rPr>
              <a:t>2</a:t>
            </a:r>
            <a:r>
              <a:rPr lang="en-US" altLang="zh-CN" spc="-20" baseline="-30555" dirty="0">
                <a:latin typeface="Calibri" panose="020F0502020204030204" pitchFamily="34" charset="0"/>
                <a:cs typeface="Calibri" panose="020F0502020204030204" pitchFamily="34" charset="0"/>
              </a:rPr>
              <a:t>3</a:t>
            </a:r>
            <a:r>
              <a:rPr spc="-13" dirty="0">
                <a:latin typeface="Calibri" panose="020F0502020204030204" pitchFamily="34" charset="0"/>
                <a:cs typeface="Calibri" panose="020F0502020204030204" pitchFamily="34" charset="0"/>
              </a:rPr>
              <a:t>=0.</a:t>
            </a:r>
            <a:r>
              <a:rPr lang="en-US" altLang="zh-CN" spc="-13" dirty="0">
                <a:latin typeface="Calibri" panose="020F0502020204030204" pitchFamily="34" charset="0"/>
                <a:cs typeface="Calibri" panose="020F0502020204030204" pitchFamily="34" charset="0"/>
              </a:rPr>
              <a:t>80</a:t>
            </a:r>
            <a:r>
              <a:rPr spc="-13" dirty="0">
                <a:latin typeface="Calibri" panose="020F0502020204030204" pitchFamily="34" charset="0"/>
                <a:cs typeface="Calibri" panose="020F0502020204030204" pitchFamily="34" charset="0"/>
              </a:rPr>
              <a:t>, </a:t>
            </a:r>
            <a:endParaRPr lang="en-US" spc="-13" dirty="0">
              <a:latin typeface="Calibri" panose="020F0502020204030204" pitchFamily="34" charset="0"/>
              <a:cs typeface="Calibri" panose="020F0502020204030204" pitchFamily="34" charset="0"/>
            </a:endParaRPr>
          </a:p>
          <a:p>
            <a:pPr marL="50799" marR="85511"/>
            <a:r>
              <a:rPr dirty="0">
                <a:latin typeface="Calibri" panose="020F0502020204030204" pitchFamily="34" charset="0"/>
                <a:cs typeface="Calibri" panose="020F0502020204030204" pitchFamily="34" charset="0"/>
              </a:rPr>
              <a:t>a</a:t>
            </a:r>
            <a:r>
              <a:rPr baseline="-30555" dirty="0">
                <a:latin typeface="Calibri" panose="020F0502020204030204" pitchFamily="34" charset="0"/>
                <a:cs typeface="Calibri" panose="020F0502020204030204" pitchFamily="34" charset="0"/>
              </a:rPr>
              <a:t>2</a:t>
            </a:r>
            <a:r>
              <a:rPr lang="en-US" altLang="zh-CN" baseline="-30555" dirty="0">
                <a:latin typeface="Calibri" panose="020F0502020204030204" pitchFamily="34" charset="0"/>
                <a:cs typeface="Calibri" panose="020F0502020204030204" pitchFamily="34" charset="0"/>
              </a:rPr>
              <a:t>1</a:t>
            </a:r>
            <a:r>
              <a:rPr dirty="0">
                <a:latin typeface="Calibri" panose="020F0502020204030204" pitchFamily="34" charset="0"/>
                <a:cs typeface="Calibri" panose="020F0502020204030204" pitchFamily="34" charset="0"/>
              </a:rPr>
              <a:t>=</a:t>
            </a:r>
            <a:r>
              <a:rPr lang="en-US" dirty="0">
                <a:latin typeface="Calibri" panose="020F0502020204030204" pitchFamily="34" charset="0"/>
                <a:cs typeface="Calibri" panose="020F0502020204030204" pitchFamily="34" charset="0"/>
              </a:rPr>
              <a:t> </a:t>
            </a:r>
            <a:r>
              <a:rPr lang="en-US" altLang="zh-CN" dirty="0">
                <a:latin typeface="Calibri" panose="020F0502020204030204" pitchFamily="34" charset="0"/>
                <a:cs typeface="Calibri" panose="020F0502020204030204" pitchFamily="34" charset="0"/>
              </a:rPr>
              <a:t>…</a:t>
            </a:r>
            <a:r>
              <a:rPr lang="zh-CN" altLang="en-US" dirty="0">
                <a:latin typeface="Calibri" panose="020F0502020204030204" pitchFamily="34" charset="0"/>
                <a:cs typeface="Calibri" panose="020F0502020204030204" pitchFamily="34" charset="0"/>
              </a:rPr>
              <a:t> </a:t>
            </a:r>
            <a:r>
              <a:rPr lang="en-US" altLang="zh-CN" dirty="0">
                <a:latin typeface="Calibri" panose="020F0502020204030204" pitchFamily="34" charset="0"/>
                <a:cs typeface="Calibri" panose="020F0502020204030204" pitchFamily="34" charset="0"/>
              </a:rPr>
              <a:t>=</a:t>
            </a:r>
            <a:r>
              <a:rPr dirty="0">
                <a:latin typeface="Calibri" panose="020F0502020204030204" pitchFamily="34" charset="0"/>
                <a:cs typeface="Calibri" panose="020F0502020204030204" pitchFamily="34" charset="0"/>
              </a:rPr>
              <a:t>0.</a:t>
            </a:r>
            <a:r>
              <a:rPr lang="en-US" altLang="zh-CN" dirty="0">
                <a:latin typeface="Calibri" panose="020F0502020204030204" pitchFamily="34" charset="0"/>
                <a:cs typeface="Calibri" panose="020F0502020204030204" pitchFamily="34" charset="0"/>
              </a:rPr>
              <a:t>02</a:t>
            </a:r>
            <a:endParaRPr dirty="0">
              <a:latin typeface="Calibri" panose="020F0502020204030204" pitchFamily="34" charset="0"/>
              <a:cs typeface="Calibri" panose="020F0502020204030204" pitchFamily="34" charset="0"/>
            </a:endParaRPr>
          </a:p>
        </p:txBody>
      </p:sp>
      <p:sp>
        <p:nvSpPr>
          <p:cNvPr id="276" name="object 37">
            <a:extLst>
              <a:ext uri="{FF2B5EF4-FFF2-40B4-BE49-F238E27FC236}">
                <a16:creationId xmlns:a16="http://schemas.microsoft.com/office/drawing/2014/main" id="{FB038404-35E8-2B80-D3BE-272E6A6075F6}"/>
              </a:ext>
            </a:extLst>
          </p:cNvPr>
          <p:cNvSpPr txBox="1"/>
          <p:nvPr/>
        </p:nvSpPr>
        <p:spPr>
          <a:xfrm>
            <a:off x="4436928" y="2832407"/>
            <a:ext cx="2779607" cy="632651"/>
          </a:xfrm>
          <a:prstGeom prst="rect">
            <a:avLst/>
          </a:prstGeom>
        </p:spPr>
        <p:txBody>
          <a:bodyPr vert="horz" wrap="square" lIns="0" tIns="16933" rIns="0" bIns="0" rtlCol="0">
            <a:spAutoFit/>
          </a:bodyPr>
          <a:lstStyle/>
          <a:p>
            <a:pPr marL="50799">
              <a:spcBef>
                <a:spcPts val="133"/>
              </a:spcBef>
            </a:pPr>
            <a:r>
              <a:rPr lang="en-US" sz="2000" dirty="0" err="1">
                <a:latin typeface="Calibri" panose="020F0502020204030204" pitchFamily="34" charset="0"/>
                <a:cs typeface="Calibri" panose="020F0502020204030204" pitchFamily="34" charset="0"/>
              </a:rPr>
              <a:t>来自最后一个隐向量</a:t>
            </a:r>
            <a:r>
              <a:rPr sz="2000" spc="-13" dirty="0">
                <a:latin typeface="Calibri" panose="020F0502020204030204" pitchFamily="34" charset="0"/>
                <a:cs typeface="Calibri" panose="020F0502020204030204" pitchFamily="34" charset="0"/>
              </a:rPr>
              <a:t>:</a:t>
            </a:r>
            <a:endParaRPr sz="2000" dirty="0">
              <a:latin typeface="Calibri" panose="020F0502020204030204" pitchFamily="34" charset="0"/>
              <a:cs typeface="Calibri" panose="020F0502020204030204" pitchFamily="34" charset="0"/>
            </a:endParaRPr>
          </a:p>
          <a:p>
            <a:pPr marL="50799"/>
            <a:r>
              <a:rPr lang="en-US" sz="2000" b="1" dirty="0">
                <a:latin typeface="Calibri" panose="020F0502020204030204" pitchFamily="34" charset="0"/>
                <a:cs typeface="Calibri" panose="020F0502020204030204" pitchFamily="34" charset="0"/>
              </a:rPr>
              <a:t>解码器初始隐向量</a:t>
            </a:r>
            <a:r>
              <a:rPr sz="2000" spc="-33" dirty="0">
                <a:latin typeface="Calibri" panose="020F0502020204030204" pitchFamily="34" charset="0"/>
                <a:cs typeface="Calibri" panose="020F0502020204030204" pitchFamily="34" charset="0"/>
              </a:rPr>
              <a:t>s</a:t>
            </a:r>
            <a:r>
              <a:rPr sz="2000" spc="-49" baseline="-30555" dirty="0">
                <a:latin typeface="Calibri" panose="020F0502020204030204" pitchFamily="34" charset="0"/>
                <a:cs typeface="Calibri" panose="020F0502020204030204" pitchFamily="34" charset="0"/>
              </a:rPr>
              <a:t>0</a:t>
            </a:r>
            <a:endParaRPr sz="2000" baseline="-30555" dirty="0">
              <a:latin typeface="Calibri" panose="020F0502020204030204" pitchFamily="34" charset="0"/>
              <a:cs typeface="Calibri" panose="020F0502020204030204" pitchFamily="34" charset="0"/>
            </a:endParaRPr>
          </a:p>
        </p:txBody>
      </p:sp>
      <p:cxnSp>
        <p:nvCxnSpPr>
          <p:cNvPr id="280" name="Elbow Connector 279">
            <a:extLst>
              <a:ext uri="{FF2B5EF4-FFF2-40B4-BE49-F238E27FC236}">
                <a16:creationId xmlns:a16="http://schemas.microsoft.com/office/drawing/2014/main" id="{FEBE13E9-8EC5-F002-A6D0-3A034CDB524B}"/>
              </a:ext>
            </a:extLst>
          </p:cNvPr>
          <p:cNvCxnSpPr>
            <a:cxnSpLocks/>
            <a:stCxn id="268" idx="1"/>
          </p:cNvCxnSpPr>
          <p:nvPr/>
        </p:nvCxnSpPr>
        <p:spPr>
          <a:xfrm rot="10800000">
            <a:off x="6705808" y="4131077"/>
            <a:ext cx="1069033" cy="350547"/>
          </a:xfrm>
          <a:prstGeom prst="bentConnector3">
            <a:avLst>
              <a:gd name="adj1" fmla="val 23415"/>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9" name="TextBox 288">
                <a:extLst>
                  <a:ext uri="{FF2B5EF4-FFF2-40B4-BE49-F238E27FC236}">
                    <a16:creationId xmlns:a16="http://schemas.microsoft.com/office/drawing/2014/main" id="{3900B3AC-40CA-E228-89FD-D06D6F092AF6}"/>
                  </a:ext>
                </a:extLst>
              </p:cNvPr>
              <p:cNvSpPr txBox="1"/>
              <p:nvPr/>
            </p:nvSpPr>
            <p:spPr>
              <a:xfrm>
                <a:off x="8626370" y="5049108"/>
                <a:ext cx="45627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2</m:t>
                          </m:r>
                        </m:sub>
                      </m:sSub>
                    </m:oMath>
                  </m:oMathPara>
                </a14:m>
                <a:endParaRPr lang="en-US" dirty="0"/>
              </a:p>
            </p:txBody>
          </p:sp>
        </mc:Choice>
        <mc:Fallback xmlns="">
          <p:sp>
            <p:nvSpPr>
              <p:cNvPr id="289" name="TextBox 288">
                <a:extLst>
                  <a:ext uri="{FF2B5EF4-FFF2-40B4-BE49-F238E27FC236}">
                    <a16:creationId xmlns:a16="http://schemas.microsoft.com/office/drawing/2014/main" id="{3900B3AC-40CA-E228-89FD-D06D6F092AF6}"/>
                  </a:ext>
                </a:extLst>
              </p:cNvPr>
              <p:cNvSpPr txBox="1">
                <a:spLocks noRot="1" noChangeAspect="1" noMove="1" noResize="1" noEditPoints="1" noAdjustHandles="1" noChangeArrowheads="1" noChangeShapeType="1" noTextEdit="1"/>
              </p:cNvSpPr>
              <p:nvPr/>
            </p:nvSpPr>
            <p:spPr>
              <a:xfrm>
                <a:off x="8626370" y="5049108"/>
                <a:ext cx="456279" cy="369332"/>
              </a:xfrm>
              <a:prstGeom prst="rect">
                <a:avLst/>
              </a:prstGeom>
              <a:blipFill>
                <a:blip r:embed="rId29"/>
                <a:stretch>
                  <a:fillRect b="-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0" name="TextBox 289">
                <a:extLst>
                  <a:ext uri="{FF2B5EF4-FFF2-40B4-BE49-F238E27FC236}">
                    <a16:creationId xmlns:a16="http://schemas.microsoft.com/office/drawing/2014/main" id="{DE35781C-542F-8B85-1EC3-54F7A0B02E10}"/>
                  </a:ext>
                </a:extLst>
              </p:cNvPr>
              <p:cNvSpPr txBox="1"/>
              <p:nvPr/>
            </p:nvSpPr>
            <p:spPr>
              <a:xfrm>
                <a:off x="8882074" y="5019474"/>
                <a:ext cx="47365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1</m:t>
                          </m:r>
                        </m:sub>
                      </m:sSub>
                    </m:oMath>
                  </m:oMathPara>
                </a14:m>
                <a:endParaRPr lang="en-US" dirty="0"/>
              </a:p>
            </p:txBody>
          </p:sp>
        </mc:Choice>
        <mc:Fallback xmlns="">
          <p:sp>
            <p:nvSpPr>
              <p:cNvPr id="290" name="TextBox 289">
                <a:extLst>
                  <a:ext uri="{FF2B5EF4-FFF2-40B4-BE49-F238E27FC236}">
                    <a16:creationId xmlns:a16="http://schemas.microsoft.com/office/drawing/2014/main" id="{DE35781C-542F-8B85-1EC3-54F7A0B02E10}"/>
                  </a:ext>
                </a:extLst>
              </p:cNvPr>
              <p:cNvSpPr txBox="1">
                <a:spLocks noRot="1" noChangeAspect="1" noMove="1" noResize="1" noEditPoints="1" noAdjustHandles="1" noChangeArrowheads="1" noChangeShapeType="1" noTextEdit="1"/>
              </p:cNvSpPr>
              <p:nvPr/>
            </p:nvSpPr>
            <p:spPr>
              <a:xfrm>
                <a:off x="8882074" y="5019474"/>
                <a:ext cx="473656" cy="369332"/>
              </a:xfrm>
              <a:prstGeom prst="rect">
                <a:avLst/>
              </a:prstGeom>
              <a:blipFill>
                <a:blip r:embed="rId30"/>
                <a:stretch>
                  <a:fillRect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1" name="Rectangle 290">
                <a:extLst>
                  <a:ext uri="{FF2B5EF4-FFF2-40B4-BE49-F238E27FC236}">
                    <a16:creationId xmlns:a16="http://schemas.microsoft.com/office/drawing/2014/main" id="{CBF803B2-F66E-A09B-B959-3B1FABC28B9C}"/>
                  </a:ext>
                </a:extLst>
              </p:cNvPr>
              <p:cNvSpPr/>
              <p:nvPr/>
            </p:nvSpPr>
            <p:spPr>
              <a:xfrm>
                <a:off x="8763928" y="4261407"/>
                <a:ext cx="424732" cy="43593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𝑠</m:t>
                          </m:r>
                        </m:e>
                        <m:sub>
                          <m:r>
                            <a:rPr lang="en-US" altLang="zh-CN" b="0" i="1" smtClean="0">
                              <a:solidFill>
                                <a:schemeClr val="tx1"/>
                              </a:solidFill>
                              <a:latin typeface="Cambria Math" panose="02040503050406030204" pitchFamily="18" charset="0"/>
                            </a:rPr>
                            <m:t>1</m:t>
                          </m:r>
                        </m:sub>
                      </m:sSub>
                    </m:oMath>
                  </m:oMathPara>
                </a14:m>
                <a:endParaRPr lang="en-US" dirty="0"/>
              </a:p>
            </p:txBody>
          </p:sp>
        </mc:Choice>
        <mc:Fallback xmlns="">
          <p:sp>
            <p:nvSpPr>
              <p:cNvPr id="291" name="Rectangle 290">
                <a:extLst>
                  <a:ext uri="{FF2B5EF4-FFF2-40B4-BE49-F238E27FC236}">
                    <a16:creationId xmlns:a16="http://schemas.microsoft.com/office/drawing/2014/main" id="{CBF803B2-F66E-A09B-B959-3B1FABC28B9C}"/>
                  </a:ext>
                </a:extLst>
              </p:cNvPr>
              <p:cNvSpPr>
                <a:spLocks noRot="1" noChangeAspect="1" noMove="1" noResize="1" noEditPoints="1" noAdjustHandles="1" noChangeArrowheads="1" noChangeShapeType="1" noTextEdit="1"/>
              </p:cNvSpPr>
              <p:nvPr/>
            </p:nvSpPr>
            <p:spPr>
              <a:xfrm>
                <a:off x="8763928" y="4261407"/>
                <a:ext cx="424732" cy="435935"/>
              </a:xfrm>
              <a:prstGeom prst="rect">
                <a:avLst/>
              </a:prstGeom>
              <a:blipFill>
                <a:blip r:embed="rId3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2" name="TextBox 291">
                <a:extLst>
                  <a:ext uri="{FF2B5EF4-FFF2-40B4-BE49-F238E27FC236}">
                    <a16:creationId xmlns:a16="http://schemas.microsoft.com/office/drawing/2014/main" id="{7C796169-EE8B-6CEC-EEB5-0D984357EE33}"/>
                  </a:ext>
                </a:extLst>
              </p:cNvPr>
              <p:cNvSpPr txBox="1"/>
              <p:nvPr/>
            </p:nvSpPr>
            <p:spPr>
              <a:xfrm>
                <a:off x="8749747" y="3433126"/>
                <a:ext cx="47365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1</m:t>
                          </m:r>
                        </m:sub>
                      </m:sSub>
                    </m:oMath>
                  </m:oMathPara>
                </a14:m>
                <a:endParaRPr lang="en-US" dirty="0"/>
              </a:p>
            </p:txBody>
          </p:sp>
        </mc:Choice>
        <mc:Fallback xmlns="">
          <p:sp>
            <p:nvSpPr>
              <p:cNvPr id="292" name="TextBox 291">
                <a:extLst>
                  <a:ext uri="{FF2B5EF4-FFF2-40B4-BE49-F238E27FC236}">
                    <a16:creationId xmlns:a16="http://schemas.microsoft.com/office/drawing/2014/main" id="{7C796169-EE8B-6CEC-EEB5-0D984357EE33}"/>
                  </a:ext>
                </a:extLst>
              </p:cNvPr>
              <p:cNvSpPr txBox="1">
                <a:spLocks noRot="1" noChangeAspect="1" noMove="1" noResize="1" noEditPoints="1" noAdjustHandles="1" noChangeArrowheads="1" noChangeShapeType="1" noTextEdit="1"/>
              </p:cNvSpPr>
              <p:nvPr/>
            </p:nvSpPr>
            <p:spPr>
              <a:xfrm>
                <a:off x="8749747" y="3433126"/>
                <a:ext cx="473656" cy="369332"/>
              </a:xfrm>
              <a:prstGeom prst="rect">
                <a:avLst/>
              </a:prstGeom>
              <a:blipFill>
                <a:blip r:embed="rId32"/>
                <a:stretch>
                  <a:fillRect b="-10000"/>
                </a:stretch>
              </a:blipFill>
            </p:spPr>
            <p:txBody>
              <a:bodyPr/>
              <a:lstStyle/>
              <a:p>
                <a:r>
                  <a:rPr lang="en-US">
                    <a:noFill/>
                  </a:rPr>
                  <a:t> </a:t>
                </a:r>
              </a:p>
            </p:txBody>
          </p:sp>
        </mc:Fallback>
      </mc:AlternateContent>
      <p:cxnSp>
        <p:nvCxnSpPr>
          <p:cNvPr id="293" name="Straight Arrow Connector 292">
            <a:extLst>
              <a:ext uri="{FF2B5EF4-FFF2-40B4-BE49-F238E27FC236}">
                <a16:creationId xmlns:a16="http://schemas.microsoft.com/office/drawing/2014/main" id="{AD49F773-B0F6-334A-87F0-48871DB78F33}"/>
              </a:ext>
            </a:extLst>
          </p:cNvPr>
          <p:cNvCxnSpPr>
            <a:cxnSpLocks/>
          </p:cNvCxnSpPr>
          <p:nvPr/>
        </p:nvCxnSpPr>
        <p:spPr>
          <a:xfrm flipV="1">
            <a:off x="8983696" y="3864013"/>
            <a:ext cx="0" cy="38761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4" name="Straight Arrow Connector 293">
            <a:extLst>
              <a:ext uri="{FF2B5EF4-FFF2-40B4-BE49-F238E27FC236}">
                <a16:creationId xmlns:a16="http://schemas.microsoft.com/office/drawing/2014/main" id="{C45CC3F7-34ED-AFBA-A1C7-7CC591DE0835}"/>
              </a:ext>
            </a:extLst>
          </p:cNvPr>
          <p:cNvCxnSpPr>
            <a:cxnSpLocks/>
          </p:cNvCxnSpPr>
          <p:nvPr/>
        </p:nvCxnSpPr>
        <p:spPr>
          <a:xfrm flipV="1">
            <a:off x="9093710" y="4694695"/>
            <a:ext cx="0" cy="38761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5" name="Straight Arrow Connector 294">
            <a:extLst>
              <a:ext uri="{FF2B5EF4-FFF2-40B4-BE49-F238E27FC236}">
                <a16:creationId xmlns:a16="http://schemas.microsoft.com/office/drawing/2014/main" id="{10EAC346-910A-196C-C8A4-D27F94D1B1E4}"/>
              </a:ext>
            </a:extLst>
          </p:cNvPr>
          <p:cNvCxnSpPr>
            <a:cxnSpLocks/>
          </p:cNvCxnSpPr>
          <p:nvPr/>
        </p:nvCxnSpPr>
        <p:spPr>
          <a:xfrm flipV="1">
            <a:off x="8863049" y="4711168"/>
            <a:ext cx="0" cy="38761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6" name="TextBox 295">
            <a:extLst>
              <a:ext uri="{FF2B5EF4-FFF2-40B4-BE49-F238E27FC236}">
                <a16:creationId xmlns:a16="http://schemas.microsoft.com/office/drawing/2014/main" id="{2BBB9033-1D14-BEEE-55CF-20E0B4304A1B}"/>
              </a:ext>
            </a:extLst>
          </p:cNvPr>
          <p:cNvSpPr txBox="1"/>
          <p:nvPr/>
        </p:nvSpPr>
        <p:spPr>
          <a:xfrm>
            <a:off x="8530065" y="2888923"/>
            <a:ext cx="889987" cy="369332"/>
          </a:xfrm>
          <a:prstGeom prst="rect">
            <a:avLst/>
          </a:prstGeom>
          <a:noFill/>
        </p:spPr>
        <p:txBody>
          <a:bodyPr wrap="none" rtlCol="0">
            <a:spAutoFit/>
          </a:bodyPr>
          <a:lstStyle/>
          <a:p>
            <a:r>
              <a:rPr lang="en-US" dirty="0"/>
              <a:t>bought</a:t>
            </a:r>
          </a:p>
        </p:txBody>
      </p:sp>
      <p:sp>
        <p:nvSpPr>
          <p:cNvPr id="301" name="TextBox 300">
            <a:extLst>
              <a:ext uri="{FF2B5EF4-FFF2-40B4-BE49-F238E27FC236}">
                <a16:creationId xmlns:a16="http://schemas.microsoft.com/office/drawing/2014/main" id="{EF2B7618-1DA8-BCBF-AAF0-80C5CB520984}"/>
              </a:ext>
            </a:extLst>
          </p:cNvPr>
          <p:cNvSpPr txBox="1"/>
          <p:nvPr/>
        </p:nvSpPr>
        <p:spPr>
          <a:xfrm>
            <a:off x="8880133" y="5538706"/>
            <a:ext cx="248786" cy="369332"/>
          </a:xfrm>
          <a:prstGeom prst="rect">
            <a:avLst/>
          </a:prstGeom>
          <a:noFill/>
        </p:spPr>
        <p:txBody>
          <a:bodyPr wrap="none" rtlCol="0">
            <a:spAutoFit/>
          </a:bodyPr>
          <a:lstStyle/>
          <a:p>
            <a:r>
              <a:rPr lang="en-US" altLang="zh-CN" dirty="0"/>
              <a:t>I</a:t>
            </a:r>
            <a:endParaRPr lang="en-US" dirty="0"/>
          </a:p>
        </p:txBody>
      </p:sp>
      <p:cxnSp>
        <p:nvCxnSpPr>
          <p:cNvPr id="302" name="Elbow Connector 301">
            <a:extLst>
              <a:ext uri="{FF2B5EF4-FFF2-40B4-BE49-F238E27FC236}">
                <a16:creationId xmlns:a16="http://schemas.microsoft.com/office/drawing/2014/main" id="{CB036A07-2D6B-9C99-3241-1B7ECFBDDA93}"/>
              </a:ext>
            </a:extLst>
          </p:cNvPr>
          <p:cNvCxnSpPr>
            <a:cxnSpLocks/>
            <a:stCxn id="218" idx="3"/>
            <a:endCxn id="246" idx="1"/>
          </p:cNvCxnSpPr>
          <p:nvPr/>
        </p:nvCxnSpPr>
        <p:spPr>
          <a:xfrm>
            <a:off x="5486195" y="4496179"/>
            <a:ext cx="2151087" cy="752200"/>
          </a:xfrm>
          <a:prstGeom prst="bentConnector3">
            <a:avLst>
              <a:gd name="adj1" fmla="val 8102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6" name="Straight Arrow Connector 305">
            <a:extLst>
              <a:ext uri="{FF2B5EF4-FFF2-40B4-BE49-F238E27FC236}">
                <a16:creationId xmlns:a16="http://schemas.microsoft.com/office/drawing/2014/main" id="{8E287F2A-6191-16C3-576B-54D5159AB371}"/>
              </a:ext>
            </a:extLst>
          </p:cNvPr>
          <p:cNvCxnSpPr>
            <a:cxnSpLocks/>
            <a:stCxn id="268" idx="3"/>
            <a:endCxn id="291" idx="1"/>
          </p:cNvCxnSpPr>
          <p:nvPr/>
        </p:nvCxnSpPr>
        <p:spPr>
          <a:xfrm flipV="1">
            <a:off x="8199572" y="4479375"/>
            <a:ext cx="564356" cy="224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00454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object 153"/>
          <p:cNvSpPr txBox="1"/>
          <p:nvPr/>
        </p:nvSpPr>
        <p:spPr>
          <a:xfrm>
            <a:off x="75718" y="6658539"/>
            <a:ext cx="5729465" cy="158163"/>
          </a:xfrm>
          <a:prstGeom prst="rect">
            <a:avLst/>
          </a:prstGeom>
        </p:spPr>
        <p:txBody>
          <a:bodyPr vert="horz" wrap="square" lIns="0" tIns="4233" rIns="0" bIns="0" rtlCol="0">
            <a:spAutoFit/>
          </a:bodyPr>
          <a:lstStyle/>
          <a:p>
            <a:pPr marL="16933">
              <a:spcBef>
                <a:spcPts val="33"/>
              </a:spcBef>
            </a:pPr>
            <a:r>
              <a:rPr sz="1000">
                <a:latin typeface="Arial"/>
                <a:cs typeface="Arial"/>
              </a:rPr>
              <a:t>Bahdanau</a:t>
            </a:r>
            <a:r>
              <a:rPr sz="1000" spc="-27">
                <a:latin typeface="Arial"/>
                <a:cs typeface="Arial"/>
              </a:rPr>
              <a:t> </a:t>
            </a:r>
            <a:r>
              <a:rPr sz="1000">
                <a:latin typeface="Arial"/>
                <a:cs typeface="Arial"/>
              </a:rPr>
              <a:t>et</a:t>
            </a:r>
            <a:r>
              <a:rPr sz="1000" spc="-13">
                <a:latin typeface="Arial"/>
                <a:cs typeface="Arial"/>
              </a:rPr>
              <a:t> </a:t>
            </a:r>
            <a:r>
              <a:rPr sz="1000">
                <a:latin typeface="Arial"/>
                <a:cs typeface="Arial"/>
              </a:rPr>
              <a:t>al,</a:t>
            </a:r>
            <a:r>
              <a:rPr sz="1000" spc="-13">
                <a:latin typeface="Arial"/>
                <a:cs typeface="Arial"/>
              </a:rPr>
              <a:t> </a:t>
            </a:r>
            <a:r>
              <a:rPr sz="1000">
                <a:latin typeface="Arial"/>
                <a:cs typeface="Arial"/>
              </a:rPr>
              <a:t>“Neural</a:t>
            </a:r>
            <a:r>
              <a:rPr sz="1000" spc="-7">
                <a:latin typeface="Arial"/>
                <a:cs typeface="Arial"/>
              </a:rPr>
              <a:t> </a:t>
            </a:r>
            <a:r>
              <a:rPr sz="1000">
                <a:latin typeface="Arial"/>
                <a:cs typeface="Arial"/>
              </a:rPr>
              <a:t>machine</a:t>
            </a:r>
            <a:r>
              <a:rPr sz="1000" spc="-13">
                <a:latin typeface="Arial"/>
                <a:cs typeface="Arial"/>
              </a:rPr>
              <a:t> translation </a:t>
            </a:r>
            <a:r>
              <a:rPr sz="1000">
                <a:latin typeface="Arial"/>
                <a:cs typeface="Arial"/>
              </a:rPr>
              <a:t>by</a:t>
            </a:r>
            <a:r>
              <a:rPr sz="1000" spc="-7">
                <a:latin typeface="Arial"/>
                <a:cs typeface="Arial"/>
              </a:rPr>
              <a:t> </a:t>
            </a:r>
            <a:r>
              <a:rPr sz="1000">
                <a:latin typeface="Arial"/>
                <a:cs typeface="Arial"/>
              </a:rPr>
              <a:t>jointly</a:t>
            </a:r>
            <a:r>
              <a:rPr sz="1000" spc="-13">
                <a:latin typeface="Arial"/>
                <a:cs typeface="Arial"/>
              </a:rPr>
              <a:t> </a:t>
            </a:r>
            <a:r>
              <a:rPr sz="1000">
                <a:latin typeface="Arial"/>
                <a:cs typeface="Arial"/>
              </a:rPr>
              <a:t>learning</a:t>
            </a:r>
            <a:r>
              <a:rPr sz="1000" spc="-13">
                <a:latin typeface="Arial"/>
                <a:cs typeface="Arial"/>
              </a:rPr>
              <a:t> </a:t>
            </a:r>
            <a:r>
              <a:rPr sz="1000">
                <a:latin typeface="Arial"/>
                <a:cs typeface="Arial"/>
              </a:rPr>
              <a:t>to</a:t>
            </a:r>
            <a:r>
              <a:rPr sz="1000" spc="-13">
                <a:latin typeface="Arial"/>
                <a:cs typeface="Arial"/>
              </a:rPr>
              <a:t> </a:t>
            </a:r>
            <a:r>
              <a:rPr sz="1000">
                <a:latin typeface="Arial"/>
                <a:cs typeface="Arial"/>
              </a:rPr>
              <a:t>align</a:t>
            </a:r>
            <a:r>
              <a:rPr sz="1000" spc="-7">
                <a:latin typeface="Arial"/>
                <a:cs typeface="Arial"/>
              </a:rPr>
              <a:t> </a:t>
            </a:r>
            <a:r>
              <a:rPr sz="1000">
                <a:latin typeface="Arial"/>
                <a:cs typeface="Arial"/>
              </a:rPr>
              <a:t>and</a:t>
            </a:r>
            <a:r>
              <a:rPr sz="1000" spc="-13">
                <a:latin typeface="Arial"/>
                <a:cs typeface="Arial"/>
              </a:rPr>
              <a:t> translate”, </a:t>
            </a:r>
            <a:r>
              <a:rPr sz="1000">
                <a:latin typeface="Arial"/>
                <a:cs typeface="Arial"/>
              </a:rPr>
              <a:t>ICLR</a:t>
            </a:r>
            <a:r>
              <a:rPr lang="zh-CN" altLang="en-US" sz="1000" spc="-7">
                <a:latin typeface="Arial"/>
                <a:cs typeface="Arial"/>
              </a:rPr>
              <a:t> </a:t>
            </a:r>
            <a:r>
              <a:rPr sz="1000" spc="-27">
                <a:latin typeface="Arial"/>
                <a:cs typeface="Arial"/>
              </a:rPr>
              <a:t>201</a:t>
            </a:r>
            <a:r>
              <a:rPr lang="en-US" altLang="zh-CN" sz="1000" spc="-27">
                <a:latin typeface="Arial"/>
                <a:cs typeface="Arial"/>
              </a:rPr>
              <a:t>5</a:t>
            </a:r>
            <a:endParaRPr sz="2400">
              <a:latin typeface="Arial"/>
              <a:cs typeface="Arial"/>
            </a:endParaRPr>
          </a:p>
        </p:txBody>
      </p:sp>
      <mc:AlternateContent xmlns:mc="http://schemas.openxmlformats.org/markup-compatibility/2006" xmlns:a14="http://schemas.microsoft.com/office/drawing/2010/main">
        <mc:Choice Requires="a14">
          <p:sp>
            <p:nvSpPr>
              <p:cNvPr id="30" name="object 145">
                <a:extLst>
                  <a:ext uri="{FF2B5EF4-FFF2-40B4-BE49-F238E27FC236}">
                    <a16:creationId xmlns:a16="http://schemas.microsoft.com/office/drawing/2014/main" id="{684C3734-BB44-C99B-7B22-08A488A567B4}"/>
                  </a:ext>
                </a:extLst>
              </p:cNvPr>
              <p:cNvSpPr txBox="1"/>
              <p:nvPr/>
            </p:nvSpPr>
            <p:spPr>
              <a:xfrm>
                <a:off x="9906409" y="1614032"/>
                <a:ext cx="2306458" cy="917409"/>
              </a:xfrm>
              <a:prstGeom prst="rect">
                <a:avLst/>
              </a:prstGeom>
            </p:spPr>
            <p:txBody>
              <a:bodyPr vert="horz" wrap="square" lIns="0" tIns="16933" rIns="0" bIns="0" rtlCol="0">
                <a:spAutoFit/>
              </a:bodyPr>
              <a:lstStyle/>
              <a:p>
                <a:pPr marL="101597" marR="57572">
                  <a:spcBef>
                    <a:spcPts val="1773"/>
                  </a:spcBef>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𝑐</m:t>
                          </m:r>
                        </m:e>
                        <m:sub>
                          <m:r>
                            <a:rPr lang="en-US" sz="2000" b="0" i="1" smtClean="0">
                              <a:latin typeface="Cambria Math" panose="02040503050406030204" pitchFamily="18" charset="0"/>
                              <a:cs typeface="Calibri" panose="020F0502020204030204" pitchFamily="34" charset="0"/>
                            </a:rPr>
                            <m:t>𝑖</m:t>
                          </m:r>
                        </m:sub>
                      </m:sSub>
                      <m:r>
                        <a:rPr lang="en-US" sz="2000" b="0" i="1" smtClean="0">
                          <a:latin typeface="Cambria Math" panose="02040503050406030204" pitchFamily="18" charset="0"/>
                          <a:cs typeface="Calibri" panose="020F0502020204030204" pitchFamily="34" charset="0"/>
                        </a:rPr>
                        <m:t>=</m:t>
                      </m:r>
                      <m:nary>
                        <m:naryPr>
                          <m:chr m:val="∑"/>
                          <m:ctrlPr>
                            <a:rPr lang="en-US" sz="2000" b="0" i="1" smtClean="0">
                              <a:latin typeface="Cambria Math" panose="02040503050406030204" pitchFamily="18" charset="0"/>
                              <a:cs typeface="Calibri" panose="020F0502020204030204" pitchFamily="34" charset="0"/>
                            </a:rPr>
                          </m:ctrlPr>
                        </m:naryPr>
                        <m:sub>
                          <m:r>
                            <m:rPr>
                              <m:brk m:alnAt="23"/>
                            </m:rPr>
                            <a:rPr lang="en-US" sz="2000" b="0" i="1" smtClean="0">
                              <a:latin typeface="Cambria Math" panose="02040503050406030204" pitchFamily="18" charset="0"/>
                              <a:cs typeface="Calibri" panose="020F0502020204030204" pitchFamily="34" charset="0"/>
                            </a:rPr>
                            <m:t>𝑗</m:t>
                          </m:r>
                          <m:r>
                            <a:rPr lang="en-US" sz="2000" b="0" i="1" smtClean="0">
                              <a:latin typeface="Cambria Math" panose="02040503050406030204" pitchFamily="18" charset="0"/>
                              <a:cs typeface="Calibri" panose="020F0502020204030204" pitchFamily="34" charset="0"/>
                            </a:rPr>
                            <m:t>=1</m:t>
                          </m:r>
                        </m:sub>
                        <m:sup>
                          <m:r>
                            <a:rPr lang="en-US" sz="2000" b="0" i="1" smtClean="0">
                              <a:latin typeface="Cambria Math" panose="02040503050406030204" pitchFamily="18" charset="0"/>
                              <a:cs typeface="Calibri" panose="020F0502020204030204" pitchFamily="34" charset="0"/>
                            </a:rPr>
                            <m:t>𝑇</m:t>
                          </m:r>
                        </m:sup>
                        <m:e>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𝑎</m:t>
                              </m:r>
                            </m:e>
                            <m:sub>
                              <m:r>
                                <a:rPr lang="en-US" sz="2000" b="0" i="1" smtClean="0">
                                  <a:latin typeface="Cambria Math" panose="02040503050406030204" pitchFamily="18" charset="0"/>
                                  <a:cs typeface="Calibri" panose="020F0502020204030204" pitchFamily="34" charset="0"/>
                                </a:rPr>
                                <m:t>𝑖</m:t>
                              </m:r>
                              <m:r>
                                <a:rPr lang="en-US" sz="2000" b="0" i="1" smtClean="0">
                                  <a:latin typeface="Cambria Math" panose="02040503050406030204" pitchFamily="18" charset="0"/>
                                  <a:cs typeface="Calibri" panose="020F0502020204030204" pitchFamily="34" charset="0"/>
                                </a:rPr>
                                <m:t>,</m:t>
                              </m:r>
                              <m:r>
                                <a:rPr lang="en-US" sz="2000" b="0" i="1" smtClean="0">
                                  <a:latin typeface="Cambria Math" panose="02040503050406030204" pitchFamily="18" charset="0"/>
                                  <a:cs typeface="Calibri" panose="020F0502020204030204" pitchFamily="34" charset="0"/>
                                </a:rPr>
                                <m:t>𝑗</m:t>
                              </m:r>
                            </m:sub>
                          </m:sSub>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h</m:t>
                              </m:r>
                            </m:e>
                            <m:sub>
                              <m:r>
                                <a:rPr lang="en-US" sz="2000" b="0" i="1" smtClean="0">
                                  <a:latin typeface="Cambria Math" panose="02040503050406030204" pitchFamily="18" charset="0"/>
                                  <a:cs typeface="Calibri" panose="020F0502020204030204" pitchFamily="34" charset="0"/>
                                </a:rPr>
                                <m:t>𝑗</m:t>
                              </m:r>
                            </m:sub>
                          </m:sSub>
                        </m:e>
                      </m:nary>
                    </m:oMath>
                  </m:oMathPara>
                </a14:m>
                <a:endParaRPr sz="2000">
                  <a:latin typeface="Calibri" panose="020F0502020204030204" pitchFamily="34" charset="0"/>
                  <a:cs typeface="Calibri" panose="020F0502020204030204" pitchFamily="34" charset="0"/>
                </a:endParaRPr>
              </a:p>
            </p:txBody>
          </p:sp>
        </mc:Choice>
        <mc:Fallback xmlns="">
          <p:sp>
            <p:nvSpPr>
              <p:cNvPr id="30" name="object 145">
                <a:extLst>
                  <a:ext uri="{FF2B5EF4-FFF2-40B4-BE49-F238E27FC236}">
                    <a16:creationId xmlns:a16="http://schemas.microsoft.com/office/drawing/2014/main" id="{684C3734-BB44-C99B-7B22-08A488A567B4}"/>
                  </a:ext>
                </a:extLst>
              </p:cNvPr>
              <p:cNvSpPr txBox="1">
                <a:spLocks noRot="1" noChangeAspect="1" noMove="1" noResize="1" noEditPoints="1" noAdjustHandles="1" noChangeArrowheads="1" noChangeShapeType="1" noTextEdit="1"/>
              </p:cNvSpPr>
              <p:nvPr/>
            </p:nvSpPr>
            <p:spPr>
              <a:xfrm>
                <a:off x="9906409" y="1614032"/>
                <a:ext cx="2306458" cy="917409"/>
              </a:xfrm>
              <a:prstGeom prst="rect">
                <a:avLst/>
              </a:prstGeom>
              <a:blipFill>
                <a:blip r:embed="rId9"/>
                <a:stretch>
                  <a:fillRect l="-3846" t="-105479" b="-1602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object 82">
                <a:extLst>
                  <a:ext uri="{FF2B5EF4-FFF2-40B4-BE49-F238E27FC236}">
                    <a16:creationId xmlns:a16="http://schemas.microsoft.com/office/drawing/2014/main" id="{3FDF1348-C0E7-C34D-1DD9-116A84C150ED}"/>
                  </a:ext>
                </a:extLst>
              </p:cNvPr>
              <p:cNvSpPr txBox="1"/>
              <p:nvPr/>
            </p:nvSpPr>
            <p:spPr>
              <a:xfrm>
                <a:off x="7139749" y="1685556"/>
                <a:ext cx="2949432" cy="698119"/>
              </a:xfrm>
              <a:prstGeom prst="rect">
                <a:avLst/>
              </a:prstGeom>
            </p:spPr>
            <p:txBody>
              <a:bodyPr vert="horz" wrap="square" lIns="0" tIns="16933" rIns="0" bIns="0" rtlCol="0">
                <a:spAutoFit/>
              </a:bodyPr>
              <a:lstStyle/>
              <a:p>
                <a:pPr marL="84665" marR="40639">
                  <a:spcBef>
                    <a:spcPts val="133"/>
                  </a:spcBef>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𝑎</m:t>
                          </m:r>
                        </m:e>
                        <m:sub>
                          <m:r>
                            <a:rPr lang="en-US" sz="2000" b="0" i="1" smtClean="0">
                              <a:latin typeface="Cambria Math" panose="02040503050406030204" pitchFamily="18" charset="0"/>
                              <a:cs typeface="Calibri" panose="020F0502020204030204" pitchFamily="34" charset="0"/>
                            </a:rPr>
                            <m:t>𝑖</m:t>
                          </m:r>
                          <m:r>
                            <a:rPr lang="en-US" sz="2000" b="0" i="1" smtClean="0">
                              <a:latin typeface="Cambria Math" panose="02040503050406030204" pitchFamily="18" charset="0"/>
                              <a:cs typeface="Calibri" panose="020F0502020204030204" pitchFamily="34" charset="0"/>
                            </a:rPr>
                            <m:t>,</m:t>
                          </m:r>
                          <m:r>
                            <a:rPr lang="en-US" sz="2000" b="0" i="1" smtClean="0">
                              <a:latin typeface="Cambria Math" panose="02040503050406030204" pitchFamily="18" charset="0"/>
                              <a:cs typeface="Calibri" panose="020F0502020204030204" pitchFamily="34" charset="0"/>
                            </a:rPr>
                            <m:t>𝑗</m:t>
                          </m:r>
                        </m:sub>
                      </m:sSub>
                      <m:r>
                        <a:rPr lang="en-US" sz="2000" b="0" i="1" smtClean="0">
                          <a:latin typeface="Cambria Math" panose="02040503050406030204" pitchFamily="18" charset="0"/>
                          <a:cs typeface="Calibri" panose="020F0502020204030204" pitchFamily="34" charset="0"/>
                        </a:rPr>
                        <m:t>=</m:t>
                      </m:r>
                      <m:f>
                        <m:fPr>
                          <m:ctrlPr>
                            <a:rPr lang="en-US" sz="2000" b="0" i="1" smtClean="0">
                              <a:latin typeface="Cambria Math" panose="02040503050406030204" pitchFamily="18" charset="0"/>
                              <a:cs typeface="Calibri" panose="020F0502020204030204" pitchFamily="34" charset="0"/>
                            </a:rPr>
                          </m:ctrlPr>
                        </m:fPr>
                        <m:num>
                          <m:r>
                            <m:rPr>
                              <m:sty m:val="p"/>
                            </m:rPr>
                            <a:rPr lang="en-US" sz="2000" b="0" i="0" smtClean="0">
                              <a:latin typeface="Cambria Math" panose="02040503050406030204" pitchFamily="18" charset="0"/>
                              <a:cs typeface="Calibri" panose="020F0502020204030204" pitchFamily="34" charset="0"/>
                            </a:rPr>
                            <m:t>exp</m:t>
                          </m:r>
                          <m:r>
                            <a:rPr lang="en-US" sz="2000" b="0" i="1" smtClean="0">
                              <a:latin typeface="Cambria Math" panose="02040503050406030204" pitchFamily="18" charset="0"/>
                              <a:cs typeface="Calibri" panose="020F0502020204030204" pitchFamily="34" charset="0"/>
                            </a:rPr>
                            <m:t>⁡(</m:t>
                          </m:r>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𝑒</m:t>
                              </m:r>
                            </m:e>
                            <m:sub>
                              <m:r>
                                <a:rPr lang="en-US" sz="2000" b="0" i="1" smtClean="0">
                                  <a:latin typeface="Cambria Math" panose="02040503050406030204" pitchFamily="18" charset="0"/>
                                  <a:cs typeface="Calibri" panose="020F0502020204030204" pitchFamily="34" charset="0"/>
                                </a:rPr>
                                <m:t>𝑖</m:t>
                              </m:r>
                              <m:r>
                                <a:rPr lang="en-US" sz="2000" b="0" i="1" smtClean="0">
                                  <a:latin typeface="Cambria Math" panose="02040503050406030204" pitchFamily="18" charset="0"/>
                                  <a:cs typeface="Calibri" panose="020F0502020204030204" pitchFamily="34" charset="0"/>
                                </a:rPr>
                                <m:t>,</m:t>
                              </m:r>
                              <m:r>
                                <a:rPr lang="en-US" sz="2000" b="0" i="1" smtClean="0">
                                  <a:latin typeface="Cambria Math" panose="02040503050406030204" pitchFamily="18" charset="0"/>
                                  <a:cs typeface="Calibri" panose="020F0502020204030204" pitchFamily="34" charset="0"/>
                                </a:rPr>
                                <m:t>𝑗</m:t>
                              </m:r>
                            </m:sub>
                          </m:sSub>
                          <m:r>
                            <a:rPr lang="en-US" sz="2000" b="0" i="1" smtClean="0">
                              <a:latin typeface="Cambria Math" panose="02040503050406030204" pitchFamily="18" charset="0"/>
                              <a:cs typeface="Calibri" panose="020F0502020204030204" pitchFamily="34" charset="0"/>
                            </a:rPr>
                            <m:t>)</m:t>
                          </m:r>
                        </m:num>
                        <m:den>
                          <m:nary>
                            <m:naryPr>
                              <m:chr m:val="∑"/>
                              <m:ctrlPr>
                                <a:rPr lang="en-US" sz="2000" b="0" i="1" smtClean="0">
                                  <a:latin typeface="Cambria Math" panose="02040503050406030204" pitchFamily="18" charset="0"/>
                                  <a:cs typeface="Calibri" panose="020F0502020204030204" pitchFamily="34" charset="0"/>
                                </a:rPr>
                              </m:ctrlPr>
                            </m:naryPr>
                            <m:sub>
                              <m:r>
                                <m:rPr>
                                  <m:brk m:alnAt="23"/>
                                </m:rPr>
                                <a:rPr lang="en-US" sz="2000" b="0" i="1" smtClean="0">
                                  <a:latin typeface="Cambria Math" panose="02040503050406030204" pitchFamily="18" charset="0"/>
                                  <a:cs typeface="Calibri" panose="020F0502020204030204" pitchFamily="34" charset="0"/>
                                </a:rPr>
                                <m:t>𝑘</m:t>
                              </m:r>
                              <m:r>
                                <a:rPr lang="en-US" sz="2000" b="0" i="1" smtClean="0">
                                  <a:latin typeface="Cambria Math" panose="02040503050406030204" pitchFamily="18" charset="0"/>
                                  <a:cs typeface="Calibri" panose="020F0502020204030204" pitchFamily="34" charset="0"/>
                                </a:rPr>
                                <m:t>=1</m:t>
                              </m:r>
                            </m:sub>
                            <m:sup>
                              <m:r>
                                <a:rPr lang="en-US" sz="2000" b="0" i="1" smtClean="0">
                                  <a:latin typeface="Cambria Math" panose="02040503050406030204" pitchFamily="18" charset="0"/>
                                  <a:cs typeface="Calibri" panose="020F0502020204030204" pitchFamily="34" charset="0"/>
                                </a:rPr>
                                <m:t>𝑇</m:t>
                              </m:r>
                            </m:sup>
                            <m:e>
                              <m:r>
                                <m:rPr>
                                  <m:sty m:val="p"/>
                                </m:rPr>
                                <a:rPr lang="en-US" sz="2000" b="0" i="0" smtClean="0">
                                  <a:latin typeface="Cambria Math" panose="02040503050406030204" pitchFamily="18" charset="0"/>
                                  <a:cs typeface="Calibri" panose="020F0502020204030204" pitchFamily="34" charset="0"/>
                                </a:rPr>
                                <m:t>exp</m:t>
                              </m:r>
                              <m:r>
                                <a:rPr lang="en-US" sz="2000" b="0" i="1" smtClean="0">
                                  <a:latin typeface="Cambria Math" panose="02040503050406030204" pitchFamily="18" charset="0"/>
                                  <a:cs typeface="Calibri" panose="020F0502020204030204" pitchFamily="34" charset="0"/>
                                </a:rPr>
                                <m:t>⁡(</m:t>
                              </m:r>
                              <m:sSub>
                                <m:sSubPr>
                                  <m:ctrlPr>
                                    <a:rPr lang="en-US" sz="2000" b="0" i="1" smtClean="0">
                                      <a:latin typeface="Cambria Math" panose="02040503050406030204" pitchFamily="18" charset="0"/>
                                      <a:cs typeface="Calibri" panose="020F0502020204030204" pitchFamily="34" charset="0"/>
                                    </a:rPr>
                                  </m:ctrlPr>
                                </m:sSubPr>
                                <m:e>
                                  <m:r>
                                    <a:rPr lang="en-US" sz="2000" b="0" i="1" smtClean="0">
                                      <a:latin typeface="Cambria Math" panose="02040503050406030204" pitchFamily="18" charset="0"/>
                                      <a:cs typeface="Calibri" panose="020F0502020204030204" pitchFamily="34" charset="0"/>
                                    </a:rPr>
                                    <m:t>𝑒</m:t>
                                  </m:r>
                                </m:e>
                                <m:sub>
                                  <m:r>
                                    <a:rPr lang="en-US" sz="2000" b="0" i="1" smtClean="0">
                                      <a:latin typeface="Cambria Math" panose="02040503050406030204" pitchFamily="18" charset="0"/>
                                      <a:cs typeface="Calibri" panose="020F0502020204030204" pitchFamily="34" charset="0"/>
                                    </a:rPr>
                                    <m:t>𝑖</m:t>
                                  </m:r>
                                  <m:r>
                                    <a:rPr lang="en-US" sz="2000" b="0" i="1" smtClean="0">
                                      <a:latin typeface="Cambria Math" panose="02040503050406030204" pitchFamily="18" charset="0"/>
                                      <a:cs typeface="Calibri" panose="020F0502020204030204" pitchFamily="34" charset="0"/>
                                    </a:rPr>
                                    <m:t>,</m:t>
                                  </m:r>
                                  <m:r>
                                    <a:rPr lang="en-US" sz="2000" b="0" i="1" smtClean="0">
                                      <a:latin typeface="Cambria Math" panose="02040503050406030204" pitchFamily="18" charset="0"/>
                                      <a:cs typeface="Calibri" panose="020F0502020204030204" pitchFamily="34" charset="0"/>
                                    </a:rPr>
                                    <m:t>𝑘</m:t>
                                  </m:r>
                                </m:sub>
                              </m:sSub>
                              <m:r>
                                <a:rPr lang="en-US" sz="2000" b="0" i="1" smtClean="0">
                                  <a:latin typeface="Cambria Math" panose="02040503050406030204" pitchFamily="18" charset="0"/>
                                  <a:cs typeface="Calibri" panose="020F0502020204030204" pitchFamily="34" charset="0"/>
                                </a:rPr>
                                <m:t>)</m:t>
                              </m:r>
                            </m:e>
                          </m:nary>
                        </m:den>
                      </m:f>
                    </m:oMath>
                  </m:oMathPara>
                </a14:m>
                <a:endParaRPr sz="2000">
                  <a:latin typeface="Calibri" panose="020F0502020204030204" pitchFamily="34" charset="0"/>
                  <a:cs typeface="Calibri" panose="020F0502020204030204" pitchFamily="34" charset="0"/>
                </a:endParaRPr>
              </a:p>
            </p:txBody>
          </p:sp>
        </mc:Choice>
        <mc:Fallback xmlns="">
          <p:sp>
            <p:nvSpPr>
              <p:cNvPr id="42" name="object 82">
                <a:extLst>
                  <a:ext uri="{FF2B5EF4-FFF2-40B4-BE49-F238E27FC236}">
                    <a16:creationId xmlns:a16="http://schemas.microsoft.com/office/drawing/2014/main" id="{3FDF1348-C0E7-C34D-1DD9-116A84C150ED}"/>
                  </a:ext>
                </a:extLst>
              </p:cNvPr>
              <p:cNvSpPr txBox="1">
                <a:spLocks noRot="1" noChangeAspect="1" noMove="1" noResize="1" noEditPoints="1" noAdjustHandles="1" noChangeArrowheads="1" noChangeShapeType="1" noTextEdit="1"/>
              </p:cNvSpPr>
              <p:nvPr/>
            </p:nvSpPr>
            <p:spPr>
              <a:xfrm>
                <a:off x="7139749" y="1685556"/>
                <a:ext cx="2949432" cy="698119"/>
              </a:xfrm>
              <a:prstGeom prst="rect">
                <a:avLst/>
              </a:prstGeom>
              <a:blipFill>
                <a:blip r:embed="rId10"/>
                <a:stretch>
                  <a:fillRect t="-21429" b="-10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C55E5D94-1559-7B30-866D-CB62E01A5B54}"/>
                  </a:ext>
                </a:extLst>
              </p:cNvPr>
              <p:cNvSpPr txBox="1"/>
              <p:nvPr/>
            </p:nvSpPr>
            <p:spPr>
              <a:xfrm>
                <a:off x="8878448" y="1022105"/>
                <a:ext cx="1861985" cy="3324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𝑒</m:t>
                          </m:r>
                        </m:e>
                        <m:sub>
                          <m:r>
                            <a:rPr lang="en-US" sz="2000" b="0" i="1" smtClean="0">
                              <a:latin typeface="Cambria Math" panose="02040503050406030204" pitchFamily="18" charset="0"/>
                            </a:rPr>
                            <m:t>𝑖</m:t>
                          </m:r>
                          <m:r>
                            <a:rPr lang="en-US" sz="2000" b="0" i="1" smtClean="0">
                              <a:latin typeface="Cambria Math" panose="02040503050406030204" pitchFamily="18" charset="0"/>
                            </a:rPr>
                            <m:t>,</m:t>
                          </m:r>
                          <m:r>
                            <a:rPr lang="en-US" sz="2000" b="0" i="1" smtClean="0">
                              <a:latin typeface="Cambria Math" panose="02040503050406030204" pitchFamily="18" charset="0"/>
                            </a:rPr>
                            <m:t>𝑗</m:t>
                          </m:r>
                        </m:sub>
                      </m:sSub>
                      <m:r>
                        <a:rPr lang="en-US" sz="2000" b="0" i="1" smtClean="0">
                          <a:latin typeface="Cambria Math" panose="02040503050406030204" pitchFamily="18" charset="0"/>
                        </a:rPr>
                        <m:t>=</m:t>
                      </m:r>
                      <m:r>
                        <a:rPr lang="en-US" sz="2000" b="0" i="1" smtClean="0">
                          <a:latin typeface="Cambria Math" panose="02040503050406030204" pitchFamily="18" charset="0"/>
                        </a:rPr>
                        <m:t>𝑎</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𝑖</m:t>
                          </m:r>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h</m:t>
                          </m:r>
                        </m:e>
                        <m:sub>
                          <m:r>
                            <a:rPr lang="en-US" sz="2000" b="0" i="1" smtClean="0">
                              <a:latin typeface="Cambria Math" panose="02040503050406030204" pitchFamily="18" charset="0"/>
                            </a:rPr>
                            <m:t>𝑗</m:t>
                          </m:r>
                        </m:sub>
                      </m:sSub>
                      <m:r>
                        <a:rPr lang="en-US" sz="2000" b="0" i="1" smtClean="0">
                          <a:latin typeface="Cambria Math" panose="02040503050406030204" pitchFamily="18" charset="0"/>
                        </a:rPr>
                        <m:t>)</m:t>
                      </m:r>
                    </m:oMath>
                  </m:oMathPara>
                </a14:m>
                <a:endParaRPr lang="en-US" sz="2000"/>
              </a:p>
            </p:txBody>
          </p:sp>
        </mc:Choice>
        <mc:Fallback xmlns="">
          <p:sp>
            <p:nvSpPr>
              <p:cNvPr id="43" name="TextBox 42">
                <a:extLst>
                  <a:ext uri="{FF2B5EF4-FFF2-40B4-BE49-F238E27FC236}">
                    <a16:creationId xmlns:a16="http://schemas.microsoft.com/office/drawing/2014/main" id="{C55E5D94-1559-7B30-866D-CB62E01A5B54}"/>
                  </a:ext>
                </a:extLst>
              </p:cNvPr>
              <p:cNvSpPr txBox="1">
                <a:spLocks noRot="1" noChangeAspect="1" noMove="1" noResize="1" noEditPoints="1" noAdjustHandles="1" noChangeArrowheads="1" noChangeShapeType="1" noTextEdit="1"/>
              </p:cNvSpPr>
              <p:nvPr/>
            </p:nvSpPr>
            <p:spPr>
              <a:xfrm>
                <a:off x="8878448" y="1022105"/>
                <a:ext cx="1861985" cy="332463"/>
              </a:xfrm>
              <a:prstGeom prst="rect">
                <a:avLst/>
              </a:prstGeom>
              <a:blipFill>
                <a:blip r:embed="rId11"/>
                <a:stretch>
                  <a:fillRect l="-676" r="-4054" b="-25926"/>
                </a:stretch>
              </a:blipFill>
            </p:spPr>
            <p:txBody>
              <a:bodyPr/>
              <a:lstStyle/>
              <a:p>
                <a:r>
                  <a:rPr lang="en-US">
                    <a:noFill/>
                  </a:rPr>
                  <a:t> </a:t>
                </a:r>
              </a:p>
            </p:txBody>
          </p:sp>
        </mc:Fallback>
      </mc:AlternateContent>
      <p:grpSp>
        <p:nvGrpSpPr>
          <p:cNvPr id="46" name="Group 45">
            <a:extLst>
              <a:ext uri="{FF2B5EF4-FFF2-40B4-BE49-F238E27FC236}">
                <a16:creationId xmlns:a16="http://schemas.microsoft.com/office/drawing/2014/main" id="{5A3D7C49-C1A2-48CD-FEC3-6EE6071D4608}"/>
              </a:ext>
            </a:extLst>
          </p:cNvPr>
          <p:cNvGrpSpPr/>
          <p:nvPr/>
        </p:nvGrpSpPr>
        <p:grpSpPr>
          <a:xfrm>
            <a:off x="0" y="-1589"/>
            <a:ext cx="12191999" cy="768585"/>
            <a:chOff x="0" y="-1589"/>
            <a:chExt cx="12191999" cy="768585"/>
          </a:xfrm>
        </p:grpSpPr>
        <p:grpSp>
          <p:nvGrpSpPr>
            <p:cNvPr id="47" name="Group 9">
              <a:extLst>
                <a:ext uri="{FF2B5EF4-FFF2-40B4-BE49-F238E27FC236}">
                  <a16:creationId xmlns:a16="http://schemas.microsoft.com/office/drawing/2014/main" id="{C9128F22-10C6-752C-C4EC-4A98F95C1FB9}"/>
                </a:ext>
              </a:extLst>
            </p:cNvPr>
            <p:cNvGrpSpPr>
              <a:grpSpLocks noChangeAspect="1"/>
            </p:cNvGrpSpPr>
            <p:nvPr/>
          </p:nvGrpSpPr>
          <p:grpSpPr bwMode="auto">
            <a:xfrm>
              <a:off x="0" y="-1589"/>
              <a:ext cx="12191999" cy="767234"/>
              <a:chOff x="-1" y="-1"/>
              <a:chExt cx="7719" cy="568"/>
            </a:xfrm>
          </p:grpSpPr>
          <p:sp>
            <p:nvSpPr>
              <p:cNvPr id="50" name="Freeform 49">
                <a:extLst>
                  <a:ext uri="{FF2B5EF4-FFF2-40B4-BE49-F238E27FC236}">
                    <a16:creationId xmlns:a16="http://schemas.microsoft.com/office/drawing/2014/main" id="{0DD5448A-0B17-8209-8147-B43F0D894F8B}"/>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51" name="AutoShape 8">
                <a:extLst>
                  <a:ext uri="{FF2B5EF4-FFF2-40B4-BE49-F238E27FC236}">
                    <a16:creationId xmlns:a16="http://schemas.microsoft.com/office/drawing/2014/main" id="{A2F1B84F-B7C8-B5C2-1DBC-578A085828D9}"/>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48" name="任意多边形: 形状 12">
              <a:extLst>
                <a:ext uri="{FF2B5EF4-FFF2-40B4-BE49-F238E27FC236}">
                  <a16:creationId xmlns:a16="http://schemas.microsoft.com/office/drawing/2014/main" id="{D2FC44A7-45DE-0651-8CF5-4B134DF12F3F}"/>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49" name="文本框 18">
              <a:extLst>
                <a:ext uri="{FF2B5EF4-FFF2-40B4-BE49-F238E27FC236}">
                  <a16:creationId xmlns:a16="http://schemas.microsoft.com/office/drawing/2014/main" id="{BA2745B0-62EE-4057-2FC0-2E0D7790CB98}"/>
                </a:ext>
              </a:extLst>
            </p:cNvPr>
            <p:cNvSpPr txBox="1"/>
            <p:nvPr/>
          </p:nvSpPr>
          <p:spPr>
            <a:xfrm>
              <a:off x="350439" y="120418"/>
              <a:ext cx="3477234" cy="523220"/>
            </a:xfrm>
            <a:prstGeom prst="rect">
              <a:avLst/>
            </a:prstGeom>
            <a:noFill/>
          </p:spPr>
          <p:txBody>
            <a:bodyPr wrap="none" rtlCol="0">
              <a:spAutoFit/>
            </a:bodyPr>
            <a:lstStyle/>
            <a:p>
              <a:pPr>
                <a:defRPr/>
              </a:pPr>
              <a:r>
                <a:rPr lang="zh-CN" altLang="en-US" sz="2800" b="1">
                  <a:solidFill>
                    <a:prstClr val="white"/>
                  </a:solidFill>
                  <a:cs typeface="+mn-ea"/>
                  <a:sym typeface="+mn-lt"/>
                </a:rPr>
                <a:t>在</a:t>
              </a:r>
              <a:r>
                <a:rPr lang="en-US" altLang="zh-CN" sz="2800" b="1">
                  <a:solidFill>
                    <a:prstClr val="white"/>
                  </a:solidFill>
                  <a:cs typeface="+mn-ea"/>
                  <a:sym typeface="+mn-lt"/>
                </a:rPr>
                <a:t>RNN</a:t>
              </a:r>
              <a:r>
                <a:rPr lang="zh-CN" altLang="en-US" sz="2800" b="1">
                  <a:solidFill>
                    <a:prstClr val="white"/>
                  </a:solidFill>
                  <a:cs typeface="+mn-ea"/>
                  <a:sym typeface="+mn-lt"/>
                </a:rPr>
                <a:t>中使用注意力</a:t>
              </a:r>
            </a:p>
          </p:txBody>
        </p:sp>
      </p:grpSp>
      <p:sp>
        <p:nvSpPr>
          <p:cNvPr id="53" name="Content Placeholder 52">
            <a:extLst>
              <a:ext uri="{FF2B5EF4-FFF2-40B4-BE49-F238E27FC236}">
                <a16:creationId xmlns:a16="http://schemas.microsoft.com/office/drawing/2014/main" id="{1BB737C5-BC5A-5875-795C-1F8E1C72F093}"/>
              </a:ext>
            </a:extLst>
          </p:cNvPr>
          <p:cNvSpPr>
            <a:spLocks noGrp="1"/>
          </p:cNvSpPr>
          <p:nvPr>
            <p:ph idx="1"/>
          </p:nvPr>
        </p:nvSpPr>
        <p:spPr>
          <a:xfrm>
            <a:off x="657774" y="890940"/>
            <a:ext cx="6768268" cy="2823207"/>
          </a:xfrm>
        </p:spPr>
        <p:txBody>
          <a:bodyPr>
            <a:normAutofit fontScale="92500"/>
          </a:bodyPr>
          <a:lstStyle/>
          <a:p>
            <a:pPr marL="457200" indent="-457200" algn="just">
              <a:lnSpc>
                <a:spcPct val="130000"/>
              </a:lnSpc>
              <a:buFont typeface="Wingdings" panose="05000000000000000000" pitchFamily="2" charset="2"/>
              <a:buChar char="p"/>
              <a:defRPr/>
            </a:pPr>
            <a:r>
              <a:rPr lang="zh-CN" altLang="en-US" sz="2600"/>
              <a:t>在解码器的每个时间步使用不同的上下文向量</a:t>
            </a:r>
            <a:endParaRPr lang="en-US" altLang="zh-CN" sz="2600"/>
          </a:p>
          <a:p>
            <a:pPr marL="457200" indent="-457200" algn="just">
              <a:lnSpc>
                <a:spcPct val="130000"/>
              </a:lnSpc>
              <a:buFont typeface="Wingdings" panose="05000000000000000000" pitchFamily="2" charset="2"/>
              <a:buChar char="p"/>
              <a:defRPr/>
            </a:pPr>
            <a:r>
              <a:rPr lang="zh-CN" altLang="en-US" sz="2600"/>
              <a:t>输入序列不会被单一向量所限制（不会形成瓶颈）</a:t>
            </a:r>
            <a:endParaRPr lang="en-US" altLang="zh-CN" sz="2600"/>
          </a:p>
          <a:p>
            <a:pPr marL="457200" indent="-457200" algn="just">
              <a:lnSpc>
                <a:spcPct val="130000"/>
              </a:lnSpc>
              <a:buFont typeface="Wingdings" panose="05000000000000000000" pitchFamily="2" charset="2"/>
              <a:buChar char="p"/>
              <a:defRPr/>
            </a:pPr>
            <a:r>
              <a:rPr lang="zh-CN" altLang="en-US" sz="2600"/>
              <a:t>在解码器的每个时间步，上下文向量会“关注”输入序列的不同部分</a:t>
            </a:r>
          </a:p>
          <a:p>
            <a:endParaRPr lang="en-US"/>
          </a:p>
        </p:txBody>
      </p:sp>
      <p:sp>
        <p:nvSpPr>
          <p:cNvPr id="56" name="object 8">
            <a:extLst>
              <a:ext uri="{FF2B5EF4-FFF2-40B4-BE49-F238E27FC236}">
                <a16:creationId xmlns:a16="http://schemas.microsoft.com/office/drawing/2014/main" id="{79520C08-2636-47C4-32E4-779CD16DB8FA}"/>
              </a:ext>
            </a:extLst>
          </p:cNvPr>
          <p:cNvSpPr txBox="1"/>
          <p:nvPr/>
        </p:nvSpPr>
        <p:spPr>
          <a:xfrm>
            <a:off x="692227" y="5627077"/>
            <a:ext cx="323772" cy="294097"/>
          </a:xfrm>
          <a:prstGeom prst="rect">
            <a:avLst/>
          </a:prstGeom>
        </p:spPr>
        <p:txBody>
          <a:bodyPr vert="horz" wrap="square" lIns="0" tIns="16933" rIns="0" bIns="0" rtlCol="0" anchor="t">
            <a:spAutoFit/>
          </a:bodyPr>
          <a:lstStyle/>
          <a:p>
            <a:pPr marL="16510">
              <a:spcBef>
                <a:spcPts val="133"/>
              </a:spcBef>
            </a:pPr>
            <a:r>
              <a:rPr lang="zh-CN" spc="-33">
                <a:latin typeface="Microsoft YaHei" panose="020B0503020204020204" pitchFamily="34" charset="-122"/>
                <a:ea typeface="Microsoft YaHei" panose="020B0503020204020204" pitchFamily="34" charset="-122"/>
                <a:cs typeface="Calibri"/>
              </a:rPr>
              <a:t>我</a:t>
            </a:r>
            <a:endParaRPr lang="zh-CN" altLang="en-US">
              <a:latin typeface="Microsoft YaHei" panose="020B0503020204020204" pitchFamily="34" charset="-122"/>
              <a:ea typeface="Microsoft YaHei" panose="020B0503020204020204" pitchFamily="34" charset="-122"/>
              <a:cs typeface="Calibri" panose="020F0502020204030204" pitchFamily="34" charset="0"/>
            </a:endParaRPr>
          </a:p>
        </p:txBody>
      </p:sp>
      <p:sp>
        <p:nvSpPr>
          <p:cNvPr id="58" name="object 9">
            <a:extLst>
              <a:ext uri="{FF2B5EF4-FFF2-40B4-BE49-F238E27FC236}">
                <a16:creationId xmlns:a16="http://schemas.microsoft.com/office/drawing/2014/main" id="{58805CD0-4197-A1D3-E24B-1C232ADDD247}"/>
              </a:ext>
            </a:extLst>
          </p:cNvPr>
          <p:cNvSpPr txBox="1"/>
          <p:nvPr/>
        </p:nvSpPr>
        <p:spPr>
          <a:xfrm>
            <a:off x="1553348" y="5627077"/>
            <a:ext cx="360445" cy="294097"/>
          </a:xfrm>
          <a:prstGeom prst="rect">
            <a:avLst/>
          </a:prstGeom>
        </p:spPr>
        <p:txBody>
          <a:bodyPr vert="horz" wrap="square" lIns="0" tIns="16933" rIns="0" bIns="0" rtlCol="0" anchor="t">
            <a:spAutoFit/>
          </a:bodyPr>
          <a:lstStyle/>
          <a:p>
            <a:pPr marL="16510">
              <a:spcBef>
                <a:spcPts val="133"/>
              </a:spcBef>
            </a:pPr>
            <a:r>
              <a:rPr lang="zh-CN" spc="-33">
                <a:latin typeface="Microsoft YaHei" panose="020B0503020204020204" pitchFamily="34" charset="-122"/>
                <a:ea typeface="Microsoft YaHei" panose="020B0503020204020204" pitchFamily="34" charset="-122"/>
                <a:cs typeface="Calibri"/>
              </a:rPr>
              <a:t>买</a:t>
            </a:r>
            <a:endParaRPr lang="zh-CN" altLang="en-US">
              <a:latin typeface="Microsoft YaHei" panose="020B0503020204020204" pitchFamily="34" charset="-122"/>
              <a:ea typeface="Microsoft YaHei" panose="020B0503020204020204" pitchFamily="34" charset="-122"/>
              <a:cs typeface="Calibri" panose="020F0502020204030204" pitchFamily="34" charset="0"/>
            </a:endParaRPr>
          </a:p>
        </p:txBody>
      </p:sp>
      <p:sp>
        <p:nvSpPr>
          <p:cNvPr id="60" name="object 10">
            <a:extLst>
              <a:ext uri="{FF2B5EF4-FFF2-40B4-BE49-F238E27FC236}">
                <a16:creationId xmlns:a16="http://schemas.microsoft.com/office/drawing/2014/main" id="{19199952-0A2B-BEEE-441E-E09796C8C9DB}"/>
              </a:ext>
            </a:extLst>
          </p:cNvPr>
          <p:cNvSpPr txBox="1"/>
          <p:nvPr/>
        </p:nvSpPr>
        <p:spPr>
          <a:xfrm>
            <a:off x="2375045" y="5627077"/>
            <a:ext cx="641258" cy="294097"/>
          </a:xfrm>
          <a:prstGeom prst="rect">
            <a:avLst/>
          </a:prstGeom>
        </p:spPr>
        <p:txBody>
          <a:bodyPr vert="horz" wrap="square" lIns="0" tIns="16933" rIns="0" bIns="0" rtlCol="0" anchor="t">
            <a:spAutoFit/>
          </a:bodyPr>
          <a:lstStyle/>
          <a:p>
            <a:pPr marL="16510" algn="ctr">
              <a:spcBef>
                <a:spcPts val="133"/>
              </a:spcBef>
            </a:pPr>
            <a:r>
              <a:rPr lang="zh-CN" spc="-13">
                <a:latin typeface="Microsoft YaHei" panose="020B0503020204020204" pitchFamily="34" charset="-122"/>
                <a:ea typeface="Microsoft YaHei" panose="020B0503020204020204" pitchFamily="34" charset="-122"/>
                <a:cs typeface="Calibri"/>
              </a:rPr>
              <a:t>了</a:t>
            </a:r>
            <a:endParaRPr lang="zh-CN" altLang="en-US">
              <a:latin typeface="Microsoft YaHei" panose="020B0503020204020204" pitchFamily="34" charset="-122"/>
              <a:ea typeface="Microsoft YaHei" panose="020B0503020204020204" pitchFamily="34" charset="-122"/>
              <a:cs typeface="Calibri" panose="020F0502020204030204" pitchFamily="34" charset="0"/>
            </a:endParaRPr>
          </a:p>
        </p:txBody>
      </p:sp>
      <p:sp>
        <p:nvSpPr>
          <p:cNvPr id="61" name="object 24">
            <a:extLst>
              <a:ext uri="{FF2B5EF4-FFF2-40B4-BE49-F238E27FC236}">
                <a16:creationId xmlns:a16="http://schemas.microsoft.com/office/drawing/2014/main" id="{7D2D4334-CCEF-1BCD-D297-F19A5D12AA09}"/>
              </a:ext>
            </a:extLst>
          </p:cNvPr>
          <p:cNvSpPr txBox="1"/>
          <p:nvPr/>
        </p:nvSpPr>
        <p:spPr>
          <a:xfrm>
            <a:off x="3333099" y="5627077"/>
            <a:ext cx="604585" cy="294097"/>
          </a:xfrm>
          <a:prstGeom prst="rect">
            <a:avLst/>
          </a:prstGeom>
        </p:spPr>
        <p:txBody>
          <a:bodyPr vert="horz" wrap="square" lIns="0" tIns="16933" rIns="0" bIns="0" rtlCol="0" anchor="t">
            <a:spAutoFit/>
          </a:bodyPr>
          <a:lstStyle/>
          <a:p>
            <a:pPr marL="16510" algn="ctr">
              <a:spcBef>
                <a:spcPts val="133"/>
              </a:spcBef>
            </a:pPr>
            <a:r>
              <a:rPr lang="zh-CN" altLang="en-US" spc="-13" dirty="0">
                <a:latin typeface="Microsoft YaHei" panose="020B0503020204020204" pitchFamily="34" charset="-122"/>
                <a:ea typeface="Microsoft YaHei" panose="020B0503020204020204" pitchFamily="34" charset="-122"/>
                <a:cs typeface="Calibri"/>
              </a:rPr>
              <a:t>书</a:t>
            </a:r>
            <a:endParaRPr lang="zh-CN" altLang="en-US" dirty="0">
              <a:latin typeface="Microsoft YaHei" panose="020B0503020204020204" pitchFamily="34" charset="-122"/>
              <a:ea typeface="Microsoft YaHei" panose="020B0503020204020204" pitchFamily="34" charset="-122"/>
              <a:cs typeface="Calibri" panose="020F0502020204030204" pitchFamily="34" charset="0"/>
            </a:endParaRPr>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DE8B880C-016A-1517-B99F-233BBD669D88}"/>
                  </a:ext>
                </a:extLst>
              </p:cNvPr>
              <p:cNvSpPr txBox="1"/>
              <p:nvPr/>
            </p:nvSpPr>
            <p:spPr>
              <a:xfrm>
                <a:off x="3056823" y="5662965"/>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62" name="TextBox 61">
                <a:extLst>
                  <a:ext uri="{FF2B5EF4-FFF2-40B4-BE49-F238E27FC236}">
                    <a16:creationId xmlns:a16="http://schemas.microsoft.com/office/drawing/2014/main" id="{DE8B880C-016A-1517-B99F-233BBD669D88}"/>
                  </a:ext>
                </a:extLst>
              </p:cNvPr>
              <p:cNvSpPr txBox="1">
                <a:spLocks noRot="1" noChangeAspect="1" noMove="1" noResize="1" noEditPoints="1" noAdjustHandles="1" noChangeArrowheads="1" noChangeShapeType="1" noTextEdit="1"/>
              </p:cNvSpPr>
              <p:nvPr/>
            </p:nvSpPr>
            <p:spPr>
              <a:xfrm>
                <a:off x="3056823" y="5662965"/>
                <a:ext cx="329532" cy="246221"/>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46464E78-DA87-EEC6-5F62-A185925D4156}"/>
                  </a:ext>
                </a:extLst>
              </p:cNvPr>
              <p:cNvSpPr txBox="1"/>
              <p:nvPr/>
            </p:nvSpPr>
            <p:spPr>
              <a:xfrm>
                <a:off x="614540" y="5022798"/>
                <a:ext cx="47198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oMath>
                  </m:oMathPara>
                </a14:m>
                <a:endParaRPr lang="en-US" dirty="0"/>
              </a:p>
            </p:txBody>
          </p:sp>
        </mc:Choice>
        <mc:Fallback xmlns="">
          <p:sp>
            <p:nvSpPr>
              <p:cNvPr id="63" name="TextBox 62">
                <a:extLst>
                  <a:ext uri="{FF2B5EF4-FFF2-40B4-BE49-F238E27FC236}">
                    <a16:creationId xmlns:a16="http://schemas.microsoft.com/office/drawing/2014/main" id="{46464E78-DA87-EEC6-5F62-A185925D4156}"/>
                  </a:ext>
                </a:extLst>
              </p:cNvPr>
              <p:cNvSpPr txBox="1">
                <a:spLocks noRot="1" noChangeAspect="1" noMove="1" noResize="1" noEditPoints="1" noAdjustHandles="1" noChangeArrowheads="1" noChangeShapeType="1" noTextEdit="1"/>
              </p:cNvSpPr>
              <p:nvPr/>
            </p:nvSpPr>
            <p:spPr>
              <a:xfrm>
                <a:off x="614540" y="5022798"/>
                <a:ext cx="471989"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9FCB4058-8571-882C-656C-A82532DCA006}"/>
                  </a:ext>
                </a:extLst>
              </p:cNvPr>
              <p:cNvSpPr txBox="1"/>
              <p:nvPr/>
            </p:nvSpPr>
            <p:spPr>
              <a:xfrm>
                <a:off x="1494969" y="5022798"/>
                <a:ext cx="47731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oMath>
                  </m:oMathPara>
                </a14:m>
                <a:endParaRPr lang="en-US" dirty="0"/>
              </a:p>
            </p:txBody>
          </p:sp>
        </mc:Choice>
        <mc:Fallback xmlns="">
          <p:sp>
            <p:nvSpPr>
              <p:cNvPr id="64" name="TextBox 63">
                <a:extLst>
                  <a:ext uri="{FF2B5EF4-FFF2-40B4-BE49-F238E27FC236}">
                    <a16:creationId xmlns:a16="http://schemas.microsoft.com/office/drawing/2014/main" id="{9FCB4058-8571-882C-656C-A82532DCA006}"/>
                  </a:ext>
                </a:extLst>
              </p:cNvPr>
              <p:cNvSpPr txBox="1">
                <a:spLocks noRot="1" noChangeAspect="1" noMove="1" noResize="1" noEditPoints="1" noAdjustHandles="1" noChangeArrowheads="1" noChangeShapeType="1" noTextEdit="1"/>
              </p:cNvSpPr>
              <p:nvPr/>
            </p:nvSpPr>
            <p:spPr>
              <a:xfrm>
                <a:off x="1494969" y="5022798"/>
                <a:ext cx="477310" cy="369332"/>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C62BE710-D855-1FD7-E610-5CA0D2221A55}"/>
                  </a:ext>
                </a:extLst>
              </p:cNvPr>
              <p:cNvSpPr txBox="1"/>
              <p:nvPr/>
            </p:nvSpPr>
            <p:spPr>
              <a:xfrm>
                <a:off x="2457019" y="5022798"/>
                <a:ext cx="47731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3</m:t>
                          </m:r>
                        </m:sub>
                      </m:sSub>
                    </m:oMath>
                  </m:oMathPara>
                </a14:m>
                <a:endParaRPr lang="en-US" dirty="0"/>
              </a:p>
            </p:txBody>
          </p:sp>
        </mc:Choice>
        <mc:Fallback xmlns="">
          <p:sp>
            <p:nvSpPr>
              <p:cNvPr id="65" name="TextBox 64">
                <a:extLst>
                  <a:ext uri="{FF2B5EF4-FFF2-40B4-BE49-F238E27FC236}">
                    <a16:creationId xmlns:a16="http://schemas.microsoft.com/office/drawing/2014/main" id="{C62BE710-D855-1FD7-E610-5CA0D2221A55}"/>
                  </a:ext>
                </a:extLst>
              </p:cNvPr>
              <p:cNvSpPr txBox="1">
                <a:spLocks noRot="1" noChangeAspect="1" noMove="1" noResize="1" noEditPoints="1" noAdjustHandles="1" noChangeArrowheads="1" noChangeShapeType="1" noTextEdit="1"/>
              </p:cNvSpPr>
              <p:nvPr/>
            </p:nvSpPr>
            <p:spPr>
              <a:xfrm>
                <a:off x="2457019" y="5022798"/>
                <a:ext cx="477310"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6739368E-1DFF-13BC-DCD3-2F9991CC191C}"/>
                  </a:ext>
                </a:extLst>
              </p:cNvPr>
              <p:cNvSpPr txBox="1"/>
              <p:nvPr/>
            </p:nvSpPr>
            <p:spPr>
              <a:xfrm>
                <a:off x="3419069" y="5049369"/>
                <a:ext cx="49699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𝑇</m:t>
                          </m:r>
                        </m:sub>
                      </m:sSub>
                    </m:oMath>
                  </m:oMathPara>
                </a14:m>
                <a:endParaRPr lang="en-US" dirty="0"/>
              </a:p>
            </p:txBody>
          </p:sp>
        </mc:Choice>
        <mc:Fallback xmlns="">
          <p:sp>
            <p:nvSpPr>
              <p:cNvPr id="66" name="TextBox 65">
                <a:extLst>
                  <a:ext uri="{FF2B5EF4-FFF2-40B4-BE49-F238E27FC236}">
                    <a16:creationId xmlns:a16="http://schemas.microsoft.com/office/drawing/2014/main" id="{6739368E-1DFF-13BC-DCD3-2F9991CC191C}"/>
                  </a:ext>
                </a:extLst>
              </p:cNvPr>
              <p:cNvSpPr txBox="1">
                <a:spLocks noRot="1" noChangeAspect="1" noMove="1" noResize="1" noEditPoints="1" noAdjustHandles="1" noChangeArrowheads="1" noChangeShapeType="1" noTextEdit="1"/>
              </p:cNvSpPr>
              <p:nvPr/>
            </p:nvSpPr>
            <p:spPr>
              <a:xfrm>
                <a:off x="3419069" y="5049369"/>
                <a:ext cx="496996" cy="369332"/>
              </a:xfrm>
              <a:prstGeom prst="rect">
                <a:avLst/>
              </a:prstGeom>
              <a:blipFill>
                <a:blip r:embed="rId16"/>
                <a:stretch>
                  <a:fillRect b="-3333"/>
                </a:stretch>
              </a:blipFill>
            </p:spPr>
            <p:txBody>
              <a:bodyPr/>
              <a:lstStyle/>
              <a:p>
                <a:r>
                  <a:rPr lang="en-US">
                    <a:noFill/>
                  </a:rPr>
                  <a:t> </a:t>
                </a:r>
              </a:p>
            </p:txBody>
          </p:sp>
        </mc:Fallback>
      </mc:AlternateContent>
      <p:cxnSp>
        <p:nvCxnSpPr>
          <p:cNvPr id="67" name="Straight Arrow Connector 66">
            <a:extLst>
              <a:ext uri="{FF2B5EF4-FFF2-40B4-BE49-F238E27FC236}">
                <a16:creationId xmlns:a16="http://schemas.microsoft.com/office/drawing/2014/main" id="{807F107A-B3C9-9124-9B4C-416E9B83480B}"/>
              </a:ext>
            </a:extLst>
          </p:cNvPr>
          <p:cNvCxnSpPr>
            <a:stCxn id="56" idx="0"/>
            <a:endCxn id="63" idx="2"/>
          </p:cNvCxnSpPr>
          <p:nvPr/>
        </p:nvCxnSpPr>
        <p:spPr>
          <a:xfrm flipH="1" flipV="1">
            <a:off x="850535" y="5392130"/>
            <a:ext cx="3578"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84A8DFC9-7834-938A-3586-90C96CEA3693}"/>
              </a:ext>
            </a:extLst>
          </p:cNvPr>
          <p:cNvCxnSpPr>
            <a:cxnSpLocks/>
            <a:stCxn id="58" idx="0"/>
            <a:endCxn id="64" idx="2"/>
          </p:cNvCxnSpPr>
          <p:nvPr/>
        </p:nvCxnSpPr>
        <p:spPr>
          <a:xfrm flipV="1">
            <a:off x="1733571" y="5392130"/>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B78F797E-738F-D25A-7B6A-73D7F3456D02}"/>
              </a:ext>
            </a:extLst>
          </p:cNvPr>
          <p:cNvCxnSpPr>
            <a:cxnSpLocks/>
          </p:cNvCxnSpPr>
          <p:nvPr/>
        </p:nvCxnSpPr>
        <p:spPr>
          <a:xfrm flipV="1">
            <a:off x="2679165" y="5358926"/>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457022A8-9CB3-518F-0766-DE35952FF653}"/>
              </a:ext>
            </a:extLst>
          </p:cNvPr>
          <p:cNvCxnSpPr>
            <a:cxnSpLocks/>
          </p:cNvCxnSpPr>
          <p:nvPr/>
        </p:nvCxnSpPr>
        <p:spPr>
          <a:xfrm flipV="1">
            <a:off x="3635391" y="5392129"/>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1" name="Rectangle 70">
                <a:extLst>
                  <a:ext uri="{FF2B5EF4-FFF2-40B4-BE49-F238E27FC236}">
                    <a16:creationId xmlns:a16="http://schemas.microsoft.com/office/drawing/2014/main" id="{13EA8ECC-DA04-B6F3-E95D-63866FF0FE36}"/>
                  </a:ext>
                </a:extLst>
              </p:cNvPr>
              <p:cNvSpPr/>
              <p:nvPr/>
            </p:nvSpPr>
            <p:spPr>
              <a:xfrm>
                <a:off x="661797" y="4263656"/>
                <a:ext cx="424732" cy="43593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1</m:t>
                          </m:r>
                        </m:sub>
                      </m:sSub>
                    </m:oMath>
                  </m:oMathPara>
                </a14:m>
                <a:endParaRPr lang="en-US" dirty="0"/>
              </a:p>
            </p:txBody>
          </p:sp>
        </mc:Choice>
        <mc:Fallback xmlns="">
          <p:sp>
            <p:nvSpPr>
              <p:cNvPr id="71" name="Rectangle 70">
                <a:extLst>
                  <a:ext uri="{FF2B5EF4-FFF2-40B4-BE49-F238E27FC236}">
                    <a16:creationId xmlns:a16="http://schemas.microsoft.com/office/drawing/2014/main" id="{13EA8ECC-DA04-B6F3-E95D-63866FF0FE36}"/>
                  </a:ext>
                </a:extLst>
              </p:cNvPr>
              <p:cNvSpPr>
                <a:spLocks noRot="1" noChangeAspect="1" noMove="1" noResize="1" noEditPoints="1" noAdjustHandles="1" noChangeArrowheads="1" noChangeShapeType="1" noTextEdit="1"/>
              </p:cNvSpPr>
              <p:nvPr/>
            </p:nvSpPr>
            <p:spPr>
              <a:xfrm>
                <a:off x="661797" y="4263656"/>
                <a:ext cx="424732" cy="435935"/>
              </a:xfrm>
              <a:prstGeom prst="rect">
                <a:avLst/>
              </a:prstGeom>
              <a:blipFill>
                <a:blip r:embed="rId17"/>
                <a:stretch>
                  <a:fillRect l="-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Rectangle 71">
                <a:extLst>
                  <a:ext uri="{FF2B5EF4-FFF2-40B4-BE49-F238E27FC236}">
                    <a16:creationId xmlns:a16="http://schemas.microsoft.com/office/drawing/2014/main" id="{4F6D94C0-BE65-5FF1-EC02-DCB526C21078}"/>
                  </a:ext>
                </a:extLst>
              </p:cNvPr>
              <p:cNvSpPr/>
              <p:nvPr/>
            </p:nvSpPr>
            <p:spPr>
              <a:xfrm>
                <a:off x="1547547" y="4263656"/>
                <a:ext cx="424732" cy="43593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2</m:t>
                          </m:r>
                        </m:sub>
                      </m:sSub>
                    </m:oMath>
                  </m:oMathPara>
                </a14:m>
                <a:endParaRPr lang="en-US" dirty="0"/>
              </a:p>
            </p:txBody>
          </p:sp>
        </mc:Choice>
        <mc:Fallback xmlns="">
          <p:sp>
            <p:nvSpPr>
              <p:cNvPr id="72" name="Rectangle 71">
                <a:extLst>
                  <a:ext uri="{FF2B5EF4-FFF2-40B4-BE49-F238E27FC236}">
                    <a16:creationId xmlns:a16="http://schemas.microsoft.com/office/drawing/2014/main" id="{4F6D94C0-BE65-5FF1-EC02-DCB526C21078}"/>
                  </a:ext>
                </a:extLst>
              </p:cNvPr>
              <p:cNvSpPr>
                <a:spLocks noRot="1" noChangeAspect="1" noMove="1" noResize="1" noEditPoints="1" noAdjustHandles="1" noChangeArrowheads="1" noChangeShapeType="1" noTextEdit="1"/>
              </p:cNvSpPr>
              <p:nvPr/>
            </p:nvSpPr>
            <p:spPr>
              <a:xfrm>
                <a:off x="1547547" y="4263656"/>
                <a:ext cx="424732" cy="435935"/>
              </a:xfrm>
              <a:prstGeom prst="rect">
                <a:avLst/>
              </a:prstGeom>
              <a:blipFill>
                <a:blip r:embed="rId18"/>
                <a:stretch>
                  <a:fillRect l="-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Rectangle 72">
                <a:extLst>
                  <a:ext uri="{FF2B5EF4-FFF2-40B4-BE49-F238E27FC236}">
                    <a16:creationId xmlns:a16="http://schemas.microsoft.com/office/drawing/2014/main" id="{11813273-2DAD-2783-EC09-CF6B46315F17}"/>
                  </a:ext>
                </a:extLst>
              </p:cNvPr>
              <p:cNvSpPr/>
              <p:nvPr/>
            </p:nvSpPr>
            <p:spPr>
              <a:xfrm>
                <a:off x="2472323" y="4263656"/>
                <a:ext cx="424732" cy="43593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3</m:t>
                          </m:r>
                        </m:sub>
                      </m:sSub>
                    </m:oMath>
                  </m:oMathPara>
                </a14:m>
                <a:endParaRPr lang="en-US" dirty="0"/>
              </a:p>
            </p:txBody>
          </p:sp>
        </mc:Choice>
        <mc:Fallback xmlns="">
          <p:sp>
            <p:nvSpPr>
              <p:cNvPr id="73" name="Rectangle 72">
                <a:extLst>
                  <a:ext uri="{FF2B5EF4-FFF2-40B4-BE49-F238E27FC236}">
                    <a16:creationId xmlns:a16="http://schemas.microsoft.com/office/drawing/2014/main" id="{11813273-2DAD-2783-EC09-CF6B46315F17}"/>
                  </a:ext>
                </a:extLst>
              </p:cNvPr>
              <p:cNvSpPr>
                <a:spLocks noRot="1" noChangeAspect="1" noMove="1" noResize="1" noEditPoints="1" noAdjustHandles="1" noChangeArrowheads="1" noChangeShapeType="1" noTextEdit="1"/>
              </p:cNvSpPr>
              <p:nvPr/>
            </p:nvSpPr>
            <p:spPr>
              <a:xfrm>
                <a:off x="2472323" y="4263656"/>
                <a:ext cx="424732" cy="435935"/>
              </a:xfrm>
              <a:prstGeom prst="rect">
                <a:avLst/>
              </a:prstGeom>
              <a:blipFill>
                <a:blip r:embed="rId19"/>
                <a:stretch>
                  <a:fillRect l="-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Rectangle 73">
                <a:extLst>
                  <a:ext uri="{FF2B5EF4-FFF2-40B4-BE49-F238E27FC236}">
                    <a16:creationId xmlns:a16="http://schemas.microsoft.com/office/drawing/2014/main" id="{E8EF83D7-66AE-9CD3-88B9-BFF152F0EE7B}"/>
                  </a:ext>
                </a:extLst>
              </p:cNvPr>
              <p:cNvSpPr/>
              <p:nvPr/>
            </p:nvSpPr>
            <p:spPr>
              <a:xfrm>
                <a:off x="3455201" y="4278211"/>
                <a:ext cx="424732" cy="43593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𝑇</m:t>
                          </m:r>
                        </m:sub>
                      </m:sSub>
                    </m:oMath>
                  </m:oMathPara>
                </a14:m>
                <a:endParaRPr lang="en-US" dirty="0"/>
              </a:p>
            </p:txBody>
          </p:sp>
        </mc:Choice>
        <mc:Fallback xmlns="">
          <p:sp>
            <p:nvSpPr>
              <p:cNvPr id="74" name="Rectangle 73">
                <a:extLst>
                  <a:ext uri="{FF2B5EF4-FFF2-40B4-BE49-F238E27FC236}">
                    <a16:creationId xmlns:a16="http://schemas.microsoft.com/office/drawing/2014/main" id="{E8EF83D7-66AE-9CD3-88B9-BFF152F0EE7B}"/>
                  </a:ext>
                </a:extLst>
              </p:cNvPr>
              <p:cNvSpPr>
                <a:spLocks noRot="1" noChangeAspect="1" noMove="1" noResize="1" noEditPoints="1" noAdjustHandles="1" noChangeArrowheads="1" noChangeShapeType="1" noTextEdit="1"/>
              </p:cNvSpPr>
              <p:nvPr/>
            </p:nvSpPr>
            <p:spPr>
              <a:xfrm>
                <a:off x="3455201" y="4278211"/>
                <a:ext cx="424732" cy="435935"/>
              </a:xfrm>
              <a:prstGeom prst="rect">
                <a:avLst/>
              </a:prstGeom>
              <a:blipFill>
                <a:blip r:embed="rId20"/>
                <a:stretch>
                  <a:fillRect l="-5714"/>
                </a:stretch>
              </a:blipFill>
            </p:spPr>
            <p:txBody>
              <a:bodyPr/>
              <a:lstStyle/>
              <a:p>
                <a:r>
                  <a:rPr lang="en-US">
                    <a:noFill/>
                  </a:rPr>
                  <a:t> </a:t>
                </a:r>
              </a:p>
            </p:txBody>
          </p:sp>
        </mc:Fallback>
      </mc:AlternateContent>
      <p:cxnSp>
        <p:nvCxnSpPr>
          <p:cNvPr id="75" name="Straight Arrow Connector 74">
            <a:extLst>
              <a:ext uri="{FF2B5EF4-FFF2-40B4-BE49-F238E27FC236}">
                <a16:creationId xmlns:a16="http://schemas.microsoft.com/office/drawing/2014/main" id="{E8255965-0581-8F5A-C3F8-3A8916EC9529}"/>
              </a:ext>
            </a:extLst>
          </p:cNvPr>
          <p:cNvCxnSpPr>
            <a:cxnSpLocks/>
            <a:stCxn id="73" idx="3"/>
            <a:endCxn id="74" idx="1"/>
          </p:cNvCxnSpPr>
          <p:nvPr/>
        </p:nvCxnSpPr>
        <p:spPr>
          <a:xfrm>
            <a:off x="2897055" y="4481624"/>
            <a:ext cx="558146" cy="1455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6" name="Group 75">
            <a:extLst>
              <a:ext uri="{FF2B5EF4-FFF2-40B4-BE49-F238E27FC236}">
                <a16:creationId xmlns:a16="http://schemas.microsoft.com/office/drawing/2014/main" id="{02D3B750-0801-48F4-50D2-D2898B1A01DF}"/>
              </a:ext>
            </a:extLst>
          </p:cNvPr>
          <p:cNvGrpSpPr/>
          <p:nvPr/>
        </p:nvGrpSpPr>
        <p:grpSpPr>
          <a:xfrm>
            <a:off x="2999905" y="4347165"/>
            <a:ext cx="329532" cy="246221"/>
            <a:chOff x="2966499" y="3857245"/>
            <a:chExt cx="329532" cy="246221"/>
          </a:xfrm>
        </p:grpSpPr>
        <p:sp>
          <p:nvSpPr>
            <p:cNvPr id="77" name="TextBox 76">
              <a:extLst>
                <a:ext uri="{FF2B5EF4-FFF2-40B4-BE49-F238E27FC236}">
                  <a16:creationId xmlns:a16="http://schemas.microsoft.com/office/drawing/2014/main" id="{D74400FD-23FB-E3BA-34D4-56A111E8B5B8}"/>
                </a:ext>
              </a:extLst>
            </p:cNvPr>
            <p:cNvSpPr txBox="1"/>
            <p:nvPr/>
          </p:nvSpPr>
          <p:spPr>
            <a:xfrm>
              <a:off x="3033827" y="3907765"/>
              <a:ext cx="187762" cy="184666"/>
            </a:xfrm>
            <a:prstGeom prst="rect">
              <a:avLst/>
            </a:prstGeom>
            <a:solidFill>
              <a:schemeClr val="bg1"/>
            </a:solidFill>
          </p:spPr>
          <p:txBody>
            <a:bodyPr wrap="square" rtlCol="0">
              <a:spAutoFit/>
            </a:bodyPr>
            <a:lstStyle/>
            <a:p>
              <a:endParaRPr lang="en-US" sz="600" dirty="0">
                <a:latin typeface="Microsoft YaHei" panose="020B0503020204020204" pitchFamily="34" charset="-122"/>
                <a:ea typeface="Microsoft YaHei" panose="020B0503020204020204" pitchFamily="34" charset="-122"/>
              </a:endParaRPr>
            </a:p>
          </p:txBody>
        </p:sp>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8B4A3397-F834-E92F-17DA-EF6CC0530534}"/>
                    </a:ext>
                  </a:extLst>
                </p:cNvPr>
                <p:cNvSpPr txBox="1"/>
                <p:nvPr/>
              </p:nvSpPr>
              <p:spPr>
                <a:xfrm>
                  <a:off x="2966499" y="3857245"/>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78" name="TextBox 77">
                  <a:extLst>
                    <a:ext uri="{FF2B5EF4-FFF2-40B4-BE49-F238E27FC236}">
                      <a16:creationId xmlns:a16="http://schemas.microsoft.com/office/drawing/2014/main" id="{8B4A3397-F834-E92F-17DA-EF6CC0530534}"/>
                    </a:ext>
                  </a:extLst>
                </p:cNvPr>
                <p:cNvSpPr txBox="1">
                  <a:spLocks noRot="1" noChangeAspect="1" noMove="1" noResize="1" noEditPoints="1" noAdjustHandles="1" noChangeArrowheads="1" noChangeShapeType="1" noTextEdit="1"/>
                </p:cNvSpPr>
                <p:nvPr/>
              </p:nvSpPr>
              <p:spPr>
                <a:xfrm>
                  <a:off x="2966499" y="3857245"/>
                  <a:ext cx="329532" cy="246221"/>
                </a:xfrm>
                <a:prstGeom prst="rect">
                  <a:avLst/>
                </a:prstGeom>
                <a:blipFill>
                  <a:blip r:embed="rId21"/>
                  <a:stretch>
                    <a:fillRect/>
                  </a:stretch>
                </a:blipFill>
              </p:spPr>
              <p:txBody>
                <a:bodyPr/>
                <a:lstStyle/>
                <a:p>
                  <a:r>
                    <a:rPr lang="en-US">
                      <a:noFill/>
                    </a:rPr>
                    <a:t> </a:t>
                  </a:r>
                </a:p>
              </p:txBody>
            </p:sp>
          </mc:Fallback>
        </mc:AlternateContent>
      </p:grpSp>
      <p:cxnSp>
        <p:nvCxnSpPr>
          <p:cNvPr id="79" name="Straight Arrow Connector 78">
            <a:extLst>
              <a:ext uri="{FF2B5EF4-FFF2-40B4-BE49-F238E27FC236}">
                <a16:creationId xmlns:a16="http://schemas.microsoft.com/office/drawing/2014/main" id="{BC9C5A5D-3AAF-74AD-B07C-7A9EF76892E2}"/>
              </a:ext>
            </a:extLst>
          </p:cNvPr>
          <p:cNvCxnSpPr>
            <a:cxnSpLocks/>
            <a:stCxn id="72" idx="3"/>
            <a:endCxn id="73" idx="1"/>
          </p:cNvCxnSpPr>
          <p:nvPr/>
        </p:nvCxnSpPr>
        <p:spPr>
          <a:xfrm>
            <a:off x="1972279" y="4481624"/>
            <a:ext cx="50004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F7C6D081-94D0-EB51-A2CF-48BC289F91D3}"/>
              </a:ext>
            </a:extLst>
          </p:cNvPr>
          <p:cNvCxnSpPr>
            <a:cxnSpLocks/>
            <a:stCxn id="71" idx="3"/>
            <a:endCxn id="72" idx="1"/>
          </p:cNvCxnSpPr>
          <p:nvPr/>
        </p:nvCxnSpPr>
        <p:spPr>
          <a:xfrm>
            <a:off x="1086529" y="4481624"/>
            <a:ext cx="46101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E13AD25F-25DE-2B32-2070-9CAB7A60A37D}"/>
              </a:ext>
            </a:extLst>
          </p:cNvPr>
          <p:cNvCxnSpPr/>
          <p:nvPr/>
        </p:nvCxnSpPr>
        <p:spPr>
          <a:xfrm flipH="1" flipV="1">
            <a:off x="850482" y="4861970"/>
            <a:ext cx="3578"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8F02D54F-98B1-FA18-363A-BE9A80940C49}"/>
              </a:ext>
            </a:extLst>
          </p:cNvPr>
          <p:cNvCxnSpPr>
            <a:cxnSpLocks/>
          </p:cNvCxnSpPr>
          <p:nvPr/>
        </p:nvCxnSpPr>
        <p:spPr>
          <a:xfrm flipV="1">
            <a:off x="1733518" y="4861970"/>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77C6B7F2-0FA2-0215-7864-9447AF82EA97}"/>
              </a:ext>
            </a:extLst>
          </p:cNvPr>
          <p:cNvCxnSpPr>
            <a:cxnSpLocks/>
          </p:cNvCxnSpPr>
          <p:nvPr/>
        </p:nvCxnSpPr>
        <p:spPr>
          <a:xfrm flipV="1">
            <a:off x="2679112" y="4828766"/>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55E0CE13-0029-66B4-E35D-8B5B4BBF5A83}"/>
              </a:ext>
            </a:extLst>
          </p:cNvPr>
          <p:cNvCxnSpPr>
            <a:cxnSpLocks/>
          </p:cNvCxnSpPr>
          <p:nvPr/>
        </p:nvCxnSpPr>
        <p:spPr>
          <a:xfrm flipV="1">
            <a:off x="3635338" y="4861969"/>
            <a:ext cx="53" cy="234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FEF05DA5-4FAD-1C9A-9ABD-BDFED5466DFD}"/>
                  </a:ext>
                </a:extLst>
              </p:cNvPr>
              <p:cNvSpPr txBox="1"/>
              <p:nvPr/>
            </p:nvSpPr>
            <p:spPr>
              <a:xfrm>
                <a:off x="3040699" y="5108610"/>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85" name="TextBox 84">
                <a:extLst>
                  <a:ext uri="{FF2B5EF4-FFF2-40B4-BE49-F238E27FC236}">
                    <a16:creationId xmlns:a16="http://schemas.microsoft.com/office/drawing/2014/main" id="{FEF05DA5-4FAD-1C9A-9ABD-BDFED5466DFD}"/>
                  </a:ext>
                </a:extLst>
              </p:cNvPr>
              <p:cNvSpPr txBox="1">
                <a:spLocks noRot="1" noChangeAspect="1" noMove="1" noResize="1" noEditPoints="1" noAdjustHandles="1" noChangeArrowheads="1" noChangeShapeType="1" noTextEdit="1"/>
              </p:cNvSpPr>
              <p:nvPr/>
            </p:nvSpPr>
            <p:spPr>
              <a:xfrm>
                <a:off x="3040699" y="5108610"/>
                <a:ext cx="329532" cy="246221"/>
              </a:xfrm>
              <a:prstGeom prst="rect">
                <a:avLst/>
              </a:prstGeom>
              <a:blipFill>
                <a:blip r:embed="rId22"/>
                <a:stretch>
                  <a:fillRect/>
                </a:stretch>
              </a:blipFill>
            </p:spPr>
            <p:txBody>
              <a:bodyPr/>
              <a:lstStyle/>
              <a:p>
                <a:r>
                  <a:rPr lang="en-US">
                    <a:noFill/>
                  </a:rPr>
                  <a:t> </a:t>
                </a:r>
              </a:p>
            </p:txBody>
          </p:sp>
        </mc:Fallback>
      </mc:AlternateContent>
      <p:cxnSp>
        <p:nvCxnSpPr>
          <p:cNvPr id="86" name="Straight Arrow Connector 85">
            <a:extLst>
              <a:ext uri="{FF2B5EF4-FFF2-40B4-BE49-F238E27FC236}">
                <a16:creationId xmlns:a16="http://schemas.microsoft.com/office/drawing/2014/main" id="{22654FE1-F4DC-B614-AF6B-04B73AAB5BD1}"/>
              </a:ext>
            </a:extLst>
          </p:cNvPr>
          <p:cNvCxnSpPr>
            <a:cxnSpLocks/>
          </p:cNvCxnSpPr>
          <p:nvPr/>
        </p:nvCxnSpPr>
        <p:spPr>
          <a:xfrm>
            <a:off x="3897926" y="4495611"/>
            <a:ext cx="1141907" cy="56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7" name="Rectangle 86">
                <a:extLst>
                  <a:ext uri="{FF2B5EF4-FFF2-40B4-BE49-F238E27FC236}">
                    <a16:creationId xmlns:a16="http://schemas.microsoft.com/office/drawing/2014/main" id="{788C3152-3E8E-A48A-72D3-E15C2ED8BDE0}"/>
                  </a:ext>
                </a:extLst>
              </p:cNvPr>
              <p:cNvSpPr/>
              <p:nvPr/>
            </p:nvSpPr>
            <p:spPr>
              <a:xfrm>
                <a:off x="5061463" y="4278211"/>
                <a:ext cx="424732" cy="43593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𝑠</m:t>
                          </m:r>
                        </m:e>
                        <m:sub>
                          <m:r>
                            <a:rPr lang="en-US" altLang="zh-CN" b="0" i="1" smtClean="0">
                              <a:solidFill>
                                <a:schemeClr val="tx1"/>
                              </a:solidFill>
                              <a:latin typeface="Cambria Math" panose="02040503050406030204" pitchFamily="18" charset="0"/>
                            </a:rPr>
                            <m:t>0</m:t>
                          </m:r>
                        </m:sub>
                      </m:sSub>
                    </m:oMath>
                  </m:oMathPara>
                </a14:m>
                <a:endParaRPr lang="en-US" dirty="0"/>
              </a:p>
            </p:txBody>
          </p:sp>
        </mc:Choice>
        <mc:Fallback xmlns="">
          <p:sp>
            <p:nvSpPr>
              <p:cNvPr id="87" name="Rectangle 86">
                <a:extLst>
                  <a:ext uri="{FF2B5EF4-FFF2-40B4-BE49-F238E27FC236}">
                    <a16:creationId xmlns:a16="http://schemas.microsoft.com/office/drawing/2014/main" id="{788C3152-3E8E-A48A-72D3-E15C2ED8BDE0}"/>
                  </a:ext>
                </a:extLst>
              </p:cNvPr>
              <p:cNvSpPr>
                <a:spLocks noRot="1" noChangeAspect="1" noMove="1" noResize="1" noEditPoints="1" noAdjustHandles="1" noChangeArrowheads="1" noChangeShapeType="1" noTextEdit="1"/>
              </p:cNvSpPr>
              <p:nvPr/>
            </p:nvSpPr>
            <p:spPr>
              <a:xfrm>
                <a:off x="5061463" y="4278211"/>
                <a:ext cx="424732" cy="435935"/>
              </a:xfrm>
              <a:prstGeom prst="rect">
                <a:avLst/>
              </a:prstGeom>
              <a:blipFill>
                <a:blip r:embed="rId23"/>
                <a:stretch>
                  <a:fillRect/>
                </a:stretch>
              </a:blipFill>
            </p:spPr>
            <p:txBody>
              <a:bodyPr/>
              <a:lstStyle/>
              <a:p>
                <a:r>
                  <a:rPr lang="en-US">
                    <a:noFill/>
                  </a:rPr>
                  <a:t> </a:t>
                </a:r>
              </a:p>
            </p:txBody>
          </p:sp>
        </mc:Fallback>
      </mc:AlternateContent>
      <p:cxnSp>
        <p:nvCxnSpPr>
          <p:cNvPr id="88" name="Straight Arrow Connector 87">
            <a:extLst>
              <a:ext uri="{FF2B5EF4-FFF2-40B4-BE49-F238E27FC236}">
                <a16:creationId xmlns:a16="http://schemas.microsoft.com/office/drawing/2014/main" id="{2249BE80-0620-6AF3-30F4-CD76929A0545}"/>
              </a:ext>
            </a:extLst>
          </p:cNvPr>
          <p:cNvCxnSpPr>
            <a:cxnSpLocks/>
          </p:cNvCxnSpPr>
          <p:nvPr/>
        </p:nvCxnSpPr>
        <p:spPr>
          <a:xfrm flipH="1" flipV="1">
            <a:off x="2676824" y="4042846"/>
            <a:ext cx="1664" cy="216000"/>
          </a:xfrm>
          <a:prstGeom prst="straightConnector1">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CFEAD9F9-FB58-702C-6F6A-AE3AF8460D87}"/>
              </a:ext>
            </a:extLst>
          </p:cNvPr>
          <p:cNvCxnSpPr>
            <a:cxnSpLocks/>
          </p:cNvCxnSpPr>
          <p:nvPr/>
        </p:nvCxnSpPr>
        <p:spPr>
          <a:xfrm flipH="1" flipV="1">
            <a:off x="3660291" y="4042846"/>
            <a:ext cx="1075" cy="216000"/>
          </a:xfrm>
          <a:prstGeom prst="straightConnector1">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90" name="Elbow Connector 89">
            <a:extLst>
              <a:ext uri="{FF2B5EF4-FFF2-40B4-BE49-F238E27FC236}">
                <a16:creationId xmlns:a16="http://schemas.microsoft.com/office/drawing/2014/main" id="{43EB0A59-0A4C-D025-F546-974020EC0ADA}"/>
              </a:ext>
            </a:extLst>
          </p:cNvPr>
          <p:cNvCxnSpPr>
            <a:cxnSpLocks/>
            <a:stCxn id="71" idx="0"/>
            <a:endCxn id="113" idx="2"/>
          </p:cNvCxnSpPr>
          <p:nvPr/>
        </p:nvCxnSpPr>
        <p:spPr>
          <a:xfrm rot="16200000" flipH="1">
            <a:off x="5387453" y="-249634"/>
            <a:ext cx="1200932" cy="10227512"/>
          </a:xfrm>
          <a:prstGeom prst="bentConnector5">
            <a:avLst>
              <a:gd name="adj1" fmla="val -19035"/>
              <a:gd name="adj2" fmla="val 33808"/>
              <a:gd name="adj3" fmla="val 167258"/>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D7D43122-08DF-7814-398F-7BA20B19D760}"/>
                  </a:ext>
                </a:extLst>
              </p:cNvPr>
              <p:cNvSpPr txBox="1"/>
              <p:nvPr/>
            </p:nvSpPr>
            <p:spPr>
              <a:xfrm>
                <a:off x="7637282" y="5063713"/>
                <a:ext cx="45095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1</m:t>
                          </m:r>
                        </m:sub>
                      </m:sSub>
                    </m:oMath>
                  </m:oMathPara>
                </a14:m>
                <a:endParaRPr lang="en-US" dirty="0"/>
              </a:p>
            </p:txBody>
          </p:sp>
        </mc:Choice>
        <mc:Fallback xmlns="">
          <p:sp>
            <p:nvSpPr>
              <p:cNvPr id="91" name="TextBox 90">
                <a:extLst>
                  <a:ext uri="{FF2B5EF4-FFF2-40B4-BE49-F238E27FC236}">
                    <a16:creationId xmlns:a16="http://schemas.microsoft.com/office/drawing/2014/main" id="{D7D43122-08DF-7814-398F-7BA20B19D760}"/>
                  </a:ext>
                </a:extLst>
              </p:cNvPr>
              <p:cNvSpPr txBox="1">
                <a:spLocks noRot="1" noChangeAspect="1" noMove="1" noResize="1" noEditPoints="1" noAdjustHandles="1" noChangeArrowheads="1" noChangeShapeType="1" noTextEdit="1"/>
              </p:cNvSpPr>
              <p:nvPr/>
            </p:nvSpPr>
            <p:spPr>
              <a:xfrm>
                <a:off x="7637282" y="5063713"/>
                <a:ext cx="450956" cy="369332"/>
              </a:xfrm>
              <a:prstGeom prst="rect">
                <a:avLst/>
              </a:prstGeom>
              <a:blipFill>
                <a:blip r:embed="rId24"/>
                <a:stretch>
                  <a:fillRect b="-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F0736E60-B4CB-8227-A6EA-43E775DFF26A}"/>
                  </a:ext>
                </a:extLst>
              </p:cNvPr>
              <p:cNvSpPr txBox="1"/>
              <p:nvPr/>
            </p:nvSpPr>
            <p:spPr>
              <a:xfrm>
                <a:off x="7892986" y="5034079"/>
                <a:ext cx="47897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0</m:t>
                          </m:r>
                        </m:sub>
                      </m:sSub>
                    </m:oMath>
                  </m:oMathPara>
                </a14:m>
                <a:endParaRPr lang="en-US" dirty="0"/>
              </a:p>
            </p:txBody>
          </p:sp>
        </mc:Choice>
        <mc:Fallback xmlns="">
          <p:sp>
            <p:nvSpPr>
              <p:cNvPr id="92" name="TextBox 91">
                <a:extLst>
                  <a:ext uri="{FF2B5EF4-FFF2-40B4-BE49-F238E27FC236}">
                    <a16:creationId xmlns:a16="http://schemas.microsoft.com/office/drawing/2014/main" id="{F0736E60-B4CB-8227-A6EA-43E775DFF26A}"/>
                  </a:ext>
                </a:extLst>
              </p:cNvPr>
              <p:cNvSpPr txBox="1">
                <a:spLocks noRot="1" noChangeAspect="1" noMove="1" noResize="1" noEditPoints="1" noAdjustHandles="1" noChangeArrowheads="1" noChangeShapeType="1" noTextEdit="1"/>
              </p:cNvSpPr>
              <p:nvPr/>
            </p:nvSpPr>
            <p:spPr>
              <a:xfrm>
                <a:off x="7892986" y="5034079"/>
                <a:ext cx="478977" cy="369332"/>
              </a:xfrm>
              <a:prstGeom prst="rect">
                <a:avLst/>
              </a:prstGeom>
              <a:blipFill>
                <a:blip r:embed="rId25"/>
                <a:stretch>
                  <a:fillRect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3" name="Rectangle 92">
                <a:extLst>
                  <a:ext uri="{FF2B5EF4-FFF2-40B4-BE49-F238E27FC236}">
                    <a16:creationId xmlns:a16="http://schemas.microsoft.com/office/drawing/2014/main" id="{5CFD6A4D-8C8F-83D4-7E3E-5646BEC9CA5A}"/>
                  </a:ext>
                </a:extLst>
              </p:cNvPr>
              <p:cNvSpPr/>
              <p:nvPr/>
            </p:nvSpPr>
            <p:spPr>
              <a:xfrm>
                <a:off x="7774840" y="4263655"/>
                <a:ext cx="424732" cy="43593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𝑠</m:t>
                          </m:r>
                        </m:e>
                        <m:sub>
                          <m:r>
                            <a:rPr lang="en-US" altLang="zh-CN" b="0" i="1" smtClean="0">
                              <a:solidFill>
                                <a:schemeClr val="tx1"/>
                              </a:solidFill>
                              <a:latin typeface="Cambria Math" panose="02040503050406030204" pitchFamily="18" charset="0"/>
                            </a:rPr>
                            <m:t>1</m:t>
                          </m:r>
                        </m:sub>
                      </m:sSub>
                    </m:oMath>
                  </m:oMathPara>
                </a14:m>
                <a:endParaRPr lang="en-US" dirty="0"/>
              </a:p>
            </p:txBody>
          </p:sp>
        </mc:Choice>
        <mc:Fallback xmlns="">
          <p:sp>
            <p:nvSpPr>
              <p:cNvPr id="93" name="Rectangle 92">
                <a:extLst>
                  <a:ext uri="{FF2B5EF4-FFF2-40B4-BE49-F238E27FC236}">
                    <a16:creationId xmlns:a16="http://schemas.microsoft.com/office/drawing/2014/main" id="{5CFD6A4D-8C8F-83D4-7E3E-5646BEC9CA5A}"/>
                  </a:ext>
                </a:extLst>
              </p:cNvPr>
              <p:cNvSpPr>
                <a:spLocks noRot="1" noChangeAspect="1" noMove="1" noResize="1" noEditPoints="1" noAdjustHandles="1" noChangeArrowheads="1" noChangeShapeType="1" noTextEdit="1"/>
              </p:cNvSpPr>
              <p:nvPr/>
            </p:nvSpPr>
            <p:spPr>
              <a:xfrm>
                <a:off x="7774840" y="4263655"/>
                <a:ext cx="424732" cy="435935"/>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51691862-1EC0-BCF2-ACE4-5B992A7E932F}"/>
                  </a:ext>
                </a:extLst>
              </p:cNvPr>
              <p:cNvSpPr txBox="1"/>
              <p:nvPr/>
            </p:nvSpPr>
            <p:spPr>
              <a:xfrm>
                <a:off x="7760659" y="3447731"/>
                <a:ext cx="47365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1</m:t>
                          </m:r>
                        </m:sub>
                      </m:sSub>
                    </m:oMath>
                  </m:oMathPara>
                </a14:m>
                <a:endParaRPr lang="en-US" dirty="0"/>
              </a:p>
            </p:txBody>
          </p:sp>
        </mc:Choice>
        <mc:Fallback xmlns="">
          <p:sp>
            <p:nvSpPr>
              <p:cNvPr id="94" name="TextBox 93">
                <a:extLst>
                  <a:ext uri="{FF2B5EF4-FFF2-40B4-BE49-F238E27FC236}">
                    <a16:creationId xmlns:a16="http://schemas.microsoft.com/office/drawing/2014/main" id="{51691862-1EC0-BCF2-ACE4-5B992A7E932F}"/>
                  </a:ext>
                </a:extLst>
              </p:cNvPr>
              <p:cNvSpPr txBox="1">
                <a:spLocks noRot="1" noChangeAspect="1" noMove="1" noResize="1" noEditPoints="1" noAdjustHandles="1" noChangeArrowheads="1" noChangeShapeType="1" noTextEdit="1"/>
              </p:cNvSpPr>
              <p:nvPr/>
            </p:nvSpPr>
            <p:spPr>
              <a:xfrm>
                <a:off x="7760659" y="3447731"/>
                <a:ext cx="473656" cy="369332"/>
              </a:xfrm>
              <a:prstGeom prst="rect">
                <a:avLst/>
              </a:prstGeom>
              <a:blipFill>
                <a:blip r:embed="rId27"/>
                <a:stretch>
                  <a:fillRect b="-10000"/>
                </a:stretch>
              </a:blipFill>
            </p:spPr>
            <p:txBody>
              <a:bodyPr/>
              <a:lstStyle/>
              <a:p>
                <a:r>
                  <a:rPr lang="en-US">
                    <a:noFill/>
                  </a:rPr>
                  <a:t> </a:t>
                </a:r>
              </a:p>
            </p:txBody>
          </p:sp>
        </mc:Fallback>
      </mc:AlternateContent>
      <p:cxnSp>
        <p:nvCxnSpPr>
          <p:cNvPr id="95" name="Straight Arrow Connector 94">
            <a:extLst>
              <a:ext uri="{FF2B5EF4-FFF2-40B4-BE49-F238E27FC236}">
                <a16:creationId xmlns:a16="http://schemas.microsoft.com/office/drawing/2014/main" id="{8AA80FE9-BC43-1968-7BB0-040B7A1FB2CD}"/>
              </a:ext>
            </a:extLst>
          </p:cNvPr>
          <p:cNvCxnSpPr>
            <a:cxnSpLocks/>
          </p:cNvCxnSpPr>
          <p:nvPr/>
        </p:nvCxnSpPr>
        <p:spPr>
          <a:xfrm flipV="1">
            <a:off x="7994608" y="3878618"/>
            <a:ext cx="0" cy="38761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E0B7BFFE-3712-BDA9-19C6-627D9623AB4C}"/>
              </a:ext>
            </a:extLst>
          </p:cNvPr>
          <p:cNvCxnSpPr>
            <a:cxnSpLocks/>
          </p:cNvCxnSpPr>
          <p:nvPr/>
        </p:nvCxnSpPr>
        <p:spPr>
          <a:xfrm flipV="1">
            <a:off x="8104622" y="4709300"/>
            <a:ext cx="0" cy="38761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A87B8C12-CC5B-0408-6113-CF8920DE13B8}"/>
              </a:ext>
            </a:extLst>
          </p:cNvPr>
          <p:cNvCxnSpPr>
            <a:cxnSpLocks/>
          </p:cNvCxnSpPr>
          <p:nvPr/>
        </p:nvCxnSpPr>
        <p:spPr>
          <a:xfrm flipV="1">
            <a:off x="7873961" y="4725773"/>
            <a:ext cx="0" cy="38761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DC241E64-5D80-D6CE-1990-823E6879F7DB}"/>
              </a:ext>
            </a:extLst>
          </p:cNvPr>
          <p:cNvSpPr txBox="1"/>
          <p:nvPr/>
        </p:nvSpPr>
        <p:spPr>
          <a:xfrm>
            <a:off x="7862760" y="2932457"/>
            <a:ext cx="248786" cy="369332"/>
          </a:xfrm>
          <a:prstGeom prst="rect">
            <a:avLst/>
          </a:prstGeom>
          <a:noFill/>
        </p:spPr>
        <p:txBody>
          <a:bodyPr wrap="none" rtlCol="0">
            <a:spAutoFit/>
          </a:bodyPr>
          <a:lstStyle/>
          <a:p>
            <a:r>
              <a:rPr lang="en-US" altLang="zh-CN" dirty="0"/>
              <a:t>I</a:t>
            </a:r>
            <a:endParaRPr lang="en-US" dirty="0"/>
          </a:p>
        </p:txBody>
      </p:sp>
      <p:cxnSp>
        <p:nvCxnSpPr>
          <p:cNvPr id="101" name="Elbow Connector 100">
            <a:extLst>
              <a:ext uri="{FF2B5EF4-FFF2-40B4-BE49-F238E27FC236}">
                <a16:creationId xmlns:a16="http://schemas.microsoft.com/office/drawing/2014/main" id="{B01E6D09-65C6-57EE-E5E0-B5C4D2F422D3}"/>
              </a:ext>
            </a:extLst>
          </p:cNvPr>
          <p:cNvCxnSpPr>
            <a:cxnSpLocks/>
          </p:cNvCxnSpPr>
          <p:nvPr/>
        </p:nvCxnSpPr>
        <p:spPr>
          <a:xfrm>
            <a:off x="5486195" y="4496181"/>
            <a:ext cx="2151087" cy="864000"/>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1D9EB5E7-1CFC-62BF-BD8F-30DF83E0BAB0}"/>
              </a:ext>
            </a:extLst>
          </p:cNvPr>
          <p:cNvCxnSpPr>
            <a:cxnSpLocks/>
          </p:cNvCxnSpPr>
          <p:nvPr/>
        </p:nvCxnSpPr>
        <p:spPr>
          <a:xfrm flipH="1" flipV="1">
            <a:off x="1785348" y="4038182"/>
            <a:ext cx="1664" cy="216000"/>
          </a:xfrm>
          <a:prstGeom prst="straightConnector1">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BA516384-2EBB-877E-BC6E-3891DB880BED}"/>
                  </a:ext>
                </a:extLst>
              </p:cNvPr>
              <p:cNvSpPr txBox="1"/>
              <p:nvPr/>
            </p:nvSpPr>
            <p:spPr>
              <a:xfrm>
                <a:off x="8882261" y="5054240"/>
                <a:ext cx="45627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2</m:t>
                          </m:r>
                        </m:sub>
                      </m:sSub>
                    </m:oMath>
                  </m:oMathPara>
                </a14:m>
                <a:endParaRPr lang="en-US" dirty="0"/>
              </a:p>
            </p:txBody>
          </p:sp>
        </mc:Choice>
        <mc:Fallback xmlns="">
          <p:sp>
            <p:nvSpPr>
              <p:cNvPr id="103" name="TextBox 102">
                <a:extLst>
                  <a:ext uri="{FF2B5EF4-FFF2-40B4-BE49-F238E27FC236}">
                    <a16:creationId xmlns:a16="http://schemas.microsoft.com/office/drawing/2014/main" id="{BA516384-2EBB-877E-BC6E-3891DB880BED}"/>
                  </a:ext>
                </a:extLst>
              </p:cNvPr>
              <p:cNvSpPr txBox="1">
                <a:spLocks noRot="1" noChangeAspect="1" noMove="1" noResize="1" noEditPoints="1" noAdjustHandles="1" noChangeArrowheads="1" noChangeShapeType="1" noTextEdit="1"/>
              </p:cNvSpPr>
              <p:nvPr/>
            </p:nvSpPr>
            <p:spPr>
              <a:xfrm>
                <a:off x="8882261" y="5054240"/>
                <a:ext cx="456279" cy="369332"/>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EDA4B4E7-F73C-7947-FAA2-56EB29DD648C}"/>
                  </a:ext>
                </a:extLst>
              </p:cNvPr>
              <p:cNvSpPr txBox="1"/>
              <p:nvPr/>
            </p:nvSpPr>
            <p:spPr>
              <a:xfrm>
                <a:off x="9137965" y="5024606"/>
                <a:ext cx="47365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1</m:t>
                          </m:r>
                        </m:sub>
                      </m:sSub>
                    </m:oMath>
                  </m:oMathPara>
                </a14:m>
                <a:endParaRPr lang="en-US" dirty="0"/>
              </a:p>
            </p:txBody>
          </p:sp>
        </mc:Choice>
        <mc:Fallback xmlns="">
          <p:sp>
            <p:nvSpPr>
              <p:cNvPr id="104" name="TextBox 103">
                <a:extLst>
                  <a:ext uri="{FF2B5EF4-FFF2-40B4-BE49-F238E27FC236}">
                    <a16:creationId xmlns:a16="http://schemas.microsoft.com/office/drawing/2014/main" id="{EDA4B4E7-F73C-7947-FAA2-56EB29DD648C}"/>
                  </a:ext>
                </a:extLst>
              </p:cNvPr>
              <p:cNvSpPr txBox="1">
                <a:spLocks noRot="1" noChangeAspect="1" noMove="1" noResize="1" noEditPoints="1" noAdjustHandles="1" noChangeArrowheads="1" noChangeShapeType="1" noTextEdit="1"/>
              </p:cNvSpPr>
              <p:nvPr/>
            </p:nvSpPr>
            <p:spPr>
              <a:xfrm>
                <a:off x="9137965" y="5024606"/>
                <a:ext cx="473656" cy="369332"/>
              </a:xfrm>
              <a:prstGeom prst="rect">
                <a:avLst/>
              </a:prstGeom>
              <a:blipFill>
                <a:blip r:embed="rId29"/>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5" name="Rectangle 104">
                <a:extLst>
                  <a:ext uri="{FF2B5EF4-FFF2-40B4-BE49-F238E27FC236}">
                    <a16:creationId xmlns:a16="http://schemas.microsoft.com/office/drawing/2014/main" id="{EEB11E98-042F-2044-2699-137B5CADDC33}"/>
                  </a:ext>
                </a:extLst>
              </p:cNvPr>
              <p:cNvSpPr/>
              <p:nvPr/>
            </p:nvSpPr>
            <p:spPr>
              <a:xfrm>
                <a:off x="9019819" y="4254182"/>
                <a:ext cx="424732" cy="43593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𝑠</m:t>
                          </m:r>
                        </m:e>
                        <m:sub>
                          <m:r>
                            <a:rPr lang="en-US" altLang="zh-CN" b="0" i="1" smtClean="0">
                              <a:solidFill>
                                <a:schemeClr val="tx1"/>
                              </a:solidFill>
                              <a:latin typeface="Cambria Math" panose="02040503050406030204" pitchFamily="18" charset="0"/>
                            </a:rPr>
                            <m:t>2</m:t>
                          </m:r>
                        </m:sub>
                      </m:sSub>
                    </m:oMath>
                  </m:oMathPara>
                </a14:m>
                <a:endParaRPr lang="en-US" dirty="0"/>
              </a:p>
            </p:txBody>
          </p:sp>
        </mc:Choice>
        <mc:Fallback xmlns="">
          <p:sp>
            <p:nvSpPr>
              <p:cNvPr id="105" name="Rectangle 104">
                <a:extLst>
                  <a:ext uri="{FF2B5EF4-FFF2-40B4-BE49-F238E27FC236}">
                    <a16:creationId xmlns:a16="http://schemas.microsoft.com/office/drawing/2014/main" id="{EEB11E98-042F-2044-2699-137B5CADDC33}"/>
                  </a:ext>
                </a:extLst>
              </p:cNvPr>
              <p:cNvSpPr>
                <a:spLocks noRot="1" noChangeAspect="1" noMove="1" noResize="1" noEditPoints="1" noAdjustHandles="1" noChangeArrowheads="1" noChangeShapeType="1" noTextEdit="1"/>
              </p:cNvSpPr>
              <p:nvPr/>
            </p:nvSpPr>
            <p:spPr>
              <a:xfrm>
                <a:off x="9019819" y="4254182"/>
                <a:ext cx="424732" cy="435935"/>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31EE2A4C-A7FC-64DC-939B-BB8ED9E8C4C0}"/>
                  </a:ext>
                </a:extLst>
              </p:cNvPr>
              <p:cNvSpPr txBox="1"/>
              <p:nvPr/>
            </p:nvSpPr>
            <p:spPr>
              <a:xfrm>
                <a:off x="9005638" y="3438258"/>
                <a:ext cx="47897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2</m:t>
                          </m:r>
                        </m:sub>
                      </m:sSub>
                    </m:oMath>
                  </m:oMathPara>
                </a14:m>
                <a:endParaRPr lang="en-US" dirty="0"/>
              </a:p>
            </p:txBody>
          </p:sp>
        </mc:Choice>
        <mc:Fallback xmlns="">
          <p:sp>
            <p:nvSpPr>
              <p:cNvPr id="106" name="TextBox 105">
                <a:extLst>
                  <a:ext uri="{FF2B5EF4-FFF2-40B4-BE49-F238E27FC236}">
                    <a16:creationId xmlns:a16="http://schemas.microsoft.com/office/drawing/2014/main" id="{31EE2A4C-A7FC-64DC-939B-BB8ED9E8C4C0}"/>
                  </a:ext>
                </a:extLst>
              </p:cNvPr>
              <p:cNvSpPr txBox="1">
                <a:spLocks noRot="1" noChangeAspect="1" noMove="1" noResize="1" noEditPoints="1" noAdjustHandles="1" noChangeArrowheads="1" noChangeShapeType="1" noTextEdit="1"/>
              </p:cNvSpPr>
              <p:nvPr/>
            </p:nvSpPr>
            <p:spPr>
              <a:xfrm>
                <a:off x="9005638" y="3438258"/>
                <a:ext cx="478977" cy="369332"/>
              </a:xfrm>
              <a:prstGeom prst="rect">
                <a:avLst/>
              </a:prstGeom>
              <a:blipFill>
                <a:blip r:embed="rId31"/>
                <a:stretch>
                  <a:fillRect b="-10000"/>
                </a:stretch>
              </a:blipFill>
            </p:spPr>
            <p:txBody>
              <a:bodyPr/>
              <a:lstStyle/>
              <a:p>
                <a:r>
                  <a:rPr lang="en-US">
                    <a:noFill/>
                  </a:rPr>
                  <a:t> </a:t>
                </a:r>
              </a:p>
            </p:txBody>
          </p:sp>
        </mc:Fallback>
      </mc:AlternateContent>
      <p:cxnSp>
        <p:nvCxnSpPr>
          <p:cNvPr id="109" name="Straight Arrow Connector 108">
            <a:extLst>
              <a:ext uri="{FF2B5EF4-FFF2-40B4-BE49-F238E27FC236}">
                <a16:creationId xmlns:a16="http://schemas.microsoft.com/office/drawing/2014/main" id="{E2ED62BE-4619-5F90-E32E-6D31D03B9B46}"/>
              </a:ext>
            </a:extLst>
          </p:cNvPr>
          <p:cNvCxnSpPr>
            <a:cxnSpLocks/>
          </p:cNvCxnSpPr>
          <p:nvPr/>
        </p:nvCxnSpPr>
        <p:spPr>
          <a:xfrm flipV="1">
            <a:off x="9239587" y="3869145"/>
            <a:ext cx="0" cy="38761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52DAC7FB-EEA0-1708-C9B8-5DEB801E37C5}"/>
              </a:ext>
            </a:extLst>
          </p:cNvPr>
          <p:cNvCxnSpPr>
            <a:cxnSpLocks/>
          </p:cNvCxnSpPr>
          <p:nvPr/>
        </p:nvCxnSpPr>
        <p:spPr>
          <a:xfrm flipV="1">
            <a:off x="9349601" y="4699827"/>
            <a:ext cx="0" cy="38761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2CA28D26-8418-3BCF-CE91-36D87C34D927}"/>
              </a:ext>
            </a:extLst>
          </p:cNvPr>
          <p:cNvCxnSpPr>
            <a:cxnSpLocks/>
          </p:cNvCxnSpPr>
          <p:nvPr/>
        </p:nvCxnSpPr>
        <p:spPr>
          <a:xfrm flipV="1">
            <a:off x="9118940" y="4716300"/>
            <a:ext cx="0" cy="38761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22DFC1E3-50C8-D4B2-AC6C-7AE8DEC7DAAA}"/>
              </a:ext>
            </a:extLst>
          </p:cNvPr>
          <p:cNvSpPr txBox="1"/>
          <p:nvPr/>
        </p:nvSpPr>
        <p:spPr>
          <a:xfrm>
            <a:off x="8811450" y="2906537"/>
            <a:ext cx="889987" cy="369332"/>
          </a:xfrm>
          <a:prstGeom prst="rect">
            <a:avLst/>
          </a:prstGeom>
          <a:noFill/>
        </p:spPr>
        <p:txBody>
          <a:bodyPr wrap="none" rtlCol="0">
            <a:spAutoFit/>
          </a:bodyPr>
          <a:lstStyle/>
          <a:p>
            <a:r>
              <a:rPr lang="en-US" dirty="0"/>
              <a:t>bought</a:t>
            </a:r>
          </a:p>
        </p:txBody>
      </p:sp>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FEA1C718-4B12-741A-77B2-C57227781278}"/>
                  </a:ext>
                </a:extLst>
              </p:cNvPr>
              <p:cNvSpPr txBox="1"/>
              <p:nvPr/>
            </p:nvSpPr>
            <p:spPr>
              <a:xfrm>
                <a:off x="10716698" y="5092114"/>
                <a:ext cx="769954" cy="37247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𝑇</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+1</m:t>
                          </m:r>
                        </m:sub>
                      </m:sSub>
                    </m:oMath>
                  </m:oMathPara>
                </a14:m>
                <a:endParaRPr lang="en-US" dirty="0"/>
              </a:p>
            </p:txBody>
          </p:sp>
        </mc:Choice>
        <mc:Fallback xmlns="">
          <p:sp>
            <p:nvSpPr>
              <p:cNvPr id="113" name="TextBox 112">
                <a:extLst>
                  <a:ext uri="{FF2B5EF4-FFF2-40B4-BE49-F238E27FC236}">
                    <a16:creationId xmlns:a16="http://schemas.microsoft.com/office/drawing/2014/main" id="{FEA1C718-4B12-741A-77B2-C57227781278}"/>
                  </a:ext>
                </a:extLst>
              </p:cNvPr>
              <p:cNvSpPr txBox="1">
                <a:spLocks noRot="1" noChangeAspect="1" noMove="1" noResize="1" noEditPoints="1" noAdjustHandles="1" noChangeArrowheads="1" noChangeShapeType="1" noTextEdit="1"/>
              </p:cNvSpPr>
              <p:nvPr/>
            </p:nvSpPr>
            <p:spPr>
              <a:xfrm>
                <a:off x="10716698" y="5092114"/>
                <a:ext cx="769954" cy="372474"/>
              </a:xfrm>
              <a:prstGeom prst="rect">
                <a:avLst/>
              </a:prstGeom>
              <a:blipFill>
                <a:blip r:embed="rId3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0FF34A4B-AFFA-9D03-73DE-81CB0A825361}"/>
                  </a:ext>
                </a:extLst>
              </p:cNvPr>
              <p:cNvSpPr txBox="1"/>
              <p:nvPr/>
            </p:nvSpPr>
            <p:spPr>
              <a:xfrm>
                <a:off x="11275016" y="5050789"/>
                <a:ext cx="53046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𝑇</m:t>
                          </m:r>
                          <m:r>
                            <a:rPr lang="zh-CN" altLang="en-US" b="0" i="1" smtClean="0">
                              <a:latin typeface="Cambria Math" panose="02040503050406030204" pitchFamily="18" charset="0"/>
                            </a:rPr>
                            <m:t>‘</m:t>
                          </m:r>
                        </m:sub>
                      </m:sSub>
                    </m:oMath>
                  </m:oMathPara>
                </a14:m>
                <a:endParaRPr lang="en-US" dirty="0"/>
              </a:p>
            </p:txBody>
          </p:sp>
        </mc:Choice>
        <mc:Fallback xmlns="">
          <p:sp>
            <p:nvSpPr>
              <p:cNvPr id="114" name="TextBox 113">
                <a:extLst>
                  <a:ext uri="{FF2B5EF4-FFF2-40B4-BE49-F238E27FC236}">
                    <a16:creationId xmlns:a16="http://schemas.microsoft.com/office/drawing/2014/main" id="{0FF34A4B-AFFA-9D03-73DE-81CB0A825361}"/>
                  </a:ext>
                </a:extLst>
              </p:cNvPr>
              <p:cNvSpPr txBox="1">
                <a:spLocks noRot="1" noChangeAspect="1" noMove="1" noResize="1" noEditPoints="1" noAdjustHandles="1" noChangeArrowheads="1" noChangeShapeType="1" noTextEdit="1"/>
              </p:cNvSpPr>
              <p:nvPr/>
            </p:nvSpPr>
            <p:spPr>
              <a:xfrm>
                <a:off x="11275016" y="5050789"/>
                <a:ext cx="530466" cy="369332"/>
              </a:xfrm>
              <a:prstGeom prst="rect">
                <a:avLst/>
              </a:prstGeom>
              <a:blipFill>
                <a:blip r:embed="rId33"/>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5" name="Rectangle 114">
                <a:extLst>
                  <a:ext uri="{FF2B5EF4-FFF2-40B4-BE49-F238E27FC236}">
                    <a16:creationId xmlns:a16="http://schemas.microsoft.com/office/drawing/2014/main" id="{1895D078-0015-3CA1-AB79-257541EF1C40}"/>
                  </a:ext>
                </a:extLst>
              </p:cNvPr>
              <p:cNvSpPr/>
              <p:nvPr/>
            </p:nvSpPr>
            <p:spPr>
              <a:xfrm>
                <a:off x="11156870" y="4280365"/>
                <a:ext cx="424732" cy="43593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𝑠</m:t>
                          </m:r>
                        </m:e>
                        <m:sub>
                          <m:r>
                            <a:rPr lang="en-US" altLang="zh-CN" b="0" i="1" smtClean="0">
                              <a:solidFill>
                                <a:schemeClr val="tx1"/>
                              </a:solidFill>
                              <a:latin typeface="Cambria Math" panose="02040503050406030204" pitchFamily="18" charset="0"/>
                            </a:rPr>
                            <m:t>𝑇</m:t>
                          </m:r>
                          <m:r>
                            <a:rPr lang="en-US" altLang="zh-CN" b="0" i="1" smtClean="0">
                              <a:solidFill>
                                <a:schemeClr val="tx1"/>
                              </a:solidFill>
                              <a:latin typeface="Cambria Math" panose="02040503050406030204" pitchFamily="18" charset="0"/>
                            </a:rPr>
                            <m:t>′</m:t>
                          </m:r>
                        </m:sub>
                      </m:sSub>
                    </m:oMath>
                  </m:oMathPara>
                </a14:m>
                <a:endParaRPr lang="en-US" dirty="0"/>
              </a:p>
            </p:txBody>
          </p:sp>
        </mc:Choice>
        <mc:Fallback xmlns="">
          <p:sp>
            <p:nvSpPr>
              <p:cNvPr id="115" name="Rectangle 114">
                <a:extLst>
                  <a:ext uri="{FF2B5EF4-FFF2-40B4-BE49-F238E27FC236}">
                    <a16:creationId xmlns:a16="http://schemas.microsoft.com/office/drawing/2014/main" id="{1895D078-0015-3CA1-AB79-257541EF1C40}"/>
                  </a:ext>
                </a:extLst>
              </p:cNvPr>
              <p:cNvSpPr>
                <a:spLocks noRot="1" noChangeAspect="1" noMove="1" noResize="1" noEditPoints="1" noAdjustHandles="1" noChangeArrowheads="1" noChangeShapeType="1" noTextEdit="1"/>
              </p:cNvSpPr>
              <p:nvPr/>
            </p:nvSpPr>
            <p:spPr>
              <a:xfrm>
                <a:off x="11156870" y="4280365"/>
                <a:ext cx="424732" cy="435935"/>
              </a:xfrm>
              <a:prstGeom prst="rect">
                <a:avLst/>
              </a:prstGeom>
              <a:blipFill>
                <a:blip r:embed="rId34"/>
                <a:stretch>
                  <a:fillRect l="-2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76A528D9-D090-7A42-9CE9-CEF1184C9AE7}"/>
                  </a:ext>
                </a:extLst>
              </p:cNvPr>
              <p:cNvSpPr txBox="1"/>
              <p:nvPr/>
            </p:nvSpPr>
            <p:spPr>
              <a:xfrm>
                <a:off x="11142689" y="3464441"/>
                <a:ext cx="794000" cy="37247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𝑇</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+1</m:t>
                          </m:r>
                        </m:sub>
                      </m:sSub>
                    </m:oMath>
                  </m:oMathPara>
                </a14:m>
                <a:endParaRPr lang="en-US" dirty="0"/>
              </a:p>
            </p:txBody>
          </p:sp>
        </mc:Choice>
        <mc:Fallback xmlns="">
          <p:sp>
            <p:nvSpPr>
              <p:cNvPr id="116" name="TextBox 115">
                <a:extLst>
                  <a:ext uri="{FF2B5EF4-FFF2-40B4-BE49-F238E27FC236}">
                    <a16:creationId xmlns:a16="http://schemas.microsoft.com/office/drawing/2014/main" id="{76A528D9-D090-7A42-9CE9-CEF1184C9AE7}"/>
                  </a:ext>
                </a:extLst>
              </p:cNvPr>
              <p:cNvSpPr txBox="1">
                <a:spLocks noRot="1" noChangeAspect="1" noMove="1" noResize="1" noEditPoints="1" noAdjustHandles="1" noChangeArrowheads="1" noChangeShapeType="1" noTextEdit="1"/>
              </p:cNvSpPr>
              <p:nvPr/>
            </p:nvSpPr>
            <p:spPr>
              <a:xfrm>
                <a:off x="11142689" y="3464441"/>
                <a:ext cx="794000" cy="372474"/>
              </a:xfrm>
              <a:prstGeom prst="rect">
                <a:avLst/>
              </a:prstGeom>
              <a:blipFill>
                <a:blip r:embed="rId35"/>
                <a:stretch>
                  <a:fillRect b="-10000"/>
                </a:stretch>
              </a:blipFill>
            </p:spPr>
            <p:txBody>
              <a:bodyPr/>
              <a:lstStyle/>
              <a:p>
                <a:r>
                  <a:rPr lang="en-US">
                    <a:noFill/>
                  </a:rPr>
                  <a:t> </a:t>
                </a:r>
              </a:p>
            </p:txBody>
          </p:sp>
        </mc:Fallback>
      </mc:AlternateContent>
      <p:cxnSp>
        <p:nvCxnSpPr>
          <p:cNvPr id="117" name="Straight Arrow Connector 116">
            <a:extLst>
              <a:ext uri="{FF2B5EF4-FFF2-40B4-BE49-F238E27FC236}">
                <a16:creationId xmlns:a16="http://schemas.microsoft.com/office/drawing/2014/main" id="{64D23C74-F662-4A4D-414C-431B4D62DD62}"/>
              </a:ext>
            </a:extLst>
          </p:cNvPr>
          <p:cNvCxnSpPr>
            <a:cxnSpLocks/>
          </p:cNvCxnSpPr>
          <p:nvPr/>
        </p:nvCxnSpPr>
        <p:spPr>
          <a:xfrm flipV="1">
            <a:off x="11376638" y="3895328"/>
            <a:ext cx="0" cy="38761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63903183-2F1F-414A-EAB1-EA9BF0E38D23}"/>
              </a:ext>
            </a:extLst>
          </p:cNvPr>
          <p:cNvCxnSpPr>
            <a:cxnSpLocks/>
          </p:cNvCxnSpPr>
          <p:nvPr/>
        </p:nvCxnSpPr>
        <p:spPr>
          <a:xfrm flipV="1">
            <a:off x="11486652" y="4726010"/>
            <a:ext cx="0" cy="38761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9BB8EBBB-FC2E-75C9-CD4D-E8A87938C0C2}"/>
              </a:ext>
            </a:extLst>
          </p:cNvPr>
          <p:cNvCxnSpPr>
            <a:cxnSpLocks/>
          </p:cNvCxnSpPr>
          <p:nvPr/>
        </p:nvCxnSpPr>
        <p:spPr>
          <a:xfrm flipV="1">
            <a:off x="11255991" y="4742483"/>
            <a:ext cx="0" cy="38761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0" name="TextBox 119">
            <a:extLst>
              <a:ext uri="{FF2B5EF4-FFF2-40B4-BE49-F238E27FC236}">
                <a16:creationId xmlns:a16="http://schemas.microsoft.com/office/drawing/2014/main" id="{D046CADF-3A80-53F4-8DCA-035DF5260DB3}"/>
              </a:ext>
            </a:extLst>
          </p:cNvPr>
          <p:cNvSpPr txBox="1"/>
          <p:nvPr/>
        </p:nvSpPr>
        <p:spPr>
          <a:xfrm>
            <a:off x="11034236" y="2941667"/>
            <a:ext cx="800219" cy="369332"/>
          </a:xfrm>
          <a:prstGeom prst="rect">
            <a:avLst/>
          </a:prstGeom>
          <a:noFill/>
        </p:spPr>
        <p:txBody>
          <a:bodyPr wrap="none" rtlCol="0">
            <a:spAutoFit/>
          </a:bodyPr>
          <a:lstStyle/>
          <a:p>
            <a:r>
              <a:rPr lang="en-US" altLang="zh-CN" dirty="0"/>
              <a:t>[END]</a:t>
            </a:r>
            <a:endParaRPr lang="en-US" dirty="0"/>
          </a:p>
        </p:txBody>
      </p:sp>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87CBDC87-CC95-5EE9-E78E-329A353B6152}"/>
                  </a:ext>
                </a:extLst>
              </p:cNvPr>
              <p:cNvSpPr txBox="1"/>
              <p:nvPr/>
            </p:nvSpPr>
            <p:spPr>
              <a:xfrm>
                <a:off x="10114167" y="4358511"/>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123" name="TextBox 122">
                <a:extLst>
                  <a:ext uri="{FF2B5EF4-FFF2-40B4-BE49-F238E27FC236}">
                    <a16:creationId xmlns:a16="http://schemas.microsoft.com/office/drawing/2014/main" id="{87CBDC87-CC95-5EE9-E78E-329A353B6152}"/>
                  </a:ext>
                </a:extLst>
              </p:cNvPr>
              <p:cNvSpPr txBox="1">
                <a:spLocks noRot="1" noChangeAspect="1" noMove="1" noResize="1" noEditPoints="1" noAdjustHandles="1" noChangeArrowheads="1" noChangeShapeType="1" noTextEdit="1"/>
              </p:cNvSpPr>
              <p:nvPr/>
            </p:nvSpPr>
            <p:spPr>
              <a:xfrm>
                <a:off x="10114167" y="4358511"/>
                <a:ext cx="329532" cy="246221"/>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0" name="TextBox 129">
                <a:extLst>
                  <a:ext uri="{FF2B5EF4-FFF2-40B4-BE49-F238E27FC236}">
                    <a16:creationId xmlns:a16="http://schemas.microsoft.com/office/drawing/2014/main" id="{02AE9F6D-DB1F-56EE-E84C-D4D29AF560EE}"/>
                  </a:ext>
                </a:extLst>
              </p:cNvPr>
              <p:cNvSpPr txBox="1"/>
              <p:nvPr/>
            </p:nvSpPr>
            <p:spPr>
              <a:xfrm>
                <a:off x="10085851" y="3605685"/>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130" name="TextBox 129">
                <a:extLst>
                  <a:ext uri="{FF2B5EF4-FFF2-40B4-BE49-F238E27FC236}">
                    <a16:creationId xmlns:a16="http://schemas.microsoft.com/office/drawing/2014/main" id="{02AE9F6D-DB1F-56EE-E84C-D4D29AF560EE}"/>
                  </a:ext>
                </a:extLst>
              </p:cNvPr>
              <p:cNvSpPr txBox="1">
                <a:spLocks noRot="1" noChangeAspect="1" noMove="1" noResize="1" noEditPoints="1" noAdjustHandles="1" noChangeArrowheads="1" noChangeShapeType="1" noTextEdit="1"/>
              </p:cNvSpPr>
              <p:nvPr/>
            </p:nvSpPr>
            <p:spPr>
              <a:xfrm>
                <a:off x="10085851" y="3605685"/>
                <a:ext cx="329532" cy="246221"/>
              </a:xfrm>
              <a:prstGeom prst="rect">
                <a:avLst/>
              </a:prstGeom>
              <a:blipFill>
                <a:blip r:embed="rId3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1" name="TextBox 130">
                <a:extLst>
                  <a:ext uri="{FF2B5EF4-FFF2-40B4-BE49-F238E27FC236}">
                    <a16:creationId xmlns:a16="http://schemas.microsoft.com/office/drawing/2014/main" id="{0B3A3A5F-EED9-BF64-3BEC-B81EDDA8AB35}"/>
                  </a:ext>
                </a:extLst>
              </p:cNvPr>
              <p:cNvSpPr txBox="1"/>
              <p:nvPr/>
            </p:nvSpPr>
            <p:spPr>
              <a:xfrm>
                <a:off x="10085851" y="2987306"/>
                <a:ext cx="329532"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131" name="TextBox 130">
                <a:extLst>
                  <a:ext uri="{FF2B5EF4-FFF2-40B4-BE49-F238E27FC236}">
                    <a16:creationId xmlns:a16="http://schemas.microsoft.com/office/drawing/2014/main" id="{0B3A3A5F-EED9-BF64-3BEC-B81EDDA8AB35}"/>
                  </a:ext>
                </a:extLst>
              </p:cNvPr>
              <p:cNvSpPr txBox="1">
                <a:spLocks noRot="1" noChangeAspect="1" noMove="1" noResize="1" noEditPoints="1" noAdjustHandles="1" noChangeArrowheads="1" noChangeShapeType="1" noTextEdit="1"/>
              </p:cNvSpPr>
              <p:nvPr/>
            </p:nvSpPr>
            <p:spPr>
              <a:xfrm>
                <a:off x="10085851" y="2987306"/>
                <a:ext cx="329532" cy="246221"/>
              </a:xfrm>
              <a:prstGeom prst="rect">
                <a:avLst/>
              </a:prstGeom>
              <a:blipFill>
                <a:blip r:embed="rId21"/>
                <a:stretch>
                  <a:fillRect/>
                </a:stretch>
              </a:blipFill>
            </p:spPr>
            <p:txBody>
              <a:bodyPr/>
              <a:lstStyle/>
              <a:p>
                <a:r>
                  <a:rPr lang="en-US">
                    <a:noFill/>
                  </a:rPr>
                  <a:t> </a:t>
                </a:r>
              </a:p>
            </p:txBody>
          </p:sp>
        </mc:Fallback>
      </mc:AlternateContent>
      <p:sp>
        <p:nvSpPr>
          <p:cNvPr id="150" name="TextBox 149">
            <a:extLst>
              <a:ext uri="{FF2B5EF4-FFF2-40B4-BE49-F238E27FC236}">
                <a16:creationId xmlns:a16="http://schemas.microsoft.com/office/drawing/2014/main" id="{FB12C5A0-20F1-947E-8D2A-55C0622D6A4A}"/>
              </a:ext>
            </a:extLst>
          </p:cNvPr>
          <p:cNvSpPr txBox="1"/>
          <p:nvPr/>
        </p:nvSpPr>
        <p:spPr>
          <a:xfrm>
            <a:off x="8015160" y="3084857"/>
            <a:ext cx="248786" cy="369332"/>
          </a:xfrm>
          <a:prstGeom prst="rect">
            <a:avLst/>
          </a:prstGeom>
          <a:noFill/>
        </p:spPr>
        <p:txBody>
          <a:bodyPr wrap="none" rtlCol="0">
            <a:spAutoFit/>
          </a:bodyPr>
          <a:lstStyle/>
          <a:p>
            <a:r>
              <a:rPr lang="en-US" altLang="zh-CN" dirty="0"/>
              <a:t>I</a:t>
            </a:r>
            <a:endParaRPr lang="en-US" dirty="0"/>
          </a:p>
        </p:txBody>
      </p:sp>
      <p:sp>
        <p:nvSpPr>
          <p:cNvPr id="160" name="TextBox 159">
            <a:extLst>
              <a:ext uri="{FF2B5EF4-FFF2-40B4-BE49-F238E27FC236}">
                <a16:creationId xmlns:a16="http://schemas.microsoft.com/office/drawing/2014/main" id="{0C42CB1E-ECBB-3D57-2516-29B04E1536F9}"/>
              </a:ext>
            </a:extLst>
          </p:cNvPr>
          <p:cNvSpPr txBox="1"/>
          <p:nvPr/>
        </p:nvSpPr>
        <p:spPr>
          <a:xfrm>
            <a:off x="10784168" y="5589226"/>
            <a:ext cx="1184940" cy="369332"/>
          </a:xfrm>
          <a:prstGeom prst="rect">
            <a:avLst/>
          </a:prstGeom>
          <a:solidFill>
            <a:schemeClr val="bg1"/>
          </a:solidFill>
        </p:spPr>
        <p:txBody>
          <a:bodyPr wrap="none" rtlCol="0">
            <a:spAutoFit/>
          </a:bodyPr>
          <a:lstStyle/>
          <a:p>
            <a:r>
              <a:rPr lang="en-US" altLang="zh-CN" dirty="0"/>
              <a:t>yesterday</a:t>
            </a:r>
            <a:endParaRPr lang="en-US" dirty="0"/>
          </a:p>
        </p:txBody>
      </p:sp>
      <p:cxnSp>
        <p:nvCxnSpPr>
          <p:cNvPr id="161" name="Straight Arrow Connector 160">
            <a:extLst>
              <a:ext uri="{FF2B5EF4-FFF2-40B4-BE49-F238E27FC236}">
                <a16:creationId xmlns:a16="http://schemas.microsoft.com/office/drawing/2014/main" id="{8CD2DB81-0A2F-946A-42D2-1F41DBA11AB7}"/>
              </a:ext>
            </a:extLst>
          </p:cNvPr>
          <p:cNvCxnSpPr>
            <a:cxnSpLocks/>
          </p:cNvCxnSpPr>
          <p:nvPr/>
        </p:nvCxnSpPr>
        <p:spPr>
          <a:xfrm flipH="1" flipV="1">
            <a:off x="7857547" y="5418701"/>
            <a:ext cx="0" cy="85955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793DB6B1-BB31-C164-479D-EDCBDCF178F9}"/>
              </a:ext>
            </a:extLst>
          </p:cNvPr>
          <p:cNvCxnSpPr>
            <a:cxnSpLocks/>
          </p:cNvCxnSpPr>
          <p:nvPr/>
        </p:nvCxnSpPr>
        <p:spPr>
          <a:xfrm flipH="1" flipV="1">
            <a:off x="9118407" y="5412222"/>
            <a:ext cx="0" cy="85955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082A3C7F-71EE-D87F-E7E4-92C0CEE0858B}"/>
              </a:ext>
            </a:extLst>
          </p:cNvPr>
          <p:cNvSpPr txBox="1"/>
          <p:nvPr/>
        </p:nvSpPr>
        <p:spPr>
          <a:xfrm>
            <a:off x="7564120" y="5590604"/>
            <a:ext cx="1048236" cy="369332"/>
          </a:xfrm>
          <a:prstGeom prst="rect">
            <a:avLst/>
          </a:prstGeom>
          <a:solidFill>
            <a:schemeClr val="bg1"/>
          </a:solidFill>
        </p:spPr>
        <p:txBody>
          <a:bodyPr wrap="none" rtlCol="0">
            <a:spAutoFit/>
          </a:bodyPr>
          <a:lstStyle/>
          <a:p>
            <a:r>
              <a:rPr lang="en-US" altLang="zh-CN" dirty="0"/>
              <a:t>[START]</a:t>
            </a:r>
            <a:endParaRPr lang="en-US" dirty="0"/>
          </a:p>
        </p:txBody>
      </p:sp>
      <p:sp>
        <p:nvSpPr>
          <p:cNvPr id="159" name="TextBox 158">
            <a:extLst>
              <a:ext uri="{FF2B5EF4-FFF2-40B4-BE49-F238E27FC236}">
                <a16:creationId xmlns:a16="http://schemas.microsoft.com/office/drawing/2014/main" id="{9ADBCB62-BBFB-B1B8-709D-30BFFAFB2DE3}"/>
              </a:ext>
            </a:extLst>
          </p:cNvPr>
          <p:cNvSpPr txBox="1"/>
          <p:nvPr/>
        </p:nvSpPr>
        <p:spPr>
          <a:xfrm>
            <a:off x="9224724" y="5578704"/>
            <a:ext cx="248786" cy="369332"/>
          </a:xfrm>
          <a:prstGeom prst="rect">
            <a:avLst/>
          </a:prstGeom>
          <a:solidFill>
            <a:schemeClr val="bg1"/>
          </a:solidFill>
        </p:spPr>
        <p:txBody>
          <a:bodyPr wrap="none" rtlCol="0">
            <a:spAutoFit/>
          </a:bodyPr>
          <a:lstStyle/>
          <a:p>
            <a:r>
              <a:rPr lang="en-US" altLang="zh-CN" dirty="0"/>
              <a:t>I</a:t>
            </a:r>
            <a:endParaRPr lang="en-US" dirty="0"/>
          </a:p>
        </p:txBody>
      </p:sp>
      <p:cxnSp>
        <p:nvCxnSpPr>
          <p:cNvPr id="164" name="Straight Arrow Connector 163">
            <a:extLst>
              <a:ext uri="{FF2B5EF4-FFF2-40B4-BE49-F238E27FC236}">
                <a16:creationId xmlns:a16="http://schemas.microsoft.com/office/drawing/2014/main" id="{7511E143-B12F-3F67-7125-4860346D8D10}"/>
              </a:ext>
            </a:extLst>
          </p:cNvPr>
          <p:cNvCxnSpPr>
            <a:cxnSpLocks/>
          </p:cNvCxnSpPr>
          <p:nvPr/>
        </p:nvCxnSpPr>
        <p:spPr>
          <a:xfrm flipV="1">
            <a:off x="8199572" y="4367050"/>
            <a:ext cx="820247" cy="947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Straight Arrow Connector 166">
            <a:extLst>
              <a:ext uri="{FF2B5EF4-FFF2-40B4-BE49-F238E27FC236}">
                <a16:creationId xmlns:a16="http://schemas.microsoft.com/office/drawing/2014/main" id="{A5ABFC36-10A4-F41A-010D-4793E44B04EE}"/>
              </a:ext>
            </a:extLst>
          </p:cNvPr>
          <p:cNvCxnSpPr>
            <a:cxnSpLocks/>
          </p:cNvCxnSpPr>
          <p:nvPr/>
        </p:nvCxnSpPr>
        <p:spPr>
          <a:xfrm>
            <a:off x="9456191" y="4351966"/>
            <a:ext cx="353249"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9" name="Straight Arrow Connector 168">
            <a:extLst>
              <a:ext uri="{FF2B5EF4-FFF2-40B4-BE49-F238E27FC236}">
                <a16:creationId xmlns:a16="http://schemas.microsoft.com/office/drawing/2014/main" id="{988A46A1-FAB1-AF32-33A1-48A028EF6695}"/>
              </a:ext>
            </a:extLst>
          </p:cNvPr>
          <p:cNvCxnSpPr>
            <a:cxnSpLocks/>
          </p:cNvCxnSpPr>
          <p:nvPr/>
        </p:nvCxnSpPr>
        <p:spPr>
          <a:xfrm>
            <a:off x="10803621" y="4410757"/>
            <a:ext cx="353249"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0" name="Elbow Connector 169">
            <a:extLst>
              <a:ext uri="{FF2B5EF4-FFF2-40B4-BE49-F238E27FC236}">
                <a16:creationId xmlns:a16="http://schemas.microsoft.com/office/drawing/2014/main" id="{196CFF88-A247-47C4-902B-F47FAF8C5CBB}"/>
              </a:ext>
            </a:extLst>
          </p:cNvPr>
          <p:cNvCxnSpPr>
            <a:cxnSpLocks/>
            <a:stCxn id="93" idx="3"/>
            <a:endCxn id="103" idx="1"/>
          </p:cNvCxnSpPr>
          <p:nvPr/>
        </p:nvCxnSpPr>
        <p:spPr>
          <a:xfrm>
            <a:off x="8199572" y="4481623"/>
            <a:ext cx="682689" cy="757283"/>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3" name="Elbow Connector 172">
            <a:extLst>
              <a:ext uri="{FF2B5EF4-FFF2-40B4-BE49-F238E27FC236}">
                <a16:creationId xmlns:a16="http://schemas.microsoft.com/office/drawing/2014/main" id="{EEDA1927-21F0-4CBA-1B1E-DCE08DD9CC37}"/>
              </a:ext>
            </a:extLst>
          </p:cNvPr>
          <p:cNvCxnSpPr>
            <a:cxnSpLocks/>
            <a:stCxn id="105" idx="3"/>
            <a:endCxn id="113" idx="1"/>
          </p:cNvCxnSpPr>
          <p:nvPr/>
        </p:nvCxnSpPr>
        <p:spPr>
          <a:xfrm>
            <a:off x="9444551" y="4472150"/>
            <a:ext cx="1272147" cy="806201"/>
          </a:xfrm>
          <a:prstGeom prst="bentConnector3">
            <a:avLst>
              <a:gd name="adj1" fmla="val 28519"/>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9" name="TextBox 128">
                <a:extLst>
                  <a:ext uri="{FF2B5EF4-FFF2-40B4-BE49-F238E27FC236}">
                    <a16:creationId xmlns:a16="http://schemas.microsoft.com/office/drawing/2014/main" id="{1E9498C2-15FF-8C6A-4978-1F5C7E400C32}"/>
                  </a:ext>
                </a:extLst>
              </p:cNvPr>
              <p:cNvSpPr txBox="1"/>
              <p:nvPr/>
            </p:nvSpPr>
            <p:spPr>
              <a:xfrm>
                <a:off x="10089181" y="5119518"/>
                <a:ext cx="329532" cy="246221"/>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m:t>
                      </m:r>
                    </m:oMath>
                  </m:oMathPara>
                </a14:m>
                <a:endParaRPr lang="en-US" sz="1000" dirty="0">
                  <a:latin typeface="Microsoft YaHei" panose="020B0503020204020204" pitchFamily="34" charset="-122"/>
                  <a:ea typeface="Microsoft YaHei" panose="020B0503020204020204" pitchFamily="34" charset="-122"/>
                </a:endParaRPr>
              </a:p>
            </p:txBody>
          </p:sp>
        </mc:Choice>
        <mc:Fallback xmlns="">
          <p:sp>
            <p:nvSpPr>
              <p:cNvPr id="129" name="TextBox 128">
                <a:extLst>
                  <a:ext uri="{FF2B5EF4-FFF2-40B4-BE49-F238E27FC236}">
                    <a16:creationId xmlns:a16="http://schemas.microsoft.com/office/drawing/2014/main" id="{1E9498C2-15FF-8C6A-4978-1F5C7E400C32}"/>
                  </a:ext>
                </a:extLst>
              </p:cNvPr>
              <p:cNvSpPr txBox="1">
                <a:spLocks noRot="1" noChangeAspect="1" noMove="1" noResize="1" noEditPoints="1" noAdjustHandles="1" noChangeArrowheads="1" noChangeShapeType="1" noTextEdit="1"/>
              </p:cNvSpPr>
              <p:nvPr/>
            </p:nvSpPr>
            <p:spPr>
              <a:xfrm>
                <a:off x="10089181" y="5119518"/>
                <a:ext cx="329532" cy="246221"/>
              </a:xfrm>
              <a:prstGeom prst="rect">
                <a:avLst/>
              </a:prstGeom>
              <a:blipFill>
                <a:blip r:embed="rId3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781778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DAC552B-8E95-FE40-D03D-1CB077C50CCE}"/>
                  </a:ext>
                </a:extLst>
              </p:cNvPr>
              <p:cNvSpPr>
                <a:spLocks noGrp="1"/>
              </p:cNvSpPr>
              <p:nvPr>
                <p:ph idx="1"/>
              </p:nvPr>
            </p:nvSpPr>
            <p:spPr/>
            <p:txBody>
              <a:bodyPr/>
              <a:lstStyle/>
              <a:p>
                <a:pPr marL="457200" indent="-457200" algn="just">
                  <a:lnSpc>
                    <a:spcPct val="130000"/>
                  </a:lnSpc>
                  <a:buFont typeface="Wingdings" panose="05000000000000000000" pitchFamily="2" charset="2"/>
                  <a:buChar char="p"/>
                  <a:defRPr/>
                </a:pPr>
                <a:r>
                  <a:rPr lang="zh-CN" altLang="en-US" dirty="0"/>
                  <a:t>在</a:t>
                </a:r>
                <a:r>
                  <a:rPr lang="en-US" altLang="en-US" dirty="0"/>
                  <a:t>RNN</a:t>
                </a:r>
                <a:r>
                  <a:rPr lang="zh-CN" altLang="en-US" dirty="0"/>
                  <a:t>中，使用前馈注意力机制</a:t>
                </a:r>
                <a:endParaRPr lang="en-US" altLang="en-US" dirty="0"/>
              </a:p>
              <a:p>
                <a:pPr marL="0" indent="0" algn="just">
                  <a:lnSpc>
                    <a:spcPct val="130000"/>
                  </a:lnSpc>
                  <a:buNone/>
                  <a:defRPr/>
                </a:pPr>
                <a14:m>
                  <m:oMathPara xmlns:m="http://schemas.openxmlformats.org/officeDocument/2006/math">
                    <m:oMathParaPr>
                      <m:jc m:val="centerGroup"/>
                    </m:oMathParaPr>
                    <m:oMath xmlns:m="http://schemas.openxmlformats.org/officeDocument/2006/math">
                      <m:sSub>
                        <m:sSubPr>
                          <m:ctrlPr>
                            <a:rPr lang="en-US" altLang="en-US" i="1">
                              <a:latin typeface="Cambria Math" panose="02040503050406030204" pitchFamily="18" charset="0"/>
                            </a:rPr>
                          </m:ctrlPr>
                        </m:sSubPr>
                        <m:e>
                          <m:r>
                            <a:rPr lang="en-US" altLang="en-US">
                              <a:latin typeface="Cambria Math" panose="02040503050406030204" pitchFamily="18" charset="0"/>
                            </a:rPr>
                            <m:t>𝑒</m:t>
                          </m:r>
                        </m:e>
                        <m:sub>
                          <m:r>
                            <a:rPr lang="en-US" altLang="en-US">
                              <a:latin typeface="Cambria Math" panose="02040503050406030204" pitchFamily="18" charset="0"/>
                            </a:rPr>
                            <m:t>𝑖</m:t>
                          </m:r>
                          <m:r>
                            <a:rPr lang="en-US" altLang="en-US">
                              <a:latin typeface="Cambria Math" panose="02040503050406030204" pitchFamily="18" charset="0"/>
                            </a:rPr>
                            <m:t>,</m:t>
                          </m:r>
                          <m:r>
                            <a:rPr lang="en-US" altLang="en-US">
                              <a:latin typeface="Cambria Math" panose="02040503050406030204" pitchFamily="18" charset="0"/>
                            </a:rPr>
                            <m:t>𝑗</m:t>
                          </m:r>
                        </m:sub>
                      </m:sSub>
                      <m:r>
                        <a:rPr lang="en-US" altLang="en-US">
                          <a:latin typeface="Cambria Math" panose="02040503050406030204" pitchFamily="18" charset="0"/>
                        </a:rPr>
                        <m:t>=</m:t>
                      </m:r>
                      <m:func>
                        <m:funcPr>
                          <m:ctrlPr>
                            <a:rPr lang="en-US" altLang="en-US" i="1">
                              <a:latin typeface="Cambria Math" panose="02040503050406030204" pitchFamily="18" charset="0"/>
                            </a:rPr>
                          </m:ctrlPr>
                        </m:funcPr>
                        <m:fName>
                          <m:r>
                            <m:rPr>
                              <m:sty m:val="p"/>
                            </m:rPr>
                            <a:rPr lang="en-US" altLang="en-US">
                              <a:latin typeface="Cambria Math" panose="02040503050406030204" pitchFamily="18" charset="0"/>
                            </a:rPr>
                            <m:t>tanh</m:t>
                          </m:r>
                        </m:fName>
                        <m:e>
                          <m:d>
                            <m:dPr>
                              <m:ctrlPr>
                                <a:rPr lang="en-US" altLang="en-US" i="1">
                                  <a:latin typeface="Cambria Math" panose="02040503050406030204" pitchFamily="18" charset="0"/>
                                </a:rPr>
                              </m:ctrlPr>
                            </m:dPr>
                            <m:e>
                              <m:r>
                                <a:rPr lang="en-US" altLang="en-US">
                                  <a:latin typeface="Cambria Math" panose="02040503050406030204" pitchFamily="18" charset="0"/>
                                </a:rPr>
                                <m:t>𝑤</m:t>
                              </m:r>
                              <m:r>
                                <a:rPr lang="en-US" altLang="en-US">
                                  <a:latin typeface="Cambria Math" panose="02040503050406030204" pitchFamily="18" charset="0"/>
                                </a:rPr>
                                <m:t>⋅(</m:t>
                              </m:r>
                              <m:sSub>
                                <m:sSubPr>
                                  <m:ctrlPr>
                                    <a:rPr lang="en-US" altLang="en-US" i="1">
                                      <a:latin typeface="Cambria Math" panose="02040503050406030204" pitchFamily="18" charset="0"/>
                                    </a:rPr>
                                  </m:ctrlPr>
                                </m:sSubPr>
                                <m:e>
                                  <m:r>
                                    <a:rPr lang="en-US" altLang="en-US">
                                      <a:latin typeface="Cambria Math" panose="02040503050406030204" pitchFamily="18" charset="0"/>
                                    </a:rPr>
                                    <m:t>𝑠</m:t>
                                  </m:r>
                                </m:e>
                                <m:sub>
                                  <m:r>
                                    <a:rPr lang="en-US" altLang="en-US">
                                      <a:latin typeface="Cambria Math" panose="02040503050406030204" pitchFamily="18" charset="0"/>
                                    </a:rPr>
                                    <m:t>𝑖</m:t>
                                  </m:r>
                                  <m:r>
                                    <a:rPr lang="en-US" altLang="en-US">
                                      <a:latin typeface="Cambria Math" panose="02040503050406030204" pitchFamily="18" charset="0"/>
                                    </a:rPr>
                                    <m:t>−1</m:t>
                                  </m:r>
                                </m:sub>
                              </m:sSub>
                              <m:r>
                                <a:rPr lang="en-US" altLang="en-US">
                                  <a:latin typeface="Cambria Math" panose="02040503050406030204" pitchFamily="18" charset="0"/>
                                </a:rPr>
                                <m:t>⊕</m:t>
                              </m:r>
                              <m:sSub>
                                <m:sSubPr>
                                  <m:ctrlPr>
                                    <a:rPr lang="en-US" altLang="en-US" i="1">
                                      <a:latin typeface="Cambria Math" panose="02040503050406030204" pitchFamily="18" charset="0"/>
                                    </a:rPr>
                                  </m:ctrlPr>
                                </m:sSubPr>
                                <m:e>
                                  <m:r>
                                    <a:rPr lang="en-US" altLang="en-US">
                                      <a:latin typeface="Cambria Math" panose="02040503050406030204" pitchFamily="18" charset="0"/>
                                    </a:rPr>
                                    <m:t>h</m:t>
                                  </m:r>
                                </m:e>
                                <m:sub>
                                  <m:r>
                                    <a:rPr lang="en-US" altLang="en-US">
                                      <a:latin typeface="Cambria Math" panose="02040503050406030204" pitchFamily="18" charset="0"/>
                                    </a:rPr>
                                    <m:t>𝑗</m:t>
                                  </m:r>
                                </m:sub>
                              </m:sSub>
                              <m:r>
                                <a:rPr lang="en-US" altLang="en-US">
                                  <a:latin typeface="Cambria Math" panose="02040503050406030204" pitchFamily="18" charset="0"/>
                                </a:rPr>
                                <m:t>)</m:t>
                              </m:r>
                            </m:e>
                          </m:d>
                        </m:e>
                      </m:func>
                    </m:oMath>
                  </m:oMathPara>
                </a14:m>
                <a:endParaRPr lang="en-US" altLang="en-US" dirty="0"/>
              </a:p>
              <a:p>
                <a:pPr marL="457200" indent="-457200" algn="just">
                  <a:lnSpc>
                    <a:spcPct val="130000"/>
                  </a:lnSpc>
                  <a:buFont typeface="Wingdings" panose="05000000000000000000" pitchFamily="2" charset="2"/>
                  <a:buChar char="p"/>
                  <a:defRPr/>
                </a:pPr>
                <a:r>
                  <a:rPr lang="en-US" altLang="en-US" dirty="0" err="1"/>
                  <a:t>向量</a:t>
                </a:r>
                <a:r>
                  <a:rPr lang="zh-CN" altLang="en-US" dirty="0"/>
                  <a:t> </a:t>
                </a:r>
                <a14:m>
                  <m:oMath xmlns:m="http://schemas.openxmlformats.org/officeDocument/2006/math">
                    <m:r>
                      <a:rPr lang="en-US" altLang="en-US">
                        <a:latin typeface="Cambria Math" panose="02040503050406030204" pitchFamily="18" charset="0"/>
                      </a:rPr>
                      <m:t>𝑤</m:t>
                    </m:r>
                  </m:oMath>
                </a14:m>
                <a:r>
                  <a:rPr lang="en-US" altLang="en-US" dirty="0"/>
                  <a:t> </a:t>
                </a:r>
                <a:r>
                  <a:rPr lang="en-US" altLang="en-US" dirty="0" err="1"/>
                  <a:t>在训练中被更新</a:t>
                </a:r>
                <a:endParaRPr lang="en-US" altLang="en-US" dirty="0"/>
              </a:p>
              <a:p>
                <a:pPr marL="457200" indent="-457200" algn="just">
                  <a:lnSpc>
                    <a:spcPct val="130000"/>
                  </a:lnSpc>
                  <a:buFont typeface="Wingdings" panose="05000000000000000000" pitchFamily="2" charset="2"/>
                  <a:buChar char="p"/>
                  <a:defRPr/>
                </a:pPr>
                <a:r>
                  <a:rPr lang="en-US" altLang="en-US" dirty="0" err="1"/>
                  <a:t>对于</a:t>
                </a:r>
                <a:r>
                  <a:rPr lang="en-US" altLang="en-US" dirty="0" err="1">
                    <a:solidFill>
                      <a:schemeClr val="tx1"/>
                    </a:solidFill>
                  </a:rPr>
                  <a:t>中文到英文</a:t>
                </a:r>
                <a:r>
                  <a:rPr lang="en-US" altLang="en-US" dirty="0" err="1"/>
                  <a:t>的翻译</a:t>
                </a:r>
                <a:r>
                  <a:rPr lang="en-US" altLang="en-US" dirty="0"/>
                  <a:t>, </a:t>
                </a:r>
                <a14:m>
                  <m:oMath xmlns:m="http://schemas.openxmlformats.org/officeDocument/2006/math">
                    <m:r>
                      <a:rPr lang="en-US" altLang="en-US">
                        <a:latin typeface="Cambria Math" panose="02040503050406030204" pitchFamily="18" charset="0"/>
                      </a:rPr>
                      <m:t>𝑤</m:t>
                    </m:r>
                  </m:oMath>
                </a14:m>
                <a:r>
                  <a:rPr lang="en-US" altLang="en-US" dirty="0"/>
                  <a:t> </a:t>
                </a:r>
                <a:r>
                  <a:rPr lang="en-US" altLang="en-US" dirty="0" err="1"/>
                  <a:t>学习重要的关于任务的信息</a:t>
                </a:r>
                <a:r>
                  <a:rPr lang="zh-CN" altLang="en-US" dirty="0"/>
                  <a:t>，从而指导注意力机制选择重要的上下文信息</a:t>
                </a:r>
                <a:endParaRPr lang="en-US" alt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5DAC552B-8E95-FE40-D03D-1CB077C50CCE}"/>
                  </a:ext>
                </a:extLst>
              </p:cNvPr>
              <p:cNvSpPr>
                <a:spLocks noGrp="1" noRot="1" noChangeAspect="1" noMove="1" noResize="1" noEditPoints="1" noAdjustHandles="1" noChangeArrowheads="1" noChangeShapeType="1" noTextEdit="1"/>
              </p:cNvSpPr>
              <p:nvPr>
                <p:ph idx="1"/>
              </p:nvPr>
            </p:nvSpPr>
            <p:spPr>
              <a:blipFill>
                <a:blip r:embed="rId3"/>
                <a:stretch>
                  <a:fillRect l="-711" r="-829"/>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E1BDB1EE-75EE-3A91-EF4E-A998881072A8}"/>
              </a:ext>
            </a:extLst>
          </p:cNvPr>
          <p:cNvGrpSpPr/>
          <p:nvPr/>
        </p:nvGrpSpPr>
        <p:grpSpPr>
          <a:xfrm>
            <a:off x="0" y="-1589"/>
            <a:ext cx="12191999" cy="768585"/>
            <a:chOff x="0" y="-1589"/>
            <a:chExt cx="12191999" cy="768585"/>
          </a:xfrm>
        </p:grpSpPr>
        <p:grpSp>
          <p:nvGrpSpPr>
            <p:cNvPr id="7" name="Group 9">
              <a:extLst>
                <a:ext uri="{FF2B5EF4-FFF2-40B4-BE49-F238E27FC236}">
                  <a16:creationId xmlns:a16="http://schemas.microsoft.com/office/drawing/2014/main" id="{31D87861-3698-E10B-64F5-F200101AB748}"/>
                </a:ext>
              </a:extLst>
            </p:cNvPr>
            <p:cNvGrpSpPr>
              <a:grpSpLocks noChangeAspect="1"/>
            </p:cNvGrpSpPr>
            <p:nvPr/>
          </p:nvGrpSpPr>
          <p:grpSpPr bwMode="auto">
            <a:xfrm>
              <a:off x="0" y="-1589"/>
              <a:ext cx="12191999" cy="767234"/>
              <a:chOff x="-1" y="-1"/>
              <a:chExt cx="7719" cy="568"/>
            </a:xfrm>
          </p:grpSpPr>
          <p:sp>
            <p:nvSpPr>
              <p:cNvPr id="10" name="Freeform 9">
                <a:extLst>
                  <a:ext uri="{FF2B5EF4-FFF2-40B4-BE49-F238E27FC236}">
                    <a16:creationId xmlns:a16="http://schemas.microsoft.com/office/drawing/2014/main" id="{78123F19-F1E2-E8C3-6C7C-59CFAE4A275F}"/>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1" name="AutoShape 8">
                <a:extLst>
                  <a:ext uri="{FF2B5EF4-FFF2-40B4-BE49-F238E27FC236}">
                    <a16:creationId xmlns:a16="http://schemas.microsoft.com/office/drawing/2014/main" id="{0DCE1BA0-1FC8-A32F-A8C0-C81737D9B63C}"/>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8" name="任意多边形: 形状 12">
              <a:extLst>
                <a:ext uri="{FF2B5EF4-FFF2-40B4-BE49-F238E27FC236}">
                  <a16:creationId xmlns:a16="http://schemas.microsoft.com/office/drawing/2014/main" id="{CB1FEC87-2155-5DB0-F35B-10D900790F77}"/>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9" name="文本框 18">
              <a:extLst>
                <a:ext uri="{FF2B5EF4-FFF2-40B4-BE49-F238E27FC236}">
                  <a16:creationId xmlns:a16="http://schemas.microsoft.com/office/drawing/2014/main" id="{79E6148D-90C2-D314-1AEE-75F2F7108F64}"/>
                </a:ext>
              </a:extLst>
            </p:cNvPr>
            <p:cNvSpPr txBox="1"/>
            <p:nvPr/>
          </p:nvSpPr>
          <p:spPr>
            <a:xfrm>
              <a:off x="350439" y="120418"/>
              <a:ext cx="3057247" cy="523220"/>
            </a:xfrm>
            <a:prstGeom prst="rect">
              <a:avLst/>
            </a:prstGeom>
            <a:noFill/>
          </p:spPr>
          <p:txBody>
            <a:bodyPr wrap="none" rtlCol="0">
              <a:spAutoFit/>
            </a:bodyPr>
            <a:lstStyle/>
            <a:p>
              <a:pPr>
                <a:defRPr/>
              </a:pPr>
              <a:r>
                <a:rPr lang="zh-CN" altLang="en-US" sz="2800" b="1">
                  <a:solidFill>
                    <a:prstClr val="white"/>
                  </a:solidFill>
                  <a:cs typeface="+mn-ea"/>
                  <a:sym typeface="+mn-lt"/>
                </a:rPr>
                <a:t>注意力的计算方法</a:t>
              </a:r>
            </a:p>
          </p:txBody>
        </p:sp>
      </p:grpSp>
    </p:spTree>
    <p:extLst>
      <p:ext uri="{BB962C8B-B14F-4D97-AF65-F5344CB8AC3E}">
        <p14:creationId xmlns:p14="http://schemas.microsoft.com/office/powerpoint/2010/main" val="16476371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69767" y="6642393"/>
            <a:ext cx="5452533" cy="158163"/>
          </a:xfrm>
          <a:prstGeom prst="rect">
            <a:avLst/>
          </a:prstGeom>
        </p:spPr>
        <p:txBody>
          <a:bodyPr vert="horz" wrap="square" lIns="0" tIns="4233" rIns="0" bIns="0" rtlCol="0">
            <a:spAutoFit/>
          </a:bodyPr>
          <a:lstStyle/>
          <a:p>
            <a:pPr marL="16933">
              <a:spcBef>
                <a:spcPts val="33"/>
              </a:spcBef>
            </a:pPr>
            <a:r>
              <a:rPr sz="1000">
                <a:latin typeface="Arial"/>
                <a:cs typeface="Arial"/>
              </a:rPr>
              <a:t>Bahdanau</a:t>
            </a:r>
            <a:r>
              <a:rPr sz="1000" spc="-27">
                <a:latin typeface="Arial"/>
                <a:cs typeface="Arial"/>
              </a:rPr>
              <a:t> </a:t>
            </a:r>
            <a:r>
              <a:rPr sz="1000">
                <a:latin typeface="Arial"/>
                <a:cs typeface="Arial"/>
              </a:rPr>
              <a:t>et</a:t>
            </a:r>
            <a:r>
              <a:rPr sz="1000" spc="-13">
                <a:latin typeface="Arial"/>
                <a:cs typeface="Arial"/>
              </a:rPr>
              <a:t> </a:t>
            </a:r>
            <a:r>
              <a:rPr sz="1000">
                <a:latin typeface="Arial"/>
                <a:cs typeface="Arial"/>
              </a:rPr>
              <a:t>al,</a:t>
            </a:r>
            <a:r>
              <a:rPr sz="1000" spc="-13">
                <a:latin typeface="Arial"/>
                <a:cs typeface="Arial"/>
              </a:rPr>
              <a:t> </a:t>
            </a:r>
            <a:r>
              <a:rPr sz="1000">
                <a:latin typeface="Arial"/>
                <a:cs typeface="Arial"/>
              </a:rPr>
              <a:t>“Neural</a:t>
            </a:r>
            <a:r>
              <a:rPr sz="1000" spc="-7">
                <a:latin typeface="Arial"/>
                <a:cs typeface="Arial"/>
              </a:rPr>
              <a:t> </a:t>
            </a:r>
            <a:r>
              <a:rPr sz="1000">
                <a:latin typeface="Arial"/>
                <a:cs typeface="Arial"/>
              </a:rPr>
              <a:t>machine</a:t>
            </a:r>
            <a:r>
              <a:rPr sz="1000" spc="-13">
                <a:latin typeface="Arial"/>
                <a:cs typeface="Arial"/>
              </a:rPr>
              <a:t> translation </a:t>
            </a:r>
            <a:r>
              <a:rPr sz="1000">
                <a:latin typeface="Arial"/>
                <a:cs typeface="Arial"/>
              </a:rPr>
              <a:t>by</a:t>
            </a:r>
            <a:r>
              <a:rPr sz="1000" spc="-7">
                <a:latin typeface="Arial"/>
                <a:cs typeface="Arial"/>
              </a:rPr>
              <a:t> </a:t>
            </a:r>
            <a:r>
              <a:rPr sz="1000">
                <a:latin typeface="Arial"/>
                <a:cs typeface="Arial"/>
              </a:rPr>
              <a:t>jointly</a:t>
            </a:r>
            <a:r>
              <a:rPr sz="1000" spc="-13">
                <a:latin typeface="Arial"/>
                <a:cs typeface="Arial"/>
              </a:rPr>
              <a:t> </a:t>
            </a:r>
            <a:r>
              <a:rPr sz="1000">
                <a:latin typeface="Arial"/>
                <a:cs typeface="Arial"/>
              </a:rPr>
              <a:t>learning</a:t>
            </a:r>
            <a:r>
              <a:rPr sz="1000" spc="-13">
                <a:latin typeface="Arial"/>
                <a:cs typeface="Arial"/>
              </a:rPr>
              <a:t> </a:t>
            </a:r>
            <a:r>
              <a:rPr sz="1000">
                <a:latin typeface="Arial"/>
                <a:cs typeface="Arial"/>
              </a:rPr>
              <a:t>to</a:t>
            </a:r>
            <a:r>
              <a:rPr sz="1000" spc="-13">
                <a:latin typeface="Arial"/>
                <a:cs typeface="Arial"/>
              </a:rPr>
              <a:t> </a:t>
            </a:r>
            <a:r>
              <a:rPr sz="1000">
                <a:latin typeface="Arial"/>
                <a:cs typeface="Arial"/>
              </a:rPr>
              <a:t>align</a:t>
            </a:r>
            <a:r>
              <a:rPr sz="1000" spc="-7">
                <a:latin typeface="Arial"/>
                <a:cs typeface="Arial"/>
              </a:rPr>
              <a:t> </a:t>
            </a:r>
            <a:r>
              <a:rPr sz="1000">
                <a:latin typeface="Arial"/>
                <a:cs typeface="Arial"/>
              </a:rPr>
              <a:t>and</a:t>
            </a:r>
            <a:r>
              <a:rPr sz="1000" spc="-13">
                <a:latin typeface="Arial"/>
                <a:cs typeface="Arial"/>
              </a:rPr>
              <a:t> translate”, </a:t>
            </a:r>
            <a:r>
              <a:rPr sz="1000">
                <a:latin typeface="Arial"/>
                <a:cs typeface="Arial"/>
              </a:rPr>
              <a:t>ICLR</a:t>
            </a:r>
            <a:r>
              <a:rPr sz="1000" spc="-7">
                <a:latin typeface="Arial"/>
                <a:cs typeface="Arial"/>
              </a:rPr>
              <a:t> </a:t>
            </a:r>
            <a:r>
              <a:rPr sz="1000" spc="-27">
                <a:latin typeface="Arial"/>
                <a:cs typeface="Arial"/>
              </a:rPr>
              <a:t>201</a:t>
            </a:r>
            <a:r>
              <a:rPr lang="en-US" altLang="zh-CN" sz="1000" spc="-27">
                <a:latin typeface="Arial"/>
                <a:cs typeface="Arial"/>
              </a:rPr>
              <a:t>5</a:t>
            </a:r>
            <a:endParaRPr sz="1000">
              <a:latin typeface="Arial"/>
              <a:cs typeface="Arial"/>
            </a:endParaRPr>
          </a:p>
        </p:txBody>
      </p:sp>
      <p:sp>
        <p:nvSpPr>
          <p:cNvPr id="14" name="Content Placeholder 13">
            <a:extLst>
              <a:ext uri="{FF2B5EF4-FFF2-40B4-BE49-F238E27FC236}">
                <a16:creationId xmlns:a16="http://schemas.microsoft.com/office/drawing/2014/main" id="{7B4E2804-9EFF-F748-C38D-7F6945981DFD}"/>
              </a:ext>
            </a:extLst>
          </p:cNvPr>
          <p:cNvSpPr>
            <a:spLocks noGrp="1"/>
          </p:cNvSpPr>
          <p:nvPr>
            <p:ph idx="1"/>
          </p:nvPr>
        </p:nvSpPr>
        <p:spPr>
          <a:xfrm>
            <a:off x="838199" y="1177928"/>
            <a:ext cx="4684101" cy="4999035"/>
          </a:xfrm>
        </p:spPr>
        <p:txBody>
          <a:bodyPr vert="horz" lIns="91440" tIns="45720" rIns="91440" bIns="45720" rtlCol="0" anchor="t">
            <a:normAutofit/>
          </a:bodyPr>
          <a:lstStyle/>
          <a:p>
            <a:pPr marL="457200" indent="-457200" algn="just">
              <a:lnSpc>
                <a:spcPct val="130000"/>
              </a:lnSpc>
              <a:buFont typeface="Wingdings" panose="05000000000000000000" pitchFamily="2" charset="2"/>
              <a:buChar char="p"/>
              <a:defRPr/>
            </a:pPr>
            <a:r>
              <a:rPr lang="en-US" altLang="en-US" dirty="0" err="1"/>
              <a:t>例子</a:t>
            </a:r>
            <a:r>
              <a:rPr lang="en-US" altLang="en-US" dirty="0"/>
              <a:t>: </a:t>
            </a:r>
            <a:r>
              <a:rPr lang="en-US" altLang="en-US" dirty="0" err="1"/>
              <a:t>中文到英文的翻译</a:t>
            </a:r>
            <a:endParaRPr lang="en-US" altLang="en-US" dirty="0"/>
          </a:p>
          <a:p>
            <a:pPr marL="457200" indent="-457200" algn="just">
              <a:lnSpc>
                <a:spcPct val="130000"/>
              </a:lnSpc>
              <a:buFont typeface="Wingdings" panose="05000000000000000000" pitchFamily="2" charset="2"/>
              <a:buChar char="p"/>
              <a:defRPr/>
            </a:pPr>
            <a:r>
              <a:rPr lang="en-US" altLang="en-US" dirty="0" err="1"/>
              <a:t>输入</a:t>
            </a:r>
            <a:r>
              <a:rPr lang="en-US" altLang="en-US" dirty="0"/>
              <a:t>: “</a:t>
            </a:r>
            <a:r>
              <a:rPr lang="en-US" altLang="en-US" dirty="0" err="1"/>
              <a:t>我买了他昨天读的书</a:t>
            </a:r>
            <a:r>
              <a:rPr lang="en-US" altLang="en-US" dirty="0"/>
              <a:t>”</a:t>
            </a:r>
          </a:p>
          <a:p>
            <a:pPr marL="457200" indent="-457200" algn="just">
              <a:lnSpc>
                <a:spcPct val="130000"/>
              </a:lnSpc>
              <a:buFont typeface="Wingdings" panose="05000000000000000000" pitchFamily="2" charset="2"/>
              <a:buChar char="p"/>
              <a:defRPr/>
            </a:pPr>
            <a:r>
              <a:rPr lang="en-US" altLang="en-US" dirty="0" err="1"/>
              <a:t>输出</a:t>
            </a:r>
            <a:r>
              <a:rPr lang="en-US" altLang="en-US" dirty="0"/>
              <a:t>: “I bought the book that he read yesterday”</a:t>
            </a:r>
          </a:p>
          <a:p>
            <a:pPr marL="457200" indent="-457200" algn="just">
              <a:lnSpc>
                <a:spcPct val="130000"/>
              </a:lnSpc>
              <a:buFont typeface="Wingdings" panose="05000000000000000000" pitchFamily="2" charset="2"/>
              <a:buChar char="p"/>
              <a:defRPr/>
            </a:pPr>
            <a:endParaRPr lang="en-US" altLang="en-US" dirty="0"/>
          </a:p>
          <a:p>
            <a:pPr marL="457200" indent="-457200" algn="just">
              <a:lnSpc>
                <a:spcPct val="130000"/>
              </a:lnSpc>
              <a:buFont typeface="Wingdings" panose="05000000000000000000" pitchFamily="2" charset="2"/>
              <a:buChar char="p"/>
              <a:defRPr/>
            </a:pPr>
            <a:r>
              <a:rPr lang="zh-CN" altLang="en-US" b="1" dirty="0">
                <a:solidFill>
                  <a:srgbClr val="3981BA"/>
                </a:solidFill>
                <a:latin typeface="Calibri" panose="020F0502020204030204" pitchFamily="34" charset="0"/>
                <a:cs typeface="Calibri" panose="020F0502020204030204" pitchFamily="34" charset="0"/>
              </a:rPr>
              <a:t>表格中各个位置的注意力表示了词汇之间的对应关系</a:t>
            </a:r>
            <a:endParaRPr lang="en-US" altLang="en-US" dirty="0"/>
          </a:p>
          <a:p>
            <a:pPr marL="457200" indent="-457200" algn="just">
              <a:lnSpc>
                <a:spcPct val="130000"/>
              </a:lnSpc>
              <a:buFont typeface="Wingdings" panose="05000000000000000000" pitchFamily="2" charset="2"/>
              <a:buChar char="p"/>
              <a:defRPr/>
            </a:pPr>
            <a:endParaRPr lang="en-US" altLang="en-US" dirty="0"/>
          </a:p>
          <a:p>
            <a:pPr marL="457200" indent="-457200" algn="just">
              <a:lnSpc>
                <a:spcPct val="130000"/>
              </a:lnSpc>
              <a:buFont typeface="Wingdings" panose="05000000000000000000" pitchFamily="2" charset="2"/>
              <a:buChar char="p"/>
              <a:defRPr/>
            </a:pPr>
            <a:endParaRPr lang="en-US" altLang="en-US" dirty="0"/>
          </a:p>
          <a:p>
            <a:pPr marL="457200" indent="-457200" algn="just">
              <a:lnSpc>
                <a:spcPct val="130000"/>
              </a:lnSpc>
              <a:buFont typeface="Wingdings" panose="05000000000000000000" pitchFamily="2" charset="2"/>
              <a:buChar char="p"/>
              <a:defRPr/>
            </a:pPr>
            <a:endParaRPr lang="en-US" altLang="en-US" dirty="0"/>
          </a:p>
          <a:p>
            <a:endParaRPr lang="en-US" dirty="0"/>
          </a:p>
        </p:txBody>
      </p:sp>
      <p:sp>
        <p:nvSpPr>
          <p:cNvPr id="7" name="object 7"/>
          <p:cNvSpPr txBox="1">
            <a:spLocks noGrp="1"/>
          </p:cNvSpPr>
          <p:nvPr>
            <p:ph type="sldNum" sz="quarter" idx="12"/>
          </p:nvPr>
        </p:nvSpPr>
        <p:spPr/>
        <p:txBody>
          <a:bodyPr/>
          <a:lstStyle>
            <a:defPPr>
              <a:defRPr kern="0"/>
            </a:defPPr>
            <a:lvl1pPr>
              <a:defRPr sz="2000" b="0" i="0">
                <a:solidFill>
                  <a:schemeClr val="bg1"/>
                </a:solidFill>
                <a:latin typeface="Arial"/>
                <a:cs typeface="Arial"/>
              </a:defRPr>
            </a:lvl1pPr>
          </a:lstStyle>
          <a:p>
            <a:fld id="{81D60167-4931-47E6-BA6A-407CBD079E47}" type="slidenum">
              <a:rPr lang="en-US" smtClean="0"/>
              <a:pPr/>
              <a:t>28</a:t>
            </a:fld>
            <a:endParaRPr lang="en-US"/>
          </a:p>
        </p:txBody>
      </p:sp>
      <p:grpSp>
        <p:nvGrpSpPr>
          <p:cNvPr id="8" name="Group 7">
            <a:extLst>
              <a:ext uri="{FF2B5EF4-FFF2-40B4-BE49-F238E27FC236}">
                <a16:creationId xmlns:a16="http://schemas.microsoft.com/office/drawing/2014/main" id="{C16AC968-2EC1-C94B-83DF-9B7C517BE1C9}"/>
              </a:ext>
            </a:extLst>
          </p:cNvPr>
          <p:cNvGrpSpPr/>
          <p:nvPr/>
        </p:nvGrpSpPr>
        <p:grpSpPr>
          <a:xfrm>
            <a:off x="0" y="-1589"/>
            <a:ext cx="12191999" cy="768585"/>
            <a:chOff x="0" y="-1589"/>
            <a:chExt cx="12191999" cy="768585"/>
          </a:xfrm>
        </p:grpSpPr>
        <p:grpSp>
          <p:nvGrpSpPr>
            <p:cNvPr id="9" name="Group 9">
              <a:extLst>
                <a:ext uri="{FF2B5EF4-FFF2-40B4-BE49-F238E27FC236}">
                  <a16:creationId xmlns:a16="http://schemas.microsoft.com/office/drawing/2014/main" id="{EDBB2D93-0512-167B-C848-5B751DD4EFA9}"/>
                </a:ext>
              </a:extLst>
            </p:cNvPr>
            <p:cNvGrpSpPr>
              <a:grpSpLocks noChangeAspect="1"/>
            </p:cNvGrpSpPr>
            <p:nvPr/>
          </p:nvGrpSpPr>
          <p:grpSpPr bwMode="auto">
            <a:xfrm>
              <a:off x="0" y="-1589"/>
              <a:ext cx="12191999" cy="767234"/>
              <a:chOff x="-1" y="-1"/>
              <a:chExt cx="7719" cy="568"/>
            </a:xfrm>
          </p:grpSpPr>
          <p:sp>
            <p:nvSpPr>
              <p:cNvPr id="12" name="Freeform 11">
                <a:extLst>
                  <a:ext uri="{FF2B5EF4-FFF2-40B4-BE49-F238E27FC236}">
                    <a16:creationId xmlns:a16="http://schemas.microsoft.com/office/drawing/2014/main" id="{8CE4A923-F107-7360-BBB3-3F2441A494C5}"/>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3" name="AutoShape 8">
                <a:extLst>
                  <a:ext uri="{FF2B5EF4-FFF2-40B4-BE49-F238E27FC236}">
                    <a16:creationId xmlns:a16="http://schemas.microsoft.com/office/drawing/2014/main" id="{D1AC0A4E-F2D7-E7FB-D83B-DABFDE2694F9}"/>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10" name="任意多边形: 形状 12">
              <a:extLst>
                <a:ext uri="{FF2B5EF4-FFF2-40B4-BE49-F238E27FC236}">
                  <a16:creationId xmlns:a16="http://schemas.microsoft.com/office/drawing/2014/main" id="{3A638A72-4219-9EF5-1EC3-9373ABB2B82F}"/>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1" name="文本框 18">
              <a:extLst>
                <a:ext uri="{FF2B5EF4-FFF2-40B4-BE49-F238E27FC236}">
                  <a16:creationId xmlns:a16="http://schemas.microsoft.com/office/drawing/2014/main" id="{0B326F7C-1D37-73FC-6223-3C643959A055}"/>
                </a:ext>
              </a:extLst>
            </p:cNvPr>
            <p:cNvSpPr txBox="1"/>
            <p:nvPr/>
          </p:nvSpPr>
          <p:spPr>
            <a:xfrm>
              <a:off x="350439" y="120418"/>
              <a:ext cx="2698175" cy="523220"/>
            </a:xfrm>
            <a:prstGeom prst="rect">
              <a:avLst/>
            </a:prstGeom>
            <a:noFill/>
          </p:spPr>
          <p:txBody>
            <a:bodyPr wrap="none" rtlCol="0">
              <a:spAutoFit/>
            </a:bodyPr>
            <a:lstStyle/>
            <a:p>
              <a:pPr>
                <a:defRPr/>
              </a:pPr>
              <a:r>
                <a:rPr lang="zh-CN" altLang="en-US" sz="2800" b="1">
                  <a:solidFill>
                    <a:prstClr val="white"/>
                  </a:solidFill>
                  <a:cs typeface="+mn-ea"/>
                  <a:sym typeface="+mn-lt"/>
                </a:rPr>
                <a:t>注意力的可视化</a:t>
              </a:r>
            </a:p>
          </p:txBody>
        </p:sp>
      </p:grpSp>
      <p:sp>
        <p:nvSpPr>
          <p:cNvPr id="2" name="object 6">
            <a:extLst>
              <a:ext uri="{FF2B5EF4-FFF2-40B4-BE49-F238E27FC236}">
                <a16:creationId xmlns:a16="http://schemas.microsoft.com/office/drawing/2014/main" id="{9C629AC0-DA79-BBCC-B7B9-108400BC5DF0}"/>
              </a:ext>
            </a:extLst>
          </p:cNvPr>
          <p:cNvSpPr txBox="1"/>
          <p:nvPr/>
        </p:nvSpPr>
        <p:spPr>
          <a:xfrm>
            <a:off x="7421880" y="1564008"/>
            <a:ext cx="3418971" cy="294097"/>
          </a:xfrm>
          <a:prstGeom prst="rect">
            <a:avLst/>
          </a:prstGeom>
        </p:spPr>
        <p:txBody>
          <a:bodyPr vert="horz" wrap="square" lIns="0" tIns="16933" rIns="0" bIns="0" rtlCol="0">
            <a:spAutoFit/>
          </a:bodyPr>
          <a:lstStyle/>
          <a:p>
            <a:pPr marL="50799">
              <a:spcBef>
                <a:spcPts val="133"/>
              </a:spcBef>
            </a:pPr>
            <a:r>
              <a:rPr lang="en-US" spc="-27" err="1">
                <a:latin typeface="Arial"/>
                <a:cs typeface="Arial"/>
              </a:rPr>
              <a:t>注意力权重</a:t>
            </a:r>
            <a:r>
              <a:rPr lang="zh-CN" altLang="en-US" spc="-27">
                <a:latin typeface="Arial"/>
                <a:cs typeface="Arial"/>
              </a:rPr>
              <a:t> </a:t>
            </a:r>
            <a:r>
              <a:rPr spc="-27" err="1">
                <a:latin typeface="Arial"/>
                <a:cs typeface="Arial"/>
              </a:rPr>
              <a:t>a</a:t>
            </a:r>
            <a:r>
              <a:rPr spc="-40" baseline="-32407" err="1">
                <a:latin typeface="Arial"/>
                <a:cs typeface="Arial"/>
              </a:rPr>
              <a:t>t,</a:t>
            </a:r>
            <a:r>
              <a:rPr lang="en-US" spc="-40" baseline="-32407" err="1">
                <a:latin typeface="Arial"/>
                <a:cs typeface="Arial"/>
              </a:rPr>
              <a:t>I</a:t>
            </a:r>
            <a:r>
              <a:rPr lang="zh-CN" altLang="en-US" spc="-40" baseline="-32407">
                <a:latin typeface="Arial"/>
                <a:cs typeface="Arial"/>
              </a:rPr>
              <a:t> </a:t>
            </a:r>
            <a:r>
              <a:rPr lang="zh-CN" altLang="en-US" spc="-40">
                <a:latin typeface="Arial"/>
                <a:cs typeface="Arial"/>
              </a:rPr>
              <a:t>的可视化</a:t>
            </a:r>
            <a:endParaRPr baseline="-32407">
              <a:latin typeface="Arial"/>
              <a:cs typeface="Arial"/>
            </a:endParaRPr>
          </a:p>
        </p:txBody>
      </p:sp>
      <p:pic>
        <p:nvPicPr>
          <p:cNvPr id="3" name="图片 7" descr="图表&#10;&#10;AI 生成的内容可能不正确。">
            <a:extLst>
              <a:ext uri="{FF2B5EF4-FFF2-40B4-BE49-F238E27FC236}">
                <a16:creationId xmlns:a16="http://schemas.microsoft.com/office/drawing/2014/main" id="{BD2644C5-C334-5406-EA76-F05DE891BFD6}"/>
              </a:ext>
            </a:extLst>
          </p:cNvPr>
          <p:cNvPicPr>
            <a:picLocks noChangeAspect="1"/>
          </p:cNvPicPr>
          <p:nvPr/>
        </p:nvPicPr>
        <p:blipFill>
          <a:blip r:embed="rId3"/>
          <a:stretch>
            <a:fillRect/>
          </a:stretch>
        </p:blipFill>
        <p:spPr>
          <a:xfrm>
            <a:off x="5784850" y="1937068"/>
            <a:ext cx="5844540" cy="425386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63024-F8DA-B18E-5225-897C0F11B05B}"/>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B869B6C2-E0C3-CEDC-ED21-29424FC4BF6C}"/>
              </a:ext>
            </a:extLst>
          </p:cNvPr>
          <p:cNvGrpSpPr/>
          <p:nvPr/>
        </p:nvGrpSpPr>
        <p:grpSpPr>
          <a:xfrm>
            <a:off x="0" y="-1589"/>
            <a:ext cx="12191999" cy="768585"/>
            <a:chOff x="0" y="-1589"/>
            <a:chExt cx="12191999" cy="768585"/>
          </a:xfrm>
        </p:grpSpPr>
        <p:grpSp>
          <p:nvGrpSpPr>
            <p:cNvPr id="13" name="Group 9">
              <a:extLst>
                <a:ext uri="{FF2B5EF4-FFF2-40B4-BE49-F238E27FC236}">
                  <a16:creationId xmlns:a16="http://schemas.microsoft.com/office/drawing/2014/main" id="{01B06F0D-4FCA-821F-B1F8-3EA81E41F18B}"/>
                </a:ext>
              </a:extLst>
            </p:cNvPr>
            <p:cNvGrpSpPr>
              <a:grpSpLocks noChangeAspect="1"/>
            </p:cNvGrpSpPr>
            <p:nvPr/>
          </p:nvGrpSpPr>
          <p:grpSpPr bwMode="auto">
            <a:xfrm>
              <a:off x="0" y="-1589"/>
              <a:ext cx="12191999" cy="767234"/>
              <a:chOff x="-1" y="-1"/>
              <a:chExt cx="7719" cy="568"/>
            </a:xfrm>
          </p:grpSpPr>
          <p:sp>
            <p:nvSpPr>
              <p:cNvPr id="17" name="Freeform 16">
                <a:extLst>
                  <a:ext uri="{FF2B5EF4-FFF2-40B4-BE49-F238E27FC236}">
                    <a16:creationId xmlns:a16="http://schemas.microsoft.com/office/drawing/2014/main" id="{117B26AC-F817-3F94-4A33-45B291DDCBD4}"/>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8" name="AutoShape 8">
                <a:extLst>
                  <a:ext uri="{FF2B5EF4-FFF2-40B4-BE49-F238E27FC236}">
                    <a16:creationId xmlns:a16="http://schemas.microsoft.com/office/drawing/2014/main" id="{D45D909F-DE88-285D-76B1-A1DD64228ECE}"/>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15" name="任意多边形: 形状 12">
              <a:extLst>
                <a:ext uri="{FF2B5EF4-FFF2-40B4-BE49-F238E27FC236}">
                  <a16:creationId xmlns:a16="http://schemas.microsoft.com/office/drawing/2014/main" id="{D1CCF25A-3049-970F-A9CF-0EB4BCBEA90D}"/>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6" name="文本框 18">
              <a:extLst>
                <a:ext uri="{FF2B5EF4-FFF2-40B4-BE49-F238E27FC236}">
                  <a16:creationId xmlns:a16="http://schemas.microsoft.com/office/drawing/2014/main" id="{497741AE-EF3A-C360-CE11-E9F6E300518C}"/>
                </a:ext>
              </a:extLst>
            </p:cNvPr>
            <p:cNvSpPr txBox="1"/>
            <p:nvPr/>
          </p:nvSpPr>
          <p:spPr>
            <a:xfrm>
              <a:off x="350439" y="120418"/>
              <a:ext cx="3775393" cy="523220"/>
            </a:xfrm>
            <a:prstGeom prst="rect">
              <a:avLst/>
            </a:prstGeom>
            <a:noFill/>
          </p:spPr>
          <p:txBody>
            <a:bodyPr wrap="none" rtlCol="0">
              <a:spAutoFit/>
            </a:bodyPr>
            <a:lstStyle/>
            <a:p>
              <a:pPr>
                <a:defRPr/>
              </a:pPr>
              <a:r>
                <a:rPr lang="zh-CN" altLang="en-US" sz="2800" b="1" dirty="0">
                  <a:solidFill>
                    <a:prstClr val="white"/>
                  </a:solidFill>
                  <a:cs typeface="+mn-ea"/>
                  <a:sym typeface="+mn-lt"/>
                </a:rPr>
                <a:t>前馈注意力机制的总结</a:t>
              </a:r>
            </a:p>
          </p:txBody>
        </p:sp>
      </p:grpSp>
      <p:sp>
        <p:nvSpPr>
          <p:cNvPr id="4" name="Content Placeholder 3">
            <a:extLst>
              <a:ext uri="{FF2B5EF4-FFF2-40B4-BE49-F238E27FC236}">
                <a16:creationId xmlns:a16="http://schemas.microsoft.com/office/drawing/2014/main" id="{0BF09B2F-3225-A0E9-2A34-12B8A58A30ED}"/>
              </a:ext>
            </a:extLst>
          </p:cNvPr>
          <p:cNvSpPr>
            <a:spLocks noGrp="1"/>
          </p:cNvSpPr>
          <p:nvPr>
            <p:ph idx="1"/>
          </p:nvPr>
        </p:nvSpPr>
        <p:spPr/>
        <p:txBody>
          <a:bodyPr/>
          <a:lstStyle/>
          <a:p>
            <a:r>
              <a:rPr lang="en-US" dirty="0" err="1">
                <a:solidFill>
                  <a:schemeClr val="tx1"/>
                </a:solidFill>
              </a:rPr>
              <a:t>前馈注意力的优势</a:t>
            </a:r>
            <a:endParaRPr lang="en-US" dirty="0">
              <a:solidFill>
                <a:schemeClr val="tx1"/>
              </a:solidFill>
            </a:endParaRPr>
          </a:p>
          <a:p>
            <a:pPr lvl="1"/>
            <a:r>
              <a:rPr lang="zh-CN" altLang="en-US" dirty="0">
                <a:solidFill>
                  <a:schemeClr val="tx1"/>
                </a:solidFill>
              </a:rPr>
              <a:t>高度并行</a:t>
            </a:r>
            <a:endParaRPr lang="en-US" altLang="zh-CN" dirty="0">
              <a:solidFill>
                <a:schemeClr val="tx1"/>
              </a:solidFill>
            </a:endParaRPr>
          </a:p>
          <a:p>
            <a:pPr lvl="1"/>
            <a:r>
              <a:rPr lang="zh-CN" altLang="en-US" dirty="0"/>
              <a:t>非线性映射能力</a:t>
            </a:r>
            <a:endParaRPr lang="en-US" dirty="0">
              <a:solidFill>
                <a:schemeClr val="tx1"/>
              </a:solidFill>
            </a:endParaRPr>
          </a:p>
          <a:p>
            <a:endParaRPr lang="en-US" dirty="0">
              <a:solidFill>
                <a:schemeClr val="tx1"/>
              </a:solidFill>
            </a:endParaRPr>
          </a:p>
          <a:p>
            <a:r>
              <a:rPr lang="en-US" dirty="0" err="1">
                <a:solidFill>
                  <a:schemeClr val="tx1"/>
                </a:solidFill>
              </a:rPr>
              <a:t>前馈注意力的局限</a:t>
            </a:r>
            <a:endParaRPr lang="en-US" dirty="0">
              <a:solidFill>
                <a:schemeClr val="tx1"/>
              </a:solidFill>
            </a:endParaRPr>
          </a:p>
          <a:p>
            <a:pPr lvl="1"/>
            <a:r>
              <a:rPr lang="en-US" dirty="0" err="1">
                <a:solidFill>
                  <a:schemeClr val="tx1"/>
                </a:solidFill>
              </a:rPr>
              <a:t>依赖外部网络计算注意力</a:t>
            </a:r>
            <a:r>
              <a:rPr lang="zh-CN" altLang="en-US" dirty="0"/>
              <a:t>，可能存在</a:t>
            </a:r>
            <a:r>
              <a:rPr lang="en-US" dirty="0" err="1"/>
              <a:t>向量空间不匹配的问题</a:t>
            </a:r>
            <a:endParaRPr lang="en-US" dirty="0">
              <a:solidFill>
                <a:schemeClr val="tx1"/>
              </a:solidFill>
            </a:endParaRPr>
          </a:p>
          <a:p>
            <a:pPr lvl="1"/>
            <a:r>
              <a:rPr lang="en-US" dirty="0" err="1"/>
              <a:t>单一视角映射</a:t>
            </a:r>
            <a:r>
              <a:rPr lang="zh-CN" altLang="en-US" dirty="0"/>
              <a:t>，仅有一套固定参数映射，缺少多重子空间表示</a:t>
            </a:r>
            <a:endParaRPr lang="en-US" altLang="zh-CN" dirty="0">
              <a:solidFill>
                <a:schemeClr val="tx1"/>
              </a:solidFill>
            </a:endParaRPr>
          </a:p>
          <a:p>
            <a:pPr lvl="1"/>
            <a:r>
              <a:rPr lang="zh-CN" altLang="en-US" dirty="0"/>
              <a:t>无法建模跨位置的依赖，每个位置只见自身输入，无法获取</a:t>
            </a:r>
            <a:r>
              <a:rPr lang="zh-CN" altLang="en-US"/>
              <a:t>其他位置信息</a:t>
            </a:r>
            <a:endParaRPr lang="en-US" dirty="0">
              <a:solidFill>
                <a:schemeClr val="tx1"/>
              </a:solidFill>
            </a:endParaRPr>
          </a:p>
        </p:txBody>
      </p:sp>
    </p:spTree>
    <p:extLst>
      <p:ext uri="{BB962C8B-B14F-4D97-AF65-F5344CB8AC3E}">
        <p14:creationId xmlns:p14="http://schemas.microsoft.com/office/powerpoint/2010/main" val="6418692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DA8AF-212A-6C32-F39F-D15B10183923}"/>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837A3AFB-86BA-F926-59D6-E31A35AFDE1F}"/>
              </a:ext>
            </a:extLst>
          </p:cNvPr>
          <p:cNvGrpSpPr/>
          <p:nvPr/>
        </p:nvGrpSpPr>
        <p:grpSpPr>
          <a:xfrm>
            <a:off x="0" y="0"/>
            <a:ext cx="12192000" cy="6858000"/>
            <a:chOff x="0" y="0"/>
            <a:chExt cx="12192000" cy="6858000"/>
          </a:xfrm>
        </p:grpSpPr>
        <p:sp>
          <p:nvSpPr>
            <p:cNvPr id="38" name="任意多边形: 形状 37">
              <a:extLst>
                <a:ext uri="{FF2B5EF4-FFF2-40B4-BE49-F238E27FC236}">
                  <a16:creationId xmlns:a16="http://schemas.microsoft.com/office/drawing/2014/main" id="{F32424C6-4B1A-33A1-EF32-5BE8AF526497}"/>
                </a:ext>
              </a:extLst>
            </p:cNvPr>
            <p:cNvSpPr/>
            <p:nvPr/>
          </p:nvSpPr>
          <p:spPr>
            <a:xfrm>
              <a:off x="0" y="0"/>
              <a:ext cx="1819275" cy="1819275"/>
            </a:xfrm>
            <a:custGeom>
              <a:avLst/>
              <a:gdLst>
                <a:gd name="connsiteX0" fmla="*/ 0 w 3638550"/>
                <a:gd name="connsiteY0" fmla="*/ 1819275 h 3638550"/>
                <a:gd name="connsiteX1" fmla="*/ 1819275 w 3638550"/>
                <a:gd name="connsiteY1" fmla="*/ 0 h 3638550"/>
                <a:gd name="connsiteX2" fmla="*/ 3638550 w 3638550"/>
                <a:gd name="connsiteY2" fmla="*/ 1819275 h 3638550"/>
                <a:gd name="connsiteX3" fmla="*/ 1819275 w 3638550"/>
                <a:gd name="connsiteY3" fmla="*/ 3638550 h 3638550"/>
                <a:gd name="connsiteX4" fmla="*/ 0 w 3638550"/>
                <a:gd name="connsiteY4" fmla="*/ 1819275 h 3638550"/>
                <a:gd name="connsiteX0" fmla="*/ 1819275 w 3638550"/>
                <a:gd name="connsiteY0" fmla="*/ 0 h 3638550"/>
                <a:gd name="connsiteX1" fmla="*/ 3638550 w 3638550"/>
                <a:gd name="connsiteY1" fmla="*/ 1819275 h 3638550"/>
                <a:gd name="connsiteX2" fmla="*/ 1819275 w 3638550"/>
                <a:gd name="connsiteY2" fmla="*/ 3638550 h 3638550"/>
                <a:gd name="connsiteX3" fmla="*/ 0 w 3638550"/>
                <a:gd name="connsiteY3" fmla="*/ 1819275 h 3638550"/>
                <a:gd name="connsiteX4" fmla="*/ 1910715 w 3638550"/>
                <a:gd name="connsiteY4" fmla="*/ 91440 h 3638550"/>
                <a:gd name="connsiteX0" fmla="*/ 1819275 w 3638550"/>
                <a:gd name="connsiteY0" fmla="*/ 0 h 3638550"/>
                <a:gd name="connsiteX1" fmla="*/ 3638550 w 3638550"/>
                <a:gd name="connsiteY1" fmla="*/ 1819275 h 3638550"/>
                <a:gd name="connsiteX2" fmla="*/ 1819275 w 3638550"/>
                <a:gd name="connsiteY2" fmla="*/ 3638550 h 3638550"/>
                <a:gd name="connsiteX3" fmla="*/ 0 w 3638550"/>
                <a:gd name="connsiteY3" fmla="*/ 1819275 h 3638550"/>
                <a:gd name="connsiteX0" fmla="*/ 3638550 w 3638550"/>
                <a:gd name="connsiteY0" fmla="*/ 0 h 1819275"/>
                <a:gd name="connsiteX1" fmla="*/ 1819275 w 3638550"/>
                <a:gd name="connsiteY1" fmla="*/ 1819275 h 1819275"/>
                <a:gd name="connsiteX2" fmla="*/ 0 w 3638550"/>
                <a:gd name="connsiteY2" fmla="*/ 0 h 1819275"/>
                <a:gd name="connsiteX0" fmla="*/ 1819275 w 1819275"/>
                <a:gd name="connsiteY0" fmla="*/ 0 h 1819275"/>
                <a:gd name="connsiteX1" fmla="*/ 0 w 1819275"/>
                <a:gd name="connsiteY1" fmla="*/ 1819275 h 1819275"/>
              </a:gdLst>
              <a:ahLst/>
              <a:cxnLst>
                <a:cxn ang="0">
                  <a:pos x="connsiteX0" y="connsiteY0"/>
                </a:cxn>
                <a:cxn ang="0">
                  <a:pos x="connsiteX1" y="connsiteY1"/>
                </a:cxn>
              </a:cxnLst>
              <a:rect l="l" t="t" r="r" b="b"/>
              <a:pathLst>
                <a:path w="1819275" h="1819275">
                  <a:moveTo>
                    <a:pt x="1819275" y="0"/>
                  </a:moveTo>
                  <a:cubicBezTo>
                    <a:pt x="1819275" y="1004758"/>
                    <a:pt x="1004758" y="1819275"/>
                    <a:pt x="0" y="1819275"/>
                  </a:cubicBezTo>
                </a:path>
              </a:pathLst>
            </a:custGeom>
            <a:noFill/>
            <a:ln w="381000">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9" name="组合 38">
              <a:extLst>
                <a:ext uri="{FF2B5EF4-FFF2-40B4-BE49-F238E27FC236}">
                  <a16:creationId xmlns:a16="http://schemas.microsoft.com/office/drawing/2014/main" id="{239F5D55-3F65-6D6B-8A78-A7521E9405E6}"/>
                </a:ext>
              </a:extLst>
            </p:cNvPr>
            <p:cNvGrpSpPr/>
            <p:nvPr/>
          </p:nvGrpSpPr>
          <p:grpSpPr>
            <a:xfrm>
              <a:off x="1727455" y="1321568"/>
              <a:ext cx="5663945" cy="716782"/>
              <a:chOff x="1727455" y="1321568"/>
              <a:chExt cx="5663945" cy="716782"/>
            </a:xfrm>
          </p:grpSpPr>
          <p:sp>
            <p:nvSpPr>
              <p:cNvPr id="61" name="文本框 60">
                <a:extLst>
                  <a:ext uri="{FF2B5EF4-FFF2-40B4-BE49-F238E27FC236}">
                    <a16:creationId xmlns:a16="http://schemas.microsoft.com/office/drawing/2014/main" id="{215C6437-8BE6-6876-2ACC-7350F0CF3ED6}"/>
                  </a:ext>
                </a:extLst>
              </p:cNvPr>
              <p:cNvSpPr txBox="1">
                <a:spLocks/>
              </p:cNvSpPr>
              <p:nvPr/>
            </p:nvSpPr>
            <p:spPr>
              <a:xfrm>
                <a:off x="2573268" y="1323975"/>
                <a:ext cx="4818132" cy="461665"/>
              </a:xfrm>
              <a:prstGeom prst="rect">
                <a:avLst/>
              </a:prstGeom>
              <a:noFill/>
            </p:spPr>
            <p:txBody>
              <a:bodyPr wrap="square" rtlCol="0">
                <a:spAutoFit/>
              </a:bodyPr>
              <a:lstStyle/>
              <a:p>
                <a:pPr>
                  <a:buSzPct val="25000"/>
                </a:pPr>
                <a:r>
                  <a:rPr lang="zh-CN" altLang="en-US" sz="2400" b="1" dirty="0">
                    <a:latin typeface="Arial" panose="020B0604020202020204" pitchFamily="34" charset="0"/>
                    <a:ea typeface="微软雅黑" panose="020B0503020204020204" pitchFamily="34" charset="-122"/>
                  </a:rPr>
                  <a:t>循环神经网络</a:t>
                </a:r>
              </a:p>
            </p:txBody>
          </p:sp>
          <p:sp>
            <p:nvSpPr>
              <p:cNvPr id="63" name="椭圆 62">
                <a:extLst>
                  <a:ext uri="{FF2B5EF4-FFF2-40B4-BE49-F238E27FC236}">
                    <a16:creationId xmlns:a16="http://schemas.microsoft.com/office/drawing/2014/main" id="{C0923295-1922-597D-95AB-F98076D94110}"/>
                  </a:ext>
                </a:extLst>
              </p:cNvPr>
              <p:cNvSpPr/>
              <p:nvPr/>
            </p:nvSpPr>
            <p:spPr>
              <a:xfrm>
                <a:off x="1727455" y="1321568"/>
                <a:ext cx="716782" cy="716782"/>
              </a:xfrm>
              <a:prstGeom prst="ellipse">
                <a:avLst/>
              </a:prstGeom>
              <a:noFill/>
              <a:ln w="25400">
                <a:gradFill>
                  <a:gsLst>
                    <a:gs pos="76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zh-CN" sz="2800" b="1">
                    <a:solidFill>
                      <a:schemeClr val="accent1"/>
                    </a:solidFill>
                    <a:latin typeface="Arial" panose="020B0604020202020204" pitchFamily="34" charset="0"/>
                    <a:ea typeface="微软雅黑" panose="020B0503020204020204" pitchFamily="34" charset="-122"/>
                  </a:rPr>
                  <a:t>01</a:t>
                </a:r>
              </a:p>
            </p:txBody>
          </p:sp>
        </p:grpSp>
        <p:grpSp>
          <p:nvGrpSpPr>
            <p:cNvPr id="40" name="组合 39">
              <a:extLst>
                <a:ext uri="{FF2B5EF4-FFF2-40B4-BE49-F238E27FC236}">
                  <a16:creationId xmlns:a16="http://schemas.microsoft.com/office/drawing/2014/main" id="{590A8D81-6DF2-3D09-CA8B-21EA6F50CFAA}"/>
                </a:ext>
              </a:extLst>
            </p:cNvPr>
            <p:cNvGrpSpPr/>
            <p:nvPr/>
          </p:nvGrpSpPr>
          <p:grpSpPr>
            <a:xfrm>
              <a:off x="7540339" y="0"/>
              <a:ext cx="4651661" cy="6858000"/>
              <a:chOff x="7540339" y="0"/>
              <a:chExt cx="4651661" cy="6858000"/>
            </a:xfrm>
          </p:grpSpPr>
          <p:sp>
            <p:nvSpPr>
              <p:cNvPr id="60" name="任意多边形: 形状 59">
                <a:extLst>
                  <a:ext uri="{FF2B5EF4-FFF2-40B4-BE49-F238E27FC236}">
                    <a16:creationId xmlns:a16="http://schemas.microsoft.com/office/drawing/2014/main" id="{12F3199C-8281-F642-3E58-357245E58F93}"/>
                  </a:ext>
                </a:extLst>
              </p:cNvPr>
              <p:cNvSpPr/>
              <p:nvPr/>
            </p:nvSpPr>
            <p:spPr>
              <a:xfrm>
                <a:off x="7779658" y="0"/>
                <a:ext cx="4412342" cy="6858000"/>
              </a:xfrm>
              <a:custGeom>
                <a:avLst/>
                <a:gdLst>
                  <a:gd name="connsiteX0" fmla="*/ 1295690 w 4412342"/>
                  <a:gd name="connsiteY0" fmla="*/ 0 h 6858000"/>
                  <a:gd name="connsiteX1" fmla="*/ 4412342 w 4412342"/>
                  <a:gd name="connsiteY1" fmla="*/ 0 h 6858000"/>
                  <a:gd name="connsiteX2" fmla="*/ 4412342 w 4412342"/>
                  <a:gd name="connsiteY2" fmla="*/ 1636729 h 6858000"/>
                  <a:gd name="connsiteX3" fmla="*/ 4272563 w 4412342"/>
                  <a:gd name="connsiteY3" fmla="*/ 1672670 h 6858000"/>
                  <a:gd name="connsiteX4" fmla="*/ 3111228 w 4412342"/>
                  <a:gd name="connsiteY4" fmla="*/ 3251199 h 6858000"/>
                  <a:gd name="connsiteX5" fmla="*/ 4272563 w 4412342"/>
                  <a:gd name="connsiteY5" fmla="*/ 4829728 h 6858000"/>
                  <a:gd name="connsiteX6" fmla="*/ 4412342 w 4412342"/>
                  <a:gd name="connsiteY6" fmla="*/ 4865669 h 6858000"/>
                  <a:gd name="connsiteX7" fmla="*/ 4412342 w 4412342"/>
                  <a:gd name="connsiteY7" fmla="*/ 6858000 h 6858000"/>
                  <a:gd name="connsiteX8" fmla="*/ 1670654 w 4412342"/>
                  <a:gd name="connsiteY8" fmla="*/ 6858000 h 6858000"/>
                  <a:gd name="connsiteX9" fmla="*/ 1550198 w 4412342"/>
                  <a:gd name="connsiteY9" fmla="*/ 6753659 h 6858000"/>
                  <a:gd name="connsiteX10" fmla="*/ 0 w 4412342"/>
                  <a:gd name="connsiteY10" fmla="*/ 3251200 h 6858000"/>
                  <a:gd name="connsiteX11" fmla="*/ 1229199 w 4412342"/>
                  <a:gd name="connsiteY11" fmla="*/ 6974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412342" h="6858000">
                    <a:moveTo>
                      <a:pt x="1295690" y="0"/>
                    </a:moveTo>
                    <a:lnTo>
                      <a:pt x="4412342" y="0"/>
                    </a:lnTo>
                    <a:lnTo>
                      <a:pt x="4412342" y="1636729"/>
                    </a:lnTo>
                    <a:lnTo>
                      <a:pt x="4272563" y="1672670"/>
                    </a:lnTo>
                    <a:cubicBezTo>
                      <a:pt x="3599745" y="1881938"/>
                      <a:pt x="3111228" y="2509519"/>
                      <a:pt x="3111228" y="3251199"/>
                    </a:cubicBezTo>
                    <a:cubicBezTo>
                      <a:pt x="3111228" y="3992879"/>
                      <a:pt x="3599745" y="4620460"/>
                      <a:pt x="4272563" y="4829728"/>
                    </a:cubicBezTo>
                    <a:lnTo>
                      <a:pt x="4412342" y="4865669"/>
                    </a:lnTo>
                    <a:lnTo>
                      <a:pt x="4412342" y="6858000"/>
                    </a:lnTo>
                    <a:lnTo>
                      <a:pt x="1670654" y="6858000"/>
                    </a:lnTo>
                    <a:lnTo>
                      <a:pt x="1550198" y="6753659"/>
                    </a:lnTo>
                    <a:cubicBezTo>
                      <a:pt x="597879" y="5888107"/>
                      <a:pt x="0" y="4639475"/>
                      <a:pt x="0" y="3251200"/>
                    </a:cubicBezTo>
                    <a:cubicBezTo>
                      <a:pt x="0" y="2026252"/>
                      <a:pt x="465477" y="910022"/>
                      <a:pt x="1229199" y="69741"/>
                    </a:cubicBezTo>
                    <a:close/>
                  </a:path>
                </a:pathLst>
              </a:custGeom>
              <a:solidFill>
                <a:schemeClr val="accent1">
                  <a:alpha val="5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58" name="矩形 57">
                <a:extLst>
                  <a:ext uri="{FF2B5EF4-FFF2-40B4-BE49-F238E27FC236}">
                    <a16:creationId xmlns:a16="http://schemas.microsoft.com/office/drawing/2014/main" id="{A7DE1496-C250-4799-3795-9198F4596836}"/>
                  </a:ext>
                </a:extLst>
              </p:cNvPr>
              <p:cNvSpPr/>
              <p:nvPr/>
            </p:nvSpPr>
            <p:spPr>
              <a:xfrm>
                <a:off x="7540339" y="3124369"/>
                <a:ext cx="3592287" cy="10156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r>
                  <a:rPr kumimoji="1" lang="zh-CN" altLang="en-US" sz="6000" b="1" dirty="0">
                    <a:solidFill>
                      <a:schemeClr val="tx1"/>
                    </a:solidFill>
                    <a:latin typeface="Arial" panose="020B0604020202020204" pitchFamily="34" charset="0"/>
                    <a:ea typeface="微软雅黑" panose="020B0503020204020204" pitchFamily="34" charset="-122"/>
                    <a:sym typeface="Arial" panose="020B0604020202020204" pitchFamily="34" charset="0"/>
                  </a:rPr>
                  <a:t>本课重点</a:t>
                </a:r>
                <a:endParaRPr kumimoji="1" lang="en-US" altLang="zh-CN" sz="6000" b="1"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41" name="组合 40">
              <a:extLst>
                <a:ext uri="{FF2B5EF4-FFF2-40B4-BE49-F238E27FC236}">
                  <a16:creationId xmlns:a16="http://schemas.microsoft.com/office/drawing/2014/main" id="{E8DA0172-3E47-1ACC-CFC3-0F4394D70089}"/>
                </a:ext>
              </a:extLst>
            </p:cNvPr>
            <p:cNvGrpSpPr/>
            <p:nvPr/>
          </p:nvGrpSpPr>
          <p:grpSpPr>
            <a:xfrm>
              <a:off x="1727455" y="2333605"/>
              <a:ext cx="5663945" cy="716782"/>
              <a:chOff x="1727455" y="2419283"/>
              <a:chExt cx="5663945" cy="716782"/>
            </a:xfrm>
          </p:grpSpPr>
          <p:sp>
            <p:nvSpPr>
              <p:cNvPr id="54" name="文本框 53">
                <a:extLst>
                  <a:ext uri="{FF2B5EF4-FFF2-40B4-BE49-F238E27FC236}">
                    <a16:creationId xmlns:a16="http://schemas.microsoft.com/office/drawing/2014/main" id="{B6BCA9A6-4D6A-CC9E-BFD0-EC357CC949C3}"/>
                  </a:ext>
                </a:extLst>
              </p:cNvPr>
              <p:cNvSpPr txBox="1">
                <a:spLocks/>
              </p:cNvSpPr>
              <p:nvPr/>
            </p:nvSpPr>
            <p:spPr>
              <a:xfrm>
                <a:off x="2573268" y="2421690"/>
                <a:ext cx="4818132" cy="461665"/>
              </a:xfrm>
              <a:prstGeom prst="rect">
                <a:avLst/>
              </a:prstGeom>
              <a:noFill/>
            </p:spPr>
            <p:txBody>
              <a:bodyPr wrap="square" rtlCol="0">
                <a:spAutoFit/>
              </a:bodyPr>
              <a:lstStyle/>
              <a:p>
                <a:pPr>
                  <a:buSzPct val="25000"/>
                </a:pPr>
                <a:r>
                  <a:rPr lang="zh-CN" altLang="en-US" sz="2400" b="1" dirty="0">
                    <a:latin typeface="Arial" panose="020B0604020202020204" pitchFamily="34" charset="0"/>
                    <a:ea typeface="微软雅黑" panose="020B0503020204020204" pitchFamily="34" charset="-122"/>
                  </a:rPr>
                  <a:t>注意力</a:t>
                </a:r>
              </a:p>
            </p:txBody>
          </p:sp>
          <p:sp>
            <p:nvSpPr>
              <p:cNvPr id="56" name="椭圆 55">
                <a:extLst>
                  <a:ext uri="{FF2B5EF4-FFF2-40B4-BE49-F238E27FC236}">
                    <a16:creationId xmlns:a16="http://schemas.microsoft.com/office/drawing/2014/main" id="{CD495C49-5FE0-469E-555B-C0DE068622CF}"/>
                  </a:ext>
                </a:extLst>
              </p:cNvPr>
              <p:cNvSpPr/>
              <p:nvPr/>
            </p:nvSpPr>
            <p:spPr>
              <a:xfrm>
                <a:off x="1727455" y="2419283"/>
                <a:ext cx="716782" cy="716782"/>
              </a:xfrm>
              <a:prstGeom prst="ellipse">
                <a:avLst/>
              </a:prstGeom>
              <a:noFill/>
              <a:ln w="25400">
                <a:gradFill>
                  <a:gsLst>
                    <a:gs pos="76000">
                      <a:schemeClr val="tx2">
                        <a:alpha val="0"/>
                      </a:schemeClr>
                    </a:gs>
                    <a:gs pos="100000">
                      <a:schemeClr val="tx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zh-CN" sz="2800" b="1">
                    <a:solidFill>
                      <a:srgbClr val="4472C4"/>
                    </a:solidFill>
                    <a:latin typeface="Arial" panose="020B0604020202020204" pitchFamily="34" charset="0"/>
                    <a:ea typeface="微软雅黑" panose="020B0503020204020204" pitchFamily="34" charset="-122"/>
                  </a:rPr>
                  <a:t>02</a:t>
                </a:r>
              </a:p>
            </p:txBody>
          </p:sp>
        </p:grpSp>
      </p:grpSp>
      <p:sp>
        <p:nvSpPr>
          <p:cNvPr id="3" name="文本框 53">
            <a:extLst>
              <a:ext uri="{FF2B5EF4-FFF2-40B4-BE49-F238E27FC236}">
                <a16:creationId xmlns:a16="http://schemas.microsoft.com/office/drawing/2014/main" id="{194C16BC-8D06-4623-13A0-F8A3C111313C}"/>
              </a:ext>
            </a:extLst>
          </p:cNvPr>
          <p:cNvSpPr txBox="1">
            <a:spLocks/>
          </p:cNvSpPr>
          <p:nvPr/>
        </p:nvSpPr>
        <p:spPr>
          <a:xfrm>
            <a:off x="2573268" y="3359918"/>
            <a:ext cx="4818132" cy="461665"/>
          </a:xfrm>
          <a:prstGeom prst="rect">
            <a:avLst/>
          </a:prstGeom>
          <a:noFill/>
        </p:spPr>
        <p:txBody>
          <a:bodyPr wrap="square" rtlCol="0">
            <a:spAutoFit/>
          </a:bodyPr>
          <a:lstStyle/>
          <a:p>
            <a:pPr>
              <a:buSzPct val="25000"/>
            </a:pPr>
            <a:r>
              <a:rPr lang="zh-CN" altLang="en-US" sz="2400" b="1" dirty="0">
                <a:solidFill>
                  <a:srgbClr val="4472C4"/>
                </a:solidFill>
                <a:latin typeface="Arial" panose="020B0604020202020204" pitchFamily="34" charset="0"/>
                <a:ea typeface="微软雅黑" panose="020B0503020204020204" pitchFamily="34" charset="-122"/>
              </a:rPr>
              <a:t>自注意力</a:t>
            </a:r>
          </a:p>
        </p:txBody>
      </p:sp>
      <p:sp>
        <p:nvSpPr>
          <p:cNvPr id="4" name="椭圆 55">
            <a:extLst>
              <a:ext uri="{FF2B5EF4-FFF2-40B4-BE49-F238E27FC236}">
                <a16:creationId xmlns:a16="http://schemas.microsoft.com/office/drawing/2014/main" id="{042AB14E-3241-E7A4-89A8-B196D99C5092}"/>
              </a:ext>
            </a:extLst>
          </p:cNvPr>
          <p:cNvSpPr/>
          <p:nvPr/>
        </p:nvSpPr>
        <p:spPr>
          <a:xfrm>
            <a:off x="1727455" y="3357511"/>
            <a:ext cx="716782" cy="716782"/>
          </a:xfrm>
          <a:prstGeom prst="ellipse">
            <a:avLst/>
          </a:prstGeom>
          <a:noFill/>
          <a:ln w="25400">
            <a:gradFill>
              <a:gsLst>
                <a:gs pos="76000">
                  <a:schemeClr val="tx2">
                    <a:alpha val="0"/>
                  </a:schemeClr>
                </a:gs>
                <a:gs pos="100000">
                  <a:schemeClr val="tx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zh-CN" sz="2800" b="1" dirty="0">
                <a:solidFill>
                  <a:srgbClr val="4472C4"/>
                </a:solidFill>
                <a:latin typeface="Arial" panose="020B0604020202020204" pitchFamily="34" charset="0"/>
                <a:ea typeface="微软雅黑" panose="020B0503020204020204" pitchFamily="34" charset="-122"/>
              </a:rPr>
              <a:t>03</a:t>
            </a:r>
          </a:p>
        </p:txBody>
      </p:sp>
    </p:spTree>
    <p:custDataLst>
      <p:tags r:id="rId1"/>
    </p:custDataLst>
    <p:extLst>
      <p:ext uri="{BB962C8B-B14F-4D97-AF65-F5344CB8AC3E}">
        <p14:creationId xmlns:p14="http://schemas.microsoft.com/office/powerpoint/2010/main" val="2268755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DF38B76-B9DA-44A9-9E74-2512B2747605}"/>
                  </a:ext>
                </a:extLst>
              </p:cNvPr>
              <p:cNvSpPr>
                <a:spLocks noGrp="1"/>
              </p:cNvSpPr>
              <p:nvPr>
                <p:ph idx="1"/>
              </p:nvPr>
            </p:nvSpPr>
            <p:spPr>
              <a:xfrm>
                <a:off x="657774" y="1362285"/>
                <a:ext cx="5499182" cy="4790615"/>
              </a:xfrm>
            </p:spPr>
            <p:txBody>
              <a:bodyPr/>
              <a:lstStyle/>
              <a:p>
                <a:pPr marL="457200" indent="-457200" algn="just">
                  <a:lnSpc>
                    <a:spcPct val="130000"/>
                  </a:lnSpc>
                  <a:buFont typeface="Wingdings" panose="05000000000000000000" pitchFamily="2" charset="2"/>
                  <a:buChar char="p"/>
                  <a:defRPr/>
                </a:pPr>
                <a:r>
                  <a:rPr lang="zh-CN" altLang="en-US" dirty="0"/>
                  <a:t>首先每个输入被分解为三个部分</a:t>
                </a:r>
                <a:endParaRPr lang="en-US" altLang="zh-CN" dirty="0"/>
              </a:p>
              <a:p>
                <a:pPr marL="0" indent="0">
                  <a:buNone/>
                </a:pPr>
                <a:r>
                  <a:rPr lang="en-US" altLang="zh-CN" sz="2400" dirty="0">
                    <a:latin typeface="Times New Roman" panose="02020603050405020304" charset="0"/>
                    <a:cs typeface="Times New Roman" panose="02020603050405020304" charset="0"/>
                    <a:sym typeface="+mn-ea"/>
                  </a:rPr>
                  <a:t>	</a:t>
                </a:r>
                <a14:m>
                  <m:oMath xmlns:m="http://schemas.openxmlformats.org/officeDocument/2006/math">
                    <m:r>
                      <a:rPr lang="en-US" altLang="zh-CN" sz="2400" i="1" dirty="0" smtClean="0">
                        <a:latin typeface="Cambria Math" panose="02040503050406030204" pitchFamily="18" charset="0"/>
                        <a:cs typeface="Times New Roman" panose="02020603050405020304" charset="0"/>
                        <a:sym typeface="+mn-ea"/>
                      </a:rPr>
                      <m:t>𝑋</m:t>
                    </m:r>
                    <m:r>
                      <a:rPr lang="en-US" altLang="zh-CN" sz="2400" i="1" baseline="-25000" dirty="0" err="1">
                        <a:latin typeface="Cambria Math" panose="02040503050406030204" pitchFamily="18" charset="0"/>
                        <a:cs typeface="Times New Roman" panose="02020603050405020304" charset="0"/>
                        <a:sym typeface="+mn-ea"/>
                      </a:rPr>
                      <m:t>𝐸𝑚𝑏𝑒𝑑𝑑𝑖𝑛𝑔</m:t>
                    </m:r>
                    <m:r>
                      <a:rPr lang="en-US" altLang="zh-CN" sz="2400" b="1" i="1" dirty="0" smtClean="0">
                        <a:latin typeface="Cambria Math" panose="02040503050406030204" pitchFamily="18" charset="0"/>
                        <a:cs typeface="Times New Roman" panose="02020603050405020304" charset="0"/>
                        <a:sym typeface="+mn-ea"/>
                      </a:rPr>
                      <m:t>⋅</m:t>
                    </m:r>
                    <m:r>
                      <a:rPr lang="zh-CN" altLang="en-US" sz="2400" b="1" i="1" dirty="0" smtClean="0">
                        <a:latin typeface="Cambria Math" panose="02040503050406030204" pitchFamily="18" charset="0"/>
                        <a:cs typeface="Times New Roman" panose="02020603050405020304" charset="0"/>
                        <a:sym typeface="+mn-ea"/>
                      </a:rPr>
                      <m:t> </m:t>
                    </m:r>
                    <m:r>
                      <a:rPr lang="en-US" altLang="zh-CN" sz="2400" i="1" dirty="0">
                        <a:latin typeface="Cambria Math" panose="02040503050406030204" pitchFamily="18" charset="0"/>
                        <a:cs typeface="Times New Roman" panose="02020603050405020304" charset="0"/>
                        <a:sym typeface="+mn-ea"/>
                      </a:rPr>
                      <m:t>𝑊</m:t>
                    </m:r>
                    <m:r>
                      <a:rPr lang="en-US" altLang="zh-CN" sz="2400" i="1" baseline="30000" dirty="0">
                        <a:latin typeface="Cambria Math" panose="02040503050406030204" pitchFamily="18" charset="0"/>
                        <a:cs typeface="Times New Roman" panose="02020603050405020304" charset="0"/>
                        <a:sym typeface="+mn-ea"/>
                      </a:rPr>
                      <m:t>𝑄</m:t>
                    </m:r>
                    <m:r>
                      <a:rPr lang="en-US" altLang="zh-CN" sz="2400" i="1" dirty="0">
                        <a:latin typeface="Cambria Math" panose="02040503050406030204" pitchFamily="18" charset="0"/>
                        <a:cs typeface="Times New Roman" panose="02020603050405020304" charset="0"/>
                        <a:sym typeface="+mn-ea"/>
                      </a:rPr>
                      <m:t>=</m:t>
                    </m:r>
                    <m:r>
                      <a:rPr lang="en-US" altLang="zh-CN" sz="2400" i="1" dirty="0">
                        <a:latin typeface="Cambria Math" panose="02040503050406030204" pitchFamily="18" charset="0"/>
                        <a:cs typeface="Times New Roman" panose="02020603050405020304" charset="0"/>
                        <a:sym typeface="+mn-ea"/>
                      </a:rPr>
                      <m:t>𝑄</m:t>
                    </m:r>
                  </m:oMath>
                </a14:m>
                <a:endParaRPr lang="en-US" altLang="zh-CN" sz="2400" dirty="0">
                  <a:latin typeface="Times New Roman" panose="02020603050405020304" charset="0"/>
                  <a:cs typeface="Times New Roman" panose="02020603050405020304" charset="0"/>
                  <a:sym typeface="+mn-ea"/>
                </a:endParaRPr>
              </a:p>
              <a:p>
                <a:pPr marL="0" indent="0">
                  <a:buNone/>
                </a:pPr>
                <a:r>
                  <a:rPr lang="en-US" altLang="zh-CN" sz="2400" dirty="0">
                    <a:latin typeface="Times New Roman" panose="02020603050405020304" charset="0"/>
                    <a:cs typeface="Times New Roman" panose="02020603050405020304" charset="0"/>
                    <a:sym typeface="+mn-ea"/>
                  </a:rPr>
                  <a:t>	</a:t>
                </a:r>
                <a14:m>
                  <m:oMath xmlns:m="http://schemas.openxmlformats.org/officeDocument/2006/math">
                    <m:r>
                      <a:rPr lang="en-US" altLang="zh-CN" sz="2400" i="1" dirty="0" smtClean="0">
                        <a:latin typeface="Cambria Math" panose="02040503050406030204" pitchFamily="18" charset="0"/>
                        <a:cs typeface="Times New Roman" panose="02020603050405020304" charset="0"/>
                        <a:sym typeface="+mn-ea"/>
                      </a:rPr>
                      <m:t>𝑋</m:t>
                    </m:r>
                    <m:r>
                      <a:rPr lang="en-US" altLang="zh-CN" sz="2400" i="1" baseline="-25000" dirty="0" err="1" smtClean="0">
                        <a:latin typeface="Cambria Math" panose="02040503050406030204" pitchFamily="18" charset="0"/>
                        <a:cs typeface="Times New Roman" panose="02020603050405020304" charset="0"/>
                        <a:sym typeface="+mn-ea"/>
                      </a:rPr>
                      <m:t>𝐸𝑚𝑏𝑒𝑑𝑑𝑖𝑛𝑔</m:t>
                    </m:r>
                    <m:r>
                      <a:rPr lang="en-US" altLang="zh-CN" sz="2400" b="1" i="1" dirty="0" smtClean="0">
                        <a:latin typeface="Cambria Math" panose="02040503050406030204" pitchFamily="18" charset="0"/>
                        <a:cs typeface="Times New Roman" panose="02020603050405020304" charset="0"/>
                        <a:sym typeface="+mn-ea"/>
                      </a:rPr>
                      <m:t>⋅</m:t>
                    </m:r>
                    <m:r>
                      <a:rPr lang="en-US" altLang="zh-CN" sz="2400" i="1" dirty="0" err="1" smtClean="0">
                        <a:latin typeface="Cambria Math" panose="02040503050406030204" pitchFamily="18" charset="0"/>
                        <a:cs typeface="Times New Roman" panose="02020603050405020304" charset="0"/>
                        <a:sym typeface="+mn-ea"/>
                      </a:rPr>
                      <m:t>𝑊</m:t>
                    </m:r>
                    <m:r>
                      <a:rPr lang="en-US" altLang="zh-CN" sz="2400" i="1" baseline="30000" dirty="0" err="1" smtClean="0">
                        <a:latin typeface="Cambria Math" panose="02040503050406030204" pitchFamily="18" charset="0"/>
                        <a:cs typeface="Times New Roman" panose="02020603050405020304" charset="0"/>
                        <a:sym typeface="+mn-ea"/>
                      </a:rPr>
                      <m:t>𝑘</m:t>
                    </m:r>
                    <m:r>
                      <a:rPr lang="en-US" altLang="zh-CN" sz="2400" i="1" dirty="0" smtClean="0">
                        <a:latin typeface="Cambria Math" panose="02040503050406030204" pitchFamily="18" charset="0"/>
                        <a:cs typeface="Times New Roman" panose="02020603050405020304" charset="0"/>
                        <a:sym typeface="+mn-ea"/>
                      </a:rPr>
                      <m:t>=</m:t>
                    </m:r>
                    <m:r>
                      <a:rPr lang="en-US" altLang="zh-CN" sz="2400" i="1" dirty="0" smtClean="0">
                        <a:latin typeface="Cambria Math" panose="02040503050406030204" pitchFamily="18" charset="0"/>
                        <a:cs typeface="Times New Roman" panose="02020603050405020304" charset="0"/>
                        <a:sym typeface="+mn-ea"/>
                      </a:rPr>
                      <m:t>𝐾</m:t>
                    </m:r>
                  </m:oMath>
                </a14:m>
                <a:endParaRPr lang="en-US" altLang="zh-CN" sz="2400" dirty="0">
                  <a:latin typeface="Times New Roman" panose="02020603050405020304" charset="0"/>
                  <a:cs typeface="Times New Roman" panose="02020603050405020304" charset="0"/>
                  <a:sym typeface="+mn-ea"/>
                </a:endParaRPr>
              </a:p>
              <a:p>
                <a:pPr marL="0" indent="0">
                  <a:buNone/>
                </a:pPr>
                <a:r>
                  <a:rPr lang="en-US" altLang="zh-CN" sz="2400" dirty="0">
                    <a:latin typeface="Times New Roman" panose="02020603050405020304" charset="0"/>
                    <a:cs typeface="Times New Roman" panose="02020603050405020304" charset="0"/>
                    <a:sym typeface="+mn-ea"/>
                  </a:rPr>
                  <a:t>	</a:t>
                </a:r>
                <a14:m>
                  <m:oMath xmlns:m="http://schemas.openxmlformats.org/officeDocument/2006/math">
                    <m:r>
                      <a:rPr lang="en-US" altLang="zh-CN" sz="2400" i="1" dirty="0" smtClean="0">
                        <a:latin typeface="Cambria Math" panose="02040503050406030204" pitchFamily="18" charset="0"/>
                        <a:cs typeface="Times New Roman" panose="02020603050405020304" charset="0"/>
                        <a:sym typeface="+mn-ea"/>
                      </a:rPr>
                      <m:t>𝑋</m:t>
                    </m:r>
                    <m:r>
                      <a:rPr lang="en-US" altLang="zh-CN" sz="2400" i="1" baseline="-25000" dirty="0" err="1">
                        <a:latin typeface="Cambria Math" panose="02040503050406030204" pitchFamily="18" charset="0"/>
                        <a:cs typeface="Times New Roman" panose="02020603050405020304" charset="0"/>
                        <a:sym typeface="+mn-ea"/>
                      </a:rPr>
                      <m:t>𝐸𝑚𝑏𝑒𝑑𝑑𝑖𝑛𝑔</m:t>
                    </m:r>
                    <m:r>
                      <a:rPr lang="en-US" altLang="zh-CN" sz="2400" b="1" i="1" dirty="0" smtClean="0">
                        <a:latin typeface="Cambria Math" panose="02040503050406030204" pitchFamily="18" charset="0"/>
                        <a:cs typeface="Times New Roman" panose="02020603050405020304" charset="0"/>
                        <a:sym typeface="+mn-ea"/>
                      </a:rPr>
                      <m:t>⋅</m:t>
                    </m:r>
                    <m:r>
                      <a:rPr lang="en-US" altLang="zh-CN" sz="2400" i="1" dirty="0">
                        <a:latin typeface="Cambria Math" panose="02040503050406030204" pitchFamily="18" charset="0"/>
                        <a:cs typeface="Times New Roman" panose="02020603050405020304" charset="0"/>
                        <a:sym typeface="+mn-ea"/>
                      </a:rPr>
                      <m:t>𝑊</m:t>
                    </m:r>
                    <m:r>
                      <a:rPr lang="en-US" altLang="zh-CN" sz="2400" i="1" baseline="30000" dirty="0">
                        <a:latin typeface="Cambria Math" panose="02040503050406030204" pitchFamily="18" charset="0"/>
                        <a:cs typeface="Times New Roman" panose="02020603050405020304" charset="0"/>
                        <a:sym typeface="+mn-ea"/>
                      </a:rPr>
                      <m:t>𝑣</m:t>
                    </m:r>
                    <m:r>
                      <a:rPr lang="en-US" altLang="zh-CN" sz="2400" i="1" dirty="0">
                        <a:latin typeface="Cambria Math" panose="02040503050406030204" pitchFamily="18" charset="0"/>
                        <a:cs typeface="Times New Roman" panose="02020603050405020304" charset="0"/>
                        <a:sym typeface="+mn-ea"/>
                      </a:rPr>
                      <m:t>=</m:t>
                    </m:r>
                    <m:r>
                      <a:rPr lang="en-US" altLang="zh-CN" sz="2400" i="1" dirty="0">
                        <a:latin typeface="Cambria Math" panose="02040503050406030204" pitchFamily="18" charset="0"/>
                        <a:cs typeface="Times New Roman" panose="02020603050405020304" charset="0"/>
                        <a:sym typeface="+mn-ea"/>
                      </a:rPr>
                      <m:t>𝑉</m:t>
                    </m:r>
                  </m:oMath>
                </a14:m>
                <a:endParaRPr lang="zh-CN" altLang="en-US" sz="2400" dirty="0">
                  <a:latin typeface="Times New Roman" panose="02020603050405020304" charset="0"/>
                  <a:cs typeface="Times New Roman" panose="02020603050405020304" charset="0"/>
                </a:endParaRPr>
              </a:p>
              <a:p>
                <a:pPr marL="457200" indent="-457200" algn="just">
                  <a:lnSpc>
                    <a:spcPct val="130000"/>
                  </a:lnSpc>
                  <a:buFont typeface="Wingdings" panose="05000000000000000000" pitchFamily="2" charset="2"/>
                  <a:buChar char="p"/>
                  <a:defRPr/>
                </a:pPr>
                <a:endParaRPr lang="en-US" altLang="zh-CN" dirty="0"/>
              </a:p>
              <a:p>
                <a:pPr marL="457200" indent="-457200" algn="just">
                  <a:lnSpc>
                    <a:spcPct val="130000"/>
                  </a:lnSpc>
                  <a:buFont typeface="Wingdings" panose="05000000000000000000" pitchFamily="2" charset="2"/>
                  <a:buChar char="p"/>
                  <a:defRPr/>
                </a:pPr>
                <a:r>
                  <a:rPr lang="zh-CN" altLang="en-US" dirty="0"/>
                  <a:t>其次为自注意力计算准备结果</a:t>
                </a:r>
              </a:p>
              <a:p>
                <a:pPr marL="914400" lvl="2" indent="-457200" algn="just">
                  <a:lnSpc>
                    <a:spcPct val="130000"/>
                  </a:lnSpc>
                  <a:spcBef>
                    <a:spcPts val="1000"/>
                  </a:spcBef>
                  <a:buFont typeface="Wingdings" panose="05000000000000000000" pitchFamily="2" charset="2"/>
                  <a:buChar char="p"/>
                  <a:defRPr/>
                </a:pPr>
                <a:r>
                  <a:rPr lang="zh-CN" altLang="en-US" b="1" kern="100" dirty="0">
                    <a:solidFill>
                      <a:prstClr val="black"/>
                    </a:solidFill>
                    <a:cs typeface="+mn-ea"/>
                  </a:rPr>
                  <a:t>查询向量、键向量和值向量都是行向量</a:t>
                </a:r>
              </a:p>
            </p:txBody>
          </p:sp>
        </mc:Choice>
        <mc:Fallback xmlns="">
          <p:sp>
            <p:nvSpPr>
              <p:cNvPr id="3" name="内容占位符 2">
                <a:extLst>
                  <a:ext uri="{FF2B5EF4-FFF2-40B4-BE49-F238E27FC236}">
                    <a16:creationId xmlns:a16="http://schemas.microsoft.com/office/drawing/2014/main" id="{5DF38B76-B9DA-44A9-9E74-2512B2747605}"/>
                  </a:ext>
                </a:extLst>
              </p:cNvPr>
              <p:cNvSpPr>
                <a:spLocks noGrp="1" noRot="1" noChangeAspect="1" noMove="1" noResize="1" noEditPoints="1" noAdjustHandles="1" noChangeArrowheads="1" noChangeShapeType="1" noTextEdit="1"/>
              </p:cNvSpPr>
              <p:nvPr>
                <p:ph idx="1"/>
              </p:nvPr>
            </p:nvSpPr>
            <p:spPr>
              <a:xfrm>
                <a:off x="657774" y="1362285"/>
                <a:ext cx="5499182" cy="4790615"/>
              </a:xfrm>
              <a:blipFill>
                <a:blip r:embed="rId3"/>
                <a:stretch>
                  <a:fillRect l="-15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61B2EF27-A656-322A-43E5-DA8A9E820CBA}"/>
                  </a:ext>
                </a:extLst>
              </p:cNvPr>
              <p:cNvSpPr txBox="1"/>
              <p:nvPr/>
            </p:nvSpPr>
            <p:spPr>
              <a:xfrm>
                <a:off x="5938731" y="3200291"/>
                <a:ext cx="222753"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1</m:t>
                          </m:r>
                        </m:sub>
                      </m:sSub>
                    </m:oMath>
                  </m:oMathPara>
                </a14:m>
                <a:endParaRPr lang="en-US" sz="1400" dirty="0"/>
              </a:p>
            </p:txBody>
          </p:sp>
        </mc:Choice>
        <mc:Fallback xmlns="">
          <p:sp>
            <p:nvSpPr>
              <p:cNvPr id="33" name="TextBox 32">
                <a:extLst>
                  <a:ext uri="{FF2B5EF4-FFF2-40B4-BE49-F238E27FC236}">
                    <a16:creationId xmlns:a16="http://schemas.microsoft.com/office/drawing/2014/main" id="{61B2EF27-A656-322A-43E5-DA8A9E820CBA}"/>
                  </a:ext>
                </a:extLst>
              </p:cNvPr>
              <p:cNvSpPr txBox="1">
                <a:spLocks noRot="1" noChangeAspect="1" noMove="1" noResize="1" noEditPoints="1" noAdjustHandles="1" noChangeArrowheads="1" noChangeShapeType="1" noTextEdit="1"/>
              </p:cNvSpPr>
              <p:nvPr/>
            </p:nvSpPr>
            <p:spPr>
              <a:xfrm>
                <a:off x="5938731" y="3200291"/>
                <a:ext cx="222753" cy="215444"/>
              </a:xfrm>
              <a:prstGeom prst="rect">
                <a:avLst/>
              </a:prstGeom>
              <a:blipFill>
                <a:blip r:embed="rId4"/>
                <a:stretch>
                  <a:fillRect l="-5263" b="-235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89D5D27D-9F0F-BE81-94E4-C4463CCE7624}"/>
                  </a:ext>
                </a:extLst>
              </p:cNvPr>
              <p:cNvSpPr txBox="1"/>
              <p:nvPr/>
            </p:nvSpPr>
            <p:spPr>
              <a:xfrm>
                <a:off x="5934562" y="3497132"/>
                <a:ext cx="22692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2</m:t>
                          </m:r>
                        </m:sub>
                      </m:sSub>
                    </m:oMath>
                  </m:oMathPara>
                </a14:m>
                <a:endParaRPr lang="en-US" sz="1400"/>
              </a:p>
            </p:txBody>
          </p:sp>
        </mc:Choice>
        <mc:Fallback xmlns="">
          <p:sp>
            <p:nvSpPr>
              <p:cNvPr id="34" name="TextBox 33">
                <a:extLst>
                  <a:ext uri="{FF2B5EF4-FFF2-40B4-BE49-F238E27FC236}">
                    <a16:creationId xmlns:a16="http://schemas.microsoft.com/office/drawing/2014/main" id="{89D5D27D-9F0F-BE81-94E4-C4463CCE7624}"/>
                  </a:ext>
                </a:extLst>
              </p:cNvPr>
              <p:cNvSpPr txBox="1">
                <a:spLocks noRot="1" noChangeAspect="1" noMove="1" noResize="1" noEditPoints="1" noAdjustHandles="1" noChangeArrowheads="1" noChangeShapeType="1" noTextEdit="1"/>
              </p:cNvSpPr>
              <p:nvPr/>
            </p:nvSpPr>
            <p:spPr>
              <a:xfrm>
                <a:off x="5934562" y="3497132"/>
                <a:ext cx="226922" cy="215444"/>
              </a:xfrm>
              <a:prstGeom prst="rect">
                <a:avLst/>
              </a:prstGeom>
              <a:blipFill>
                <a:blip r:embed="rId5"/>
                <a:stretch>
                  <a:fillRect l="-10526"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DAD99E7-AD92-9079-8196-FF19877A9C76}"/>
                  </a:ext>
                </a:extLst>
              </p:cNvPr>
              <p:cNvSpPr txBox="1"/>
              <p:nvPr/>
            </p:nvSpPr>
            <p:spPr>
              <a:xfrm>
                <a:off x="5934562" y="3793973"/>
                <a:ext cx="22692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3</m:t>
                          </m:r>
                        </m:sub>
                      </m:sSub>
                    </m:oMath>
                  </m:oMathPara>
                </a14:m>
                <a:endParaRPr lang="en-US" sz="1400"/>
              </a:p>
            </p:txBody>
          </p:sp>
        </mc:Choice>
        <mc:Fallback xmlns="">
          <p:sp>
            <p:nvSpPr>
              <p:cNvPr id="35" name="TextBox 34">
                <a:extLst>
                  <a:ext uri="{FF2B5EF4-FFF2-40B4-BE49-F238E27FC236}">
                    <a16:creationId xmlns:a16="http://schemas.microsoft.com/office/drawing/2014/main" id="{2DAD99E7-AD92-9079-8196-FF19877A9C76}"/>
                  </a:ext>
                </a:extLst>
              </p:cNvPr>
              <p:cNvSpPr txBox="1">
                <a:spLocks noRot="1" noChangeAspect="1" noMove="1" noResize="1" noEditPoints="1" noAdjustHandles="1" noChangeArrowheads="1" noChangeShapeType="1" noTextEdit="1"/>
              </p:cNvSpPr>
              <p:nvPr/>
            </p:nvSpPr>
            <p:spPr>
              <a:xfrm>
                <a:off x="5934562" y="3793973"/>
                <a:ext cx="226922" cy="215444"/>
              </a:xfrm>
              <a:prstGeom prst="rect">
                <a:avLst/>
              </a:prstGeom>
              <a:blipFill>
                <a:blip r:embed="rId6"/>
                <a:stretch>
                  <a:fillRect l="-10526"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68516A88-EE39-6F85-8E12-68FBCF75FDBA}"/>
                  </a:ext>
                </a:extLst>
              </p:cNvPr>
              <p:cNvSpPr txBox="1"/>
              <p:nvPr/>
            </p:nvSpPr>
            <p:spPr>
              <a:xfrm>
                <a:off x="5934562" y="4090815"/>
                <a:ext cx="22692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4</m:t>
                          </m:r>
                        </m:sub>
                      </m:sSub>
                    </m:oMath>
                  </m:oMathPara>
                </a14:m>
                <a:endParaRPr lang="en-US" sz="1400" dirty="0"/>
              </a:p>
            </p:txBody>
          </p:sp>
        </mc:Choice>
        <mc:Fallback xmlns="">
          <p:sp>
            <p:nvSpPr>
              <p:cNvPr id="36" name="TextBox 35">
                <a:extLst>
                  <a:ext uri="{FF2B5EF4-FFF2-40B4-BE49-F238E27FC236}">
                    <a16:creationId xmlns:a16="http://schemas.microsoft.com/office/drawing/2014/main" id="{68516A88-EE39-6F85-8E12-68FBCF75FDBA}"/>
                  </a:ext>
                </a:extLst>
              </p:cNvPr>
              <p:cNvSpPr txBox="1">
                <a:spLocks noRot="1" noChangeAspect="1" noMove="1" noResize="1" noEditPoints="1" noAdjustHandles="1" noChangeArrowheads="1" noChangeShapeType="1" noTextEdit="1"/>
              </p:cNvSpPr>
              <p:nvPr/>
            </p:nvSpPr>
            <p:spPr>
              <a:xfrm>
                <a:off x="5934562" y="4090815"/>
                <a:ext cx="226922" cy="215444"/>
              </a:xfrm>
              <a:prstGeom prst="rect">
                <a:avLst/>
              </a:prstGeom>
              <a:blipFill>
                <a:blip r:embed="rId7"/>
                <a:stretch>
                  <a:fillRect l="-10526" b="-235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1B2DBAFA-6E4E-D78A-FD03-C040884D5DE1}"/>
                  </a:ext>
                </a:extLst>
              </p:cNvPr>
              <p:cNvSpPr txBox="1"/>
              <p:nvPr/>
            </p:nvSpPr>
            <p:spPr>
              <a:xfrm>
                <a:off x="11170565" y="1485156"/>
                <a:ext cx="22095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𝑞</m:t>
                          </m:r>
                        </m:e>
                        <m:sub>
                          <m:r>
                            <a:rPr lang="en-US" altLang="zh-CN" sz="1400" b="0" i="1" smtClean="0">
                              <a:latin typeface="Cambria Math" panose="02040503050406030204" pitchFamily="18" charset="0"/>
                            </a:rPr>
                            <m:t>1</m:t>
                          </m:r>
                        </m:sub>
                      </m:sSub>
                    </m:oMath>
                  </m:oMathPara>
                </a14:m>
                <a:endParaRPr lang="en-US" sz="1400" dirty="0"/>
              </a:p>
            </p:txBody>
          </p:sp>
        </mc:Choice>
        <mc:Fallback xmlns="">
          <p:sp>
            <p:nvSpPr>
              <p:cNvPr id="41" name="TextBox 40">
                <a:extLst>
                  <a:ext uri="{FF2B5EF4-FFF2-40B4-BE49-F238E27FC236}">
                    <a16:creationId xmlns:a16="http://schemas.microsoft.com/office/drawing/2014/main" id="{1B2DBAFA-6E4E-D78A-FD03-C040884D5DE1}"/>
                  </a:ext>
                </a:extLst>
              </p:cNvPr>
              <p:cNvSpPr txBox="1">
                <a:spLocks noRot="1" noChangeAspect="1" noMove="1" noResize="1" noEditPoints="1" noAdjustHandles="1" noChangeArrowheads="1" noChangeShapeType="1" noTextEdit="1"/>
              </p:cNvSpPr>
              <p:nvPr/>
            </p:nvSpPr>
            <p:spPr>
              <a:xfrm>
                <a:off x="11170565" y="1485156"/>
                <a:ext cx="220958" cy="215444"/>
              </a:xfrm>
              <a:prstGeom prst="rect">
                <a:avLst/>
              </a:prstGeom>
              <a:blipFill>
                <a:blip r:embed="rId8"/>
                <a:stretch>
                  <a:fillRect l="-15789" b="-352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88810C5E-0C5B-C121-60CD-CCB74ACD603F}"/>
                  </a:ext>
                </a:extLst>
              </p:cNvPr>
              <p:cNvSpPr txBox="1"/>
              <p:nvPr/>
            </p:nvSpPr>
            <p:spPr>
              <a:xfrm>
                <a:off x="11176661" y="1781997"/>
                <a:ext cx="22512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𝑞</m:t>
                          </m:r>
                        </m:e>
                        <m:sub>
                          <m:r>
                            <a:rPr lang="en-US" altLang="zh-CN" sz="1400" b="0" i="1" smtClean="0">
                              <a:latin typeface="Cambria Math" panose="02040503050406030204" pitchFamily="18" charset="0"/>
                            </a:rPr>
                            <m:t>2</m:t>
                          </m:r>
                        </m:sub>
                      </m:sSub>
                    </m:oMath>
                  </m:oMathPara>
                </a14:m>
                <a:endParaRPr lang="en-US" sz="1400"/>
              </a:p>
            </p:txBody>
          </p:sp>
        </mc:Choice>
        <mc:Fallback xmlns="">
          <p:sp>
            <p:nvSpPr>
              <p:cNvPr id="42" name="TextBox 41">
                <a:extLst>
                  <a:ext uri="{FF2B5EF4-FFF2-40B4-BE49-F238E27FC236}">
                    <a16:creationId xmlns:a16="http://schemas.microsoft.com/office/drawing/2014/main" id="{88810C5E-0C5B-C121-60CD-CCB74ACD603F}"/>
                  </a:ext>
                </a:extLst>
              </p:cNvPr>
              <p:cNvSpPr txBox="1">
                <a:spLocks noRot="1" noChangeAspect="1" noMove="1" noResize="1" noEditPoints="1" noAdjustHandles="1" noChangeArrowheads="1" noChangeShapeType="1" noTextEdit="1"/>
              </p:cNvSpPr>
              <p:nvPr/>
            </p:nvSpPr>
            <p:spPr>
              <a:xfrm>
                <a:off x="11176661" y="1781997"/>
                <a:ext cx="225125" cy="215444"/>
              </a:xfrm>
              <a:prstGeom prst="rect">
                <a:avLst/>
              </a:prstGeom>
              <a:blipFill>
                <a:blip r:embed="rId9"/>
                <a:stretch>
                  <a:fillRect l="-15789" r="-5263" b="-2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4CD1821D-F9AC-CAF2-E0AA-909026BD493C}"/>
                  </a:ext>
                </a:extLst>
              </p:cNvPr>
              <p:cNvSpPr txBox="1"/>
              <p:nvPr/>
            </p:nvSpPr>
            <p:spPr>
              <a:xfrm>
                <a:off x="11173613" y="2078838"/>
                <a:ext cx="22512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𝑞</m:t>
                          </m:r>
                        </m:e>
                        <m:sub>
                          <m:r>
                            <a:rPr lang="en-US" altLang="zh-CN" sz="1400" b="0" i="1" smtClean="0">
                              <a:latin typeface="Cambria Math" panose="02040503050406030204" pitchFamily="18" charset="0"/>
                            </a:rPr>
                            <m:t>3</m:t>
                          </m:r>
                        </m:sub>
                      </m:sSub>
                    </m:oMath>
                  </m:oMathPara>
                </a14:m>
                <a:endParaRPr lang="en-US" sz="1400"/>
              </a:p>
            </p:txBody>
          </p:sp>
        </mc:Choice>
        <mc:Fallback xmlns="">
          <p:sp>
            <p:nvSpPr>
              <p:cNvPr id="43" name="TextBox 42">
                <a:extLst>
                  <a:ext uri="{FF2B5EF4-FFF2-40B4-BE49-F238E27FC236}">
                    <a16:creationId xmlns:a16="http://schemas.microsoft.com/office/drawing/2014/main" id="{4CD1821D-F9AC-CAF2-E0AA-909026BD493C}"/>
                  </a:ext>
                </a:extLst>
              </p:cNvPr>
              <p:cNvSpPr txBox="1">
                <a:spLocks noRot="1" noChangeAspect="1" noMove="1" noResize="1" noEditPoints="1" noAdjustHandles="1" noChangeArrowheads="1" noChangeShapeType="1" noTextEdit="1"/>
              </p:cNvSpPr>
              <p:nvPr/>
            </p:nvSpPr>
            <p:spPr>
              <a:xfrm>
                <a:off x="11173613" y="2078838"/>
                <a:ext cx="225126" cy="215444"/>
              </a:xfrm>
              <a:prstGeom prst="rect">
                <a:avLst/>
              </a:prstGeom>
              <a:blipFill>
                <a:blip r:embed="rId10"/>
                <a:stretch>
                  <a:fillRect l="-15789" r="-5263" b="-2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4149143E-9995-D212-BBA6-797343F58B4C}"/>
                  </a:ext>
                </a:extLst>
              </p:cNvPr>
              <p:cNvSpPr txBox="1"/>
              <p:nvPr/>
            </p:nvSpPr>
            <p:spPr>
              <a:xfrm>
                <a:off x="11161421" y="2375680"/>
                <a:ext cx="22512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𝑞</m:t>
                          </m:r>
                        </m:e>
                        <m:sub>
                          <m:r>
                            <a:rPr lang="en-US" altLang="zh-CN" sz="1400" b="0" i="1" smtClean="0">
                              <a:latin typeface="Cambria Math" panose="02040503050406030204" pitchFamily="18" charset="0"/>
                            </a:rPr>
                            <m:t>4</m:t>
                          </m:r>
                        </m:sub>
                      </m:sSub>
                    </m:oMath>
                  </m:oMathPara>
                </a14:m>
                <a:endParaRPr lang="en-US" sz="1400"/>
              </a:p>
            </p:txBody>
          </p:sp>
        </mc:Choice>
        <mc:Fallback xmlns="">
          <p:sp>
            <p:nvSpPr>
              <p:cNvPr id="44" name="TextBox 43">
                <a:extLst>
                  <a:ext uri="{FF2B5EF4-FFF2-40B4-BE49-F238E27FC236}">
                    <a16:creationId xmlns:a16="http://schemas.microsoft.com/office/drawing/2014/main" id="{4149143E-9995-D212-BBA6-797343F58B4C}"/>
                  </a:ext>
                </a:extLst>
              </p:cNvPr>
              <p:cNvSpPr txBox="1">
                <a:spLocks noRot="1" noChangeAspect="1" noMove="1" noResize="1" noEditPoints="1" noAdjustHandles="1" noChangeArrowheads="1" noChangeShapeType="1" noTextEdit="1"/>
              </p:cNvSpPr>
              <p:nvPr/>
            </p:nvSpPr>
            <p:spPr>
              <a:xfrm>
                <a:off x="11161421" y="2375680"/>
                <a:ext cx="225125" cy="215444"/>
              </a:xfrm>
              <a:prstGeom prst="rect">
                <a:avLst/>
              </a:prstGeom>
              <a:blipFill>
                <a:blip r:embed="rId11"/>
                <a:stretch>
                  <a:fillRect l="-15789" r="-5263" b="-2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62FD63DE-6544-D0A3-35DD-9C49B77ECEB3}"/>
                  </a:ext>
                </a:extLst>
              </p:cNvPr>
              <p:cNvSpPr txBox="1"/>
              <p:nvPr/>
            </p:nvSpPr>
            <p:spPr>
              <a:xfrm>
                <a:off x="11202538" y="3276491"/>
                <a:ext cx="227691"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𝑘</m:t>
                          </m:r>
                        </m:e>
                        <m:sub>
                          <m:r>
                            <a:rPr lang="en-US" altLang="zh-CN" sz="1400" b="0" i="1" smtClean="0">
                              <a:latin typeface="Cambria Math" panose="02040503050406030204" pitchFamily="18" charset="0"/>
                            </a:rPr>
                            <m:t>1</m:t>
                          </m:r>
                        </m:sub>
                      </m:sSub>
                    </m:oMath>
                  </m:oMathPara>
                </a14:m>
                <a:endParaRPr lang="en-US" sz="1400" dirty="0"/>
              </a:p>
            </p:txBody>
          </p:sp>
        </mc:Choice>
        <mc:Fallback xmlns="">
          <p:sp>
            <p:nvSpPr>
              <p:cNvPr id="45" name="TextBox 44">
                <a:extLst>
                  <a:ext uri="{FF2B5EF4-FFF2-40B4-BE49-F238E27FC236}">
                    <a16:creationId xmlns:a16="http://schemas.microsoft.com/office/drawing/2014/main" id="{62FD63DE-6544-D0A3-35DD-9C49B77ECEB3}"/>
                  </a:ext>
                </a:extLst>
              </p:cNvPr>
              <p:cNvSpPr txBox="1">
                <a:spLocks noRot="1" noChangeAspect="1" noMove="1" noResize="1" noEditPoints="1" noAdjustHandles="1" noChangeArrowheads="1" noChangeShapeType="1" noTextEdit="1"/>
              </p:cNvSpPr>
              <p:nvPr/>
            </p:nvSpPr>
            <p:spPr>
              <a:xfrm>
                <a:off x="11202538" y="3276491"/>
                <a:ext cx="227691" cy="215444"/>
              </a:xfrm>
              <a:prstGeom prst="rect">
                <a:avLst/>
              </a:prstGeom>
              <a:blipFill>
                <a:blip r:embed="rId12"/>
                <a:stretch>
                  <a:fillRect l="-21053" b="-10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328E2587-477C-BCAE-0DA9-02E5067A751C}"/>
                  </a:ext>
                </a:extLst>
              </p:cNvPr>
              <p:cNvSpPr txBox="1"/>
              <p:nvPr/>
            </p:nvSpPr>
            <p:spPr>
              <a:xfrm>
                <a:off x="11208634" y="3556399"/>
                <a:ext cx="23185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𝑘</m:t>
                          </m:r>
                        </m:e>
                        <m:sub>
                          <m:r>
                            <a:rPr lang="en-US" altLang="zh-CN" sz="1400" b="0" i="1" smtClean="0">
                              <a:latin typeface="Cambria Math" panose="02040503050406030204" pitchFamily="18" charset="0"/>
                            </a:rPr>
                            <m:t>2</m:t>
                          </m:r>
                        </m:sub>
                      </m:sSub>
                    </m:oMath>
                  </m:oMathPara>
                </a14:m>
                <a:endParaRPr lang="en-US" sz="1400"/>
              </a:p>
            </p:txBody>
          </p:sp>
        </mc:Choice>
        <mc:Fallback xmlns="">
          <p:sp>
            <p:nvSpPr>
              <p:cNvPr id="46" name="TextBox 45">
                <a:extLst>
                  <a:ext uri="{FF2B5EF4-FFF2-40B4-BE49-F238E27FC236}">
                    <a16:creationId xmlns:a16="http://schemas.microsoft.com/office/drawing/2014/main" id="{328E2587-477C-BCAE-0DA9-02E5067A751C}"/>
                  </a:ext>
                </a:extLst>
              </p:cNvPr>
              <p:cNvSpPr txBox="1">
                <a:spLocks noRot="1" noChangeAspect="1" noMove="1" noResize="1" noEditPoints="1" noAdjustHandles="1" noChangeArrowheads="1" noChangeShapeType="1" noTextEdit="1"/>
              </p:cNvSpPr>
              <p:nvPr/>
            </p:nvSpPr>
            <p:spPr>
              <a:xfrm>
                <a:off x="11208634" y="3556399"/>
                <a:ext cx="231858" cy="215444"/>
              </a:xfrm>
              <a:prstGeom prst="rect">
                <a:avLst/>
              </a:prstGeom>
              <a:blipFill>
                <a:blip r:embed="rId13"/>
                <a:stretch>
                  <a:fillRect l="-15789" r="-5263" b="-10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DCC13DD8-30A9-D546-A7AC-6169728CA1EC}"/>
                  </a:ext>
                </a:extLst>
              </p:cNvPr>
              <p:cNvSpPr txBox="1"/>
              <p:nvPr/>
            </p:nvSpPr>
            <p:spPr>
              <a:xfrm>
                <a:off x="11205586" y="3849007"/>
                <a:ext cx="23185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𝑘</m:t>
                          </m:r>
                        </m:e>
                        <m:sub>
                          <m:r>
                            <a:rPr lang="en-US" altLang="zh-CN" sz="1400" b="0" i="1" smtClean="0">
                              <a:latin typeface="Cambria Math" panose="02040503050406030204" pitchFamily="18" charset="0"/>
                            </a:rPr>
                            <m:t>3</m:t>
                          </m:r>
                        </m:sub>
                      </m:sSub>
                    </m:oMath>
                  </m:oMathPara>
                </a14:m>
                <a:endParaRPr lang="en-US" sz="1400" dirty="0"/>
              </a:p>
            </p:txBody>
          </p:sp>
        </mc:Choice>
        <mc:Fallback xmlns="">
          <p:sp>
            <p:nvSpPr>
              <p:cNvPr id="47" name="TextBox 46">
                <a:extLst>
                  <a:ext uri="{FF2B5EF4-FFF2-40B4-BE49-F238E27FC236}">
                    <a16:creationId xmlns:a16="http://schemas.microsoft.com/office/drawing/2014/main" id="{DCC13DD8-30A9-D546-A7AC-6169728CA1EC}"/>
                  </a:ext>
                </a:extLst>
              </p:cNvPr>
              <p:cNvSpPr txBox="1">
                <a:spLocks noRot="1" noChangeAspect="1" noMove="1" noResize="1" noEditPoints="1" noAdjustHandles="1" noChangeArrowheads="1" noChangeShapeType="1" noTextEdit="1"/>
              </p:cNvSpPr>
              <p:nvPr/>
            </p:nvSpPr>
            <p:spPr>
              <a:xfrm>
                <a:off x="11205586" y="3849007"/>
                <a:ext cx="231858" cy="215444"/>
              </a:xfrm>
              <a:prstGeom prst="rect">
                <a:avLst/>
              </a:prstGeom>
              <a:blipFill>
                <a:blip r:embed="rId14"/>
                <a:stretch>
                  <a:fillRect l="-21053" r="-5263" b="-157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E57C8221-CAEA-0A1B-F2FB-186C253BBB87}"/>
                  </a:ext>
                </a:extLst>
              </p:cNvPr>
              <p:cNvSpPr txBox="1"/>
              <p:nvPr/>
            </p:nvSpPr>
            <p:spPr>
              <a:xfrm>
                <a:off x="11193394" y="4154315"/>
                <a:ext cx="23185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𝑘</m:t>
                          </m:r>
                        </m:e>
                        <m:sub>
                          <m:r>
                            <a:rPr lang="en-US" altLang="zh-CN" sz="1400" b="0" i="1" smtClean="0">
                              <a:latin typeface="Cambria Math" panose="02040503050406030204" pitchFamily="18" charset="0"/>
                            </a:rPr>
                            <m:t>4</m:t>
                          </m:r>
                        </m:sub>
                      </m:sSub>
                    </m:oMath>
                  </m:oMathPara>
                </a14:m>
                <a:endParaRPr lang="en-US" sz="1400" dirty="0"/>
              </a:p>
            </p:txBody>
          </p:sp>
        </mc:Choice>
        <mc:Fallback xmlns="">
          <p:sp>
            <p:nvSpPr>
              <p:cNvPr id="48" name="TextBox 47">
                <a:extLst>
                  <a:ext uri="{FF2B5EF4-FFF2-40B4-BE49-F238E27FC236}">
                    <a16:creationId xmlns:a16="http://schemas.microsoft.com/office/drawing/2014/main" id="{E57C8221-CAEA-0A1B-F2FB-186C253BBB87}"/>
                  </a:ext>
                </a:extLst>
              </p:cNvPr>
              <p:cNvSpPr txBox="1">
                <a:spLocks noRot="1" noChangeAspect="1" noMove="1" noResize="1" noEditPoints="1" noAdjustHandles="1" noChangeArrowheads="1" noChangeShapeType="1" noTextEdit="1"/>
              </p:cNvSpPr>
              <p:nvPr/>
            </p:nvSpPr>
            <p:spPr>
              <a:xfrm>
                <a:off x="11193394" y="4154315"/>
                <a:ext cx="231858" cy="215444"/>
              </a:xfrm>
              <a:prstGeom prst="rect">
                <a:avLst/>
              </a:prstGeom>
              <a:blipFill>
                <a:blip r:embed="rId15"/>
                <a:stretch>
                  <a:fillRect l="-21053" r="-5263" b="-157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459627A4-000A-A150-1576-B88B79466471}"/>
                  </a:ext>
                </a:extLst>
              </p:cNvPr>
              <p:cNvSpPr txBox="1"/>
              <p:nvPr/>
            </p:nvSpPr>
            <p:spPr>
              <a:xfrm>
                <a:off x="11179709" y="4985065"/>
                <a:ext cx="22435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𝑣</m:t>
                          </m:r>
                        </m:e>
                        <m:sub>
                          <m:r>
                            <a:rPr lang="en-US" altLang="zh-CN" sz="1400" b="0" i="1" smtClean="0">
                              <a:latin typeface="Cambria Math" panose="02040503050406030204" pitchFamily="18" charset="0"/>
                            </a:rPr>
                            <m:t>1</m:t>
                          </m:r>
                        </m:sub>
                      </m:sSub>
                    </m:oMath>
                  </m:oMathPara>
                </a14:m>
                <a:endParaRPr lang="en-US" sz="1400" dirty="0"/>
              </a:p>
            </p:txBody>
          </p:sp>
        </mc:Choice>
        <mc:Fallback xmlns="">
          <p:sp>
            <p:nvSpPr>
              <p:cNvPr id="49" name="TextBox 48">
                <a:extLst>
                  <a:ext uri="{FF2B5EF4-FFF2-40B4-BE49-F238E27FC236}">
                    <a16:creationId xmlns:a16="http://schemas.microsoft.com/office/drawing/2014/main" id="{459627A4-000A-A150-1576-B88B79466471}"/>
                  </a:ext>
                </a:extLst>
              </p:cNvPr>
              <p:cNvSpPr txBox="1">
                <a:spLocks noRot="1" noChangeAspect="1" noMove="1" noResize="1" noEditPoints="1" noAdjustHandles="1" noChangeArrowheads="1" noChangeShapeType="1" noTextEdit="1"/>
              </p:cNvSpPr>
              <p:nvPr/>
            </p:nvSpPr>
            <p:spPr>
              <a:xfrm>
                <a:off x="11179709" y="4985065"/>
                <a:ext cx="224357" cy="215444"/>
              </a:xfrm>
              <a:prstGeom prst="rect">
                <a:avLst/>
              </a:prstGeom>
              <a:blipFill>
                <a:blip r:embed="rId16"/>
                <a:stretch>
                  <a:fillRect l="-10526"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00A76F63-2E4E-D56F-E621-BF094ABACB9D}"/>
                  </a:ext>
                </a:extLst>
              </p:cNvPr>
              <p:cNvSpPr txBox="1"/>
              <p:nvPr/>
            </p:nvSpPr>
            <p:spPr>
              <a:xfrm>
                <a:off x="11185805" y="5273440"/>
                <a:ext cx="22852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𝑣</m:t>
                          </m:r>
                        </m:e>
                        <m:sub>
                          <m:r>
                            <a:rPr lang="en-US" altLang="zh-CN" sz="1400" b="0" i="1" smtClean="0">
                              <a:latin typeface="Cambria Math" panose="02040503050406030204" pitchFamily="18" charset="0"/>
                            </a:rPr>
                            <m:t>2</m:t>
                          </m:r>
                        </m:sub>
                      </m:sSub>
                    </m:oMath>
                  </m:oMathPara>
                </a14:m>
                <a:endParaRPr lang="en-US" sz="1400"/>
              </a:p>
            </p:txBody>
          </p:sp>
        </mc:Choice>
        <mc:Fallback xmlns="">
          <p:sp>
            <p:nvSpPr>
              <p:cNvPr id="50" name="TextBox 49">
                <a:extLst>
                  <a:ext uri="{FF2B5EF4-FFF2-40B4-BE49-F238E27FC236}">
                    <a16:creationId xmlns:a16="http://schemas.microsoft.com/office/drawing/2014/main" id="{00A76F63-2E4E-D56F-E621-BF094ABACB9D}"/>
                  </a:ext>
                </a:extLst>
              </p:cNvPr>
              <p:cNvSpPr txBox="1">
                <a:spLocks noRot="1" noChangeAspect="1" noMove="1" noResize="1" noEditPoints="1" noAdjustHandles="1" noChangeArrowheads="1" noChangeShapeType="1" noTextEdit="1"/>
              </p:cNvSpPr>
              <p:nvPr/>
            </p:nvSpPr>
            <p:spPr>
              <a:xfrm>
                <a:off x="11185805" y="5273440"/>
                <a:ext cx="228524" cy="215444"/>
              </a:xfrm>
              <a:prstGeom prst="rect">
                <a:avLst/>
              </a:prstGeom>
              <a:blipFill>
                <a:blip r:embed="rId17"/>
                <a:stretch>
                  <a:fillRect l="-10526" r="-5263"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9DF5098E-6B82-F5B0-84FC-AD338442B1FF}"/>
                  </a:ext>
                </a:extLst>
              </p:cNvPr>
              <p:cNvSpPr txBox="1"/>
              <p:nvPr/>
            </p:nvSpPr>
            <p:spPr>
              <a:xfrm>
                <a:off x="11182757" y="5561815"/>
                <a:ext cx="22852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𝑣</m:t>
                          </m:r>
                        </m:e>
                        <m:sub>
                          <m:r>
                            <a:rPr lang="en-US" altLang="zh-CN" sz="1400" b="0" i="1" smtClean="0">
                              <a:latin typeface="Cambria Math" panose="02040503050406030204" pitchFamily="18" charset="0"/>
                            </a:rPr>
                            <m:t>3</m:t>
                          </m:r>
                        </m:sub>
                      </m:sSub>
                    </m:oMath>
                  </m:oMathPara>
                </a14:m>
                <a:endParaRPr lang="en-US" sz="1400"/>
              </a:p>
            </p:txBody>
          </p:sp>
        </mc:Choice>
        <mc:Fallback xmlns="">
          <p:sp>
            <p:nvSpPr>
              <p:cNvPr id="51" name="TextBox 50">
                <a:extLst>
                  <a:ext uri="{FF2B5EF4-FFF2-40B4-BE49-F238E27FC236}">
                    <a16:creationId xmlns:a16="http://schemas.microsoft.com/office/drawing/2014/main" id="{9DF5098E-6B82-F5B0-84FC-AD338442B1FF}"/>
                  </a:ext>
                </a:extLst>
              </p:cNvPr>
              <p:cNvSpPr txBox="1">
                <a:spLocks noRot="1" noChangeAspect="1" noMove="1" noResize="1" noEditPoints="1" noAdjustHandles="1" noChangeArrowheads="1" noChangeShapeType="1" noTextEdit="1"/>
              </p:cNvSpPr>
              <p:nvPr/>
            </p:nvSpPr>
            <p:spPr>
              <a:xfrm>
                <a:off x="11182757" y="5561815"/>
                <a:ext cx="228524" cy="215444"/>
              </a:xfrm>
              <a:prstGeom prst="rect">
                <a:avLst/>
              </a:prstGeom>
              <a:blipFill>
                <a:blip r:embed="rId18"/>
                <a:stretch>
                  <a:fillRect l="-10526" r="-5263" b="-10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975A9E75-0FA6-EE6F-3DD5-EC7626FA29F1}"/>
                  </a:ext>
                </a:extLst>
              </p:cNvPr>
              <p:cNvSpPr txBox="1"/>
              <p:nvPr/>
            </p:nvSpPr>
            <p:spPr>
              <a:xfrm>
                <a:off x="11170565" y="5850189"/>
                <a:ext cx="22083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𝑣</m:t>
                          </m:r>
                        </m:e>
                        <m:sub>
                          <m:r>
                            <a:rPr lang="en-US" altLang="zh-CN" sz="1400" b="0" i="1" smtClean="0">
                              <a:latin typeface="Cambria Math" panose="02040503050406030204" pitchFamily="18" charset="0"/>
                            </a:rPr>
                            <m:t>4</m:t>
                          </m:r>
                        </m:sub>
                      </m:sSub>
                    </m:oMath>
                  </m:oMathPara>
                </a14:m>
                <a:endParaRPr lang="en-US" sz="1400"/>
              </a:p>
            </p:txBody>
          </p:sp>
        </mc:Choice>
        <mc:Fallback xmlns="">
          <p:sp>
            <p:nvSpPr>
              <p:cNvPr id="52" name="TextBox 51">
                <a:extLst>
                  <a:ext uri="{FF2B5EF4-FFF2-40B4-BE49-F238E27FC236}">
                    <a16:creationId xmlns:a16="http://schemas.microsoft.com/office/drawing/2014/main" id="{975A9E75-0FA6-EE6F-3DD5-EC7626FA29F1}"/>
                  </a:ext>
                </a:extLst>
              </p:cNvPr>
              <p:cNvSpPr txBox="1">
                <a:spLocks noRot="1" noChangeAspect="1" noMove="1" noResize="1" noEditPoints="1" noAdjustHandles="1" noChangeArrowheads="1" noChangeShapeType="1" noTextEdit="1"/>
              </p:cNvSpPr>
              <p:nvPr/>
            </p:nvSpPr>
            <p:spPr>
              <a:xfrm>
                <a:off x="11170565" y="5850189"/>
                <a:ext cx="220830" cy="215444"/>
              </a:xfrm>
              <a:prstGeom prst="rect">
                <a:avLst/>
              </a:prstGeom>
              <a:blipFill>
                <a:blip r:embed="rId19"/>
                <a:stretch>
                  <a:fillRect l="-10526" b="-16667"/>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2F8EF023-37E4-5E4A-3CB6-DD59FC4CD359}"/>
              </a:ext>
            </a:extLst>
          </p:cNvPr>
          <p:cNvGrpSpPr/>
          <p:nvPr/>
        </p:nvGrpSpPr>
        <p:grpSpPr>
          <a:xfrm>
            <a:off x="0" y="-1589"/>
            <a:ext cx="12191999" cy="768585"/>
            <a:chOff x="0" y="-1589"/>
            <a:chExt cx="12191999" cy="768585"/>
          </a:xfrm>
        </p:grpSpPr>
        <p:grpSp>
          <p:nvGrpSpPr>
            <p:cNvPr id="7" name="Group 9">
              <a:extLst>
                <a:ext uri="{FF2B5EF4-FFF2-40B4-BE49-F238E27FC236}">
                  <a16:creationId xmlns:a16="http://schemas.microsoft.com/office/drawing/2014/main" id="{F8AA374E-CA25-06BE-F1C2-B95FFC1DBF11}"/>
                </a:ext>
              </a:extLst>
            </p:cNvPr>
            <p:cNvGrpSpPr>
              <a:grpSpLocks noChangeAspect="1"/>
            </p:cNvGrpSpPr>
            <p:nvPr/>
          </p:nvGrpSpPr>
          <p:grpSpPr bwMode="auto">
            <a:xfrm>
              <a:off x="0" y="-1589"/>
              <a:ext cx="12191999" cy="767234"/>
              <a:chOff x="-1" y="-1"/>
              <a:chExt cx="7719" cy="568"/>
            </a:xfrm>
          </p:grpSpPr>
          <p:sp>
            <p:nvSpPr>
              <p:cNvPr id="10" name="Freeform 9">
                <a:extLst>
                  <a:ext uri="{FF2B5EF4-FFF2-40B4-BE49-F238E27FC236}">
                    <a16:creationId xmlns:a16="http://schemas.microsoft.com/office/drawing/2014/main" id="{C29E34FB-E43E-F1DA-2311-A2EB283626A1}"/>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1" name="AutoShape 8">
                <a:extLst>
                  <a:ext uri="{FF2B5EF4-FFF2-40B4-BE49-F238E27FC236}">
                    <a16:creationId xmlns:a16="http://schemas.microsoft.com/office/drawing/2014/main" id="{6FE6EAE3-45F4-460F-5010-5979DAD8F224}"/>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8" name="任意多边形: 形状 12">
              <a:extLst>
                <a:ext uri="{FF2B5EF4-FFF2-40B4-BE49-F238E27FC236}">
                  <a16:creationId xmlns:a16="http://schemas.microsoft.com/office/drawing/2014/main" id="{FC835E05-13A7-C660-DC69-95EF30003A3A}"/>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9" name="文本框 18">
              <a:extLst>
                <a:ext uri="{FF2B5EF4-FFF2-40B4-BE49-F238E27FC236}">
                  <a16:creationId xmlns:a16="http://schemas.microsoft.com/office/drawing/2014/main" id="{C5FCE511-1576-1509-3CAD-18BA3BAFF3DB}"/>
                </a:ext>
              </a:extLst>
            </p:cNvPr>
            <p:cNvSpPr txBox="1"/>
            <p:nvPr/>
          </p:nvSpPr>
          <p:spPr>
            <a:xfrm>
              <a:off x="350439" y="120418"/>
              <a:ext cx="1620957" cy="523220"/>
            </a:xfrm>
            <a:prstGeom prst="rect">
              <a:avLst/>
            </a:prstGeom>
            <a:noFill/>
          </p:spPr>
          <p:txBody>
            <a:bodyPr wrap="none" rtlCol="0">
              <a:spAutoFit/>
            </a:bodyPr>
            <a:lstStyle/>
            <a:p>
              <a:pPr>
                <a:defRPr/>
              </a:pPr>
              <a:r>
                <a:rPr lang="zh-CN" altLang="en-US" sz="2800" b="1">
                  <a:solidFill>
                    <a:prstClr val="white"/>
                  </a:solidFill>
                  <a:cs typeface="+mn-ea"/>
                  <a:sym typeface="+mn-lt"/>
                </a:rPr>
                <a:t>自注意力</a:t>
              </a:r>
            </a:p>
          </p:txBody>
        </p:sp>
      </p:grpSp>
      <p:grpSp>
        <p:nvGrpSpPr>
          <p:cNvPr id="22" name="Group 21">
            <a:extLst>
              <a:ext uri="{FF2B5EF4-FFF2-40B4-BE49-F238E27FC236}">
                <a16:creationId xmlns:a16="http://schemas.microsoft.com/office/drawing/2014/main" id="{0628CB2D-F96D-28B2-BAEE-6F97F895B054}"/>
              </a:ext>
            </a:extLst>
          </p:cNvPr>
          <p:cNvGrpSpPr/>
          <p:nvPr/>
        </p:nvGrpSpPr>
        <p:grpSpPr>
          <a:xfrm>
            <a:off x="6199584" y="3251470"/>
            <a:ext cx="759183" cy="1085005"/>
            <a:chOff x="6843089" y="2727932"/>
            <a:chExt cx="1664221" cy="2378463"/>
          </a:xfrm>
          <a:solidFill>
            <a:schemeClr val="accent6">
              <a:lumMod val="60000"/>
              <a:lumOff val="40000"/>
            </a:schemeClr>
          </a:solidFill>
          <a:effectLst>
            <a:outerShdw blurRad="50800" dist="38100" dir="2700000" algn="tl" rotWithShape="0">
              <a:prstClr val="black">
                <a:alpha val="40000"/>
              </a:prstClr>
            </a:outerShdw>
          </a:effectLst>
        </p:grpSpPr>
        <p:sp>
          <p:nvSpPr>
            <p:cNvPr id="4" name="Rectangle 3">
              <a:extLst>
                <a:ext uri="{FF2B5EF4-FFF2-40B4-BE49-F238E27FC236}">
                  <a16:creationId xmlns:a16="http://schemas.microsoft.com/office/drawing/2014/main" id="{5EB37B15-0270-F27B-9D45-561868F7633B}"/>
                </a:ext>
              </a:extLst>
            </p:cNvPr>
            <p:cNvSpPr/>
            <p:nvPr/>
          </p:nvSpPr>
          <p:spPr>
            <a:xfrm rot="16200000">
              <a:off x="6843089" y="4603535"/>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8E86831-C9C7-896A-09A3-6DA1361971B0}"/>
                </a:ext>
              </a:extLst>
            </p:cNvPr>
            <p:cNvSpPr/>
            <p:nvPr/>
          </p:nvSpPr>
          <p:spPr>
            <a:xfrm rot="16200000">
              <a:off x="6843089" y="3978334"/>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55FAB34-E298-6C7A-0153-73B1F7CEBEEE}"/>
                </a:ext>
              </a:extLst>
            </p:cNvPr>
            <p:cNvSpPr/>
            <p:nvPr/>
          </p:nvSpPr>
          <p:spPr>
            <a:xfrm rot="16200000">
              <a:off x="6843089" y="3353133"/>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79AD6E4-E2D3-B2E2-ECB0-0AAF6F335AC4}"/>
                </a:ext>
              </a:extLst>
            </p:cNvPr>
            <p:cNvSpPr/>
            <p:nvPr/>
          </p:nvSpPr>
          <p:spPr>
            <a:xfrm rot="16200000">
              <a:off x="6843089"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7A8E331-D34A-A497-2380-C839666377C2}"/>
                </a:ext>
              </a:extLst>
            </p:cNvPr>
            <p:cNvSpPr/>
            <p:nvPr/>
          </p:nvSpPr>
          <p:spPr>
            <a:xfrm rot="16200000">
              <a:off x="7423770" y="4603535"/>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B6E1D93-F0D2-AAD3-F658-5A18BDA51895}"/>
                </a:ext>
              </a:extLst>
            </p:cNvPr>
            <p:cNvSpPr/>
            <p:nvPr/>
          </p:nvSpPr>
          <p:spPr>
            <a:xfrm rot="16200000">
              <a:off x="7423770" y="3978334"/>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B74D751-A16D-D5AF-C786-6AF9BA4CF514}"/>
                </a:ext>
              </a:extLst>
            </p:cNvPr>
            <p:cNvSpPr/>
            <p:nvPr/>
          </p:nvSpPr>
          <p:spPr>
            <a:xfrm rot="16200000">
              <a:off x="7423770" y="3353133"/>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E37FBCE-DBBD-F380-AD8D-ECE5DC3208E9}"/>
                </a:ext>
              </a:extLst>
            </p:cNvPr>
            <p:cNvSpPr/>
            <p:nvPr/>
          </p:nvSpPr>
          <p:spPr>
            <a:xfrm rot="16200000">
              <a:off x="7423770"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46CE8D5-4F84-F7AB-B4DE-419F0394C050}"/>
                </a:ext>
              </a:extLst>
            </p:cNvPr>
            <p:cNvSpPr/>
            <p:nvPr/>
          </p:nvSpPr>
          <p:spPr>
            <a:xfrm rot="16200000">
              <a:off x="8004450" y="4603535"/>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2BD1178-B2CD-E5D9-69E0-67F567A56FFD}"/>
                </a:ext>
              </a:extLst>
            </p:cNvPr>
            <p:cNvSpPr/>
            <p:nvPr/>
          </p:nvSpPr>
          <p:spPr>
            <a:xfrm rot="16200000">
              <a:off x="8004450" y="3978334"/>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5E359AA-0DB9-6F26-A053-AF22713B4193}"/>
                </a:ext>
              </a:extLst>
            </p:cNvPr>
            <p:cNvSpPr/>
            <p:nvPr/>
          </p:nvSpPr>
          <p:spPr>
            <a:xfrm rot="16200000">
              <a:off x="8004450" y="3353133"/>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88E9FF3-2013-817F-54A9-9462F994A396}"/>
                </a:ext>
              </a:extLst>
            </p:cNvPr>
            <p:cNvSpPr/>
            <p:nvPr/>
          </p:nvSpPr>
          <p:spPr>
            <a:xfrm rot="16200000">
              <a:off x="8004450"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D8A11674-E460-C3C2-0A27-557BE23977E8}"/>
              </a:ext>
            </a:extLst>
          </p:cNvPr>
          <p:cNvGrpSpPr/>
          <p:nvPr/>
        </p:nvGrpSpPr>
        <p:grpSpPr>
          <a:xfrm>
            <a:off x="10257880" y="1515703"/>
            <a:ext cx="759183" cy="1085005"/>
            <a:chOff x="6843089" y="2727932"/>
            <a:chExt cx="1664221" cy="2378463"/>
          </a:xfrm>
          <a:solidFill>
            <a:schemeClr val="accent2">
              <a:lumMod val="40000"/>
              <a:lumOff val="60000"/>
            </a:schemeClr>
          </a:solidFill>
          <a:effectLst>
            <a:outerShdw blurRad="50800" dist="38100" dir="2700000" algn="tl" rotWithShape="0">
              <a:prstClr val="black">
                <a:alpha val="40000"/>
              </a:prstClr>
            </a:outerShdw>
          </a:effectLst>
        </p:grpSpPr>
        <p:sp>
          <p:nvSpPr>
            <p:cNvPr id="24" name="Rectangle 23">
              <a:extLst>
                <a:ext uri="{FF2B5EF4-FFF2-40B4-BE49-F238E27FC236}">
                  <a16:creationId xmlns:a16="http://schemas.microsoft.com/office/drawing/2014/main" id="{966AD662-12ED-263E-6BC2-0B2EF69C544F}"/>
                </a:ext>
              </a:extLst>
            </p:cNvPr>
            <p:cNvSpPr/>
            <p:nvPr/>
          </p:nvSpPr>
          <p:spPr>
            <a:xfrm rot="16200000">
              <a:off x="6843089" y="4603535"/>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834C48A-471F-70BD-1E59-572F79CD46EF}"/>
                </a:ext>
              </a:extLst>
            </p:cNvPr>
            <p:cNvSpPr/>
            <p:nvPr/>
          </p:nvSpPr>
          <p:spPr>
            <a:xfrm rot="16200000">
              <a:off x="6843089" y="3978334"/>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B8E0F6DB-E81F-EE8F-8FC0-1B556E3C0D58}"/>
                </a:ext>
              </a:extLst>
            </p:cNvPr>
            <p:cNvSpPr/>
            <p:nvPr/>
          </p:nvSpPr>
          <p:spPr>
            <a:xfrm rot="16200000">
              <a:off x="6843089" y="3353133"/>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DBD1F551-A5B0-BEEE-C0DA-2714FC1C3D0D}"/>
                </a:ext>
              </a:extLst>
            </p:cNvPr>
            <p:cNvSpPr/>
            <p:nvPr/>
          </p:nvSpPr>
          <p:spPr>
            <a:xfrm rot="16200000">
              <a:off x="6843089"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DD45E212-37E5-9AF9-278D-C3B390CE5D69}"/>
                </a:ext>
              </a:extLst>
            </p:cNvPr>
            <p:cNvSpPr/>
            <p:nvPr/>
          </p:nvSpPr>
          <p:spPr>
            <a:xfrm rot="16200000">
              <a:off x="7423770" y="4603535"/>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343E6971-3DB0-D255-9B62-970B0F4BC2EF}"/>
                </a:ext>
              </a:extLst>
            </p:cNvPr>
            <p:cNvSpPr/>
            <p:nvPr/>
          </p:nvSpPr>
          <p:spPr>
            <a:xfrm rot="16200000">
              <a:off x="7423770" y="3978334"/>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BE5EA861-B90E-17DF-48DF-88153CABE9D4}"/>
                </a:ext>
              </a:extLst>
            </p:cNvPr>
            <p:cNvSpPr/>
            <p:nvPr/>
          </p:nvSpPr>
          <p:spPr>
            <a:xfrm rot="16200000">
              <a:off x="7423770" y="3353133"/>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A7CAFE84-618F-CD9D-3FE4-E817E212086C}"/>
                </a:ext>
              </a:extLst>
            </p:cNvPr>
            <p:cNvSpPr/>
            <p:nvPr/>
          </p:nvSpPr>
          <p:spPr>
            <a:xfrm rot="16200000">
              <a:off x="7423770"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95D42BEA-0159-791C-694B-C2FD1ABDA211}"/>
                </a:ext>
              </a:extLst>
            </p:cNvPr>
            <p:cNvSpPr/>
            <p:nvPr/>
          </p:nvSpPr>
          <p:spPr>
            <a:xfrm rot="16200000">
              <a:off x="8004450" y="4603535"/>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8DBBA938-176D-C8EB-AFB6-FC15F3445C76}"/>
                </a:ext>
              </a:extLst>
            </p:cNvPr>
            <p:cNvSpPr/>
            <p:nvPr/>
          </p:nvSpPr>
          <p:spPr>
            <a:xfrm rot="16200000">
              <a:off x="8004450" y="3978334"/>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32EB12A1-7E64-49A2-751D-D043A9D7840C}"/>
                </a:ext>
              </a:extLst>
            </p:cNvPr>
            <p:cNvSpPr/>
            <p:nvPr/>
          </p:nvSpPr>
          <p:spPr>
            <a:xfrm rot="16200000">
              <a:off x="8004450" y="3353133"/>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272ABC06-749A-61E1-C117-FD326A49EB38}"/>
                </a:ext>
              </a:extLst>
            </p:cNvPr>
            <p:cNvSpPr/>
            <p:nvPr/>
          </p:nvSpPr>
          <p:spPr>
            <a:xfrm rot="16200000">
              <a:off x="8004450"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AA250C22-D7EC-5984-BDFE-58658CFD66F7}"/>
              </a:ext>
            </a:extLst>
          </p:cNvPr>
          <p:cNvGrpSpPr/>
          <p:nvPr/>
        </p:nvGrpSpPr>
        <p:grpSpPr>
          <a:xfrm>
            <a:off x="10257880" y="3267440"/>
            <a:ext cx="759183" cy="1085005"/>
            <a:chOff x="6843089" y="2727932"/>
            <a:chExt cx="1664221" cy="2378463"/>
          </a:xfrm>
          <a:solidFill>
            <a:schemeClr val="accent4">
              <a:lumMod val="40000"/>
              <a:lumOff val="60000"/>
            </a:schemeClr>
          </a:solidFill>
          <a:effectLst>
            <a:outerShdw blurRad="50800" dist="38100" dir="2700000" algn="tl" rotWithShape="0">
              <a:prstClr val="black">
                <a:alpha val="40000"/>
              </a:prstClr>
            </a:outerShdw>
          </a:effectLst>
        </p:grpSpPr>
        <p:sp>
          <p:nvSpPr>
            <p:cNvPr id="62" name="Rectangle 61">
              <a:extLst>
                <a:ext uri="{FF2B5EF4-FFF2-40B4-BE49-F238E27FC236}">
                  <a16:creationId xmlns:a16="http://schemas.microsoft.com/office/drawing/2014/main" id="{3E0B5635-8BFB-8581-7855-E56605EE9AFB}"/>
                </a:ext>
              </a:extLst>
            </p:cNvPr>
            <p:cNvSpPr/>
            <p:nvPr/>
          </p:nvSpPr>
          <p:spPr>
            <a:xfrm rot="16200000">
              <a:off x="6843089" y="4603535"/>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8031A2D4-A960-E5F8-E26A-F9EAFC7E9EB8}"/>
                </a:ext>
              </a:extLst>
            </p:cNvPr>
            <p:cNvSpPr/>
            <p:nvPr/>
          </p:nvSpPr>
          <p:spPr>
            <a:xfrm rot="16200000">
              <a:off x="6843089" y="3978334"/>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37F65009-05D5-1831-513E-04F7634B5960}"/>
                </a:ext>
              </a:extLst>
            </p:cNvPr>
            <p:cNvSpPr/>
            <p:nvPr/>
          </p:nvSpPr>
          <p:spPr>
            <a:xfrm rot="16200000">
              <a:off x="6843089" y="3353133"/>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8CE0F9D0-B681-691B-D1D4-541F70FDCBD5}"/>
                </a:ext>
              </a:extLst>
            </p:cNvPr>
            <p:cNvSpPr/>
            <p:nvPr/>
          </p:nvSpPr>
          <p:spPr>
            <a:xfrm rot="16200000">
              <a:off x="6843089"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AFB454A4-61ED-7664-2499-959A1AC67D20}"/>
                </a:ext>
              </a:extLst>
            </p:cNvPr>
            <p:cNvSpPr/>
            <p:nvPr/>
          </p:nvSpPr>
          <p:spPr>
            <a:xfrm rot="16200000">
              <a:off x="7423770" y="4603535"/>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379378EC-8EF5-42B5-AEDF-C3497B3217B8}"/>
                </a:ext>
              </a:extLst>
            </p:cNvPr>
            <p:cNvSpPr/>
            <p:nvPr/>
          </p:nvSpPr>
          <p:spPr>
            <a:xfrm rot="16200000">
              <a:off x="7423770" y="3978334"/>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C3FA4D96-E5CD-A909-89AD-6AF6FE526D46}"/>
                </a:ext>
              </a:extLst>
            </p:cNvPr>
            <p:cNvSpPr/>
            <p:nvPr/>
          </p:nvSpPr>
          <p:spPr>
            <a:xfrm rot="16200000">
              <a:off x="7423770" y="3353133"/>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96165A8C-92D6-E087-2084-3E7FFDAEE2A7}"/>
                </a:ext>
              </a:extLst>
            </p:cNvPr>
            <p:cNvSpPr/>
            <p:nvPr/>
          </p:nvSpPr>
          <p:spPr>
            <a:xfrm rot="16200000">
              <a:off x="7423770"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0C55E22D-64F1-BBE5-D040-F5535B259A85}"/>
                </a:ext>
              </a:extLst>
            </p:cNvPr>
            <p:cNvSpPr/>
            <p:nvPr/>
          </p:nvSpPr>
          <p:spPr>
            <a:xfrm rot="16200000">
              <a:off x="8004450" y="4603535"/>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91FBD2F3-B27E-2EEA-4BD4-9B47F325CB3B}"/>
                </a:ext>
              </a:extLst>
            </p:cNvPr>
            <p:cNvSpPr/>
            <p:nvPr/>
          </p:nvSpPr>
          <p:spPr>
            <a:xfrm rot="16200000">
              <a:off x="8004450" y="3978334"/>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54349810-ADB4-416B-E200-809C97A11073}"/>
                </a:ext>
              </a:extLst>
            </p:cNvPr>
            <p:cNvSpPr/>
            <p:nvPr/>
          </p:nvSpPr>
          <p:spPr>
            <a:xfrm rot="16200000">
              <a:off x="8004450" y="3353133"/>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C3029911-4640-EF65-B357-2D7816DEB799}"/>
                </a:ext>
              </a:extLst>
            </p:cNvPr>
            <p:cNvSpPr/>
            <p:nvPr/>
          </p:nvSpPr>
          <p:spPr>
            <a:xfrm rot="16200000">
              <a:off x="8004450"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73">
            <a:extLst>
              <a:ext uri="{FF2B5EF4-FFF2-40B4-BE49-F238E27FC236}">
                <a16:creationId xmlns:a16="http://schemas.microsoft.com/office/drawing/2014/main" id="{BF8143FC-67DB-FF15-B068-C54A4E709083}"/>
              </a:ext>
            </a:extLst>
          </p:cNvPr>
          <p:cNvGrpSpPr/>
          <p:nvPr/>
        </p:nvGrpSpPr>
        <p:grpSpPr>
          <a:xfrm>
            <a:off x="10257880" y="4963314"/>
            <a:ext cx="759183" cy="1085005"/>
            <a:chOff x="6843089" y="2727932"/>
            <a:chExt cx="1664221" cy="2378463"/>
          </a:xfrm>
          <a:solidFill>
            <a:schemeClr val="accent5">
              <a:lumMod val="40000"/>
              <a:lumOff val="60000"/>
            </a:schemeClr>
          </a:solidFill>
          <a:effectLst>
            <a:outerShdw blurRad="50800" dist="38100" dir="2700000" algn="tl" rotWithShape="0">
              <a:prstClr val="black">
                <a:alpha val="40000"/>
              </a:prstClr>
            </a:outerShdw>
          </a:effectLst>
        </p:grpSpPr>
        <p:sp>
          <p:nvSpPr>
            <p:cNvPr id="75" name="Rectangle 74">
              <a:extLst>
                <a:ext uri="{FF2B5EF4-FFF2-40B4-BE49-F238E27FC236}">
                  <a16:creationId xmlns:a16="http://schemas.microsoft.com/office/drawing/2014/main" id="{16F19360-FCF6-A2F4-2ACF-A5CB5E1BFE2A}"/>
                </a:ext>
              </a:extLst>
            </p:cNvPr>
            <p:cNvSpPr/>
            <p:nvPr/>
          </p:nvSpPr>
          <p:spPr>
            <a:xfrm rot="16200000">
              <a:off x="6843089" y="4603535"/>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494D2AA0-F955-C742-463C-1739F8399E1A}"/>
                </a:ext>
              </a:extLst>
            </p:cNvPr>
            <p:cNvSpPr/>
            <p:nvPr/>
          </p:nvSpPr>
          <p:spPr>
            <a:xfrm rot="16200000">
              <a:off x="6843089" y="3978334"/>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13D93620-4B80-E542-9965-01D6357DE96C}"/>
                </a:ext>
              </a:extLst>
            </p:cNvPr>
            <p:cNvSpPr/>
            <p:nvPr/>
          </p:nvSpPr>
          <p:spPr>
            <a:xfrm rot="16200000">
              <a:off x="6843089" y="3353133"/>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050EBD5E-87B6-A5D3-9E41-4AF2504C96E2}"/>
                </a:ext>
              </a:extLst>
            </p:cNvPr>
            <p:cNvSpPr/>
            <p:nvPr/>
          </p:nvSpPr>
          <p:spPr>
            <a:xfrm rot="16200000">
              <a:off x="6843089"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3C8164FE-646B-D0D2-1A7E-551C88551D4D}"/>
                </a:ext>
              </a:extLst>
            </p:cNvPr>
            <p:cNvSpPr/>
            <p:nvPr/>
          </p:nvSpPr>
          <p:spPr>
            <a:xfrm rot="16200000">
              <a:off x="7423770" y="4603535"/>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4346CBB3-18AD-F9B7-B2B1-205BEA5DCCDE}"/>
                </a:ext>
              </a:extLst>
            </p:cNvPr>
            <p:cNvSpPr/>
            <p:nvPr/>
          </p:nvSpPr>
          <p:spPr>
            <a:xfrm rot="16200000">
              <a:off x="7423770" y="3978334"/>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9FBBE1CC-7D61-8EB7-9B8D-D40CFDFFA248}"/>
                </a:ext>
              </a:extLst>
            </p:cNvPr>
            <p:cNvSpPr/>
            <p:nvPr/>
          </p:nvSpPr>
          <p:spPr>
            <a:xfrm rot="16200000">
              <a:off x="7423770" y="3353133"/>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EAA30A8C-1BF4-5C99-6A94-1B860B8BA221}"/>
                </a:ext>
              </a:extLst>
            </p:cNvPr>
            <p:cNvSpPr/>
            <p:nvPr/>
          </p:nvSpPr>
          <p:spPr>
            <a:xfrm rot="16200000">
              <a:off x="7423770"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BFB27F9B-10FE-F014-91E1-A10C71AD9B67}"/>
                </a:ext>
              </a:extLst>
            </p:cNvPr>
            <p:cNvSpPr/>
            <p:nvPr/>
          </p:nvSpPr>
          <p:spPr>
            <a:xfrm rot="16200000">
              <a:off x="8004450" y="4603535"/>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394B0F91-509E-879B-CC79-5DF46269A6A4}"/>
                </a:ext>
              </a:extLst>
            </p:cNvPr>
            <p:cNvSpPr/>
            <p:nvPr/>
          </p:nvSpPr>
          <p:spPr>
            <a:xfrm rot="16200000">
              <a:off x="8004450" y="3978334"/>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82F847BC-5767-849D-8DA9-15CBC18E743B}"/>
                </a:ext>
              </a:extLst>
            </p:cNvPr>
            <p:cNvSpPr/>
            <p:nvPr/>
          </p:nvSpPr>
          <p:spPr>
            <a:xfrm rot="16200000">
              <a:off x="8004450" y="3353133"/>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52AF150C-BA00-5532-05F6-68EE9F731D36}"/>
                </a:ext>
              </a:extLst>
            </p:cNvPr>
            <p:cNvSpPr/>
            <p:nvPr/>
          </p:nvSpPr>
          <p:spPr>
            <a:xfrm rot="16200000">
              <a:off x="8004450"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0" name="Group 99">
            <a:extLst>
              <a:ext uri="{FF2B5EF4-FFF2-40B4-BE49-F238E27FC236}">
                <a16:creationId xmlns:a16="http://schemas.microsoft.com/office/drawing/2014/main" id="{3CDC5A57-9C33-758D-3764-3573EF6A9A5B}"/>
              </a:ext>
            </a:extLst>
          </p:cNvPr>
          <p:cNvGrpSpPr/>
          <p:nvPr/>
        </p:nvGrpSpPr>
        <p:grpSpPr>
          <a:xfrm>
            <a:off x="8372777" y="3410279"/>
            <a:ext cx="759183" cy="799801"/>
            <a:chOff x="8388017" y="3294338"/>
            <a:chExt cx="759183" cy="799801"/>
          </a:xfrm>
          <a:solidFill>
            <a:schemeClr val="bg1">
              <a:lumMod val="85000"/>
            </a:schemeClr>
          </a:solidFill>
          <a:effectLst>
            <a:outerShdw blurRad="50800" dist="38100" dir="2700000" algn="tl" rotWithShape="0">
              <a:prstClr val="black">
                <a:alpha val="40000"/>
              </a:prstClr>
            </a:outerShdw>
          </a:effectLst>
        </p:grpSpPr>
        <p:sp>
          <p:nvSpPr>
            <p:cNvPr id="89" name="Rectangle 88">
              <a:extLst>
                <a:ext uri="{FF2B5EF4-FFF2-40B4-BE49-F238E27FC236}">
                  <a16:creationId xmlns:a16="http://schemas.microsoft.com/office/drawing/2014/main" id="{F6645536-373B-7CAE-751E-36C22E1AB30C}"/>
                </a:ext>
              </a:extLst>
            </p:cNvPr>
            <p:cNvSpPr/>
            <p:nvPr/>
          </p:nvSpPr>
          <p:spPr>
            <a:xfrm rot="16200000">
              <a:off x="8388017" y="3864745"/>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8990584D-F5B6-CEE4-5EEE-2ECC71390F6E}"/>
                </a:ext>
              </a:extLst>
            </p:cNvPr>
            <p:cNvSpPr/>
            <p:nvPr/>
          </p:nvSpPr>
          <p:spPr>
            <a:xfrm rot="16200000">
              <a:off x="8388017" y="3579542"/>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B9874BFF-BADF-4BD4-D8E4-7145BBFDC01F}"/>
                </a:ext>
              </a:extLst>
            </p:cNvPr>
            <p:cNvSpPr/>
            <p:nvPr/>
          </p:nvSpPr>
          <p:spPr>
            <a:xfrm rot="16200000">
              <a:off x="8388017" y="3294338"/>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3D1A92D9-2E7A-EE94-B3A5-276DDBE18C94}"/>
                </a:ext>
              </a:extLst>
            </p:cNvPr>
            <p:cNvSpPr/>
            <p:nvPr/>
          </p:nvSpPr>
          <p:spPr>
            <a:xfrm rot="16200000">
              <a:off x="8652912" y="3864745"/>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96BB5025-066B-7A3F-C2F7-E0972EAC7CB6}"/>
                </a:ext>
              </a:extLst>
            </p:cNvPr>
            <p:cNvSpPr/>
            <p:nvPr/>
          </p:nvSpPr>
          <p:spPr>
            <a:xfrm rot="16200000">
              <a:off x="8652912" y="3579542"/>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35A8BBB4-9C4B-B059-B497-A4BFF9408F8C}"/>
                </a:ext>
              </a:extLst>
            </p:cNvPr>
            <p:cNvSpPr/>
            <p:nvPr/>
          </p:nvSpPr>
          <p:spPr>
            <a:xfrm rot="16200000">
              <a:off x="8652912" y="3294338"/>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a:extLst>
                <a:ext uri="{FF2B5EF4-FFF2-40B4-BE49-F238E27FC236}">
                  <a16:creationId xmlns:a16="http://schemas.microsoft.com/office/drawing/2014/main" id="{AC7544BB-6DDA-AD3C-5161-C9933686DD68}"/>
                </a:ext>
              </a:extLst>
            </p:cNvPr>
            <p:cNvSpPr/>
            <p:nvPr/>
          </p:nvSpPr>
          <p:spPr>
            <a:xfrm rot="16200000">
              <a:off x="8917806" y="3864745"/>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8D8D6867-C0C6-50CF-7983-3FC591598EFE}"/>
                </a:ext>
              </a:extLst>
            </p:cNvPr>
            <p:cNvSpPr/>
            <p:nvPr/>
          </p:nvSpPr>
          <p:spPr>
            <a:xfrm rot="16200000">
              <a:off x="8917806" y="3579542"/>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2DC3B782-3BB3-CB94-CA0D-4CD97C76FD3E}"/>
                </a:ext>
              </a:extLst>
            </p:cNvPr>
            <p:cNvSpPr/>
            <p:nvPr/>
          </p:nvSpPr>
          <p:spPr>
            <a:xfrm rot="16200000">
              <a:off x="8917806" y="3294338"/>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1" name="Group 100">
            <a:extLst>
              <a:ext uri="{FF2B5EF4-FFF2-40B4-BE49-F238E27FC236}">
                <a16:creationId xmlns:a16="http://schemas.microsoft.com/office/drawing/2014/main" id="{8469E4C2-EFDF-78F1-6BBB-7362DF64E605}"/>
              </a:ext>
            </a:extLst>
          </p:cNvPr>
          <p:cNvGrpSpPr/>
          <p:nvPr/>
        </p:nvGrpSpPr>
        <p:grpSpPr>
          <a:xfrm>
            <a:off x="8372777" y="1641804"/>
            <a:ext cx="759183" cy="799801"/>
            <a:chOff x="8388017" y="3294338"/>
            <a:chExt cx="759183" cy="799801"/>
          </a:xfrm>
          <a:solidFill>
            <a:schemeClr val="bg1">
              <a:lumMod val="85000"/>
            </a:schemeClr>
          </a:solidFill>
          <a:effectLst>
            <a:outerShdw blurRad="50800" dist="38100" dir="2700000" algn="tl" rotWithShape="0">
              <a:prstClr val="black">
                <a:alpha val="40000"/>
              </a:prstClr>
            </a:outerShdw>
          </a:effectLst>
        </p:grpSpPr>
        <p:sp>
          <p:nvSpPr>
            <p:cNvPr id="102" name="Rectangle 101">
              <a:extLst>
                <a:ext uri="{FF2B5EF4-FFF2-40B4-BE49-F238E27FC236}">
                  <a16:creationId xmlns:a16="http://schemas.microsoft.com/office/drawing/2014/main" id="{2CEFFEA1-3122-5623-A050-032DC2CF1B77}"/>
                </a:ext>
              </a:extLst>
            </p:cNvPr>
            <p:cNvSpPr/>
            <p:nvPr/>
          </p:nvSpPr>
          <p:spPr>
            <a:xfrm rot="16200000">
              <a:off x="8388017" y="3864745"/>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5B4D20F6-3C88-6E56-B818-69EA194CEBEB}"/>
                </a:ext>
              </a:extLst>
            </p:cNvPr>
            <p:cNvSpPr/>
            <p:nvPr/>
          </p:nvSpPr>
          <p:spPr>
            <a:xfrm rot="16200000">
              <a:off x="8388017" y="3579542"/>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7AFBE1EF-0057-6CAF-DE45-358BFEC5E5C8}"/>
                </a:ext>
              </a:extLst>
            </p:cNvPr>
            <p:cNvSpPr/>
            <p:nvPr/>
          </p:nvSpPr>
          <p:spPr>
            <a:xfrm rot="16200000">
              <a:off x="8388017" y="3294338"/>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a:extLst>
                <a:ext uri="{FF2B5EF4-FFF2-40B4-BE49-F238E27FC236}">
                  <a16:creationId xmlns:a16="http://schemas.microsoft.com/office/drawing/2014/main" id="{E06300D6-6035-C441-93BC-77268FE0E4B9}"/>
                </a:ext>
              </a:extLst>
            </p:cNvPr>
            <p:cNvSpPr/>
            <p:nvPr/>
          </p:nvSpPr>
          <p:spPr>
            <a:xfrm rot="16200000">
              <a:off x="8652912" y="3864745"/>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F2B6A6D6-A731-3DE9-6207-9367962D2BD2}"/>
                </a:ext>
              </a:extLst>
            </p:cNvPr>
            <p:cNvSpPr/>
            <p:nvPr/>
          </p:nvSpPr>
          <p:spPr>
            <a:xfrm rot="16200000">
              <a:off x="8652912" y="3579542"/>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15730910-1093-B7ED-9009-AEB86587584C}"/>
                </a:ext>
              </a:extLst>
            </p:cNvPr>
            <p:cNvSpPr/>
            <p:nvPr/>
          </p:nvSpPr>
          <p:spPr>
            <a:xfrm rot="16200000">
              <a:off x="8652912" y="3294338"/>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20A04552-2E98-192A-157A-E0B078E05F3B}"/>
                </a:ext>
              </a:extLst>
            </p:cNvPr>
            <p:cNvSpPr/>
            <p:nvPr/>
          </p:nvSpPr>
          <p:spPr>
            <a:xfrm rot="16200000">
              <a:off x="8917806" y="3864745"/>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3CB5FA38-C192-D201-5D66-C90F5B482143}"/>
                </a:ext>
              </a:extLst>
            </p:cNvPr>
            <p:cNvSpPr/>
            <p:nvPr/>
          </p:nvSpPr>
          <p:spPr>
            <a:xfrm rot="16200000">
              <a:off x="8917806" y="3579542"/>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A254CB83-0278-CDAB-37CC-BF5D87B3AB2C}"/>
                </a:ext>
              </a:extLst>
            </p:cNvPr>
            <p:cNvSpPr/>
            <p:nvPr/>
          </p:nvSpPr>
          <p:spPr>
            <a:xfrm rot="16200000">
              <a:off x="8917806" y="3294338"/>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1" name="Group 110">
            <a:extLst>
              <a:ext uri="{FF2B5EF4-FFF2-40B4-BE49-F238E27FC236}">
                <a16:creationId xmlns:a16="http://schemas.microsoft.com/office/drawing/2014/main" id="{A7163D88-9F73-9161-07C5-13AD366143BB}"/>
              </a:ext>
            </a:extLst>
          </p:cNvPr>
          <p:cNvGrpSpPr/>
          <p:nvPr/>
        </p:nvGrpSpPr>
        <p:grpSpPr>
          <a:xfrm>
            <a:off x="8385477" y="5113992"/>
            <a:ext cx="759183" cy="799801"/>
            <a:chOff x="8388017" y="3294338"/>
            <a:chExt cx="759183" cy="799801"/>
          </a:xfrm>
          <a:solidFill>
            <a:schemeClr val="bg1">
              <a:lumMod val="85000"/>
            </a:schemeClr>
          </a:solidFill>
          <a:effectLst>
            <a:outerShdw blurRad="50800" dist="38100" dir="2700000" algn="tl" rotWithShape="0">
              <a:prstClr val="black">
                <a:alpha val="40000"/>
              </a:prstClr>
            </a:outerShdw>
          </a:effectLst>
        </p:grpSpPr>
        <p:sp>
          <p:nvSpPr>
            <p:cNvPr id="112" name="Rectangle 111">
              <a:extLst>
                <a:ext uri="{FF2B5EF4-FFF2-40B4-BE49-F238E27FC236}">
                  <a16:creationId xmlns:a16="http://schemas.microsoft.com/office/drawing/2014/main" id="{3A6D9C72-D2F1-1282-7E08-F5878792324A}"/>
                </a:ext>
              </a:extLst>
            </p:cNvPr>
            <p:cNvSpPr/>
            <p:nvPr/>
          </p:nvSpPr>
          <p:spPr>
            <a:xfrm rot="16200000">
              <a:off x="8388017" y="3864745"/>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7089E11E-6FCC-98AF-4AEF-34DB1C66CA7A}"/>
                </a:ext>
              </a:extLst>
            </p:cNvPr>
            <p:cNvSpPr/>
            <p:nvPr/>
          </p:nvSpPr>
          <p:spPr>
            <a:xfrm rot="16200000">
              <a:off x="8388017" y="3579542"/>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a:extLst>
                <a:ext uri="{FF2B5EF4-FFF2-40B4-BE49-F238E27FC236}">
                  <a16:creationId xmlns:a16="http://schemas.microsoft.com/office/drawing/2014/main" id="{ABF21558-FDAA-1A5B-61A0-1F0A22F0C054}"/>
                </a:ext>
              </a:extLst>
            </p:cNvPr>
            <p:cNvSpPr/>
            <p:nvPr/>
          </p:nvSpPr>
          <p:spPr>
            <a:xfrm rot="16200000">
              <a:off x="8388017" y="3294338"/>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6B859E61-DBE3-90D5-D7B9-BDB87545E031}"/>
                </a:ext>
              </a:extLst>
            </p:cNvPr>
            <p:cNvSpPr/>
            <p:nvPr/>
          </p:nvSpPr>
          <p:spPr>
            <a:xfrm rot="16200000">
              <a:off x="8652912" y="3864745"/>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115">
              <a:extLst>
                <a:ext uri="{FF2B5EF4-FFF2-40B4-BE49-F238E27FC236}">
                  <a16:creationId xmlns:a16="http://schemas.microsoft.com/office/drawing/2014/main" id="{6B932348-358B-36BC-B564-B8BA8B1CF790}"/>
                </a:ext>
              </a:extLst>
            </p:cNvPr>
            <p:cNvSpPr/>
            <p:nvPr/>
          </p:nvSpPr>
          <p:spPr>
            <a:xfrm rot="16200000">
              <a:off x="8652912" y="3579542"/>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CF748A3B-FD4A-B346-4444-19998C7C75AE}"/>
                </a:ext>
              </a:extLst>
            </p:cNvPr>
            <p:cNvSpPr/>
            <p:nvPr/>
          </p:nvSpPr>
          <p:spPr>
            <a:xfrm rot="16200000">
              <a:off x="8652912" y="3294338"/>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E896CC6F-B196-D50B-5D3C-4EBDF3E135B4}"/>
                </a:ext>
              </a:extLst>
            </p:cNvPr>
            <p:cNvSpPr/>
            <p:nvPr/>
          </p:nvSpPr>
          <p:spPr>
            <a:xfrm rot="16200000">
              <a:off x="8917806" y="3864745"/>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4648DDAA-D500-621A-90C7-97BD7B559F22}"/>
                </a:ext>
              </a:extLst>
            </p:cNvPr>
            <p:cNvSpPr/>
            <p:nvPr/>
          </p:nvSpPr>
          <p:spPr>
            <a:xfrm rot="16200000">
              <a:off x="8917806" y="3579542"/>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D5F75B27-5E0F-212A-CAEE-B0A9604A7C70}"/>
                </a:ext>
              </a:extLst>
            </p:cNvPr>
            <p:cNvSpPr/>
            <p:nvPr/>
          </p:nvSpPr>
          <p:spPr>
            <a:xfrm rot="16200000">
              <a:off x="8917806" y="3294338"/>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15661BBA-88A0-174E-DE8F-22EFCD9E55EB}"/>
                  </a:ext>
                </a:extLst>
              </p:cNvPr>
              <p:cNvSpPr txBox="1"/>
              <p:nvPr/>
            </p:nvSpPr>
            <p:spPr>
              <a:xfrm>
                <a:off x="8496300" y="2540324"/>
                <a:ext cx="602088" cy="37023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altLang="zh-CN" b="0" i="1" smtClean="0">
                              <a:latin typeface="Cambria Math" panose="02040503050406030204" pitchFamily="18" charset="0"/>
                            </a:rPr>
                          </m:ctrlPr>
                        </m:sSupPr>
                        <m:e>
                          <m:r>
                            <m:rPr>
                              <m:sty m:val="p"/>
                            </m:rPr>
                            <a:rPr lang="en-US" i="1" smtClean="0">
                              <a:latin typeface="Cambria Math" panose="02040503050406030204" pitchFamily="18" charset="0"/>
                            </a:rPr>
                            <m:t>W</m:t>
                          </m:r>
                        </m:e>
                        <m:sup>
                          <m:r>
                            <a:rPr lang="en-US" altLang="zh-CN" b="0" i="1" smtClean="0">
                              <a:latin typeface="Cambria Math" panose="02040503050406030204" pitchFamily="18" charset="0"/>
                            </a:rPr>
                            <m:t>𝑄</m:t>
                          </m:r>
                        </m:sup>
                      </m:sSup>
                    </m:oMath>
                  </m:oMathPara>
                </a14:m>
                <a:endParaRPr lang="en-US" dirty="0"/>
              </a:p>
            </p:txBody>
          </p:sp>
        </mc:Choice>
        <mc:Fallback xmlns="">
          <p:sp>
            <p:nvSpPr>
              <p:cNvPr id="121" name="TextBox 120">
                <a:extLst>
                  <a:ext uri="{FF2B5EF4-FFF2-40B4-BE49-F238E27FC236}">
                    <a16:creationId xmlns:a16="http://schemas.microsoft.com/office/drawing/2014/main" id="{15661BBA-88A0-174E-DE8F-22EFCD9E55EB}"/>
                  </a:ext>
                </a:extLst>
              </p:cNvPr>
              <p:cNvSpPr txBox="1">
                <a:spLocks noRot="1" noChangeAspect="1" noMove="1" noResize="1" noEditPoints="1" noAdjustHandles="1" noChangeArrowheads="1" noChangeShapeType="1" noTextEdit="1"/>
              </p:cNvSpPr>
              <p:nvPr/>
            </p:nvSpPr>
            <p:spPr>
              <a:xfrm>
                <a:off x="8496300" y="2540324"/>
                <a:ext cx="602088" cy="370230"/>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AF0AC1CF-BB78-276C-CC43-6DA7CBE45999}"/>
                  </a:ext>
                </a:extLst>
              </p:cNvPr>
              <p:cNvSpPr txBox="1"/>
              <p:nvPr/>
            </p:nvSpPr>
            <p:spPr>
              <a:xfrm>
                <a:off x="8496300" y="4274737"/>
                <a:ext cx="5951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altLang="zh-CN" b="0" i="1" smtClean="0">
                              <a:latin typeface="Cambria Math" panose="02040503050406030204" pitchFamily="18" charset="0"/>
                            </a:rPr>
                          </m:ctrlPr>
                        </m:sSupPr>
                        <m:e>
                          <m:r>
                            <m:rPr>
                              <m:sty m:val="p"/>
                            </m:rPr>
                            <a:rPr lang="en-US" i="1" smtClean="0">
                              <a:latin typeface="Cambria Math" panose="02040503050406030204" pitchFamily="18" charset="0"/>
                            </a:rPr>
                            <m:t>W</m:t>
                          </m:r>
                        </m:e>
                        <m:sup>
                          <m:r>
                            <a:rPr lang="en-US" altLang="zh-CN" b="0" i="1" smtClean="0">
                              <a:latin typeface="Cambria Math" panose="02040503050406030204" pitchFamily="18" charset="0"/>
                            </a:rPr>
                            <m:t>𝐾</m:t>
                          </m:r>
                        </m:sup>
                      </m:sSup>
                    </m:oMath>
                  </m:oMathPara>
                </a14:m>
                <a:endParaRPr lang="en-US" dirty="0"/>
              </a:p>
            </p:txBody>
          </p:sp>
        </mc:Choice>
        <mc:Fallback xmlns="">
          <p:sp>
            <p:nvSpPr>
              <p:cNvPr id="122" name="TextBox 121">
                <a:extLst>
                  <a:ext uri="{FF2B5EF4-FFF2-40B4-BE49-F238E27FC236}">
                    <a16:creationId xmlns:a16="http://schemas.microsoft.com/office/drawing/2014/main" id="{AF0AC1CF-BB78-276C-CC43-6DA7CBE45999}"/>
                  </a:ext>
                </a:extLst>
              </p:cNvPr>
              <p:cNvSpPr txBox="1">
                <a:spLocks noRot="1" noChangeAspect="1" noMove="1" noResize="1" noEditPoints="1" noAdjustHandles="1" noChangeArrowheads="1" noChangeShapeType="1" noTextEdit="1"/>
              </p:cNvSpPr>
              <p:nvPr/>
            </p:nvSpPr>
            <p:spPr>
              <a:xfrm>
                <a:off x="8496300" y="4274737"/>
                <a:ext cx="595163"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18B88705-7F02-7ABB-4B94-6CBE88C0777C}"/>
                  </a:ext>
                </a:extLst>
              </p:cNvPr>
              <p:cNvSpPr txBox="1"/>
              <p:nvPr/>
            </p:nvSpPr>
            <p:spPr>
              <a:xfrm>
                <a:off x="8496300" y="5966897"/>
                <a:ext cx="59625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altLang="zh-CN" b="0" i="1" smtClean="0">
                              <a:latin typeface="Cambria Math" panose="02040503050406030204" pitchFamily="18" charset="0"/>
                            </a:rPr>
                          </m:ctrlPr>
                        </m:sSupPr>
                        <m:e>
                          <m:r>
                            <m:rPr>
                              <m:sty m:val="p"/>
                            </m:rPr>
                            <a:rPr lang="en-US" i="1" smtClean="0">
                              <a:latin typeface="Cambria Math" panose="02040503050406030204" pitchFamily="18" charset="0"/>
                            </a:rPr>
                            <m:t>W</m:t>
                          </m:r>
                        </m:e>
                        <m:sup>
                          <m:r>
                            <a:rPr lang="en-US" altLang="zh-CN" b="0" i="1" smtClean="0">
                              <a:latin typeface="Cambria Math" panose="02040503050406030204" pitchFamily="18" charset="0"/>
                            </a:rPr>
                            <m:t>𝑉</m:t>
                          </m:r>
                        </m:sup>
                      </m:sSup>
                    </m:oMath>
                  </m:oMathPara>
                </a14:m>
                <a:endParaRPr lang="en-US" dirty="0"/>
              </a:p>
            </p:txBody>
          </p:sp>
        </mc:Choice>
        <mc:Fallback xmlns="">
          <p:sp>
            <p:nvSpPr>
              <p:cNvPr id="123" name="TextBox 122">
                <a:extLst>
                  <a:ext uri="{FF2B5EF4-FFF2-40B4-BE49-F238E27FC236}">
                    <a16:creationId xmlns:a16="http://schemas.microsoft.com/office/drawing/2014/main" id="{18B88705-7F02-7ABB-4B94-6CBE88C0777C}"/>
                  </a:ext>
                </a:extLst>
              </p:cNvPr>
              <p:cNvSpPr txBox="1">
                <a:spLocks noRot="1" noChangeAspect="1" noMove="1" noResize="1" noEditPoints="1" noAdjustHandles="1" noChangeArrowheads="1" noChangeShapeType="1" noTextEdit="1"/>
              </p:cNvSpPr>
              <p:nvPr/>
            </p:nvSpPr>
            <p:spPr>
              <a:xfrm>
                <a:off x="8496300" y="5966897"/>
                <a:ext cx="596252" cy="369332"/>
              </a:xfrm>
              <a:prstGeom prst="rect">
                <a:avLst/>
              </a:prstGeom>
              <a:blipFill>
                <a:blip r:embed="rId22"/>
                <a:stretch>
                  <a:fillRect/>
                </a:stretch>
              </a:blipFill>
            </p:spPr>
            <p:txBody>
              <a:bodyPr/>
              <a:lstStyle/>
              <a:p>
                <a:r>
                  <a:rPr lang="en-US">
                    <a:noFill/>
                  </a:rPr>
                  <a:t> </a:t>
                </a:r>
              </a:p>
            </p:txBody>
          </p:sp>
        </mc:Fallback>
      </mc:AlternateContent>
      <p:cxnSp>
        <p:nvCxnSpPr>
          <p:cNvPr id="125" name="Elbow Connector 124">
            <a:extLst>
              <a:ext uri="{FF2B5EF4-FFF2-40B4-BE49-F238E27FC236}">
                <a16:creationId xmlns:a16="http://schemas.microsoft.com/office/drawing/2014/main" id="{1AEA0D9B-3D93-5CF2-655D-09614AB81ACF}"/>
              </a:ext>
            </a:extLst>
          </p:cNvPr>
          <p:cNvCxnSpPr>
            <a:cxnSpLocks/>
          </p:cNvCxnSpPr>
          <p:nvPr/>
        </p:nvCxnSpPr>
        <p:spPr>
          <a:xfrm flipV="1">
            <a:off x="6958767" y="2041704"/>
            <a:ext cx="1414010" cy="1764000"/>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Elbow Connector 128">
            <a:extLst>
              <a:ext uri="{FF2B5EF4-FFF2-40B4-BE49-F238E27FC236}">
                <a16:creationId xmlns:a16="http://schemas.microsoft.com/office/drawing/2014/main" id="{2B4050D3-9342-FB44-860E-FEF4BBF00911}"/>
              </a:ext>
            </a:extLst>
          </p:cNvPr>
          <p:cNvCxnSpPr>
            <a:cxnSpLocks/>
            <a:endCxn id="113" idx="0"/>
          </p:cNvCxnSpPr>
          <p:nvPr/>
        </p:nvCxnSpPr>
        <p:spPr>
          <a:xfrm rot="16200000" flipH="1">
            <a:off x="7174779" y="4303195"/>
            <a:ext cx="1694520" cy="726875"/>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CF35DAED-2136-D530-4A59-AEB7C72C99FB}"/>
              </a:ext>
            </a:extLst>
          </p:cNvPr>
          <p:cNvCxnSpPr>
            <a:cxnSpLocks/>
          </p:cNvCxnSpPr>
          <p:nvPr/>
        </p:nvCxnSpPr>
        <p:spPr>
          <a:xfrm>
            <a:off x="7665772" y="3810180"/>
            <a:ext cx="70700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CD301DEC-420A-3822-4ED4-79059155CF0E}"/>
              </a:ext>
            </a:extLst>
          </p:cNvPr>
          <p:cNvCxnSpPr>
            <a:cxnSpLocks/>
          </p:cNvCxnSpPr>
          <p:nvPr/>
        </p:nvCxnSpPr>
        <p:spPr>
          <a:xfrm>
            <a:off x="9199988" y="3825675"/>
            <a:ext cx="103781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EF561AB2-F39C-DDFA-7158-1710A30CB09D}"/>
              </a:ext>
            </a:extLst>
          </p:cNvPr>
          <p:cNvCxnSpPr>
            <a:cxnSpLocks/>
          </p:cNvCxnSpPr>
          <p:nvPr/>
        </p:nvCxnSpPr>
        <p:spPr>
          <a:xfrm>
            <a:off x="9174588" y="2075235"/>
            <a:ext cx="103781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a:extLst>
              <a:ext uri="{FF2B5EF4-FFF2-40B4-BE49-F238E27FC236}">
                <a16:creationId xmlns:a16="http://schemas.microsoft.com/office/drawing/2014/main" id="{13191DF4-709C-319F-5B65-BD1C0968011C}"/>
              </a:ext>
            </a:extLst>
          </p:cNvPr>
          <p:cNvCxnSpPr>
            <a:cxnSpLocks/>
          </p:cNvCxnSpPr>
          <p:nvPr/>
        </p:nvCxnSpPr>
        <p:spPr>
          <a:xfrm>
            <a:off x="9187288" y="5519419"/>
            <a:ext cx="103781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13287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772A938-740A-43BB-97F8-A97F9AD05FAD}"/>
                  </a:ext>
                </a:extLst>
              </p:cNvPr>
              <p:cNvSpPr>
                <a:spLocks noGrp="1"/>
              </p:cNvSpPr>
              <p:nvPr>
                <p:ph idx="1"/>
              </p:nvPr>
            </p:nvSpPr>
            <p:spPr>
              <a:xfrm>
                <a:off x="657774" y="1386348"/>
                <a:ext cx="6605632" cy="4790615"/>
              </a:xfrm>
            </p:spPr>
            <p:txBody>
              <a:bodyPr/>
              <a:lstStyle/>
              <a:p>
                <a:pPr marL="457200" indent="-457200" algn="just">
                  <a:lnSpc>
                    <a:spcPct val="130000"/>
                  </a:lnSpc>
                  <a:buFont typeface="Wingdings" panose="05000000000000000000" pitchFamily="2" charset="2"/>
                  <a:buChar char="p"/>
                  <a:defRPr/>
                </a:pPr>
                <a:r>
                  <a:rPr lang="zh-CN" altLang="en-US" dirty="0"/>
                  <a:t>计算步骤</a:t>
                </a:r>
                <a:r>
                  <a:rPr lang="en-US" altLang="zh-CN" dirty="0"/>
                  <a:t>:</a:t>
                </a:r>
              </a:p>
              <a:p>
                <a:pPr marL="914400" lvl="2" indent="-457200" algn="just">
                  <a:lnSpc>
                    <a:spcPct val="130000"/>
                  </a:lnSpc>
                  <a:spcBef>
                    <a:spcPts val="1000"/>
                  </a:spcBef>
                  <a:buFont typeface="Wingdings" panose="05000000000000000000" pitchFamily="2" charset="2"/>
                  <a:buChar char="p"/>
                  <a:defRPr/>
                </a:pPr>
                <a:r>
                  <a:rPr lang="zh-CN" altLang="en-US" b="1" kern="100" dirty="0">
                    <a:solidFill>
                      <a:prstClr val="black"/>
                    </a:solidFill>
                    <a:cs typeface="+mn-ea"/>
                  </a:rPr>
                  <a:t>计算与缩放</a:t>
                </a:r>
                <a:r>
                  <a:rPr lang="en-US" altLang="zh-CN" b="1" kern="100" dirty="0">
                    <a:solidFill>
                      <a:prstClr val="black"/>
                    </a:solidFill>
                    <a:cs typeface="+mn-ea"/>
                  </a:rPr>
                  <a:t> </a:t>
                </a:r>
                <a14:m>
                  <m:oMath xmlns:m="http://schemas.openxmlformats.org/officeDocument/2006/math">
                    <m:r>
                      <a:rPr lang="en-US" altLang="zh-CN" b="1" i="1" kern="100" dirty="0" smtClean="0">
                        <a:solidFill>
                          <a:prstClr val="black"/>
                        </a:solidFill>
                        <a:latin typeface="Cambria Math" panose="02040503050406030204" pitchFamily="18" charset="0"/>
                        <a:cs typeface="+mn-ea"/>
                      </a:rPr>
                      <m:t>𝑸</m:t>
                    </m:r>
                    <m:r>
                      <a:rPr lang="en-US" altLang="zh-CN" b="1" i="1" kern="100" dirty="0" smtClean="0">
                        <a:solidFill>
                          <a:prstClr val="black"/>
                        </a:solidFill>
                        <a:latin typeface="Cambria Math" panose="02040503050406030204" pitchFamily="18" charset="0"/>
                        <a:cs typeface="+mn-ea"/>
                      </a:rPr>
                      <m:t>⋅</m:t>
                    </m:r>
                    <m:r>
                      <a:rPr lang="en-US" altLang="zh-CN" b="1" i="1" kern="100" dirty="0" smtClean="0">
                        <a:solidFill>
                          <a:prstClr val="black"/>
                        </a:solidFill>
                        <a:latin typeface="Cambria Math" panose="02040503050406030204" pitchFamily="18" charset="0"/>
                        <a:cs typeface="+mn-ea"/>
                      </a:rPr>
                      <m:t>𝑲𝑻</m:t>
                    </m:r>
                  </m:oMath>
                </a14:m>
                <a:r>
                  <a:rPr lang="zh-CN" altLang="en-US" b="1" kern="100" dirty="0">
                    <a:solidFill>
                      <a:prstClr val="black"/>
                    </a:solidFill>
                    <a:cs typeface="+mn-ea"/>
                  </a:rPr>
                  <a:t>，若在解码期间则对得到的注意力矩阵进行掩码覆盖（</a:t>
                </a:r>
                <a:r>
                  <a:rPr lang="en-US" altLang="zh-CN" b="1" kern="100" dirty="0">
                    <a:solidFill>
                      <a:prstClr val="black"/>
                    </a:solidFill>
                    <a:cs typeface="+mn-ea"/>
                  </a:rPr>
                  <a:t>Mask</a:t>
                </a:r>
                <a:r>
                  <a:rPr lang="zh-CN" altLang="en-US" b="1" kern="100" dirty="0">
                    <a:solidFill>
                      <a:prstClr val="black"/>
                    </a:solidFill>
                    <a:cs typeface="+mn-ea"/>
                  </a:rPr>
                  <a:t>）</a:t>
                </a:r>
                <a:endParaRPr lang="en-US" altLang="zh-CN" b="1" kern="100" dirty="0">
                  <a:solidFill>
                    <a:prstClr val="black"/>
                  </a:solidFill>
                  <a:cs typeface="+mn-ea"/>
                </a:endParaRPr>
              </a:p>
              <a:p>
                <a:pPr marL="914400" lvl="2" indent="-457200" algn="just">
                  <a:lnSpc>
                    <a:spcPct val="130000"/>
                  </a:lnSpc>
                  <a:spcBef>
                    <a:spcPts val="1000"/>
                  </a:spcBef>
                  <a:buFont typeface="Wingdings" panose="05000000000000000000" pitchFamily="2" charset="2"/>
                  <a:buChar char="p"/>
                  <a:defRPr/>
                </a:pPr>
                <a:r>
                  <a:rPr lang="zh-CN" altLang="en-US" b="1" kern="100" dirty="0">
                    <a:solidFill>
                      <a:prstClr val="black"/>
                    </a:solidFill>
                    <a:cs typeface="+mn-ea"/>
                  </a:rPr>
                  <a:t>对每行应用</a:t>
                </a:r>
                <a:r>
                  <a:rPr lang="en-US" altLang="zh-CN" b="1" kern="100" dirty="0" err="1">
                    <a:solidFill>
                      <a:prstClr val="black"/>
                    </a:solidFill>
                    <a:cs typeface="+mn-ea"/>
                  </a:rPr>
                  <a:t>Softmax</a:t>
                </a:r>
                <a:r>
                  <a:rPr lang="zh-CN" altLang="en-US" b="1" kern="100" dirty="0">
                    <a:solidFill>
                      <a:prstClr val="black"/>
                    </a:solidFill>
                    <a:cs typeface="+mn-ea"/>
                  </a:rPr>
                  <a:t>实现权重的归一化</a:t>
                </a:r>
                <a:endParaRPr lang="en-US" altLang="zh-CN" b="1" kern="100" dirty="0">
                  <a:solidFill>
                    <a:prstClr val="black"/>
                  </a:solidFill>
                  <a:cs typeface="+mn-ea"/>
                </a:endParaRPr>
              </a:p>
              <a:p>
                <a:pPr marL="914400" lvl="2" indent="-457200" algn="just">
                  <a:lnSpc>
                    <a:spcPct val="130000"/>
                  </a:lnSpc>
                  <a:spcBef>
                    <a:spcPts val="1000"/>
                  </a:spcBef>
                  <a:buFont typeface="Wingdings" panose="05000000000000000000" pitchFamily="2" charset="2"/>
                  <a:buChar char="p"/>
                  <a:defRPr/>
                </a:pPr>
                <a:r>
                  <a:rPr lang="zh-CN" altLang="en-US" b="1" kern="100" dirty="0">
                    <a:solidFill>
                      <a:prstClr val="black"/>
                    </a:solidFill>
                    <a:cs typeface="+mn-ea"/>
                  </a:rPr>
                  <a:t>把得到的归一化权重矩阵乘以值矩阵 </a:t>
                </a:r>
                <a14:m>
                  <m:oMath xmlns:m="http://schemas.openxmlformats.org/officeDocument/2006/math">
                    <m:r>
                      <a:rPr lang="en-US" altLang="zh-CN" b="1" i="1" kern="100" dirty="0" smtClean="0">
                        <a:solidFill>
                          <a:prstClr val="black"/>
                        </a:solidFill>
                        <a:latin typeface="Cambria Math" panose="02040503050406030204" pitchFamily="18" charset="0"/>
                        <a:cs typeface="+mn-ea"/>
                      </a:rPr>
                      <m:t>𝑽</m:t>
                    </m:r>
                  </m:oMath>
                </a14:m>
                <a:endParaRPr lang="zh-CN" altLang="en-US" b="1" kern="100" dirty="0">
                  <a:solidFill>
                    <a:prstClr val="black"/>
                  </a:solidFill>
                  <a:cs typeface="+mn-ea"/>
                </a:endParaRPr>
              </a:p>
            </p:txBody>
          </p:sp>
        </mc:Choice>
        <mc:Fallback xmlns="">
          <p:sp>
            <p:nvSpPr>
              <p:cNvPr id="3" name="内容占位符 2">
                <a:extLst>
                  <a:ext uri="{FF2B5EF4-FFF2-40B4-BE49-F238E27FC236}">
                    <a16:creationId xmlns:a16="http://schemas.microsoft.com/office/drawing/2014/main" id="{1772A938-740A-43BB-97F8-A97F9AD05FAD}"/>
                  </a:ext>
                </a:extLst>
              </p:cNvPr>
              <p:cNvSpPr>
                <a:spLocks noGrp="1" noRot="1" noChangeAspect="1" noMove="1" noResize="1" noEditPoints="1" noAdjustHandles="1" noChangeArrowheads="1" noChangeShapeType="1" noTextEdit="1"/>
              </p:cNvSpPr>
              <p:nvPr>
                <p:ph idx="1"/>
              </p:nvPr>
            </p:nvSpPr>
            <p:spPr>
              <a:xfrm>
                <a:off x="657774" y="1386348"/>
                <a:ext cx="6605632" cy="4790615"/>
              </a:xfrm>
              <a:blipFill>
                <a:blip r:embed="rId2"/>
                <a:stretch>
                  <a:fillRect l="-1149" r="-766"/>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1435B2BF-2E44-81AE-F922-22369F7D791B}"/>
              </a:ext>
            </a:extLst>
          </p:cNvPr>
          <p:cNvGrpSpPr/>
          <p:nvPr/>
        </p:nvGrpSpPr>
        <p:grpSpPr>
          <a:xfrm>
            <a:off x="0" y="-1589"/>
            <a:ext cx="12191999" cy="768585"/>
            <a:chOff x="0" y="-1589"/>
            <a:chExt cx="12191999" cy="768585"/>
          </a:xfrm>
        </p:grpSpPr>
        <p:grpSp>
          <p:nvGrpSpPr>
            <p:cNvPr id="7" name="Group 9">
              <a:extLst>
                <a:ext uri="{FF2B5EF4-FFF2-40B4-BE49-F238E27FC236}">
                  <a16:creationId xmlns:a16="http://schemas.microsoft.com/office/drawing/2014/main" id="{5C422034-B60C-F347-D9CC-4050EA2EDD26}"/>
                </a:ext>
              </a:extLst>
            </p:cNvPr>
            <p:cNvGrpSpPr>
              <a:grpSpLocks noChangeAspect="1"/>
            </p:cNvGrpSpPr>
            <p:nvPr/>
          </p:nvGrpSpPr>
          <p:grpSpPr bwMode="auto">
            <a:xfrm>
              <a:off x="0" y="-1589"/>
              <a:ext cx="12191999" cy="767234"/>
              <a:chOff x="-1" y="-1"/>
              <a:chExt cx="7719" cy="568"/>
            </a:xfrm>
          </p:grpSpPr>
          <p:sp>
            <p:nvSpPr>
              <p:cNvPr id="10" name="Freeform 9">
                <a:extLst>
                  <a:ext uri="{FF2B5EF4-FFF2-40B4-BE49-F238E27FC236}">
                    <a16:creationId xmlns:a16="http://schemas.microsoft.com/office/drawing/2014/main" id="{2281F657-91CB-EE68-EA68-6C90E40A813C}"/>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1" name="AutoShape 8">
                <a:extLst>
                  <a:ext uri="{FF2B5EF4-FFF2-40B4-BE49-F238E27FC236}">
                    <a16:creationId xmlns:a16="http://schemas.microsoft.com/office/drawing/2014/main" id="{2C1AD922-50E7-1676-80E5-324934021626}"/>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8" name="任意多边形: 形状 12">
              <a:extLst>
                <a:ext uri="{FF2B5EF4-FFF2-40B4-BE49-F238E27FC236}">
                  <a16:creationId xmlns:a16="http://schemas.microsoft.com/office/drawing/2014/main" id="{AB417155-50E7-6A15-EB92-61FD605EF3CE}"/>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9" name="文本框 18">
              <a:extLst>
                <a:ext uri="{FF2B5EF4-FFF2-40B4-BE49-F238E27FC236}">
                  <a16:creationId xmlns:a16="http://schemas.microsoft.com/office/drawing/2014/main" id="{E43D5EED-6051-215B-9F84-A267795D421A}"/>
                </a:ext>
              </a:extLst>
            </p:cNvPr>
            <p:cNvSpPr txBox="1"/>
            <p:nvPr/>
          </p:nvSpPr>
          <p:spPr>
            <a:xfrm>
              <a:off x="350439" y="120418"/>
              <a:ext cx="1620957" cy="523220"/>
            </a:xfrm>
            <a:prstGeom prst="rect">
              <a:avLst/>
            </a:prstGeom>
            <a:noFill/>
          </p:spPr>
          <p:txBody>
            <a:bodyPr wrap="none" rtlCol="0">
              <a:spAutoFit/>
            </a:bodyPr>
            <a:lstStyle/>
            <a:p>
              <a:pPr>
                <a:defRPr/>
              </a:pPr>
              <a:r>
                <a:rPr lang="zh-CN" altLang="en-US" sz="2800" b="1">
                  <a:solidFill>
                    <a:prstClr val="white"/>
                  </a:solidFill>
                  <a:cs typeface="+mn-ea"/>
                  <a:sym typeface="+mn-lt"/>
                </a:rPr>
                <a:t>自注意力</a:t>
              </a:r>
            </a:p>
          </p:txBody>
        </p:sp>
      </p:grpSp>
      <p:grpSp>
        <p:nvGrpSpPr>
          <p:cNvPr id="12" name="组合 76">
            <a:extLst>
              <a:ext uri="{FF2B5EF4-FFF2-40B4-BE49-F238E27FC236}">
                <a16:creationId xmlns:a16="http://schemas.microsoft.com/office/drawing/2014/main" id="{0EBF5D53-6630-1EFD-FADD-5E630F7E389F}"/>
              </a:ext>
            </a:extLst>
          </p:cNvPr>
          <p:cNvGrpSpPr/>
          <p:nvPr/>
        </p:nvGrpSpPr>
        <p:grpSpPr>
          <a:xfrm>
            <a:off x="7688489" y="2291938"/>
            <a:ext cx="2725284" cy="3365601"/>
            <a:chOff x="2877862" y="4199855"/>
            <a:chExt cx="1079803" cy="1333507"/>
          </a:xfrm>
        </p:grpSpPr>
        <p:sp>
          <p:nvSpPr>
            <p:cNvPr id="13" name="Rounded Rectangle 12">
              <a:extLst>
                <a:ext uri="{FF2B5EF4-FFF2-40B4-BE49-F238E27FC236}">
                  <a16:creationId xmlns:a16="http://schemas.microsoft.com/office/drawing/2014/main" id="{A52701A0-5064-8769-69D1-1F4182F860BC}"/>
                </a:ext>
              </a:extLst>
            </p:cNvPr>
            <p:cNvSpPr/>
            <p:nvPr/>
          </p:nvSpPr>
          <p:spPr>
            <a:xfrm>
              <a:off x="2877863" y="4323588"/>
              <a:ext cx="1079802" cy="767703"/>
            </a:xfrm>
            <a:prstGeom prst="roundRect">
              <a:avLst>
                <a:gd name="adj" fmla="val 0"/>
              </a:avLst>
            </a:prstGeom>
            <a:noFill/>
            <a:ln w="1270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000"/>
            </a:p>
          </p:txBody>
        </p:sp>
        <p:sp>
          <p:nvSpPr>
            <p:cNvPr id="14" name="Rounded Rectangle 13">
              <a:extLst>
                <a:ext uri="{FF2B5EF4-FFF2-40B4-BE49-F238E27FC236}">
                  <a16:creationId xmlns:a16="http://schemas.microsoft.com/office/drawing/2014/main" id="{686FBED4-2793-E3A6-9968-2E5521D5AF15}"/>
                </a:ext>
              </a:extLst>
            </p:cNvPr>
            <p:cNvSpPr/>
            <p:nvPr/>
          </p:nvSpPr>
          <p:spPr>
            <a:xfrm>
              <a:off x="3225291" y="4746985"/>
              <a:ext cx="672403" cy="191068"/>
            </a:xfrm>
            <a:prstGeom prst="roundRect">
              <a:avLst/>
            </a:prstGeom>
            <a:solidFill>
              <a:schemeClr val="accent5">
                <a:lumMod val="20000"/>
                <a:lumOff val="8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矩阵相乘</a:t>
              </a:r>
              <a:endParaRPr lang="en-US" sz="4000" dirty="0">
                <a:solidFill>
                  <a:schemeClr val="tx1"/>
                </a:solidFill>
              </a:endParaRPr>
            </a:p>
          </p:txBody>
        </p:sp>
        <p:sp>
          <p:nvSpPr>
            <p:cNvPr id="15" name="Rounded Rectangle 14">
              <a:extLst>
                <a:ext uri="{FF2B5EF4-FFF2-40B4-BE49-F238E27FC236}">
                  <a16:creationId xmlns:a16="http://schemas.microsoft.com/office/drawing/2014/main" id="{3BC2007A-8E6F-2650-03DB-023C38DEFF68}"/>
                </a:ext>
              </a:extLst>
            </p:cNvPr>
            <p:cNvSpPr/>
            <p:nvPr/>
          </p:nvSpPr>
          <p:spPr>
            <a:xfrm>
              <a:off x="2934170" y="4397263"/>
              <a:ext cx="967932" cy="191068"/>
            </a:xfrm>
            <a:prstGeom prst="roundRect">
              <a:avLst/>
            </a:prstGeom>
            <a:solidFill>
              <a:schemeClr val="accent4">
                <a:lumMod val="20000"/>
                <a:lumOff val="8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矩阵相乘</a:t>
              </a:r>
              <a:endParaRPr lang="en-US" sz="4000" dirty="0"/>
            </a:p>
          </p:txBody>
        </p:sp>
        <p:sp>
          <p:nvSpPr>
            <p:cNvPr id="16" name="TextBox 15">
              <a:extLst>
                <a:ext uri="{FF2B5EF4-FFF2-40B4-BE49-F238E27FC236}">
                  <a16:creationId xmlns:a16="http://schemas.microsoft.com/office/drawing/2014/main" id="{9CDEA692-5142-02B4-591C-6761019713CA}"/>
                </a:ext>
              </a:extLst>
            </p:cNvPr>
            <p:cNvSpPr txBox="1"/>
            <p:nvPr/>
          </p:nvSpPr>
          <p:spPr>
            <a:xfrm>
              <a:off x="3525864" y="4927247"/>
              <a:ext cx="144303" cy="146335"/>
            </a:xfrm>
            <a:prstGeom prst="rect">
              <a:avLst/>
            </a:prstGeom>
            <a:noFill/>
          </p:spPr>
          <p:txBody>
            <a:bodyPr wrap="none" rtlCol="0">
              <a:spAutoFit/>
            </a:bodyPr>
            <a:lstStyle/>
            <a:p>
              <a:r>
                <a:rPr lang="en-US" altLang="zh-CN" dirty="0"/>
                <a:t>Q</a:t>
              </a:r>
              <a:endParaRPr lang="en-US" dirty="0"/>
            </a:p>
          </p:txBody>
        </p:sp>
        <p:sp>
          <p:nvSpPr>
            <p:cNvPr id="17" name="TextBox 16">
              <a:extLst>
                <a:ext uri="{FF2B5EF4-FFF2-40B4-BE49-F238E27FC236}">
                  <a16:creationId xmlns:a16="http://schemas.microsoft.com/office/drawing/2014/main" id="{158EB711-DB73-3249-007F-70FF3F5199D8}"/>
                </a:ext>
              </a:extLst>
            </p:cNvPr>
            <p:cNvSpPr txBox="1"/>
            <p:nvPr/>
          </p:nvSpPr>
          <p:spPr>
            <a:xfrm>
              <a:off x="3223298" y="4933960"/>
              <a:ext cx="134141" cy="146335"/>
            </a:xfrm>
            <a:prstGeom prst="rect">
              <a:avLst/>
            </a:prstGeom>
            <a:noFill/>
          </p:spPr>
          <p:txBody>
            <a:bodyPr wrap="none" rtlCol="0">
              <a:spAutoFit/>
            </a:bodyPr>
            <a:lstStyle/>
            <a:p>
              <a:r>
                <a:rPr lang="en-US" altLang="zh-CN" dirty="0"/>
                <a:t>K</a:t>
              </a:r>
              <a:endParaRPr lang="en-US" dirty="0"/>
            </a:p>
          </p:txBody>
        </p:sp>
        <p:cxnSp>
          <p:nvCxnSpPr>
            <p:cNvPr id="18" name="Straight Arrow Connector 17">
              <a:extLst>
                <a:ext uri="{FF2B5EF4-FFF2-40B4-BE49-F238E27FC236}">
                  <a16:creationId xmlns:a16="http://schemas.microsoft.com/office/drawing/2014/main" id="{F69AEDD5-3E8D-5041-4AF5-990F84FCA3DB}"/>
                </a:ext>
              </a:extLst>
            </p:cNvPr>
            <p:cNvCxnSpPr>
              <a:cxnSpLocks/>
            </p:cNvCxnSpPr>
            <p:nvPr/>
          </p:nvCxnSpPr>
          <p:spPr>
            <a:xfrm flipV="1">
              <a:off x="3540714" y="4588090"/>
              <a:ext cx="0" cy="16401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90DD1EA-74E5-F5D1-A920-D9669CE33B8A}"/>
                </a:ext>
              </a:extLst>
            </p:cNvPr>
            <p:cNvCxnSpPr>
              <a:cxnSpLocks/>
            </p:cNvCxnSpPr>
            <p:nvPr/>
          </p:nvCxnSpPr>
          <p:spPr>
            <a:xfrm flipV="1">
              <a:off x="3412145" y="4199855"/>
              <a:ext cx="0" cy="19740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429CA7C-2399-38BC-A751-68019A0E2FA0}"/>
                </a:ext>
              </a:extLst>
            </p:cNvPr>
            <p:cNvSpPr txBox="1"/>
            <p:nvPr/>
          </p:nvSpPr>
          <p:spPr>
            <a:xfrm>
              <a:off x="3542244" y="4578133"/>
              <a:ext cx="134141" cy="146335"/>
            </a:xfrm>
            <a:prstGeom prst="rect">
              <a:avLst/>
            </a:prstGeom>
            <a:noFill/>
          </p:spPr>
          <p:txBody>
            <a:bodyPr wrap="none" rtlCol="0">
              <a:spAutoFit/>
            </a:bodyPr>
            <a:lstStyle/>
            <a:p>
              <a:r>
                <a:rPr lang="en-US" altLang="zh-CN" dirty="0"/>
                <a:t>A</a:t>
              </a:r>
              <a:endParaRPr lang="en-US" dirty="0"/>
            </a:p>
          </p:txBody>
        </p:sp>
        <p:cxnSp>
          <p:nvCxnSpPr>
            <p:cNvPr id="23" name="Elbow Connector 22">
              <a:extLst>
                <a:ext uri="{FF2B5EF4-FFF2-40B4-BE49-F238E27FC236}">
                  <a16:creationId xmlns:a16="http://schemas.microsoft.com/office/drawing/2014/main" id="{8CDF5CA7-697C-B776-E84E-67DD77803366}"/>
                </a:ext>
              </a:extLst>
            </p:cNvPr>
            <p:cNvCxnSpPr>
              <a:cxnSpLocks/>
            </p:cNvCxnSpPr>
            <p:nvPr/>
          </p:nvCxnSpPr>
          <p:spPr>
            <a:xfrm rot="5400000" flipH="1" flipV="1">
              <a:off x="2764707" y="4937629"/>
              <a:ext cx="682656" cy="1"/>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E87FE59E-6586-779A-49FE-9FBA6AF43AAE}"/>
                </a:ext>
              </a:extLst>
            </p:cNvPr>
            <p:cNvSpPr txBox="1"/>
            <p:nvPr/>
          </p:nvSpPr>
          <p:spPr>
            <a:xfrm>
              <a:off x="2877862" y="4596298"/>
              <a:ext cx="134141" cy="146335"/>
            </a:xfrm>
            <a:prstGeom prst="rect">
              <a:avLst/>
            </a:prstGeom>
            <a:noFill/>
          </p:spPr>
          <p:txBody>
            <a:bodyPr wrap="none" rtlCol="0">
              <a:spAutoFit/>
            </a:bodyPr>
            <a:lstStyle/>
            <a:p>
              <a:r>
                <a:rPr lang="en-US" dirty="0"/>
                <a:t>V</a:t>
              </a:r>
            </a:p>
          </p:txBody>
        </p:sp>
        <p:cxnSp>
          <p:nvCxnSpPr>
            <p:cNvPr id="26" name="Straight Arrow Connector 25">
              <a:extLst>
                <a:ext uri="{FF2B5EF4-FFF2-40B4-BE49-F238E27FC236}">
                  <a16:creationId xmlns:a16="http://schemas.microsoft.com/office/drawing/2014/main" id="{B45832C8-F076-4F49-DFBE-EFCEE8D7616B}"/>
                </a:ext>
              </a:extLst>
            </p:cNvPr>
            <p:cNvCxnSpPr>
              <a:cxnSpLocks/>
            </p:cNvCxnSpPr>
            <p:nvPr/>
          </p:nvCxnSpPr>
          <p:spPr>
            <a:xfrm rot="16200000">
              <a:off x="3112167" y="5245743"/>
              <a:ext cx="568379" cy="686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Elbow Connector 26">
              <a:extLst>
                <a:ext uri="{FF2B5EF4-FFF2-40B4-BE49-F238E27FC236}">
                  <a16:creationId xmlns:a16="http://schemas.microsoft.com/office/drawing/2014/main" id="{FD1C9B46-AB61-0453-DD51-EC8E90202EF0}"/>
                </a:ext>
              </a:extLst>
            </p:cNvPr>
            <p:cNvCxnSpPr>
              <a:cxnSpLocks/>
            </p:cNvCxnSpPr>
            <p:nvPr/>
          </p:nvCxnSpPr>
          <p:spPr>
            <a:xfrm rot="10800000" flipH="1">
              <a:off x="3358498" y="4952950"/>
              <a:ext cx="390558" cy="321894"/>
            </a:xfrm>
            <a:prstGeom prst="bentConnector3">
              <a:avLst>
                <a:gd name="adj1" fmla="val 99616"/>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B7CC943-3B19-E77B-CFBC-9C9C7BA3C840}"/>
                </a:ext>
              </a:extLst>
            </p:cNvPr>
            <p:cNvCxnSpPr>
              <a:cxnSpLocks/>
            </p:cNvCxnSpPr>
            <p:nvPr/>
          </p:nvCxnSpPr>
          <p:spPr>
            <a:xfrm flipH="1">
              <a:off x="3106034" y="5272283"/>
              <a:ext cx="344096" cy="0"/>
            </a:xfrm>
            <a:prstGeom prst="straightConnector1">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A68C315-94B3-7522-598E-4240CA558944}"/>
                  </a:ext>
                </a:extLst>
              </p:cNvPr>
              <p:cNvSpPr txBox="1"/>
              <p:nvPr/>
            </p:nvSpPr>
            <p:spPr>
              <a:xfrm>
                <a:off x="1303459" y="4598863"/>
                <a:ext cx="5314853" cy="8963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400" i="1" smtClean="0">
                          <a:latin typeface="Cambria Math" panose="02040503050406030204" pitchFamily="18" charset="0"/>
                        </a:rPr>
                        <m:t>Attention</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𝑄</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𝐾</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𝑉</m:t>
                          </m:r>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𝑠𝑜𝑓𝑡𝑚𝑎𝑥</m:t>
                      </m:r>
                      <m:d>
                        <m:dPr>
                          <m:ctrlPr>
                            <a:rPr lang="en-US" altLang="zh-CN" sz="2400" b="0" i="1" smtClean="0">
                              <a:latin typeface="Cambria Math" panose="02040503050406030204" pitchFamily="18" charset="0"/>
                            </a:rPr>
                          </m:ctrlPr>
                        </m:dPr>
                        <m:e>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𝑄</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𝐾</m:t>
                                  </m:r>
                                </m:e>
                                <m:sup>
                                  <m:r>
                                    <a:rPr lang="en-US" altLang="zh-CN" sz="2400" b="0" i="1" smtClean="0">
                                      <a:latin typeface="Cambria Math" panose="02040503050406030204" pitchFamily="18" charset="0"/>
                                    </a:rPr>
                                    <m:t>𝑇</m:t>
                                  </m:r>
                                </m:sup>
                              </m:sSup>
                            </m:num>
                            <m:den>
                              <m:rad>
                                <m:radPr>
                                  <m:degHide m:val="on"/>
                                  <m:ctrlPr>
                                    <a:rPr lang="en-US" altLang="zh-CN" sz="2400" b="0" i="1" smtClean="0">
                                      <a:latin typeface="Cambria Math" panose="02040503050406030204" pitchFamily="18" charset="0"/>
                                    </a:rPr>
                                  </m:ctrlPr>
                                </m:radPr>
                                <m:deg/>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𝑑</m:t>
                                      </m:r>
                                    </m:e>
                                    <m:sub>
                                      <m:r>
                                        <a:rPr lang="en-US" altLang="zh-CN" sz="2400" b="0" i="1" smtClean="0">
                                          <a:latin typeface="Cambria Math" panose="02040503050406030204" pitchFamily="18" charset="0"/>
                                        </a:rPr>
                                        <m:t>𝑘</m:t>
                                      </m:r>
                                    </m:sub>
                                  </m:sSub>
                                </m:e>
                              </m:rad>
                            </m:den>
                          </m:f>
                        </m:e>
                      </m:d>
                      <m:r>
                        <a:rPr lang="en-US" altLang="zh-CN" sz="2400" b="0" i="1" smtClean="0">
                          <a:latin typeface="Cambria Math" panose="02040503050406030204" pitchFamily="18" charset="0"/>
                        </a:rPr>
                        <m:t>𝑉</m:t>
                      </m:r>
                    </m:oMath>
                  </m:oMathPara>
                </a14:m>
                <a:endParaRPr lang="en-US" sz="2400" dirty="0"/>
              </a:p>
            </p:txBody>
          </p:sp>
        </mc:Choice>
        <mc:Fallback xmlns="">
          <p:sp>
            <p:nvSpPr>
              <p:cNvPr id="4" name="TextBox 3">
                <a:extLst>
                  <a:ext uri="{FF2B5EF4-FFF2-40B4-BE49-F238E27FC236}">
                    <a16:creationId xmlns:a16="http://schemas.microsoft.com/office/drawing/2014/main" id="{0A68C315-94B3-7522-598E-4240CA558944}"/>
                  </a:ext>
                </a:extLst>
              </p:cNvPr>
              <p:cNvSpPr txBox="1">
                <a:spLocks noRot="1" noChangeAspect="1" noMove="1" noResize="1" noEditPoints="1" noAdjustHandles="1" noChangeArrowheads="1" noChangeShapeType="1" noTextEdit="1"/>
              </p:cNvSpPr>
              <p:nvPr/>
            </p:nvSpPr>
            <p:spPr>
              <a:xfrm>
                <a:off x="1303459" y="4598863"/>
                <a:ext cx="5314853" cy="896336"/>
              </a:xfrm>
              <a:prstGeom prst="rect">
                <a:avLst/>
              </a:prstGeom>
              <a:blipFill>
                <a:blip r:embed="rId3"/>
                <a:stretch>
                  <a:fillRect l="-714" r="-476" b="-4167"/>
                </a:stretch>
              </a:blipFill>
            </p:spPr>
            <p:txBody>
              <a:bodyPr/>
              <a:lstStyle/>
              <a:p>
                <a:r>
                  <a:rPr lang="en-US">
                    <a:noFill/>
                  </a:rPr>
                  <a:t> </a:t>
                </a:r>
              </a:p>
            </p:txBody>
          </p:sp>
        </mc:Fallback>
      </mc:AlternateContent>
    </p:spTree>
    <p:extLst>
      <p:ext uri="{BB962C8B-B14F-4D97-AF65-F5344CB8AC3E}">
        <p14:creationId xmlns:p14="http://schemas.microsoft.com/office/powerpoint/2010/main" val="14826628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772A938-740A-43BB-97F8-A97F9AD05FAD}"/>
                  </a:ext>
                </a:extLst>
              </p:cNvPr>
              <p:cNvSpPr>
                <a:spLocks noGrp="1"/>
              </p:cNvSpPr>
              <p:nvPr>
                <p:ph idx="1"/>
              </p:nvPr>
            </p:nvSpPr>
            <p:spPr/>
            <p:txBody>
              <a:bodyPr/>
              <a:lstStyle/>
              <a:p>
                <a:pPr marL="457200" indent="-457200" algn="just">
                  <a:lnSpc>
                    <a:spcPct val="130000"/>
                  </a:lnSpc>
                  <a:buFont typeface="Wingdings" panose="05000000000000000000" pitchFamily="2" charset="2"/>
                  <a:buChar char="p"/>
                  <a:defRPr/>
                </a:pPr>
                <a:r>
                  <a:rPr lang="en-US" altLang="zh-CN" dirty="0"/>
                  <a:t>QK</a:t>
                </a:r>
                <a:r>
                  <a:rPr lang="en-US" altLang="zh-CN" baseline="30000" dirty="0"/>
                  <a:t>T</a:t>
                </a:r>
                <a:r>
                  <a:rPr lang="zh-CN" altLang="en-US" dirty="0"/>
                  <a:t> 代表什么？</a:t>
                </a:r>
                <a:endParaRPr lang="en-US" altLang="zh-CN" dirty="0"/>
              </a:p>
              <a:p>
                <a:pPr marL="914400" lvl="2" indent="-457200" algn="just">
                  <a:lnSpc>
                    <a:spcPct val="130000"/>
                  </a:lnSpc>
                  <a:spcBef>
                    <a:spcPts val="1000"/>
                  </a:spcBef>
                  <a:buFont typeface="Wingdings" panose="05000000000000000000" pitchFamily="2" charset="2"/>
                  <a:buChar char="p"/>
                  <a:defRPr/>
                </a:pPr>
                <a:r>
                  <a:rPr lang="zh-CN" altLang="en-US" b="1" kern="100" dirty="0">
                    <a:solidFill>
                      <a:prstClr val="black"/>
                    </a:solidFill>
                    <a:cs typeface="+mn-ea"/>
                  </a:rPr>
                  <a:t>句子中的单词关联</a:t>
                </a:r>
              </a:p>
              <a:p>
                <a:pPr marL="914400" lvl="2" indent="-457200" algn="just">
                  <a:lnSpc>
                    <a:spcPct val="130000"/>
                  </a:lnSpc>
                  <a:spcBef>
                    <a:spcPts val="1000"/>
                  </a:spcBef>
                  <a:buFont typeface="Wingdings" panose="05000000000000000000" pitchFamily="2" charset="2"/>
                  <a:buChar char="p"/>
                  <a:defRPr/>
                </a:pPr>
                <a:r>
                  <a:rPr lang="zh-CN" altLang="en-US" b="1" kern="100" dirty="0">
                    <a:solidFill>
                      <a:prstClr val="black"/>
                    </a:solidFill>
                    <a:cs typeface="+mn-ea"/>
                  </a:rPr>
                  <a:t>查询是行向量，键是列向量</a:t>
                </a:r>
              </a:p>
              <a:p>
                <a:pPr marL="914400" lvl="2" indent="-457200" algn="just">
                  <a:lnSpc>
                    <a:spcPct val="130000"/>
                  </a:lnSpc>
                  <a:spcBef>
                    <a:spcPts val="1000"/>
                  </a:spcBef>
                  <a:buFont typeface="Wingdings" panose="05000000000000000000" pitchFamily="2" charset="2"/>
                  <a:buChar char="p"/>
                  <a:defRPr/>
                </a:pPr>
                <a:r>
                  <a:rPr lang="en-US" altLang="zh-CN" b="1" kern="100" dirty="0">
                    <a:solidFill>
                      <a:prstClr val="black"/>
                    </a:solidFill>
                    <a:cs typeface="+mn-ea"/>
                  </a:rPr>
                  <a:t>QK</a:t>
                </a:r>
                <a:r>
                  <a:rPr lang="en-US" altLang="zh-CN" b="1" kern="100" baseline="30000" dirty="0">
                    <a:solidFill>
                      <a:prstClr val="black"/>
                    </a:solidFill>
                    <a:cs typeface="+mn-ea"/>
                  </a:rPr>
                  <a:t>T</a:t>
                </a:r>
                <a:r>
                  <a:rPr lang="zh-CN" altLang="en-US" b="1" kern="100" dirty="0">
                    <a:solidFill>
                      <a:prstClr val="black"/>
                    </a:solidFill>
                    <a:cs typeface="+mn-ea"/>
                  </a:rPr>
                  <a:t>中位置 </a:t>
                </a:r>
                <a14:m>
                  <m:oMath xmlns:m="http://schemas.openxmlformats.org/officeDocument/2006/math">
                    <m:r>
                      <a:rPr lang="en-US" altLang="zh-CN" b="0" i="1" kern="100" dirty="0" smtClean="0">
                        <a:solidFill>
                          <a:prstClr val="black"/>
                        </a:solidFill>
                        <a:latin typeface="Cambria Math" panose="02040503050406030204" pitchFamily="18" charset="0"/>
                        <a:cs typeface="+mn-ea"/>
                      </a:rPr>
                      <m:t>(</m:t>
                    </m:r>
                    <m:r>
                      <a:rPr lang="en-US" altLang="zh-CN" b="0" i="1" kern="100" dirty="0" err="1">
                        <a:solidFill>
                          <a:prstClr val="black"/>
                        </a:solidFill>
                        <a:latin typeface="Cambria Math" panose="02040503050406030204" pitchFamily="18" charset="0"/>
                        <a:cs typeface="+mn-ea"/>
                      </a:rPr>
                      <m:t>𝑖</m:t>
                    </m:r>
                    <m:r>
                      <a:rPr lang="en-US" altLang="zh-CN" b="0" i="1" kern="100" dirty="0" err="1">
                        <a:solidFill>
                          <a:prstClr val="black"/>
                        </a:solidFill>
                        <a:latin typeface="Cambria Math" panose="02040503050406030204" pitchFamily="18" charset="0"/>
                        <a:cs typeface="+mn-ea"/>
                      </a:rPr>
                      <m:t>,</m:t>
                    </m:r>
                    <m:r>
                      <a:rPr lang="en-US" altLang="zh-CN" b="0" i="1" kern="100" dirty="0" err="1">
                        <a:solidFill>
                          <a:prstClr val="black"/>
                        </a:solidFill>
                        <a:latin typeface="Cambria Math" panose="02040503050406030204" pitchFamily="18" charset="0"/>
                        <a:cs typeface="+mn-ea"/>
                      </a:rPr>
                      <m:t>𝑗</m:t>
                    </m:r>
                    <m:r>
                      <a:rPr lang="en-US" altLang="zh-CN" b="0" i="1" kern="100" dirty="0">
                        <a:solidFill>
                          <a:prstClr val="black"/>
                        </a:solidFill>
                        <a:latin typeface="Cambria Math" panose="02040503050406030204" pitchFamily="18" charset="0"/>
                        <a:cs typeface="+mn-ea"/>
                      </a:rPr>
                      <m:t>)</m:t>
                    </m:r>
                    <m:r>
                      <a:rPr lang="zh-CN" altLang="en-US" b="0" i="1" kern="100" dirty="0">
                        <a:solidFill>
                          <a:prstClr val="black"/>
                        </a:solidFill>
                        <a:latin typeface="Cambria Math" panose="02040503050406030204" pitchFamily="18" charset="0"/>
                        <a:cs typeface="+mn-ea"/>
                      </a:rPr>
                      <m:t> </m:t>
                    </m:r>
                  </m:oMath>
                </a14:m>
                <a:r>
                  <a:rPr lang="zh-CN" altLang="en-US" b="1" kern="100" dirty="0">
                    <a:solidFill>
                      <a:prstClr val="black"/>
                    </a:solidFill>
                    <a:cs typeface="+mn-ea"/>
                  </a:rPr>
                  <a:t>是 </a:t>
                </a:r>
                <a14:m>
                  <m:oMath xmlns:m="http://schemas.openxmlformats.org/officeDocument/2006/math">
                    <m:r>
                      <a:rPr lang="en-US" altLang="zh-CN" b="1" kern="100">
                        <a:solidFill>
                          <a:prstClr val="black"/>
                        </a:solidFill>
                        <a:latin typeface="Cambria Math" panose="02040503050406030204" pitchFamily="18" charset="0"/>
                        <a:cs typeface="+mn-ea"/>
                      </a:rPr>
                      <m:t>(</m:t>
                    </m:r>
                    <m:sSub>
                      <m:sSubPr>
                        <m:ctrlPr>
                          <a:rPr lang="en-US" altLang="zh-CN" b="1" i="1" kern="100">
                            <a:solidFill>
                              <a:prstClr val="black"/>
                            </a:solidFill>
                            <a:latin typeface="Cambria Math" panose="02040503050406030204" pitchFamily="18" charset="0"/>
                            <a:cs typeface="+mn-ea"/>
                          </a:rPr>
                        </m:ctrlPr>
                      </m:sSubPr>
                      <m:e>
                        <m:r>
                          <a:rPr lang="en-US" altLang="zh-CN" b="1" kern="100">
                            <a:solidFill>
                              <a:prstClr val="black"/>
                            </a:solidFill>
                            <a:latin typeface="Cambria Math" panose="02040503050406030204" pitchFamily="18" charset="0"/>
                            <a:cs typeface="+mn-ea"/>
                          </a:rPr>
                          <m:t>𝑞</m:t>
                        </m:r>
                      </m:e>
                      <m:sub>
                        <m:r>
                          <a:rPr lang="en-US" altLang="zh-CN" b="1" kern="100">
                            <a:solidFill>
                              <a:prstClr val="black"/>
                            </a:solidFill>
                            <a:latin typeface="Cambria Math" panose="02040503050406030204" pitchFamily="18" charset="0"/>
                            <a:cs typeface="+mn-ea"/>
                          </a:rPr>
                          <m:t>𝑖</m:t>
                        </m:r>
                      </m:sub>
                    </m:sSub>
                    <m:r>
                      <a:rPr lang="en-US" altLang="zh-CN" b="1" kern="100">
                        <a:solidFill>
                          <a:prstClr val="black"/>
                        </a:solidFill>
                        <a:latin typeface="Cambria Math" panose="02040503050406030204" pitchFamily="18" charset="0"/>
                        <a:cs typeface="+mn-ea"/>
                      </a:rPr>
                      <m:t>,</m:t>
                    </m:r>
                    <m:sSub>
                      <m:sSubPr>
                        <m:ctrlPr>
                          <a:rPr lang="en-US" altLang="zh-CN" b="1" i="1" kern="100">
                            <a:solidFill>
                              <a:prstClr val="black"/>
                            </a:solidFill>
                            <a:latin typeface="Cambria Math" panose="02040503050406030204" pitchFamily="18" charset="0"/>
                            <a:cs typeface="+mn-ea"/>
                          </a:rPr>
                        </m:ctrlPr>
                      </m:sSubPr>
                      <m:e>
                        <m:r>
                          <a:rPr lang="en-US" altLang="zh-CN" b="1" kern="100">
                            <a:solidFill>
                              <a:prstClr val="black"/>
                            </a:solidFill>
                            <a:latin typeface="Cambria Math" panose="02040503050406030204" pitchFamily="18" charset="0"/>
                            <a:cs typeface="+mn-ea"/>
                          </a:rPr>
                          <m:t>𝑘</m:t>
                        </m:r>
                      </m:e>
                      <m:sub>
                        <m:r>
                          <a:rPr lang="en-US" altLang="zh-CN" b="1" kern="100">
                            <a:solidFill>
                              <a:prstClr val="black"/>
                            </a:solidFill>
                            <a:latin typeface="Cambria Math" panose="02040503050406030204" pitchFamily="18" charset="0"/>
                            <a:cs typeface="+mn-ea"/>
                          </a:rPr>
                          <m:t>𝑗</m:t>
                        </m:r>
                      </m:sub>
                    </m:sSub>
                    <m:r>
                      <a:rPr lang="en-US" altLang="zh-CN" b="1" kern="100">
                        <a:solidFill>
                          <a:prstClr val="black"/>
                        </a:solidFill>
                        <a:latin typeface="Cambria Math" panose="02040503050406030204" pitchFamily="18" charset="0"/>
                        <a:cs typeface="+mn-ea"/>
                      </a:rPr>
                      <m:t>)</m:t>
                    </m:r>
                  </m:oMath>
                </a14:m>
                <a:r>
                  <a:rPr lang="zh-CN" altLang="en-US" b="1" kern="100" dirty="0">
                    <a:solidFill>
                      <a:prstClr val="black"/>
                    </a:solidFill>
                    <a:cs typeface="+mn-ea"/>
                  </a:rPr>
                  <a:t> 的分数</a:t>
                </a:r>
                <a:endParaRPr lang="en-US" altLang="zh-CN" b="1" kern="100" dirty="0">
                  <a:solidFill>
                    <a:prstClr val="black"/>
                  </a:solidFill>
                  <a:cs typeface="+mn-ea"/>
                </a:endParaRPr>
              </a:p>
              <a:p>
                <a:pPr marL="457200" lvl="1" indent="-457200" algn="just">
                  <a:lnSpc>
                    <a:spcPct val="130000"/>
                  </a:lnSpc>
                  <a:spcBef>
                    <a:spcPts val="1000"/>
                  </a:spcBef>
                  <a:buFont typeface="Wingdings" panose="05000000000000000000" pitchFamily="2" charset="2"/>
                  <a:buChar char="p"/>
                  <a:defRPr/>
                </a:pPr>
                <a:r>
                  <a:rPr lang="zh-CN" altLang="en-US" b="1" kern="100" dirty="0">
                    <a:solidFill>
                      <a:prstClr val="black"/>
                    </a:solidFill>
                    <a:cs typeface="+mn-ea"/>
                  </a:rPr>
                  <a:t>具体理解</a:t>
                </a:r>
                <a:r>
                  <a:rPr lang="en-US" altLang="zh-CN" b="1" dirty="0"/>
                  <a:t>QK</a:t>
                </a:r>
                <a:r>
                  <a:rPr lang="en-US" altLang="zh-CN" b="1" baseline="30000" dirty="0"/>
                  <a:t>T</a:t>
                </a:r>
                <a:r>
                  <a:rPr lang="zh-CN" altLang="en-US" b="1" dirty="0"/>
                  <a:t>的意义</a:t>
                </a:r>
                <a:endParaRPr lang="en-US" altLang="zh-CN" b="1" kern="100" dirty="0">
                  <a:solidFill>
                    <a:prstClr val="black"/>
                  </a:solidFill>
                  <a:cs typeface="+mn-ea"/>
                </a:endParaRPr>
              </a:p>
            </p:txBody>
          </p:sp>
        </mc:Choice>
        <mc:Fallback xmlns="">
          <p:sp>
            <p:nvSpPr>
              <p:cNvPr id="3" name="内容占位符 2">
                <a:extLst>
                  <a:ext uri="{FF2B5EF4-FFF2-40B4-BE49-F238E27FC236}">
                    <a16:creationId xmlns:a16="http://schemas.microsoft.com/office/drawing/2014/main" id="{1772A938-740A-43BB-97F8-A97F9AD05FAD}"/>
                  </a:ext>
                </a:extLst>
              </p:cNvPr>
              <p:cNvSpPr>
                <a:spLocks noGrp="1" noRot="1" noChangeAspect="1" noMove="1" noResize="1" noEditPoints="1" noAdjustHandles="1" noChangeArrowheads="1" noChangeShapeType="1" noTextEdit="1"/>
              </p:cNvSpPr>
              <p:nvPr>
                <p:ph idx="1"/>
              </p:nvPr>
            </p:nvSpPr>
            <p:spPr>
              <a:blipFill>
                <a:blip r:embed="rId3"/>
                <a:stretch>
                  <a:fillRect l="-7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B2B5563-EDAE-2687-5ED9-B811ED661FE0}"/>
                  </a:ext>
                </a:extLst>
              </p:cNvPr>
              <p:cNvSpPr txBox="1"/>
              <p:nvPr/>
            </p:nvSpPr>
            <p:spPr>
              <a:xfrm>
                <a:off x="5888529" y="1759923"/>
                <a:ext cx="28507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𝑞</m:t>
                          </m:r>
                        </m:e>
                        <m:sub>
                          <m:r>
                            <a:rPr lang="en-US" altLang="zh-CN" b="0" i="1" smtClean="0">
                              <a:latin typeface="Cambria Math" panose="02040503050406030204" pitchFamily="18" charset="0"/>
                            </a:rPr>
                            <m:t>1</m:t>
                          </m:r>
                        </m:sub>
                      </m:sSub>
                    </m:oMath>
                  </m:oMathPara>
                </a14:m>
                <a:endParaRPr lang="en-US"/>
              </a:p>
            </p:txBody>
          </p:sp>
        </mc:Choice>
        <mc:Fallback xmlns="">
          <p:sp>
            <p:nvSpPr>
              <p:cNvPr id="6" name="TextBox 5">
                <a:extLst>
                  <a:ext uri="{FF2B5EF4-FFF2-40B4-BE49-F238E27FC236}">
                    <a16:creationId xmlns:a16="http://schemas.microsoft.com/office/drawing/2014/main" id="{7B2B5563-EDAE-2687-5ED9-B811ED661FE0}"/>
                  </a:ext>
                </a:extLst>
              </p:cNvPr>
              <p:cNvSpPr txBox="1">
                <a:spLocks noRot="1" noChangeAspect="1" noMove="1" noResize="1" noEditPoints="1" noAdjustHandles="1" noChangeArrowheads="1" noChangeShapeType="1" noTextEdit="1"/>
              </p:cNvSpPr>
              <p:nvPr/>
            </p:nvSpPr>
            <p:spPr>
              <a:xfrm>
                <a:off x="5888529" y="1759923"/>
                <a:ext cx="285078" cy="276999"/>
              </a:xfrm>
              <a:prstGeom prst="rect">
                <a:avLst/>
              </a:prstGeom>
              <a:blipFill>
                <a:blip r:embed="rId6"/>
                <a:stretch>
                  <a:fillRect l="-16667" r="-4167" b="-260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E7A98FD-B457-83FF-AFF0-3A429E3D1DDB}"/>
                  </a:ext>
                </a:extLst>
              </p:cNvPr>
              <p:cNvSpPr txBox="1"/>
              <p:nvPr/>
            </p:nvSpPr>
            <p:spPr>
              <a:xfrm>
                <a:off x="5894625" y="2071333"/>
                <a:ext cx="29040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𝑞</m:t>
                          </m:r>
                        </m:e>
                        <m:sub>
                          <m:r>
                            <a:rPr lang="en-US" altLang="zh-CN" b="0" i="1" smtClean="0">
                              <a:latin typeface="Cambria Math" panose="02040503050406030204" pitchFamily="18" charset="0"/>
                            </a:rPr>
                            <m:t>2</m:t>
                          </m:r>
                        </m:sub>
                      </m:sSub>
                    </m:oMath>
                  </m:oMathPara>
                </a14:m>
                <a:endParaRPr lang="en-US"/>
              </a:p>
            </p:txBody>
          </p:sp>
        </mc:Choice>
        <mc:Fallback xmlns="">
          <p:sp>
            <p:nvSpPr>
              <p:cNvPr id="7" name="TextBox 6">
                <a:extLst>
                  <a:ext uri="{FF2B5EF4-FFF2-40B4-BE49-F238E27FC236}">
                    <a16:creationId xmlns:a16="http://schemas.microsoft.com/office/drawing/2014/main" id="{2E7A98FD-B457-83FF-AFF0-3A429E3D1DDB}"/>
                  </a:ext>
                </a:extLst>
              </p:cNvPr>
              <p:cNvSpPr txBox="1">
                <a:spLocks noRot="1" noChangeAspect="1" noMove="1" noResize="1" noEditPoints="1" noAdjustHandles="1" noChangeArrowheads="1" noChangeShapeType="1" noTextEdit="1"/>
              </p:cNvSpPr>
              <p:nvPr/>
            </p:nvSpPr>
            <p:spPr>
              <a:xfrm>
                <a:off x="5894625" y="2071333"/>
                <a:ext cx="290401" cy="276999"/>
              </a:xfrm>
              <a:prstGeom prst="rect">
                <a:avLst/>
              </a:prstGeom>
              <a:blipFill>
                <a:blip r:embed="rId7"/>
                <a:stretch>
                  <a:fillRect l="-20833" b="-318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E1A5E50-6FBC-DD5A-74F3-C0B1AC3FBC41}"/>
                  </a:ext>
                </a:extLst>
              </p:cNvPr>
              <p:cNvSpPr txBox="1"/>
              <p:nvPr/>
            </p:nvSpPr>
            <p:spPr>
              <a:xfrm>
                <a:off x="5891577" y="2376330"/>
                <a:ext cx="29040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𝑞</m:t>
                          </m:r>
                        </m:e>
                        <m:sub>
                          <m:r>
                            <a:rPr lang="en-US" altLang="zh-CN" b="0" i="1" smtClean="0">
                              <a:latin typeface="Cambria Math" panose="02040503050406030204" pitchFamily="18" charset="0"/>
                            </a:rPr>
                            <m:t>3</m:t>
                          </m:r>
                        </m:sub>
                      </m:sSub>
                    </m:oMath>
                  </m:oMathPara>
                </a14:m>
                <a:endParaRPr lang="en-US"/>
              </a:p>
            </p:txBody>
          </p:sp>
        </mc:Choice>
        <mc:Fallback xmlns="">
          <p:sp>
            <p:nvSpPr>
              <p:cNvPr id="8" name="TextBox 7">
                <a:extLst>
                  <a:ext uri="{FF2B5EF4-FFF2-40B4-BE49-F238E27FC236}">
                    <a16:creationId xmlns:a16="http://schemas.microsoft.com/office/drawing/2014/main" id="{7E1A5E50-6FBC-DD5A-74F3-C0B1AC3FBC41}"/>
                  </a:ext>
                </a:extLst>
              </p:cNvPr>
              <p:cNvSpPr txBox="1">
                <a:spLocks noRot="1" noChangeAspect="1" noMove="1" noResize="1" noEditPoints="1" noAdjustHandles="1" noChangeArrowheads="1" noChangeShapeType="1" noTextEdit="1"/>
              </p:cNvSpPr>
              <p:nvPr/>
            </p:nvSpPr>
            <p:spPr>
              <a:xfrm>
                <a:off x="5891577" y="2376330"/>
                <a:ext cx="290401" cy="276999"/>
              </a:xfrm>
              <a:prstGeom prst="rect">
                <a:avLst/>
              </a:prstGeom>
              <a:blipFill>
                <a:blip r:embed="rId8"/>
                <a:stretch>
                  <a:fillRect l="-16667" r="-4167" b="-318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699B74D-53A9-30EA-E71A-7A0AB20C1C36}"/>
                  </a:ext>
                </a:extLst>
              </p:cNvPr>
              <p:cNvSpPr txBox="1"/>
              <p:nvPr/>
            </p:nvSpPr>
            <p:spPr>
              <a:xfrm>
                <a:off x="5879385" y="2717902"/>
                <a:ext cx="29040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𝑞</m:t>
                          </m:r>
                        </m:e>
                        <m:sub>
                          <m:r>
                            <a:rPr lang="en-US" altLang="zh-CN" b="0" i="1" smtClean="0">
                              <a:latin typeface="Cambria Math" panose="02040503050406030204" pitchFamily="18" charset="0"/>
                            </a:rPr>
                            <m:t>4</m:t>
                          </m:r>
                        </m:sub>
                      </m:sSub>
                    </m:oMath>
                  </m:oMathPara>
                </a14:m>
                <a:endParaRPr lang="en-US"/>
              </a:p>
            </p:txBody>
          </p:sp>
        </mc:Choice>
        <mc:Fallback xmlns="">
          <p:sp>
            <p:nvSpPr>
              <p:cNvPr id="9" name="TextBox 8">
                <a:extLst>
                  <a:ext uri="{FF2B5EF4-FFF2-40B4-BE49-F238E27FC236}">
                    <a16:creationId xmlns:a16="http://schemas.microsoft.com/office/drawing/2014/main" id="{9699B74D-53A9-30EA-E71A-7A0AB20C1C36}"/>
                  </a:ext>
                </a:extLst>
              </p:cNvPr>
              <p:cNvSpPr txBox="1">
                <a:spLocks noRot="1" noChangeAspect="1" noMove="1" noResize="1" noEditPoints="1" noAdjustHandles="1" noChangeArrowheads="1" noChangeShapeType="1" noTextEdit="1"/>
              </p:cNvSpPr>
              <p:nvPr/>
            </p:nvSpPr>
            <p:spPr>
              <a:xfrm>
                <a:off x="5879385" y="2717902"/>
                <a:ext cx="290401" cy="276999"/>
              </a:xfrm>
              <a:prstGeom prst="rect">
                <a:avLst/>
              </a:prstGeom>
              <a:blipFill>
                <a:blip r:embed="rId9"/>
                <a:stretch>
                  <a:fillRect l="-16667" r="-4167" b="-2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637B011-55A3-1302-09F5-50242B381D8A}"/>
                  </a:ext>
                </a:extLst>
              </p:cNvPr>
              <p:cNvSpPr txBox="1"/>
              <p:nvPr/>
            </p:nvSpPr>
            <p:spPr>
              <a:xfrm>
                <a:off x="7679723" y="2798089"/>
                <a:ext cx="2911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1</m:t>
                          </m:r>
                        </m:sub>
                      </m:sSub>
                    </m:oMath>
                  </m:oMathPara>
                </a14:m>
                <a:endParaRPr lang="en-US"/>
              </a:p>
            </p:txBody>
          </p:sp>
        </mc:Choice>
        <mc:Fallback xmlns="">
          <p:sp>
            <p:nvSpPr>
              <p:cNvPr id="10" name="TextBox 9">
                <a:extLst>
                  <a:ext uri="{FF2B5EF4-FFF2-40B4-BE49-F238E27FC236}">
                    <a16:creationId xmlns:a16="http://schemas.microsoft.com/office/drawing/2014/main" id="{5637B011-55A3-1302-09F5-50242B381D8A}"/>
                  </a:ext>
                </a:extLst>
              </p:cNvPr>
              <p:cNvSpPr txBox="1">
                <a:spLocks noRot="1" noChangeAspect="1" noMove="1" noResize="1" noEditPoints="1" noAdjustHandles="1" noChangeArrowheads="1" noChangeShapeType="1" noTextEdit="1"/>
              </p:cNvSpPr>
              <p:nvPr/>
            </p:nvSpPr>
            <p:spPr>
              <a:xfrm>
                <a:off x="7679723" y="2798089"/>
                <a:ext cx="291169" cy="276999"/>
              </a:xfrm>
              <a:prstGeom prst="rect">
                <a:avLst/>
              </a:prstGeom>
              <a:blipFill>
                <a:blip r:embed="rId10"/>
                <a:stretch>
                  <a:fillRect l="-16667" r="-4167" b="-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4FD7244-82F9-77DA-5658-955BE64E2CA8}"/>
                  </a:ext>
                </a:extLst>
              </p:cNvPr>
              <p:cNvSpPr txBox="1"/>
              <p:nvPr/>
            </p:nvSpPr>
            <p:spPr>
              <a:xfrm>
                <a:off x="7980684" y="2802990"/>
                <a:ext cx="29649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2</m:t>
                          </m:r>
                        </m:sub>
                      </m:sSub>
                    </m:oMath>
                  </m:oMathPara>
                </a14:m>
                <a:endParaRPr lang="en-US"/>
              </a:p>
            </p:txBody>
          </p:sp>
        </mc:Choice>
        <mc:Fallback xmlns="">
          <p:sp>
            <p:nvSpPr>
              <p:cNvPr id="11" name="TextBox 10">
                <a:extLst>
                  <a:ext uri="{FF2B5EF4-FFF2-40B4-BE49-F238E27FC236}">
                    <a16:creationId xmlns:a16="http://schemas.microsoft.com/office/drawing/2014/main" id="{94FD7244-82F9-77DA-5658-955BE64E2CA8}"/>
                  </a:ext>
                </a:extLst>
              </p:cNvPr>
              <p:cNvSpPr txBox="1">
                <a:spLocks noRot="1" noChangeAspect="1" noMove="1" noResize="1" noEditPoints="1" noAdjustHandles="1" noChangeArrowheads="1" noChangeShapeType="1" noTextEdit="1"/>
              </p:cNvSpPr>
              <p:nvPr/>
            </p:nvSpPr>
            <p:spPr>
              <a:xfrm>
                <a:off x="7980684" y="2802990"/>
                <a:ext cx="296491" cy="276999"/>
              </a:xfrm>
              <a:prstGeom prst="rect">
                <a:avLst/>
              </a:prstGeom>
              <a:blipFill>
                <a:blip r:embed="rId11"/>
                <a:stretch>
                  <a:fillRect l="-16667" r="-4167"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489929A-9B98-B081-4214-6BE8F60A9797}"/>
                  </a:ext>
                </a:extLst>
              </p:cNvPr>
              <p:cNvSpPr txBox="1"/>
              <p:nvPr/>
            </p:nvSpPr>
            <p:spPr>
              <a:xfrm>
                <a:off x="8261831" y="2819234"/>
                <a:ext cx="29649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3</m:t>
                          </m:r>
                        </m:sub>
                      </m:sSub>
                    </m:oMath>
                  </m:oMathPara>
                </a14:m>
                <a:endParaRPr lang="en-US"/>
              </a:p>
            </p:txBody>
          </p:sp>
        </mc:Choice>
        <mc:Fallback xmlns="">
          <p:sp>
            <p:nvSpPr>
              <p:cNvPr id="12" name="TextBox 11">
                <a:extLst>
                  <a:ext uri="{FF2B5EF4-FFF2-40B4-BE49-F238E27FC236}">
                    <a16:creationId xmlns:a16="http://schemas.microsoft.com/office/drawing/2014/main" id="{D489929A-9B98-B081-4214-6BE8F60A9797}"/>
                  </a:ext>
                </a:extLst>
              </p:cNvPr>
              <p:cNvSpPr txBox="1">
                <a:spLocks noRot="1" noChangeAspect="1" noMove="1" noResize="1" noEditPoints="1" noAdjustHandles="1" noChangeArrowheads="1" noChangeShapeType="1" noTextEdit="1"/>
              </p:cNvSpPr>
              <p:nvPr/>
            </p:nvSpPr>
            <p:spPr>
              <a:xfrm>
                <a:off x="8261831" y="2819234"/>
                <a:ext cx="296491" cy="276999"/>
              </a:xfrm>
              <a:prstGeom prst="rect">
                <a:avLst/>
              </a:prstGeom>
              <a:blipFill>
                <a:blip r:embed="rId12"/>
                <a:stretch>
                  <a:fillRect l="-16667" r="-4167"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1E46016-D264-530A-5761-ACDF0935A1C7}"/>
                  </a:ext>
                </a:extLst>
              </p:cNvPr>
              <p:cNvSpPr txBox="1"/>
              <p:nvPr/>
            </p:nvSpPr>
            <p:spPr>
              <a:xfrm>
                <a:off x="8575475" y="2798503"/>
                <a:ext cx="29649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4</m:t>
                          </m:r>
                        </m:sub>
                      </m:sSub>
                    </m:oMath>
                  </m:oMathPara>
                </a14:m>
                <a:endParaRPr lang="en-US"/>
              </a:p>
            </p:txBody>
          </p:sp>
        </mc:Choice>
        <mc:Fallback xmlns="">
          <p:sp>
            <p:nvSpPr>
              <p:cNvPr id="13" name="TextBox 12">
                <a:extLst>
                  <a:ext uri="{FF2B5EF4-FFF2-40B4-BE49-F238E27FC236}">
                    <a16:creationId xmlns:a16="http://schemas.microsoft.com/office/drawing/2014/main" id="{51E46016-D264-530A-5761-ACDF0935A1C7}"/>
                  </a:ext>
                </a:extLst>
              </p:cNvPr>
              <p:cNvSpPr txBox="1">
                <a:spLocks noRot="1" noChangeAspect="1" noMove="1" noResize="1" noEditPoints="1" noAdjustHandles="1" noChangeArrowheads="1" noChangeShapeType="1" noTextEdit="1"/>
              </p:cNvSpPr>
              <p:nvPr/>
            </p:nvSpPr>
            <p:spPr>
              <a:xfrm>
                <a:off x="8575475" y="2798503"/>
                <a:ext cx="296491" cy="276999"/>
              </a:xfrm>
              <a:prstGeom prst="rect">
                <a:avLst/>
              </a:prstGeom>
              <a:blipFill>
                <a:blip r:embed="rId13"/>
                <a:stretch>
                  <a:fillRect l="-16667" r="-4167"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993404F-AF0B-FB2A-CBC6-210DD7324A29}"/>
                  </a:ext>
                </a:extLst>
              </p:cNvPr>
              <p:cNvSpPr txBox="1"/>
              <p:nvPr/>
            </p:nvSpPr>
            <p:spPr>
              <a:xfrm>
                <a:off x="9399008" y="3075867"/>
                <a:ext cx="2911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1</m:t>
                          </m:r>
                        </m:sub>
                      </m:sSub>
                    </m:oMath>
                  </m:oMathPara>
                </a14:m>
                <a:endParaRPr lang="en-US"/>
              </a:p>
            </p:txBody>
          </p:sp>
        </mc:Choice>
        <mc:Fallback xmlns="">
          <p:sp>
            <p:nvSpPr>
              <p:cNvPr id="14" name="TextBox 13">
                <a:extLst>
                  <a:ext uri="{FF2B5EF4-FFF2-40B4-BE49-F238E27FC236}">
                    <a16:creationId xmlns:a16="http://schemas.microsoft.com/office/drawing/2014/main" id="{7993404F-AF0B-FB2A-CBC6-210DD7324A29}"/>
                  </a:ext>
                </a:extLst>
              </p:cNvPr>
              <p:cNvSpPr txBox="1">
                <a:spLocks noRot="1" noChangeAspect="1" noMove="1" noResize="1" noEditPoints="1" noAdjustHandles="1" noChangeArrowheads="1" noChangeShapeType="1" noTextEdit="1"/>
              </p:cNvSpPr>
              <p:nvPr/>
            </p:nvSpPr>
            <p:spPr>
              <a:xfrm>
                <a:off x="9399008" y="3075867"/>
                <a:ext cx="291169" cy="276999"/>
              </a:xfrm>
              <a:prstGeom prst="rect">
                <a:avLst/>
              </a:prstGeom>
              <a:blipFill>
                <a:blip r:embed="rId14"/>
                <a:stretch>
                  <a:fillRect l="-20833" r="-4167"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11641CF-A941-4D69-453E-430527DECD3D}"/>
                  </a:ext>
                </a:extLst>
              </p:cNvPr>
              <p:cNvSpPr txBox="1"/>
              <p:nvPr/>
            </p:nvSpPr>
            <p:spPr>
              <a:xfrm>
                <a:off x="9699969" y="3080768"/>
                <a:ext cx="29649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2</m:t>
                          </m:r>
                        </m:sub>
                      </m:sSub>
                    </m:oMath>
                  </m:oMathPara>
                </a14:m>
                <a:endParaRPr lang="en-US"/>
              </a:p>
            </p:txBody>
          </p:sp>
        </mc:Choice>
        <mc:Fallback xmlns="">
          <p:sp>
            <p:nvSpPr>
              <p:cNvPr id="15" name="TextBox 14">
                <a:extLst>
                  <a:ext uri="{FF2B5EF4-FFF2-40B4-BE49-F238E27FC236}">
                    <a16:creationId xmlns:a16="http://schemas.microsoft.com/office/drawing/2014/main" id="{911641CF-A941-4D69-453E-430527DECD3D}"/>
                  </a:ext>
                </a:extLst>
              </p:cNvPr>
              <p:cNvSpPr txBox="1">
                <a:spLocks noRot="1" noChangeAspect="1" noMove="1" noResize="1" noEditPoints="1" noAdjustHandles="1" noChangeArrowheads="1" noChangeShapeType="1" noTextEdit="1"/>
              </p:cNvSpPr>
              <p:nvPr/>
            </p:nvSpPr>
            <p:spPr>
              <a:xfrm>
                <a:off x="9699969" y="3080768"/>
                <a:ext cx="296491" cy="276999"/>
              </a:xfrm>
              <a:prstGeom prst="rect">
                <a:avLst/>
              </a:prstGeom>
              <a:blipFill>
                <a:blip r:embed="rId15"/>
                <a:stretch>
                  <a:fillRect l="-16000" r="-4000"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3F221C7-FCE0-A5EA-2363-7E00DDC86397}"/>
                  </a:ext>
                </a:extLst>
              </p:cNvPr>
              <p:cNvSpPr txBox="1"/>
              <p:nvPr/>
            </p:nvSpPr>
            <p:spPr>
              <a:xfrm>
                <a:off x="9981116" y="3097012"/>
                <a:ext cx="29649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3</m:t>
                          </m:r>
                        </m:sub>
                      </m:sSub>
                    </m:oMath>
                  </m:oMathPara>
                </a14:m>
                <a:endParaRPr lang="en-US"/>
              </a:p>
            </p:txBody>
          </p:sp>
        </mc:Choice>
        <mc:Fallback xmlns="">
          <p:sp>
            <p:nvSpPr>
              <p:cNvPr id="16" name="TextBox 15">
                <a:extLst>
                  <a:ext uri="{FF2B5EF4-FFF2-40B4-BE49-F238E27FC236}">
                    <a16:creationId xmlns:a16="http://schemas.microsoft.com/office/drawing/2014/main" id="{03F221C7-FCE0-A5EA-2363-7E00DDC86397}"/>
                  </a:ext>
                </a:extLst>
              </p:cNvPr>
              <p:cNvSpPr txBox="1">
                <a:spLocks noRot="1" noChangeAspect="1" noMove="1" noResize="1" noEditPoints="1" noAdjustHandles="1" noChangeArrowheads="1" noChangeShapeType="1" noTextEdit="1"/>
              </p:cNvSpPr>
              <p:nvPr/>
            </p:nvSpPr>
            <p:spPr>
              <a:xfrm>
                <a:off x="9981116" y="3097012"/>
                <a:ext cx="296491" cy="276999"/>
              </a:xfrm>
              <a:prstGeom prst="rect">
                <a:avLst/>
              </a:prstGeom>
              <a:blipFill>
                <a:blip r:embed="rId16"/>
                <a:stretch>
                  <a:fillRect l="-16000" r="-4000"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9FFF66C-2327-4505-9476-56FBD6A37F95}"/>
                  </a:ext>
                </a:extLst>
              </p:cNvPr>
              <p:cNvSpPr txBox="1"/>
              <p:nvPr/>
            </p:nvSpPr>
            <p:spPr>
              <a:xfrm>
                <a:off x="10294760" y="3076281"/>
                <a:ext cx="29649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4</m:t>
                          </m:r>
                        </m:sub>
                      </m:sSub>
                    </m:oMath>
                  </m:oMathPara>
                </a14:m>
                <a:endParaRPr lang="en-US"/>
              </a:p>
            </p:txBody>
          </p:sp>
        </mc:Choice>
        <mc:Fallback xmlns="">
          <p:sp>
            <p:nvSpPr>
              <p:cNvPr id="17" name="TextBox 16">
                <a:extLst>
                  <a:ext uri="{FF2B5EF4-FFF2-40B4-BE49-F238E27FC236}">
                    <a16:creationId xmlns:a16="http://schemas.microsoft.com/office/drawing/2014/main" id="{E9FFF66C-2327-4505-9476-56FBD6A37F95}"/>
                  </a:ext>
                </a:extLst>
              </p:cNvPr>
              <p:cNvSpPr txBox="1">
                <a:spLocks noRot="1" noChangeAspect="1" noMove="1" noResize="1" noEditPoints="1" noAdjustHandles="1" noChangeArrowheads="1" noChangeShapeType="1" noTextEdit="1"/>
              </p:cNvSpPr>
              <p:nvPr/>
            </p:nvSpPr>
            <p:spPr>
              <a:xfrm>
                <a:off x="10294760" y="3076281"/>
                <a:ext cx="296491" cy="276999"/>
              </a:xfrm>
              <a:prstGeom prst="rect">
                <a:avLst/>
              </a:prstGeom>
              <a:blipFill>
                <a:blip r:embed="rId17"/>
                <a:stretch>
                  <a:fillRect l="-16667" r="-4167" b="-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F48DDCF-6AFB-9E42-1ED7-E4F31E728AA8}"/>
                  </a:ext>
                </a:extLst>
              </p:cNvPr>
              <p:cNvSpPr txBox="1"/>
              <p:nvPr/>
            </p:nvSpPr>
            <p:spPr>
              <a:xfrm>
                <a:off x="10634542" y="1702692"/>
                <a:ext cx="28507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𝑞</m:t>
                          </m:r>
                        </m:e>
                        <m:sub>
                          <m:r>
                            <a:rPr lang="en-US" altLang="zh-CN" b="0" i="1" smtClean="0">
                              <a:latin typeface="Cambria Math" panose="02040503050406030204" pitchFamily="18" charset="0"/>
                            </a:rPr>
                            <m:t>1</m:t>
                          </m:r>
                        </m:sub>
                      </m:sSub>
                    </m:oMath>
                  </m:oMathPara>
                </a14:m>
                <a:endParaRPr lang="en-US"/>
              </a:p>
            </p:txBody>
          </p:sp>
        </mc:Choice>
        <mc:Fallback xmlns="">
          <p:sp>
            <p:nvSpPr>
              <p:cNvPr id="18" name="TextBox 17">
                <a:extLst>
                  <a:ext uri="{FF2B5EF4-FFF2-40B4-BE49-F238E27FC236}">
                    <a16:creationId xmlns:a16="http://schemas.microsoft.com/office/drawing/2014/main" id="{FF48DDCF-6AFB-9E42-1ED7-E4F31E728AA8}"/>
                  </a:ext>
                </a:extLst>
              </p:cNvPr>
              <p:cNvSpPr txBox="1">
                <a:spLocks noRot="1" noChangeAspect="1" noMove="1" noResize="1" noEditPoints="1" noAdjustHandles="1" noChangeArrowheads="1" noChangeShapeType="1" noTextEdit="1"/>
              </p:cNvSpPr>
              <p:nvPr/>
            </p:nvSpPr>
            <p:spPr>
              <a:xfrm>
                <a:off x="10634542" y="1702692"/>
                <a:ext cx="285078" cy="276999"/>
              </a:xfrm>
              <a:prstGeom prst="rect">
                <a:avLst/>
              </a:prstGeom>
              <a:blipFill>
                <a:blip r:embed="rId18"/>
                <a:stretch>
                  <a:fillRect l="-17391" r="-4348" b="-260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462DBE9-CC28-126F-4FA3-8D043EBD5477}"/>
                  </a:ext>
                </a:extLst>
              </p:cNvPr>
              <p:cNvSpPr txBox="1"/>
              <p:nvPr/>
            </p:nvSpPr>
            <p:spPr>
              <a:xfrm>
                <a:off x="10640638" y="2014102"/>
                <a:ext cx="29040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𝑞</m:t>
                          </m:r>
                        </m:e>
                        <m:sub>
                          <m:r>
                            <a:rPr lang="en-US" altLang="zh-CN" b="0" i="1" smtClean="0">
                              <a:latin typeface="Cambria Math" panose="02040503050406030204" pitchFamily="18" charset="0"/>
                            </a:rPr>
                            <m:t>2</m:t>
                          </m:r>
                        </m:sub>
                      </m:sSub>
                    </m:oMath>
                  </m:oMathPara>
                </a14:m>
                <a:endParaRPr lang="en-US"/>
              </a:p>
            </p:txBody>
          </p:sp>
        </mc:Choice>
        <mc:Fallback xmlns="">
          <p:sp>
            <p:nvSpPr>
              <p:cNvPr id="19" name="TextBox 18">
                <a:extLst>
                  <a:ext uri="{FF2B5EF4-FFF2-40B4-BE49-F238E27FC236}">
                    <a16:creationId xmlns:a16="http://schemas.microsoft.com/office/drawing/2014/main" id="{2462DBE9-CC28-126F-4FA3-8D043EBD5477}"/>
                  </a:ext>
                </a:extLst>
              </p:cNvPr>
              <p:cNvSpPr txBox="1">
                <a:spLocks noRot="1" noChangeAspect="1" noMove="1" noResize="1" noEditPoints="1" noAdjustHandles="1" noChangeArrowheads="1" noChangeShapeType="1" noTextEdit="1"/>
              </p:cNvSpPr>
              <p:nvPr/>
            </p:nvSpPr>
            <p:spPr>
              <a:xfrm>
                <a:off x="10640638" y="2014102"/>
                <a:ext cx="290401" cy="276999"/>
              </a:xfrm>
              <a:prstGeom prst="rect">
                <a:avLst/>
              </a:prstGeom>
              <a:blipFill>
                <a:blip r:embed="rId19"/>
                <a:stretch>
                  <a:fillRect l="-21739" r="-4348" b="-260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AA011A1-867D-5E2E-A323-C58DD5BC9466}"/>
                  </a:ext>
                </a:extLst>
              </p:cNvPr>
              <p:cNvSpPr txBox="1"/>
              <p:nvPr/>
            </p:nvSpPr>
            <p:spPr>
              <a:xfrm>
                <a:off x="10637590" y="2319099"/>
                <a:ext cx="29040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𝑞</m:t>
                          </m:r>
                        </m:e>
                        <m:sub>
                          <m:r>
                            <a:rPr lang="en-US" altLang="zh-CN" b="0" i="1" smtClean="0">
                              <a:latin typeface="Cambria Math" panose="02040503050406030204" pitchFamily="18" charset="0"/>
                            </a:rPr>
                            <m:t>3</m:t>
                          </m:r>
                        </m:sub>
                      </m:sSub>
                    </m:oMath>
                  </m:oMathPara>
                </a14:m>
                <a:endParaRPr lang="en-US"/>
              </a:p>
            </p:txBody>
          </p:sp>
        </mc:Choice>
        <mc:Fallback xmlns="">
          <p:sp>
            <p:nvSpPr>
              <p:cNvPr id="20" name="TextBox 19">
                <a:extLst>
                  <a:ext uri="{FF2B5EF4-FFF2-40B4-BE49-F238E27FC236}">
                    <a16:creationId xmlns:a16="http://schemas.microsoft.com/office/drawing/2014/main" id="{FAA011A1-867D-5E2E-A323-C58DD5BC9466}"/>
                  </a:ext>
                </a:extLst>
              </p:cNvPr>
              <p:cNvSpPr txBox="1">
                <a:spLocks noRot="1" noChangeAspect="1" noMove="1" noResize="1" noEditPoints="1" noAdjustHandles="1" noChangeArrowheads="1" noChangeShapeType="1" noTextEdit="1"/>
              </p:cNvSpPr>
              <p:nvPr/>
            </p:nvSpPr>
            <p:spPr>
              <a:xfrm>
                <a:off x="10637590" y="2319099"/>
                <a:ext cx="290401" cy="276999"/>
              </a:xfrm>
              <a:prstGeom prst="rect">
                <a:avLst/>
              </a:prstGeom>
              <a:blipFill>
                <a:blip r:embed="rId20"/>
                <a:stretch>
                  <a:fillRect l="-16667" r="-4167" b="-260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B3BA006-CBC5-0C0E-A0C3-191586E9C18F}"/>
                  </a:ext>
                </a:extLst>
              </p:cNvPr>
              <p:cNvSpPr txBox="1"/>
              <p:nvPr/>
            </p:nvSpPr>
            <p:spPr>
              <a:xfrm>
                <a:off x="10625398" y="2660671"/>
                <a:ext cx="29040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𝑞</m:t>
                          </m:r>
                        </m:e>
                        <m:sub>
                          <m:r>
                            <a:rPr lang="en-US" altLang="zh-CN" b="0" i="1" smtClean="0">
                              <a:latin typeface="Cambria Math" panose="02040503050406030204" pitchFamily="18" charset="0"/>
                            </a:rPr>
                            <m:t>4</m:t>
                          </m:r>
                        </m:sub>
                      </m:sSub>
                    </m:oMath>
                  </m:oMathPara>
                </a14:m>
                <a:endParaRPr lang="en-US"/>
              </a:p>
            </p:txBody>
          </p:sp>
        </mc:Choice>
        <mc:Fallback xmlns="">
          <p:sp>
            <p:nvSpPr>
              <p:cNvPr id="21" name="TextBox 20">
                <a:extLst>
                  <a:ext uri="{FF2B5EF4-FFF2-40B4-BE49-F238E27FC236}">
                    <a16:creationId xmlns:a16="http://schemas.microsoft.com/office/drawing/2014/main" id="{AB3BA006-CBC5-0C0E-A0C3-191586E9C18F}"/>
                  </a:ext>
                </a:extLst>
              </p:cNvPr>
              <p:cNvSpPr txBox="1">
                <a:spLocks noRot="1" noChangeAspect="1" noMove="1" noResize="1" noEditPoints="1" noAdjustHandles="1" noChangeArrowheads="1" noChangeShapeType="1" noTextEdit="1"/>
              </p:cNvSpPr>
              <p:nvPr/>
            </p:nvSpPr>
            <p:spPr>
              <a:xfrm>
                <a:off x="10625398" y="2660671"/>
                <a:ext cx="290401" cy="276999"/>
              </a:xfrm>
              <a:prstGeom prst="rect">
                <a:avLst/>
              </a:prstGeom>
              <a:blipFill>
                <a:blip r:embed="rId21"/>
                <a:stretch>
                  <a:fillRect l="-16667" r="-4167" b="-260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6064CAA-2C16-E194-44FE-D03E379D28ED}"/>
                  </a:ext>
                </a:extLst>
              </p:cNvPr>
              <p:cNvSpPr txBox="1"/>
              <p:nvPr/>
            </p:nvSpPr>
            <p:spPr>
              <a:xfrm>
                <a:off x="11213362" y="1702692"/>
                <a:ext cx="28571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oMath>
                  </m:oMathPara>
                </a14:m>
                <a:endParaRPr lang="en-US"/>
              </a:p>
            </p:txBody>
          </p:sp>
        </mc:Choice>
        <mc:Fallback xmlns="">
          <p:sp>
            <p:nvSpPr>
              <p:cNvPr id="22" name="TextBox 21">
                <a:extLst>
                  <a:ext uri="{FF2B5EF4-FFF2-40B4-BE49-F238E27FC236}">
                    <a16:creationId xmlns:a16="http://schemas.microsoft.com/office/drawing/2014/main" id="{B6064CAA-2C16-E194-44FE-D03E379D28ED}"/>
                  </a:ext>
                </a:extLst>
              </p:cNvPr>
              <p:cNvSpPr txBox="1">
                <a:spLocks noRot="1" noChangeAspect="1" noMove="1" noResize="1" noEditPoints="1" noAdjustHandles="1" noChangeArrowheads="1" noChangeShapeType="1" noTextEdit="1"/>
              </p:cNvSpPr>
              <p:nvPr/>
            </p:nvSpPr>
            <p:spPr>
              <a:xfrm>
                <a:off x="11213362" y="1702692"/>
                <a:ext cx="285719" cy="276999"/>
              </a:xfrm>
              <a:prstGeom prst="rect">
                <a:avLst/>
              </a:prstGeom>
              <a:blipFill>
                <a:blip r:embed="rId22"/>
                <a:stretch>
                  <a:fillRect l="-8333" r="-4167"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9D7C7D9-A0E9-E86F-448C-73C7F3E5D199}"/>
                  </a:ext>
                </a:extLst>
              </p:cNvPr>
              <p:cNvSpPr txBox="1"/>
              <p:nvPr/>
            </p:nvSpPr>
            <p:spPr>
              <a:xfrm>
                <a:off x="11219458" y="2014102"/>
                <a:ext cx="29104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oMath>
                  </m:oMathPara>
                </a14:m>
                <a:endParaRPr lang="en-US"/>
              </a:p>
            </p:txBody>
          </p:sp>
        </mc:Choice>
        <mc:Fallback xmlns="">
          <p:sp>
            <p:nvSpPr>
              <p:cNvPr id="23" name="TextBox 22">
                <a:extLst>
                  <a:ext uri="{FF2B5EF4-FFF2-40B4-BE49-F238E27FC236}">
                    <a16:creationId xmlns:a16="http://schemas.microsoft.com/office/drawing/2014/main" id="{59D7C7D9-A0E9-E86F-448C-73C7F3E5D199}"/>
                  </a:ext>
                </a:extLst>
              </p:cNvPr>
              <p:cNvSpPr txBox="1">
                <a:spLocks noRot="1" noChangeAspect="1" noMove="1" noResize="1" noEditPoints="1" noAdjustHandles="1" noChangeArrowheads="1" noChangeShapeType="1" noTextEdit="1"/>
              </p:cNvSpPr>
              <p:nvPr/>
            </p:nvSpPr>
            <p:spPr>
              <a:xfrm>
                <a:off x="11219458" y="2014102"/>
                <a:ext cx="291042" cy="276999"/>
              </a:xfrm>
              <a:prstGeom prst="rect">
                <a:avLst/>
              </a:prstGeom>
              <a:blipFill>
                <a:blip r:embed="rId23"/>
                <a:stretch>
                  <a:fillRect l="-8333" r="-4167"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6E1F2774-C1F2-6F59-31D4-858A056CB257}"/>
                  </a:ext>
                </a:extLst>
              </p:cNvPr>
              <p:cNvSpPr txBox="1"/>
              <p:nvPr/>
            </p:nvSpPr>
            <p:spPr>
              <a:xfrm>
                <a:off x="11216410" y="2319099"/>
                <a:ext cx="29104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3</m:t>
                          </m:r>
                        </m:sub>
                      </m:sSub>
                    </m:oMath>
                  </m:oMathPara>
                </a14:m>
                <a:endParaRPr lang="en-US"/>
              </a:p>
            </p:txBody>
          </p:sp>
        </mc:Choice>
        <mc:Fallback xmlns="">
          <p:sp>
            <p:nvSpPr>
              <p:cNvPr id="24" name="TextBox 23">
                <a:extLst>
                  <a:ext uri="{FF2B5EF4-FFF2-40B4-BE49-F238E27FC236}">
                    <a16:creationId xmlns:a16="http://schemas.microsoft.com/office/drawing/2014/main" id="{6E1F2774-C1F2-6F59-31D4-858A056CB257}"/>
                  </a:ext>
                </a:extLst>
              </p:cNvPr>
              <p:cNvSpPr txBox="1">
                <a:spLocks noRot="1" noChangeAspect="1" noMove="1" noResize="1" noEditPoints="1" noAdjustHandles="1" noChangeArrowheads="1" noChangeShapeType="1" noTextEdit="1"/>
              </p:cNvSpPr>
              <p:nvPr/>
            </p:nvSpPr>
            <p:spPr>
              <a:xfrm>
                <a:off x="11216410" y="2319099"/>
                <a:ext cx="291042" cy="276999"/>
              </a:xfrm>
              <a:prstGeom prst="rect">
                <a:avLst/>
              </a:prstGeom>
              <a:blipFill>
                <a:blip r:embed="rId24"/>
                <a:stretch>
                  <a:fillRect l="-12500" r="-4167"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B6843235-A465-41AB-4CE2-EE6F94AD5515}"/>
                  </a:ext>
                </a:extLst>
              </p:cNvPr>
              <p:cNvSpPr txBox="1"/>
              <p:nvPr/>
            </p:nvSpPr>
            <p:spPr>
              <a:xfrm>
                <a:off x="11204218" y="2660671"/>
                <a:ext cx="29104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4</m:t>
                          </m:r>
                        </m:sub>
                      </m:sSub>
                    </m:oMath>
                  </m:oMathPara>
                </a14:m>
                <a:endParaRPr lang="en-US"/>
              </a:p>
            </p:txBody>
          </p:sp>
        </mc:Choice>
        <mc:Fallback xmlns="">
          <p:sp>
            <p:nvSpPr>
              <p:cNvPr id="25" name="TextBox 24">
                <a:extLst>
                  <a:ext uri="{FF2B5EF4-FFF2-40B4-BE49-F238E27FC236}">
                    <a16:creationId xmlns:a16="http://schemas.microsoft.com/office/drawing/2014/main" id="{B6843235-A465-41AB-4CE2-EE6F94AD5515}"/>
                  </a:ext>
                </a:extLst>
              </p:cNvPr>
              <p:cNvSpPr txBox="1">
                <a:spLocks noRot="1" noChangeAspect="1" noMove="1" noResize="1" noEditPoints="1" noAdjustHandles="1" noChangeArrowheads="1" noChangeShapeType="1" noTextEdit="1"/>
              </p:cNvSpPr>
              <p:nvPr/>
            </p:nvSpPr>
            <p:spPr>
              <a:xfrm>
                <a:off x="11204218" y="2660671"/>
                <a:ext cx="291042" cy="276999"/>
              </a:xfrm>
              <a:prstGeom prst="rect">
                <a:avLst/>
              </a:prstGeom>
              <a:blipFill>
                <a:blip r:embed="rId25"/>
                <a:stretch>
                  <a:fillRect l="-12500" r="-4167"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03BFC8A4-7C95-A812-7E56-D3339A211A3F}"/>
                  </a:ext>
                </a:extLst>
              </p:cNvPr>
              <p:cNvSpPr txBox="1"/>
              <p:nvPr/>
            </p:nvSpPr>
            <p:spPr>
              <a:xfrm>
                <a:off x="9393730" y="3487389"/>
                <a:ext cx="28571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oMath>
                  </m:oMathPara>
                </a14:m>
                <a:endParaRPr lang="en-US"/>
              </a:p>
            </p:txBody>
          </p:sp>
        </mc:Choice>
        <mc:Fallback xmlns="">
          <p:sp>
            <p:nvSpPr>
              <p:cNvPr id="26" name="TextBox 25">
                <a:extLst>
                  <a:ext uri="{FF2B5EF4-FFF2-40B4-BE49-F238E27FC236}">
                    <a16:creationId xmlns:a16="http://schemas.microsoft.com/office/drawing/2014/main" id="{03BFC8A4-7C95-A812-7E56-D3339A211A3F}"/>
                  </a:ext>
                </a:extLst>
              </p:cNvPr>
              <p:cNvSpPr txBox="1">
                <a:spLocks noRot="1" noChangeAspect="1" noMove="1" noResize="1" noEditPoints="1" noAdjustHandles="1" noChangeArrowheads="1" noChangeShapeType="1" noTextEdit="1"/>
              </p:cNvSpPr>
              <p:nvPr/>
            </p:nvSpPr>
            <p:spPr>
              <a:xfrm>
                <a:off x="9393730" y="3487389"/>
                <a:ext cx="285719" cy="276999"/>
              </a:xfrm>
              <a:prstGeom prst="rect">
                <a:avLst/>
              </a:prstGeom>
              <a:blipFill>
                <a:blip r:embed="rId26"/>
                <a:stretch>
                  <a:fillRect l="-8333" r="-4167"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774E618B-B110-B3FD-6865-2AEB48B5F034}"/>
                  </a:ext>
                </a:extLst>
              </p:cNvPr>
              <p:cNvSpPr txBox="1"/>
              <p:nvPr/>
            </p:nvSpPr>
            <p:spPr>
              <a:xfrm>
                <a:off x="9694691" y="3492290"/>
                <a:ext cx="29104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oMath>
                  </m:oMathPara>
                </a14:m>
                <a:endParaRPr lang="en-US"/>
              </a:p>
            </p:txBody>
          </p:sp>
        </mc:Choice>
        <mc:Fallback xmlns="">
          <p:sp>
            <p:nvSpPr>
              <p:cNvPr id="27" name="TextBox 26">
                <a:extLst>
                  <a:ext uri="{FF2B5EF4-FFF2-40B4-BE49-F238E27FC236}">
                    <a16:creationId xmlns:a16="http://schemas.microsoft.com/office/drawing/2014/main" id="{774E618B-B110-B3FD-6865-2AEB48B5F034}"/>
                  </a:ext>
                </a:extLst>
              </p:cNvPr>
              <p:cNvSpPr txBox="1">
                <a:spLocks noRot="1" noChangeAspect="1" noMove="1" noResize="1" noEditPoints="1" noAdjustHandles="1" noChangeArrowheads="1" noChangeShapeType="1" noTextEdit="1"/>
              </p:cNvSpPr>
              <p:nvPr/>
            </p:nvSpPr>
            <p:spPr>
              <a:xfrm>
                <a:off x="9694691" y="3492290"/>
                <a:ext cx="291042" cy="276999"/>
              </a:xfrm>
              <a:prstGeom prst="rect">
                <a:avLst/>
              </a:prstGeom>
              <a:blipFill>
                <a:blip r:embed="rId27"/>
                <a:stretch>
                  <a:fillRect l="-8333" r="-4167"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C7D02679-ED78-73A8-078D-4A24BAD498F2}"/>
                  </a:ext>
                </a:extLst>
              </p:cNvPr>
              <p:cNvSpPr txBox="1"/>
              <p:nvPr/>
            </p:nvSpPr>
            <p:spPr>
              <a:xfrm>
                <a:off x="9975838" y="3508534"/>
                <a:ext cx="29104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3</m:t>
                          </m:r>
                        </m:sub>
                      </m:sSub>
                    </m:oMath>
                  </m:oMathPara>
                </a14:m>
                <a:endParaRPr lang="en-US"/>
              </a:p>
            </p:txBody>
          </p:sp>
        </mc:Choice>
        <mc:Fallback xmlns="">
          <p:sp>
            <p:nvSpPr>
              <p:cNvPr id="28" name="TextBox 27">
                <a:extLst>
                  <a:ext uri="{FF2B5EF4-FFF2-40B4-BE49-F238E27FC236}">
                    <a16:creationId xmlns:a16="http://schemas.microsoft.com/office/drawing/2014/main" id="{C7D02679-ED78-73A8-078D-4A24BAD498F2}"/>
                  </a:ext>
                </a:extLst>
              </p:cNvPr>
              <p:cNvSpPr txBox="1">
                <a:spLocks noRot="1" noChangeAspect="1" noMove="1" noResize="1" noEditPoints="1" noAdjustHandles="1" noChangeArrowheads="1" noChangeShapeType="1" noTextEdit="1"/>
              </p:cNvSpPr>
              <p:nvPr/>
            </p:nvSpPr>
            <p:spPr>
              <a:xfrm>
                <a:off x="9975838" y="3508534"/>
                <a:ext cx="291042" cy="276999"/>
              </a:xfrm>
              <a:prstGeom prst="rect">
                <a:avLst/>
              </a:prstGeom>
              <a:blipFill>
                <a:blip r:embed="rId28"/>
                <a:stretch>
                  <a:fillRect l="-8333" r="-4167" b="-86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291EF12-5C2C-58BD-3A63-DC0978F09D9A}"/>
                  </a:ext>
                </a:extLst>
              </p:cNvPr>
              <p:cNvSpPr txBox="1"/>
              <p:nvPr/>
            </p:nvSpPr>
            <p:spPr>
              <a:xfrm>
                <a:off x="10289482" y="3487803"/>
                <a:ext cx="29104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4</m:t>
                          </m:r>
                        </m:sub>
                      </m:sSub>
                    </m:oMath>
                  </m:oMathPara>
                </a14:m>
                <a:endParaRPr lang="en-US"/>
              </a:p>
            </p:txBody>
          </p:sp>
        </mc:Choice>
        <mc:Fallback xmlns="">
          <p:sp>
            <p:nvSpPr>
              <p:cNvPr id="29" name="TextBox 28">
                <a:extLst>
                  <a:ext uri="{FF2B5EF4-FFF2-40B4-BE49-F238E27FC236}">
                    <a16:creationId xmlns:a16="http://schemas.microsoft.com/office/drawing/2014/main" id="{2291EF12-5C2C-58BD-3A63-DC0978F09D9A}"/>
                  </a:ext>
                </a:extLst>
              </p:cNvPr>
              <p:cNvSpPr txBox="1">
                <a:spLocks noRot="1" noChangeAspect="1" noMove="1" noResize="1" noEditPoints="1" noAdjustHandles="1" noChangeArrowheads="1" noChangeShapeType="1" noTextEdit="1"/>
              </p:cNvSpPr>
              <p:nvPr/>
            </p:nvSpPr>
            <p:spPr>
              <a:xfrm>
                <a:off x="10289482" y="3487803"/>
                <a:ext cx="291042" cy="276999"/>
              </a:xfrm>
              <a:prstGeom prst="rect">
                <a:avLst/>
              </a:prstGeom>
              <a:blipFill>
                <a:blip r:embed="rId29"/>
                <a:stretch>
                  <a:fillRect l="-12500" r="-4167" b="-13043"/>
                </a:stretch>
              </a:blipFill>
            </p:spPr>
            <p:txBody>
              <a:bodyPr/>
              <a:lstStyle/>
              <a:p>
                <a:r>
                  <a:rPr lang="en-US">
                    <a:noFill/>
                  </a:rPr>
                  <a:t> </a:t>
                </a:r>
              </a:p>
            </p:txBody>
          </p:sp>
        </mc:Fallback>
      </mc:AlternateContent>
      <p:grpSp>
        <p:nvGrpSpPr>
          <p:cNvPr id="35" name="Group 34">
            <a:extLst>
              <a:ext uri="{FF2B5EF4-FFF2-40B4-BE49-F238E27FC236}">
                <a16:creationId xmlns:a16="http://schemas.microsoft.com/office/drawing/2014/main" id="{6E47A036-7D33-097D-9365-3203FBDD6237}"/>
              </a:ext>
            </a:extLst>
          </p:cNvPr>
          <p:cNvGrpSpPr/>
          <p:nvPr/>
        </p:nvGrpSpPr>
        <p:grpSpPr>
          <a:xfrm>
            <a:off x="0" y="-1589"/>
            <a:ext cx="12191999" cy="768585"/>
            <a:chOff x="0" y="-1589"/>
            <a:chExt cx="12191999" cy="768585"/>
          </a:xfrm>
        </p:grpSpPr>
        <p:grpSp>
          <p:nvGrpSpPr>
            <p:cNvPr id="36" name="Group 9">
              <a:extLst>
                <a:ext uri="{FF2B5EF4-FFF2-40B4-BE49-F238E27FC236}">
                  <a16:creationId xmlns:a16="http://schemas.microsoft.com/office/drawing/2014/main" id="{879A77F0-6B1A-074C-C8C5-37E38EB09F2E}"/>
                </a:ext>
              </a:extLst>
            </p:cNvPr>
            <p:cNvGrpSpPr>
              <a:grpSpLocks noChangeAspect="1"/>
            </p:cNvGrpSpPr>
            <p:nvPr/>
          </p:nvGrpSpPr>
          <p:grpSpPr bwMode="auto">
            <a:xfrm>
              <a:off x="0" y="-1589"/>
              <a:ext cx="12191999" cy="767234"/>
              <a:chOff x="-1" y="-1"/>
              <a:chExt cx="7719" cy="568"/>
            </a:xfrm>
          </p:grpSpPr>
          <p:sp>
            <p:nvSpPr>
              <p:cNvPr id="39" name="Freeform 38">
                <a:extLst>
                  <a:ext uri="{FF2B5EF4-FFF2-40B4-BE49-F238E27FC236}">
                    <a16:creationId xmlns:a16="http://schemas.microsoft.com/office/drawing/2014/main" id="{768486A6-17F5-359A-A48C-E780A9D0D719}"/>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40" name="AutoShape 8">
                <a:extLst>
                  <a:ext uri="{FF2B5EF4-FFF2-40B4-BE49-F238E27FC236}">
                    <a16:creationId xmlns:a16="http://schemas.microsoft.com/office/drawing/2014/main" id="{18B47194-2FAC-A0C5-A562-1F4C52D741A2}"/>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37" name="任意多边形: 形状 12">
              <a:extLst>
                <a:ext uri="{FF2B5EF4-FFF2-40B4-BE49-F238E27FC236}">
                  <a16:creationId xmlns:a16="http://schemas.microsoft.com/office/drawing/2014/main" id="{64E23DC8-9FA7-DA43-201B-C29B8773C276}"/>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38" name="文本框 18">
              <a:extLst>
                <a:ext uri="{FF2B5EF4-FFF2-40B4-BE49-F238E27FC236}">
                  <a16:creationId xmlns:a16="http://schemas.microsoft.com/office/drawing/2014/main" id="{9694B4C3-E0CC-7D5D-AFD8-6261A9CB1B4E}"/>
                </a:ext>
              </a:extLst>
            </p:cNvPr>
            <p:cNvSpPr txBox="1"/>
            <p:nvPr/>
          </p:nvSpPr>
          <p:spPr>
            <a:xfrm>
              <a:off x="350439" y="120418"/>
              <a:ext cx="1620957" cy="523220"/>
            </a:xfrm>
            <a:prstGeom prst="rect">
              <a:avLst/>
            </a:prstGeom>
            <a:noFill/>
          </p:spPr>
          <p:txBody>
            <a:bodyPr wrap="none" rtlCol="0">
              <a:spAutoFit/>
            </a:bodyPr>
            <a:lstStyle/>
            <a:p>
              <a:pPr>
                <a:defRPr/>
              </a:pPr>
              <a:r>
                <a:rPr lang="zh-CN" altLang="en-US" sz="2800" b="1">
                  <a:solidFill>
                    <a:prstClr val="white"/>
                  </a:solidFill>
                  <a:cs typeface="+mn-ea"/>
                  <a:sym typeface="+mn-lt"/>
                </a:rPr>
                <a:t>自注意力</a:t>
              </a:r>
            </a:p>
          </p:txBody>
        </p:sp>
      </p:grpSp>
      <p:grpSp>
        <p:nvGrpSpPr>
          <p:cNvPr id="2" name="Group 1">
            <a:extLst>
              <a:ext uri="{FF2B5EF4-FFF2-40B4-BE49-F238E27FC236}">
                <a16:creationId xmlns:a16="http://schemas.microsoft.com/office/drawing/2014/main" id="{48411AA9-57CD-CC8E-9F85-AF88B2C5E68C}"/>
              </a:ext>
            </a:extLst>
          </p:cNvPr>
          <p:cNvGrpSpPr/>
          <p:nvPr/>
        </p:nvGrpSpPr>
        <p:grpSpPr>
          <a:xfrm>
            <a:off x="6227585" y="1871227"/>
            <a:ext cx="759183" cy="1085005"/>
            <a:chOff x="6843089" y="2727932"/>
            <a:chExt cx="1664221" cy="2378463"/>
          </a:xfrm>
          <a:solidFill>
            <a:schemeClr val="accent2">
              <a:lumMod val="40000"/>
              <a:lumOff val="60000"/>
            </a:schemeClr>
          </a:solidFill>
          <a:effectLst>
            <a:outerShdw blurRad="50800" dist="38100" dir="2700000" algn="tl" rotWithShape="0">
              <a:prstClr val="black">
                <a:alpha val="40000"/>
              </a:prstClr>
            </a:outerShdw>
          </a:effectLst>
        </p:grpSpPr>
        <p:sp>
          <p:nvSpPr>
            <p:cNvPr id="5" name="Rectangle 4">
              <a:extLst>
                <a:ext uri="{FF2B5EF4-FFF2-40B4-BE49-F238E27FC236}">
                  <a16:creationId xmlns:a16="http://schemas.microsoft.com/office/drawing/2014/main" id="{88813C9E-FC26-DC97-B401-A4C78F5EBED5}"/>
                </a:ext>
              </a:extLst>
            </p:cNvPr>
            <p:cNvSpPr/>
            <p:nvPr/>
          </p:nvSpPr>
          <p:spPr>
            <a:xfrm rot="16200000">
              <a:off x="6843089" y="4603535"/>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C96B6F4C-1107-6C6F-A0AB-1418326527BB}"/>
                </a:ext>
              </a:extLst>
            </p:cNvPr>
            <p:cNvSpPr/>
            <p:nvPr/>
          </p:nvSpPr>
          <p:spPr>
            <a:xfrm rot="16200000">
              <a:off x="6843089" y="3978334"/>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1398BA5-7040-FEA5-4D7E-6942CF6AD8FB}"/>
                </a:ext>
              </a:extLst>
            </p:cNvPr>
            <p:cNvSpPr/>
            <p:nvPr/>
          </p:nvSpPr>
          <p:spPr>
            <a:xfrm rot="16200000">
              <a:off x="6843089" y="3353133"/>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442145EE-E58C-14F6-F553-EF269AD9840E}"/>
                </a:ext>
              </a:extLst>
            </p:cNvPr>
            <p:cNvSpPr/>
            <p:nvPr/>
          </p:nvSpPr>
          <p:spPr>
            <a:xfrm rot="16200000">
              <a:off x="6843089"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E39393E2-FF0B-3D4C-4147-D4E560ACCDD7}"/>
                </a:ext>
              </a:extLst>
            </p:cNvPr>
            <p:cNvSpPr/>
            <p:nvPr/>
          </p:nvSpPr>
          <p:spPr>
            <a:xfrm rot="16200000">
              <a:off x="7423770" y="4603535"/>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5E1A22B6-4C11-B925-7588-4C30E00F4047}"/>
                </a:ext>
              </a:extLst>
            </p:cNvPr>
            <p:cNvSpPr/>
            <p:nvPr/>
          </p:nvSpPr>
          <p:spPr>
            <a:xfrm rot="16200000">
              <a:off x="7423770" y="3978334"/>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AE3E9C5A-00FF-F074-9FD0-FAA46D53274B}"/>
                </a:ext>
              </a:extLst>
            </p:cNvPr>
            <p:cNvSpPr/>
            <p:nvPr/>
          </p:nvSpPr>
          <p:spPr>
            <a:xfrm rot="16200000">
              <a:off x="7423770" y="3353133"/>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F675B97E-5657-0576-2C4D-7CD8037A6870}"/>
                </a:ext>
              </a:extLst>
            </p:cNvPr>
            <p:cNvSpPr/>
            <p:nvPr/>
          </p:nvSpPr>
          <p:spPr>
            <a:xfrm rot="16200000">
              <a:off x="7423770"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7EC35E87-2A92-F4C9-620A-65B3DD43D471}"/>
                </a:ext>
              </a:extLst>
            </p:cNvPr>
            <p:cNvSpPr/>
            <p:nvPr/>
          </p:nvSpPr>
          <p:spPr>
            <a:xfrm rot="16200000">
              <a:off x="8004450" y="4603535"/>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2B4FCF4B-4EC2-1F71-E718-04A0E8E30FEF}"/>
                </a:ext>
              </a:extLst>
            </p:cNvPr>
            <p:cNvSpPr/>
            <p:nvPr/>
          </p:nvSpPr>
          <p:spPr>
            <a:xfrm rot="16200000">
              <a:off x="8004450" y="3978334"/>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EEDE267B-F1B6-BFBF-104C-B545FC389029}"/>
                </a:ext>
              </a:extLst>
            </p:cNvPr>
            <p:cNvSpPr/>
            <p:nvPr/>
          </p:nvSpPr>
          <p:spPr>
            <a:xfrm rot="16200000">
              <a:off x="8004450" y="3353133"/>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AB60568F-174E-C97F-D243-D0A6B2EF92DE}"/>
                </a:ext>
              </a:extLst>
            </p:cNvPr>
            <p:cNvSpPr/>
            <p:nvPr/>
          </p:nvSpPr>
          <p:spPr>
            <a:xfrm rot="16200000">
              <a:off x="8004450"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 name="Group 46">
            <a:extLst>
              <a:ext uri="{FF2B5EF4-FFF2-40B4-BE49-F238E27FC236}">
                <a16:creationId xmlns:a16="http://schemas.microsoft.com/office/drawing/2014/main" id="{A5F05FF5-80C1-1211-CEA8-CB6F33C4EC0A}"/>
              </a:ext>
            </a:extLst>
          </p:cNvPr>
          <p:cNvGrpSpPr/>
          <p:nvPr/>
        </p:nvGrpSpPr>
        <p:grpSpPr>
          <a:xfrm rot="5400000">
            <a:off x="7781479" y="1837019"/>
            <a:ext cx="759183" cy="1085005"/>
            <a:chOff x="6843089" y="2727932"/>
            <a:chExt cx="1664221" cy="2378463"/>
          </a:xfrm>
          <a:solidFill>
            <a:schemeClr val="accent4">
              <a:lumMod val="40000"/>
              <a:lumOff val="60000"/>
            </a:schemeClr>
          </a:solidFill>
          <a:effectLst>
            <a:outerShdw blurRad="50800" dist="38100" dir="2700000" algn="tl" rotWithShape="0">
              <a:prstClr val="black">
                <a:alpha val="40000"/>
              </a:prstClr>
            </a:outerShdw>
          </a:effectLst>
        </p:grpSpPr>
        <p:sp>
          <p:nvSpPr>
            <p:cNvPr id="48" name="Rectangle 47">
              <a:extLst>
                <a:ext uri="{FF2B5EF4-FFF2-40B4-BE49-F238E27FC236}">
                  <a16:creationId xmlns:a16="http://schemas.microsoft.com/office/drawing/2014/main" id="{98BB3989-802A-7266-CF4C-031618F436A0}"/>
                </a:ext>
              </a:extLst>
            </p:cNvPr>
            <p:cNvSpPr/>
            <p:nvPr/>
          </p:nvSpPr>
          <p:spPr>
            <a:xfrm rot="16200000">
              <a:off x="6843089" y="4603535"/>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0DA83517-FD0A-F4DF-F73D-E47E400664A9}"/>
                </a:ext>
              </a:extLst>
            </p:cNvPr>
            <p:cNvSpPr/>
            <p:nvPr/>
          </p:nvSpPr>
          <p:spPr>
            <a:xfrm rot="16200000">
              <a:off x="6843089" y="3978334"/>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460B282A-713B-6840-2E82-3BEA1987C95B}"/>
                </a:ext>
              </a:extLst>
            </p:cNvPr>
            <p:cNvSpPr/>
            <p:nvPr/>
          </p:nvSpPr>
          <p:spPr>
            <a:xfrm rot="16200000">
              <a:off x="6843089" y="3353133"/>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2C30C5D6-DF4B-8E9C-ED48-0A00BB0A0A72}"/>
                </a:ext>
              </a:extLst>
            </p:cNvPr>
            <p:cNvSpPr/>
            <p:nvPr/>
          </p:nvSpPr>
          <p:spPr>
            <a:xfrm rot="16200000">
              <a:off x="6843089"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E3BE269E-73FA-54CC-33D9-98CD79CE0DA2}"/>
                </a:ext>
              </a:extLst>
            </p:cNvPr>
            <p:cNvSpPr/>
            <p:nvPr/>
          </p:nvSpPr>
          <p:spPr>
            <a:xfrm rot="16200000">
              <a:off x="7423770" y="4603535"/>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C01B77BF-BC34-88DA-FD50-C712A874EE8B}"/>
                </a:ext>
              </a:extLst>
            </p:cNvPr>
            <p:cNvSpPr/>
            <p:nvPr/>
          </p:nvSpPr>
          <p:spPr>
            <a:xfrm rot="16200000">
              <a:off x="7423770" y="3978334"/>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54064EC0-3A3F-B302-C580-4D70B7E6FA45}"/>
                </a:ext>
              </a:extLst>
            </p:cNvPr>
            <p:cNvSpPr/>
            <p:nvPr/>
          </p:nvSpPr>
          <p:spPr>
            <a:xfrm rot="16200000">
              <a:off x="7423770" y="3353133"/>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AF6DCAAD-4AA3-682B-B4C4-CB5BEE6D7867}"/>
                </a:ext>
              </a:extLst>
            </p:cNvPr>
            <p:cNvSpPr/>
            <p:nvPr/>
          </p:nvSpPr>
          <p:spPr>
            <a:xfrm rot="16200000">
              <a:off x="7423770"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84E6A4CD-3337-5650-2D92-20E14889BB43}"/>
                </a:ext>
              </a:extLst>
            </p:cNvPr>
            <p:cNvSpPr/>
            <p:nvPr/>
          </p:nvSpPr>
          <p:spPr>
            <a:xfrm rot="16200000">
              <a:off x="8004450" y="4603535"/>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7416CA49-4636-62E7-C711-DDE09E4CDF36}"/>
                </a:ext>
              </a:extLst>
            </p:cNvPr>
            <p:cNvSpPr/>
            <p:nvPr/>
          </p:nvSpPr>
          <p:spPr>
            <a:xfrm rot="16200000">
              <a:off x="8004450" y="3978334"/>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24C9CDD7-A7C5-DD3E-95CD-6B23BAE2A4E6}"/>
                </a:ext>
              </a:extLst>
            </p:cNvPr>
            <p:cNvSpPr/>
            <p:nvPr/>
          </p:nvSpPr>
          <p:spPr>
            <a:xfrm rot="16200000">
              <a:off x="8004450" y="3353133"/>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5614F911-7188-E5A6-0E35-4F5A4057BA99}"/>
                </a:ext>
              </a:extLst>
            </p:cNvPr>
            <p:cNvSpPr/>
            <p:nvPr/>
          </p:nvSpPr>
          <p:spPr>
            <a:xfrm rot="16200000">
              <a:off x="8004450"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76">
            <a:extLst>
              <a:ext uri="{FF2B5EF4-FFF2-40B4-BE49-F238E27FC236}">
                <a16:creationId xmlns:a16="http://schemas.microsoft.com/office/drawing/2014/main" id="{D8362A23-4C58-C745-D96B-06E9F41288AF}"/>
              </a:ext>
            </a:extLst>
          </p:cNvPr>
          <p:cNvGrpSpPr/>
          <p:nvPr/>
        </p:nvGrpSpPr>
        <p:grpSpPr>
          <a:xfrm>
            <a:off x="9390880" y="1829850"/>
            <a:ext cx="1040373" cy="1087153"/>
            <a:chOff x="9393730" y="4594955"/>
            <a:chExt cx="1040373" cy="1087153"/>
          </a:xfrm>
          <a:solidFill>
            <a:schemeClr val="accent2">
              <a:lumMod val="75000"/>
            </a:schemeClr>
          </a:solidFill>
          <a:effectLst>
            <a:outerShdw blurRad="50800" dist="38100" dir="2700000" algn="tl" rotWithShape="0">
              <a:prstClr val="black">
                <a:alpha val="40000"/>
              </a:prstClr>
            </a:outerShdw>
          </a:effectLst>
        </p:grpSpPr>
        <p:sp>
          <p:nvSpPr>
            <p:cNvPr id="61" name="Rectangle 60">
              <a:extLst>
                <a:ext uri="{FF2B5EF4-FFF2-40B4-BE49-F238E27FC236}">
                  <a16:creationId xmlns:a16="http://schemas.microsoft.com/office/drawing/2014/main" id="{BC69181B-11AC-594F-68DE-DF168E42097F}"/>
                </a:ext>
              </a:extLst>
            </p:cNvPr>
            <p:cNvSpPr/>
            <p:nvPr/>
          </p:nvSpPr>
          <p:spPr>
            <a:xfrm rot="16200000">
              <a:off x="9393730" y="5452714"/>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BD4AC376-47F3-734F-95CE-05584A5F9338}"/>
                </a:ext>
              </a:extLst>
            </p:cNvPr>
            <p:cNvSpPr/>
            <p:nvPr/>
          </p:nvSpPr>
          <p:spPr>
            <a:xfrm rot="16200000">
              <a:off x="9393730" y="5167510"/>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5BA2DD85-6EFE-0872-4202-00FA304D9D2B}"/>
                </a:ext>
              </a:extLst>
            </p:cNvPr>
            <p:cNvSpPr/>
            <p:nvPr/>
          </p:nvSpPr>
          <p:spPr>
            <a:xfrm rot="16200000">
              <a:off x="9393730" y="4882307"/>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556E1B62-C1EA-6428-0E43-3805FF6D02E4}"/>
                </a:ext>
              </a:extLst>
            </p:cNvPr>
            <p:cNvSpPr/>
            <p:nvPr/>
          </p:nvSpPr>
          <p:spPr>
            <a:xfrm rot="16200000">
              <a:off x="9393730" y="4597103"/>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21BE15A5-29A4-44BA-1A93-11579A3ED36D}"/>
                </a:ext>
              </a:extLst>
            </p:cNvPr>
            <p:cNvSpPr/>
            <p:nvPr/>
          </p:nvSpPr>
          <p:spPr>
            <a:xfrm rot="16200000">
              <a:off x="9658625" y="5452714"/>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AF192284-1F9E-8D60-8855-4522C743EB05}"/>
                </a:ext>
              </a:extLst>
            </p:cNvPr>
            <p:cNvSpPr/>
            <p:nvPr/>
          </p:nvSpPr>
          <p:spPr>
            <a:xfrm rot="16200000">
              <a:off x="9658625" y="5167510"/>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49109284-852D-9903-4423-0AE7B7E744E7}"/>
                </a:ext>
              </a:extLst>
            </p:cNvPr>
            <p:cNvSpPr/>
            <p:nvPr/>
          </p:nvSpPr>
          <p:spPr>
            <a:xfrm rot="16200000">
              <a:off x="9658625" y="4882307"/>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0F2DE6EB-7D21-F800-38E7-B9C94AFFDAE1}"/>
                </a:ext>
              </a:extLst>
            </p:cNvPr>
            <p:cNvSpPr/>
            <p:nvPr/>
          </p:nvSpPr>
          <p:spPr>
            <a:xfrm rot="16200000">
              <a:off x="9658625" y="4597103"/>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02F70BDF-5718-4163-E52C-552DFECAE4F0}"/>
                </a:ext>
              </a:extLst>
            </p:cNvPr>
            <p:cNvSpPr/>
            <p:nvPr/>
          </p:nvSpPr>
          <p:spPr>
            <a:xfrm rot="16200000">
              <a:off x="9923519" y="5452714"/>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859A7494-EB22-2EC7-7F05-66158E5815ED}"/>
                </a:ext>
              </a:extLst>
            </p:cNvPr>
            <p:cNvSpPr/>
            <p:nvPr/>
          </p:nvSpPr>
          <p:spPr>
            <a:xfrm rot="16200000">
              <a:off x="9923519" y="5167510"/>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0D08D456-9C6E-D709-3942-6C25F20DC23E}"/>
                </a:ext>
              </a:extLst>
            </p:cNvPr>
            <p:cNvSpPr/>
            <p:nvPr/>
          </p:nvSpPr>
          <p:spPr>
            <a:xfrm rot="16200000">
              <a:off x="9923519" y="4882307"/>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C74A8F0B-C3A8-E5C3-861F-D18043D9B915}"/>
                </a:ext>
              </a:extLst>
            </p:cNvPr>
            <p:cNvSpPr/>
            <p:nvPr/>
          </p:nvSpPr>
          <p:spPr>
            <a:xfrm rot="16200000">
              <a:off x="9923519" y="4597103"/>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0BCCB0A9-CB7D-B287-80B8-779A72A79130}"/>
                </a:ext>
              </a:extLst>
            </p:cNvPr>
            <p:cNvSpPr/>
            <p:nvPr/>
          </p:nvSpPr>
          <p:spPr>
            <a:xfrm rot="16200000">
              <a:off x="10204709" y="5450566"/>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11FC2010-CA0A-CD34-2B9C-EFE336BDF975}"/>
                </a:ext>
              </a:extLst>
            </p:cNvPr>
            <p:cNvSpPr/>
            <p:nvPr/>
          </p:nvSpPr>
          <p:spPr>
            <a:xfrm rot="16200000">
              <a:off x="10204709" y="5165362"/>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C52ECC32-581B-440F-8263-E19B7147C650}"/>
                </a:ext>
              </a:extLst>
            </p:cNvPr>
            <p:cNvSpPr/>
            <p:nvPr/>
          </p:nvSpPr>
          <p:spPr>
            <a:xfrm rot="16200000">
              <a:off x="10204709" y="4880159"/>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8218AB95-8698-E02F-8354-466DEF80F98C}"/>
                </a:ext>
              </a:extLst>
            </p:cNvPr>
            <p:cNvSpPr/>
            <p:nvPr/>
          </p:nvSpPr>
          <p:spPr>
            <a:xfrm rot="16200000">
              <a:off x="10204709" y="4594955"/>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TextBox 77">
            <a:extLst>
              <a:ext uri="{FF2B5EF4-FFF2-40B4-BE49-F238E27FC236}">
                <a16:creationId xmlns:a16="http://schemas.microsoft.com/office/drawing/2014/main" id="{39094B81-CE54-4A23-437B-62C89FDB93B9}"/>
              </a:ext>
            </a:extLst>
          </p:cNvPr>
          <p:cNvSpPr txBox="1"/>
          <p:nvPr/>
        </p:nvSpPr>
        <p:spPr>
          <a:xfrm>
            <a:off x="6425076" y="1289324"/>
            <a:ext cx="364202" cy="369332"/>
          </a:xfrm>
          <a:prstGeom prst="rect">
            <a:avLst/>
          </a:prstGeom>
          <a:noFill/>
        </p:spPr>
        <p:txBody>
          <a:bodyPr wrap="none" rtlCol="0">
            <a:spAutoFit/>
          </a:bodyPr>
          <a:lstStyle/>
          <a:p>
            <a:r>
              <a:rPr lang="en-US" dirty="0"/>
              <a:t>Q</a:t>
            </a:r>
          </a:p>
        </p:txBody>
      </p:sp>
      <p:sp>
        <p:nvSpPr>
          <p:cNvPr id="79" name="TextBox 78">
            <a:extLst>
              <a:ext uri="{FF2B5EF4-FFF2-40B4-BE49-F238E27FC236}">
                <a16:creationId xmlns:a16="http://schemas.microsoft.com/office/drawing/2014/main" id="{D281F0EE-4381-D945-BBB6-348B6B5DE0BD}"/>
              </a:ext>
            </a:extLst>
          </p:cNvPr>
          <p:cNvSpPr txBox="1"/>
          <p:nvPr/>
        </p:nvSpPr>
        <p:spPr>
          <a:xfrm>
            <a:off x="7946828" y="1283425"/>
            <a:ext cx="433132" cy="369332"/>
          </a:xfrm>
          <a:prstGeom prst="rect">
            <a:avLst/>
          </a:prstGeom>
          <a:noFill/>
        </p:spPr>
        <p:txBody>
          <a:bodyPr wrap="none" rtlCol="0">
            <a:spAutoFit/>
          </a:bodyPr>
          <a:lstStyle/>
          <a:p>
            <a:r>
              <a:rPr lang="en-US" altLang="zh-CN" dirty="0"/>
              <a:t>K</a:t>
            </a:r>
            <a:r>
              <a:rPr lang="en-US" altLang="zh-CN" baseline="30000" dirty="0"/>
              <a:t>T</a:t>
            </a:r>
            <a:endParaRPr lang="en-US" dirty="0"/>
          </a:p>
        </p:txBody>
      </p:sp>
      <p:sp>
        <p:nvSpPr>
          <p:cNvPr id="80" name="TextBox 79">
            <a:extLst>
              <a:ext uri="{FF2B5EF4-FFF2-40B4-BE49-F238E27FC236}">
                <a16:creationId xmlns:a16="http://schemas.microsoft.com/office/drawing/2014/main" id="{A7CE2476-D1B6-15FF-70F3-EEF4D23C9A68}"/>
              </a:ext>
            </a:extLst>
          </p:cNvPr>
          <p:cNvSpPr txBox="1"/>
          <p:nvPr/>
        </p:nvSpPr>
        <p:spPr>
          <a:xfrm>
            <a:off x="9732910" y="1293935"/>
            <a:ext cx="612668" cy="369332"/>
          </a:xfrm>
          <a:prstGeom prst="rect">
            <a:avLst/>
          </a:prstGeom>
          <a:noFill/>
        </p:spPr>
        <p:txBody>
          <a:bodyPr wrap="none" rtlCol="0">
            <a:spAutoFit/>
          </a:bodyPr>
          <a:lstStyle/>
          <a:p>
            <a:r>
              <a:rPr lang="en-US" altLang="zh-CN" dirty="0"/>
              <a:t>QK</a:t>
            </a:r>
            <a:r>
              <a:rPr lang="en-US" altLang="zh-CN" baseline="30000" dirty="0"/>
              <a:t>T</a:t>
            </a:r>
            <a:endParaRPr lang="en-US" dirty="0"/>
          </a:p>
        </p:txBody>
      </p: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68E9794B-4DE5-9F8C-E4E3-C69AC3C0780D}"/>
                  </a:ext>
                </a:extLst>
              </p:cNvPr>
              <p:cNvSpPr txBox="1"/>
              <p:nvPr/>
            </p:nvSpPr>
            <p:spPr>
              <a:xfrm>
                <a:off x="7137461" y="2201159"/>
                <a:ext cx="31450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oMath>
                  </m:oMathPara>
                </a14:m>
                <a:endParaRPr lang="en-US" dirty="0"/>
              </a:p>
            </p:txBody>
          </p:sp>
        </mc:Choice>
        <mc:Fallback xmlns="">
          <p:sp>
            <p:nvSpPr>
              <p:cNvPr id="81" name="TextBox 80">
                <a:extLst>
                  <a:ext uri="{FF2B5EF4-FFF2-40B4-BE49-F238E27FC236}">
                    <a16:creationId xmlns:a16="http://schemas.microsoft.com/office/drawing/2014/main" id="{68E9794B-4DE5-9F8C-E4E3-C69AC3C0780D}"/>
                  </a:ext>
                </a:extLst>
              </p:cNvPr>
              <p:cNvSpPr txBox="1">
                <a:spLocks noRot="1" noChangeAspect="1" noMove="1" noResize="1" noEditPoints="1" noAdjustHandles="1" noChangeArrowheads="1" noChangeShapeType="1" noTextEdit="1"/>
              </p:cNvSpPr>
              <p:nvPr/>
            </p:nvSpPr>
            <p:spPr>
              <a:xfrm>
                <a:off x="7137461" y="2201159"/>
                <a:ext cx="314509" cy="369332"/>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2266F85E-F36F-8AF0-3D42-176FBABB7636}"/>
                  </a:ext>
                </a:extLst>
              </p:cNvPr>
              <p:cNvSpPr txBox="1"/>
              <p:nvPr/>
            </p:nvSpPr>
            <p:spPr>
              <a:xfrm>
                <a:off x="8885512" y="2226766"/>
                <a:ext cx="42191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oMath>
                  </m:oMathPara>
                </a14:m>
                <a:endParaRPr lang="en-US" dirty="0"/>
              </a:p>
            </p:txBody>
          </p:sp>
        </mc:Choice>
        <mc:Fallback xmlns="">
          <p:sp>
            <p:nvSpPr>
              <p:cNvPr id="82" name="TextBox 81">
                <a:extLst>
                  <a:ext uri="{FF2B5EF4-FFF2-40B4-BE49-F238E27FC236}">
                    <a16:creationId xmlns:a16="http://schemas.microsoft.com/office/drawing/2014/main" id="{2266F85E-F36F-8AF0-3D42-176FBABB7636}"/>
                  </a:ext>
                </a:extLst>
              </p:cNvPr>
              <p:cNvSpPr txBox="1">
                <a:spLocks noRot="1" noChangeAspect="1" noMove="1" noResize="1" noEditPoints="1" noAdjustHandles="1" noChangeArrowheads="1" noChangeShapeType="1" noTextEdit="1"/>
              </p:cNvSpPr>
              <p:nvPr/>
            </p:nvSpPr>
            <p:spPr>
              <a:xfrm>
                <a:off x="8885512" y="2226766"/>
                <a:ext cx="421910" cy="369332"/>
              </a:xfrm>
              <a:prstGeom prst="rect">
                <a:avLst/>
              </a:prstGeom>
              <a:blipFill>
                <a:blip r:embed="rId31"/>
                <a:stretch>
                  <a:fillRect/>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9DA32333-BBB2-269E-340C-1DEB33B19A31}"/>
              </a:ext>
            </a:extLst>
          </p:cNvPr>
          <p:cNvGrpSpPr/>
          <p:nvPr/>
        </p:nvGrpSpPr>
        <p:grpSpPr>
          <a:xfrm>
            <a:off x="3460547" y="4031989"/>
            <a:ext cx="5731247" cy="2506089"/>
            <a:chOff x="3460547" y="4031989"/>
            <a:chExt cx="5731247" cy="2506089"/>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79757CB-B965-8216-E7C3-ABDDBD0ACE1F}"/>
                    </a:ext>
                  </a:extLst>
                </p:cNvPr>
                <p:cNvSpPr txBox="1"/>
                <p:nvPr/>
              </p:nvSpPr>
              <p:spPr>
                <a:xfrm>
                  <a:off x="3569823" y="4508487"/>
                  <a:ext cx="28507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𝑞</m:t>
                            </m:r>
                          </m:e>
                          <m:sub>
                            <m:r>
                              <a:rPr lang="en-US" altLang="zh-CN" b="0" i="1" smtClean="0">
                                <a:latin typeface="Cambria Math" panose="02040503050406030204" pitchFamily="18" charset="0"/>
                              </a:rPr>
                              <m:t>1</m:t>
                            </m:r>
                          </m:sub>
                        </m:sSub>
                      </m:oMath>
                    </m:oMathPara>
                  </a14:m>
                  <a:endParaRPr lang="en-US"/>
                </a:p>
              </p:txBody>
            </p:sp>
          </mc:Choice>
          <mc:Fallback xmlns="">
            <p:sp>
              <p:nvSpPr>
                <p:cNvPr id="4" name="TextBox 3">
                  <a:extLst>
                    <a:ext uri="{FF2B5EF4-FFF2-40B4-BE49-F238E27FC236}">
                      <a16:creationId xmlns:a16="http://schemas.microsoft.com/office/drawing/2014/main" id="{F79757CB-B965-8216-E7C3-ABDDBD0ACE1F}"/>
                    </a:ext>
                  </a:extLst>
                </p:cNvPr>
                <p:cNvSpPr txBox="1">
                  <a:spLocks noRot="1" noChangeAspect="1" noMove="1" noResize="1" noEditPoints="1" noAdjustHandles="1" noChangeArrowheads="1" noChangeShapeType="1" noTextEdit="1"/>
                </p:cNvSpPr>
                <p:nvPr/>
              </p:nvSpPr>
              <p:spPr>
                <a:xfrm>
                  <a:off x="3569823" y="4508487"/>
                  <a:ext cx="285078" cy="276999"/>
                </a:xfrm>
                <a:prstGeom prst="rect">
                  <a:avLst/>
                </a:prstGeom>
                <a:blipFill>
                  <a:blip r:embed="rId32"/>
                  <a:stretch>
                    <a:fillRect l="-21739" r="-4348" b="-318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270D9D80-08FA-C4E0-0193-DFE722659778}"/>
                    </a:ext>
                  </a:extLst>
                </p:cNvPr>
                <p:cNvSpPr txBox="1"/>
                <p:nvPr/>
              </p:nvSpPr>
              <p:spPr>
                <a:xfrm>
                  <a:off x="3575919" y="4819897"/>
                  <a:ext cx="29040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𝑞</m:t>
                            </m:r>
                          </m:e>
                          <m:sub>
                            <m:r>
                              <a:rPr lang="en-US" altLang="zh-CN" b="0" i="1" smtClean="0">
                                <a:latin typeface="Cambria Math" panose="02040503050406030204" pitchFamily="18" charset="0"/>
                              </a:rPr>
                              <m:t>2</m:t>
                            </m:r>
                          </m:sub>
                        </m:sSub>
                      </m:oMath>
                    </m:oMathPara>
                  </a14:m>
                  <a:endParaRPr lang="en-US"/>
                </a:p>
              </p:txBody>
            </p:sp>
          </mc:Choice>
          <mc:Fallback xmlns="">
            <p:sp>
              <p:nvSpPr>
                <p:cNvPr id="60" name="TextBox 59">
                  <a:extLst>
                    <a:ext uri="{FF2B5EF4-FFF2-40B4-BE49-F238E27FC236}">
                      <a16:creationId xmlns:a16="http://schemas.microsoft.com/office/drawing/2014/main" id="{270D9D80-08FA-C4E0-0193-DFE722659778}"/>
                    </a:ext>
                  </a:extLst>
                </p:cNvPr>
                <p:cNvSpPr txBox="1">
                  <a:spLocks noRot="1" noChangeAspect="1" noMove="1" noResize="1" noEditPoints="1" noAdjustHandles="1" noChangeArrowheads="1" noChangeShapeType="1" noTextEdit="1"/>
                </p:cNvSpPr>
                <p:nvPr/>
              </p:nvSpPr>
              <p:spPr>
                <a:xfrm>
                  <a:off x="3575919" y="4819897"/>
                  <a:ext cx="290401" cy="276999"/>
                </a:xfrm>
                <a:prstGeom prst="rect">
                  <a:avLst/>
                </a:prstGeom>
                <a:blipFill>
                  <a:blip r:embed="rId33"/>
                  <a:stretch>
                    <a:fillRect l="-16667" r="-4167" b="-304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B4763EDD-30FB-BC3D-84FC-3CAF0463433C}"/>
                    </a:ext>
                  </a:extLst>
                </p:cNvPr>
                <p:cNvSpPr txBox="1"/>
                <p:nvPr/>
              </p:nvSpPr>
              <p:spPr>
                <a:xfrm>
                  <a:off x="3572871" y="5124894"/>
                  <a:ext cx="29040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𝑞</m:t>
                            </m:r>
                          </m:e>
                          <m:sub>
                            <m:r>
                              <a:rPr lang="en-US" altLang="zh-CN" b="0" i="1" smtClean="0">
                                <a:latin typeface="Cambria Math" panose="02040503050406030204" pitchFamily="18" charset="0"/>
                              </a:rPr>
                              <m:t>3</m:t>
                            </m:r>
                          </m:sub>
                        </m:sSub>
                      </m:oMath>
                    </m:oMathPara>
                  </a14:m>
                  <a:endParaRPr lang="en-US"/>
                </a:p>
              </p:txBody>
            </p:sp>
          </mc:Choice>
          <mc:Fallback xmlns="">
            <p:sp>
              <p:nvSpPr>
                <p:cNvPr id="83" name="TextBox 82">
                  <a:extLst>
                    <a:ext uri="{FF2B5EF4-FFF2-40B4-BE49-F238E27FC236}">
                      <a16:creationId xmlns:a16="http://schemas.microsoft.com/office/drawing/2014/main" id="{B4763EDD-30FB-BC3D-84FC-3CAF0463433C}"/>
                    </a:ext>
                  </a:extLst>
                </p:cNvPr>
                <p:cNvSpPr txBox="1">
                  <a:spLocks noRot="1" noChangeAspect="1" noMove="1" noResize="1" noEditPoints="1" noAdjustHandles="1" noChangeArrowheads="1" noChangeShapeType="1" noTextEdit="1"/>
                </p:cNvSpPr>
                <p:nvPr/>
              </p:nvSpPr>
              <p:spPr>
                <a:xfrm>
                  <a:off x="3572871" y="5124894"/>
                  <a:ext cx="290401" cy="276999"/>
                </a:xfrm>
                <a:prstGeom prst="rect">
                  <a:avLst/>
                </a:prstGeom>
                <a:blipFill>
                  <a:blip r:embed="rId34"/>
                  <a:stretch>
                    <a:fillRect l="-20833" r="-4167" b="-304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AE57F19F-FDBE-E47E-81AB-7155577E99A0}"/>
                    </a:ext>
                  </a:extLst>
                </p:cNvPr>
                <p:cNvSpPr txBox="1"/>
                <p:nvPr/>
              </p:nvSpPr>
              <p:spPr>
                <a:xfrm>
                  <a:off x="3560679" y="5466466"/>
                  <a:ext cx="29040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𝑞</m:t>
                            </m:r>
                          </m:e>
                          <m:sub>
                            <m:r>
                              <a:rPr lang="en-US" altLang="zh-CN" b="0" i="1" smtClean="0">
                                <a:latin typeface="Cambria Math" panose="02040503050406030204" pitchFamily="18" charset="0"/>
                              </a:rPr>
                              <m:t>4</m:t>
                            </m:r>
                          </m:sub>
                        </m:sSub>
                      </m:oMath>
                    </m:oMathPara>
                  </a14:m>
                  <a:endParaRPr lang="en-US"/>
                </a:p>
              </p:txBody>
            </p:sp>
          </mc:Choice>
          <mc:Fallback xmlns="">
            <p:sp>
              <p:nvSpPr>
                <p:cNvPr id="84" name="TextBox 83">
                  <a:extLst>
                    <a:ext uri="{FF2B5EF4-FFF2-40B4-BE49-F238E27FC236}">
                      <a16:creationId xmlns:a16="http://schemas.microsoft.com/office/drawing/2014/main" id="{AE57F19F-FDBE-E47E-81AB-7155577E99A0}"/>
                    </a:ext>
                  </a:extLst>
                </p:cNvPr>
                <p:cNvSpPr txBox="1">
                  <a:spLocks noRot="1" noChangeAspect="1" noMove="1" noResize="1" noEditPoints="1" noAdjustHandles="1" noChangeArrowheads="1" noChangeShapeType="1" noTextEdit="1"/>
                </p:cNvSpPr>
                <p:nvPr/>
              </p:nvSpPr>
              <p:spPr>
                <a:xfrm>
                  <a:off x="3560679" y="5466466"/>
                  <a:ext cx="290401" cy="276999"/>
                </a:xfrm>
                <a:prstGeom prst="rect">
                  <a:avLst/>
                </a:prstGeom>
                <a:blipFill>
                  <a:blip r:embed="rId35"/>
                  <a:stretch>
                    <a:fillRect l="-16667" r="-4167" b="-304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81AFFB21-EFB5-8794-BC87-F702E371FBBB}"/>
                    </a:ext>
                  </a:extLst>
                </p:cNvPr>
                <p:cNvSpPr txBox="1"/>
                <p:nvPr/>
              </p:nvSpPr>
              <p:spPr>
                <a:xfrm>
                  <a:off x="5361017" y="5546653"/>
                  <a:ext cx="2911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1</m:t>
                            </m:r>
                          </m:sub>
                        </m:sSub>
                      </m:oMath>
                    </m:oMathPara>
                  </a14:m>
                  <a:endParaRPr lang="en-US"/>
                </a:p>
              </p:txBody>
            </p:sp>
          </mc:Choice>
          <mc:Fallback xmlns="">
            <p:sp>
              <p:nvSpPr>
                <p:cNvPr id="85" name="TextBox 84">
                  <a:extLst>
                    <a:ext uri="{FF2B5EF4-FFF2-40B4-BE49-F238E27FC236}">
                      <a16:creationId xmlns:a16="http://schemas.microsoft.com/office/drawing/2014/main" id="{81AFFB21-EFB5-8794-BC87-F702E371FBBB}"/>
                    </a:ext>
                  </a:extLst>
                </p:cNvPr>
                <p:cNvSpPr txBox="1">
                  <a:spLocks noRot="1" noChangeAspect="1" noMove="1" noResize="1" noEditPoints="1" noAdjustHandles="1" noChangeArrowheads="1" noChangeShapeType="1" noTextEdit="1"/>
                </p:cNvSpPr>
                <p:nvPr/>
              </p:nvSpPr>
              <p:spPr>
                <a:xfrm>
                  <a:off x="5361017" y="5546653"/>
                  <a:ext cx="291169" cy="276999"/>
                </a:xfrm>
                <a:prstGeom prst="rect">
                  <a:avLst/>
                </a:prstGeom>
                <a:blipFill>
                  <a:blip r:embed="rId36"/>
                  <a:stretch>
                    <a:fillRect l="-12500" r="-4167" b="-17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790FAFFA-A87E-64F4-CA93-0FF36A4CF14B}"/>
                    </a:ext>
                  </a:extLst>
                </p:cNvPr>
                <p:cNvSpPr txBox="1"/>
                <p:nvPr/>
              </p:nvSpPr>
              <p:spPr>
                <a:xfrm>
                  <a:off x="5661978" y="5551554"/>
                  <a:ext cx="29649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2</m:t>
                            </m:r>
                          </m:sub>
                        </m:sSub>
                      </m:oMath>
                    </m:oMathPara>
                  </a14:m>
                  <a:endParaRPr lang="en-US"/>
                </a:p>
              </p:txBody>
            </p:sp>
          </mc:Choice>
          <mc:Fallback xmlns="">
            <p:sp>
              <p:nvSpPr>
                <p:cNvPr id="86" name="TextBox 85">
                  <a:extLst>
                    <a:ext uri="{FF2B5EF4-FFF2-40B4-BE49-F238E27FC236}">
                      <a16:creationId xmlns:a16="http://schemas.microsoft.com/office/drawing/2014/main" id="{790FAFFA-A87E-64F4-CA93-0FF36A4CF14B}"/>
                    </a:ext>
                  </a:extLst>
                </p:cNvPr>
                <p:cNvSpPr txBox="1">
                  <a:spLocks noRot="1" noChangeAspect="1" noMove="1" noResize="1" noEditPoints="1" noAdjustHandles="1" noChangeArrowheads="1" noChangeShapeType="1" noTextEdit="1"/>
                </p:cNvSpPr>
                <p:nvPr/>
              </p:nvSpPr>
              <p:spPr>
                <a:xfrm>
                  <a:off x="5661978" y="5551554"/>
                  <a:ext cx="296491" cy="276999"/>
                </a:xfrm>
                <a:prstGeom prst="rect">
                  <a:avLst/>
                </a:prstGeom>
                <a:blipFill>
                  <a:blip r:embed="rId37"/>
                  <a:stretch>
                    <a:fillRect l="-16667" r="-4167" b="-227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A9FE3D0E-1987-D9A7-D230-456EF6C8532A}"/>
                    </a:ext>
                  </a:extLst>
                </p:cNvPr>
                <p:cNvSpPr txBox="1"/>
                <p:nvPr/>
              </p:nvSpPr>
              <p:spPr>
                <a:xfrm>
                  <a:off x="5943125" y="5567798"/>
                  <a:ext cx="29649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3</m:t>
                            </m:r>
                          </m:sub>
                        </m:sSub>
                      </m:oMath>
                    </m:oMathPara>
                  </a14:m>
                  <a:endParaRPr lang="en-US"/>
                </a:p>
              </p:txBody>
            </p:sp>
          </mc:Choice>
          <mc:Fallback xmlns="">
            <p:sp>
              <p:nvSpPr>
                <p:cNvPr id="87" name="TextBox 86">
                  <a:extLst>
                    <a:ext uri="{FF2B5EF4-FFF2-40B4-BE49-F238E27FC236}">
                      <a16:creationId xmlns:a16="http://schemas.microsoft.com/office/drawing/2014/main" id="{A9FE3D0E-1987-D9A7-D230-456EF6C8532A}"/>
                    </a:ext>
                  </a:extLst>
                </p:cNvPr>
                <p:cNvSpPr txBox="1">
                  <a:spLocks noRot="1" noChangeAspect="1" noMove="1" noResize="1" noEditPoints="1" noAdjustHandles="1" noChangeArrowheads="1" noChangeShapeType="1" noTextEdit="1"/>
                </p:cNvSpPr>
                <p:nvPr/>
              </p:nvSpPr>
              <p:spPr>
                <a:xfrm>
                  <a:off x="5943125" y="5567798"/>
                  <a:ext cx="296491" cy="276999"/>
                </a:xfrm>
                <a:prstGeom prst="rect">
                  <a:avLst/>
                </a:prstGeom>
                <a:blipFill>
                  <a:blip r:embed="rId38"/>
                  <a:stretch>
                    <a:fillRect l="-20833" r="-4167" b="-17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1A84A5B2-0DAD-B6B6-CA26-7A1E0ECA6B25}"/>
                    </a:ext>
                  </a:extLst>
                </p:cNvPr>
                <p:cNvSpPr txBox="1"/>
                <p:nvPr/>
              </p:nvSpPr>
              <p:spPr>
                <a:xfrm>
                  <a:off x="6256769" y="5547067"/>
                  <a:ext cx="29649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4</m:t>
                            </m:r>
                          </m:sub>
                        </m:sSub>
                      </m:oMath>
                    </m:oMathPara>
                  </a14:m>
                  <a:endParaRPr lang="en-US"/>
                </a:p>
              </p:txBody>
            </p:sp>
          </mc:Choice>
          <mc:Fallback xmlns="">
            <p:sp>
              <p:nvSpPr>
                <p:cNvPr id="88" name="TextBox 87">
                  <a:extLst>
                    <a:ext uri="{FF2B5EF4-FFF2-40B4-BE49-F238E27FC236}">
                      <a16:creationId xmlns:a16="http://schemas.microsoft.com/office/drawing/2014/main" id="{1A84A5B2-0DAD-B6B6-CA26-7A1E0ECA6B25}"/>
                    </a:ext>
                  </a:extLst>
                </p:cNvPr>
                <p:cNvSpPr txBox="1">
                  <a:spLocks noRot="1" noChangeAspect="1" noMove="1" noResize="1" noEditPoints="1" noAdjustHandles="1" noChangeArrowheads="1" noChangeShapeType="1" noTextEdit="1"/>
                </p:cNvSpPr>
                <p:nvPr/>
              </p:nvSpPr>
              <p:spPr>
                <a:xfrm>
                  <a:off x="6256769" y="5547067"/>
                  <a:ext cx="296491" cy="276999"/>
                </a:xfrm>
                <a:prstGeom prst="rect">
                  <a:avLst/>
                </a:prstGeom>
                <a:blipFill>
                  <a:blip r:embed="rId39"/>
                  <a:stretch>
                    <a:fillRect l="-16667" r="-4167" b="-17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6DAE4B9D-8801-F57B-04E1-9D34F01887D1}"/>
                    </a:ext>
                  </a:extLst>
                </p:cNvPr>
                <p:cNvSpPr txBox="1"/>
                <p:nvPr/>
              </p:nvSpPr>
              <p:spPr>
                <a:xfrm>
                  <a:off x="7080302" y="5824431"/>
                  <a:ext cx="2911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1</m:t>
                            </m:r>
                          </m:sub>
                        </m:sSub>
                      </m:oMath>
                    </m:oMathPara>
                  </a14:m>
                  <a:endParaRPr lang="en-US"/>
                </a:p>
              </p:txBody>
            </p:sp>
          </mc:Choice>
          <mc:Fallback xmlns="">
            <p:sp>
              <p:nvSpPr>
                <p:cNvPr id="89" name="TextBox 88">
                  <a:extLst>
                    <a:ext uri="{FF2B5EF4-FFF2-40B4-BE49-F238E27FC236}">
                      <a16:creationId xmlns:a16="http://schemas.microsoft.com/office/drawing/2014/main" id="{6DAE4B9D-8801-F57B-04E1-9D34F01887D1}"/>
                    </a:ext>
                  </a:extLst>
                </p:cNvPr>
                <p:cNvSpPr txBox="1">
                  <a:spLocks noRot="1" noChangeAspect="1" noMove="1" noResize="1" noEditPoints="1" noAdjustHandles="1" noChangeArrowheads="1" noChangeShapeType="1" noTextEdit="1"/>
                </p:cNvSpPr>
                <p:nvPr/>
              </p:nvSpPr>
              <p:spPr>
                <a:xfrm>
                  <a:off x="7080302" y="5824431"/>
                  <a:ext cx="291169" cy="276999"/>
                </a:xfrm>
                <a:prstGeom prst="rect">
                  <a:avLst/>
                </a:prstGeom>
                <a:blipFill>
                  <a:blip r:embed="rId40"/>
                  <a:stretch>
                    <a:fillRect l="-16667" r="-4167" b="-17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FADB39FD-343B-3B9D-7454-98FD5320B16B}"/>
                    </a:ext>
                  </a:extLst>
                </p:cNvPr>
                <p:cNvSpPr txBox="1"/>
                <p:nvPr/>
              </p:nvSpPr>
              <p:spPr>
                <a:xfrm>
                  <a:off x="7381263" y="5829332"/>
                  <a:ext cx="29649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2</m:t>
                            </m:r>
                          </m:sub>
                        </m:sSub>
                      </m:oMath>
                    </m:oMathPara>
                  </a14:m>
                  <a:endParaRPr lang="en-US"/>
                </a:p>
              </p:txBody>
            </p:sp>
          </mc:Choice>
          <mc:Fallback xmlns="">
            <p:sp>
              <p:nvSpPr>
                <p:cNvPr id="90" name="TextBox 89">
                  <a:extLst>
                    <a:ext uri="{FF2B5EF4-FFF2-40B4-BE49-F238E27FC236}">
                      <a16:creationId xmlns:a16="http://schemas.microsoft.com/office/drawing/2014/main" id="{FADB39FD-343B-3B9D-7454-98FD5320B16B}"/>
                    </a:ext>
                  </a:extLst>
                </p:cNvPr>
                <p:cNvSpPr txBox="1">
                  <a:spLocks noRot="1" noChangeAspect="1" noMove="1" noResize="1" noEditPoints="1" noAdjustHandles="1" noChangeArrowheads="1" noChangeShapeType="1" noTextEdit="1"/>
                </p:cNvSpPr>
                <p:nvPr/>
              </p:nvSpPr>
              <p:spPr>
                <a:xfrm>
                  <a:off x="7381263" y="5829332"/>
                  <a:ext cx="296491" cy="276999"/>
                </a:xfrm>
                <a:prstGeom prst="rect">
                  <a:avLst/>
                </a:prstGeom>
                <a:blipFill>
                  <a:blip r:embed="rId41"/>
                  <a:stretch>
                    <a:fillRect l="-20833" r="-4167" b="-17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C1B5FF5B-3248-3A94-AD7D-60BE9179465E}"/>
                    </a:ext>
                  </a:extLst>
                </p:cNvPr>
                <p:cNvSpPr txBox="1"/>
                <p:nvPr/>
              </p:nvSpPr>
              <p:spPr>
                <a:xfrm>
                  <a:off x="7662410" y="5845576"/>
                  <a:ext cx="29649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3</m:t>
                            </m:r>
                          </m:sub>
                        </m:sSub>
                      </m:oMath>
                    </m:oMathPara>
                  </a14:m>
                  <a:endParaRPr lang="en-US"/>
                </a:p>
              </p:txBody>
            </p:sp>
          </mc:Choice>
          <mc:Fallback xmlns="">
            <p:sp>
              <p:nvSpPr>
                <p:cNvPr id="91" name="TextBox 90">
                  <a:extLst>
                    <a:ext uri="{FF2B5EF4-FFF2-40B4-BE49-F238E27FC236}">
                      <a16:creationId xmlns:a16="http://schemas.microsoft.com/office/drawing/2014/main" id="{C1B5FF5B-3248-3A94-AD7D-60BE9179465E}"/>
                    </a:ext>
                  </a:extLst>
                </p:cNvPr>
                <p:cNvSpPr txBox="1">
                  <a:spLocks noRot="1" noChangeAspect="1" noMove="1" noResize="1" noEditPoints="1" noAdjustHandles="1" noChangeArrowheads="1" noChangeShapeType="1" noTextEdit="1"/>
                </p:cNvSpPr>
                <p:nvPr/>
              </p:nvSpPr>
              <p:spPr>
                <a:xfrm>
                  <a:off x="7662410" y="5845576"/>
                  <a:ext cx="296491" cy="276999"/>
                </a:xfrm>
                <a:prstGeom prst="rect">
                  <a:avLst/>
                </a:prstGeom>
                <a:blipFill>
                  <a:blip r:embed="rId42"/>
                  <a:stretch>
                    <a:fillRect l="-16667" r="-4167" b="-227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2C5EA036-B9CF-2C99-7A59-03D7B322B845}"/>
                    </a:ext>
                  </a:extLst>
                </p:cNvPr>
                <p:cNvSpPr txBox="1"/>
                <p:nvPr/>
              </p:nvSpPr>
              <p:spPr>
                <a:xfrm>
                  <a:off x="7976054" y="5824845"/>
                  <a:ext cx="29649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4</m:t>
                            </m:r>
                          </m:sub>
                        </m:sSub>
                      </m:oMath>
                    </m:oMathPara>
                  </a14:m>
                  <a:endParaRPr lang="en-US"/>
                </a:p>
              </p:txBody>
            </p:sp>
          </mc:Choice>
          <mc:Fallback xmlns="">
            <p:sp>
              <p:nvSpPr>
                <p:cNvPr id="92" name="TextBox 91">
                  <a:extLst>
                    <a:ext uri="{FF2B5EF4-FFF2-40B4-BE49-F238E27FC236}">
                      <a16:creationId xmlns:a16="http://schemas.microsoft.com/office/drawing/2014/main" id="{2C5EA036-B9CF-2C99-7A59-03D7B322B845}"/>
                    </a:ext>
                  </a:extLst>
                </p:cNvPr>
                <p:cNvSpPr txBox="1">
                  <a:spLocks noRot="1" noChangeAspect="1" noMove="1" noResize="1" noEditPoints="1" noAdjustHandles="1" noChangeArrowheads="1" noChangeShapeType="1" noTextEdit="1"/>
                </p:cNvSpPr>
                <p:nvPr/>
              </p:nvSpPr>
              <p:spPr>
                <a:xfrm>
                  <a:off x="7976054" y="5824845"/>
                  <a:ext cx="296491" cy="276999"/>
                </a:xfrm>
                <a:prstGeom prst="rect">
                  <a:avLst/>
                </a:prstGeom>
                <a:blipFill>
                  <a:blip r:embed="rId43"/>
                  <a:stretch>
                    <a:fillRect l="-12000" r="-4000" b="-17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DA628EB5-297E-1C00-F3E0-2A738B7CEB2A}"/>
                    </a:ext>
                  </a:extLst>
                </p:cNvPr>
                <p:cNvSpPr txBox="1"/>
                <p:nvPr/>
              </p:nvSpPr>
              <p:spPr>
                <a:xfrm>
                  <a:off x="8315836" y="4451256"/>
                  <a:ext cx="28507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𝑞</m:t>
                            </m:r>
                          </m:e>
                          <m:sub>
                            <m:r>
                              <a:rPr lang="en-US" altLang="zh-CN" b="0" i="1" smtClean="0">
                                <a:latin typeface="Cambria Math" panose="02040503050406030204" pitchFamily="18" charset="0"/>
                              </a:rPr>
                              <m:t>1</m:t>
                            </m:r>
                          </m:sub>
                        </m:sSub>
                      </m:oMath>
                    </m:oMathPara>
                  </a14:m>
                  <a:endParaRPr lang="en-US"/>
                </a:p>
              </p:txBody>
            </p:sp>
          </mc:Choice>
          <mc:Fallback xmlns="">
            <p:sp>
              <p:nvSpPr>
                <p:cNvPr id="93" name="TextBox 92">
                  <a:extLst>
                    <a:ext uri="{FF2B5EF4-FFF2-40B4-BE49-F238E27FC236}">
                      <a16:creationId xmlns:a16="http://schemas.microsoft.com/office/drawing/2014/main" id="{DA628EB5-297E-1C00-F3E0-2A738B7CEB2A}"/>
                    </a:ext>
                  </a:extLst>
                </p:cNvPr>
                <p:cNvSpPr txBox="1">
                  <a:spLocks noRot="1" noChangeAspect="1" noMove="1" noResize="1" noEditPoints="1" noAdjustHandles="1" noChangeArrowheads="1" noChangeShapeType="1" noTextEdit="1"/>
                </p:cNvSpPr>
                <p:nvPr/>
              </p:nvSpPr>
              <p:spPr>
                <a:xfrm>
                  <a:off x="8315836" y="4451256"/>
                  <a:ext cx="285078" cy="276999"/>
                </a:xfrm>
                <a:prstGeom prst="rect">
                  <a:avLst/>
                </a:prstGeom>
                <a:blipFill>
                  <a:blip r:embed="rId44"/>
                  <a:stretch>
                    <a:fillRect l="-16667" r="-4167" b="-304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894A56B0-8F2D-266E-C47C-A337C28A980F}"/>
                    </a:ext>
                  </a:extLst>
                </p:cNvPr>
                <p:cNvSpPr txBox="1"/>
                <p:nvPr/>
              </p:nvSpPr>
              <p:spPr>
                <a:xfrm>
                  <a:off x="8321932" y="4762666"/>
                  <a:ext cx="29040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𝑞</m:t>
                            </m:r>
                          </m:e>
                          <m:sub>
                            <m:r>
                              <a:rPr lang="en-US" altLang="zh-CN" b="0" i="1" smtClean="0">
                                <a:latin typeface="Cambria Math" panose="02040503050406030204" pitchFamily="18" charset="0"/>
                              </a:rPr>
                              <m:t>2</m:t>
                            </m:r>
                          </m:sub>
                        </m:sSub>
                      </m:oMath>
                    </m:oMathPara>
                  </a14:m>
                  <a:endParaRPr lang="en-US"/>
                </a:p>
              </p:txBody>
            </p:sp>
          </mc:Choice>
          <mc:Fallback xmlns="">
            <p:sp>
              <p:nvSpPr>
                <p:cNvPr id="94" name="TextBox 93">
                  <a:extLst>
                    <a:ext uri="{FF2B5EF4-FFF2-40B4-BE49-F238E27FC236}">
                      <a16:creationId xmlns:a16="http://schemas.microsoft.com/office/drawing/2014/main" id="{894A56B0-8F2D-266E-C47C-A337C28A980F}"/>
                    </a:ext>
                  </a:extLst>
                </p:cNvPr>
                <p:cNvSpPr txBox="1">
                  <a:spLocks noRot="1" noChangeAspect="1" noMove="1" noResize="1" noEditPoints="1" noAdjustHandles="1" noChangeArrowheads="1" noChangeShapeType="1" noTextEdit="1"/>
                </p:cNvSpPr>
                <p:nvPr/>
              </p:nvSpPr>
              <p:spPr>
                <a:xfrm>
                  <a:off x="8321932" y="4762666"/>
                  <a:ext cx="290401" cy="276999"/>
                </a:xfrm>
                <a:prstGeom prst="rect">
                  <a:avLst/>
                </a:prstGeom>
                <a:blipFill>
                  <a:blip r:embed="rId45"/>
                  <a:stretch>
                    <a:fillRect l="-20833" r="-4167" b="-304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DD665A9F-D593-6849-4CBF-1C53474CDA20}"/>
                    </a:ext>
                  </a:extLst>
                </p:cNvPr>
                <p:cNvSpPr txBox="1"/>
                <p:nvPr/>
              </p:nvSpPr>
              <p:spPr>
                <a:xfrm>
                  <a:off x="8318884" y="5067663"/>
                  <a:ext cx="29040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𝑞</m:t>
                            </m:r>
                          </m:e>
                          <m:sub>
                            <m:r>
                              <a:rPr lang="en-US" altLang="zh-CN" b="0" i="1" smtClean="0">
                                <a:latin typeface="Cambria Math" panose="02040503050406030204" pitchFamily="18" charset="0"/>
                              </a:rPr>
                              <m:t>3</m:t>
                            </m:r>
                          </m:sub>
                        </m:sSub>
                      </m:oMath>
                    </m:oMathPara>
                  </a14:m>
                  <a:endParaRPr lang="en-US"/>
                </a:p>
              </p:txBody>
            </p:sp>
          </mc:Choice>
          <mc:Fallback xmlns="">
            <p:sp>
              <p:nvSpPr>
                <p:cNvPr id="95" name="TextBox 94">
                  <a:extLst>
                    <a:ext uri="{FF2B5EF4-FFF2-40B4-BE49-F238E27FC236}">
                      <a16:creationId xmlns:a16="http://schemas.microsoft.com/office/drawing/2014/main" id="{DD665A9F-D593-6849-4CBF-1C53474CDA20}"/>
                    </a:ext>
                  </a:extLst>
                </p:cNvPr>
                <p:cNvSpPr txBox="1">
                  <a:spLocks noRot="1" noChangeAspect="1" noMove="1" noResize="1" noEditPoints="1" noAdjustHandles="1" noChangeArrowheads="1" noChangeShapeType="1" noTextEdit="1"/>
                </p:cNvSpPr>
                <p:nvPr/>
              </p:nvSpPr>
              <p:spPr>
                <a:xfrm>
                  <a:off x="8318884" y="5067663"/>
                  <a:ext cx="290401" cy="276999"/>
                </a:xfrm>
                <a:prstGeom prst="rect">
                  <a:avLst/>
                </a:prstGeom>
                <a:blipFill>
                  <a:blip r:embed="rId46"/>
                  <a:stretch>
                    <a:fillRect l="-21739" r="-4348" b="-304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2EB9F7A4-097A-5447-1F81-8261496E83AE}"/>
                    </a:ext>
                  </a:extLst>
                </p:cNvPr>
                <p:cNvSpPr txBox="1"/>
                <p:nvPr/>
              </p:nvSpPr>
              <p:spPr>
                <a:xfrm>
                  <a:off x="8306692" y="5409235"/>
                  <a:ext cx="29040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𝑞</m:t>
                            </m:r>
                          </m:e>
                          <m:sub>
                            <m:r>
                              <a:rPr lang="en-US" altLang="zh-CN" b="0" i="1" smtClean="0">
                                <a:latin typeface="Cambria Math" panose="02040503050406030204" pitchFamily="18" charset="0"/>
                              </a:rPr>
                              <m:t>4</m:t>
                            </m:r>
                          </m:sub>
                        </m:sSub>
                      </m:oMath>
                    </m:oMathPara>
                  </a14:m>
                  <a:endParaRPr lang="en-US"/>
                </a:p>
              </p:txBody>
            </p:sp>
          </mc:Choice>
          <mc:Fallback xmlns="">
            <p:sp>
              <p:nvSpPr>
                <p:cNvPr id="96" name="TextBox 95">
                  <a:extLst>
                    <a:ext uri="{FF2B5EF4-FFF2-40B4-BE49-F238E27FC236}">
                      <a16:creationId xmlns:a16="http://schemas.microsoft.com/office/drawing/2014/main" id="{2EB9F7A4-097A-5447-1F81-8261496E83AE}"/>
                    </a:ext>
                  </a:extLst>
                </p:cNvPr>
                <p:cNvSpPr txBox="1">
                  <a:spLocks noRot="1" noChangeAspect="1" noMove="1" noResize="1" noEditPoints="1" noAdjustHandles="1" noChangeArrowheads="1" noChangeShapeType="1" noTextEdit="1"/>
                </p:cNvSpPr>
                <p:nvPr/>
              </p:nvSpPr>
              <p:spPr>
                <a:xfrm>
                  <a:off x="8306692" y="5409235"/>
                  <a:ext cx="290401" cy="276999"/>
                </a:xfrm>
                <a:prstGeom prst="rect">
                  <a:avLst/>
                </a:prstGeom>
                <a:blipFill>
                  <a:blip r:embed="rId47"/>
                  <a:stretch>
                    <a:fillRect l="-21739" r="-4348" b="-304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5149AF71-E2FB-9C2D-59D6-2ABE96174AE7}"/>
                    </a:ext>
                  </a:extLst>
                </p:cNvPr>
                <p:cNvSpPr txBox="1"/>
                <p:nvPr/>
              </p:nvSpPr>
              <p:spPr>
                <a:xfrm>
                  <a:off x="8894656" y="4451256"/>
                  <a:ext cx="28571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oMath>
                    </m:oMathPara>
                  </a14:m>
                  <a:endParaRPr lang="en-US"/>
                </a:p>
              </p:txBody>
            </p:sp>
          </mc:Choice>
          <mc:Fallback xmlns="">
            <p:sp>
              <p:nvSpPr>
                <p:cNvPr id="97" name="TextBox 96">
                  <a:extLst>
                    <a:ext uri="{FF2B5EF4-FFF2-40B4-BE49-F238E27FC236}">
                      <a16:creationId xmlns:a16="http://schemas.microsoft.com/office/drawing/2014/main" id="{5149AF71-E2FB-9C2D-59D6-2ABE96174AE7}"/>
                    </a:ext>
                  </a:extLst>
                </p:cNvPr>
                <p:cNvSpPr txBox="1">
                  <a:spLocks noRot="1" noChangeAspect="1" noMove="1" noResize="1" noEditPoints="1" noAdjustHandles="1" noChangeArrowheads="1" noChangeShapeType="1" noTextEdit="1"/>
                </p:cNvSpPr>
                <p:nvPr/>
              </p:nvSpPr>
              <p:spPr>
                <a:xfrm>
                  <a:off x="8894656" y="4451256"/>
                  <a:ext cx="285719" cy="276999"/>
                </a:xfrm>
                <a:prstGeom prst="rect">
                  <a:avLst/>
                </a:prstGeom>
                <a:blipFill>
                  <a:blip r:embed="rId48"/>
                  <a:stretch>
                    <a:fillRect l="-13043" r="-4348" b="-17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9F9C45A8-CDD2-4C24-7EE4-3D4E6C73B2C7}"/>
                    </a:ext>
                  </a:extLst>
                </p:cNvPr>
                <p:cNvSpPr txBox="1"/>
                <p:nvPr/>
              </p:nvSpPr>
              <p:spPr>
                <a:xfrm>
                  <a:off x="8900752" y="4762666"/>
                  <a:ext cx="29104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oMath>
                    </m:oMathPara>
                  </a14:m>
                  <a:endParaRPr lang="en-US"/>
                </a:p>
              </p:txBody>
            </p:sp>
          </mc:Choice>
          <mc:Fallback xmlns="">
            <p:sp>
              <p:nvSpPr>
                <p:cNvPr id="98" name="TextBox 97">
                  <a:extLst>
                    <a:ext uri="{FF2B5EF4-FFF2-40B4-BE49-F238E27FC236}">
                      <a16:creationId xmlns:a16="http://schemas.microsoft.com/office/drawing/2014/main" id="{9F9C45A8-CDD2-4C24-7EE4-3D4E6C73B2C7}"/>
                    </a:ext>
                  </a:extLst>
                </p:cNvPr>
                <p:cNvSpPr txBox="1">
                  <a:spLocks noRot="1" noChangeAspect="1" noMove="1" noResize="1" noEditPoints="1" noAdjustHandles="1" noChangeArrowheads="1" noChangeShapeType="1" noTextEdit="1"/>
                </p:cNvSpPr>
                <p:nvPr/>
              </p:nvSpPr>
              <p:spPr>
                <a:xfrm>
                  <a:off x="8900752" y="4762666"/>
                  <a:ext cx="291042" cy="276999"/>
                </a:xfrm>
                <a:prstGeom prst="rect">
                  <a:avLst/>
                </a:prstGeom>
                <a:blipFill>
                  <a:blip r:embed="rId49"/>
                  <a:stretch>
                    <a:fillRect l="-8333" r="-4167" b="-17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C1CD0B64-C792-3B36-2E7C-68DED45771E5}"/>
                    </a:ext>
                  </a:extLst>
                </p:cNvPr>
                <p:cNvSpPr txBox="1"/>
                <p:nvPr/>
              </p:nvSpPr>
              <p:spPr>
                <a:xfrm>
                  <a:off x="8897704" y="5067663"/>
                  <a:ext cx="29104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3</m:t>
                            </m:r>
                          </m:sub>
                        </m:sSub>
                      </m:oMath>
                    </m:oMathPara>
                  </a14:m>
                  <a:endParaRPr lang="en-US"/>
                </a:p>
              </p:txBody>
            </p:sp>
          </mc:Choice>
          <mc:Fallback xmlns="">
            <p:sp>
              <p:nvSpPr>
                <p:cNvPr id="99" name="TextBox 98">
                  <a:extLst>
                    <a:ext uri="{FF2B5EF4-FFF2-40B4-BE49-F238E27FC236}">
                      <a16:creationId xmlns:a16="http://schemas.microsoft.com/office/drawing/2014/main" id="{C1CD0B64-C792-3B36-2E7C-68DED45771E5}"/>
                    </a:ext>
                  </a:extLst>
                </p:cNvPr>
                <p:cNvSpPr txBox="1">
                  <a:spLocks noRot="1" noChangeAspect="1" noMove="1" noResize="1" noEditPoints="1" noAdjustHandles="1" noChangeArrowheads="1" noChangeShapeType="1" noTextEdit="1"/>
                </p:cNvSpPr>
                <p:nvPr/>
              </p:nvSpPr>
              <p:spPr>
                <a:xfrm>
                  <a:off x="8897704" y="5067663"/>
                  <a:ext cx="291042" cy="276999"/>
                </a:xfrm>
                <a:prstGeom prst="rect">
                  <a:avLst/>
                </a:prstGeom>
                <a:blipFill>
                  <a:blip r:embed="rId50"/>
                  <a:stretch>
                    <a:fillRect l="-8333" r="-4167" b="-17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5B5C1932-8A7A-BED8-8C74-D9810A29FF6E}"/>
                    </a:ext>
                  </a:extLst>
                </p:cNvPr>
                <p:cNvSpPr txBox="1"/>
                <p:nvPr/>
              </p:nvSpPr>
              <p:spPr>
                <a:xfrm>
                  <a:off x="8885512" y="5409235"/>
                  <a:ext cx="29104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4</m:t>
                            </m:r>
                          </m:sub>
                        </m:sSub>
                      </m:oMath>
                    </m:oMathPara>
                  </a14:m>
                  <a:endParaRPr lang="en-US"/>
                </a:p>
              </p:txBody>
            </p:sp>
          </mc:Choice>
          <mc:Fallback xmlns="">
            <p:sp>
              <p:nvSpPr>
                <p:cNvPr id="100" name="TextBox 99">
                  <a:extLst>
                    <a:ext uri="{FF2B5EF4-FFF2-40B4-BE49-F238E27FC236}">
                      <a16:creationId xmlns:a16="http://schemas.microsoft.com/office/drawing/2014/main" id="{5B5C1932-8A7A-BED8-8C74-D9810A29FF6E}"/>
                    </a:ext>
                  </a:extLst>
                </p:cNvPr>
                <p:cNvSpPr txBox="1">
                  <a:spLocks noRot="1" noChangeAspect="1" noMove="1" noResize="1" noEditPoints="1" noAdjustHandles="1" noChangeArrowheads="1" noChangeShapeType="1" noTextEdit="1"/>
                </p:cNvSpPr>
                <p:nvPr/>
              </p:nvSpPr>
              <p:spPr>
                <a:xfrm>
                  <a:off x="8885512" y="5409235"/>
                  <a:ext cx="291042" cy="276999"/>
                </a:xfrm>
                <a:prstGeom prst="rect">
                  <a:avLst/>
                </a:prstGeom>
                <a:blipFill>
                  <a:blip r:embed="rId51"/>
                  <a:stretch>
                    <a:fillRect l="-8333" r="-4167" b="-17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362E0CC0-A832-57EF-78B2-4E18451672E3}"/>
                    </a:ext>
                  </a:extLst>
                </p:cNvPr>
                <p:cNvSpPr txBox="1"/>
                <p:nvPr/>
              </p:nvSpPr>
              <p:spPr>
                <a:xfrm>
                  <a:off x="7075024" y="6235953"/>
                  <a:ext cx="28571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oMath>
                    </m:oMathPara>
                  </a14:m>
                  <a:endParaRPr lang="en-US"/>
                </a:p>
              </p:txBody>
            </p:sp>
          </mc:Choice>
          <mc:Fallback xmlns="">
            <p:sp>
              <p:nvSpPr>
                <p:cNvPr id="101" name="TextBox 100">
                  <a:extLst>
                    <a:ext uri="{FF2B5EF4-FFF2-40B4-BE49-F238E27FC236}">
                      <a16:creationId xmlns:a16="http://schemas.microsoft.com/office/drawing/2014/main" id="{362E0CC0-A832-57EF-78B2-4E18451672E3}"/>
                    </a:ext>
                  </a:extLst>
                </p:cNvPr>
                <p:cNvSpPr txBox="1">
                  <a:spLocks noRot="1" noChangeAspect="1" noMove="1" noResize="1" noEditPoints="1" noAdjustHandles="1" noChangeArrowheads="1" noChangeShapeType="1" noTextEdit="1"/>
                </p:cNvSpPr>
                <p:nvPr/>
              </p:nvSpPr>
              <p:spPr>
                <a:xfrm>
                  <a:off x="7075024" y="6235953"/>
                  <a:ext cx="285719" cy="276999"/>
                </a:xfrm>
                <a:prstGeom prst="rect">
                  <a:avLst/>
                </a:prstGeom>
                <a:blipFill>
                  <a:blip r:embed="rId52"/>
                  <a:stretch>
                    <a:fillRect l="-13043" r="-4348" b="-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771D4278-DCA4-33F3-FA08-8E7816331AE8}"/>
                    </a:ext>
                  </a:extLst>
                </p:cNvPr>
                <p:cNvSpPr txBox="1"/>
                <p:nvPr/>
              </p:nvSpPr>
              <p:spPr>
                <a:xfrm>
                  <a:off x="7375985" y="6240854"/>
                  <a:ext cx="29104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oMath>
                    </m:oMathPara>
                  </a14:m>
                  <a:endParaRPr lang="en-US"/>
                </a:p>
              </p:txBody>
            </p:sp>
          </mc:Choice>
          <mc:Fallback xmlns="">
            <p:sp>
              <p:nvSpPr>
                <p:cNvPr id="102" name="TextBox 101">
                  <a:extLst>
                    <a:ext uri="{FF2B5EF4-FFF2-40B4-BE49-F238E27FC236}">
                      <a16:creationId xmlns:a16="http://schemas.microsoft.com/office/drawing/2014/main" id="{771D4278-DCA4-33F3-FA08-8E7816331AE8}"/>
                    </a:ext>
                  </a:extLst>
                </p:cNvPr>
                <p:cNvSpPr txBox="1">
                  <a:spLocks noRot="1" noChangeAspect="1" noMove="1" noResize="1" noEditPoints="1" noAdjustHandles="1" noChangeArrowheads="1" noChangeShapeType="1" noTextEdit="1"/>
                </p:cNvSpPr>
                <p:nvPr/>
              </p:nvSpPr>
              <p:spPr>
                <a:xfrm>
                  <a:off x="7375985" y="6240854"/>
                  <a:ext cx="291042" cy="276999"/>
                </a:xfrm>
                <a:prstGeom prst="rect">
                  <a:avLst/>
                </a:prstGeom>
                <a:blipFill>
                  <a:blip r:embed="rId53"/>
                  <a:stretch>
                    <a:fillRect l="-8333" r="-4167" b="-17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8863582C-5C35-D229-74EB-B3F60DC7253B}"/>
                    </a:ext>
                  </a:extLst>
                </p:cNvPr>
                <p:cNvSpPr txBox="1"/>
                <p:nvPr/>
              </p:nvSpPr>
              <p:spPr>
                <a:xfrm>
                  <a:off x="7657132" y="6257098"/>
                  <a:ext cx="29104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3</m:t>
                            </m:r>
                          </m:sub>
                        </m:sSub>
                      </m:oMath>
                    </m:oMathPara>
                  </a14:m>
                  <a:endParaRPr lang="en-US"/>
                </a:p>
              </p:txBody>
            </p:sp>
          </mc:Choice>
          <mc:Fallback xmlns="">
            <p:sp>
              <p:nvSpPr>
                <p:cNvPr id="103" name="TextBox 102">
                  <a:extLst>
                    <a:ext uri="{FF2B5EF4-FFF2-40B4-BE49-F238E27FC236}">
                      <a16:creationId xmlns:a16="http://schemas.microsoft.com/office/drawing/2014/main" id="{8863582C-5C35-D229-74EB-B3F60DC7253B}"/>
                    </a:ext>
                  </a:extLst>
                </p:cNvPr>
                <p:cNvSpPr txBox="1">
                  <a:spLocks noRot="1" noChangeAspect="1" noMove="1" noResize="1" noEditPoints="1" noAdjustHandles="1" noChangeArrowheads="1" noChangeShapeType="1" noTextEdit="1"/>
                </p:cNvSpPr>
                <p:nvPr/>
              </p:nvSpPr>
              <p:spPr>
                <a:xfrm>
                  <a:off x="7657132" y="6257098"/>
                  <a:ext cx="291042" cy="276999"/>
                </a:xfrm>
                <a:prstGeom prst="rect">
                  <a:avLst/>
                </a:prstGeom>
                <a:blipFill>
                  <a:blip r:embed="rId54"/>
                  <a:stretch>
                    <a:fillRect l="-8333" r="-4167" b="-17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DAFC121B-69F7-AFAF-6817-B67BDD8233ED}"/>
                    </a:ext>
                  </a:extLst>
                </p:cNvPr>
                <p:cNvSpPr txBox="1"/>
                <p:nvPr/>
              </p:nvSpPr>
              <p:spPr>
                <a:xfrm>
                  <a:off x="7970776" y="6236367"/>
                  <a:ext cx="29104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4</m:t>
                            </m:r>
                          </m:sub>
                        </m:sSub>
                      </m:oMath>
                    </m:oMathPara>
                  </a14:m>
                  <a:endParaRPr lang="en-US"/>
                </a:p>
              </p:txBody>
            </p:sp>
          </mc:Choice>
          <mc:Fallback xmlns="">
            <p:sp>
              <p:nvSpPr>
                <p:cNvPr id="104" name="TextBox 103">
                  <a:extLst>
                    <a:ext uri="{FF2B5EF4-FFF2-40B4-BE49-F238E27FC236}">
                      <a16:creationId xmlns:a16="http://schemas.microsoft.com/office/drawing/2014/main" id="{DAFC121B-69F7-AFAF-6817-B67BDD8233ED}"/>
                    </a:ext>
                  </a:extLst>
                </p:cNvPr>
                <p:cNvSpPr txBox="1">
                  <a:spLocks noRot="1" noChangeAspect="1" noMove="1" noResize="1" noEditPoints="1" noAdjustHandles="1" noChangeArrowheads="1" noChangeShapeType="1" noTextEdit="1"/>
                </p:cNvSpPr>
                <p:nvPr/>
              </p:nvSpPr>
              <p:spPr>
                <a:xfrm>
                  <a:off x="7970776" y="6236367"/>
                  <a:ext cx="291042" cy="276999"/>
                </a:xfrm>
                <a:prstGeom prst="rect">
                  <a:avLst/>
                </a:prstGeom>
                <a:blipFill>
                  <a:blip r:embed="rId55"/>
                  <a:stretch>
                    <a:fillRect l="-8333" r="-4167" b="-18182"/>
                  </a:stretch>
                </a:blipFill>
              </p:spPr>
              <p:txBody>
                <a:bodyPr/>
                <a:lstStyle/>
                <a:p>
                  <a:r>
                    <a:rPr lang="en-US">
                      <a:noFill/>
                    </a:rPr>
                    <a:t> </a:t>
                  </a:r>
                </a:p>
              </p:txBody>
            </p:sp>
          </mc:Fallback>
        </mc:AlternateContent>
        <p:sp>
          <p:nvSpPr>
            <p:cNvPr id="106" name="Rectangle 105">
              <a:extLst>
                <a:ext uri="{FF2B5EF4-FFF2-40B4-BE49-F238E27FC236}">
                  <a16:creationId xmlns:a16="http://schemas.microsoft.com/office/drawing/2014/main" id="{E67C0952-1BEB-1C29-8041-A5F51C009A5F}"/>
                </a:ext>
              </a:extLst>
            </p:cNvPr>
            <p:cNvSpPr/>
            <p:nvPr/>
          </p:nvSpPr>
          <p:spPr>
            <a:xfrm rot="16200000">
              <a:off x="3908879" y="5475402"/>
              <a:ext cx="229394" cy="229394"/>
            </a:xfrm>
            <a:prstGeom prst="rect">
              <a:avLst/>
            </a:prstGeom>
            <a:solidFill>
              <a:schemeClr val="accent2">
                <a:lumMod val="20000"/>
                <a:lumOff val="80000"/>
              </a:schemeClr>
            </a:solidFill>
            <a:ln w="9525">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1507FF1A-C4AE-BCCA-3258-08C91A56166A}"/>
                </a:ext>
              </a:extLst>
            </p:cNvPr>
            <p:cNvSpPr/>
            <p:nvPr/>
          </p:nvSpPr>
          <p:spPr>
            <a:xfrm rot="16200000">
              <a:off x="3908879" y="5190198"/>
              <a:ext cx="229394" cy="229394"/>
            </a:xfrm>
            <a:prstGeom prst="rect">
              <a:avLst/>
            </a:prstGeom>
            <a:solidFill>
              <a:schemeClr val="accent2">
                <a:lumMod val="20000"/>
                <a:lumOff val="80000"/>
              </a:schemeClr>
            </a:solidFill>
            <a:ln w="9525">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1CA6AB51-B87D-EB79-9A8B-B35BAE3E1845}"/>
                </a:ext>
              </a:extLst>
            </p:cNvPr>
            <p:cNvSpPr/>
            <p:nvPr/>
          </p:nvSpPr>
          <p:spPr>
            <a:xfrm rot="16200000">
              <a:off x="3908879" y="4904995"/>
              <a:ext cx="229394" cy="229394"/>
            </a:xfrm>
            <a:prstGeom prst="rect">
              <a:avLst/>
            </a:prstGeom>
            <a:solidFill>
              <a:schemeClr val="accent2">
                <a:lumMod val="40000"/>
                <a:lumOff val="60000"/>
              </a:schemeClr>
            </a:solidFill>
            <a:ln w="9525">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878C2823-8D97-1C74-D50F-6FDB366834F4}"/>
                </a:ext>
              </a:extLst>
            </p:cNvPr>
            <p:cNvSpPr/>
            <p:nvPr/>
          </p:nvSpPr>
          <p:spPr>
            <a:xfrm rot="16200000">
              <a:off x="3908879" y="4619791"/>
              <a:ext cx="229394" cy="229394"/>
            </a:xfrm>
            <a:prstGeom prst="rect">
              <a:avLst/>
            </a:prstGeom>
            <a:solidFill>
              <a:schemeClr val="accent2">
                <a:lumMod val="20000"/>
                <a:lumOff val="80000"/>
              </a:schemeClr>
            </a:solidFill>
            <a:ln w="9525">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1311621F-877E-BF88-96A7-5162D18BAE3D}"/>
                </a:ext>
              </a:extLst>
            </p:cNvPr>
            <p:cNvSpPr/>
            <p:nvPr/>
          </p:nvSpPr>
          <p:spPr>
            <a:xfrm rot="16200000">
              <a:off x="4173774" y="5475402"/>
              <a:ext cx="229394" cy="229394"/>
            </a:xfrm>
            <a:prstGeom prst="rect">
              <a:avLst/>
            </a:prstGeom>
            <a:solidFill>
              <a:schemeClr val="accent2">
                <a:lumMod val="20000"/>
                <a:lumOff val="80000"/>
              </a:schemeClr>
            </a:solidFill>
            <a:ln w="9525">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49851F67-EE25-1744-1D94-58CC393D6A51}"/>
                </a:ext>
              </a:extLst>
            </p:cNvPr>
            <p:cNvSpPr/>
            <p:nvPr/>
          </p:nvSpPr>
          <p:spPr>
            <a:xfrm rot="16200000">
              <a:off x="4173774" y="5190198"/>
              <a:ext cx="229394" cy="229394"/>
            </a:xfrm>
            <a:prstGeom prst="rect">
              <a:avLst/>
            </a:prstGeom>
            <a:solidFill>
              <a:schemeClr val="accent2">
                <a:lumMod val="20000"/>
                <a:lumOff val="80000"/>
              </a:schemeClr>
            </a:solidFill>
            <a:ln w="9525">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D2FEB466-7DD4-BC1E-A52C-40C3C3CCCED3}"/>
                </a:ext>
              </a:extLst>
            </p:cNvPr>
            <p:cNvSpPr/>
            <p:nvPr/>
          </p:nvSpPr>
          <p:spPr>
            <a:xfrm rot="16200000">
              <a:off x="4173774" y="4904995"/>
              <a:ext cx="229394" cy="229394"/>
            </a:xfrm>
            <a:prstGeom prst="rect">
              <a:avLst/>
            </a:prstGeom>
            <a:solidFill>
              <a:schemeClr val="accent2">
                <a:lumMod val="40000"/>
                <a:lumOff val="60000"/>
              </a:schemeClr>
            </a:solidFill>
            <a:ln w="9525">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6D5121E6-1FAE-6EE8-14BC-42D7FA7E9AB9}"/>
                </a:ext>
              </a:extLst>
            </p:cNvPr>
            <p:cNvSpPr/>
            <p:nvPr/>
          </p:nvSpPr>
          <p:spPr>
            <a:xfrm rot="16200000">
              <a:off x="4173774" y="4619791"/>
              <a:ext cx="229394" cy="229394"/>
            </a:xfrm>
            <a:prstGeom prst="rect">
              <a:avLst/>
            </a:prstGeom>
            <a:solidFill>
              <a:schemeClr val="accent2">
                <a:lumMod val="20000"/>
                <a:lumOff val="80000"/>
              </a:schemeClr>
            </a:solidFill>
            <a:ln w="9525">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a:extLst>
                <a:ext uri="{FF2B5EF4-FFF2-40B4-BE49-F238E27FC236}">
                  <a16:creationId xmlns:a16="http://schemas.microsoft.com/office/drawing/2014/main" id="{B313CD83-FC08-4492-D473-2323C7FDF1D2}"/>
                </a:ext>
              </a:extLst>
            </p:cNvPr>
            <p:cNvSpPr/>
            <p:nvPr/>
          </p:nvSpPr>
          <p:spPr>
            <a:xfrm rot="16200000">
              <a:off x="4438668" y="5475402"/>
              <a:ext cx="229394" cy="229394"/>
            </a:xfrm>
            <a:prstGeom prst="rect">
              <a:avLst/>
            </a:prstGeom>
            <a:solidFill>
              <a:schemeClr val="accent2">
                <a:lumMod val="20000"/>
                <a:lumOff val="80000"/>
              </a:schemeClr>
            </a:solidFill>
            <a:ln w="9525">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B778BB90-4006-D07E-BE05-5BEDA5DB55B0}"/>
                </a:ext>
              </a:extLst>
            </p:cNvPr>
            <p:cNvSpPr/>
            <p:nvPr/>
          </p:nvSpPr>
          <p:spPr>
            <a:xfrm rot="16200000">
              <a:off x="4438668" y="5190198"/>
              <a:ext cx="229394" cy="229394"/>
            </a:xfrm>
            <a:prstGeom prst="rect">
              <a:avLst/>
            </a:prstGeom>
            <a:solidFill>
              <a:schemeClr val="accent2">
                <a:lumMod val="20000"/>
                <a:lumOff val="80000"/>
              </a:schemeClr>
            </a:solidFill>
            <a:ln w="9525">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115">
              <a:extLst>
                <a:ext uri="{FF2B5EF4-FFF2-40B4-BE49-F238E27FC236}">
                  <a16:creationId xmlns:a16="http://schemas.microsoft.com/office/drawing/2014/main" id="{4CC545B7-518E-5DF3-6995-2EA7EBD37ED3}"/>
                </a:ext>
              </a:extLst>
            </p:cNvPr>
            <p:cNvSpPr/>
            <p:nvPr/>
          </p:nvSpPr>
          <p:spPr>
            <a:xfrm rot="16200000">
              <a:off x="4438668" y="4904995"/>
              <a:ext cx="229394" cy="229394"/>
            </a:xfrm>
            <a:prstGeom prst="rect">
              <a:avLst/>
            </a:prstGeom>
            <a:solidFill>
              <a:schemeClr val="accent2">
                <a:lumMod val="40000"/>
                <a:lumOff val="60000"/>
              </a:schemeClr>
            </a:solidFill>
            <a:ln w="9525">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504633A8-3365-4EE8-423E-E52071FEE67C}"/>
                </a:ext>
              </a:extLst>
            </p:cNvPr>
            <p:cNvSpPr/>
            <p:nvPr/>
          </p:nvSpPr>
          <p:spPr>
            <a:xfrm rot="16200000">
              <a:off x="4438668" y="4619791"/>
              <a:ext cx="229394" cy="229394"/>
            </a:xfrm>
            <a:prstGeom prst="rect">
              <a:avLst/>
            </a:prstGeom>
            <a:solidFill>
              <a:schemeClr val="accent2">
                <a:lumMod val="20000"/>
                <a:lumOff val="80000"/>
              </a:schemeClr>
            </a:solidFill>
            <a:ln w="9525">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CC9BA397-89F8-7523-50E8-607A510EC913}"/>
                </a:ext>
              </a:extLst>
            </p:cNvPr>
            <p:cNvSpPr/>
            <p:nvPr/>
          </p:nvSpPr>
          <p:spPr>
            <a:xfrm>
              <a:off x="5299862" y="4748494"/>
              <a:ext cx="229394" cy="229394"/>
            </a:xfrm>
            <a:prstGeom prst="rect">
              <a:avLst/>
            </a:prstGeom>
            <a:solidFill>
              <a:schemeClr val="accent4">
                <a:lumMod val="40000"/>
                <a:lumOff val="60000"/>
              </a:schemeClr>
            </a:solidFill>
            <a:ln w="9525">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19458EE6-619C-EBB4-A14B-917A54B7466A}"/>
                </a:ext>
              </a:extLst>
            </p:cNvPr>
            <p:cNvSpPr/>
            <p:nvPr/>
          </p:nvSpPr>
          <p:spPr>
            <a:xfrm>
              <a:off x="5585066" y="4748494"/>
              <a:ext cx="229394" cy="229394"/>
            </a:xfrm>
            <a:prstGeom prst="rect">
              <a:avLst/>
            </a:prstGeom>
            <a:solidFill>
              <a:schemeClr val="accent4">
                <a:lumMod val="40000"/>
                <a:lumOff val="60000"/>
              </a:schemeClr>
            </a:solidFill>
            <a:ln w="9525">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F7E2CD88-CC43-97F2-A510-5C778D3D575E}"/>
                </a:ext>
              </a:extLst>
            </p:cNvPr>
            <p:cNvSpPr/>
            <p:nvPr/>
          </p:nvSpPr>
          <p:spPr>
            <a:xfrm>
              <a:off x="5870269" y="4748494"/>
              <a:ext cx="229394" cy="229394"/>
            </a:xfrm>
            <a:prstGeom prst="rect">
              <a:avLst/>
            </a:prstGeom>
            <a:solidFill>
              <a:schemeClr val="accent4">
                <a:lumMod val="40000"/>
                <a:lumOff val="60000"/>
              </a:schemeClr>
            </a:solidFill>
            <a:ln w="9525">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DAF41D01-D46F-CB65-5A5A-D1902C85CE8F}"/>
                </a:ext>
              </a:extLst>
            </p:cNvPr>
            <p:cNvSpPr/>
            <p:nvPr/>
          </p:nvSpPr>
          <p:spPr>
            <a:xfrm>
              <a:off x="6155473" y="4748494"/>
              <a:ext cx="229394" cy="229394"/>
            </a:xfrm>
            <a:prstGeom prst="rect">
              <a:avLst/>
            </a:prstGeom>
            <a:solidFill>
              <a:schemeClr val="accent4">
                <a:lumMod val="40000"/>
                <a:lumOff val="60000"/>
              </a:schemeClr>
            </a:solidFill>
            <a:ln w="9525">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CC3B3E76-3E77-5AE8-2D5B-FF1711EC25AF}"/>
                </a:ext>
              </a:extLst>
            </p:cNvPr>
            <p:cNvSpPr/>
            <p:nvPr/>
          </p:nvSpPr>
          <p:spPr>
            <a:xfrm>
              <a:off x="5299862" y="5013389"/>
              <a:ext cx="229394" cy="229394"/>
            </a:xfrm>
            <a:prstGeom prst="rect">
              <a:avLst/>
            </a:prstGeom>
            <a:solidFill>
              <a:schemeClr val="accent4">
                <a:lumMod val="40000"/>
                <a:lumOff val="60000"/>
              </a:schemeClr>
            </a:solidFill>
            <a:ln w="9525">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CB0C39F7-B2AA-FB9F-4E07-B62D58791854}"/>
                </a:ext>
              </a:extLst>
            </p:cNvPr>
            <p:cNvSpPr/>
            <p:nvPr/>
          </p:nvSpPr>
          <p:spPr>
            <a:xfrm>
              <a:off x="5585066" y="5013389"/>
              <a:ext cx="229394" cy="229394"/>
            </a:xfrm>
            <a:prstGeom prst="rect">
              <a:avLst/>
            </a:prstGeom>
            <a:solidFill>
              <a:schemeClr val="accent4">
                <a:lumMod val="40000"/>
                <a:lumOff val="60000"/>
              </a:schemeClr>
            </a:solidFill>
            <a:ln w="9525">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124">
              <a:extLst>
                <a:ext uri="{FF2B5EF4-FFF2-40B4-BE49-F238E27FC236}">
                  <a16:creationId xmlns:a16="http://schemas.microsoft.com/office/drawing/2014/main" id="{2E250561-B075-2FA2-B961-BB0389351157}"/>
                </a:ext>
              </a:extLst>
            </p:cNvPr>
            <p:cNvSpPr/>
            <p:nvPr/>
          </p:nvSpPr>
          <p:spPr>
            <a:xfrm>
              <a:off x="5870269" y="5013389"/>
              <a:ext cx="229394" cy="229394"/>
            </a:xfrm>
            <a:prstGeom prst="rect">
              <a:avLst/>
            </a:prstGeom>
            <a:solidFill>
              <a:schemeClr val="accent4">
                <a:lumMod val="40000"/>
                <a:lumOff val="60000"/>
              </a:schemeClr>
            </a:solidFill>
            <a:ln w="9525">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2A7F9D6B-D8EE-35BA-EE50-B46241448573}"/>
                </a:ext>
              </a:extLst>
            </p:cNvPr>
            <p:cNvSpPr/>
            <p:nvPr/>
          </p:nvSpPr>
          <p:spPr>
            <a:xfrm>
              <a:off x="6155473" y="5013389"/>
              <a:ext cx="229394" cy="229394"/>
            </a:xfrm>
            <a:prstGeom prst="rect">
              <a:avLst/>
            </a:prstGeom>
            <a:solidFill>
              <a:schemeClr val="accent4">
                <a:lumMod val="40000"/>
                <a:lumOff val="60000"/>
              </a:schemeClr>
            </a:solidFill>
            <a:ln w="9525">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ectangle 126">
              <a:extLst>
                <a:ext uri="{FF2B5EF4-FFF2-40B4-BE49-F238E27FC236}">
                  <a16:creationId xmlns:a16="http://schemas.microsoft.com/office/drawing/2014/main" id="{ABBE73C8-6F61-D667-9147-8B1608C8B190}"/>
                </a:ext>
              </a:extLst>
            </p:cNvPr>
            <p:cNvSpPr/>
            <p:nvPr/>
          </p:nvSpPr>
          <p:spPr>
            <a:xfrm>
              <a:off x="5299862" y="5278283"/>
              <a:ext cx="229394" cy="229394"/>
            </a:xfrm>
            <a:prstGeom prst="rect">
              <a:avLst/>
            </a:prstGeom>
            <a:solidFill>
              <a:schemeClr val="accent4">
                <a:lumMod val="40000"/>
                <a:lumOff val="60000"/>
              </a:schemeClr>
            </a:solidFill>
            <a:ln w="9525">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0228E571-26CA-2F1B-17E6-BDC34754D6CA}"/>
                </a:ext>
              </a:extLst>
            </p:cNvPr>
            <p:cNvSpPr/>
            <p:nvPr/>
          </p:nvSpPr>
          <p:spPr>
            <a:xfrm>
              <a:off x="5585066" y="5278283"/>
              <a:ext cx="229394" cy="229394"/>
            </a:xfrm>
            <a:prstGeom prst="rect">
              <a:avLst/>
            </a:prstGeom>
            <a:solidFill>
              <a:schemeClr val="accent4">
                <a:lumMod val="40000"/>
                <a:lumOff val="60000"/>
              </a:schemeClr>
            </a:solidFill>
            <a:ln w="9525">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a:extLst>
                <a:ext uri="{FF2B5EF4-FFF2-40B4-BE49-F238E27FC236}">
                  <a16:creationId xmlns:a16="http://schemas.microsoft.com/office/drawing/2014/main" id="{8A9E56E8-34BA-0D25-B35B-8BD0C82A858F}"/>
                </a:ext>
              </a:extLst>
            </p:cNvPr>
            <p:cNvSpPr/>
            <p:nvPr/>
          </p:nvSpPr>
          <p:spPr>
            <a:xfrm>
              <a:off x="5870269" y="5278283"/>
              <a:ext cx="229394" cy="229394"/>
            </a:xfrm>
            <a:prstGeom prst="rect">
              <a:avLst/>
            </a:prstGeom>
            <a:solidFill>
              <a:schemeClr val="accent4">
                <a:lumMod val="40000"/>
                <a:lumOff val="60000"/>
              </a:schemeClr>
            </a:solidFill>
            <a:ln w="9525">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129">
              <a:extLst>
                <a:ext uri="{FF2B5EF4-FFF2-40B4-BE49-F238E27FC236}">
                  <a16:creationId xmlns:a16="http://schemas.microsoft.com/office/drawing/2014/main" id="{3B913237-296A-141C-0CB3-FFDDCDEBC5DE}"/>
                </a:ext>
              </a:extLst>
            </p:cNvPr>
            <p:cNvSpPr/>
            <p:nvPr/>
          </p:nvSpPr>
          <p:spPr>
            <a:xfrm>
              <a:off x="6155473" y="5278283"/>
              <a:ext cx="229394" cy="229394"/>
            </a:xfrm>
            <a:prstGeom prst="rect">
              <a:avLst/>
            </a:prstGeom>
            <a:solidFill>
              <a:schemeClr val="accent4">
                <a:lumMod val="40000"/>
                <a:lumOff val="60000"/>
              </a:schemeClr>
            </a:solidFill>
            <a:ln w="9525">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1" name="Group 130">
              <a:extLst>
                <a:ext uri="{FF2B5EF4-FFF2-40B4-BE49-F238E27FC236}">
                  <a16:creationId xmlns:a16="http://schemas.microsoft.com/office/drawing/2014/main" id="{3F7BA577-ACD8-54D0-C8AF-8B3317155A15}"/>
                </a:ext>
              </a:extLst>
            </p:cNvPr>
            <p:cNvGrpSpPr/>
            <p:nvPr/>
          </p:nvGrpSpPr>
          <p:grpSpPr>
            <a:xfrm>
              <a:off x="7072174" y="4578414"/>
              <a:ext cx="1040373" cy="1087153"/>
              <a:chOff x="9393730" y="4594955"/>
              <a:chExt cx="1040373" cy="1087153"/>
            </a:xfrm>
            <a:solidFill>
              <a:schemeClr val="accent2">
                <a:lumMod val="20000"/>
                <a:lumOff val="80000"/>
              </a:schemeClr>
            </a:solidFill>
            <a:effectLst>
              <a:outerShdw blurRad="50800" dist="38100" dir="2700000" algn="tl" rotWithShape="0">
                <a:prstClr val="black">
                  <a:alpha val="40000"/>
                </a:prstClr>
              </a:outerShdw>
            </a:effectLst>
          </p:grpSpPr>
          <p:sp>
            <p:nvSpPr>
              <p:cNvPr id="132" name="Rectangle 131">
                <a:extLst>
                  <a:ext uri="{FF2B5EF4-FFF2-40B4-BE49-F238E27FC236}">
                    <a16:creationId xmlns:a16="http://schemas.microsoft.com/office/drawing/2014/main" id="{2350052B-7F9D-FF9D-7C71-A7BF3FA7775D}"/>
                  </a:ext>
                </a:extLst>
              </p:cNvPr>
              <p:cNvSpPr/>
              <p:nvPr/>
            </p:nvSpPr>
            <p:spPr>
              <a:xfrm rot="16200000">
                <a:off x="9393730" y="5452714"/>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F273C93F-178A-AB9B-D17A-A602A94E343C}"/>
                  </a:ext>
                </a:extLst>
              </p:cNvPr>
              <p:cNvSpPr/>
              <p:nvPr/>
            </p:nvSpPr>
            <p:spPr>
              <a:xfrm rot="16200000">
                <a:off x="9393730" y="5167510"/>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A50350B0-B1E5-9358-3B7D-61D7EFA94C0C}"/>
                  </a:ext>
                </a:extLst>
              </p:cNvPr>
              <p:cNvSpPr/>
              <p:nvPr/>
            </p:nvSpPr>
            <p:spPr>
              <a:xfrm rot="16200000">
                <a:off x="9393730" y="4882307"/>
                <a:ext cx="229394" cy="229394"/>
              </a:xfrm>
              <a:prstGeom prst="rect">
                <a:avLst/>
              </a:prstGeom>
              <a:solidFill>
                <a:schemeClr val="accent2">
                  <a:lumMod val="7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1DD116DB-AA87-A648-81B4-DCB3650449D4}"/>
                  </a:ext>
                </a:extLst>
              </p:cNvPr>
              <p:cNvSpPr/>
              <p:nvPr/>
            </p:nvSpPr>
            <p:spPr>
              <a:xfrm rot="16200000">
                <a:off x="9393730" y="4597103"/>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02D97301-EAA9-1C70-8279-960D02935CE5}"/>
                  </a:ext>
                </a:extLst>
              </p:cNvPr>
              <p:cNvSpPr/>
              <p:nvPr/>
            </p:nvSpPr>
            <p:spPr>
              <a:xfrm rot="16200000">
                <a:off x="9658625" y="5452714"/>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CCD8B853-4384-91AE-1809-76B4364567CB}"/>
                  </a:ext>
                </a:extLst>
              </p:cNvPr>
              <p:cNvSpPr/>
              <p:nvPr/>
            </p:nvSpPr>
            <p:spPr>
              <a:xfrm rot="16200000">
                <a:off x="9658625" y="5167510"/>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E4A777C0-1D49-A82D-4C68-F05A16513C51}"/>
                  </a:ext>
                </a:extLst>
              </p:cNvPr>
              <p:cNvSpPr/>
              <p:nvPr/>
            </p:nvSpPr>
            <p:spPr>
              <a:xfrm rot="16200000">
                <a:off x="9658625" y="4882307"/>
                <a:ext cx="229394" cy="229394"/>
              </a:xfrm>
              <a:prstGeom prst="rect">
                <a:avLst/>
              </a:prstGeom>
              <a:solidFill>
                <a:schemeClr val="accent2">
                  <a:lumMod val="7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48019831-7535-B73A-A9A9-39F5DF84BD5E}"/>
                  </a:ext>
                </a:extLst>
              </p:cNvPr>
              <p:cNvSpPr/>
              <p:nvPr/>
            </p:nvSpPr>
            <p:spPr>
              <a:xfrm rot="16200000">
                <a:off x="9658625" y="4597103"/>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139">
                <a:extLst>
                  <a:ext uri="{FF2B5EF4-FFF2-40B4-BE49-F238E27FC236}">
                    <a16:creationId xmlns:a16="http://schemas.microsoft.com/office/drawing/2014/main" id="{44EC0AC7-4FD3-0865-1C78-9B53DB05D9D7}"/>
                  </a:ext>
                </a:extLst>
              </p:cNvPr>
              <p:cNvSpPr/>
              <p:nvPr/>
            </p:nvSpPr>
            <p:spPr>
              <a:xfrm rot="16200000">
                <a:off x="9923519" y="5452714"/>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9CC61535-CF9A-135C-99FA-268C1EB6E1E0}"/>
                  </a:ext>
                </a:extLst>
              </p:cNvPr>
              <p:cNvSpPr/>
              <p:nvPr/>
            </p:nvSpPr>
            <p:spPr>
              <a:xfrm rot="16200000">
                <a:off x="9923519" y="5167510"/>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E72FEE89-DEDD-E0F5-2923-9903D9A5E1A4}"/>
                  </a:ext>
                </a:extLst>
              </p:cNvPr>
              <p:cNvSpPr/>
              <p:nvPr/>
            </p:nvSpPr>
            <p:spPr>
              <a:xfrm rot="16200000">
                <a:off x="9923519" y="4882307"/>
                <a:ext cx="229394" cy="229394"/>
              </a:xfrm>
              <a:prstGeom prst="rect">
                <a:avLst/>
              </a:prstGeom>
              <a:solidFill>
                <a:schemeClr val="accent2">
                  <a:lumMod val="7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56388EE9-C1A1-71E7-BBE9-F02B1495F0DB}"/>
                  </a:ext>
                </a:extLst>
              </p:cNvPr>
              <p:cNvSpPr/>
              <p:nvPr/>
            </p:nvSpPr>
            <p:spPr>
              <a:xfrm rot="16200000">
                <a:off x="9923519" y="4597103"/>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F0D0A84B-77FA-383A-FDB4-7E1D25002976}"/>
                  </a:ext>
                </a:extLst>
              </p:cNvPr>
              <p:cNvSpPr/>
              <p:nvPr/>
            </p:nvSpPr>
            <p:spPr>
              <a:xfrm rot="16200000">
                <a:off x="10204709" y="5450566"/>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B31FC1A1-2860-E6F9-3420-05098434567A}"/>
                  </a:ext>
                </a:extLst>
              </p:cNvPr>
              <p:cNvSpPr/>
              <p:nvPr/>
            </p:nvSpPr>
            <p:spPr>
              <a:xfrm rot="16200000">
                <a:off x="10204709" y="5165362"/>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A49CD693-4FD6-7868-2162-4412B124813F}"/>
                  </a:ext>
                </a:extLst>
              </p:cNvPr>
              <p:cNvSpPr/>
              <p:nvPr/>
            </p:nvSpPr>
            <p:spPr>
              <a:xfrm rot="16200000">
                <a:off x="10204709" y="4880159"/>
                <a:ext cx="229394" cy="229394"/>
              </a:xfrm>
              <a:prstGeom prst="rect">
                <a:avLst/>
              </a:prstGeom>
              <a:solidFill>
                <a:schemeClr val="accent2">
                  <a:lumMod val="7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196B574D-00C0-F76D-753A-22C7B308DD2E}"/>
                  </a:ext>
                </a:extLst>
              </p:cNvPr>
              <p:cNvSpPr/>
              <p:nvPr/>
            </p:nvSpPr>
            <p:spPr>
              <a:xfrm rot="16200000">
                <a:off x="10204709" y="4594955"/>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8" name="TextBox 147">
              <a:extLst>
                <a:ext uri="{FF2B5EF4-FFF2-40B4-BE49-F238E27FC236}">
                  <a16:creationId xmlns:a16="http://schemas.microsoft.com/office/drawing/2014/main" id="{243DB622-34C3-53BB-87B6-653E29AF5DF5}"/>
                </a:ext>
              </a:extLst>
            </p:cNvPr>
            <p:cNvSpPr txBox="1"/>
            <p:nvPr/>
          </p:nvSpPr>
          <p:spPr>
            <a:xfrm>
              <a:off x="4106370" y="4037888"/>
              <a:ext cx="364202" cy="369332"/>
            </a:xfrm>
            <a:prstGeom prst="rect">
              <a:avLst/>
            </a:prstGeom>
            <a:noFill/>
          </p:spPr>
          <p:txBody>
            <a:bodyPr wrap="none" rtlCol="0">
              <a:spAutoFit/>
            </a:bodyPr>
            <a:lstStyle/>
            <a:p>
              <a:r>
                <a:rPr lang="en-US" dirty="0"/>
                <a:t>Q</a:t>
              </a:r>
            </a:p>
          </p:txBody>
        </p:sp>
        <p:sp>
          <p:nvSpPr>
            <p:cNvPr id="149" name="TextBox 148">
              <a:extLst>
                <a:ext uri="{FF2B5EF4-FFF2-40B4-BE49-F238E27FC236}">
                  <a16:creationId xmlns:a16="http://schemas.microsoft.com/office/drawing/2014/main" id="{A8EA29EA-C525-192F-AAD0-27D7557EE651}"/>
                </a:ext>
              </a:extLst>
            </p:cNvPr>
            <p:cNvSpPr txBox="1"/>
            <p:nvPr/>
          </p:nvSpPr>
          <p:spPr>
            <a:xfrm>
              <a:off x="5628122" y="4031989"/>
              <a:ext cx="433132" cy="369332"/>
            </a:xfrm>
            <a:prstGeom prst="rect">
              <a:avLst/>
            </a:prstGeom>
            <a:noFill/>
          </p:spPr>
          <p:txBody>
            <a:bodyPr wrap="none" rtlCol="0">
              <a:spAutoFit/>
            </a:bodyPr>
            <a:lstStyle/>
            <a:p>
              <a:r>
                <a:rPr lang="en-US" altLang="zh-CN" dirty="0"/>
                <a:t>K</a:t>
              </a:r>
              <a:r>
                <a:rPr lang="en-US" altLang="zh-CN" baseline="30000" dirty="0"/>
                <a:t>T</a:t>
              </a:r>
              <a:endParaRPr lang="en-US" dirty="0"/>
            </a:p>
          </p:txBody>
        </p:sp>
        <p:sp>
          <p:nvSpPr>
            <p:cNvPr id="150" name="TextBox 149">
              <a:extLst>
                <a:ext uri="{FF2B5EF4-FFF2-40B4-BE49-F238E27FC236}">
                  <a16:creationId xmlns:a16="http://schemas.microsoft.com/office/drawing/2014/main" id="{0DB9298B-522B-E341-5B27-49632ED825A1}"/>
                </a:ext>
              </a:extLst>
            </p:cNvPr>
            <p:cNvSpPr txBox="1"/>
            <p:nvPr/>
          </p:nvSpPr>
          <p:spPr>
            <a:xfrm>
              <a:off x="7414204" y="4042499"/>
              <a:ext cx="612668" cy="369332"/>
            </a:xfrm>
            <a:prstGeom prst="rect">
              <a:avLst/>
            </a:prstGeom>
            <a:noFill/>
          </p:spPr>
          <p:txBody>
            <a:bodyPr wrap="none" rtlCol="0">
              <a:spAutoFit/>
            </a:bodyPr>
            <a:lstStyle/>
            <a:p>
              <a:r>
                <a:rPr lang="en-US" altLang="zh-CN" dirty="0"/>
                <a:t>QK</a:t>
              </a:r>
              <a:r>
                <a:rPr lang="en-US" altLang="zh-CN" baseline="30000" dirty="0"/>
                <a:t>T</a:t>
              </a:r>
              <a:endParaRPr lang="en-US" dirty="0"/>
            </a:p>
          </p:txBody>
        </p:sp>
        <mc:AlternateContent xmlns:mc="http://schemas.openxmlformats.org/markup-compatibility/2006" xmlns:a14="http://schemas.microsoft.com/office/drawing/2010/main">
          <mc:Choice Requires="a14">
            <p:sp>
              <p:nvSpPr>
                <p:cNvPr id="151" name="TextBox 150">
                  <a:extLst>
                    <a:ext uri="{FF2B5EF4-FFF2-40B4-BE49-F238E27FC236}">
                      <a16:creationId xmlns:a16="http://schemas.microsoft.com/office/drawing/2014/main" id="{6FE1D80C-B0B7-5A32-7176-E968A9E0E74B}"/>
                    </a:ext>
                  </a:extLst>
                </p:cNvPr>
                <p:cNvSpPr txBox="1"/>
                <p:nvPr/>
              </p:nvSpPr>
              <p:spPr>
                <a:xfrm>
                  <a:off x="4818755" y="4949723"/>
                  <a:ext cx="31450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oMath>
                    </m:oMathPara>
                  </a14:m>
                  <a:endParaRPr lang="en-US" dirty="0"/>
                </a:p>
              </p:txBody>
            </p:sp>
          </mc:Choice>
          <mc:Fallback xmlns="">
            <p:sp>
              <p:nvSpPr>
                <p:cNvPr id="151" name="TextBox 150">
                  <a:extLst>
                    <a:ext uri="{FF2B5EF4-FFF2-40B4-BE49-F238E27FC236}">
                      <a16:creationId xmlns:a16="http://schemas.microsoft.com/office/drawing/2014/main" id="{6FE1D80C-B0B7-5A32-7176-E968A9E0E74B}"/>
                    </a:ext>
                  </a:extLst>
                </p:cNvPr>
                <p:cNvSpPr txBox="1">
                  <a:spLocks noRot="1" noChangeAspect="1" noMove="1" noResize="1" noEditPoints="1" noAdjustHandles="1" noChangeArrowheads="1" noChangeShapeType="1" noTextEdit="1"/>
                </p:cNvSpPr>
                <p:nvPr/>
              </p:nvSpPr>
              <p:spPr>
                <a:xfrm>
                  <a:off x="4818755" y="4949723"/>
                  <a:ext cx="314509" cy="369332"/>
                </a:xfrm>
                <a:prstGeom prst="rect">
                  <a:avLst/>
                </a:prstGeom>
                <a:blipFill>
                  <a:blip r:embed="rId5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2" name="TextBox 151">
                  <a:extLst>
                    <a:ext uri="{FF2B5EF4-FFF2-40B4-BE49-F238E27FC236}">
                      <a16:creationId xmlns:a16="http://schemas.microsoft.com/office/drawing/2014/main" id="{16C9EB9A-D2E8-CE58-0715-22E3C93E301F}"/>
                    </a:ext>
                  </a:extLst>
                </p:cNvPr>
                <p:cNvSpPr txBox="1"/>
                <p:nvPr/>
              </p:nvSpPr>
              <p:spPr>
                <a:xfrm>
                  <a:off x="6566806" y="4975330"/>
                  <a:ext cx="42191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oMath>
                    </m:oMathPara>
                  </a14:m>
                  <a:endParaRPr lang="en-US" dirty="0"/>
                </a:p>
              </p:txBody>
            </p:sp>
          </mc:Choice>
          <mc:Fallback xmlns="">
            <p:sp>
              <p:nvSpPr>
                <p:cNvPr id="152" name="TextBox 151">
                  <a:extLst>
                    <a:ext uri="{FF2B5EF4-FFF2-40B4-BE49-F238E27FC236}">
                      <a16:creationId xmlns:a16="http://schemas.microsoft.com/office/drawing/2014/main" id="{16C9EB9A-D2E8-CE58-0715-22E3C93E301F}"/>
                    </a:ext>
                  </a:extLst>
                </p:cNvPr>
                <p:cNvSpPr txBox="1">
                  <a:spLocks noRot="1" noChangeAspect="1" noMove="1" noResize="1" noEditPoints="1" noAdjustHandles="1" noChangeArrowheads="1" noChangeShapeType="1" noTextEdit="1"/>
                </p:cNvSpPr>
                <p:nvPr/>
              </p:nvSpPr>
              <p:spPr>
                <a:xfrm>
                  <a:off x="6566806" y="4975330"/>
                  <a:ext cx="421910" cy="369332"/>
                </a:xfrm>
                <a:prstGeom prst="rect">
                  <a:avLst/>
                </a:prstGeom>
                <a:blipFill>
                  <a:blip r:embed="rId5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3" name="TextBox 152">
                  <a:extLst>
                    <a:ext uri="{FF2B5EF4-FFF2-40B4-BE49-F238E27FC236}">
                      <a16:creationId xmlns:a16="http://schemas.microsoft.com/office/drawing/2014/main" id="{ABF66485-9280-FFAA-DD0D-C3E21F820E66}"/>
                    </a:ext>
                  </a:extLst>
                </p:cNvPr>
                <p:cNvSpPr txBox="1"/>
                <p:nvPr/>
              </p:nvSpPr>
              <p:spPr>
                <a:xfrm>
                  <a:off x="3460547" y="6168746"/>
                  <a:ext cx="2964529" cy="369332"/>
                </a:xfrm>
                <a:prstGeom prst="rect">
                  <a:avLst/>
                </a:prstGeom>
                <a:noFill/>
              </p:spPr>
              <p:txBody>
                <a:bodyPr wrap="none" rtlCol="0">
                  <a:spAutoFit/>
                </a:bodyPr>
                <a:lstStyle/>
                <a:p>
                  <a:r>
                    <a:rPr lang="en-US" dirty="0">
                      <a:latin typeface="Microsoft YaHei" panose="020B0503020204020204" pitchFamily="34" charset="-122"/>
                      <a:ea typeface="Microsoft YaHei" panose="020B0503020204020204" pitchFamily="34" charset="-122"/>
                    </a:rPr>
                    <a:t>某个查询</a:t>
                  </a:r>
                  <a14:m>
                    <m:oMath xmlns:m="http://schemas.openxmlformats.org/officeDocument/2006/math">
                      <m:sSub>
                        <m:sSubPr>
                          <m:ctrlPr>
                            <a:rPr lang="en-US" altLang="zh-CN" b="0" i="1" dirty="0" smtClean="0">
                              <a:latin typeface="Cambria Math" panose="02040503050406030204" pitchFamily="18" charset="0"/>
                            </a:rPr>
                          </m:ctrlPr>
                        </m:sSubPr>
                        <m:e>
                          <m:r>
                            <m:rPr>
                              <m:sty m:val="p"/>
                            </m:rPr>
                            <a:rPr lang="en-US" i="1" dirty="0" err="1">
                              <a:latin typeface="Cambria Math" panose="02040503050406030204" pitchFamily="18" charset="0"/>
                            </a:rPr>
                            <m:t>q</m:t>
                          </m:r>
                        </m:e>
                        <m:sub>
                          <m:r>
                            <a:rPr lang="en-US" altLang="zh-CN" b="0" i="1" dirty="0" smtClean="0">
                              <a:latin typeface="Cambria Math" panose="02040503050406030204" pitchFamily="18" charset="0"/>
                            </a:rPr>
                            <m:t>2</m:t>
                          </m:r>
                        </m:sub>
                      </m:sSub>
                    </m:oMath>
                  </a14:m>
                  <a:r>
                    <a:rPr lang="en-US" dirty="0">
                      <a:latin typeface="Microsoft YaHei" panose="020B0503020204020204" pitchFamily="34" charset="-122"/>
                      <a:ea typeface="Microsoft YaHei" panose="020B0503020204020204" pitchFamily="34" charset="-122"/>
                    </a:rPr>
                    <a:t>对四个键的分数</a:t>
                  </a:r>
                </a:p>
              </p:txBody>
            </p:sp>
          </mc:Choice>
          <mc:Fallback xmlns="">
            <p:sp>
              <p:nvSpPr>
                <p:cNvPr id="153" name="TextBox 152">
                  <a:extLst>
                    <a:ext uri="{FF2B5EF4-FFF2-40B4-BE49-F238E27FC236}">
                      <a16:creationId xmlns:a16="http://schemas.microsoft.com/office/drawing/2014/main" id="{ABF66485-9280-FFAA-DD0D-C3E21F820E66}"/>
                    </a:ext>
                  </a:extLst>
                </p:cNvPr>
                <p:cNvSpPr txBox="1">
                  <a:spLocks noRot="1" noChangeAspect="1" noMove="1" noResize="1" noEditPoints="1" noAdjustHandles="1" noChangeArrowheads="1" noChangeShapeType="1" noTextEdit="1"/>
                </p:cNvSpPr>
                <p:nvPr/>
              </p:nvSpPr>
              <p:spPr>
                <a:xfrm>
                  <a:off x="3460547" y="6168746"/>
                  <a:ext cx="2964529" cy="369332"/>
                </a:xfrm>
                <a:prstGeom prst="rect">
                  <a:avLst/>
                </a:prstGeom>
                <a:blipFill>
                  <a:blip r:embed="rId58"/>
                  <a:stretch>
                    <a:fillRect l="-1709" t="-6452" r="-855" b="-19355"/>
                  </a:stretch>
                </a:blipFill>
              </p:spPr>
              <p:txBody>
                <a:bodyPr/>
                <a:lstStyle/>
                <a:p>
                  <a:r>
                    <a:rPr lang="en-US">
                      <a:noFill/>
                    </a:rPr>
                    <a:t> </a:t>
                  </a:r>
                </a:p>
              </p:txBody>
            </p:sp>
          </mc:Fallback>
        </mc:AlternateContent>
      </p:grpSp>
    </p:spTree>
    <p:extLst>
      <p:ext uri="{BB962C8B-B14F-4D97-AF65-F5344CB8AC3E}">
        <p14:creationId xmlns:p14="http://schemas.microsoft.com/office/powerpoint/2010/main" val="928821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ED630D7C-E3D7-4B96-AAA2-7531467FE4DB}"/>
              </a:ext>
            </a:extLst>
          </p:cNvPr>
          <p:cNvPicPr>
            <a:picLocks noChangeAspect="1"/>
          </p:cNvPicPr>
          <p:nvPr/>
        </p:nvPicPr>
        <p:blipFill>
          <a:blip r:embed="rId3"/>
          <a:stretch>
            <a:fillRect/>
          </a:stretch>
        </p:blipFill>
        <p:spPr>
          <a:xfrm>
            <a:off x="2218702" y="4475821"/>
            <a:ext cx="6565021" cy="1824680"/>
          </a:xfrm>
          <a:prstGeom prst="rect">
            <a:avLst/>
          </a:prstGeom>
        </p:spPr>
      </p:pic>
      <p:sp>
        <p:nvSpPr>
          <p:cNvPr id="3" name="内容占位符 2">
            <a:extLst>
              <a:ext uri="{FF2B5EF4-FFF2-40B4-BE49-F238E27FC236}">
                <a16:creationId xmlns:a16="http://schemas.microsoft.com/office/drawing/2014/main" id="{0376B971-2B09-4C48-8EC5-5B269297B32D}"/>
              </a:ext>
            </a:extLst>
          </p:cNvPr>
          <p:cNvSpPr>
            <a:spLocks noGrp="1"/>
          </p:cNvSpPr>
          <p:nvPr>
            <p:ph idx="1"/>
          </p:nvPr>
        </p:nvSpPr>
        <p:spPr/>
        <p:txBody>
          <a:bodyPr/>
          <a:lstStyle/>
          <a:p>
            <a:pPr indent="-457200" algn="just">
              <a:lnSpc>
                <a:spcPct val="130000"/>
              </a:lnSpc>
              <a:buFont typeface="Wingdings" panose="05000000000000000000" pitchFamily="2" charset="2"/>
              <a:buChar char="p"/>
              <a:defRPr/>
            </a:pPr>
            <a:r>
              <a:rPr lang="zh-CN" altLang="en-US" dirty="0"/>
              <a:t>加权求和的过程</a:t>
            </a:r>
            <a:endParaRPr lang="en-US" altLang="zh-CN" dirty="0"/>
          </a:p>
          <a:p>
            <a:pPr indent="-457200" algn="just">
              <a:lnSpc>
                <a:spcPct val="130000"/>
              </a:lnSpc>
              <a:buFont typeface="Wingdings" panose="05000000000000000000" pitchFamily="2" charset="2"/>
              <a:buChar char="p"/>
              <a:defRPr/>
            </a:pPr>
            <a:endParaRPr lang="en-US" altLang="zh-CN" dirty="0"/>
          </a:p>
          <a:p>
            <a:pPr indent="-457200" algn="just">
              <a:lnSpc>
                <a:spcPct val="130000"/>
              </a:lnSpc>
              <a:buFont typeface="Wingdings" panose="05000000000000000000" pitchFamily="2" charset="2"/>
              <a:buChar char="p"/>
              <a:defRPr/>
            </a:pPr>
            <a:endParaRPr lang="en-US" altLang="zh-CN" dirty="0"/>
          </a:p>
          <a:p>
            <a:pPr indent="-457200" algn="just">
              <a:lnSpc>
                <a:spcPct val="130000"/>
              </a:lnSpc>
              <a:buFont typeface="Wingdings" panose="05000000000000000000" pitchFamily="2" charset="2"/>
              <a:buChar char="p"/>
              <a:defRPr/>
            </a:pPr>
            <a:endParaRPr lang="en-US" altLang="zh-CN" dirty="0"/>
          </a:p>
          <a:p>
            <a:pPr marL="0" indent="0" algn="just">
              <a:lnSpc>
                <a:spcPct val="130000"/>
              </a:lnSpc>
              <a:buNone/>
              <a:defRPr/>
            </a:pPr>
            <a:endParaRPr lang="en-US" altLang="zh-CN" dirty="0"/>
          </a:p>
          <a:p>
            <a:pPr indent="-457200" algn="just">
              <a:lnSpc>
                <a:spcPct val="130000"/>
              </a:lnSpc>
              <a:buFont typeface="Wingdings" panose="05000000000000000000" pitchFamily="2" charset="2"/>
              <a:buChar char="p"/>
              <a:defRPr/>
            </a:pPr>
            <a:r>
              <a:rPr lang="zh-CN" altLang="en-US" dirty="0"/>
              <a:t>更详细的解释</a:t>
            </a:r>
            <a:endParaRPr lang="en-US" altLang="zh-CN"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FEA1663-E8FF-7DC2-557F-454C40FF6D60}"/>
                  </a:ext>
                </a:extLst>
              </p:cNvPr>
              <p:cNvSpPr txBox="1"/>
              <p:nvPr/>
            </p:nvSpPr>
            <p:spPr>
              <a:xfrm>
                <a:off x="7324912" y="1014154"/>
                <a:ext cx="4331180" cy="3086038"/>
              </a:xfrm>
              <a:prstGeom prst="rect">
                <a:avLst/>
              </a:prstGeom>
              <a:noFill/>
            </p:spPr>
            <p:txBody>
              <a:bodyPr wrap="square" rtlCol="0">
                <a:spAutoFit/>
              </a:bodyPr>
              <a:lstStyle/>
              <a:p>
                <a:pPr marL="674360" indent="-285750">
                  <a:lnSpc>
                    <a:spcPct val="150000"/>
                  </a:lnSpc>
                  <a:spcBef>
                    <a:spcPts val="133"/>
                  </a:spcBef>
                  <a:buFont typeface="Arial" panose="020B0604020202020204" pitchFamily="34" charset="0"/>
                  <a:buChar char="•"/>
                </a:pPr>
                <a:r>
                  <a:rPr lang="zh-CN" altLang="en-US" sz="1800" dirty="0">
                    <a:solidFill>
                      <a:srgbClr val="1C1B1C"/>
                    </a:solidFill>
                    <a:latin typeface="Microsoft YaHei" panose="020B0503020204020204" pitchFamily="34" charset="-122"/>
                    <a:ea typeface="Microsoft YaHei" panose="020B0503020204020204" pitchFamily="34" charset="-122"/>
                    <a:cs typeface="Calibri" panose="020F0502020204030204" pitchFamily="34" charset="0"/>
                  </a:rPr>
                  <a:t>尺寸越大意味着点积和中的项越多。</a:t>
                </a:r>
              </a:p>
              <a:p>
                <a:pPr marL="674360" indent="-285750">
                  <a:lnSpc>
                    <a:spcPct val="150000"/>
                  </a:lnSpc>
                  <a:spcBef>
                    <a:spcPts val="133"/>
                  </a:spcBef>
                  <a:buFont typeface="Arial" panose="020B0604020202020204" pitchFamily="34" charset="0"/>
                  <a:buChar char="•"/>
                </a:pPr>
                <a:r>
                  <a:rPr lang="zh-CN" altLang="en-US" sz="1800" dirty="0">
                    <a:solidFill>
                      <a:srgbClr val="1C1B1C"/>
                    </a:solidFill>
                    <a:latin typeface="Microsoft YaHei" panose="020B0503020204020204" pitchFamily="34" charset="-122"/>
                    <a:ea typeface="Microsoft YaHei" panose="020B0503020204020204" pitchFamily="34" charset="-122"/>
                    <a:cs typeface="Calibri" panose="020F0502020204030204" pitchFamily="34" charset="0"/>
                  </a:rPr>
                  <a:t>因此，</a:t>
                </a:r>
                <a:r>
                  <a:rPr lang="en-US" sz="1800" dirty="0">
                    <a:solidFill>
                      <a:srgbClr val="1C1B1C"/>
                    </a:solidFill>
                    <a:latin typeface="Microsoft YaHei" panose="020B0503020204020204" pitchFamily="34" charset="-122"/>
                    <a:ea typeface="Microsoft YaHei" panose="020B0503020204020204" pitchFamily="34" charset="-122"/>
                    <a:cs typeface="Calibri" panose="020F0502020204030204" pitchFamily="34" charset="0"/>
                  </a:rPr>
                  <a:t>logits </a:t>
                </a:r>
                <a:r>
                  <a:rPr lang="zh-CN" altLang="en-US" sz="1800" dirty="0">
                    <a:solidFill>
                      <a:srgbClr val="1C1B1C"/>
                    </a:solidFill>
                    <a:latin typeface="Microsoft YaHei" panose="020B0503020204020204" pitchFamily="34" charset="-122"/>
                    <a:ea typeface="Microsoft YaHei" panose="020B0503020204020204" pitchFamily="34" charset="-122"/>
                    <a:cs typeface="Calibri" panose="020F0502020204030204" pitchFamily="34" charset="0"/>
                  </a:rPr>
                  <a:t>的方差较高。</a:t>
                </a:r>
              </a:p>
              <a:p>
                <a:pPr marL="674360" indent="-285750">
                  <a:lnSpc>
                    <a:spcPct val="150000"/>
                  </a:lnSpc>
                  <a:spcBef>
                    <a:spcPts val="133"/>
                  </a:spcBef>
                  <a:buFont typeface="Arial" panose="020B0604020202020204" pitchFamily="34" charset="0"/>
                  <a:buChar char="•"/>
                </a:pPr>
                <a:r>
                  <a:rPr lang="zh-CN" altLang="en-US" sz="1800" dirty="0">
                    <a:solidFill>
                      <a:srgbClr val="1C1B1C"/>
                    </a:solidFill>
                    <a:latin typeface="Microsoft YaHei" panose="020B0503020204020204" pitchFamily="34" charset="-122"/>
                    <a:ea typeface="Microsoft YaHei" panose="020B0503020204020204" pitchFamily="34" charset="-122"/>
                    <a:cs typeface="Calibri" panose="020F0502020204030204" pitchFamily="34" charset="0"/>
                  </a:rPr>
                  <a:t>大向量将产生更高的</a:t>
                </a:r>
                <a:r>
                  <a:rPr lang="en-US" altLang="zh-CN" sz="1800" dirty="0">
                    <a:solidFill>
                      <a:srgbClr val="1C1B1C"/>
                    </a:solidFill>
                    <a:latin typeface="Microsoft YaHei" panose="020B0503020204020204" pitchFamily="34" charset="-122"/>
                    <a:ea typeface="Microsoft YaHei" panose="020B0503020204020204" pitchFamily="34" charset="-122"/>
                    <a:cs typeface="Calibri" panose="020F0502020204030204" pitchFamily="34" charset="0"/>
                  </a:rPr>
                  <a:t>logits</a:t>
                </a:r>
                <a:r>
                  <a:rPr lang="zh-CN" altLang="en-US" sz="1800" dirty="0">
                    <a:solidFill>
                      <a:srgbClr val="1C1B1C"/>
                    </a:solidFill>
                    <a:latin typeface="Microsoft YaHei" panose="020B0503020204020204" pitchFamily="34" charset="-122"/>
                    <a:ea typeface="Microsoft YaHei" panose="020B0503020204020204" pitchFamily="34" charset="-122"/>
                    <a:cs typeface="Calibri" panose="020F0502020204030204" pitchFamily="34" charset="0"/>
                  </a:rPr>
                  <a:t>。</a:t>
                </a:r>
              </a:p>
              <a:p>
                <a:pPr marL="674360" indent="-285750">
                  <a:lnSpc>
                    <a:spcPct val="150000"/>
                  </a:lnSpc>
                  <a:spcBef>
                    <a:spcPts val="133"/>
                  </a:spcBef>
                  <a:buFont typeface="Arial" panose="020B0604020202020204" pitchFamily="34" charset="0"/>
                  <a:buChar char="•"/>
                </a:pPr>
                <a:r>
                  <a:rPr lang="zh-CN" altLang="en-US" sz="1800" dirty="0">
                    <a:solidFill>
                      <a:srgbClr val="1C1B1C"/>
                    </a:solidFill>
                    <a:latin typeface="Microsoft YaHei" panose="020B0503020204020204" pitchFamily="34" charset="-122"/>
                    <a:ea typeface="Microsoft YaHei" panose="020B0503020204020204" pitchFamily="34" charset="-122"/>
                    <a:cs typeface="Calibri" panose="020F0502020204030204" pitchFamily="34" charset="0"/>
                  </a:rPr>
                  <a:t>最终，这些大幅度的向量将导致 </a:t>
                </a:r>
                <a:r>
                  <a:rPr lang="en-US" sz="1800" dirty="0" err="1">
                    <a:solidFill>
                      <a:srgbClr val="1C1B1C"/>
                    </a:solidFill>
                    <a:latin typeface="Microsoft YaHei" panose="020B0503020204020204" pitchFamily="34" charset="-122"/>
                    <a:ea typeface="Microsoft YaHei" panose="020B0503020204020204" pitchFamily="34" charset="-122"/>
                    <a:cs typeface="Calibri" panose="020F0502020204030204" pitchFamily="34" charset="0"/>
                  </a:rPr>
                  <a:t>softmax</a:t>
                </a:r>
                <a:r>
                  <a:rPr lang="en-US" sz="1800" dirty="0">
                    <a:solidFill>
                      <a:srgbClr val="1C1B1C"/>
                    </a:solidFill>
                    <a:latin typeface="Microsoft YaHei" panose="020B0503020204020204" pitchFamily="34" charset="-122"/>
                    <a:ea typeface="Microsoft YaHei" panose="020B0503020204020204" pitchFamily="34" charset="-122"/>
                    <a:cs typeface="Calibri" panose="020F0502020204030204" pitchFamily="34" charset="0"/>
                  </a:rPr>
                  <a:t> </a:t>
                </a:r>
                <a:r>
                  <a:rPr lang="zh-CN" altLang="en-US" sz="1800" dirty="0">
                    <a:solidFill>
                      <a:srgbClr val="1C1B1C"/>
                    </a:solidFill>
                    <a:latin typeface="Microsoft YaHei" panose="020B0503020204020204" pitchFamily="34" charset="-122"/>
                    <a:ea typeface="Microsoft YaHei" panose="020B0503020204020204" pitchFamily="34" charset="-122"/>
                    <a:cs typeface="Calibri" panose="020F0502020204030204" pitchFamily="34" charset="0"/>
                  </a:rPr>
                  <a:t>达到峰值，并为所有其他向量分配很少的权重</a:t>
                </a:r>
                <a:endParaRPr lang="en-US" altLang="zh-CN" sz="1800" dirty="0">
                  <a:solidFill>
                    <a:srgbClr val="1C1B1C"/>
                  </a:solidFill>
                  <a:latin typeface="Microsoft YaHei" panose="020B0503020204020204" pitchFamily="34" charset="-122"/>
                  <a:ea typeface="Microsoft YaHei" panose="020B0503020204020204" pitchFamily="34" charset="-122"/>
                  <a:cs typeface="Calibri" panose="020F0502020204030204" pitchFamily="34" charset="0"/>
                </a:endParaRPr>
              </a:p>
              <a:p>
                <a:pPr marL="674360" indent="-285750">
                  <a:lnSpc>
                    <a:spcPct val="150000"/>
                  </a:lnSpc>
                  <a:spcBef>
                    <a:spcPts val="133"/>
                  </a:spcBef>
                  <a:buFont typeface="Arial" panose="020B0604020202020204" pitchFamily="34" charset="0"/>
                  <a:buChar char="•"/>
                </a:pPr>
                <a:r>
                  <a:rPr lang="en-US" sz="1800" dirty="0" err="1">
                    <a:latin typeface="Microsoft YaHei" panose="020B0503020204020204" pitchFamily="34" charset="-122"/>
                    <a:ea typeface="Microsoft YaHei" panose="020B0503020204020204" pitchFamily="34" charset="-122"/>
                    <a:cs typeface="Calibri" panose="020F0502020204030204" pitchFamily="34" charset="0"/>
                  </a:rPr>
                  <a:t>除以</a:t>
                </a:r>
                <a14:m>
                  <m:oMath xmlns:m="http://schemas.openxmlformats.org/officeDocument/2006/math">
                    <m:rad>
                      <m:radPr>
                        <m:degHide m:val="on"/>
                        <m:ctrlPr>
                          <a:rPr lang="en-US" sz="1800" i="1" spc="-27" smtClean="0">
                            <a:latin typeface="Cambria Math" panose="02040503050406030204" pitchFamily="18" charset="0"/>
                            <a:cs typeface="Calibri" panose="020F0502020204030204" pitchFamily="34" charset="0"/>
                          </a:rPr>
                        </m:ctrlPr>
                      </m:radPr>
                      <m:deg/>
                      <m:e>
                        <m:sSub>
                          <m:sSubPr>
                            <m:ctrlPr>
                              <a:rPr lang="en-US" altLang="zh-CN" sz="1800" b="0" i="1" spc="-27" smtClean="0">
                                <a:latin typeface="Cambria Math" panose="02040503050406030204" pitchFamily="18" charset="0"/>
                                <a:cs typeface="Calibri" panose="020F0502020204030204" pitchFamily="34" charset="0"/>
                              </a:rPr>
                            </m:ctrlPr>
                          </m:sSubPr>
                          <m:e>
                            <m:r>
                              <a:rPr lang="en-US" altLang="zh-CN" sz="1800" b="0" i="1" spc="-27" smtClean="0">
                                <a:latin typeface="Cambria Math" panose="02040503050406030204" pitchFamily="18" charset="0"/>
                                <a:cs typeface="Calibri" panose="020F0502020204030204" pitchFamily="34" charset="0"/>
                              </a:rPr>
                              <m:t>𝑑</m:t>
                            </m:r>
                          </m:e>
                          <m:sub>
                            <m:r>
                              <a:rPr lang="en-US" altLang="zh-CN" sz="1800" b="0" i="1" spc="-27" smtClean="0">
                                <a:latin typeface="Cambria Math" panose="02040503050406030204" pitchFamily="18" charset="0"/>
                                <a:cs typeface="Calibri" panose="020F0502020204030204" pitchFamily="34" charset="0"/>
                              </a:rPr>
                              <m:t>𝑘</m:t>
                            </m:r>
                          </m:sub>
                        </m:sSub>
                      </m:e>
                    </m:rad>
                  </m:oMath>
                </a14:m>
                <a:r>
                  <a:rPr lang="en-US" sz="1800" spc="-20" dirty="0">
                    <a:latin typeface="Microsoft YaHei" panose="020B0503020204020204" pitchFamily="34" charset="-122"/>
                    <a:ea typeface="Microsoft YaHei" panose="020B0503020204020204" pitchFamily="34" charset="-122"/>
                    <a:cs typeface="Calibri" panose="020F0502020204030204" pitchFamily="34" charset="0"/>
                  </a:rPr>
                  <a:t> </a:t>
                </a:r>
                <a:r>
                  <a:rPr lang="zh-CN" altLang="en-US" dirty="0">
                    <a:latin typeface="Microsoft YaHei" panose="020B0503020204020204" pitchFamily="34" charset="-122"/>
                    <a:ea typeface="Microsoft YaHei" panose="020B0503020204020204" pitchFamily="34" charset="-122"/>
                    <a:cs typeface="Calibri" panose="020F0502020204030204" pitchFamily="34" charset="0"/>
                  </a:rPr>
                  <a:t>减少大幅度矢量的影响</a:t>
                </a:r>
                <a:endParaRPr lang="en-US" sz="1800" dirty="0">
                  <a:latin typeface="Microsoft YaHei" panose="020B0503020204020204" pitchFamily="34" charset="-122"/>
                  <a:ea typeface="Microsoft YaHei" panose="020B0503020204020204" pitchFamily="34" charset="-122"/>
                  <a:cs typeface="Calibri" panose="020F0502020204030204" pitchFamily="34" charset="0"/>
                </a:endParaRPr>
              </a:p>
            </p:txBody>
          </p:sp>
        </mc:Choice>
        <mc:Fallback xmlns="">
          <p:sp>
            <p:nvSpPr>
              <p:cNvPr id="9" name="TextBox 8">
                <a:extLst>
                  <a:ext uri="{FF2B5EF4-FFF2-40B4-BE49-F238E27FC236}">
                    <a16:creationId xmlns:a16="http://schemas.microsoft.com/office/drawing/2014/main" id="{5FEA1663-E8FF-7DC2-557F-454C40FF6D60}"/>
                  </a:ext>
                </a:extLst>
              </p:cNvPr>
              <p:cNvSpPr txBox="1">
                <a:spLocks noRot="1" noChangeAspect="1" noMove="1" noResize="1" noEditPoints="1" noAdjustHandles="1" noChangeArrowheads="1" noChangeShapeType="1" noTextEdit="1"/>
              </p:cNvSpPr>
              <p:nvPr/>
            </p:nvSpPr>
            <p:spPr>
              <a:xfrm>
                <a:off x="7324912" y="1014154"/>
                <a:ext cx="4331180" cy="3086038"/>
              </a:xfrm>
              <a:prstGeom prst="rect">
                <a:avLst/>
              </a:prstGeom>
              <a:blipFill>
                <a:blip r:embed="rId4"/>
                <a:stretch>
                  <a:fillRect r="-5556" b="-1224"/>
                </a:stretch>
              </a:blipFill>
            </p:spPr>
            <p:txBody>
              <a:bodyPr/>
              <a:lstStyle/>
              <a:p>
                <a:r>
                  <a:rPr lang="en-US">
                    <a:noFill/>
                  </a:rPr>
                  <a:t> </a:t>
                </a:r>
              </a:p>
            </p:txBody>
          </p:sp>
        </mc:Fallback>
      </mc:AlternateContent>
      <p:cxnSp>
        <p:nvCxnSpPr>
          <p:cNvPr id="11" name="Straight Arrow Connector 10">
            <a:extLst>
              <a:ext uri="{FF2B5EF4-FFF2-40B4-BE49-F238E27FC236}">
                <a16:creationId xmlns:a16="http://schemas.microsoft.com/office/drawing/2014/main" id="{93E0E911-6AC6-B729-BBF1-5C6472F611F6}"/>
              </a:ext>
            </a:extLst>
          </p:cNvPr>
          <p:cNvCxnSpPr>
            <a:cxnSpLocks/>
          </p:cNvCxnSpPr>
          <p:nvPr/>
        </p:nvCxnSpPr>
        <p:spPr>
          <a:xfrm flipH="1">
            <a:off x="6915955" y="2094271"/>
            <a:ext cx="561477" cy="224449"/>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A8552B0-5729-8888-A45D-01084C4FA06A}"/>
                  </a:ext>
                </a:extLst>
              </p:cNvPr>
              <p:cNvSpPr txBox="1"/>
              <p:nvPr/>
            </p:nvSpPr>
            <p:spPr>
              <a:xfrm>
                <a:off x="5205521" y="2602159"/>
                <a:ext cx="28732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1</m:t>
                          </m:r>
                        </m:sub>
                      </m:sSub>
                    </m:oMath>
                  </m:oMathPara>
                </a14:m>
                <a:endParaRPr lang="en-US"/>
              </a:p>
            </p:txBody>
          </p:sp>
        </mc:Choice>
        <mc:Fallback xmlns="">
          <p:sp>
            <p:nvSpPr>
              <p:cNvPr id="7" name="TextBox 6">
                <a:extLst>
                  <a:ext uri="{FF2B5EF4-FFF2-40B4-BE49-F238E27FC236}">
                    <a16:creationId xmlns:a16="http://schemas.microsoft.com/office/drawing/2014/main" id="{0A8552B0-5729-8888-A45D-01084C4FA06A}"/>
                  </a:ext>
                </a:extLst>
              </p:cNvPr>
              <p:cNvSpPr txBox="1">
                <a:spLocks noRot="1" noChangeAspect="1" noMove="1" noResize="1" noEditPoints="1" noAdjustHandles="1" noChangeArrowheads="1" noChangeShapeType="1" noTextEdit="1"/>
              </p:cNvSpPr>
              <p:nvPr/>
            </p:nvSpPr>
            <p:spPr>
              <a:xfrm>
                <a:off x="5205521" y="2602159"/>
                <a:ext cx="287322" cy="276999"/>
              </a:xfrm>
              <a:prstGeom prst="rect">
                <a:avLst/>
              </a:prstGeom>
              <a:blipFill>
                <a:blip r:embed="rId8"/>
                <a:stretch>
                  <a:fillRect l="-8333" r="-4167"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98591BB-5E79-1D2F-534A-FC902204CF94}"/>
                  </a:ext>
                </a:extLst>
              </p:cNvPr>
              <p:cNvSpPr txBox="1"/>
              <p:nvPr/>
            </p:nvSpPr>
            <p:spPr>
              <a:xfrm>
                <a:off x="5211617" y="2913569"/>
                <a:ext cx="29264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2</m:t>
                          </m:r>
                        </m:sub>
                      </m:sSub>
                    </m:oMath>
                  </m:oMathPara>
                </a14:m>
                <a:endParaRPr lang="en-US"/>
              </a:p>
            </p:txBody>
          </p:sp>
        </mc:Choice>
        <mc:Fallback xmlns="">
          <p:sp>
            <p:nvSpPr>
              <p:cNvPr id="8" name="TextBox 7">
                <a:extLst>
                  <a:ext uri="{FF2B5EF4-FFF2-40B4-BE49-F238E27FC236}">
                    <a16:creationId xmlns:a16="http://schemas.microsoft.com/office/drawing/2014/main" id="{198591BB-5E79-1D2F-534A-FC902204CF94}"/>
                  </a:ext>
                </a:extLst>
              </p:cNvPr>
              <p:cNvSpPr txBox="1">
                <a:spLocks noRot="1" noChangeAspect="1" noMove="1" noResize="1" noEditPoints="1" noAdjustHandles="1" noChangeArrowheads="1" noChangeShapeType="1" noTextEdit="1"/>
              </p:cNvSpPr>
              <p:nvPr/>
            </p:nvSpPr>
            <p:spPr>
              <a:xfrm>
                <a:off x="5211617" y="2913569"/>
                <a:ext cx="292644" cy="276999"/>
              </a:xfrm>
              <a:prstGeom prst="rect">
                <a:avLst/>
              </a:prstGeom>
              <a:blipFill>
                <a:blip r:embed="rId9"/>
                <a:stretch>
                  <a:fillRect l="-8333" r="-4167"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87FF907-6CCC-7F97-D376-51AA9F0252E1}"/>
                  </a:ext>
                </a:extLst>
              </p:cNvPr>
              <p:cNvSpPr txBox="1"/>
              <p:nvPr/>
            </p:nvSpPr>
            <p:spPr>
              <a:xfrm>
                <a:off x="5208569" y="3218566"/>
                <a:ext cx="29264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3</m:t>
                          </m:r>
                        </m:sub>
                      </m:sSub>
                    </m:oMath>
                  </m:oMathPara>
                </a14:m>
                <a:endParaRPr lang="en-US"/>
              </a:p>
            </p:txBody>
          </p:sp>
        </mc:Choice>
        <mc:Fallback xmlns="">
          <p:sp>
            <p:nvSpPr>
              <p:cNvPr id="10" name="TextBox 9">
                <a:extLst>
                  <a:ext uri="{FF2B5EF4-FFF2-40B4-BE49-F238E27FC236}">
                    <a16:creationId xmlns:a16="http://schemas.microsoft.com/office/drawing/2014/main" id="{787FF907-6CCC-7F97-D376-51AA9F0252E1}"/>
                  </a:ext>
                </a:extLst>
              </p:cNvPr>
              <p:cNvSpPr txBox="1">
                <a:spLocks noRot="1" noChangeAspect="1" noMove="1" noResize="1" noEditPoints="1" noAdjustHandles="1" noChangeArrowheads="1" noChangeShapeType="1" noTextEdit="1"/>
              </p:cNvSpPr>
              <p:nvPr/>
            </p:nvSpPr>
            <p:spPr>
              <a:xfrm>
                <a:off x="5208569" y="3218566"/>
                <a:ext cx="292644" cy="276999"/>
              </a:xfrm>
              <a:prstGeom prst="rect">
                <a:avLst/>
              </a:prstGeom>
              <a:blipFill>
                <a:blip r:embed="rId10"/>
                <a:stretch>
                  <a:fillRect l="-4167" r="-4167"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AA47E43-4F7C-6CF4-A80D-65E04F81ACB1}"/>
                  </a:ext>
                </a:extLst>
              </p:cNvPr>
              <p:cNvSpPr txBox="1"/>
              <p:nvPr/>
            </p:nvSpPr>
            <p:spPr>
              <a:xfrm>
                <a:off x="5196377" y="3560138"/>
                <a:ext cx="28277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4</m:t>
                          </m:r>
                        </m:sub>
                      </m:sSub>
                    </m:oMath>
                  </m:oMathPara>
                </a14:m>
                <a:endParaRPr lang="en-US"/>
              </a:p>
            </p:txBody>
          </p:sp>
        </mc:Choice>
        <mc:Fallback xmlns="">
          <p:sp>
            <p:nvSpPr>
              <p:cNvPr id="12" name="TextBox 11">
                <a:extLst>
                  <a:ext uri="{FF2B5EF4-FFF2-40B4-BE49-F238E27FC236}">
                    <a16:creationId xmlns:a16="http://schemas.microsoft.com/office/drawing/2014/main" id="{FAA47E43-4F7C-6CF4-A80D-65E04F81ACB1}"/>
                  </a:ext>
                </a:extLst>
              </p:cNvPr>
              <p:cNvSpPr txBox="1">
                <a:spLocks noRot="1" noChangeAspect="1" noMove="1" noResize="1" noEditPoints="1" noAdjustHandles="1" noChangeArrowheads="1" noChangeShapeType="1" noTextEdit="1"/>
              </p:cNvSpPr>
              <p:nvPr/>
            </p:nvSpPr>
            <p:spPr>
              <a:xfrm>
                <a:off x="5196377" y="3560138"/>
                <a:ext cx="282770" cy="276999"/>
              </a:xfrm>
              <a:prstGeom prst="rect">
                <a:avLst/>
              </a:prstGeom>
              <a:blipFill>
                <a:blip r:embed="rId11"/>
                <a:stretch>
                  <a:fillRect l="-4167" r="-4167" b="-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4FDB800-AA21-BF79-2111-B0DBBA859EE9}"/>
                  </a:ext>
                </a:extLst>
              </p:cNvPr>
              <p:cNvSpPr txBox="1"/>
              <p:nvPr/>
            </p:nvSpPr>
            <p:spPr>
              <a:xfrm>
                <a:off x="2765762" y="3815925"/>
                <a:ext cx="2911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1</m:t>
                          </m:r>
                        </m:sub>
                      </m:sSub>
                    </m:oMath>
                  </m:oMathPara>
                </a14:m>
                <a:endParaRPr lang="en-US"/>
              </a:p>
            </p:txBody>
          </p:sp>
        </mc:Choice>
        <mc:Fallback xmlns="">
          <p:sp>
            <p:nvSpPr>
              <p:cNvPr id="13" name="TextBox 12">
                <a:extLst>
                  <a:ext uri="{FF2B5EF4-FFF2-40B4-BE49-F238E27FC236}">
                    <a16:creationId xmlns:a16="http://schemas.microsoft.com/office/drawing/2014/main" id="{94FDB800-AA21-BF79-2111-B0DBBA859EE9}"/>
                  </a:ext>
                </a:extLst>
              </p:cNvPr>
              <p:cNvSpPr txBox="1">
                <a:spLocks noRot="1" noChangeAspect="1" noMove="1" noResize="1" noEditPoints="1" noAdjustHandles="1" noChangeArrowheads="1" noChangeShapeType="1" noTextEdit="1"/>
              </p:cNvSpPr>
              <p:nvPr/>
            </p:nvSpPr>
            <p:spPr>
              <a:xfrm>
                <a:off x="2765762" y="3815925"/>
                <a:ext cx="291169" cy="276999"/>
              </a:xfrm>
              <a:prstGeom prst="rect">
                <a:avLst/>
              </a:prstGeom>
              <a:blipFill>
                <a:blip r:embed="rId12"/>
                <a:stretch>
                  <a:fillRect l="-16667" r="-4167"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B658C12-8C0E-105F-083C-872AB2EDCF44}"/>
                  </a:ext>
                </a:extLst>
              </p:cNvPr>
              <p:cNvSpPr txBox="1"/>
              <p:nvPr/>
            </p:nvSpPr>
            <p:spPr>
              <a:xfrm>
                <a:off x="3066723" y="3820826"/>
                <a:ext cx="29649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2</m:t>
                          </m:r>
                        </m:sub>
                      </m:sSub>
                    </m:oMath>
                  </m:oMathPara>
                </a14:m>
                <a:endParaRPr lang="en-US"/>
              </a:p>
            </p:txBody>
          </p:sp>
        </mc:Choice>
        <mc:Fallback xmlns="">
          <p:sp>
            <p:nvSpPr>
              <p:cNvPr id="14" name="TextBox 13">
                <a:extLst>
                  <a:ext uri="{FF2B5EF4-FFF2-40B4-BE49-F238E27FC236}">
                    <a16:creationId xmlns:a16="http://schemas.microsoft.com/office/drawing/2014/main" id="{1B658C12-8C0E-105F-083C-872AB2EDCF44}"/>
                  </a:ext>
                </a:extLst>
              </p:cNvPr>
              <p:cNvSpPr txBox="1">
                <a:spLocks noRot="1" noChangeAspect="1" noMove="1" noResize="1" noEditPoints="1" noAdjustHandles="1" noChangeArrowheads="1" noChangeShapeType="1" noTextEdit="1"/>
              </p:cNvSpPr>
              <p:nvPr/>
            </p:nvSpPr>
            <p:spPr>
              <a:xfrm>
                <a:off x="3066723" y="3820826"/>
                <a:ext cx="296491" cy="276999"/>
              </a:xfrm>
              <a:prstGeom prst="rect">
                <a:avLst/>
              </a:prstGeom>
              <a:blipFill>
                <a:blip r:embed="rId13"/>
                <a:stretch>
                  <a:fillRect l="-16667" r="-4167"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C7FB307-3B5A-7F98-FF89-8E22C44056AE}"/>
                  </a:ext>
                </a:extLst>
              </p:cNvPr>
              <p:cNvSpPr txBox="1"/>
              <p:nvPr/>
            </p:nvSpPr>
            <p:spPr>
              <a:xfrm>
                <a:off x="3347870" y="3837070"/>
                <a:ext cx="29649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3</m:t>
                          </m:r>
                        </m:sub>
                      </m:sSub>
                    </m:oMath>
                  </m:oMathPara>
                </a14:m>
                <a:endParaRPr lang="en-US"/>
              </a:p>
            </p:txBody>
          </p:sp>
        </mc:Choice>
        <mc:Fallback xmlns="">
          <p:sp>
            <p:nvSpPr>
              <p:cNvPr id="15" name="TextBox 14">
                <a:extLst>
                  <a:ext uri="{FF2B5EF4-FFF2-40B4-BE49-F238E27FC236}">
                    <a16:creationId xmlns:a16="http://schemas.microsoft.com/office/drawing/2014/main" id="{AC7FB307-3B5A-7F98-FF89-8E22C44056AE}"/>
                  </a:ext>
                </a:extLst>
              </p:cNvPr>
              <p:cNvSpPr txBox="1">
                <a:spLocks noRot="1" noChangeAspect="1" noMove="1" noResize="1" noEditPoints="1" noAdjustHandles="1" noChangeArrowheads="1" noChangeShapeType="1" noTextEdit="1"/>
              </p:cNvSpPr>
              <p:nvPr/>
            </p:nvSpPr>
            <p:spPr>
              <a:xfrm>
                <a:off x="3347870" y="3837070"/>
                <a:ext cx="296491" cy="276999"/>
              </a:xfrm>
              <a:prstGeom prst="rect">
                <a:avLst/>
              </a:prstGeom>
              <a:blipFill>
                <a:blip r:embed="rId14"/>
                <a:stretch>
                  <a:fillRect l="-16000"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5D17BDF-8930-5E71-DF45-4B4C67A2F18F}"/>
                  </a:ext>
                </a:extLst>
              </p:cNvPr>
              <p:cNvSpPr txBox="1"/>
              <p:nvPr/>
            </p:nvSpPr>
            <p:spPr>
              <a:xfrm>
                <a:off x="3661514" y="3816339"/>
                <a:ext cx="29649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4</m:t>
                          </m:r>
                        </m:sub>
                      </m:sSub>
                    </m:oMath>
                  </m:oMathPara>
                </a14:m>
                <a:endParaRPr lang="en-US"/>
              </a:p>
            </p:txBody>
          </p:sp>
        </mc:Choice>
        <mc:Fallback xmlns="">
          <p:sp>
            <p:nvSpPr>
              <p:cNvPr id="16" name="TextBox 15">
                <a:extLst>
                  <a:ext uri="{FF2B5EF4-FFF2-40B4-BE49-F238E27FC236}">
                    <a16:creationId xmlns:a16="http://schemas.microsoft.com/office/drawing/2014/main" id="{25D17BDF-8930-5E71-DF45-4B4C67A2F18F}"/>
                  </a:ext>
                </a:extLst>
              </p:cNvPr>
              <p:cNvSpPr txBox="1">
                <a:spLocks noRot="1" noChangeAspect="1" noMove="1" noResize="1" noEditPoints="1" noAdjustHandles="1" noChangeArrowheads="1" noChangeShapeType="1" noTextEdit="1"/>
              </p:cNvSpPr>
              <p:nvPr/>
            </p:nvSpPr>
            <p:spPr>
              <a:xfrm>
                <a:off x="3661514" y="3816339"/>
                <a:ext cx="296491" cy="276999"/>
              </a:xfrm>
              <a:prstGeom prst="rect">
                <a:avLst/>
              </a:prstGeom>
              <a:blipFill>
                <a:blip r:embed="rId15"/>
                <a:stretch>
                  <a:fillRect l="-16667" r="-4167"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7E62B91-20FB-AEDB-54A9-07EE9F5328D2}"/>
                  </a:ext>
                </a:extLst>
              </p:cNvPr>
              <p:cNvSpPr txBox="1"/>
              <p:nvPr/>
            </p:nvSpPr>
            <p:spPr>
              <a:xfrm>
                <a:off x="2518251" y="2545515"/>
                <a:ext cx="28507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𝑞</m:t>
                          </m:r>
                        </m:e>
                        <m:sub>
                          <m:r>
                            <a:rPr lang="en-US" altLang="zh-CN" b="0" i="1" smtClean="0">
                              <a:latin typeface="Cambria Math" panose="02040503050406030204" pitchFamily="18" charset="0"/>
                            </a:rPr>
                            <m:t>1</m:t>
                          </m:r>
                        </m:sub>
                      </m:sSub>
                    </m:oMath>
                  </m:oMathPara>
                </a14:m>
                <a:endParaRPr lang="en-US"/>
              </a:p>
            </p:txBody>
          </p:sp>
        </mc:Choice>
        <mc:Fallback xmlns="">
          <p:sp>
            <p:nvSpPr>
              <p:cNvPr id="17" name="TextBox 16">
                <a:extLst>
                  <a:ext uri="{FF2B5EF4-FFF2-40B4-BE49-F238E27FC236}">
                    <a16:creationId xmlns:a16="http://schemas.microsoft.com/office/drawing/2014/main" id="{67E62B91-20FB-AEDB-54A9-07EE9F5328D2}"/>
                  </a:ext>
                </a:extLst>
              </p:cNvPr>
              <p:cNvSpPr txBox="1">
                <a:spLocks noRot="1" noChangeAspect="1" noMove="1" noResize="1" noEditPoints="1" noAdjustHandles="1" noChangeArrowheads="1" noChangeShapeType="1" noTextEdit="1"/>
              </p:cNvSpPr>
              <p:nvPr/>
            </p:nvSpPr>
            <p:spPr>
              <a:xfrm>
                <a:off x="2518251" y="2545515"/>
                <a:ext cx="285078" cy="276999"/>
              </a:xfrm>
              <a:prstGeom prst="rect">
                <a:avLst/>
              </a:prstGeom>
              <a:blipFill>
                <a:blip r:embed="rId16"/>
                <a:stretch>
                  <a:fillRect l="-21739" r="-4348" b="-260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4F96055-B46D-7374-7662-199F0461C530}"/>
                  </a:ext>
                </a:extLst>
              </p:cNvPr>
              <p:cNvSpPr txBox="1"/>
              <p:nvPr/>
            </p:nvSpPr>
            <p:spPr>
              <a:xfrm>
                <a:off x="2524347" y="2856925"/>
                <a:ext cx="29040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𝑞</m:t>
                          </m:r>
                        </m:e>
                        <m:sub>
                          <m:r>
                            <a:rPr lang="en-US" altLang="zh-CN" b="0" i="1" smtClean="0">
                              <a:latin typeface="Cambria Math" panose="02040503050406030204" pitchFamily="18" charset="0"/>
                            </a:rPr>
                            <m:t>2</m:t>
                          </m:r>
                        </m:sub>
                      </m:sSub>
                    </m:oMath>
                  </m:oMathPara>
                </a14:m>
                <a:endParaRPr lang="en-US"/>
              </a:p>
            </p:txBody>
          </p:sp>
        </mc:Choice>
        <mc:Fallback xmlns="">
          <p:sp>
            <p:nvSpPr>
              <p:cNvPr id="18" name="TextBox 17">
                <a:extLst>
                  <a:ext uri="{FF2B5EF4-FFF2-40B4-BE49-F238E27FC236}">
                    <a16:creationId xmlns:a16="http://schemas.microsoft.com/office/drawing/2014/main" id="{74F96055-B46D-7374-7662-199F0461C530}"/>
                  </a:ext>
                </a:extLst>
              </p:cNvPr>
              <p:cNvSpPr txBox="1">
                <a:spLocks noRot="1" noChangeAspect="1" noMove="1" noResize="1" noEditPoints="1" noAdjustHandles="1" noChangeArrowheads="1" noChangeShapeType="1" noTextEdit="1"/>
              </p:cNvSpPr>
              <p:nvPr/>
            </p:nvSpPr>
            <p:spPr>
              <a:xfrm>
                <a:off x="2524347" y="2856925"/>
                <a:ext cx="290401" cy="276999"/>
              </a:xfrm>
              <a:prstGeom prst="rect">
                <a:avLst/>
              </a:prstGeom>
              <a:blipFill>
                <a:blip r:embed="rId17"/>
                <a:stretch>
                  <a:fillRect l="-16667" r="-4167" b="-2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582DA33-612F-B150-9E48-77A80C94A01D}"/>
                  </a:ext>
                </a:extLst>
              </p:cNvPr>
              <p:cNvSpPr txBox="1"/>
              <p:nvPr/>
            </p:nvSpPr>
            <p:spPr>
              <a:xfrm>
                <a:off x="2521299" y="3161922"/>
                <a:ext cx="29040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𝑞</m:t>
                          </m:r>
                        </m:e>
                        <m:sub>
                          <m:r>
                            <a:rPr lang="en-US" altLang="zh-CN" b="0" i="1" smtClean="0">
                              <a:latin typeface="Cambria Math" panose="02040503050406030204" pitchFamily="18" charset="0"/>
                            </a:rPr>
                            <m:t>3</m:t>
                          </m:r>
                        </m:sub>
                      </m:sSub>
                    </m:oMath>
                  </m:oMathPara>
                </a14:m>
                <a:endParaRPr lang="en-US"/>
              </a:p>
            </p:txBody>
          </p:sp>
        </mc:Choice>
        <mc:Fallback xmlns="">
          <p:sp>
            <p:nvSpPr>
              <p:cNvPr id="19" name="TextBox 18">
                <a:extLst>
                  <a:ext uri="{FF2B5EF4-FFF2-40B4-BE49-F238E27FC236}">
                    <a16:creationId xmlns:a16="http://schemas.microsoft.com/office/drawing/2014/main" id="{0582DA33-612F-B150-9E48-77A80C94A01D}"/>
                  </a:ext>
                </a:extLst>
              </p:cNvPr>
              <p:cNvSpPr txBox="1">
                <a:spLocks noRot="1" noChangeAspect="1" noMove="1" noResize="1" noEditPoints="1" noAdjustHandles="1" noChangeArrowheads="1" noChangeShapeType="1" noTextEdit="1"/>
              </p:cNvSpPr>
              <p:nvPr/>
            </p:nvSpPr>
            <p:spPr>
              <a:xfrm>
                <a:off x="2521299" y="3161922"/>
                <a:ext cx="290401" cy="276999"/>
              </a:xfrm>
              <a:prstGeom prst="rect">
                <a:avLst/>
              </a:prstGeom>
              <a:blipFill>
                <a:blip r:embed="rId18"/>
                <a:stretch>
                  <a:fillRect l="-16667" r="-4167" b="-2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006183B-2E59-38F7-768C-D13AEC432840}"/>
                  </a:ext>
                </a:extLst>
              </p:cNvPr>
              <p:cNvSpPr txBox="1"/>
              <p:nvPr/>
            </p:nvSpPr>
            <p:spPr>
              <a:xfrm>
                <a:off x="2509107" y="3503494"/>
                <a:ext cx="29040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𝑞</m:t>
                          </m:r>
                        </m:e>
                        <m:sub>
                          <m:r>
                            <a:rPr lang="en-US" altLang="zh-CN" b="0" i="1" smtClean="0">
                              <a:latin typeface="Cambria Math" panose="02040503050406030204" pitchFamily="18" charset="0"/>
                            </a:rPr>
                            <m:t>4</m:t>
                          </m:r>
                        </m:sub>
                      </m:sSub>
                    </m:oMath>
                  </m:oMathPara>
                </a14:m>
                <a:endParaRPr lang="en-US"/>
              </a:p>
            </p:txBody>
          </p:sp>
        </mc:Choice>
        <mc:Fallback xmlns="">
          <p:sp>
            <p:nvSpPr>
              <p:cNvPr id="20" name="TextBox 19">
                <a:extLst>
                  <a:ext uri="{FF2B5EF4-FFF2-40B4-BE49-F238E27FC236}">
                    <a16:creationId xmlns:a16="http://schemas.microsoft.com/office/drawing/2014/main" id="{6006183B-2E59-38F7-768C-D13AEC432840}"/>
                  </a:ext>
                </a:extLst>
              </p:cNvPr>
              <p:cNvSpPr txBox="1">
                <a:spLocks noRot="1" noChangeAspect="1" noMove="1" noResize="1" noEditPoints="1" noAdjustHandles="1" noChangeArrowheads="1" noChangeShapeType="1" noTextEdit="1"/>
              </p:cNvSpPr>
              <p:nvPr/>
            </p:nvSpPr>
            <p:spPr>
              <a:xfrm>
                <a:off x="2509107" y="3503494"/>
                <a:ext cx="290401" cy="276999"/>
              </a:xfrm>
              <a:prstGeom prst="rect">
                <a:avLst/>
              </a:prstGeom>
              <a:blipFill>
                <a:blip r:embed="rId19"/>
                <a:stretch>
                  <a:fillRect l="-16667" r="-4167" b="-2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635EB00-B258-A65E-3A92-F5624D3B9798}"/>
                  </a:ext>
                </a:extLst>
              </p:cNvPr>
              <p:cNvSpPr txBox="1"/>
              <p:nvPr/>
            </p:nvSpPr>
            <p:spPr>
              <a:xfrm>
                <a:off x="7696301" y="4566356"/>
                <a:ext cx="28732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1</m:t>
                          </m:r>
                        </m:sub>
                      </m:sSub>
                    </m:oMath>
                  </m:oMathPara>
                </a14:m>
                <a:endParaRPr lang="en-US"/>
              </a:p>
            </p:txBody>
          </p:sp>
        </mc:Choice>
        <mc:Fallback xmlns="">
          <p:sp>
            <p:nvSpPr>
              <p:cNvPr id="21" name="TextBox 20">
                <a:extLst>
                  <a:ext uri="{FF2B5EF4-FFF2-40B4-BE49-F238E27FC236}">
                    <a16:creationId xmlns:a16="http://schemas.microsoft.com/office/drawing/2014/main" id="{D635EB00-B258-A65E-3A92-F5624D3B9798}"/>
                  </a:ext>
                </a:extLst>
              </p:cNvPr>
              <p:cNvSpPr txBox="1">
                <a:spLocks noRot="1" noChangeAspect="1" noMove="1" noResize="1" noEditPoints="1" noAdjustHandles="1" noChangeArrowheads="1" noChangeShapeType="1" noTextEdit="1"/>
              </p:cNvSpPr>
              <p:nvPr/>
            </p:nvSpPr>
            <p:spPr>
              <a:xfrm>
                <a:off x="7696301" y="4566356"/>
                <a:ext cx="287322" cy="276999"/>
              </a:xfrm>
              <a:prstGeom prst="rect">
                <a:avLst/>
              </a:prstGeom>
              <a:blipFill>
                <a:blip r:embed="rId20"/>
                <a:stretch>
                  <a:fillRect l="-13043" r="-4348"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EB7E65E-EAEF-839D-9DFB-4A3051330E60}"/>
                  </a:ext>
                </a:extLst>
              </p:cNvPr>
              <p:cNvSpPr txBox="1"/>
              <p:nvPr/>
            </p:nvSpPr>
            <p:spPr>
              <a:xfrm>
                <a:off x="7702397" y="4877766"/>
                <a:ext cx="29264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2</m:t>
                          </m:r>
                        </m:sub>
                      </m:sSub>
                    </m:oMath>
                  </m:oMathPara>
                </a14:m>
                <a:endParaRPr lang="en-US"/>
              </a:p>
            </p:txBody>
          </p:sp>
        </mc:Choice>
        <mc:Fallback xmlns="">
          <p:sp>
            <p:nvSpPr>
              <p:cNvPr id="22" name="TextBox 21">
                <a:extLst>
                  <a:ext uri="{FF2B5EF4-FFF2-40B4-BE49-F238E27FC236}">
                    <a16:creationId xmlns:a16="http://schemas.microsoft.com/office/drawing/2014/main" id="{AEB7E65E-EAEF-839D-9DFB-4A3051330E60}"/>
                  </a:ext>
                </a:extLst>
              </p:cNvPr>
              <p:cNvSpPr txBox="1">
                <a:spLocks noRot="1" noChangeAspect="1" noMove="1" noResize="1" noEditPoints="1" noAdjustHandles="1" noChangeArrowheads="1" noChangeShapeType="1" noTextEdit="1"/>
              </p:cNvSpPr>
              <p:nvPr/>
            </p:nvSpPr>
            <p:spPr>
              <a:xfrm>
                <a:off x="7702397" y="4877766"/>
                <a:ext cx="292644" cy="276999"/>
              </a:xfrm>
              <a:prstGeom prst="rect">
                <a:avLst/>
              </a:prstGeom>
              <a:blipFill>
                <a:blip r:embed="rId21"/>
                <a:stretch>
                  <a:fillRect l="-8333" r="-4167" b="-86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B3F0EF4A-2ACC-525C-96B7-91AC5709307A}"/>
                  </a:ext>
                </a:extLst>
              </p:cNvPr>
              <p:cNvSpPr txBox="1"/>
              <p:nvPr/>
            </p:nvSpPr>
            <p:spPr>
              <a:xfrm>
                <a:off x="7699349" y="5182763"/>
                <a:ext cx="29264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3</m:t>
                          </m:r>
                        </m:sub>
                      </m:sSub>
                    </m:oMath>
                  </m:oMathPara>
                </a14:m>
                <a:endParaRPr lang="en-US"/>
              </a:p>
            </p:txBody>
          </p:sp>
        </mc:Choice>
        <mc:Fallback xmlns="">
          <p:sp>
            <p:nvSpPr>
              <p:cNvPr id="23" name="TextBox 22">
                <a:extLst>
                  <a:ext uri="{FF2B5EF4-FFF2-40B4-BE49-F238E27FC236}">
                    <a16:creationId xmlns:a16="http://schemas.microsoft.com/office/drawing/2014/main" id="{B3F0EF4A-2ACC-525C-96B7-91AC5709307A}"/>
                  </a:ext>
                </a:extLst>
              </p:cNvPr>
              <p:cNvSpPr txBox="1">
                <a:spLocks noRot="1" noChangeAspect="1" noMove="1" noResize="1" noEditPoints="1" noAdjustHandles="1" noChangeArrowheads="1" noChangeShapeType="1" noTextEdit="1"/>
              </p:cNvSpPr>
              <p:nvPr/>
            </p:nvSpPr>
            <p:spPr>
              <a:xfrm>
                <a:off x="7699349" y="5182763"/>
                <a:ext cx="292644" cy="276999"/>
              </a:xfrm>
              <a:prstGeom prst="rect">
                <a:avLst/>
              </a:prstGeom>
              <a:blipFill>
                <a:blip r:embed="rId22"/>
                <a:stretch>
                  <a:fillRect l="-12500" r="-4167" b="-86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0881DC14-2366-DEEF-59D9-D1865289D9E0}"/>
                  </a:ext>
                </a:extLst>
              </p:cNvPr>
              <p:cNvSpPr txBox="1"/>
              <p:nvPr/>
            </p:nvSpPr>
            <p:spPr>
              <a:xfrm>
                <a:off x="7687157" y="5524335"/>
                <a:ext cx="28277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4</m:t>
                          </m:r>
                        </m:sub>
                      </m:sSub>
                    </m:oMath>
                  </m:oMathPara>
                </a14:m>
                <a:endParaRPr lang="en-US"/>
              </a:p>
            </p:txBody>
          </p:sp>
        </mc:Choice>
        <mc:Fallback xmlns="">
          <p:sp>
            <p:nvSpPr>
              <p:cNvPr id="24" name="TextBox 23">
                <a:extLst>
                  <a:ext uri="{FF2B5EF4-FFF2-40B4-BE49-F238E27FC236}">
                    <a16:creationId xmlns:a16="http://schemas.microsoft.com/office/drawing/2014/main" id="{0881DC14-2366-DEEF-59D9-D1865289D9E0}"/>
                  </a:ext>
                </a:extLst>
              </p:cNvPr>
              <p:cNvSpPr txBox="1">
                <a:spLocks noRot="1" noChangeAspect="1" noMove="1" noResize="1" noEditPoints="1" noAdjustHandles="1" noChangeArrowheads="1" noChangeShapeType="1" noTextEdit="1"/>
              </p:cNvSpPr>
              <p:nvPr/>
            </p:nvSpPr>
            <p:spPr>
              <a:xfrm>
                <a:off x="7687157" y="5524335"/>
                <a:ext cx="282770" cy="276999"/>
              </a:xfrm>
              <a:prstGeom prst="rect">
                <a:avLst/>
              </a:prstGeom>
              <a:blipFill>
                <a:blip r:embed="rId23"/>
                <a:stretch>
                  <a:fillRect l="-13043" r="-4348"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A7C4CF99-06F4-1481-A751-6EAE32FDECEA}"/>
                  </a:ext>
                </a:extLst>
              </p:cNvPr>
              <p:cNvSpPr txBox="1"/>
              <p:nvPr/>
            </p:nvSpPr>
            <p:spPr>
              <a:xfrm>
                <a:off x="3262699" y="5619464"/>
                <a:ext cx="28732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1</m:t>
                          </m:r>
                        </m:sub>
                      </m:sSub>
                    </m:oMath>
                  </m:oMathPara>
                </a14:m>
                <a:endParaRPr lang="en-US"/>
              </a:p>
            </p:txBody>
          </p:sp>
        </mc:Choice>
        <mc:Fallback xmlns="">
          <p:sp>
            <p:nvSpPr>
              <p:cNvPr id="25" name="TextBox 24">
                <a:extLst>
                  <a:ext uri="{FF2B5EF4-FFF2-40B4-BE49-F238E27FC236}">
                    <a16:creationId xmlns:a16="http://schemas.microsoft.com/office/drawing/2014/main" id="{A7C4CF99-06F4-1481-A751-6EAE32FDECEA}"/>
                  </a:ext>
                </a:extLst>
              </p:cNvPr>
              <p:cNvSpPr txBox="1">
                <a:spLocks noRot="1" noChangeAspect="1" noMove="1" noResize="1" noEditPoints="1" noAdjustHandles="1" noChangeArrowheads="1" noChangeShapeType="1" noTextEdit="1"/>
              </p:cNvSpPr>
              <p:nvPr/>
            </p:nvSpPr>
            <p:spPr>
              <a:xfrm>
                <a:off x="3262699" y="5619464"/>
                <a:ext cx="287322" cy="276999"/>
              </a:xfrm>
              <a:prstGeom prst="rect">
                <a:avLst/>
              </a:prstGeom>
              <a:blipFill>
                <a:blip r:embed="rId24"/>
                <a:stretch>
                  <a:fillRect l="-8333" r="-4167"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1FB46558-8423-2872-B66D-DBF0E8DCE3F3}"/>
                  </a:ext>
                </a:extLst>
              </p:cNvPr>
              <p:cNvSpPr txBox="1"/>
              <p:nvPr/>
            </p:nvSpPr>
            <p:spPr>
              <a:xfrm>
                <a:off x="4769572" y="5615901"/>
                <a:ext cx="29264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2</m:t>
                          </m:r>
                        </m:sub>
                      </m:sSub>
                    </m:oMath>
                  </m:oMathPara>
                </a14:m>
                <a:endParaRPr lang="en-US"/>
              </a:p>
            </p:txBody>
          </p:sp>
        </mc:Choice>
        <mc:Fallback xmlns="">
          <p:sp>
            <p:nvSpPr>
              <p:cNvPr id="26" name="TextBox 25">
                <a:extLst>
                  <a:ext uri="{FF2B5EF4-FFF2-40B4-BE49-F238E27FC236}">
                    <a16:creationId xmlns:a16="http://schemas.microsoft.com/office/drawing/2014/main" id="{1FB46558-8423-2872-B66D-DBF0E8DCE3F3}"/>
                  </a:ext>
                </a:extLst>
              </p:cNvPr>
              <p:cNvSpPr txBox="1">
                <a:spLocks noRot="1" noChangeAspect="1" noMove="1" noResize="1" noEditPoints="1" noAdjustHandles="1" noChangeArrowheads="1" noChangeShapeType="1" noTextEdit="1"/>
              </p:cNvSpPr>
              <p:nvPr/>
            </p:nvSpPr>
            <p:spPr>
              <a:xfrm>
                <a:off x="4769572" y="5615901"/>
                <a:ext cx="292644" cy="276999"/>
              </a:xfrm>
              <a:prstGeom prst="rect">
                <a:avLst/>
              </a:prstGeom>
              <a:blipFill>
                <a:blip r:embed="rId25"/>
                <a:stretch>
                  <a:fillRect l="-8333" r="-4167"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0F748CC1-C699-15F0-8199-69210B1322B9}"/>
                  </a:ext>
                </a:extLst>
              </p:cNvPr>
              <p:cNvSpPr txBox="1"/>
              <p:nvPr/>
            </p:nvSpPr>
            <p:spPr>
              <a:xfrm>
                <a:off x="6484003" y="5654498"/>
                <a:ext cx="29264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3</m:t>
                          </m:r>
                        </m:sub>
                      </m:sSub>
                    </m:oMath>
                  </m:oMathPara>
                </a14:m>
                <a:endParaRPr lang="en-US"/>
              </a:p>
            </p:txBody>
          </p:sp>
        </mc:Choice>
        <mc:Fallback xmlns="">
          <p:sp>
            <p:nvSpPr>
              <p:cNvPr id="27" name="TextBox 26">
                <a:extLst>
                  <a:ext uri="{FF2B5EF4-FFF2-40B4-BE49-F238E27FC236}">
                    <a16:creationId xmlns:a16="http://schemas.microsoft.com/office/drawing/2014/main" id="{0F748CC1-C699-15F0-8199-69210B1322B9}"/>
                  </a:ext>
                </a:extLst>
              </p:cNvPr>
              <p:cNvSpPr txBox="1">
                <a:spLocks noRot="1" noChangeAspect="1" noMove="1" noResize="1" noEditPoints="1" noAdjustHandles="1" noChangeArrowheads="1" noChangeShapeType="1" noTextEdit="1"/>
              </p:cNvSpPr>
              <p:nvPr/>
            </p:nvSpPr>
            <p:spPr>
              <a:xfrm>
                <a:off x="6484003" y="5654498"/>
                <a:ext cx="292644" cy="276999"/>
              </a:xfrm>
              <a:prstGeom prst="rect">
                <a:avLst/>
              </a:prstGeom>
              <a:blipFill>
                <a:blip r:embed="rId26"/>
                <a:stretch>
                  <a:fillRect l="-8333" r="-4167" b="-86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B4BF713B-DB39-10C1-B987-5817D7245F1A}"/>
                  </a:ext>
                </a:extLst>
              </p:cNvPr>
              <p:cNvSpPr txBox="1"/>
              <p:nvPr/>
            </p:nvSpPr>
            <p:spPr>
              <a:xfrm>
                <a:off x="8235440" y="5654498"/>
                <a:ext cx="28277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4</m:t>
                          </m:r>
                        </m:sub>
                      </m:sSub>
                    </m:oMath>
                  </m:oMathPara>
                </a14:m>
                <a:endParaRPr lang="en-US"/>
              </a:p>
            </p:txBody>
          </p:sp>
        </mc:Choice>
        <mc:Fallback xmlns="">
          <p:sp>
            <p:nvSpPr>
              <p:cNvPr id="28" name="TextBox 27">
                <a:extLst>
                  <a:ext uri="{FF2B5EF4-FFF2-40B4-BE49-F238E27FC236}">
                    <a16:creationId xmlns:a16="http://schemas.microsoft.com/office/drawing/2014/main" id="{B4BF713B-DB39-10C1-B987-5817D7245F1A}"/>
                  </a:ext>
                </a:extLst>
              </p:cNvPr>
              <p:cNvSpPr txBox="1">
                <a:spLocks noRot="1" noChangeAspect="1" noMove="1" noResize="1" noEditPoints="1" noAdjustHandles="1" noChangeArrowheads="1" noChangeShapeType="1" noTextEdit="1"/>
              </p:cNvSpPr>
              <p:nvPr/>
            </p:nvSpPr>
            <p:spPr>
              <a:xfrm>
                <a:off x="8235440" y="5654498"/>
                <a:ext cx="282770" cy="276999"/>
              </a:xfrm>
              <a:prstGeom prst="rect">
                <a:avLst/>
              </a:prstGeom>
              <a:blipFill>
                <a:blip r:embed="rId27"/>
                <a:stretch>
                  <a:fillRect l="-8696" r="-4348" b="-8696"/>
                </a:stretch>
              </a:blipFill>
            </p:spPr>
            <p:txBody>
              <a:bodyPr/>
              <a:lstStyle/>
              <a:p>
                <a:r>
                  <a:rPr lang="en-US">
                    <a:noFill/>
                  </a:rPr>
                  <a:t> </a:t>
                </a:r>
              </a:p>
            </p:txBody>
          </p:sp>
        </mc:Fallback>
      </mc:AlternateContent>
      <p:grpSp>
        <p:nvGrpSpPr>
          <p:cNvPr id="29" name="Group 28">
            <a:extLst>
              <a:ext uri="{FF2B5EF4-FFF2-40B4-BE49-F238E27FC236}">
                <a16:creationId xmlns:a16="http://schemas.microsoft.com/office/drawing/2014/main" id="{4C58280D-5BD2-840E-9D02-AA3EDB41F08A}"/>
              </a:ext>
            </a:extLst>
          </p:cNvPr>
          <p:cNvGrpSpPr/>
          <p:nvPr/>
        </p:nvGrpSpPr>
        <p:grpSpPr>
          <a:xfrm>
            <a:off x="1376083" y="2532709"/>
            <a:ext cx="2581922" cy="451335"/>
            <a:chOff x="7284421" y="5022364"/>
            <a:chExt cx="2581922" cy="451335"/>
          </a:xfrm>
        </p:grpSpPr>
        <p:sp>
          <p:nvSpPr>
            <p:cNvPr id="31" name="TextBox 30">
              <a:extLst>
                <a:ext uri="{FF2B5EF4-FFF2-40B4-BE49-F238E27FC236}">
                  <a16:creationId xmlns:a16="http://schemas.microsoft.com/office/drawing/2014/main" id="{E2413995-9FB7-82A2-0E7F-D7EE508F63F5}"/>
                </a:ext>
              </a:extLst>
            </p:cNvPr>
            <p:cNvSpPr txBox="1"/>
            <p:nvPr/>
          </p:nvSpPr>
          <p:spPr>
            <a:xfrm>
              <a:off x="7284421" y="5035170"/>
              <a:ext cx="1348669" cy="369332"/>
            </a:xfrm>
            <a:prstGeom prst="rect">
              <a:avLst/>
            </a:prstGeom>
            <a:noFill/>
          </p:spPr>
          <p:txBody>
            <a:bodyPr wrap="square" rtlCol="0">
              <a:spAutoFit/>
            </a:bodyPr>
            <a:lstStyle/>
            <a:p>
              <a:r>
                <a:rPr lang="zh-CN" altLang="en-US" dirty="0">
                  <a:solidFill>
                    <a:schemeClr val="accent2"/>
                  </a:solidFill>
                  <a:latin typeface="Calibri" panose="020F0502020204030204" pitchFamily="34" charset="0"/>
                  <a:cs typeface="Calibri" panose="020F0502020204030204" pitchFamily="34" charset="0"/>
                </a:rPr>
                <a:t>和为</a:t>
              </a:r>
              <a:r>
                <a:rPr lang="en-US" altLang="zh-CN" dirty="0">
                  <a:solidFill>
                    <a:schemeClr val="accent2"/>
                  </a:solidFill>
                  <a:latin typeface="Calibri" panose="020F0502020204030204" pitchFamily="34" charset="0"/>
                  <a:cs typeface="Calibri" panose="020F0502020204030204" pitchFamily="34" charset="0"/>
                </a:rPr>
                <a:t>1</a:t>
              </a:r>
              <a:endParaRPr lang="en-US" dirty="0">
                <a:solidFill>
                  <a:schemeClr val="accent2"/>
                </a:solidFill>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CE738895-2208-A36F-76FB-99D2AC983D0C}"/>
                </a:ext>
              </a:extLst>
            </p:cNvPr>
            <p:cNvSpPr/>
            <p:nvPr/>
          </p:nvSpPr>
          <p:spPr>
            <a:xfrm>
              <a:off x="8674100" y="5022364"/>
              <a:ext cx="1192243" cy="451335"/>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3" name="Elbow Connector 32">
            <a:extLst>
              <a:ext uri="{FF2B5EF4-FFF2-40B4-BE49-F238E27FC236}">
                <a16:creationId xmlns:a16="http://schemas.microsoft.com/office/drawing/2014/main" id="{19F9680C-A9BF-24DB-EBE8-05F6DF40E90F}"/>
              </a:ext>
            </a:extLst>
          </p:cNvPr>
          <p:cNvCxnSpPr>
            <a:cxnSpLocks/>
          </p:cNvCxnSpPr>
          <p:nvPr/>
        </p:nvCxnSpPr>
        <p:spPr>
          <a:xfrm flipV="1">
            <a:off x="5409240" y="4877766"/>
            <a:ext cx="1574800" cy="276999"/>
          </a:xfrm>
          <a:prstGeom prst="bentConnector3">
            <a:avLst>
              <a:gd name="adj1" fmla="val 1613"/>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Elbow Connector 35">
            <a:extLst>
              <a:ext uri="{FF2B5EF4-FFF2-40B4-BE49-F238E27FC236}">
                <a16:creationId xmlns:a16="http://schemas.microsoft.com/office/drawing/2014/main" id="{DC65CFDF-52FC-A3C2-173E-A325E0964E00}"/>
              </a:ext>
            </a:extLst>
          </p:cNvPr>
          <p:cNvCxnSpPr>
            <a:cxnSpLocks/>
          </p:cNvCxnSpPr>
          <p:nvPr/>
        </p:nvCxnSpPr>
        <p:spPr>
          <a:xfrm flipV="1">
            <a:off x="5768419" y="5056373"/>
            <a:ext cx="1215621" cy="73930"/>
          </a:xfrm>
          <a:prstGeom prst="bentConnector3">
            <a:avLst>
              <a:gd name="adj1" fmla="val 4032"/>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Elbow Connector 38">
            <a:extLst>
              <a:ext uri="{FF2B5EF4-FFF2-40B4-BE49-F238E27FC236}">
                <a16:creationId xmlns:a16="http://schemas.microsoft.com/office/drawing/2014/main" id="{19722858-CBB5-033A-F0F8-72D5BD9BAFA8}"/>
              </a:ext>
            </a:extLst>
          </p:cNvPr>
          <p:cNvCxnSpPr>
            <a:cxnSpLocks/>
          </p:cNvCxnSpPr>
          <p:nvPr/>
        </p:nvCxnSpPr>
        <p:spPr>
          <a:xfrm>
            <a:off x="6376229" y="5459762"/>
            <a:ext cx="607811" cy="105728"/>
          </a:xfrm>
          <a:prstGeom prst="bentConnector3">
            <a:avLst>
              <a:gd name="adj1" fmla="val -2237"/>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Elbow Connector 42">
            <a:extLst>
              <a:ext uri="{FF2B5EF4-FFF2-40B4-BE49-F238E27FC236}">
                <a16:creationId xmlns:a16="http://schemas.microsoft.com/office/drawing/2014/main" id="{65F58EA6-B0AE-5ACC-B212-EA036CC62CCE}"/>
              </a:ext>
            </a:extLst>
          </p:cNvPr>
          <p:cNvCxnSpPr>
            <a:cxnSpLocks/>
          </p:cNvCxnSpPr>
          <p:nvPr/>
        </p:nvCxnSpPr>
        <p:spPr>
          <a:xfrm flipV="1">
            <a:off x="6376229" y="5333372"/>
            <a:ext cx="597973" cy="179254"/>
          </a:xfrm>
          <a:prstGeom prst="bentConnector3">
            <a:avLst>
              <a:gd name="adj1" fmla="val 50000"/>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Elbow Connector 49">
            <a:extLst>
              <a:ext uri="{FF2B5EF4-FFF2-40B4-BE49-F238E27FC236}">
                <a16:creationId xmlns:a16="http://schemas.microsoft.com/office/drawing/2014/main" id="{76E581AC-FDEB-90F3-FB4B-8DE823203B3A}"/>
              </a:ext>
            </a:extLst>
          </p:cNvPr>
          <p:cNvCxnSpPr>
            <a:cxnSpLocks/>
          </p:cNvCxnSpPr>
          <p:nvPr/>
        </p:nvCxnSpPr>
        <p:spPr>
          <a:xfrm>
            <a:off x="6052260" y="5421662"/>
            <a:ext cx="431743" cy="87898"/>
          </a:xfrm>
          <a:prstGeom prst="bentConnector3">
            <a:avLst>
              <a:gd name="adj1" fmla="val -6"/>
            </a:avLst>
          </a:prstGeom>
          <a:ln w="15875">
            <a:solidFill>
              <a:schemeClr val="tx1"/>
            </a:solidFill>
            <a:tailEnd type="none"/>
          </a:ln>
        </p:spPr>
        <p:style>
          <a:lnRef idx="1">
            <a:schemeClr val="accent1"/>
          </a:lnRef>
          <a:fillRef idx="0">
            <a:schemeClr val="accent1"/>
          </a:fillRef>
          <a:effectRef idx="0">
            <a:schemeClr val="accent1"/>
          </a:effectRef>
          <a:fontRef idx="minor">
            <a:schemeClr val="tx1"/>
          </a:fontRef>
        </p:style>
      </p:cxnSp>
      <p:grpSp>
        <p:nvGrpSpPr>
          <p:cNvPr id="35" name="Group 34">
            <a:extLst>
              <a:ext uri="{FF2B5EF4-FFF2-40B4-BE49-F238E27FC236}">
                <a16:creationId xmlns:a16="http://schemas.microsoft.com/office/drawing/2014/main" id="{126F5019-43CE-E084-EB3A-BA398E72F5C6}"/>
              </a:ext>
            </a:extLst>
          </p:cNvPr>
          <p:cNvGrpSpPr/>
          <p:nvPr/>
        </p:nvGrpSpPr>
        <p:grpSpPr>
          <a:xfrm>
            <a:off x="0" y="-1589"/>
            <a:ext cx="12191999" cy="768585"/>
            <a:chOff x="0" y="-1589"/>
            <a:chExt cx="12191999" cy="768585"/>
          </a:xfrm>
        </p:grpSpPr>
        <p:grpSp>
          <p:nvGrpSpPr>
            <p:cNvPr id="37" name="Group 9">
              <a:extLst>
                <a:ext uri="{FF2B5EF4-FFF2-40B4-BE49-F238E27FC236}">
                  <a16:creationId xmlns:a16="http://schemas.microsoft.com/office/drawing/2014/main" id="{28A6E6AF-4AD9-0C92-5125-7265DEF3D632}"/>
                </a:ext>
              </a:extLst>
            </p:cNvPr>
            <p:cNvGrpSpPr>
              <a:grpSpLocks noChangeAspect="1"/>
            </p:cNvGrpSpPr>
            <p:nvPr/>
          </p:nvGrpSpPr>
          <p:grpSpPr bwMode="auto">
            <a:xfrm>
              <a:off x="0" y="-1589"/>
              <a:ext cx="12191999" cy="767234"/>
              <a:chOff x="-1" y="-1"/>
              <a:chExt cx="7719" cy="568"/>
            </a:xfrm>
          </p:grpSpPr>
          <p:sp>
            <p:nvSpPr>
              <p:cNvPr id="41" name="Freeform 40">
                <a:extLst>
                  <a:ext uri="{FF2B5EF4-FFF2-40B4-BE49-F238E27FC236}">
                    <a16:creationId xmlns:a16="http://schemas.microsoft.com/office/drawing/2014/main" id="{00EF5185-5FB2-150A-F76F-B320AC2ED607}"/>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42" name="AutoShape 8">
                <a:extLst>
                  <a:ext uri="{FF2B5EF4-FFF2-40B4-BE49-F238E27FC236}">
                    <a16:creationId xmlns:a16="http://schemas.microsoft.com/office/drawing/2014/main" id="{F3CB00DA-6D63-5789-2AC9-FE1A024CE71A}"/>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38" name="任意多边形: 形状 12">
              <a:extLst>
                <a:ext uri="{FF2B5EF4-FFF2-40B4-BE49-F238E27FC236}">
                  <a16:creationId xmlns:a16="http://schemas.microsoft.com/office/drawing/2014/main" id="{5BFFF3CD-22C8-DB67-301C-A4FAF81754B5}"/>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40" name="文本框 18">
              <a:extLst>
                <a:ext uri="{FF2B5EF4-FFF2-40B4-BE49-F238E27FC236}">
                  <a16:creationId xmlns:a16="http://schemas.microsoft.com/office/drawing/2014/main" id="{EA4310E7-3FE3-4648-2527-B0908D0626F6}"/>
                </a:ext>
              </a:extLst>
            </p:cNvPr>
            <p:cNvSpPr txBox="1"/>
            <p:nvPr/>
          </p:nvSpPr>
          <p:spPr>
            <a:xfrm>
              <a:off x="350439" y="120418"/>
              <a:ext cx="1620957" cy="523220"/>
            </a:xfrm>
            <a:prstGeom prst="rect">
              <a:avLst/>
            </a:prstGeom>
            <a:noFill/>
          </p:spPr>
          <p:txBody>
            <a:bodyPr wrap="none" rtlCol="0">
              <a:spAutoFit/>
            </a:bodyPr>
            <a:lstStyle/>
            <a:p>
              <a:pPr>
                <a:defRPr/>
              </a:pPr>
              <a:r>
                <a:rPr lang="zh-CN" altLang="en-US" sz="2800" b="1">
                  <a:solidFill>
                    <a:prstClr val="white"/>
                  </a:solidFill>
                  <a:cs typeface="+mn-ea"/>
                  <a:sym typeface="+mn-lt"/>
                </a:rPr>
                <a:t>自注意力</a:t>
              </a:r>
            </a:p>
          </p:txBody>
        </p:sp>
      </p:grpSp>
      <p:grpSp>
        <p:nvGrpSpPr>
          <p:cNvPr id="32" name="Group 31">
            <a:extLst>
              <a:ext uri="{FF2B5EF4-FFF2-40B4-BE49-F238E27FC236}">
                <a16:creationId xmlns:a16="http://schemas.microsoft.com/office/drawing/2014/main" id="{AF800C05-7490-CEF1-0293-FF34B2309932}"/>
              </a:ext>
            </a:extLst>
          </p:cNvPr>
          <p:cNvGrpSpPr/>
          <p:nvPr/>
        </p:nvGrpSpPr>
        <p:grpSpPr>
          <a:xfrm>
            <a:off x="2811700" y="2657631"/>
            <a:ext cx="1040373" cy="1087153"/>
            <a:chOff x="9393730" y="4594955"/>
            <a:chExt cx="1040373" cy="1087153"/>
          </a:xfrm>
          <a:solidFill>
            <a:schemeClr val="accent2">
              <a:lumMod val="75000"/>
            </a:schemeClr>
          </a:solidFill>
          <a:effectLst>
            <a:outerShdw blurRad="50800" dist="38100" dir="2700000" algn="tl" rotWithShape="0">
              <a:prstClr val="black">
                <a:alpha val="40000"/>
              </a:prstClr>
            </a:outerShdw>
          </a:effectLst>
        </p:grpSpPr>
        <p:sp>
          <p:nvSpPr>
            <p:cNvPr id="34" name="Rectangle 33">
              <a:extLst>
                <a:ext uri="{FF2B5EF4-FFF2-40B4-BE49-F238E27FC236}">
                  <a16:creationId xmlns:a16="http://schemas.microsoft.com/office/drawing/2014/main" id="{95C092F1-3608-4B03-1A2F-52C91B36380F}"/>
                </a:ext>
              </a:extLst>
            </p:cNvPr>
            <p:cNvSpPr/>
            <p:nvPr/>
          </p:nvSpPr>
          <p:spPr>
            <a:xfrm rot="16200000">
              <a:off x="9393730" y="5452714"/>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377F300B-D41B-438E-0A69-71CE4DE7D882}"/>
                </a:ext>
              </a:extLst>
            </p:cNvPr>
            <p:cNvSpPr/>
            <p:nvPr/>
          </p:nvSpPr>
          <p:spPr>
            <a:xfrm rot="16200000">
              <a:off x="9393730" y="5167510"/>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02675858-283E-40EC-7382-6523585507B8}"/>
                </a:ext>
              </a:extLst>
            </p:cNvPr>
            <p:cNvSpPr/>
            <p:nvPr/>
          </p:nvSpPr>
          <p:spPr>
            <a:xfrm rot="16200000">
              <a:off x="9393730" y="4882307"/>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15713768-B65B-3992-A8DE-38E5FA01E2BA}"/>
                </a:ext>
              </a:extLst>
            </p:cNvPr>
            <p:cNvSpPr/>
            <p:nvPr/>
          </p:nvSpPr>
          <p:spPr>
            <a:xfrm rot="16200000">
              <a:off x="9393730" y="4597103"/>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F0845CAC-A2F6-FD26-DEE2-4EBC5093F13E}"/>
                </a:ext>
              </a:extLst>
            </p:cNvPr>
            <p:cNvSpPr/>
            <p:nvPr/>
          </p:nvSpPr>
          <p:spPr>
            <a:xfrm rot="16200000">
              <a:off x="9658625" y="5452714"/>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40C75B4C-7834-BC0B-FE9E-169E36075BD2}"/>
                </a:ext>
              </a:extLst>
            </p:cNvPr>
            <p:cNvSpPr/>
            <p:nvPr/>
          </p:nvSpPr>
          <p:spPr>
            <a:xfrm rot="16200000">
              <a:off x="9658625" y="5167510"/>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7AEF5F44-17C3-DA74-C6AE-AAF229EFF1F6}"/>
                </a:ext>
              </a:extLst>
            </p:cNvPr>
            <p:cNvSpPr/>
            <p:nvPr/>
          </p:nvSpPr>
          <p:spPr>
            <a:xfrm rot="16200000">
              <a:off x="9658625" y="4882307"/>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3613134D-8A0E-6C90-E37C-EF351014BCD8}"/>
                </a:ext>
              </a:extLst>
            </p:cNvPr>
            <p:cNvSpPr/>
            <p:nvPr/>
          </p:nvSpPr>
          <p:spPr>
            <a:xfrm rot="16200000">
              <a:off x="9658625" y="4597103"/>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E83DD2A7-D151-9430-B9B3-CB61FC80DF2F}"/>
                </a:ext>
              </a:extLst>
            </p:cNvPr>
            <p:cNvSpPr/>
            <p:nvPr/>
          </p:nvSpPr>
          <p:spPr>
            <a:xfrm rot="16200000">
              <a:off x="9923519" y="5452714"/>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EC847F67-02E3-900C-BB35-8212C324E50A}"/>
                </a:ext>
              </a:extLst>
            </p:cNvPr>
            <p:cNvSpPr/>
            <p:nvPr/>
          </p:nvSpPr>
          <p:spPr>
            <a:xfrm rot="16200000">
              <a:off x="9923519" y="5167510"/>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A0D1265D-A83E-9523-F3E6-D5A0E6B905AB}"/>
                </a:ext>
              </a:extLst>
            </p:cNvPr>
            <p:cNvSpPr/>
            <p:nvPr/>
          </p:nvSpPr>
          <p:spPr>
            <a:xfrm rot="16200000">
              <a:off x="9923519" y="4882307"/>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B48D699D-194A-483E-330D-6B64D19EC591}"/>
                </a:ext>
              </a:extLst>
            </p:cNvPr>
            <p:cNvSpPr/>
            <p:nvPr/>
          </p:nvSpPr>
          <p:spPr>
            <a:xfrm rot="16200000">
              <a:off x="9923519" y="4597103"/>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BDCE9190-340E-1001-21E4-D1F6AE2C2386}"/>
                </a:ext>
              </a:extLst>
            </p:cNvPr>
            <p:cNvSpPr/>
            <p:nvPr/>
          </p:nvSpPr>
          <p:spPr>
            <a:xfrm rot="16200000">
              <a:off x="10204709" y="5450566"/>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4B7AEF06-7B50-50E5-A743-B9F4050AF720}"/>
                </a:ext>
              </a:extLst>
            </p:cNvPr>
            <p:cNvSpPr/>
            <p:nvPr/>
          </p:nvSpPr>
          <p:spPr>
            <a:xfrm rot="16200000">
              <a:off x="10204709" y="5165362"/>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E481FEF6-2FA7-A433-211E-11C58634D854}"/>
                </a:ext>
              </a:extLst>
            </p:cNvPr>
            <p:cNvSpPr/>
            <p:nvPr/>
          </p:nvSpPr>
          <p:spPr>
            <a:xfrm rot="16200000">
              <a:off x="10204709" y="4880159"/>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73B678F4-DD60-9792-F7DF-37016D5E5EC8}"/>
                </a:ext>
              </a:extLst>
            </p:cNvPr>
            <p:cNvSpPr/>
            <p:nvPr/>
          </p:nvSpPr>
          <p:spPr>
            <a:xfrm rot="16200000">
              <a:off x="10204709" y="4594955"/>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0" name="Group 59">
            <a:extLst>
              <a:ext uri="{FF2B5EF4-FFF2-40B4-BE49-F238E27FC236}">
                <a16:creationId xmlns:a16="http://schemas.microsoft.com/office/drawing/2014/main" id="{2E73EB6A-A8F8-5C50-AD47-2A9DF24EA5B2}"/>
              </a:ext>
            </a:extLst>
          </p:cNvPr>
          <p:cNvGrpSpPr/>
          <p:nvPr/>
        </p:nvGrpSpPr>
        <p:grpSpPr>
          <a:xfrm>
            <a:off x="4370505" y="2678470"/>
            <a:ext cx="759183" cy="1085005"/>
            <a:chOff x="6843089" y="2727932"/>
            <a:chExt cx="1664221" cy="2378463"/>
          </a:xfrm>
          <a:solidFill>
            <a:schemeClr val="accent5">
              <a:lumMod val="40000"/>
              <a:lumOff val="60000"/>
            </a:schemeClr>
          </a:solidFill>
          <a:effectLst>
            <a:outerShdw blurRad="50800" dist="38100" dir="2700000" algn="tl" rotWithShape="0">
              <a:prstClr val="black">
                <a:alpha val="40000"/>
              </a:prstClr>
            </a:outerShdw>
          </a:effectLst>
        </p:grpSpPr>
        <p:sp>
          <p:nvSpPr>
            <p:cNvPr id="61" name="Rectangle 60">
              <a:extLst>
                <a:ext uri="{FF2B5EF4-FFF2-40B4-BE49-F238E27FC236}">
                  <a16:creationId xmlns:a16="http://schemas.microsoft.com/office/drawing/2014/main" id="{770624A3-48C6-67C4-4071-B1B6EED98DA7}"/>
                </a:ext>
              </a:extLst>
            </p:cNvPr>
            <p:cNvSpPr/>
            <p:nvPr/>
          </p:nvSpPr>
          <p:spPr>
            <a:xfrm rot="16200000">
              <a:off x="6843089" y="4603535"/>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26DB61E3-68E9-2791-7ED9-F6ADF07628D5}"/>
                </a:ext>
              </a:extLst>
            </p:cNvPr>
            <p:cNvSpPr/>
            <p:nvPr/>
          </p:nvSpPr>
          <p:spPr>
            <a:xfrm rot="16200000">
              <a:off x="6843089" y="3978334"/>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4DA8A3A2-3A80-1497-458C-48F67836FA85}"/>
                </a:ext>
              </a:extLst>
            </p:cNvPr>
            <p:cNvSpPr/>
            <p:nvPr/>
          </p:nvSpPr>
          <p:spPr>
            <a:xfrm rot="16200000">
              <a:off x="6843089" y="3353133"/>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38388521-6269-DCCD-2B82-475363B402CB}"/>
                </a:ext>
              </a:extLst>
            </p:cNvPr>
            <p:cNvSpPr/>
            <p:nvPr/>
          </p:nvSpPr>
          <p:spPr>
            <a:xfrm rot="16200000">
              <a:off x="6843089"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E57BA4E9-BE82-63D1-AA61-48185906DE75}"/>
                </a:ext>
              </a:extLst>
            </p:cNvPr>
            <p:cNvSpPr/>
            <p:nvPr/>
          </p:nvSpPr>
          <p:spPr>
            <a:xfrm rot="16200000">
              <a:off x="7423770" y="4603535"/>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5208FDDD-CFE4-AB74-67B1-287922DE8167}"/>
                </a:ext>
              </a:extLst>
            </p:cNvPr>
            <p:cNvSpPr/>
            <p:nvPr/>
          </p:nvSpPr>
          <p:spPr>
            <a:xfrm rot="16200000">
              <a:off x="7423770" y="3978334"/>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ACCB5D2C-77BA-CF89-B99B-64432F30E323}"/>
                </a:ext>
              </a:extLst>
            </p:cNvPr>
            <p:cNvSpPr/>
            <p:nvPr/>
          </p:nvSpPr>
          <p:spPr>
            <a:xfrm rot="16200000">
              <a:off x="7423770" y="3353133"/>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111F9ABA-3E63-AD16-37C8-6162ED3E978E}"/>
                </a:ext>
              </a:extLst>
            </p:cNvPr>
            <p:cNvSpPr/>
            <p:nvPr/>
          </p:nvSpPr>
          <p:spPr>
            <a:xfrm rot="16200000">
              <a:off x="7423770"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0FBC6420-834A-8A9E-F897-BADD0C6FD307}"/>
                </a:ext>
              </a:extLst>
            </p:cNvPr>
            <p:cNvSpPr/>
            <p:nvPr/>
          </p:nvSpPr>
          <p:spPr>
            <a:xfrm rot="16200000">
              <a:off x="8004450" y="4603535"/>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D0BAC521-1B94-E886-01DD-1D8C8C4EF714}"/>
                </a:ext>
              </a:extLst>
            </p:cNvPr>
            <p:cNvSpPr/>
            <p:nvPr/>
          </p:nvSpPr>
          <p:spPr>
            <a:xfrm rot="16200000">
              <a:off x="8004450" y="3978334"/>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18E111AD-796B-1CA3-8DAF-87EC4B519ED5}"/>
                </a:ext>
              </a:extLst>
            </p:cNvPr>
            <p:cNvSpPr/>
            <p:nvPr/>
          </p:nvSpPr>
          <p:spPr>
            <a:xfrm rot="16200000">
              <a:off x="8004450" y="3353133"/>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E2B5075F-2031-4B46-FE5D-972E17A7FEF5}"/>
                </a:ext>
              </a:extLst>
            </p:cNvPr>
            <p:cNvSpPr/>
            <p:nvPr/>
          </p:nvSpPr>
          <p:spPr>
            <a:xfrm rot="16200000">
              <a:off x="8004450"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6" name="Group 85">
            <a:extLst>
              <a:ext uri="{FF2B5EF4-FFF2-40B4-BE49-F238E27FC236}">
                <a16:creationId xmlns:a16="http://schemas.microsoft.com/office/drawing/2014/main" id="{A77B6D15-5141-EAC8-835D-DEA35D80ED29}"/>
              </a:ext>
            </a:extLst>
          </p:cNvPr>
          <p:cNvGrpSpPr/>
          <p:nvPr/>
        </p:nvGrpSpPr>
        <p:grpSpPr>
          <a:xfrm>
            <a:off x="6171035" y="2657630"/>
            <a:ext cx="759183" cy="1085005"/>
            <a:chOff x="6843089" y="2727932"/>
            <a:chExt cx="1664221" cy="2378463"/>
          </a:xfrm>
          <a:solidFill>
            <a:schemeClr val="accent6">
              <a:lumMod val="60000"/>
              <a:lumOff val="40000"/>
            </a:schemeClr>
          </a:solidFill>
          <a:effectLst>
            <a:outerShdw blurRad="50800" dist="38100" dir="2700000" algn="tl" rotWithShape="0">
              <a:prstClr val="black">
                <a:alpha val="40000"/>
              </a:prstClr>
            </a:outerShdw>
          </a:effectLst>
        </p:grpSpPr>
        <p:sp>
          <p:nvSpPr>
            <p:cNvPr id="87" name="Rectangle 86">
              <a:extLst>
                <a:ext uri="{FF2B5EF4-FFF2-40B4-BE49-F238E27FC236}">
                  <a16:creationId xmlns:a16="http://schemas.microsoft.com/office/drawing/2014/main" id="{734B52D9-9897-7CDF-9372-71D7DC2B9F25}"/>
                </a:ext>
              </a:extLst>
            </p:cNvPr>
            <p:cNvSpPr/>
            <p:nvPr/>
          </p:nvSpPr>
          <p:spPr>
            <a:xfrm rot="16200000">
              <a:off x="6843089" y="4603535"/>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2A06D982-7810-ABA7-A4BB-AC436612FC1C}"/>
                </a:ext>
              </a:extLst>
            </p:cNvPr>
            <p:cNvSpPr/>
            <p:nvPr/>
          </p:nvSpPr>
          <p:spPr>
            <a:xfrm rot="16200000">
              <a:off x="6843089" y="3978334"/>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46BB9CF2-F194-D0BA-F2F7-D16AA9E68A95}"/>
                </a:ext>
              </a:extLst>
            </p:cNvPr>
            <p:cNvSpPr/>
            <p:nvPr/>
          </p:nvSpPr>
          <p:spPr>
            <a:xfrm rot="16200000">
              <a:off x="6843089" y="3353133"/>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585658AF-0CA6-0F01-8C48-9F6AADB696EA}"/>
                </a:ext>
              </a:extLst>
            </p:cNvPr>
            <p:cNvSpPr/>
            <p:nvPr/>
          </p:nvSpPr>
          <p:spPr>
            <a:xfrm rot="16200000">
              <a:off x="6843089"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BD69BA17-68FF-293A-4676-D0AAAA9323DF}"/>
                </a:ext>
              </a:extLst>
            </p:cNvPr>
            <p:cNvSpPr/>
            <p:nvPr/>
          </p:nvSpPr>
          <p:spPr>
            <a:xfrm rot="16200000">
              <a:off x="7423770" y="4603535"/>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CCE5B5CF-65E2-5A47-EE1B-A84CD2802036}"/>
                </a:ext>
              </a:extLst>
            </p:cNvPr>
            <p:cNvSpPr/>
            <p:nvPr/>
          </p:nvSpPr>
          <p:spPr>
            <a:xfrm rot="16200000">
              <a:off x="7423770" y="3978334"/>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38B82588-25BA-D400-4130-2961E827A1DC}"/>
                </a:ext>
              </a:extLst>
            </p:cNvPr>
            <p:cNvSpPr/>
            <p:nvPr/>
          </p:nvSpPr>
          <p:spPr>
            <a:xfrm rot="16200000">
              <a:off x="7423770" y="3353133"/>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C7CE8F74-0C65-A5D2-290E-2BB0444211BA}"/>
                </a:ext>
              </a:extLst>
            </p:cNvPr>
            <p:cNvSpPr/>
            <p:nvPr/>
          </p:nvSpPr>
          <p:spPr>
            <a:xfrm rot="16200000">
              <a:off x="7423770"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22290C5A-E8FE-7608-73F6-0BC6107303DF}"/>
                </a:ext>
              </a:extLst>
            </p:cNvPr>
            <p:cNvSpPr/>
            <p:nvPr/>
          </p:nvSpPr>
          <p:spPr>
            <a:xfrm rot="16200000">
              <a:off x="8004450" y="4603535"/>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0402AF63-33B5-99BB-5660-0BEADC8C8DE8}"/>
                </a:ext>
              </a:extLst>
            </p:cNvPr>
            <p:cNvSpPr/>
            <p:nvPr/>
          </p:nvSpPr>
          <p:spPr>
            <a:xfrm rot="16200000">
              <a:off x="8004450" y="3978334"/>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a:extLst>
                <a:ext uri="{FF2B5EF4-FFF2-40B4-BE49-F238E27FC236}">
                  <a16:creationId xmlns:a16="http://schemas.microsoft.com/office/drawing/2014/main" id="{37ED4D17-F8A9-23DA-005F-F4CFAC996208}"/>
                </a:ext>
              </a:extLst>
            </p:cNvPr>
            <p:cNvSpPr/>
            <p:nvPr/>
          </p:nvSpPr>
          <p:spPr>
            <a:xfrm rot="16200000">
              <a:off x="8004450" y="3353133"/>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F1459918-629C-C44D-DB27-C20ED7592FDE}"/>
                </a:ext>
              </a:extLst>
            </p:cNvPr>
            <p:cNvSpPr/>
            <p:nvPr/>
          </p:nvSpPr>
          <p:spPr>
            <a:xfrm rot="16200000">
              <a:off x="8004450"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87CD876B-0971-FA0F-8613-B52CC9551F1E}"/>
                  </a:ext>
                </a:extLst>
              </p:cNvPr>
              <p:cNvSpPr txBox="1"/>
              <p:nvPr/>
            </p:nvSpPr>
            <p:spPr>
              <a:xfrm>
                <a:off x="3923148" y="3027815"/>
                <a:ext cx="31450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oMath>
                  </m:oMathPara>
                </a14:m>
                <a:endParaRPr lang="en-US" dirty="0"/>
              </a:p>
            </p:txBody>
          </p:sp>
        </mc:Choice>
        <mc:Fallback xmlns="">
          <p:sp>
            <p:nvSpPr>
              <p:cNvPr id="99" name="TextBox 98">
                <a:extLst>
                  <a:ext uri="{FF2B5EF4-FFF2-40B4-BE49-F238E27FC236}">
                    <a16:creationId xmlns:a16="http://schemas.microsoft.com/office/drawing/2014/main" id="{87CD876B-0971-FA0F-8613-B52CC9551F1E}"/>
                  </a:ext>
                </a:extLst>
              </p:cNvPr>
              <p:cNvSpPr txBox="1">
                <a:spLocks noRot="1" noChangeAspect="1" noMove="1" noResize="1" noEditPoints="1" noAdjustHandles="1" noChangeArrowheads="1" noChangeShapeType="1" noTextEdit="1"/>
              </p:cNvSpPr>
              <p:nvPr/>
            </p:nvSpPr>
            <p:spPr>
              <a:xfrm>
                <a:off x="3923148" y="3027815"/>
                <a:ext cx="314509" cy="369332"/>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B6121781-87C3-0167-63E7-8B9656C6916F}"/>
                  </a:ext>
                </a:extLst>
              </p:cNvPr>
              <p:cNvSpPr txBox="1"/>
              <p:nvPr/>
            </p:nvSpPr>
            <p:spPr>
              <a:xfrm>
                <a:off x="5597459" y="3053422"/>
                <a:ext cx="42191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oMath>
                  </m:oMathPara>
                </a14:m>
                <a:endParaRPr lang="en-US" dirty="0"/>
              </a:p>
            </p:txBody>
          </p:sp>
        </mc:Choice>
        <mc:Fallback xmlns="">
          <p:sp>
            <p:nvSpPr>
              <p:cNvPr id="100" name="TextBox 99">
                <a:extLst>
                  <a:ext uri="{FF2B5EF4-FFF2-40B4-BE49-F238E27FC236}">
                    <a16:creationId xmlns:a16="http://schemas.microsoft.com/office/drawing/2014/main" id="{B6121781-87C3-0167-63E7-8B9656C6916F}"/>
                  </a:ext>
                </a:extLst>
              </p:cNvPr>
              <p:cNvSpPr txBox="1">
                <a:spLocks noRot="1" noChangeAspect="1" noMove="1" noResize="1" noEditPoints="1" noAdjustHandles="1" noChangeArrowheads="1" noChangeShapeType="1" noTextEdit="1"/>
              </p:cNvSpPr>
              <p:nvPr/>
            </p:nvSpPr>
            <p:spPr>
              <a:xfrm>
                <a:off x="5597459" y="3053422"/>
                <a:ext cx="421910" cy="369332"/>
              </a:xfrm>
              <a:prstGeom prst="rect">
                <a:avLst/>
              </a:prstGeom>
              <a:blipFill>
                <a:blip r:embed="rId2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260CA4FE-2305-F3B5-45AF-B39A697E40F6}"/>
                  </a:ext>
                </a:extLst>
              </p:cNvPr>
              <p:cNvSpPr txBox="1"/>
              <p:nvPr/>
            </p:nvSpPr>
            <p:spPr>
              <a:xfrm>
                <a:off x="3617155" y="1292510"/>
                <a:ext cx="3990836" cy="67223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i="1" smtClean="0">
                          <a:latin typeface="Cambria Math" panose="02040503050406030204" pitchFamily="18" charset="0"/>
                        </a:rPr>
                        <m:t>Attention</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𝑄</m:t>
                          </m:r>
                          <m:r>
                            <a:rPr lang="en-US" altLang="zh-CN" b="0" i="1" smtClean="0">
                              <a:latin typeface="Cambria Math" panose="02040503050406030204" pitchFamily="18" charset="0"/>
                            </a:rPr>
                            <m:t>,</m:t>
                          </m:r>
                          <m:r>
                            <a:rPr lang="en-US" altLang="zh-CN" b="0" i="1" smtClean="0">
                              <a:latin typeface="Cambria Math" panose="02040503050406030204" pitchFamily="18" charset="0"/>
                            </a:rPr>
                            <m:t>𝐾</m:t>
                          </m:r>
                          <m:r>
                            <a:rPr lang="en-US" altLang="zh-CN" b="0" i="1" smtClean="0">
                              <a:latin typeface="Cambria Math" panose="02040503050406030204" pitchFamily="18" charset="0"/>
                            </a:rPr>
                            <m:t>,</m:t>
                          </m:r>
                          <m:r>
                            <a:rPr lang="en-US" altLang="zh-CN" b="0" i="1" smtClean="0">
                              <a:latin typeface="Cambria Math" panose="02040503050406030204" pitchFamily="18" charset="0"/>
                            </a:rPr>
                            <m:t>𝑉</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𝑠𝑜𝑓𝑡𝑚𝑎𝑥</m:t>
                      </m:r>
                      <m:d>
                        <m:dPr>
                          <m:ctrlPr>
                            <a:rPr lang="en-US" altLang="zh-CN" b="0" i="1" smtClean="0">
                              <a:latin typeface="Cambria Math" panose="02040503050406030204" pitchFamily="18" charset="0"/>
                            </a:rPr>
                          </m:ctrlPr>
                        </m:dPr>
                        <m:e>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𝑄</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𝐾</m:t>
                                  </m:r>
                                </m:e>
                                <m:sup>
                                  <m:r>
                                    <a:rPr lang="en-US" altLang="zh-CN" b="0" i="1" smtClean="0">
                                      <a:latin typeface="Cambria Math" panose="02040503050406030204" pitchFamily="18" charset="0"/>
                                    </a:rPr>
                                    <m:t>𝑇</m:t>
                                  </m:r>
                                </m:sup>
                              </m:sSup>
                            </m:num>
                            <m:den>
                              <m:rad>
                                <m:radPr>
                                  <m:degHide m:val="on"/>
                                  <m:ctrlPr>
                                    <a:rPr lang="en-US" altLang="zh-CN" b="0" i="1" smtClean="0">
                                      <a:latin typeface="Cambria Math" panose="02040503050406030204" pitchFamily="18" charset="0"/>
                                    </a:rPr>
                                  </m:ctrlPr>
                                </m:radPr>
                                <m:deg/>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𝑑</m:t>
                                      </m:r>
                                    </m:e>
                                    <m:sub>
                                      <m:r>
                                        <a:rPr lang="en-US" altLang="zh-CN" b="0" i="1" smtClean="0">
                                          <a:latin typeface="Cambria Math" panose="02040503050406030204" pitchFamily="18" charset="0"/>
                                        </a:rPr>
                                        <m:t>𝑘</m:t>
                                      </m:r>
                                    </m:sub>
                                  </m:sSub>
                                </m:e>
                              </m:rad>
                            </m:den>
                          </m:f>
                        </m:e>
                      </m:d>
                      <m:r>
                        <a:rPr lang="en-US" altLang="zh-CN" b="0" i="1" smtClean="0">
                          <a:latin typeface="Cambria Math" panose="02040503050406030204" pitchFamily="18" charset="0"/>
                        </a:rPr>
                        <m:t>𝑉</m:t>
                      </m:r>
                    </m:oMath>
                  </m:oMathPara>
                </a14:m>
                <a:endParaRPr lang="en-US" dirty="0"/>
              </a:p>
            </p:txBody>
          </p:sp>
        </mc:Choice>
        <mc:Fallback xmlns="">
          <p:sp>
            <p:nvSpPr>
              <p:cNvPr id="101" name="TextBox 100">
                <a:extLst>
                  <a:ext uri="{FF2B5EF4-FFF2-40B4-BE49-F238E27FC236}">
                    <a16:creationId xmlns:a16="http://schemas.microsoft.com/office/drawing/2014/main" id="{260CA4FE-2305-F3B5-45AF-B39A697E40F6}"/>
                  </a:ext>
                </a:extLst>
              </p:cNvPr>
              <p:cNvSpPr txBox="1">
                <a:spLocks noRot="1" noChangeAspect="1" noMove="1" noResize="1" noEditPoints="1" noAdjustHandles="1" noChangeArrowheads="1" noChangeShapeType="1" noTextEdit="1"/>
              </p:cNvSpPr>
              <p:nvPr/>
            </p:nvSpPr>
            <p:spPr>
              <a:xfrm>
                <a:off x="3617155" y="1292510"/>
                <a:ext cx="3990836" cy="672235"/>
              </a:xfrm>
              <a:prstGeom prst="rect">
                <a:avLst/>
              </a:prstGeom>
              <a:blipFill>
                <a:blip r:embed="rId30"/>
                <a:stretch>
                  <a:fillRect l="-633" r="-316" b="-3704"/>
                </a:stretch>
              </a:blipFill>
            </p:spPr>
            <p:txBody>
              <a:bodyPr/>
              <a:lstStyle/>
              <a:p>
                <a:r>
                  <a:rPr lang="en-US">
                    <a:noFill/>
                  </a:rPr>
                  <a:t> </a:t>
                </a:r>
              </a:p>
            </p:txBody>
          </p:sp>
        </mc:Fallback>
      </mc:AlternateContent>
    </p:spTree>
    <p:extLst>
      <p:ext uri="{BB962C8B-B14F-4D97-AF65-F5344CB8AC3E}">
        <p14:creationId xmlns:p14="http://schemas.microsoft.com/office/powerpoint/2010/main" val="14673367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15D837C3-D6FE-E5CE-1537-58CB7949D3A3}"/>
                  </a:ext>
                </a:extLst>
              </p:cNvPr>
              <p:cNvSpPr>
                <a:spLocks noGrp="1"/>
              </p:cNvSpPr>
              <p:nvPr>
                <p:ph idx="1"/>
              </p:nvPr>
            </p:nvSpPr>
            <p:spPr>
              <a:xfrm>
                <a:off x="838199" y="1297858"/>
                <a:ext cx="10857271" cy="4879105"/>
              </a:xfrm>
            </p:spPr>
            <p:txBody>
              <a:bodyPr>
                <a:normAutofit/>
              </a:bodyPr>
              <a:lstStyle/>
              <a:p>
                <a:pPr indent="-457200" algn="just">
                  <a:lnSpc>
                    <a:spcPct val="130000"/>
                  </a:lnSpc>
                  <a:buFont typeface="Wingdings" panose="05000000000000000000" pitchFamily="2" charset="2"/>
                  <a:buChar char="p"/>
                  <a:defRPr/>
                </a:pPr>
                <a:r>
                  <a:rPr lang="zh-CN" altLang="en-US" b="1" dirty="0"/>
                  <a:t>核心思想</a:t>
                </a:r>
                <a:endParaRPr lang="en-US" altLang="zh-CN" b="1" dirty="0"/>
              </a:p>
              <a:p>
                <a:pPr lvl="1"/>
                <a:r>
                  <a:rPr lang="zh-CN" altLang="en-US" dirty="0"/>
                  <a:t>每个位置的表示不仅依赖自身，还“询问”序列中所有位置的上下文信息。</a:t>
                </a:r>
              </a:p>
              <a:p>
                <a:pPr indent="-457200" algn="just">
                  <a:lnSpc>
                    <a:spcPct val="130000"/>
                  </a:lnSpc>
                  <a:buFont typeface="Wingdings" panose="05000000000000000000" pitchFamily="2" charset="2"/>
                  <a:buChar char="p"/>
                  <a:defRPr/>
                </a:pPr>
                <a:r>
                  <a:rPr lang="zh-CN" altLang="en-US" dirty="0"/>
                  <a:t>三矩阵投影</a:t>
                </a:r>
              </a:p>
              <a:p>
                <a:pPr lvl="1"/>
                <a:r>
                  <a:rPr lang="zh-CN" altLang="en-US" dirty="0"/>
                  <a:t>查询（</a:t>
                </a:r>
                <a:r>
                  <a:rPr lang="en-US" dirty="0"/>
                  <a:t>Query）</a:t>
                </a:r>
                <a:r>
                  <a:rPr lang="zh-CN" altLang="en-US" dirty="0"/>
                  <a:t>由 </a:t>
                </a:r>
                <a14:m>
                  <m:oMath xmlns:m="http://schemas.openxmlformats.org/officeDocument/2006/math">
                    <m:sSup>
                      <m:sSupPr>
                        <m:ctrlPr>
                          <a:rPr lang="en-US" altLang="zh-CN" b="0" i="1" dirty="0" smtClean="0">
                            <a:latin typeface="Cambria Math" panose="02040503050406030204" pitchFamily="18" charset="0"/>
                          </a:rPr>
                        </m:ctrlPr>
                      </m:sSupPr>
                      <m:e>
                        <m:r>
                          <m:rPr>
                            <m:sty m:val="p"/>
                          </m:rPr>
                          <a:rPr lang="en-US" altLang="zh-CN" i="1" dirty="0">
                            <a:latin typeface="Cambria Math" panose="02040503050406030204" pitchFamily="18" charset="0"/>
                          </a:rPr>
                          <m:t>W</m:t>
                        </m:r>
                      </m:e>
                      <m:sup>
                        <m:r>
                          <a:rPr lang="en-US" altLang="zh-CN" b="0" i="1" dirty="0" smtClean="0">
                            <a:latin typeface="Cambria Math" panose="02040503050406030204" pitchFamily="18" charset="0"/>
                          </a:rPr>
                          <m:t>𝑄</m:t>
                        </m:r>
                      </m:sup>
                    </m:sSup>
                  </m:oMath>
                </a14:m>
                <a:r>
                  <a:rPr lang="en-US" dirty="0"/>
                  <a:t> </a:t>
                </a:r>
                <a:r>
                  <a:rPr lang="zh-CN" altLang="en-US" dirty="0"/>
                  <a:t>决定“提问角度”</a:t>
                </a:r>
              </a:p>
              <a:p>
                <a:pPr lvl="1"/>
                <a:r>
                  <a:rPr lang="zh-CN" altLang="en-US" dirty="0"/>
                  <a:t>键（</a:t>
                </a:r>
                <a:r>
                  <a:rPr lang="en-US" dirty="0"/>
                  <a:t>Key）</a:t>
                </a:r>
                <a:r>
                  <a:rPr lang="zh-CN" altLang="en-US" dirty="0"/>
                  <a:t>由 </a:t>
                </a:r>
                <a14:m>
                  <m:oMath xmlns:m="http://schemas.openxmlformats.org/officeDocument/2006/math">
                    <m:sSup>
                      <m:sSupPr>
                        <m:ctrlPr>
                          <a:rPr lang="en-US" altLang="zh-CN" b="0" i="1" dirty="0" smtClean="0">
                            <a:latin typeface="Cambria Math" panose="02040503050406030204" pitchFamily="18" charset="0"/>
                          </a:rPr>
                        </m:ctrlPr>
                      </m:sSupPr>
                      <m:e>
                        <m:r>
                          <m:rPr>
                            <m:sty m:val="p"/>
                          </m:rPr>
                          <a:rPr lang="en-US" altLang="zh-CN" i="1" dirty="0">
                            <a:latin typeface="Cambria Math" panose="02040503050406030204" pitchFamily="18" charset="0"/>
                          </a:rPr>
                          <m:t>W</m:t>
                        </m:r>
                      </m:e>
                      <m:sup>
                        <m:r>
                          <a:rPr lang="en-US" altLang="zh-CN" b="0" i="1" dirty="0" smtClean="0">
                            <a:latin typeface="Cambria Math" panose="02040503050406030204" pitchFamily="18" charset="0"/>
                          </a:rPr>
                          <m:t>𝐾</m:t>
                        </m:r>
                      </m:sup>
                    </m:sSup>
                  </m:oMath>
                </a14:m>
                <a:r>
                  <a:rPr lang="en-US" dirty="0"/>
                  <a:t> </a:t>
                </a:r>
                <a:r>
                  <a:rPr lang="zh-CN" altLang="en-US" dirty="0"/>
                  <a:t>决定“回答的重要性”</a:t>
                </a:r>
              </a:p>
              <a:p>
                <a:pPr lvl="1"/>
                <a:r>
                  <a:rPr lang="zh-CN" altLang="en-US" dirty="0"/>
                  <a:t>值（</a:t>
                </a:r>
                <a:r>
                  <a:rPr lang="en-US" dirty="0"/>
                  <a:t>Value）</a:t>
                </a:r>
                <a:r>
                  <a:rPr lang="zh-CN" altLang="en-US" dirty="0"/>
                  <a:t>由 </a:t>
                </a:r>
                <a14:m>
                  <m:oMath xmlns:m="http://schemas.openxmlformats.org/officeDocument/2006/math">
                    <m:sSup>
                      <m:sSupPr>
                        <m:ctrlPr>
                          <a:rPr lang="en-US" altLang="zh-CN" b="0" i="1" dirty="0" smtClean="0">
                            <a:latin typeface="Cambria Math" panose="02040503050406030204" pitchFamily="18" charset="0"/>
                          </a:rPr>
                        </m:ctrlPr>
                      </m:sSupPr>
                      <m:e>
                        <m:r>
                          <m:rPr>
                            <m:sty m:val="p"/>
                          </m:rPr>
                          <a:rPr lang="en-US" altLang="zh-CN" i="1" dirty="0">
                            <a:latin typeface="Cambria Math" panose="02040503050406030204" pitchFamily="18" charset="0"/>
                          </a:rPr>
                          <m:t>W</m:t>
                        </m:r>
                      </m:e>
                      <m:sup>
                        <m:r>
                          <a:rPr lang="en-US" altLang="zh-CN" b="0" i="1" dirty="0" smtClean="0">
                            <a:latin typeface="Cambria Math" panose="02040503050406030204" pitchFamily="18" charset="0"/>
                          </a:rPr>
                          <m:t>𝑉</m:t>
                        </m:r>
                      </m:sup>
                    </m:sSup>
                  </m:oMath>
                </a14:m>
                <a:r>
                  <a:rPr lang="zh-CN" altLang="en-US" dirty="0"/>
                  <a:t>决定“实际提供的上下文信息”</a:t>
                </a:r>
              </a:p>
              <a:p>
                <a:pPr indent="-457200" algn="just">
                  <a:lnSpc>
                    <a:spcPct val="130000"/>
                  </a:lnSpc>
                  <a:buFont typeface="Wingdings" panose="05000000000000000000" pitchFamily="2" charset="2"/>
                  <a:buChar char="p"/>
                  <a:defRPr/>
                </a:pPr>
                <a:r>
                  <a:rPr lang="zh-CN" altLang="en-US" b="1" dirty="0"/>
                  <a:t>注意力计算流程</a:t>
                </a:r>
                <a:endParaRPr lang="zh-CN" altLang="en-US" dirty="0"/>
              </a:p>
              <a:p>
                <a:pPr lvl="1"/>
                <a:r>
                  <a:rPr lang="zh-CN" altLang="en-US" dirty="0"/>
                  <a:t>计算相似度：</a:t>
                </a:r>
                <a:r>
                  <a:rPr lang="en-US" altLang="zh-CN" dirty="0"/>
                  <a:t> </a:t>
                </a:r>
                <a14:m>
                  <m:oMath xmlns:m="http://schemas.openxmlformats.org/officeDocument/2006/math">
                    <m:f>
                      <m:fPr>
                        <m:ctrlPr>
                          <a:rPr lang="en-US" altLang="zh-CN" i="1">
                            <a:latin typeface="Cambria Math" panose="02040503050406030204" pitchFamily="18" charset="0"/>
                          </a:rPr>
                        </m:ctrlPr>
                      </m:fPr>
                      <m:num>
                        <m:r>
                          <a:rPr lang="en-US" altLang="zh-CN" i="1">
                            <a:latin typeface="Cambria Math" panose="02040503050406030204" pitchFamily="18" charset="0"/>
                          </a:rPr>
                          <m:t>𝑄</m:t>
                        </m:r>
                        <m:sSup>
                          <m:sSupPr>
                            <m:ctrlPr>
                              <a:rPr lang="en-US" altLang="zh-CN" i="1">
                                <a:latin typeface="Cambria Math" panose="02040503050406030204" pitchFamily="18" charset="0"/>
                              </a:rPr>
                            </m:ctrlPr>
                          </m:sSupPr>
                          <m:e>
                            <m:r>
                              <a:rPr lang="en-US" altLang="zh-CN" i="1">
                                <a:latin typeface="Cambria Math" panose="02040503050406030204" pitchFamily="18" charset="0"/>
                              </a:rPr>
                              <m:t>𝐾</m:t>
                            </m:r>
                          </m:e>
                          <m:sup>
                            <m:r>
                              <a:rPr lang="en-US" altLang="zh-CN" i="1">
                                <a:latin typeface="Cambria Math" panose="02040503050406030204" pitchFamily="18" charset="0"/>
                              </a:rPr>
                              <m:t>𝑇</m:t>
                            </m:r>
                          </m:sup>
                        </m:sSup>
                      </m:num>
                      <m:den>
                        <m:rad>
                          <m:radPr>
                            <m:degHide m:val="on"/>
                            <m:ctrlPr>
                              <a:rPr lang="en-US" altLang="zh-CN" i="1">
                                <a:latin typeface="Cambria Math" panose="02040503050406030204" pitchFamily="18" charset="0"/>
                              </a:rPr>
                            </m:ctrlPr>
                          </m:radPr>
                          <m:deg/>
                          <m:e>
                            <m:sSub>
                              <m:sSubPr>
                                <m:ctrlPr>
                                  <a:rPr lang="en-US" altLang="zh-CN" i="1">
                                    <a:latin typeface="Cambria Math" panose="02040503050406030204" pitchFamily="18" charset="0"/>
                                  </a:rPr>
                                </m:ctrlPr>
                              </m:sSubPr>
                              <m:e>
                                <m:r>
                                  <a:rPr lang="en-US" altLang="zh-CN" i="1">
                                    <a:latin typeface="Cambria Math" panose="02040503050406030204" pitchFamily="18" charset="0"/>
                                  </a:rPr>
                                  <m:t>𝑑</m:t>
                                </m:r>
                              </m:e>
                              <m:sub>
                                <m:r>
                                  <a:rPr lang="en-US" altLang="zh-CN" i="1">
                                    <a:latin typeface="Cambria Math" panose="02040503050406030204" pitchFamily="18" charset="0"/>
                                  </a:rPr>
                                  <m:t>𝑘</m:t>
                                </m:r>
                              </m:sub>
                            </m:sSub>
                          </m:e>
                        </m:rad>
                      </m:den>
                    </m:f>
                  </m:oMath>
                </a14:m>
                <a:endParaRPr lang="en-US" dirty="0"/>
              </a:p>
              <a:p>
                <a:pPr lvl="1"/>
                <a:r>
                  <a:rPr lang="zh-CN" altLang="en-US" dirty="0"/>
                  <a:t>归一化：</a:t>
                </a:r>
                <a:r>
                  <a:rPr lang="en-US" dirty="0" err="1"/>
                  <a:t>Softmax</a:t>
                </a:r>
                <a:r>
                  <a:rPr lang="en-US" dirty="0"/>
                  <a:t> </a:t>
                </a:r>
                <a:r>
                  <a:rPr lang="zh-CN" altLang="en-US" dirty="0"/>
                  <a:t>得到权重分布</a:t>
                </a:r>
              </a:p>
              <a:p>
                <a:pPr lvl="1"/>
                <a:r>
                  <a:rPr lang="zh-CN" altLang="en-US" dirty="0"/>
                  <a:t>加权求和：权重乘以</a:t>
                </a:r>
                <a14:m>
                  <m:oMath xmlns:m="http://schemas.openxmlformats.org/officeDocument/2006/math">
                    <m:r>
                      <a:rPr lang="en-US" altLang="zh-CN" b="0" i="1" smtClean="0">
                        <a:latin typeface="Cambria Math" panose="02040503050406030204" pitchFamily="18" charset="0"/>
                      </a:rPr>
                      <m:t>𝑉</m:t>
                    </m:r>
                  </m:oMath>
                </a14:m>
                <a:r>
                  <a:rPr lang="en-US" dirty="0"/>
                  <a:t>，</a:t>
                </a:r>
                <a:r>
                  <a:rPr lang="zh-CN" altLang="en-US" dirty="0"/>
                  <a:t>汇聚上下文</a:t>
                </a:r>
              </a:p>
            </p:txBody>
          </p:sp>
        </mc:Choice>
        <mc:Fallback xmlns="">
          <p:sp>
            <p:nvSpPr>
              <p:cNvPr id="6" name="Content Placeholder 5">
                <a:extLst>
                  <a:ext uri="{FF2B5EF4-FFF2-40B4-BE49-F238E27FC236}">
                    <a16:creationId xmlns:a16="http://schemas.microsoft.com/office/drawing/2014/main" id="{15D837C3-D6FE-E5CE-1537-58CB7949D3A3}"/>
                  </a:ext>
                </a:extLst>
              </p:cNvPr>
              <p:cNvSpPr>
                <a:spLocks noGrp="1" noRot="1" noChangeAspect="1" noMove="1" noResize="1" noEditPoints="1" noAdjustHandles="1" noChangeArrowheads="1" noChangeShapeType="1" noTextEdit="1"/>
              </p:cNvSpPr>
              <p:nvPr>
                <p:ph idx="1"/>
              </p:nvPr>
            </p:nvSpPr>
            <p:spPr>
              <a:xfrm>
                <a:off x="838199" y="1297858"/>
                <a:ext cx="10857271" cy="4879105"/>
              </a:xfrm>
              <a:blipFill>
                <a:blip r:embed="rId3"/>
                <a:stretch>
                  <a:fillRect l="-700" r="-1517" b="-1039"/>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E3E42653-3352-5AC6-9923-D5EA402348A3}"/>
              </a:ext>
            </a:extLst>
          </p:cNvPr>
          <p:cNvGrpSpPr/>
          <p:nvPr/>
        </p:nvGrpSpPr>
        <p:grpSpPr>
          <a:xfrm>
            <a:off x="0" y="-1589"/>
            <a:ext cx="12191999" cy="768585"/>
            <a:chOff x="0" y="-1589"/>
            <a:chExt cx="12191999" cy="768585"/>
          </a:xfrm>
        </p:grpSpPr>
        <p:grpSp>
          <p:nvGrpSpPr>
            <p:cNvPr id="17" name="Group 9">
              <a:extLst>
                <a:ext uri="{FF2B5EF4-FFF2-40B4-BE49-F238E27FC236}">
                  <a16:creationId xmlns:a16="http://schemas.microsoft.com/office/drawing/2014/main" id="{4390F36D-9CC5-8FE4-2403-9F57F49DA932}"/>
                </a:ext>
              </a:extLst>
            </p:cNvPr>
            <p:cNvGrpSpPr>
              <a:grpSpLocks noChangeAspect="1"/>
            </p:cNvGrpSpPr>
            <p:nvPr/>
          </p:nvGrpSpPr>
          <p:grpSpPr bwMode="auto">
            <a:xfrm>
              <a:off x="0" y="-1589"/>
              <a:ext cx="12191999" cy="767234"/>
              <a:chOff x="-1" y="-1"/>
              <a:chExt cx="7719" cy="568"/>
            </a:xfrm>
          </p:grpSpPr>
          <p:sp>
            <p:nvSpPr>
              <p:cNvPr id="20" name="Freeform 19">
                <a:extLst>
                  <a:ext uri="{FF2B5EF4-FFF2-40B4-BE49-F238E27FC236}">
                    <a16:creationId xmlns:a16="http://schemas.microsoft.com/office/drawing/2014/main" id="{96C73109-8C05-D81D-324F-0FE6F9653168}"/>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21" name="AutoShape 8">
                <a:extLst>
                  <a:ext uri="{FF2B5EF4-FFF2-40B4-BE49-F238E27FC236}">
                    <a16:creationId xmlns:a16="http://schemas.microsoft.com/office/drawing/2014/main" id="{E0610F5C-72CF-402C-33C8-4FBEC22CFB33}"/>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18" name="任意多边形: 形状 12">
              <a:extLst>
                <a:ext uri="{FF2B5EF4-FFF2-40B4-BE49-F238E27FC236}">
                  <a16:creationId xmlns:a16="http://schemas.microsoft.com/office/drawing/2014/main" id="{D8682112-8F53-DE91-6A39-05EBD5C904CD}"/>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9" name="文本框 18">
              <a:extLst>
                <a:ext uri="{FF2B5EF4-FFF2-40B4-BE49-F238E27FC236}">
                  <a16:creationId xmlns:a16="http://schemas.microsoft.com/office/drawing/2014/main" id="{40FABA07-8189-7B21-BCC0-383849D0EF0D}"/>
                </a:ext>
              </a:extLst>
            </p:cNvPr>
            <p:cNvSpPr txBox="1"/>
            <p:nvPr/>
          </p:nvSpPr>
          <p:spPr>
            <a:xfrm>
              <a:off x="350439" y="120418"/>
              <a:ext cx="2339102" cy="523220"/>
            </a:xfrm>
            <a:prstGeom prst="rect">
              <a:avLst/>
            </a:prstGeom>
            <a:noFill/>
          </p:spPr>
          <p:txBody>
            <a:bodyPr wrap="none" rtlCol="0">
              <a:spAutoFit/>
            </a:bodyPr>
            <a:lstStyle/>
            <a:p>
              <a:pPr>
                <a:defRPr/>
              </a:pPr>
              <a:r>
                <a:rPr lang="zh-CN" altLang="en-US" sz="2800" b="1">
                  <a:solidFill>
                    <a:prstClr val="white"/>
                  </a:solidFill>
                  <a:cs typeface="+mn-ea"/>
                  <a:sym typeface="+mn-lt"/>
                </a:rPr>
                <a:t>理解自注意力</a:t>
              </a:r>
            </a:p>
          </p:txBody>
        </p:sp>
      </p:grpSp>
    </p:spTree>
    <p:extLst>
      <p:ext uri="{BB962C8B-B14F-4D97-AF65-F5344CB8AC3E}">
        <p14:creationId xmlns:p14="http://schemas.microsoft.com/office/powerpoint/2010/main" val="4178734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46E3A-916C-2BC3-7DF4-4CC6FA3EF6C3}"/>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9B248A5-87B9-F51D-A847-E9D6872B7CAB}"/>
              </a:ext>
            </a:extLst>
          </p:cNvPr>
          <p:cNvSpPr>
            <a:spLocks noGrp="1"/>
          </p:cNvSpPr>
          <p:nvPr>
            <p:ph idx="1"/>
          </p:nvPr>
        </p:nvSpPr>
        <p:spPr>
          <a:xfrm>
            <a:off x="838199" y="1297858"/>
            <a:ext cx="10857271" cy="4879105"/>
          </a:xfrm>
        </p:spPr>
        <p:txBody>
          <a:bodyPr>
            <a:normAutofit/>
          </a:bodyPr>
          <a:lstStyle/>
          <a:p>
            <a:pPr indent="-457200" algn="just">
              <a:lnSpc>
                <a:spcPct val="130000"/>
              </a:lnSpc>
              <a:buFont typeface="Wingdings" panose="05000000000000000000" pitchFamily="2" charset="2"/>
              <a:buChar char="p"/>
              <a:defRPr/>
            </a:pPr>
            <a:r>
              <a:rPr lang="zh-CN" altLang="en-US" dirty="0"/>
              <a:t>统一语义投影：</a:t>
            </a:r>
            <a:r>
              <a:rPr lang="zh-CN" altLang="en-US" b="0" dirty="0"/>
              <a:t>将输入映射到查询（</a:t>
            </a:r>
            <a:r>
              <a:rPr lang="en-US" altLang="zh-CN" b="0" dirty="0"/>
              <a:t>Q</a:t>
            </a:r>
            <a:r>
              <a:rPr lang="zh-CN" altLang="en-US" b="0" dirty="0"/>
              <a:t>）和键（</a:t>
            </a:r>
            <a:r>
              <a:rPr lang="en-US" altLang="zh-CN" b="0" dirty="0"/>
              <a:t>K</a:t>
            </a:r>
            <a:r>
              <a:rPr lang="zh-CN" altLang="en-US" b="0" dirty="0"/>
              <a:t>）空间，以确保相似度计算落在同一语义空间内。</a:t>
            </a:r>
          </a:p>
          <a:p>
            <a:pPr indent="-457200" algn="just">
              <a:lnSpc>
                <a:spcPct val="130000"/>
              </a:lnSpc>
              <a:buFont typeface="Wingdings" panose="05000000000000000000" pitchFamily="2" charset="2"/>
              <a:buChar char="p"/>
              <a:defRPr/>
            </a:pPr>
            <a:r>
              <a:rPr lang="zh-CN" altLang="en-US" dirty="0"/>
              <a:t>自适应权重分配：</a:t>
            </a:r>
            <a:r>
              <a:rPr lang="zh-CN" altLang="en-US" b="0" dirty="0"/>
              <a:t>根据 </a:t>
            </a:r>
            <a:r>
              <a:rPr lang="en-US" altLang="zh-CN" b="0" dirty="0"/>
              <a:t>Q </a:t>
            </a:r>
            <a:r>
              <a:rPr lang="zh-CN" altLang="en-US" b="0" dirty="0"/>
              <a:t>与各位置 </a:t>
            </a:r>
            <a:r>
              <a:rPr lang="en-US" altLang="zh-CN" b="0" dirty="0"/>
              <a:t>K </a:t>
            </a:r>
            <a:r>
              <a:rPr lang="zh-CN" altLang="en-US" b="0" dirty="0"/>
              <a:t>的匹配程度动态计算注意力权重，实现对不同上下文的实时关注。</a:t>
            </a:r>
          </a:p>
          <a:p>
            <a:pPr indent="-457200" algn="just">
              <a:lnSpc>
                <a:spcPct val="130000"/>
              </a:lnSpc>
              <a:buFont typeface="Wingdings" panose="05000000000000000000" pitchFamily="2" charset="2"/>
              <a:buChar char="p"/>
              <a:defRPr/>
            </a:pPr>
            <a:r>
              <a:rPr lang="zh-CN" altLang="en-US" dirty="0"/>
              <a:t>全局信息汇聚：</a:t>
            </a:r>
            <a:r>
              <a:rPr lang="zh-CN" altLang="en-US" b="0" dirty="0"/>
              <a:t>加权求和值（</a:t>
            </a:r>
            <a:r>
              <a:rPr lang="en-US" altLang="zh-CN" b="0" dirty="0"/>
              <a:t>V</a:t>
            </a:r>
            <a:r>
              <a:rPr lang="zh-CN" altLang="en-US" b="0" dirty="0"/>
              <a:t>）将分散于序列各处的关键信息融合到目标位置的表示中，捕捉跨序列依赖。</a:t>
            </a:r>
          </a:p>
          <a:p>
            <a:pPr indent="-457200" algn="just">
              <a:lnSpc>
                <a:spcPct val="130000"/>
              </a:lnSpc>
              <a:buFont typeface="Wingdings" panose="05000000000000000000" pitchFamily="2" charset="2"/>
              <a:buChar char="p"/>
              <a:defRPr/>
            </a:pPr>
            <a:r>
              <a:rPr lang="zh-CN" altLang="en-US" dirty="0"/>
              <a:t>语义再分配：</a:t>
            </a:r>
            <a:r>
              <a:rPr lang="zh-CN" altLang="en-US" b="0" dirty="0"/>
              <a:t>最终输出基于上下文重新编码原始信息，支持模型在不同任务场景中灵活提取所需特征。</a:t>
            </a:r>
          </a:p>
        </p:txBody>
      </p:sp>
      <p:grpSp>
        <p:nvGrpSpPr>
          <p:cNvPr id="4" name="Group 3">
            <a:extLst>
              <a:ext uri="{FF2B5EF4-FFF2-40B4-BE49-F238E27FC236}">
                <a16:creationId xmlns:a16="http://schemas.microsoft.com/office/drawing/2014/main" id="{54290E0A-3C83-8B17-9416-CB104C2DA92B}"/>
              </a:ext>
            </a:extLst>
          </p:cNvPr>
          <p:cNvGrpSpPr/>
          <p:nvPr/>
        </p:nvGrpSpPr>
        <p:grpSpPr>
          <a:xfrm>
            <a:off x="0" y="-1589"/>
            <a:ext cx="12191999" cy="768585"/>
            <a:chOff x="0" y="-1589"/>
            <a:chExt cx="12191999" cy="768585"/>
          </a:xfrm>
        </p:grpSpPr>
        <p:grpSp>
          <p:nvGrpSpPr>
            <p:cNvPr id="17" name="Group 9">
              <a:extLst>
                <a:ext uri="{FF2B5EF4-FFF2-40B4-BE49-F238E27FC236}">
                  <a16:creationId xmlns:a16="http://schemas.microsoft.com/office/drawing/2014/main" id="{AA0CDD37-AB4C-13B4-7D5B-5ABFFB91B31D}"/>
                </a:ext>
              </a:extLst>
            </p:cNvPr>
            <p:cNvGrpSpPr>
              <a:grpSpLocks noChangeAspect="1"/>
            </p:cNvGrpSpPr>
            <p:nvPr/>
          </p:nvGrpSpPr>
          <p:grpSpPr bwMode="auto">
            <a:xfrm>
              <a:off x="0" y="-1589"/>
              <a:ext cx="12191999" cy="767234"/>
              <a:chOff x="-1" y="-1"/>
              <a:chExt cx="7719" cy="568"/>
            </a:xfrm>
          </p:grpSpPr>
          <p:sp>
            <p:nvSpPr>
              <p:cNvPr id="20" name="Freeform 19">
                <a:extLst>
                  <a:ext uri="{FF2B5EF4-FFF2-40B4-BE49-F238E27FC236}">
                    <a16:creationId xmlns:a16="http://schemas.microsoft.com/office/drawing/2014/main" id="{0A041031-AFC9-9910-FE86-8D5F306E93D9}"/>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21" name="AutoShape 8">
                <a:extLst>
                  <a:ext uri="{FF2B5EF4-FFF2-40B4-BE49-F238E27FC236}">
                    <a16:creationId xmlns:a16="http://schemas.microsoft.com/office/drawing/2014/main" id="{04741FD0-BB89-A086-8A3D-A18750430B3E}"/>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18" name="任意多边形: 形状 12">
              <a:extLst>
                <a:ext uri="{FF2B5EF4-FFF2-40B4-BE49-F238E27FC236}">
                  <a16:creationId xmlns:a16="http://schemas.microsoft.com/office/drawing/2014/main" id="{F1C50706-A165-4C8C-7C0F-63FE49C90922}"/>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9" name="文本框 18">
              <a:extLst>
                <a:ext uri="{FF2B5EF4-FFF2-40B4-BE49-F238E27FC236}">
                  <a16:creationId xmlns:a16="http://schemas.microsoft.com/office/drawing/2014/main" id="{E2656398-61A2-1283-5EF9-2C54CB2E08DD}"/>
                </a:ext>
              </a:extLst>
            </p:cNvPr>
            <p:cNvSpPr txBox="1"/>
            <p:nvPr/>
          </p:nvSpPr>
          <p:spPr>
            <a:xfrm>
              <a:off x="350439" y="120418"/>
              <a:ext cx="2339102" cy="523220"/>
            </a:xfrm>
            <a:prstGeom prst="rect">
              <a:avLst/>
            </a:prstGeom>
            <a:noFill/>
          </p:spPr>
          <p:txBody>
            <a:bodyPr wrap="none" rtlCol="0">
              <a:spAutoFit/>
            </a:bodyPr>
            <a:lstStyle/>
            <a:p>
              <a:pPr>
                <a:defRPr/>
              </a:pPr>
              <a:r>
                <a:rPr lang="zh-CN" altLang="en-US" sz="2800" b="1">
                  <a:solidFill>
                    <a:prstClr val="white"/>
                  </a:solidFill>
                  <a:cs typeface="+mn-ea"/>
                  <a:sym typeface="+mn-lt"/>
                </a:rPr>
                <a:t>理解自注意力</a:t>
              </a:r>
            </a:p>
          </p:txBody>
        </p:sp>
      </p:grpSp>
    </p:spTree>
    <p:extLst>
      <p:ext uri="{BB962C8B-B14F-4D97-AF65-F5344CB8AC3E}">
        <p14:creationId xmlns:p14="http://schemas.microsoft.com/office/powerpoint/2010/main" val="2593321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4705E-4F3C-75A1-612B-83F6E8E061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DB8C38A4-2975-7A67-4C78-5DA8BDAAE9D3}"/>
                  </a:ext>
                </a:extLst>
              </p:cNvPr>
              <p:cNvSpPr>
                <a:spLocks noGrp="1"/>
              </p:cNvSpPr>
              <p:nvPr>
                <p:ph idx="1"/>
              </p:nvPr>
            </p:nvSpPr>
            <p:spPr>
              <a:xfrm>
                <a:off x="838199" y="1297858"/>
                <a:ext cx="10857271" cy="4879105"/>
              </a:xfrm>
            </p:spPr>
            <p:txBody>
              <a:bodyPr>
                <a:normAutofit lnSpcReduction="10000"/>
              </a:bodyPr>
              <a:lstStyle/>
              <a:p>
                <a:pPr indent="-457200" algn="just">
                  <a:lnSpc>
                    <a:spcPct val="130000"/>
                  </a:lnSpc>
                  <a:buFont typeface="Wingdings" panose="05000000000000000000" pitchFamily="2" charset="2"/>
                  <a:buChar char="p"/>
                  <a:defRPr/>
                </a:pPr>
                <a:r>
                  <a:rPr lang="zh-CN" altLang="en-US" dirty="0"/>
                  <a:t>几何视角</a:t>
                </a:r>
                <a:endParaRPr lang="en-US" altLang="zh-CN" dirty="0"/>
              </a:p>
              <a:p>
                <a:pPr lvl="1" indent="-457200" algn="just">
                  <a:lnSpc>
                    <a:spcPct val="130000"/>
                  </a:lnSpc>
                  <a:defRPr/>
                </a:pPr>
                <a14:m>
                  <m:oMath xmlns:m="http://schemas.openxmlformats.org/officeDocument/2006/math">
                    <m:r>
                      <a:rPr lang="en-US" i="1" dirty="0" smtClean="0">
                        <a:latin typeface="Cambria Math" panose="02040503050406030204" pitchFamily="18" charset="0"/>
                      </a:rPr>
                      <m:t>𝑄</m:t>
                    </m:r>
                    <m:r>
                      <a:rPr lang="en-US" i="1" dirty="0" smtClean="0">
                        <a:latin typeface="Cambria Math" panose="02040503050406030204" pitchFamily="18" charset="0"/>
                      </a:rPr>
                      <m:t>,</m:t>
                    </m:r>
                    <m:r>
                      <a:rPr lang="en-US" i="1" dirty="0" smtClean="0">
                        <a:latin typeface="Cambria Math" panose="02040503050406030204" pitchFamily="18" charset="0"/>
                      </a:rPr>
                      <m:t>𝐾</m:t>
                    </m:r>
                  </m:oMath>
                </a14:m>
                <a:r>
                  <a:rPr lang="en-US" dirty="0"/>
                  <a:t> </a:t>
                </a:r>
                <a:r>
                  <a:rPr lang="zh-CN" altLang="en-US" dirty="0"/>
                  <a:t>空间中的“角度”与“距离”决定重要的输入</a:t>
                </a:r>
                <a:endParaRPr lang="en-US" altLang="zh-CN" dirty="0"/>
              </a:p>
              <a:p>
                <a:pPr lvl="1" indent="-457200" algn="just">
                  <a:lnSpc>
                    <a:spcPct val="130000"/>
                  </a:lnSpc>
                  <a:defRPr/>
                </a:pPr>
                <a:r>
                  <a:rPr lang="zh-CN" altLang="en-US" dirty="0"/>
                  <a:t>通过识别重要内容，提升模型可解释性</a:t>
                </a:r>
                <a:endParaRPr lang="en-US" altLang="zh-CN" dirty="0"/>
              </a:p>
              <a:p>
                <a:pPr indent="-457200" algn="just">
                  <a:lnSpc>
                    <a:spcPct val="130000"/>
                  </a:lnSpc>
                  <a:buFont typeface="Wingdings" panose="05000000000000000000" pitchFamily="2" charset="2"/>
                  <a:buChar char="p"/>
                  <a:defRPr/>
                </a:pPr>
                <a:r>
                  <a:rPr lang="zh-CN" altLang="en-US" b="1" dirty="0"/>
                  <a:t>动态上下文塑形</a:t>
                </a:r>
                <a:endParaRPr lang="en-US" altLang="zh-CN" b="1" dirty="0"/>
              </a:p>
              <a:p>
                <a:pPr lvl="1" indent="-457200" algn="just">
                  <a:lnSpc>
                    <a:spcPct val="130000"/>
                  </a:lnSpc>
                  <a:defRPr/>
                </a:pPr>
                <a:r>
                  <a:rPr lang="zh-CN" altLang="en-US" dirty="0"/>
                  <a:t>不同输入间权重动态变化，体现了输入中各单元间或紧或松的关系</a:t>
                </a:r>
                <a:endParaRPr lang="en-US" altLang="zh-CN" dirty="0"/>
              </a:p>
              <a:p>
                <a:pPr lvl="1" indent="-457200" algn="just">
                  <a:lnSpc>
                    <a:spcPct val="130000"/>
                  </a:lnSpc>
                  <a:defRPr/>
                </a:pPr>
                <a:r>
                  <a:rPr lang="zh-CN" altLang="en-US" dirty="0"/>
                  <a:t>在长文本中，可针对不同语义单元自适应地集中／分散注意力</a:t>
                </a:r>
                <a:endParaRPr lang="en-US" altLang="zh-CN" dirty="0"/>
              </a:p>
              <a:p>
                <a:pPr indent="-457200" algn="just">
                  <a:lnSpc>
                    <a:spcPct val="130000"/>
                  </a:lnSpc>
                  <a:buFont typeface="Wingdings" panose="05000000000000000000" pitchFamily="2" charset="2"/>
                  <a:buChar char="p"/>
                  <a:defRPr/>
                </a:pPr>
                <a:r>
                  <a:rPr lang="zh-CN" altLang="en-US" b="1" dirty="0"/>
                  <a:t>结构化偏置</a:t>
                </a:r>
                <a:endParaRPr lang="en-US" altLang="zh-CN" b="1" dirty="0"/>
              </a:p>
              <a:p>
                <a:pPr lvl="1" indent="-457200" algn="just">
                  <a:lnSpc>
                    <a:spcPct val="130000"/>
                  </a:lnSpc>
                  <a:defRPr/>
                </a:pPr>
                <a:r>
                  <a:rPr lang="zh-CN" altLang="en-US" dirty="0"/>
                  <a:t>可在自注意力中加入相对位置编码、图结构先验，引导模型学到更合适的依赖模式</a:t>
                </a:r>
              </a:p>
            </p:txBody>
          </p:sp>
        </mc:Choice>
        <mc:Fallback xmlns="">
          <p:sp>
            <p:nvSpPr>
              <p:cNvPr id="6" name="Content Placeholder 5">
                <a:extLst>
                  <a:ext uri="{FF2B5EF4-FFF2-40B4-BE49-F238E27FC236}">
                    <a16:creationId xmlns:a16="http://schemas.microsoft.com/office/drawing/2014/main" id="{DB8C38A4-2975-7A67-4C78-5DA8BDAAE9D3}"/>
                  </a:ext>
                </a:extLst>
              </p:cNvPr>
              <p:cNvSpPr>
                <a:spLocks noGrp="1" noRot="1" noChangeAspect="1" noMove="1" noResize="1" noEditPoints="1" noAdjustHandles="1" noChangeArrowheads="1" noChangeShapeType="1" noTextEdit="1"/>
              </p:cNvSpPr>
              <p:nvPr>
                <p:ph idx="1"/>
              </p:nvPr>
            </p:nvSpPr>
            <p:spPr>
              <a:xfrm>
                <a:off x="838199" y="1297858"/>
                <a:ext cx="10857271" cy="4879105"/>
              </a:xfrm>
              <a:blipFill>
                <a:blip r:embed="rId3"/>
                <a:stretch>
                  <a:fillRect l="-700" t="-260" r="-817"/>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8FF17C61-0A8C-8C56-9616-1A8407B7B604}"/>
              </a:ext>
            </a:extLst>
          </p:cNvPr>
          <p:cNvGrpSpPr/>
          <p:nvPr/>
        </p:nvGrpSpPr>
        <p:grpSpPr>
          <a:xfrm>
            <a:off x="0" y="-1589"/>
            <a:ext cx="12191999" cy="768585"/>
            <a:chOff x="0" y="-1589"/>
            <a:chExt cx="12191999" cy="768585"/>
          </a:xfrm>
        </p:grpSpPr>
        <p:grpSp>
          <p:nvGrpSpPr>
            <p:cNvPr id="17" name="Group 9">
              <a:extLst>
                <a:ext uri="{FF2B5EF4-FFF2-40B4-BE49-F238E27FC236}">
                  <a16:creationId xmlns:a16="http://schemas.microsoft.com/office/drawing/2014/main" id="{41C991DE-4D9E-00B9-ED99-75FFC7925232}"/>
                </a:ext>
              </a:extLst>
            </p:cNvPr>
            <p:cNvGrpSpPr>
              <a:grpSpLocks noChangeAspect="1"/>
            </p:cNvGrpSpPr>
            <p:nvPr/>
          </p:nvGrpSpPr>
          <p:grpSpPr bwMode="auto">
            <a:xfrm>
              <a:off x="0" y="-1589"/>
              <a:ext cx="12191999" cy="767234"/>
              <a:chOff x="-1" y="-1"/>
              <a:chExt cx="7719" cy="568"/>
            </a:xfrm>
          </p:grpSpPr>
          <p:sp>
            <p:nvSpPr>
              <p:cNvPr id="20" name="Freeform 19">
                <a:extLst>
                  <a:ext uri="{FF2B5EF4-FFF2-40B4-BE49-F238E27FC236}">
                    <a16:creationId xmlns:a16="http://schemas.microsoft.com/office/drawing/2014/main" id="{DE594011-C50B-7B66-62B3-9050FD2F0228}"/>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21" name="AutoShape 8">
                <a:extLst>
                  <a:ext uri="{FF2B5EF4-FFF2-40B4-BE49-F238E27FC236}">
                    <a16:creationId xmlns:a16="http://schemas.microsoft.com/office/drawing/2014/main" id="{80F87ABE-E03E-2A3B-4EF8-5AA6826B19C0}"/>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18" name="任意多边形: 形状 12">
              <a:extLst>
                <a:ext uri="{FF2B5EF4-FFF2-40B4-BE49-F238E27FC236}">
                  <a16:creationId xmlns:a16="http://schemas.microsoft.com/office/drawing/2014/main" id="{4BACE492-0621-E8DE-DC07-C6236C3417ED}"/>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19" name="文本框 18">
              <a:extLst>
                <a:ext uri="{FF2B5EF4-FFF2-40B4-BE49-F238E27FC236}">
                  <a16:creationId xmlns:a16="http://schemas.microsoft.com/office/drawing/2014/main" id="{ED5C6656-1752-8290-86C1-E1634B8628DA}"/>
                </a:ext>
              </a:extLst>
            </p:cNvPr>
            <p:cNvSpPr txBox="1"/>
            <p:nvPr/>
          </p:nvSpPr>
          <p:spPr>
            <a:xfrm>
              <a:off x="350439" y="120418"/>
              <a:ext cx="2339102" cy="523220"/>
            </a:xfrm>
            <a:prstGeom prst="rect">
              <a:avLst/>
            </a:prstGeom>
            <a:noFill/>
          </p:spPr>
          <p:txBody>
            <a:bodyPr wrap="none" rtlCol="0">
              <a:spAutoFit/>
            </a:bodyPr>
            <a:lstStyle/>
            <a:p>
              <a:pPr>
                <a:defRPr/>
              </a:pPr>
              <a:r>
                <a:rPr lang="zh-CN" altLang="en-US" sz="2800" b="1">
                  <a:solidFill>
                    <a:prstClr val="white"/>
                  </a:solidFill>
                  <a:cs typeface="+mn-ea"/>
                  <a:sym typeface="+mn-lt"/>
                </a:rPr>
                <a:t>理解自注意力</a:t>
              </a:r>
            </a:p>
          </p:txBody>
        </p:sp>
      </p:grpSp>
      <p:grpSp>
        <p:nvGrpSpPr>
          <p:cNvPr id="16" name="Group 15">
            <a:extLst>
              <a:ext uri="{FF2B5EF4-FFF2-40B4-BE49-F238E27FC236}">
                <a16:creationId xmlns:a16="http://schemas.microsoft.com/office/drawing/2014/main" id="{6EF51C09-EB44-4F6C-E3E9-8E283DAD8C7B}"/>
              </a:ext>
            </a:extLst>
          </p:cNvPr>
          <p:cNvGrpSpPr/>
          <p:nvPr/>
        </p:nvGrpSpPr>
        <p:grpSpPr>
          <a:xfrm>
            <a:off x="9010602" y="943897"/>
            <a:ext cx="2345656" cy="1950239"/>
            <a:chOff x="9010602" y="943897"/>
            <a:chExt cx="2345656" cy="1950239"/>
          </a:xfrm>
        </p:grpSpPr>
        <p:cxnSp>
          <p:nvCxnSpPr>
            <p:cNvPr id="3" name="Straight Arrow Connector 2">
              <a:extLst>
                <a:ext uri="{FF2B5EF4-FFF2-40B4-BE49-F238E27FC236}">
                  <a16:creationId xmlns:a16="http://schemas.microsoft.com/office/drawing/2014/main" id="{B832B0CB-A79B-422B-EAF2-B5BF2E8BC6C7}"/>
                </a:ext>
              </a:extLst>
            </p:cNvPr>
            <p:cNvCxnSpPr/>
            <p:nvPr/>
          </p:nvCxnSpPr>
          <p:spPr>
            <a:xfrm flipV="1">
              <a:off x="9424219" y="1696065"/>
              <a:ext cx="1932039" cy="76691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88BCC379-2330-7589-9A23-7C0815AB27A3}"/>
                </a:ext>
              </a:extLst>
            </p:cNvPr>
            <p:cNvCxnSpPr>
              <a:cxnSpLocks/>
            </p:cNvCxnSpPr>
            <p:nvPr/>
          </p:nvCxnSpPr>
          <p:spPr>
            <a:xfrm flipV="1">
              <a:off x="9424219" y="943897"/>
              <a:ext cx="294968" cy="151908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FEA7A41-6226-48D5-8AF2-196E19C0171D}"/>
                    </a:ext>
                  </a:extLst>
                </p:cNvPr>
                <p:cNvSpPr txBox="1"/>
                <p:nvPr/>
              </p:nvSpPr>
              <p:spPr>
                <a:xfrm>
                  <a:off x="9016795" y="1060627"/>
                  <a:ext cx="81484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𝑄</m:t>
                        </m:r>
                      </m:oMath>
                    </m:oMathPara>
                  </a14:m>
                  <a:endParaRPr lang="en-US" dirty="0"/>
                </a:p>
              </p:txBody>
            </p:sp>
          </mc:Choice>
          <mc:Fallback xmlns="">
            <p:sp>
              <p:nvSpPr>
                <p:cNvPr id="10" name="TextBox 9">
                  <a:extLst>
                    <a:ext uri="{FF2B5EF4-FFF2-40B4-BE49-F238E27FC236}">
                      <a16:creationId xmlns:a16="http://schemas.microsoft.com/office/drawing/2014/main" id="{8FEA7A41-6226-48D5-8AF2-196E19C0171D}"/>
                    </a:ext>
                  </a:extLst>
                </p:cNvPr>
                <p:cNvSpPr txBox="1">
                  <a:spLocks noRot="1" noChangeAspect="1" noMove="1" noResize="1" noEditPoints="1" noAdjustHandles="1" noChangeArrowheads="1" noChangeShapeType="1" noTextEdit="1"/>
                </p:cNvSpPr>
                <p:nvPr/>
              </p:nvSpPr>
              <p:spPr>
                <a:xfrm>
                  <a:off x="9016795" y="1060627"/>
                  <a:ext cx="814848" cy="369332"/>
                </a:xfrm>
                <a:prstGeom prst="rect">
                  <a:avLst/>
                </a:prstGeom>
                <a:blipFill>
                  <a:blip r:embed="rId4"/>
                  <a:stretch>
                    <a:fillRect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440E9A-962A-EB38-18DF-776EC0CA7AEB}"/>
                    </a:ext>
                  </a:extLst>
                </p:cNvPr>
                <p:cNvSpPr txBox="1"/>
                <p:nvPr/>
              </p:nvSpPr>
              <p:spPr>
                <a:xfrm>
                  <a:off x="10190214" y="2253304"/>
                  <a:ext cx="81484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i="1" smtClean="0">
                            <a:latin typeface="Cambria Math" panose="02040503050406030204" pitchFamily="18" charset="0"/>
                          </a:rPr>
                          <m:t>K</m:t>
                        </m:r>
                      </m:oMath>
                    </m:oMathPara>
                  </a14:m>
                  <a:endParaRPr lang="en-US" dirty="0"/>
                </a:p>
              </p:txBody>
            </p:sp>
          </mc:Choice>
          <mc:Fallback xmlns="">
            <p:sp>
              <p:nvSpPr>
                <p:cNvPr id="12" name="TextBox 11">
                  <a:extLst>
                    <a:ext uri="{FF2B5EF4-FFF2-40B4-BE49-F238E27FC236}">
                      <a16:creationId xmlns:a16="http://schemas.microsoft.com/office/drawing/2014/main" id="{34440E9A-962A-EB38-18DF-776EC0CA7AEB}"/>
                    </a:ext>
                  </a:extLst>
                </p:cNvPr>
                <p:cNvSpPr txBox="1">
                  <a:spLocks noRot="1" noChangeAspect="1" noMove="1" noResize="1" noEditPoints="1" noAdjustHandles="1" noChangeArrowheads="1" noChangeShapeType="1" noTextEdit="1"/>
                </p:cNvSpPr>
                <p:nvPr/>
              </p:nvSpPr>
              <p:spPr>
                <a:xfrm>
                  <a:off x="10190214" y="2253304"/>
                  <a:ext cx="814848" cy="369332"/>
                </a:xfrm>
                <a:prstGeom prst="rect">
                  <a:avLst/>
                </a:prstGeom>
                <a:blipFill>
                  <a:blip r:embed="rId5"/>
                  <a:stretch>
                    <a:fillRect/>
                  </a:stretch>
                </a:blipFill>
              </p:spPr>
              <p:txBody>
                <a:bodyPr/>
                <a:lstStyle/>
                <a:p>
                  <a:r>
                    <a:rPr lang="en-US">
                      <a:noFill/>
                    </a:rPr>
                    <a:t> </a:t>
                  </a:r>
                </a:p>
              </p:txBody>
            </p:sp>
          </mc:Fallback>
        </mc:AlternateContent>
        <p:sp>
          <p:nvSpPr>
            <p:cNvPr id="15" name="Circular Arrow 14">
              <a:extLst>
                <a:ext uri="{FF2B5EF4-FFF2-40B4-BE49-F238E27FC236}">
                  <a16:creationId xmlns:a16="http://schemas.microsoft.com/office/drawing/2014/main" id="{CF0C02EE-8760-09D0-1747-FA1C0A2D61AC}"/>
                </a:ext>
              </a:extLst>
            </p:cNvPr>
            <p:cNvSpPr/>
            <p:nvPr/>
          </p:nvSpPr>
          <p:spPr>
            <a:xfrm rot="9136381" flipV="1">
              <a:off x="9010602" y="1981803"/>
              <a:ext cx="978408" cy="912333"/>
            </a:xfrm>
            <a:prstGeom prst="circularArrow">
              <a:avLst>
                <a:gd name="adj1" fmla="val 1636"/>
                <a:gd name="adj2" fmla="val 498113"/>
                <a:gd name="adj3" fmla="val 13824064"/>
                <a:gd name="adj4" fmla="val 10634685"/>
                <a:gd name="adj5" fmla="val 379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Tree>
    <p:extLst>
      <p:ext uri="{BB962C8B-B14F-4D97-AF65-F5344CB8AC3E}">
        <p14:creationId xmlns:p14="http://schemas.microsoft.com/office/powerpoint/2010/main" val="1019005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4">
            <a:extLst>
              <a:ext uri="{FF2B5EF4-FFF2-40B4-BE49-F238E27FC236}">
                <a16:creationId xmlns:a16="http://schemas.microsoft.com/office/drawing/2014/main" id="{3250550B-FAC4-2210-7409-AB11B0619B9F}"/>
              </a:ext>
            </a:extLst>
          </p:cNvPr>
          <p:cNvPicPr>
            <a:picLocks noChangeAspect="1"/>
          </p:cNvPicPr>
          <p:nvPr>
            <p:custDataLst>
              <p:tags r:id="rId1"/>
            </p:custDataLst>
          </p:nvPr>
        </p:nvPicPr>
        <p:blipFill>
          <a:blip r:embed="rId4"/>
          <a:stretch>
            <a:fillRect/>
          </a:stretch>
        </p:blipFill>
        <p:spPr>
          <a:xfrm>
            <a:off x="3956293" y="1079805"/>
            <a:ext cx="2817768" cy="1164380"/>
          </a:xfrm>
          <a:prstGeom prst="rect">
            <a:avLst/>
          </a:prstGeom>
        </p:spPr>
      </p:pic>
      <p:pic>
        <p:nvPicPr>
          <p:cNvPr id="3" name="Picture 2">
            <a:extLst>
              <a:ext uri="{FF2B5EF4-FFF2-40B4-BE49-F238E27FC236}">
                <a16:creationId xmlns:a16="http://schemas.microsoft.com/office/drawing/2014/main" id="{6F4A4CC5-35DF-CF68-BFB1-6B7B2A8DFFF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01824" y="898827"/>
            <a:ext cx="3520032" cy="2715768"/>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A0D8140-BE72-4E3C-55C0-4A176114D22A}"/>
                  </a:ext>
                </a:extLst>
              </p:cNvPr>
              <p:cNvSpPr txBox="1"/>
              <p:nvPr/>
            </p:nvSpPr>
            <p:spPr>
              <a:xfrm>
                <a:off x="7567400" y="3946942"/>
                <a:ext cx="2280276" cy="369332"/>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tanh</m:t>
                          </m:r>
                        </m:fName>
                        <m:e>
                          <m:r>
                            <a:rPr lang="en-US" altLang="zh-CN" i="1">
                              <a:latin typeface="Cambria Math" panose="02040503050406030204" pitchFamily="18" charset="0"/>
                            </a:rPr>
                            <m:t>(</m:t>
                          </m:r>
                          <m:r>
                            <a:rPr lang="en-US" altLang="zh-CN" i="1">
                              <a:latin typeface="Cambria Math" panose="02040503050406030204" pitchFamily="18" charset="0"/>
                            </a:rPr>
                            <m:t>𝑤</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h</m:t>
                              </m:r>
                            </m:e>
                            <m:sub>
                              <m:r>
                                <a:rPr lang="en-US" altLang="zh-CN" i="1">
                                  <a:latin typeface="Cambria Math" panose="02040503050406030204" pitchFamily="18" charset="0"/>
                                </a:rPr>
                                <m:t>𝑡</m:t>
                              </m:r>
                            </m:sub>
                          </m:sSub>
                          <m:r>
                            <a:rPr lang="en-US" altLang="zh-CN" b="0" i="1" smtClean="0">
                              <a:latin typeface="Cambria Math" panose="02040503050406030204" pitchFamily="18" charset="0"/>
                            </a:rPr>
                            <m:t>)</m:t>
                          </m:r>
                        </m:e>
                      </m:func>
                    </m:oMath>
                  </m:oMathPara>
                </a14:m>
                <a:endParaRPr lang="en-US" altLang="zh-CN"/>
              </a:p>
            </p:txBody>
          </p:sp>
        </mc:Choice>
        <mc:Fallback xmlns="">
          <p:sp>
            <p:nvSpPr>
              <p:cNvPr id="7" name="TextBox 6">
                <a:extLst>
                  <a:ext uri="{FF2B5EF4-FFF2-40B4-BE49-F238E27FC236}">
                    <a16:creationId xmlns:a16="http://schemas.microsoft.com/office/drawing/2014/main" id="{0A0D8140-BE72-4E3C-55C0-4A176114D22A}"/>
                  </a:ext>
                </a:extLst>
              </p:cNvPr>
              <p:cNvSpPr txBox="1">
                <a:spLocks noRot="1" noChangeAspect="1" noMove="1" noResize="1" noEditPoints="1" noAdjustHandles="1" noChangeArrowheads="1" noChangeShapeType="1" noTextEdit="1"/>
              </p:cNvSpPr>
              <p:nvPr/>
            </p:nvSpPr>
            <p:spPr>
              <a:xfrm>
                <a:off x="7567400" y="3946942"/>
                <a:ext cx="2280276" cy="369332"/>
              </a:xfrm>
              <a:prstGeom prst="rect">
                <a:avLst/>
              </a:prstGeom>
              <a:blipFill>
                <a:blip r:embed="rId6"/>
                <a:stretch>
                  <a:fillRect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A1CDA8B-0378-F91E-351C-EDC62C36A12D}"/>
                  </a:ext>
                </a:extLst>
              </p:cNvPr>
              <p:cNvSpPr txBox="1"/>
              <p:nvPr/>
            </p:nvSpPr>
            <p:spPr>
              <a:xfrm>
                <a:off x="7767738" y="5363679"/>
                <a:ext cx="1879600" cy="87120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𝑐</m:t>
                      </m:r>
                      <m:r>
                        <a:rPr lang="en-US" altLang="zh-CN" b="0" i="1" smtClean="0">
                          <a:latin typeface="Cambria Math" panose="02040503050406030204" pitchFamily="18" charset="0"/>
                        </a:rPr>
                        <m:t>=</m:t>
                      </m:r>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𝑡</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𝑇</m:t>
                          </m:r>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h</m:t>
                              </m:r>
                            </m:e>
                            <m:sub>
                              <m:r>
                                <a:rPr lang="en-US" altLang="zh-CN" b="0" i="1" smtClean="0">
                                  <a:latin typeface="Cambria Math" panose="02040503050406030204" pitchFamily="18" charset="0"/>
                                </a:rPr>
                                <m:t>𝑡</m:t>
                              </m:r>
                            </m:sub>
                          </m:sSub>
                        </m:e>
                      </m:nary>
                    </m:oMath>
                  </m:oMathPara>
                </a14:m>
                <a:endParaRPr lang="en-US"/>
              </a:p>
            </p:txBody>
          </p:sp>
        </mc:Choice>
        <mc:Fallback xmlns="">
          <p:sp>
            <p:nvSpPr>
              <p:cNvPr id="8" name="TextBox 7">
                <a:extLst>
                  <a:ext uri="{FF2B5EF4-FFF2-40B4-BE49-F238E27FC236}">
                    <a16:creationId xmlns:a16="http://schemas.microsoft.com/office/drawing/2014/main" id="{5A1CDA8B-0378-F91E-351C-EDC62C36A12D}"/>
                  </a:ext>
                </a:extLst>
              </p:cNvPr>
              <p:cNvSpPr txBox="1">
                <a:spLocks noRot="1" noChangeAspect="1" noMove="1" noResize="1" noEditPoints="1" noAdjustHandles="1" noChangeArrowheads="1" noChangeShapeType="1" noTextEdit="1"/>
              </p:cNvSpPr>
              <p:nvPr/>
            </p:nvSpPr>
            <p:spPr>
              <a:xfrm>
                <a:off x="7767738" y="5363679"/>
                <a:ext cx="1879600" cy="871201"/>
              </a:xfrm>
              <a:prstGeom prst="rect">
                <a:avLst/>
              </a:prstGeom>
              <a:blipFill>
                <a:blip r:embed="rId7"/>
                <a:stretch>
                  <a:fillRect l="-10067" t="-94286" b="-14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4543032-4D64-63C8-504D-CA62B867BA2C}"/>
                  </a:ext>
                </a:extLst>
              </p:cNvPr>
              <p:cNvSpPr txBox="1"/>
              <p:nvPr/>
            </p:nvSpPr>
            <p:spPr>
              <a:xfrm>
                <a:off x="7437538" y="4481148"/>
                <a:ext cx="2540000" cy="6878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m:rPr>
                              <m:sty m:val="p"/>
                            </m:rPr>
                            <a:rPr lang="en-US" altLang="zh-CN" b="0" i="0" smtClean="0">
                              <a:latin typeface="Cambria Math" panose="02040503050406030204" pitchFamily="18" charset="0"/>
                            </a:rPr>
                            <m:t>exp</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num>
                        <m:den>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𝑡</m:t>
                              </m:r>
                              <m:r>
                                <a:rPr lang="en-US" altLang="zh-CN" i="1">
                                  <a:latin typeface="Cambria Math" panose="02040503050406030204" pitchFamily="18" charset="0"/>
                                </a:rPr>
                                <m:t>=1</m:t>
                              </m:r>
                            </m:sub>
                            <m:sup>
                              <m:r>
                                <a:rPr lang="en-US" altLang="zh-CN" i="1">
                                  <a:latin typeface="Cambria Math" panose="02040503050406030204" pitchFamily="18" charset="0"/>
                                </a:rPr>
                                <m:t>𝑇</m:t>
                              </m:r>
                            </m:sup>
                            <m:e>
                              <m:r>
                                <m:rPr>
                                  <m:sty m:val="p"/>
                                </m:rPr>
                                <a:rPr lang="en-US" altLang="zh-CN">
                                  <a:latin typeface="Cambria Math" panose="02040503050406030204" pitchFamily="18" charset="0"/>
                                </a:rPr>
                                <m:t>exp</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𝑒</m:t>
                                  </m:r>
                                </m:e>
                                <m:sub>
                                  <m:r>
                                    <a:rPr lang="en-US" altLang="zh-CN" i="1">
                                      <a:latin typeface="Cambria Math" panose="02040503050406030204" pitchFamily="18" charset="0"/>
                                    </a:rPr>
                                    <m:t>𝑡</m:t>
                                  </m:r>
                                </m:sub>
                              </m:sSub>
                              <m:r>
                                <a:rPr lang="en-US" altLang="zh-CN" i="1">
                                  <a:latin typeface="Cambria Math" panose="02040503050406030204" pitchFamily="18" charset="0"/>
                                </a:rPr>
                                <m:t>)</m:t>
                              </m:r>
                            </m:e>
                          </m:nary>
                        </m:den>
                      </m:f>
                    </m:oMath>
                  </m:oMathPara>
                </a14:m>
                <a:endParaRPr lang="en-US"/>
              </a:p>
            </p:txBody>
          </p:sp>
        </mc:Choice>
        <mc:Fallback xmlns="">
          <p:sp>
            <p:nvSpPr>
              <p:cNvPr id="9" name="TextBox 8">
                <a:extLst>
                  <a:ext uri="{FF2B5EF4-FFF2-40B4-BE49-F238E27FC236}">
                    <a16:creationId xmlns:a16="http://schemas.microsoft.com/office/drawing/2014/main" id="{C4543032-4D64-63C8-504D-CA62B867BA2C}"/>
                  </a:ext>
                </a:extLst>
              </p:cNvPr>
              <p:cNvSpPr txBox="1">
                <a:spLocks noRot="1" noChangeAspect="1" noMove="1" noResize="1" noEditPoints="1" noAdjustHandles="1" noChangeArrowheads="1" noChangeShapeType="1" noTextEdit="1"/>
              </p:cNvSpPr>
              <p:nvPr/>
            </p:nvSpPr>
            <p:spPr>
              <a:xfrm>
                <a:off x="7437538" y="4481148"/>
                <a:ext cx="2540000" cy="687817"/>
              </a:xfrm>
              <a:prstGeom prst="rect">
                <a:avLst/>
              </a:prstGeom>
              <a:blipFill>
                <a:blip r:embed="rId8"/>
                <a:stretch>
                  <a:fillRect t="-14286" b="-8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37E4BD6-B911-A79D-00F3-7AB616F1D450}"/>
                  </a:ext>
                </a:extLst>
              </p:cNvPr>
              <p:cNvSpPr txBox="1"/>
              <p:nvPr/>
            </p:nvSpPr>
            <p:spPr>
              <a:xfrm>
                <a:off x="2765549" y="5464423"/>
                <a:ext cx="1879600" cy="87120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𝑡</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𝑇</m:t>
                          </m:r>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𝑡</m:t>
                              </m:r>
                            </m:sub>
                          </m:sSub>
                        </m:e>
                      </m:nary>
                    </m:oMath>
                  </m:oMathPara>
                </a14:m>
                <a:endParaRPr lang="en-US"/>
              </a:p>
            </p:txBody>
          </p:sp>
        </mc:Choice>
        <mc:Fallback xmlns="">
          <p:sp>
            <p:nvSpPr>
              <p:cNvPr id="10" name="TextBox 9">
                <a:extLst>
                  <a:ext uri="{FF2B5EF4-FFF2-40B4-BE49-F238E27FC236}">
                    <a16:creationId xmlns:a16="http://schemas.microsoft.com/office/drawing/2014/main" id="{237E4BD6-B911-A79D-00F3-7AB616F1D450}"/>
                  </a:ext>
                </a:extLst>
              </p:cNvPr>
              <p:cNvSpPr txBox="1">
                <a:spLocks noRot="1" noChangeAspect="1" noMove="1" noResize="1" noEditPoints="1" noAdjustHandles="1" noChangeArrowheads="1" noChangeShapeType="1" noTextEdit="1"/>
              </p:cNvSpPr>
              <p:nvPr/>
            </p:nvSpPr>
            <p:spPr>
              <a:xfrm>
                <a:off x="2765549" y="5464423"/>
                <a:ext cx="1879600" cy="871201"/>
              </a:xfrm>
              <a:prstGeom prst="rect">
                <a:avLst/>
              </a:prstGeom>
              <a:blipFill>
                <a:blip r:embed="rId9"/>
                <a:stretch>
                  <a:fillRect l="-10738" t="-95652" b="-150725"/>
                </a:stretch>
              </a:blipFill>
            </p:spPr>
            <p:txBody>
              <a:bodyPr/>
              <a:lstStyle/>
              <a:p>
                <a:r>
                  <a:rPr lang="en-US">
                    <a:noFill/>
                  </a:rPr>
                  <a:t> </a:t>
                </a:r>
              </a:p>
            </p:txBody>
          </p:sp>
        </mc:Fallback>
      </mc:AlternateContent>
      <p:pic>
        <p:nvPicPr>
          <p:cNvPr id="5" name="图片 5">
            <a:extLst>
              <a:ext uri="{FF2B5EF4-FFF2-40B4-BE49-F238E27FC236}">
                <a16:creationId xmlns:a16="http://schemas.microsoft.com/office/drawing/2014/main" id="{7EAA8C0F-09ED-89D0-595A-527CB86C0393}"/>
              </a:ext>
            </a:extLst>
          </p:cNvPr>
          <p:cNvPicPr>
            <a:picLocks noChangeAspect="1"/>
          </p:cNvPicPr>
          <p:nvPr/>
        </p:nvPicPr>
        <p:blipFill>
          <a:blip r:embed="rId10"/>
          <a:stretch>
            <a:fillRect/>
          </a:stretch>
        </p:blipFill>
        <p:spPr>
          <a:xfrm>
            <a:off x="1190689" y="2226029"/>
            <a:ext cx="5117221" cy="1227911"/>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542DF1B-3AED-1E6E-6B7D-77E859508C3E}"/>
                  </a:ext>
                </a:extLst>
              </p:cNvPr>
              <p:cNvSpPr txBox="1"/>
              <p:nvPr/>
            </p:nvSpPr>
            <p:spPr>
              <a:xfrm>
                <a:off x="5435733" y="2293934"/>
                <a:ext cx="236016" cy="1964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1</m:t>
                          </m:r>
                        </m:sub>
                      </m:sSub>
                    </m:oMath>
                  </m:oMathPara>
                </a14:m>
                <a:endParaRPr lang="en-US"/>
              </a:p>
            </p:txBody>
          </p:sp>
        </mc:Choice>
        <mc:Fallback xmlns="">
          <p:sp>
            <p:nvSpPr>
              <p:cNvPr id="11" name="TextBox 10">
                <a:extLst>
                  <a:ext uri="{FF2B5EF4-FFF2-40B4-BE49-F238E27FC236}">
                    <a16:creationId xmlns:a16="http://schemas.microsoft.com/office/drawing/2014/main" id="{5542DF1B-3AED-1E6E-6B7D-77E859508C3E}"/>
                  </a:ext>
                </a:extLst>
              </p:cNvPr>
              <p:cNvSpPr txBox="1">
                <a:spLocks noRot="1" noChangeAspect="1" noMove="1" noResize="1" noEditPoints="1" noAdjustHandles="1" noChangeArrowheads="1" noChangeShapeType="1" noTextEdit="1"/>
              </p:cNvSpPr>
              <p:nvPr/>
            </p:nvSpPr>
            <p:spPr>
              <a:xfrm>
                <a:off x="5435733" y="2293934"/>
                <a:ext cx="236016" cy="196441"/>
              </a:xfrm>
              <a:prstGeom prst="rect">
                <a:avLst/>
              </a:prstGeom>
              <a:blipFill>
                <a:blip r:embed="rId11"/>
                <a:stretch>
                  <a:fillRect l="-26316" r="-15789" b="-588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D8A0750-BE85-A845-80E7-D97A0F0EA384}"/>
                  </a:ext>
                </a:extLst>
              </p:cNvPr>
              <p:cNvSpPr txBox="1"/>
              <p:nvPr/>
            </p:nvSpPr>
            <p:spPr>
              <a:xfrm>
                <a:off x="5440740" y="2469745"/>
                <a:ext cx="240387" cy="1964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2</m:t>
                          </m:r>
                        </m:sub>
                      </m:sSub>
                    </m:oMath>
                  </m:oMathPara>
                </a14:m>
                <a:endParaRPr lang="en-US"/>
              </a:p>
            </p:txBody>
          </p:sp>
        </mc:Choice>
        <mc:Fallback xmlns="">
          <p:sp>
            <p:nvSpPr>
              <p:cNvPr id="12" name="TextBox 11">
                <a:extLst>
                  <a:ext uri="{FF2B5EF4-FFF2-40B4-BE49-F238E27FC236}">
                    <a16:creationId xmlns:a16="http://schemas.microsoft.com/office/drawing/2014/main" id="{AD8A0750-BE85-A845-80E7-D97A0F0EA384}"/>
                  </a:ext>
                </a:extLst>
              </p:cNvPr>
              <p:cNvSpPr txBox="1">
                <a:spLocks noRot="1" noChangeAspect="1" noMove="1" noResize="1" noEditPoints="1" noAdjustHandles="1" noChangeArrowheads="1" noChangeShapeType="1" noTextEdit="1"/>
              </p:cNvSpPr>
              <p:nvPr/>
            </p:nvSpPr>
            <p:spPr>
              <a:xfrm>
                <a:off x="5440740" y="2469745"/>
                <a:ext cx="240387" cy="196441"/>
              </a:xfrm>
              <a:prstGeom prst="rect">
                <a:avLst/>
              </a:prstGeom>
              <a:blipFill>
                <a:blip r:embed="rId12"/>
                <a:stretch>
                  <a:fillRect l="-20000" r="-15000" b="-68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29790C7-A88E-AA51-1BA7-95474F4E7942}"/>
                  </a:ext>
                </a:extLst>
              </p:cNvPr>
              <p:cNvSpPr txBox="1"/>
              <p:nvPr/>
            </p:nvSpPr>
            <p:spPr>
              <a:xfrm>
                <a:off x="5438237" y="2641009"/>
                <a:ext cx="240387" cy="1964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3</m:t>
                          </m:r>
                        </m:sub>
                      </m:sSub>
                    </m:oMath>
                  </m:oMathPara>
                </a14:m>
                <a:endParaRPr lang="en-US"/>
              </a:p>
            </p:txBody>
          </p:sp>
        </mc:Choice>
        <mc:Fallback xmlns="">
          <p:sp>
            <p:nvSpPr>
              <p:cNvPr id="13" name="TextBox 12">
                <a:extLst>
                  <a:ext uri="{FF2B5EF4-FFF2-40B4-BE49-F238E27FC236}">
                    <a16:creationId xmlns:a16="http://schemas.microsoft.com/office/drawing/2014/main" id="{B29790C7-A88E-AA51-1BA7-95474F4E7942}"/>
                  </a:ext>
                </a:extLst>
              </p:cNvPr>
              <p:cNvSpPr txBox="1">
                <a:spLocks noRot="1" noChangeAspect="1" noMove="1" noResize="1" noEditPoints="1" noAdjustHandles="1" noChangeArrowheads="1" noChangeShapeType="1" noTextEdit="1"/>
              </p:cNvSpPr>
              <p:nvPr/>
            </p:nvSpPr>
            <p:spPr>
              <a:xfrm>
                <a:off x="5438237" y="2641009"/>
                <a:ext cx="240387" cy="196441"/>
              </a:xfrm>
              <a:prstGeom prst="rect">
                <a:avLst/>
              </a:prstGeom>
              <a:blipFill>
                <a:blip r:embed="rId13"/>
                <a:stretch>
                  <a:fillRect l="-25000" r="-15000" b="-588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7E9C9E9-5FCE-9370-06DF-25AEFE2CE3BF}"/>
                  </a:ext>
                </a:extLst>
              </p:cNvPr>
              <p:cNvSpPr txBox="1"/>
              <p:nvPr/>
            </p:nvSpPr>
            <p:spPr>
              <a:xfrm>
                <a:off x="5428222" y="2829205"/>
                <a:ext cx="232276" cy="1964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4</m:t>
                          </m:r>
                        </m:sub>
                      </m:sSub>
                    </m:oMath>
                  </m:oMathPara>
                </a14:m>
                <a:endParaRPr lang="en-US"/>
              </a:p>
            </p:txBody>
          </p:sp>
        </mc:Choice>
        <mc:Fallback xmlns="">
          <p:sp>
            <p:nvSpPr>
              <p:cNvPr id="14" name="TextBox 13">
                <a:extLst>
                  <a:ext uri="{FF2B5EF4-FFF2-40B4-BE49-F238E27FC236}">
                    <a16:creationId xmlns:a16="http://schemas.microsoft.com/office/drawing/2014/main" id="{F7E9C9E9-5FCE-9370-06DF-25AEFE2CE3BF}"/>
                  </a:ext>
                </a:extLst>
              </p:cNvPr>
              <p:cNvSpPr txBox="1">
                <a:spLocks noRot="1" noChangeAspect="1" noMove="1" noResize="1" noEditPoints="1" noAdjustHandles="1" noChangeArrowheads="1" noChangeShapeType="1" noTextEdit="1"/>
              </p:cNvSpPr>
              <p:nvPr/>
            </p:nvSpPr>
            <p:spPr>
              <a:xfrm>
                <a:off x="5428222" y="2829205"/>
                <a:ext cx="232276" cy="196441"/>
              </a:xfrm>
              <a:prstGeom prst="rect">
                <a:avLst/>
              </a:prstGeom>
              <a:blipFill>
                <a:blip r:embed="rId14"/>
                <a:stretch>
                  <a:fillRect l="-21053" r="-15789" b="-588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8EECE9D-DD88-164B-293A-3E4AF5F9A761}"/>
                  </a:ext>
                </a:extLst>
              </p:cNvPr>
              <p:cNvSpPr txBox="1"/>
              <p:nvPr/>
            </p:nvSpPr>
            <p:spPr>
              <a:xfrm>
                <a:off x="3427670" y="2348431"/>
                <a:ext cx="327293" cy="2050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Sub>
                    </m:oMath>
                  </m:oMathPara>
                </a14:m>
                <a:endParaRPr lang="en-US"/>
              </a:p>
            </p:txBody>
          </p:sp>
        </mc:Choice>
        <mc:Fallback xmlns="">
          <p:sp>
            <p:nvSpPr>
              <p:cNvPr id="15" name="TextBox 14">
                <a:extLst>
                  <a:ext uri="{FF2B5EF4-FFF2-40B4-BE49-F238E27FC236}">
                    <a16:creationId xmlns:a16="http://schemas.microsoft.com/office/drawing/2014/main" id="{C8EECE9D-DD88-164B-293A-3E4AF5F9A761}"/>
                  </a:ext>
                </a:extLst>
              </p:cNvPr>
              <p:cNvSpPr txBox="1">
                <a:spLocks noRot="1" noChangeAspect="1" noMove="1" noResize="1" noEditPoints="1" noAdjustHandles="1" noChangeArrowheads="1" noChangeShapeType="1" noTextEdit="1"/>
              </p:cNvSpPr>
              <p:nvPr/>
            </p:nvSpPr>
            <p:spPr>
              <a:xfrm>
                <a:off x="3427670" y="2348431"/>
                <a:ext cx="327293" cy="205081"/>
              </a:xfrm>
              <a:prstGeom prst="rect">
                <a:avLst/>
              </a:prstGeom>
              <a:blipFill>
                <a:blip r:embed="rId15"/>
                <a:stretch>
                  <a:fillRect l="-18519" r="-14815"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BAA930F-E46B-79F2-5F8D-EB3EE7E4BECC}"/>
                  </a:ext>
                </a:extLst>
              </p:cNvPr>
              <p:cNvSpPr txBox="1"/>
              <p:nvPr/>
            </p:nvSpPr>
            <p:spPr>
              <a:xfrm>
                <a:off x="3737482" y="2351906"/>
                <a:ext cx="327293" cy="2050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,2</m:t>
                          </m:r>
                        </m:sub>
                      </m:sSub>
                    </m:oMath>
                  </m:oMathPara>
                </a14:m>
                <a:endParaRPr lang="en-US"/>
              </a:p>
            </p:txBody>
          </p:sp>
        </mc:Choice>
        <mc:Fallback xmlns="">
          <p:sp>
            <p:nvSpPr>
              <p:cNvPr id="16" name="TextBox 15">
                <a:extLst>
                  <a:ext uri="{FF2B5EF4-FFF2-40B4-BE49-F238E27FC236}">
                    <a16:creationId xmlns:a16="http://schemas.microsoft.com/office/drawing/2014/main" id="{EBAA930F-E46B-79F2-5F8D-EB3EE7E4BECC}"/>
                  </a:ext>
                </a:extLst>
              </p:cNvPr>
              <p:cNvSpPr txBox="1">
                <a:spLocks noRot="1" noChangeAspect="1" noMove="1" noResize="1" noEditPoints="1" noAdjustHandles="1" noChangeArrowheads="1" noChangeShapeType="1" noTextEdit="1"/>
              </p:cNvSpPr>
              <p:nvPr/>
            </p:nvSpPr>
            <p:spPr>
              <a:xfrm>
                <a:off x="3737482" y="2351906"/>
                <a:ext cx="327293" cy="205081"/>
              </a:xfrm>
              <a:prstGeom prst="rect">
                <a:avLst/>
              </a:prstGeom>
              <a:blipFill>
                <a:blip r:embed="rId16"/>
                <a:stretch>
                  <a:fillRect l="-18519" r="-11111" b="-5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FB12A9A-1AF4-5540-5E93-C33C4E9ABE09}"/>
                  </a:ext>
                </a:extLst>
              </p:cNvPr>
              <p:cNvSpPr txBox="1"/>
              <p:nvPr/>
            </p:nvSpPr>
            <p:spPr>
              <a:xfrm>
                <a:off x="4051883" y="2363426"/>
                <a:ext cx="327293" cy="2050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,3</m:t>
                          </m:r>
                        </m:sub>
                      </m:sSub>
                    </m:oMath>
                  </m:oMathPara>
                </a14:m>
                <a:endParaRPr lang="en-US"/>
              </a:p>
            </p:txBody>
          </p:sp>
        </mc:Choice>
        <mc:Fallback xmlns="">
          <p:sp>
            <p:nvSpPr>
              <p:cNvPr id="17" name="TextBox 16">
                <a:extLst>
                  <a:ext uri="{FF2B5EF4-FFF2-40B4-BE49-F238E27FC236}">
                    <a16:creationId xmlns:a16="http://schemas.microsoft.com/office/drawing/2014/main" id="{4FB12A9A-1AF4-5540-5E93-C33C4E9ABE09}"/>
                  </a:ext>
                </a:extLst>
              </p:cNvPr>
              <p:cNvSpPr txBox="1">
                <a:spLocks noRot="1" noChangeAspect="1" noMove="1" noResize="1" noEditPoints="1" noAdjustHandles="1" noChangeArrowheads="1" noChangeShapeType="1" noTextEdit="1"/>
              </p:cNvSpPr>
              <p:nvPr/>
            </p:nvSpPr>
            <p:spPr>
              <a:xfrm>
                <a:off x="4051883" y="2363426"/>
                <a:ext cx="327293" cy="205081"/>
              </a:xfrm>
              <a:prstGeom prst="rect">
                <a:avLst/>
              </a:prstGeom>
              <a:blipFill>
                <a:blip r:embed="rId17"/>
                <a:stretch>
                  <a:fillRect l="-19231" r="-15385" b="-5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97201C8-93B6-EB37-B22E-1D5585C9541F}"/>
                  </a:ext>
                </a:extLst>
              </p:cNvPr>
              <p:cNvSpPr txBox="1"/>
              <p:nvPr/>
            </p:nvSpPr>
            <p:spPr>
              <a:xfrm>
                <a:off x="4372113" y="2357731"/>
                <a:ext cx="327293" cy="2050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,4</m:t>
                          </m:r>
                        </m:sub>
                      </m:sSub>
                    </m:oMath>
                  </m:oMathPara>
                </a14:m>
                <a:endParaRPr lang="en-US"/>
              </a:p>
            </p:txBody>
          </p:sp>
        </mc:Choice>
        <mc:Fallback xmlns="">
          <p:sp>
            <p:nvSpPr>
              <p:cNvPr id="18" name="TextBox 17">
                <a:extLst>
                  <a:ext uri="{FF2B5EF4-FFF2-40B4-BE49-F238E27FC236}">
                    <a16:creationId xmlns:a16="http://schemas.microsoft.com/office/drawing/2014/main" id="{F97201C8-93B6-EB37-B22E-1D5585C9541F}"/>
                  </a:ext>
                </a:extLst>
              </p:cNvPr>
              <p:cNvSpPr txBox="1">
                <a:spLocks noRot="1" noChangeAspect="1" noMove="1" noResize="1" noEditPoints="1" noAdjustHandles="1" noChangeArrowheads="1" noChangeShapeType="1" noTextEdit="1"/>
              </p:cNvSpPr>
              <p:nvPr/>
            </p:nvSpPr>
            <p:spPr>
              <a:xfrm>
                <a:off x="4372113" y="2357731"/>
                <a:ext cx="327293" cy="205081"/>
              </a:xfrm>
              <a:prstGeom prst="rect">
                <a:avLst/>
              </a:prstGeom>
              <a:blipFill>
                <a:blip r:embed="rId18"/>
                <a:stretch>
                  <a:fillRect l="-18519" r="-11111" b="-588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2376CBB-9E3D-49E2-B41A-63A4F9362613}"/>
                  </a:ext>
                </a:extLst>
              </p:cNvPr>
              <p:cNvSpPr txBox="1"/>
              <p:nvPr/>
            </p:nvSpPr>
            <p:spPr>
              <a:xfrm>
                <a:off x="2605688" y="4639267"/>
                <a:ext cx="2539999" cy="69737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sub>
                      </m:sSub>
                      <m:r>
                        <a:rPr lang="en-US" altLang="zh-CN" i="1">
                          <a:latin typeface="Cambria Math" panose="02040503050406030204" pitchFamily="18" charset="0"/>
                        </a:rPr>
                        <m:t>=</m:t>
                      </m:r>
                      <m:f>
                        <m:fPr>
                          <m:ctrlPr>
                            <a:rPr lang="en-US" altLang="zh-CN" i="1">
                              <a:latin typeface="Cambria Math" panose="02040503050406030204" pitchFamily="18" charset="0"/>
                            </a:rPr>
                          </m:ctrlPr>
                        </m:fPr>
                        <m:num>
                          <m:r>
                            <m:rPr>
                              <m:sty m:val="p"/>
                            </m:rPr>
                            <a:rPr lang="en-US" altLang="zh-CN">
                              <a:latin typeface="Cambria Math" panose="02040503050406030204" pitchFamily="18" charset="0"/>
                            </a:rPr>
                            <m:t>exp</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𝑒</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i="1">
                                  <a:latin typeface="Cambria Math" panose="02040503050406030204" pitchFamily="18" charset="0"/>
                                </a:rPr>
                                <m:t>𝑡</m:t>
                              </m:r>
                            </m:sub>
                          </m:sSub>
                          <m:r>
                            <a:rPr lang="en-US" altLang="zh-CN" i="1">
                              <a:latin typeface="Cambria Math" panose="02040503050406030204" pitchFamily="18" charset="0"/>
                            </a:rPr>
                            <m:t>)</m:t>
                          </m:r>
                        </m:num>
                        <m:den>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𝑡</m:t>
                              </m:r>
                              <m:r>
                                <a:rPr lang="en-US" altLang="zh-CN" i="1">
                                  <a:latin typeface="Cambria Math" panose="02040503050406030204" pitchFamily="18" charset="0"/>
                                </a:rPr>
                                <m:t>=1</m:t>
                              </m:r>
                            </m:sub>
                            <m:sup>
                              <m:r>
                                <a:rPr lang="en-US" altLang="zh-CN" i="1">
                                  <a:latin typeface="Cambria Math" panose="02040503050406030204" pitchFamily="18" charset="0"/>
                                </a:rPr>
                                <m:t>𝑇</m:t>
                              </m:r>
                            </m:sup>
                            <m:e>
                              <m:r>
                                <m:rPr>
                                  <m:sty m:val="p"/>
                                </m:rPr>
                                <a:rPr lang="en-US" altLang="zh-CN">
                                  <a:latin typeface="Cambria Math" panose="02040503050406030204" pitchFamily="18" charset="0"/>
                                </a:rPr>
                                <m:t>exp</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𝑒</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i="1">
                                      <a:latin typeface="Cambria Math" panose="02040503050406030204" pitchFamily="18" charset="0"/>
                                    </a:rPr>
                                    <m:t>𝑡</m:t>
                                  </m:r>
                                </m:sub>
                              </m:sSub>
                              <m:r>
                                <a:rPr lang="en-US" altLang="zh-CN" i="1">
                                  <a:latin typeface="Cambria Math" panose="02040503050406030204" pitchFamily="18" charset="0"/>
                                </a:rPr>
                                <m:t>)</m:t>
                              </m:r>
                            </m:e>
                          </m:nary>
                        </m:den>
                      </m:f>
                    </m:oMath>
                  </m:oMathPara>
                </a14:m>
                <a:endParaRPr lang="en-US" dirty="0"/>
              </a:p>
            </p:txBody>
          </p:sp>
        </mc:Choice>
        <mc:Fallback xmlns="">
          <p:sp>
            <p:nvSpPr>
              <p:cNvPr id="20" name="TextBox 19">
                <a:extLst>
                  <a:ext uri="{FF2B5EF4-FFF2-40B4-BE49-F238E27FC236}">
                    <a16:creationId xmlns:a16="http://schemas.microsoft.com/office/drawing/2014/main" id="{E2376CBB-9E3D-49E2-B41A-63A4F9362613}"/>
                  </a:ext>
                </a:extLst>
              </p:cNvPr>
              <p:cNvSpPr txBox="1">
                <a:spLocks noRot="1" noChangeAspect="1" noMove="1" noResize="1" noEditPoints="1" noAdjustHandles="1" noChangeArrowheads="1" noChangeShapeType="1" noTextEdit="1"/>
              </p:cNvSpPr>
              <p:nvPr/>
            </p:nvSpPr>
            <p:spPr>
              <a:xfrm>
                <a:off x="2605688" y="4639267"/>
                <a:ext cx="2539999" cy="697370"/>
              </a:xfrm>
              <a:prstGeom prst="rect">
                <a:avLst/>
              </a:prstGeom>
              <a:blipFill>
                <a:blip r:embed="rId19"/>
                <a:stretch>
                  <a:fillRect t="-16071" b="-85714"/>
                </a:stretch>
              </a:blipFill>
            </p:spPr>
            <p:txBody>
              <a:bodyPr/>
              <a:lstStyle/>
              <a:p>
                <a:r>
                  <a:rPr lang="en-US">
                    <a:noFill/>
                  </a:rPr>
                  <a:t> </a:t>
                </a:r>
              </a:p>
            </p:txBody>
          </p:sp>
        </mc:Fallback>
      </mc:AlternateContent>
      <p:pic>
        <p:nvPicPr>
          <p:cNvPr id="21" name="图片 4">
            <a:extLst>
              <a:ext uri="{FF2B5EF4-FFF2-40B4-BE49-F238E27FC236}">
                <a16:creationId xmlns:a16="http://schemas.microsoft.com/office/drawing/2014/main" id="{35F948CA-9872-95CB-8FFB-CEF77257ECCD}"/>
              </a:ext>
            </a:extLst>
          </p:cNvPr>
          <p:cNvPicPr>
            <a:picLocks noChangeAspect="1"/>
          </p:cNvPicPr>
          <p:nvPr/>
        </p:nvPicPr>
        <p:blipFill>
          <a:blip r:embed="rId20"/>
          <a:stretch>
            <a:fillRect/>
          </a:stretch>
        </p:blipFill>
        <p:spPr>
          <a:xfrm>
            <a:off x="814076" y="1046545"/>
            <a:ext cx="2550215" cy="1144524"/>
          </a:xfrm>
          <a:prstGeom prst="rect">
            <a:avLst/>
          </a:prstGeom>
        </p:spPr>
      </p:pic>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5CCDF516-0D5C-B35C-8833-C67A4FFE7582}"/>
                  </a:ext>
                </a:extLst>
              </p:cNvPr>
              <p:cNvSpPr txBox="1"/>
              <p:nvPr/>
            </p:nvSpPr>
            <p:spPr>
              <a:xfrm>
                <a:off x="2609160" y="3651917"/>
                <a:ext cx="3214225" cy="90255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nary>
                        <m:naryPr>
                          <m:chr m:val="∑"/>
                          <m:ctrlPr>
                            <a:rPr lang="en-US" altLang="zh-CN" i="1">
                              <a:latin typeface="Cambria Math" panose="02040503050406030204" pitchFamily="18" charset="0"/>
                            </a:rPr>
                          </m:ctrlPr>
                        </m:naryPr>
                        <m:sub>
                          <m:r>
                            <a:rPr lang="en-US" altLang="zh-CN" b="0" i="1" smtClean="0">
                              <a:latin typeface="Cambria Math" panose="02040503050406030204" pitchFamily="18" charset="0"/>
                            </a:rPr>
                            <m:t>𝑗</m:t>
                          </m:r>
                          <m:r>
                            <a:rPr lang="en-US" altLang="zh-CN" i="1">
                              <a:latin typeface="Cambria Math" panose="02040503050406030204" pitchFamily="18" charset="0"/>
                            </a:rPr>
                            <m:t>=1</m:t>
                          </m:r>
                        </m:sub>
                        <m:sup>
                          <m:r>
                            <a:rPr lang="en-US" altLang="zh-CN" i="1">
                              <a:latin typeface="Cambria Math" panose="02040503050406030204" pitchFamily="18" charset="0"/>
                            </a:rPr>
                            <m:t>𝑇</m:t>
                          </m:r>
                        </m:sup>
                        <m:e>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𝑞</m:t>
                              </m:r>
                            </m:e>
                            <m:sub>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b="0" i="1" smtClean="0">
                                  <a:latin typeface="Cambria Math" panose="02040503050406030204" pitchFamily="18" charset="0"/>
                                </a:rPr>
                                <m:t>𝑗</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𝑗</m:t>
                              </m:r>
                              <m:r>
                                <a:rPr lang="en-US" altLang="zh-CN" b="0" i="1" smtClean="0">
                                  <a:latin typeface="Cambria Math" panose="02040503050406030204" pitchFamily="18" charset="0"/>
                                </a:rPr>
                                <m:t>,</m:t>
                              </m:r>
                              <m:r>
                                <a:rPr lang="en-US" altLang="zh-CN" i="1">
                                  <a:latin typeface="Cambria Math" panose="02040503050406030204" pitchFamily="18" charset="0"/>
                                </a:rPr>
                                <m:t>𝑡</m:t>
                              </m:r>
                            </m:sub>
                          </m:sSub>
                        </m:e>
                      </m:nary>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𝑞</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𝑡</m:t>
                          </m:r>
                        </m:sub>
                      </m:sSub>
                    </m:oMath>
                  </m:oMathPara>
                </a14:m>
                <a:endParaRPr lang="en-US" altLang="zh-CN" dirty="0"/>
              </a:p>
            </p:txBody>
          </p:sp>
        </mc:Choice>
        <mc:Fallback xmlns="">
          <p:sp>
            <p:nvSpPr>
              <p:cNvPr id="22" name="TextBox 21">
                <a:extLst>
                  <a:ext uri="{FF2B5EF4-FFF2-40B4-BE49-F238E27FC236}">
                    <a16:creationId xmlns:a16="http://schemas.microsoft.com/office/drawing/2014/main" id="{5CCDF516-0D5C-B35C-8833-C67A4FFE7582}"/>
                  </a:ext>
                </a:extLst>
              </p:cNvPr>
              <p:cNvSpPr txBox="1">
                <a:spLocks noRot="1" noChangeAspect="1" noMove="1" noResize="1" noEditPoints="1" noAdjustHandles="1" noChangeArrowheads="1" noChangeShapeType="1" noTextEdit="1"/>
              </p:cNvSpPr>
              <p:nvPr/>
            </p:nvSpPr>
            <p:spPr>
              <a:xfrm>
                <a:off x="2609160" y="3651917"/>
                <a:ext cx="3214225" cy="902555"/>
              </a:xfrm>
              <a:prstGeom prst="rect">
                <a:avLst/>
              </a:prstGeom>
              <a:blipFill>
                <a:blip r:embed="rId21"/>
                <a:stretch>
                  <a:fillRect t="-91667" b="-141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1990ECA-B9B5-7AF7-1ACB-6ACF7FA021D6}"/>
                  </a:ext>
                </a:extLst>
              </p:cNvPr>
              <p:cNvSpPr txBox="1"/>
              <p:nvPr/>
            </p:nvSpPr>
            <p:spPr>
              <a:xfrm>
                <a:off x="933886" y="3946942"/>
                <a:ext cx="51751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𝑄</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𝐾</m:t>
                          </m:r>
                        </m:e>
                        <m:sup>
                          <m:r>
                            <a:rPr lang="en-US" altLang="zh-CN" b="0" i="1" smtClean="0">
                              <a:latin typeface="Cambria Math" panose="02040503050406030204" pitchFamily="18" charset="0"/>
                            </a:rPr>
                            <m:t>𝑇</m:t>
                          </m:r>
                        </m:sup>
                      </m:sSup>
                    </m:oMath>
                  </m:oMathPara>
                </a14:m>
                <a:endParaRPr lang="en-US"/>
              </a:p>
            </p:txBody>
          </p:sp>
        </mc:Choice>
        <mc:Fallback xmlns="">
          <p:sp>
            <p:nvSpPr>
              <p:cNvPr id="24" name="TextBox 23">
                <a:extLst>
                  <a:ext uri="{FF2B5EF4-FFF2-40B4-BE49-F238E27FC236}">
                    <a16:creationId xmlns:a16="http://schemas.microsoft.com/office/drawing/2014/main" id="{F1990ECA-B9B5-7AF7-1ACB-6ACF7FA021D6}"/>
                  </a:ext>
                </a:extLst>
              </p:cNvPr>
              <p:cNvSpPr txBox="1">
                <a:spLocks noRot="1" noChangeAspect="1" noMove="1" noResize="1" noEditPoints="1" noAdjustHandles="1" noChangeArrowheads="1" noChangeShapeType="1" noTextEdit="1"/>
              </p:cNvSpPr>
              <p:nvPr/>
            </p:nvSpPr>
            <p:spPr>
              <a:xfrm>
                <a:off x="933886" y="3946942"/>
                <a:ext cx="517513" cy="276999"/>
              </a:xfrm>
              <a:prstGeom prst="rect">
                <a:avLst/>
              </a:prstGeom>
              <a:blipFill>
                <a:blip r:embed="rId22"/>
                <a:stretch>
                  <a:fillRect l="-11905" r="-2381" b="-304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858606D0-D2BA-CD44-5424-64B93C4E04A8}"/>
                  </a:ext>
                </a:extLst>
              </p:cNvPr>
              <p:cNvSpPr txBox="1"/>
              <p:nvPr/>
            </p:nvSpPr>
            <p:spPr>
              <a:xfrm>
                <a:off x="484414" y="4621774"/>
                <a:ext cx="16113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𝑠𝑜𝑓𝑡𝑚𝑎𝑥</m:t>
                      </m:r>
                      <m:r>
                        <a:rPr lang="en-US" altLang="zh-CN" b="0" i="1" smtClean="0">
                          <a:latin typeface="Cambria Math" panose="02040503050406030204" pitchFamily="18" charset="0"/>
                        </a:rPr>
                        <m:t>(</m:t>
                      </m:r>
                      <m:r>
                        <a:rPr lang="en-US" altLang="zh-CN" b="0" i="1" smtClean="0">
                          <a:latin typeface="Cambria Math" panose="02040503050406030204" pitchFamily="18" charset="0"/>
                        </a:rPr>
                        <m:t>𝑄</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𝐾</m:t>
                          </m:r>
                        </m:e>
                        <m:sup>
                          <m:r>
                            <a:rPr lang="en-US" altLang="zh-CN" b="0" i="1" smtClean="0">
                              <a:latin typeface="Cambria Math" panose="02040503050406030204" pitchFamily="18" charset="0"/>
                            </a:rPr>
                            <m:t>𝑇</m:t>
                          </m:r>
                        </m:sup>
                      </m:sSup>
                      <m:r>
                        <a:rPr lang="en-US" altLang="zh-CN" b="0" i="1" smtClean="0">
                          <a:latin typeface="Cambria Math" panose="02040503050406030204" pitchFamily="18" charset="0"/>
                        </a:rPr>
                        <m:t>)</m:t>
                      </m:r>
                    </m:oMath>
                  </m:oMathPara>
                </a14:m>
                <a:endParaRPr lang="en-US" dirty="0"/>
              </a:p>
            </p:txBody>
          </p:sp>
        </mc:Choice>
        <mc:Fallback xmlns="">
          <p:sp>
            <p:nvSpPr>
              <p:cNvPr id="25" name="TextBox 24">
                <a:extLst>
                  <a:ext uri="{FF2B5EF4-FFF2-40B4-BE49-F238E27FC236}">
                    <a16:creationId xmlns:a16="http://schemas.microsoft.com/office/drawing/2014/main" id="{858606D0-D2BA-CD44-5424-64B93C4E04A8}"/>
                  </a:ext>
                </a:extLst>
              </p:cNvPr>
              <p:cNvSpPr txBox="1">
                <a:spLocks noRot="1" noChangeAspect="1" noMove="1" noResize="1" noEditPoints="1" noAdjustHandles="1" noChangeArrowheads="1" noChangeShapeType="1" noTextEdit="1"/>
              </p:cNvSpPr>
              <p:nvPr/>
            </p:nvSpPr>
            <p:spPr>
              <a:xfrm>
                <a:off x="484414" y="4621774"/>
                <a:ext cx="1611339" cy="276999"/>
              </a:xfrm>
              <a:prstGeom prst="rect">
                <a:avLst/>
              </a:prstGeom>
              <a:blipFill>
                <a:blip r:embed="rId23"/>
                <a:stretch>
                  <a:fillRect l="-3876" r="-3876" b="-391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896B4FE-F180-C433-7DEB-DDF29F8235E0}"/>
                  </a:ext>
                </a:extLst>
              </p:cNvPr>
              <p:cNvSpPr txBox="1"/>
              <p:nvPr/>
            </p:nvSpPr>
            <p:spPr>
              <a:xfrm>
                <a:off x="400795" y="5702815"/>
                <a:ext cx="176214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𝑠𝑜𝑓𝑡𝑚𝑎𝑥</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𝑄</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𝐾</m:t>
                              </m:r>
                            </m:e>
                            <m:sup>
                              <m:r>
                                <a:rPr lang="en-US" altLang="zh-CN" b="0" i="1" smtClean="0">
                                  <a:latin typeface="Cambria Math" panose="02040503050406030204" pitchFamily="18" charset="0"/>
                                </a:rPr>
                                <m:t>𝑇</m:t>
                              </m:r>
                            </m:sup>
                          </m:sSup>
                        </m:e>
                      </m:d>
                      <m:r>
                        <a:rPr lang="en-US" altLang="zh-CN" b="0" i="1" smtClean="0">
                          <a:latin typeface="Cambria Math" panose="02040503050406030204" pitchFamily="18" charset="0"/>
                        </a:rPr>
                        <m:t>𝑉</m:t>
                      </m:r>
                    </m:oMath>
                  </m:oMathPara>
                </a14:m>
                <a:endParaRPr lang="en-US" dirty="0"/>
              </a:p>
            </p:txBody>
          </p:sp>
        </mc:Choice>
        <mc:Fallback xmlns="">
          <p:sp>
            <p:nvSpPr>
              <p:cNvPr id="26" name="TextBox 25">
                <a:extLst>
                  <a:ext uri="{FF2B5EF4-FFF2-40B4-BE49-F238E27FC236}">
                    <a16:creationId xmlns:a16="http://schemas.microsoft.com/office/drawing/2014/main" id="{4896B4FE-F180-C433-7DEB-DDF29F8235E0}"/>
                  </a:ext>
                </a:extLst>
              </p:cNvPr>
              <p:cNvSpPr txBox="1">
                <a:spLocks noRot="1" noChangeAspect="1" noMove="1" noResize="1" noEditPoints="1" noAdjustHandles="1" noChangeArrowheads="1" noChangeShapeType="1" noTextEdit="1"/>
              </p:cNvSpPr>
              <p:nvPr/>
            </p:nvSpPr>
            <p:spPr>
              <a:xfrm>
                <a:off x="400795" y="5702815"/>
                <a:ext cx="1762149" cy="276999"/>
              </a:xfrm>
              <a:prstGeom prst="rect">
                <a:avLst/>
              </a:prstGeom>
              <a:blipFill>
                <a:blip r:embed="rId24"/>
                <a:stretch>
                  <a:fillRect l="-4286" t="-4545" r="-1429" b="-454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70209FCE-8EB8-37E3-B5E7-B59A43924CAC}"/>
                  </a:ext>
                </a:extLst>
              </p:cNvPr>
              <p:cNvSpPr txBox="1"/>
              <p:nvPr/>
            </p:nvSpPr>
            <p:spPr>
              <a:xfrm>
                <a:off x="350439" y="4898773"/>
                <a:ext cx="2121273" cy="353238"/>
              </a:xfrm>
              <a:prstGeom prst="rect">
                <a:avLst/>
              </a:prstGeom>
              <a:noFill/>
            </p:spPr>
            <p:txBody>
              <a:bodyPr wrap="square" rtlCol="0">
                <a:spAutoFit/>
              </a:bodyPr>
              <a:lstStyle/>
              <a:p>
                <a:r>
                  <a:rPr lang="en-US" sz="1400" err="1">
                    <a:latin typeface="Microsoft YaHei" panose="020B0503020204020204" pitchFamily="34" charset="-122"/>
                    <a:ea typeface="Microsoft YaHei" panose="020B0503020204020204" pitchFamily="34" charset="-122"/>
                    <a:cs typeface="Times New Roman" panose="02020603050405020304" pitchFamily="18" charset="0"/>
                  </a:rPr>
                  <a:t>简单起见</a:t>
                </a:r>
                <a:r>
                  <a:rPr lang="zh-CN" altLang="en-US" sz="1400">
                    <a:latin typeface="Microsoft YaHei" panose="020B0503020204020204" pitchFamily="34" charset="-122"/>
                    <a:ea typeface="Microsoft YaHei" panose="020B0503020204020204" pitchFamily="34" charset="-122"/>
                    <a:cs typeface="Times New Roman" panose="02020603050405020304" pitchFamily="18" charset="0"/>
                  </a:rPr>
                  <a:t>，忽视</a:t>
                </a:r>
                <a14:m>
                  <m:oMath xmlns:m="http://schemas.openxmlformats.org/officeDocument/2006/math">
                    <m:r>
                      <a:rPr lang="en-US" altLang="zh-CN" sz="1400" b="0" i="1" smtClean="0">
                        <a:latin typeface="Cambria Math" panose="02040503050406030204" pitchFamily="18" charset="0"/>
                        <a:cs typeface="Times New Roman" panose="02020603050405020304" pitchFamily="18" charset="0"/>
                      </a:rPr>
                      <m:t>1/</m:t>
                    </m:r>
                    <m:rad>
                      <m:radPr>
                        <m:degHide m:val="on"/>
                        <m:ctrlPr>
                          <a:rPr lang="en-US" altLang="zh-CN" sz="1400" b="0" i="1" smtClean="0">
                            <a:latin typeface="Cambria Math" panose="02040503050406030204" pitchFamily="18" charset="0"/>
                            <a:cs typeface="Times New Roman" panose="02020603050405020304" pitchFamily="18" charset="0"/>
                          </a:rPr>
                        </m:ctrlPr>
                      </m:radPr>
                      <m:deg/>
                      <m:e>
                        <m:sSub>
                          <m:sSubPr>
                            <m:ctrlPr>
                              <a:rPr lang="en-US" altLang="zh-CN" sz="1400" b="0" i="1" smtClean="0">
                                <a:latin typeface="Cambria Math" panose="02040503050406030204" pitchFamily="18" charset="0"/>
                                <a:cs typeface="Times New Roman" panose="02020603050405020304" pitchFamily="18" charset="0"/>
                              </a:rPr>
                            </m:ctrlPr>
                          </m:sSubPr>
                          <m:e>
                            <m:r>
                              <a:rPr lang="en-US" altLang="zh-CN" sz="1400" b="0" i="1" smtClean="0">
                                <a:latin typeface="Cambria Math" panose="02040503050406030204" pitchFamily="18" charset="0"/>
                                <a:cs typeface="Times New Roman" panose="02020603050405020304" pitchFamily="18" charset="0"/>
                              </a:rPr>
                              <m:t>𝑑</m:t>
                            </m:r>
                          </m:e>
                          <m:sub>
                            <m:r>
                              <a:rPr lang="en-US" altLang="zh-CN" sz="1400" b="0" i="1" smtClean="0">
                                <a:latin typeface="Cambria Math" panose="02040503050406030204" pitchFamily="18" charset="0"/>
                                <a:cs typeface="Times New Roman" panose="02020603050405020304" pitchFamily="18" charset="0"/>
                              </a:rPr>
                              <m:t>𝑘</m:t>
                            </m:r>
                          </m:sub>
                        </m:sSub>
                      </m:e>
                    </m:rad>
                  </m:oMath>
                </a14:m>
                <a:endParaRPr lang="en-US" sz="1400">
                  <a:latin typeface="Microsoft YaHei" panose="020B0503020204020204" pitchFamily="34" charset="-122"/>
                  <a:ea typeface="Microsoft YaHei" panose="020B0503020204020204" pitchFamily="34" charset="-122"/>
                  <a:cs typeface="Times New Roman" panose="02020603050405020304" pitchFamily="18" charset="0"/>
                </a:endParaRPr>
              </a:p>
            </p:txBody>
          </p:sp>
        </mc:Choice>
        <mc:Fallback xmlns="">
          <p:sp>
            <p:nvSpPr>
              <p:cNvPr id="27" name="TextBox 26">
                <a:extLst>
                  <a:ext uri="{FF2B5EF4-FFF2-40B4-BE49-F238E27FC236}">
                    <a16:creationId xmlns:a16="http://schemas.microsoft.com/office/drawing/2014/main" id="{70209FCE-8EB8-37E3-B5E7-B59A43924CAC}"/>
                  </a:ext>
                </a:extLst>
              </p:cNvPr>
              <p:cNvSpPr txBox="1">
                <a:spLocks noRot="1" noChangeAspect="1" noMove="1" noResize="1" noEditPoints="1" noAdjustHandles="1" noChangeArrowheads="1" noChangeShapeType="1" noTextEdit="1"/>
              </p:cNvSpPr>
              <p:nvPr/>
            </p:nvSpPr>
            <p:spPr>
              <a:xfrm>
                <a:off x="350439" y="4898773"/>
                <a:ext cx="2121273" cy="353238"/>
              </a:xfrm>
              <a:prstGeom prst="rect">
                <a:avLst/>
              </a:prstGeom>
              <a:blipFill>
                <a:blip r:embed="rId25"/>
                <a:stretch>
                  <a:fillRect l="-1190" b="-137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B926EE5C-C2B4-6F41-CF3C-65B8009E92C5}"/>
                  </a:ext>
                </a:extLst>
              </p:cNvPr>
              <p:cNvSpPr txBox="1"/>
              <p:nvPr/>
            </p:nvSpPr>
            <p:spPr>
              <a:xfrm>
                <a:off x="9773046" y="3766943"/>
                <a:ext cx="1818645"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𝑞</m:t>
                          </m:r>
                        </m:e>
                        <m:sub>
                          <m:r>
                            <a:rPr lang="en-US" altLang="zh-CN" sz="2000" b="0" i="1" smtClean="0">
                              <a:latin typeface="Cambria Math" panose="02040503050406030204" pitchFamily="18" charset="0"/>
                            </a:rPr>
                            <m:t>𝑖</m:t>
                          </m:r>
                        </m:sub>
                      </m:sSub>
                      <m:r>
                        <a:rPr lang="en-US" altLang="zh-CN" sz="2000" b="0" i="0" smtClean="0">
                          <a:latin typeface="Cambria Math" panose="02040503050406030204" pitchFamily="18" charset="0"/>
                        </a:rPr>
                        <m:t>→</m:t>
                      </m:r>
                      <m:r>
                        <m:rPr>
                          <m:sty m:val="p"/>
                        </m:rPr>
                        <a:rPr lang="en-US" altLang="zh-CN" sz="2000" b="0" i="0" smtClean="0">
                          <a:latin typeface="Cambria Math" panose="02040503050406030204" pitchFamily="18" charset="0"/>
                        </a:rPr>
                        <m:t>w</m:t>
                      </m:r>
                    </m:oMath>
                  </m:oMathPara>
                </a14:m>
                <a:endParaRPr lang="en-US" sz="2000"/>
              </a:p>
              <a:p>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𝑘</m:t>
                          </m:r>
                        </m:e>
                        <m:sub>
                          <m:r>
                            <a:rPr lang="en-US" altLang="zh-CN" sz="2000" b="0" i="1" smtClean="0">
                              <a:latin typeface="Cambria Math" panose="02040503050406030204" pitchFamily="18" charset="0"/>
                            </a:rPr>
                            <m:t>𝑡</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h</m:t>
                          </m:r>
                        </m:e>
                        <m:sub>
                          <m:r>
                            <a:rPr lang="en-US" altLang="zh-CN" sz="2000" b="0" i="1" smtClean="0">
                              <a:latin typeface="Cambria Math" panose="02040503050406030204" pitchFamily="18" charset="0"/>
                            </a:rPr>
                            <m:t>𝑡</m:t>
                          </m:r>
                        </m:sub>
                      </m:sSub>
                    </m:oMath>
                  </m:oMathPara>
                </a14:m>
                <a:endParaRPr lang="en-US" sz="2000"/>
              </a:p>
            </p:txBody>
          </p:sp>
        </mc:Choice>
        <mc:Fallback xmlns="">
          <p:sp>
            <p:nvSpPr>
              <p:cNvPr id="29" name="TextBox 28">
                <a:extLst>
                  <a:ext uri="{FF2B5EF4-FFF2-40B4-BE49-F238E27FC236}">
                    <a16:creationId xmlns:a16="http://schemas.microsoft.com/office/drawing/2014/main" id="{B926EE5C-C2B4-6F41-CF3C-65B8009E92C5}"/>
                  </a:ext>
                </a:extLst>
              </p:cNvPr>
              <p:cNvSpPr txBox="1">
                <a:spLocks noRot="1" noChangeAspect="1" noMove="1" noResize="1" noEditPoints="1" noAdjustHandles="1" noChangeArrowheads="1" noChangeShapeType="1" noTextEdit="1"/>
              </p:cNvSpPr>
              <p:nvPr/>
            </p:nvSpPr>
            <p:spPr>
              <a:xfrm>
                <a:off x="9773046" y="3766943"/>
                <a:ext cx="1818645" cy="707886"/>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B038EEE-3C65-4C6A-A024-7C5DB2A31F96}"/>
                  </a:ext>
                </a:extLst>
              </p:cNvPr>
              <p:cNvSpPr txBox="1"/>
              <p:nvPr/>
            </p:nvSpPr>
            <p:spPr>
              <a:xfrm>
                <a:off x="9773045" y="5502760"/>
                <a:ext cx="1818645"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𝑣</m:t>
                          </m:r>
                        </m:e>
                        <m:sub>
                          <m:r>
                            <a:rPr lang="en-US" altLang="zh-CN" sz="2000" b="0" i="1" smtClean="0">
                              <a:latin typeface="Cambria Math" panose="02040503050406030204" pitchFamily="18" charset="0"/>
                            </a:rPr>
                            <m:t>𝑡</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h</m:t>
                          </m:r>
                        </m:e>
                        <m:sub>
                          <m:r>
                            <a:rPr lang="en-US" altLang="zh-CN" sz="2000" b="0" i="1" smtClean="0">
                              <a:latin typeface="Cambria Math" panose="02040503050406030204" pitchFamily="18" charset="0"/>
                            </a:rPr>
                            <m:t>𝑡</m:t>
                          </m:r>
                        </m:sub>
                      </m:sSub>
                    </m:oMath>
                  </m:oMathPara>
                </a14:m>
                <a:endParaRPr lang="en-US" sz="2000"/>
              </a:p>
            </p:txBody>
          </p:sp>
        </mc:Choice>
        <mc:Fallback xmlns="">
          <p:sp>
            <p:nvSpPr>
              <p:cNvPr id="30" name="TextBox 29">
                <a:extLst>
                  <a:ext uri="{FF2B5EF4-FFF2-40B4-BE49-F238E27FC236}">
                    <a16:creationId xmlns:a16="http://schemas.microsoft.com/office/drawing/2014/main" id="{FB038EEE-3C65-4C6A-A024-7C5DB2A31F96}"/>
                  </a:ext>
                </a:extLst>
              </p:cNvPr>
              <p:cNvSpPr txBox="1">
                <a:spLocks noRot="1" noChangeAspect="1" noMove="1" noResize="1" noEditPoints="1" noAdjustHandles="1" noChangeArrowheads="1" noChangeShapeType="1" noTextEdit="1"/>
              </p:cNvSpPr>
              <p:nvPr/>
            </p:nvSpPr>
            <p:spPr>
              <a:xfrm>
                <a:off x="9773045" y="5502760"/>
                <a:ext cx="1818645" cy="400110"/>
              </a:xfrm>
              <a:prstGeom prst="rect">
                <a:avLst/>
              </a:prstGeom>
              <a:blipFill>
                <a:blip r:embed="rId27"/>
                <a:stretch>
                  <a:fillRect/>
                </a:stretch>
              </a:blipFill>
            </p:spPr>
            <p:txBody>
              <a:bodyPr/>
              <a:lstStyle/>
              <a:p>
                <a:r>
                  <a:rPr lang="en-US">
                    <a:noFill/>
                  </a:rPr>
                  <a:t> </a:t>
                </a:r>
              </a:p>
            </p:txBody>
          </p:sp>
        </mc:Fallback>
      </mc:AlternateContent>
      <p:cxnSp>
        <p:nvCxnSpPr>
          <p:cNvPr id="32" name="Straight Connector 31">
            <a:extLst>
              <a:ext uri="{FF2B5EF4-FFF2-40B4-BE49-F238E27FC236}">
                <a16:creationId xmlns:a16="http://schemas.microsoft.com/office/drawing/2014/main" id="{987E2CDF-90D9-24D5-7F1C-D11C73ACE00F}"/>
              </a:ext>
            </a:extLst>
          </p:cNvPr>
          <p:cNvCxnSpPr/>
          <p:nvPr/>
        </p:nvCxnSpPr>
        <p:spPr>
          <a:xfrm>
            <a:off x="7169586" y="1046545"/>
            <a:ext cx="0" cy="5416499"/>
          </a:xfrm>
          <a:prstGeom prst="line">
            <a:avLst/>
          </a:prstGeom>
          <a:ln w="25400">
            <a:solidFill>
              <a:schemeClr val="tx1"/>
            </a:solidFill>
            <a:prstDash val="lgDash"/>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3D615F92-2664-1162-8293-6EDF793D0A3A}"/>
              </a:ext>
            </a:extLst>
          </p:cNvPr>
          <p:cNvGrpSpPr/>
          <p:nvPr/>
        </p:nvGrpSpPr>
        <p:grpSpPr>
          <a:xfrm>
            <a:off x="0" y="-1589"/>
            <a:ext cx="12191999" cy="768585"/>
            <a:chOff x="0" y="-1589"/>
            <a:chExt cx="12191999" cy="768585"/>
          </a:xfrm>
        </p:grpSpPr>
        <p:grpSp>
          <p:nvGrpSpPr>
            <p:cNvPr id="19" name="Group 9">
              <a:extLst>
                <a:ext uri="{FF2B5EF4-FFF2-40B4-BE49-F238E27FC236}">
                  <a16:creationId xmlns:a16="http://schemas.microsoft.com/office/drawing/2014/main" id="{6323F00A-A58E-03B6-8405-3A44BE6919B7}"/>
                </a:ext>
              </a:extLst>
            </p:cNvPr>
            <p:cNvGrpSpPr>
              <a:grpSpLocks noChangeAspect="1"/>
            </p:cNvGrpSpPr>
            <p:nvPr/>
          </p:nvGrpSpPr>
          <p:grpSpPr bwMode="auto">
            <a:xfrm>
              <a:off x="0" y="-1589"/>
              <a:ext cx="12191999" cy="767234"/>
              <a:chOff x="-1" y="-1"/>
              <a:chExt cx="7719" cy="568"/>
            </a:xfrm>
          </p:grpSpPr>
          <p:sp>
            <p:nvSpPr>
              <p:cNvPr id="31" name="Freeform 30">
                <a:extLst>
                  <a:ext uri="{FF2B5EF4-FFF2-40B4-BE49-F238E27FC236}">
                    <a16:creationId xmlns:a16="http://schemas.microsoft.com/office/drawing/2014/main" id="{6BB11213-9353-6B7E-FE5B-42AEAC991FAF}"/>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33" name="AutoShape 8">
                <a:extLst>
                  <a:ext uri="{FF2B5EF4-FFF2-40B4-BE49-F238E27FC236}">
                    <a16:creationId xmlns:a16="http://schemas.microsoft.com/office/drawing/2014/main" id="{4DF9C678-26E2-FAA1-94E6-65E59ADCE89A}"/>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23" name="任意多边形: 形状 12">
              <a:extLst>
                <a:ext uri="{FF2B5EF4-FFF2-40B4-BE49-F238E27FC236}">
                  <a16:creationId xmlns:a16="http://schemas.microsoft.com/office/drawing/2014/main" id="{7E266EA4-26FE-5A6E-209E-6B7AE926ABE7}"/>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28" name="文本框 18">
              <a:extLst>
                <a:ext uri="{FF2B5EF4-FFF2-40B4-BE49-F238E27FC236}">
                  <a16:creationId xmlns:a16="http://schemas.microsoft.com/office/drawing/2014/main" id="{8E442E0B-053A-A803-4426-DF20A955F939}"/>
                </a:ext>
              </a:extLst>
            </p:cNvPr>
            <p:cNvSpPr txBox="1"/>
            <p:nvPr/>
          </p:nvSpPr>
          <p:spPr>
            <a:xfrm>
              <a:off x="350439" y="120418"/>
              <a:ext cx="4852610" cy="523220"/>
            </a:xfrm>
            <a:prstGeom prst="rect">
              <a:avLst/>
            </a:prstGeom>
            <a:noFill/>
          </p:spPr>
          <p:txBody>
            <a:bodyPr wrap="none" rtlCol="0">
              <a:spAutoFit/>
            </a:bodyPr>
            <a:lstStyle/>
            <a:p>
              <a:pPr>
                <a:defRPr/>
              </a:pPr>
              <a:r>
                <a:rPr lang="zh-CN" altLang="en-US" sz="2800" b="1">
                  <a:solidFill>
                    <a:prstClr val="white"/>
                  </a:solidFill>
                  <a:cs typeface="+mn-ea"/>
                  <a:sym typeface="+mn-lt"/>
                </a:rPr>
                <a:t>自注意力和前馈注意力的比较</a:t>
              </a:r>
            </a:p>
          </p:txBody>
        </p:sp>
      </p:grpSp>
    </p:spTree>
    <p:extLst>
      <p:ext uri="{BB962C8B-B14F-4D97-AF65-F5344CB8AC3E}">
        <p14:creationId xmlns:p14="http://schemas.microsoft.com/office/powerpoint/2010/main" val="2912757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F7DA3-DE38-B5C2-73E2-3EDD0ED4829A}"/>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1AB902DE-F728-1CE6-DCE0-D5CB5C3BD382}"/>
              </a:ext>
            </a:extLst>
          </p:cNvPr>
          <p:cNvGrpSpPr/>
          <p:nvPr/>
        </p:nvGrpSpPr>
        <p:grpSpPr>
          <a:xfrm>
            <a:off x="0" y="-1589"/>
            <a:ext cx="12191999" cy="768585"/>
            <a:chOff x="0" y="-1589"/>
            <a:chExt cx="12191999" cy="768585"/>
          </a:xfrm>
        </p:grpSpPr>
        <p:grpSp>
          <p:nvGrpSpPr>
            <p:cNvPr id="19" name="Group 9">
              <a:extLst>
                <a:ext uri="{FF2B5EF4-FFF2-40B4-BE49-F238E27FC236}">
                  <a16:creationId xmlns:a16="http://schemas.microsoft.com/office/drawing/2014/main" id="{27DE83F9-08F6-6805-F4C2-C35A9CBF84FA}"/>
                </a:ext>
              </a:extLst>
            </p:cNvPr>
            <p:cNvGrpSpPr>
              <a:grpSpLocks noChangeAspect="1"/>
            </p:cNvGrpSpPr>
            <p:nvPr/>
          </p:nvGrpSpPr>
          <p:grpSpPr bwMode="auto">
            <a:xfrm>
              <a:off x="0" y="-1589"/>
              <a:ext cx="12191999" cy="767234"/>
              <a:chOff x="-1" y="-1"/>
              <a:chExt cx="7719" cy="568"/>
            </a:xfrm>
          </p:grpSpPr>
          <p:sp>
            <p:nvSpPr>
              <p:cNvPr id="31" name="Freeform 30">
                <a:extLst>
                  <a:ext uri="{FF2B5EF4-FFF2-40B4-BE49-F238E27FC236}">
                    <a16:creationId xmlns:a16="http://schemas.microsoft.com/office/drawing/2014/main" id="{D3209CDD-3C3D-1360-3E63-99167AB96A36}"/>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33" name="AutoShape 8">
                <a:extLst>
                  <a:ext uri="{FF2B5EF4-FFF2-40B4-BE49-F238E27FC236}">
                    <a16:creationId xmlns:a16="http://schemas.microsoft.com/office/drawing/2014/main" id="{6793B3E6-5074-2524-4DB2-42061D04526B}"/>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23" name="任意多边形: 形状 12">
              <a:extLst>
                <a:ext uri="{FF2B5EF4-FFF2-40B4-BE49-F238E27FC236}">
                  <a16:creationId xmlns:a16="http://schemas.microsoft.com/office/drawing/2014/main" id="{F96DB24A-B460-1AB6-CB64-3A325E33B3DB}"/>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28" name="文本框 18">
              <a:extLst>
                <a:ext uri="{FF2B5EF4-FFF2-40B4-BE49-F238E27FC236}">
                  <a16:creationId xmlns:a16="http://schemas.microsoft.com/office/drawing/2014/main" id="{CF818367-5B52-4ACB-4D06-627760A14990}"/>
                </a:ext>
              </a:extLst>
            </p:cNvPr>
            <p:cNvSpPr txBox="1"/>
            <p:nvPr/>
          </p:nvSpPr>
          <p:spPr>
            <a:xfrm>
              <a:off x="350439" y="120418"/>
              <a:ext cx="4852610" cy="523220"/>
            </a:xfrm>
            <a:prstGeom prst="rect">
              <a:avLst/>
            </a:prstGeom>
            <a:noFill/>
          </p:spPr>
          <p:txBody>
            <a:bodyPr wrap="none" rtlCol="0">
              <a:spAutoFit/>
            </a:bodyPr>
            <a:lstStyle/>
            <a:p>
              <a:pPr>
                <a:defRPr/>
              </a:pPr>
              <a:r>
                <a:rPr lang="zh-CN" altLang="en-US" sz="2800" b="1">
                  <a:solidFill>
                    <a:prstClr val="white"/>
                  </a:solidFill>
                  <a:cs typeface="+mn-ea"/>
                  <a:sym typeface="+mn-lt"/>
                </a:rPr>
                <a:t>自注意力和前馈注意力的比较</a:t>
              </a:r>
            </a:p>
          </p:txBody>
        </p:sp>
      </p:grpSp>
      <p:sp>
        <p:nvSpPr>
          <p:cNvPr id="35" name="TextBox 34">
            <a:extLst>
              <a:ext uri="{FF2B5EF4-FFF2-40B4-BE49-F238E27FC236}">
                <a16:creationId xmlns:a16="http://schemas.microsoft.com/office/drawing/2014/main" id="{26EC866C-5ECF-B283-086A-B1C8ED633905}"/>
              </a:ext>
            </a:extLst>
          </p:cNvPr>
          <p:cNvSpPr txBox="1"/>
          <p:nvPr/>
        </p:nvSpPr>
        <p:spPr>
          <a:xfrm>
            <a:off x="350439" y="886301"/>
            <a:ext cx="11317820" cy="4839723"/>
          </a:xfrm>
          <a:prstGeom prst="rect">
            <a:avLst/>
          </a:prstGeom>
          <a:noFill/>
        </p:spPr>
        <p:txBody>
          <a:bodyPr wrap="square">
            <a:spAutoFit/>
          </a:bodyPr>
          <a:lstStyle/>
          <a:p>
            <a:pPr marL="228600" indent="-457200" algn="just">
              <a:lnSpc>
                <a:spcPct val="130000"/>
              </a:lnSpc>
              <a:spcBef>
                <a:spcPts val="1000"/>
              </a:spcBef>
              <a:buFont typeface="Wingdings" panose="05000000000000000000" pitchFamily="2" charset="2"/>
              <a:buChar char="p"/>
              <a:defRPr/>
            </a:pPr>
            <a:r>
              <a:rPr lang="zh-CN" altLang="en-US" sz="2400" b="1" kern="100" dirty="0">
                <a:solidFill>
                  <a:prstClr val="black"/>
                </a:solidFill>
                <a:cs typeface="+mn-ea"/>
              </a:rPr>
              <a:t>自注意力（</a:t>
            </a:r>
            <a:r>
              <a:rPr lang="en-US" altLang="en-US" sz="2400" b="1" kern="100" dirty="0">
                <a:solidFill>
                  <a:prstClr val="black"/>
                </a:solidFill>
                <a:cs typeface="+mn-ea"/>
              </a:rPr>
              <a:t>Self-Attention）</a:t>
            </a:r>
          </a:p>
          <a:p>
            <a:pPr marL="1143000" lvl="2" indent="-457200" algn="just">
              <a:lnSpc>
                <a:spcPct val="130000"/>
              </a:lnSpc>
              <a:spcBef>
                <a:spcPts val="1000"/>
              </a:spcBef>
              <a:buFont typeface="Wingdings" panose="05000000000000000000" pitchFamily="2" charset="2"/>
              <a:buChar char="p"/>
              <a:defRPr/>
            </a:pPr>
            <a:r>
              <a:rPr lang="zh-CN" altLang="en-US" sz="2000" kern="100" dirty="0">
                <a:solidFill>
                  <a:prstClr val="black"/>
                </a:solidFill>
                <a:cs typeface="+mn-ea"/>
              </a:rPr>
              <a:t>利用查询（</a:t>
            </a:r>
            <a:r>
              <a:rPr lang="en-US" altLang="en-US" sz="2000" kern="100" dirty="0">
                <a:solidFill>
                  <a:prstClr val="black"/>
                </a:solidFill>
                <a:cs typeface="+mn-ea"/>
              </a:rPr>
              <a:t>Q）、</a:t>
            </a:r>
            <a:r>
              <a:rPr lang="zh-CN" altLang="en-US" sz="2000" kern="100" dirty="0">
                <a:solidFill>
                  <a:prstClr val="black"/>
                </a:solidFill>
                <a:cs typeface="+mn-ea"/>
              </a:rPr>
              <a:t>键（</a:t>
            </a:r>
            <a:r>
              <a:rPr lang="en-US" altLang="en-US" sz="2000" kern="100" dirty="0">
                <a:solidFill>
                  <a:prstClr val="black"/>
                </a:solidFill>
                <a:cs typeface="+mn-ea"/>
              </a:rPr>
              <a:t>K）、</a:t>
            </a:r>
            <a:r>
              <a:rPr lang="zh-CN" altLang="en-US" sz="2000" kern="100" dirty="0">
                <a:solidFill>
                  <a:prstClr val="black"/>
                </a:solidFill>
                <a:cs typeface="+mn-ea"/>
              </a:rPr>
              <a:t>值（</a:t>
            </a:r>
            <a:r>
              <a:rPr lang="en-US" altLang="en-US" sz="2000" kern="100" dirty="0">
                <a:solidFill>
                  <a:prstClr val="black"/>
                </a:solidFill>
                <a:cs typeface="+mn-ea"/>
              </a:rPr>
              <a:t>V）</a:t>
            </a:r>
            <a:r>
              <a:rPr lang="zh-CN" altLang="en-US" sz="2000" kern="100" dirty="0">
                <a:solidFill>
                  <a:prstClr val="black"/>
                </a:solidFill>
                <a:cs typeface="+mn-ea"/>
              </a:rPr>
              <a:t>计算相似度，动态调整信息权重</a:t>
            </a:r>
          </a:p>
          <a:p>
            <a:pPr marL="1143000" lvl="2" indent="-457200" algn="just">
              <a:lnSpc>
                <a:spcPct val="130000"/>
              </a:lnSpc>
              <a:spcBef>
                <a:spcPts val="1000"/>
              </a:spcBef>
              <a:buFont typeface="Wingdings" panose="05000000000000000000" pitchFamily="2" charset="2"/>
              <a:buChar char="p"/>
              <a:defRPr/>
            </a:pPr>
            <a:r>
              <a:rPr lang="zh-CN" altLang="en-US" sz="2000" kern="100" dirty="0">
                <a:solidFill>
                  <a:prstClr val="black"/>
                </a:solidFill>
                <a:cs typeface="+mn-ea"/>
              </a:rPr>
              <a:t>可直接捕捉任意位置之间的长程依赖</a:t>
            </a:r>
          </a:p>
          <a:p>
            <a:pPr marL="1143000" lvl="2" indent="-457200" algn="just">
              <a:lnSpc>
                <a:spcPct val="130000"/>
              </a:lnSpc>
              <a:spcBef>
                <a:spcPts val="1000"/>
              </a:spcBef>
              <a:buFont typeface="Wingdings" panose="05000000000000000000" pitchFamily="2" charset="2"/>
              <a:buChar char="p"/>
              <a:defRPr/>
            </a:pPr>
            <a:r>
              <a:rPr lang="zh-CN" altLang="en-US" sz="2000" kern="100" dirty="0">
                <a:solidFill>
                  <a:prstClr val="black"/>
                </a:solidFill>
                <a:cs typeface="+mn-ea"/>
              </a:rPr>
              <a:t>多头机制允许在不同子空间中并行学习多种模式</a:t>
            </a:r>
          </a:p>
          <a:p>
            <a:pPr marL="1143000" lvl="2" indent="-457200" algn="just">
              <a:lnSpc>
                <a:spcPct val="130000"/>
              </a:lnSpc>
              <a:spcBef>
                <a:spcPts val="1000"/>
              </a:spcBef>
              <a:buFont typeface="Wingdings" panose="05000000000000000000" pitchFamily="2" charset="2"/>
              <a:buChar char="p"/>
              <a:defRPr/>
            </a:pPr>
            <a:r>
              <a:rPr lang="zh-CN" altLang="en-US" sz="2000" kern="100" dirty="0">
                <a:solidFill>
                  <a:prstClr val="black"/>
                </a:solidFill>
                <a:cs typeface="+mn-ea"/>
              </a:rPr>
              <a:t>信息交互充分，实现全局与局部特征融合</a:t>
            </a:r>
          </a:p>
          <a:p>
            <a:pPr marL="228600" indent="-457200" algn="just">
              <a:lnSpc>
                <a:spcPct val="130000"/>
              </a:lnSpc>
              <a:spcBef>
                <a:spcPts val="1000"/>
              </a:spcBef>
              <a:buFont typeface="Wingdings" panose="05000000000000000000" pitchFamily="2" charset="2"/>
              <a:buChar char="p"/>
              <a:defRPr/>
            </a:pPr>
            <a:r>
              <a:rPr lang="zh-CN" altLang="en-US" sz="2400" b="1" kern="100" dirty="0">
                <a:solidFill>
                  <a:prstClr val="black"/>
                </a:solidFill>
                <a:cs typeface="+mn-ea"/>
              </a:rPr>
              <a:t>前馈注意力（</a:t>
            </a:r>
            <a:r>
              <a:rPr lang="en-US" altLang="en-US" sz="2400" b="1" kern="100" dirty="0">
                <a:solidFill>
                  <a:prstClr val="black"/>
                </a:solidFill>
                <a:cs typeface="+mn-ea"/>
              </a:rPr>
              <a:t>Feedforward Network）</a:t>
            </a:r>
          </a:p>
          <a:p>
            <a:pPr marL="1143000" lvl="2" indent="-457200" algn="just">
              <a:lnSpc>
                <a:spcPct val="130000"/>
              </a:lnSpc>
              <a:spcBef>
                <a:spcPts val="1000"/>
              </a:spcBef>
              <a:buFont typeface="Wingdings" panose="05000000000000000000" pitchFamily="2" charset="2"/>
              <a:buChar char="p"/>
              <a:defRPr/>
            </a:pPr>
            <a:r>
              <a:rPr lang="zh-CN" altLang="en-US" sz="2000" kern="100" dirty="0">
                <a:solidFill>
                  <a:prstClr val="black"/>
                </a:solidFill>
                <a:cs typeface="+mn-ea"/>
              </a:rPr>
              <a:t>采用固定的非线性变换，每个位置独立处理</a:t>
            </a:r>
          </a:p>
          <a:p>
            <a:pPr marL="1143000" lvl="2" indent="-457200" algn="just">
              <a:lnSpc>
                <a:spcPct val="130000"/>
              </a:lnSpc>
              <a:spcBef>
                <a:spcPts val="1000"/>
              </a:spcBef>
              <a:buFont typeface="Wingdings" panose="05000000000000000000" pitchFamily="2" charset="2"/>
              <a:buChar char="p"/>
              <a:defRPr/>
            </a:pPr>
            <a:r>
              <a:rPr lang="zh-CN" altLang="en-US" sz="2000" kern="100" dirty="0">
                <a:solidFill>
                  <a:prstClr val="black"/>
                </a:solidFill>
                <a:cs typeface="+mn-ea"/>
              </a:rPr>
              <a:t>难以显式捕捉跨位置的信息交互</a:t>
            </a:r>
          </a:p>
          <a:p>
            <a:pPr marL="1143000" lvl="2" indent="-457200" algn="just">
              <a:lnSpc>
                <a:spcPct val="130000"/>
              </a:lnSpc>
              <a:spcBef>
                <a:spcPts val="1000"/>
              </a:spcBef>
              <a:buFont typeface="Wingdings" panose="05000000000000000000" pitchFamily="2" charset="2"/>
              <a:buChar char="p"/>
              <a:defRPr/>
            </a:pPr>
            <a:r>
              <a:rPr lang="zh-CN" altLang="en-US" sz="2000" kern="100" dirty="0">
                <a:solidFill>
                  <a:prstClr val="black"/>
                </a:solidFill>
                <a:cs typeface="+mn-ea"/>
              </a:rPr>
              <a:t>主要用于局部特征转换，表达能力受限</a:t>
            </a:r>
          </a:p>
        </p:txBody>
      </p:sp>
    </p:spTree>
    <p:extLst>
      <p:ext uri="{BB962C8B-B14F-4D97-AF65-F5344CB8AC3E}">
        <p14:creationId xmlns:p14="http://schemas.microsoft.com/office/powerpoint/2010/main" val="1547340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5">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5">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7634E125-79E6-E248-B428-EDF66C3A6801}"/>
              </a:ext>
            </a:extLst>
          </p:cNvPr>
          <p:cNvGrpSpPr/>
          <p:nvPr/>
        </p:nvGrpSpPr>
        <p:grpSpPr>
          <a:xfrm>
            <a:off x="0" y="-1589"/>
            <a:ext cx="12191999" cy="768585"/>
            <a:chOff x="0" y="-1589"/>
            <a:chExt cx="12191999" cy="768585"/>
          </a:xfrm>
        </p:grpSpPr>
        <p:grpSp>
          <p:nvGrpSpPr>
            <p:cNvPr id="5" name="Group 9">
              <a:extLst>
                <a:ext uri="{FF2B5EF4-FFF2-40B4-BE49-F238E27FC236}">
                  <a16:creationId xmlns:a16="http://schemas.microsoft.com/office/drawing/2014/main" id="{81FB4377-48B8-96FF-759A-335DB4599B66}"/>
                </a:ext>
              </a:extLst>
            </p:cNvPr>
            <p:cNvGrpSpPr>
              <a:grpSpLocks noChangeAspect="1"/>
            </p:cNvGrpSpPr>
            <p:nvPr/>
          </p:nvGrpSpPr>
          <p:grpSpPr bwMode="auto">
            <a:xfrm>
              <a:off x="0" y="-1589"/>
              <a:ext cx="12191999" cy="767234"/>
              <a:chOff x="-1" y="-1"/>
              <a:chExt cx="7719" cy="568"/>
            </a:xfrm>
          </p:grpSpPr>
          <p:sp>
            <p:nvSpPr>
              <p:cNvPr id="8" name="Freeform 7">
                <a:extLst>
                  <a:ext uri="{FF2B5EF4-FFF2-40B4-BE49-F238E27FC236}">
                    <a16:creationId xmlns:a16="http://schemas.microsoft.com/office/drawing/2014/main" id="{A7CA797B-6280-EE90-C49E-37D29B007FDC}"/>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9" name="AutoShape 8">
                <a:extLst>
                  <a:ext uri="{FF2B5EF4-FFF2-40B4-BE49-F238E27FC236}">
                    <a16:creationId xmlns:a16="http://schemas.microsoft.com/office/drawing/2014/main" id="{0B897587-BCBB-4AE5-C718-DD264BC69CC6}"/>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6" name="任意多边形: 形状 12">
              <a:extLst>
                <a:ext uri="{FF2B5EF4-FFF2-40B4-BE49-F238E27FC236}">
                  <a16:creationId xmlns:a16="http://schemas.microsoft.com/office/drawing/2014/main" id="{E1485D72-3F69-9509-DF9D-05FBFBE7D4A3}"/>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7" name="文本框 18">
              <a:extLst>
                <a:ext uri="{FF2B5EF4-FFF2-40B4-BE49-F238E27FC236}">
                  <a16:creationId xmlns:a16="http://schemas.microsoft.com/office/drawing/2014/main" id="{2C103443-A374-D514-6218-1054E886A7D1}"/>
                </a:ext>
              </a:extLst>
            </p:cNvPr>
            <p:cNvSpPr txBox="1"/>
            <p:nvPr/>
          </p:nvSpPr>
          <p:spPr>
            <a:xfrm>
              <a:off x="350439" y="120418"/>
              <a:ext cx="902811" cy="523220"/>
            </a:xfrm>
            <a:prstGeom prst="rect">
              <a:avLst/>
            </a:prstGeom>
            <a:noFill/>
          </p:spPr>
          <p:txBody>
            <a:bodyPr wrap="none" rtlCol="0">
              <a:spAutoFit/>
            </a:bodyPr>
            <a:lstStyle/>
            <a:p>
              <a:pPr>
                <a:defRPr/>
              </a:pPr>
              <a:r>
                <a:rPr lang="zh-CN" altLang="en-US" sz="2800" b="1" dirty="0">
                  <a:solidFill>
                    <a:prstClr val="white"/>
                  </a:solidFill>
                  <a:cs typeface="+mn-ea"/>
                  <a:sym typeface="+mn-lt"/>
                </a:rPr>
                <a:t>总结</a:t>
              </a:r>
            </a:p>
          </p:txBody>
        </p:sp>
      </p:grpSp>
      <mc:AlternateContent xmlns:mc="http://schemas.openxmlformats.org/markup-compatibility/2006" xmlns:a14="http://schemas.microsoft.com/office/drawing/2010/main">
        <mc:Choice Requires="a14">
          <p:sp>
            <p:nvSpPr>
              <p:cNvPr id="10" name="文本框 24">
                <a:extLst>
                  <a:ext uri="{FF2B5EF4-FFF2-40B4-BE49-F238E27FC236}">
                    <a16:creationId xmlns:a16="http://schemas.microsoft.com/office/drawing/2014/main" id="{AF6CB7F8-088E-BA1E-09BA-1B654F4EAA8C}"/>
                  </a:ext>
                </a:extLst>
              </p:cNvPr>
              <p:cNvSpPr txBox="1"/>
              <p:nvPr/>
            </p:nvSpPr>
            <p:spPr>
              <a:xfrm>
                <a:off x="657774" y="841589"/>
                <a:ext cx="10723240" cy="5457328"/>
              </a:xfrm>
              <a:prstGeom prst="rect">
                <a:avLst/>
              </a:prstGeom>
              <a:noFill/>
              <a:ln w="19050">
                <a:noFill/>
              </a:ln>
            </p:spPr>
            <p:txBody>
              <a:bodyPr wrap="square">
                <a:spAutoFit/>
              </a:bodyPr>
              <a:lstStyle/>
              <a:p>
                <a:pPr marL="457200" indent="-457200" algn="just">
                  <a:lnSpc>
                    <a:spcPct val="150000"/>
                  </a:lnSpc>
                  <a:buFont typeface="Wingdings" panose="05000000000000000000" pitchFamily="2" charset="2"/>
                  <a:buChar char="p"/>
                  <a:defRPr/>
                </a:pPr>
                <a:r>
                  <a:rPr lang="en-US" sz="2400" b="1" dirty="0"/>
                  <a:t>RNN / </a:t>
                </a:r>
                <a:r>
                  <a:rPr lang="zh-CN" altLang="en-US" sz="2400" b="1" dirty="0"/>
                  <a:t>前馈注意力的局限</a:t>
                </a:r>
                <a:endParaRPr lang="en-US" altLang="zh-CN" sz="2400" b="1" dirty="0"/>
              </a:p>
              <a:p>
                <a:pPr marL="914400" lvl="1" indent="-457200" algn="just">
                  <a:lnSpc>
                    <a:spcPct val="150000"/>
                  </a:lnSpc>
                  <a:buFont typeface="Arial" panose="020B0604020202020204" pitchFamily="34" charset="0"/>
                  <a:buChar char="•"/>
                  <a:defRPr/>
                </a:pPr>
                <a:r>
                  <a:rPr lang="zh-CN" altLang="en-US" sz="2400" dirty="0"/>
                  <a:t>难以捕捉长程依赖与跨位置信息</a:t>
                </a:r>
                <a:endParaRPr lang="en-US" altLang="zh-CN" sz="2400" dirty="0"/>
              </a:p>
              <a:p>
                <a:pPr marL="914400" lvl="1" indent="-457200" algn="just">
                  <a:lnSpc>
                    <a:spcPct val="150000"/>
                  </a:lnSpc>
                  <a:buFont typeface="Arial" panose="020B0604020202020204" pitchFamily="34" charset="0"/>
                  <a:buChar char="•"/>
                  <a:defRPr/>
                </a:pPr>
                <a:r>
                  <a:rPr lang="zh-CN" altLang="en-US" sz="2400" dirty="0"/>
                  <a:t>独立位置、静态映射、向量空间不匹配，缺乏语义对齐</a:t>
                </a:r>
                <a:endParaRPr lang="en-US" altLang="zh-CN" sz="2400" dirty="0"/>
              </a:p>
              <a:p>
                <a:pPr marL="457200" indent="-457200" algn="just">
                  <a:lnSpc>
                    <a:spcPct val="150000"/>
                  </a:lnSpc>
                  <a:buFont typeface="Wingdings" panose="05000000000000000000" pitchFamily="2" charset="2"/>
                  <a:buChar char="p"/>
                  <a:defRPr/>
                </a:pPr>
                <a:r>
                  <a:rPr lang="zh-CN" altLang="en-US" sz="2400" b="1" dirty="0"/>
                  <a:t>自注意力计算流程</a:t>
                </a:r>
                <a:endParaRPr lang="en-US" altLang="zh-CN" sz="2400" b="1" dirty="0"/>
              </a:p>
              <a:p>
                <a:pPr marL="914400" lvl="1" indent="-457200" algn="just">
                  <a:lnSpc>
                    <a:spcPct val="150000"/>
                  </a:lnSpc>
                  <a:buFont typeface="Arial" panose="020B0604020202020204" pitchFamily="34" charset="0"/>
                  <a:buChar char="•"/>
                  <a:defRPr/>
                </a:pPr>
                <a:r>
                  <a:rPr lang="zh-CN" altLang="en-US" sz="2400" dirty="0"/>
                  <a:t>查询 </a:t>
                </a:r>
                <a14:m>
                  <m:oMath xmlns:m="http://schemas.openxmlformats.org/officeDocument/2006/math">
                    <m:r>
                      <a:rPr lang="en-US" sz="2400" i="1" dirty="0" smtClean="0">
                        <a:latin typeface="Cambria Math" panose="02040503050406030204" pitchFamily="18" charset="0"/>
                      </a:rPr>
                      <m:t>𝑄</m:t>
                    </m:r>
                    <m:r>
                      <a:rPr lang="en-US" sz="2400" i="1" dirty="0" smtClean="0">
                        <a:latin typeface="Cambria Math" panose="02040503050406030204" pitchFamily="18" charset="0"/>
                      </a:rPr>
                      <m:t>=</m:t>
                    </m:r>
                    <m:sSup>
                      <m:sSupPr>
                        <m:ctrlPr>
                          <a:rPr lang="en-US" altLang="zh-CN" sz="2400" b="0" i="1" dirty="0" smtClean="0">
                            <a:latin typeface="Cambria Math" panose="02040503050406030204" pitchFamily="18" charset="0"/>
                          </a:rPr>
                        </m:ctrlPr>
                      </m:sSupPr>
                      <m:e>
                        <m:r>
                          <a:rPr lang="en-US" sz="2400" i="1" dirty="0" err="1" smtClean="0">
                            <a:latin typeface="Cambria Math" panose="02040503050406030204" pitchFamily="18" charset="0"/>
                          </a:rPr>
                          <m:t>𝑊</m:t>
                        </m:r>
                      </m:e>
                      <m:sup>
                        <m:r>
                          <a:rPr lang="en-US" sz="2400" i="1" dirty="0">
                            <a:latin typeface="Cambria Math" panose="02040503050406030204" pitchFamily="18" charset="0"/>
                          </a:rPr>
                          <m:t>𝑄</m:t>
                        </m:r>
                      </m:sup>
                    </m:sSup>
                    <m:r>
                      <a:rPr lang="en-US" altLang="zh-CN" sz="2400" b="0" i="1" dirty="0" smtClean="0">
                        <a:latin typeface="Cambria Math" panose="02040503050406030204" pitchFamily="18" charset="0"/>
                      </a:rPr>
                      <m:t>𝑋</m:t>
                    </m:r>
                  </m:oMath>
                </a14:m>
                <a:r>
                  <a:rPr lang="en-US" altLang="zh-CN" sz="2400" dirty="0"/>
                  <a:t>;</a:t>
                </a:r>
                <a:r>
                  <a:rPr lang="zh-CN" altLang="en-US" sz="2400" dirty="0"/>
                  <a:t>键</a:t>
                </a:r>
                <a14:m>
                  <m:oMath xmlns:m="http://schemas.openxmlformats.org/officeDocument/2006/math">
                    <m:r>
                      <m:rPr>
                        <m:sty m:val="p"/>
                      </m:rPr>
                      <a:rPr lang="en-US" altLang="zh-CN" sz="2400" b="0" i="0" dirty="0" smtClean="0">
                        <a:latin typeface="Cambria Math" panose="02040503050406030204" pitchFamily="18" charset="0"/>
                      </a:rPr>
                      <m:t>K</m:t>
                    </m:r>
                    <m:r>
                      <a:rPr lang="en-US" sz="2400" i="1" dirty="0">
                        <a:latin typeface="Cambria Math" panose="02040503050406030204" pitchFamily="18" charset="0"/>
                      </a:rPr>
                      <m:t>=</m:t>
                    </m:r>
                    <m:sSup>
                      <m:sSupPr>
                        <m:ctrlPr>
                          <a:rPr lang="en-US" altLang="zh-CN" sz="2400" i="1" dirty="0">
                            <a:latin typeface="Cambria Math" panose="02040503050406030204" pitchFamily="18" charset="0"/>
                          </a:rPr>
                        </m:ctrlPr>
                      </m:sSupPr>
                      <m:e>
                        <m:r>
                          <a:rPr lang="en-US" sz="2400" i="1" dirty="0" err="1">
                            <a:latin typeface="Cambria Math" panose="02040503050406030204" pitchFamily="18" charset="0"/>
                          </a:rPr>
                          <m:t>𝑊</m:t>
                        </m:r>
                      </m:e>
                      <m:sup>
                        <m:r>
                          <a:rPr lang="en-US" altLang="zh-CN" sz="2400" b="0" i="1" dirty="0" smtClean="0">
                            <a:latin typeface="Cambria Math" panose="02040503050406030204" pitchFamily="18" charset="0"/>
                          </a:rPr>
                          <m:t>𝐾</m:t>
                        </m:r>
                      </m:sup>
                    </m:sSup>
                    <m:r>
                      <a:rPr lang="en-US" altLang="zh-CN" sz="2400" i="1" dirty="0">
                        <a:latin typeface="Cambria Math" panose="02040503050406030204" pitchFamily="18" charset="0"/>
                      </a:rPr>
                      <m:t>𝑋</m:t>
                    </m:r>
                  </m:oMath>
                </a14:m>
                <a:r>
                  <a:rPr lang="en-US" sz="2400" dirty="0"/>
                  <a:t>，</a:t>
                </a:r>
                <a:r>
                  <a:rPr lang="zh-CN" altLang="en-US" sz="2400" dirty="0"/>
                  <a:t>值 </a:t>
                </a:r>
                <a14:m>
                  <m:oMath xmlns:m="http://schemas.openxmlformats.org/officeDocument/2006/math">
                    <m:r>
                      <m:rPr>
                        <m:sty m:val="p"/>
                      </m:rPr>
                      <a:rPr lang="en-US" altLang="zh-CN" sz="2400" dirty="0" smtClean="0">
                        <a:latin typeface="Cambria Math" panose="02040503050406030204" pitchFamily="18" charset="0"/>
                      </a:rPr>
                      <m:t>V</m:t>
                    </m:r>
                    <m:r>
                      <a:rPr lang="en-US" sz="2400" i="1" dirty="0">
                        <a:latin typeface="Cambria Math" panose="02040503050406030204" pitchFamily="18" charset="0"/>
                      </a:rPr>
                      <m:t>=</m:t>
                    </m:r>
                    <m:sSup>
                      <m:sSupPr>
                        <m:ctrlPr>
                          <a:rPr lang="en-US" altLang="zh-CN" sz="2400" i="1" dirty="0">
                            <a:latin typeface="Cambria Math" panose="02040503050406030204" pitchFamily="18" charset="0"/>
                          </a:rPr>
                        </m:ctrlPr>
                      </m:sSupPr>
                      <m:e>
                        <m:r>
                          <a:rPr lang="en-US" sz="2400" i="1" dirty="0" err="1">
                            <a:latin typeface="Cambria Math" panose="02040503050406030204" pitchFamily="18" charset="0"/>
                          </a:rPr>
                          <m:t>𝑊</m:t>
                        </m:r>
                      </m:e>
                      <m:sup>
                        <m:r>
                          <a:rPr lang="en-US" altLang="zh-CN" sz="2400" b="0" i="1" dirty="0" smtClean="0">
                            <a:latin typeface="Cambria Math" panose="02040503050406030204" pitchFamily="18" charset="0"/>
                          </a:rPr>
                          <m:t>𝑉</m:t>
                        </m:r>
                      </m:sup>
                    </m:sSup>
                    <m:r>
                      <a:rPr lang="en-US" altLang="zh-CN" sz="2400" i="1" dirty="0">
                        <a:latin typeface="Cambria Math" panose="02040503050406030204" pitchFamily="18" charset="0"/>
                      </a:rPr>
                      <m:t>𝑋</m:t>
                    </m:r>
                  </m:oMath>
                </a14:m>
                <a:endParaRPr lang="en-US" sz="2400" dirty="0"/>
              </a:p>
              <a:p>
                <a:pPr marL="914400" lvl="1" indent="-457200" algn="just">
                  <a:lnSpc>
                    <a:spcPct val="150000"/>
                  </a:lnSpc>
                  <a:buFont typeface="Arial" panose="020B0604020202020204" pitchFamily="34" charset="0"/>
                  <a:buChar char="•"/>
                  <a:defRPr/>
                </a:pPr>
                <a:r>
                  <a:rPr lang="zh-CN" altLang="en-US" sz="2400" dirty="0"/>
                  <a:t>相似度计算：</a:t>
                </a:r>
                <a:r>
                  <a:rPr lang="en-US" altLang="zh-CN" sz="2400" b="0" dirty="0"/>
                  <a:t> </a:t>
                </a:r>
                <a14:m>
                  <m:oMath xmlns:m="http://schemas.openxmlformats.org/officeDocument/2006/math">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𝑄</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𝐾</m:t>
                            </m:r>
                          </m:e>
                          <m:sup>
                            <m:r>
                              <a:rPr lang="en-US" altLang="zh-CN" sz="2400" b="0" i="1" smtClean="0">
                                <a:latin typeface="Cambria Math" panose="02040503050406030204" pitchFamily="18" charset="0"/>
                              </a:rPr>
                              <m:t>𝑇</m:t>
                            </m:r>
                          </m:sup>
                        </m:sSup>
                      </m:num>
                      <m:den>
                        <m:rad>
                          <m:radPr>
                            <m:degHide m:val="on"/>
                            <m:ctrlPr>
                              <a:rPr lang="en-US" altLang="zh-CN" sz="2400" b="0" i="1" smtClean="0">
                                <a:latin typeface="Cambria Math" panose="02040503050406030204" pitchFamily="18" charset="0"/>
                              </a:rPr>
                            </m:ctrlPr>
                          </m:radPr>
                          <m:deg/>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𝑑</m:t>
                                </m:r>
                              </m:e>
                              <m:sub>
                                <m:r>
                                  <a:rPr lang="en-US" altLang="zh-CN" sz="2400" b="0" i="1" smtClean="0">
                                    <a:latin typeface="Cambria Math" panose="02040503050406030204" pitchFamily="18" charset="0"/>
                                  </a:rPr>
                                  <m:t>𝑘</m:t>
                                </m:r>
                              </m:sub>
                            </m:sSub>
                          </m:e>
                        </m:rad>
                      </m:den>
                    </m:f>
                  </m:oMath>
                </a14:m>
                <a:endParaRPr lang="en-US" sz="2400" dirty="0"/>
              </a:p>
              <a:p>
                <a:pPr marL="914400" lvl="1" indent="-457200" algn="just">
                  <a:lnSpc>
                    <a:spcPct val="150000"/>
                  </a:lnSpc>
                  <a:buFont typeface="Arial" panose="020B0604020202020204" pitchFamily="34" charset="0"/>
                  <a:buChar char="•"/>
                  <a:defRPr/>
                </a:pPr>
                <a:r>
                  <a:rPr lang="zh-CN" altLang="en-US" sz="2400" dirty="0"/>
                  <a:t>归一化：</a:t>
                </a:r>
                <a:r>
                  <a:rPr lang="en-US" sz="2400" dirty="0" err="1"/>
                  <a:t>Softmax</a:t>
                </a:r>
                <a:r>
                  <a:rPr lang="en-US" sz="2400" dirty="0"/>
                  <a:t> </a:t>
                </a:r>
                <a:r>
                  <a:rPr lang="zh-CN" altLang="en-US" sz="2400" dirty="0"/>
                  <a:t>得到权重</a:t>
                </a:r>
                <a:endParaRPr lang="en-US" altLang="zh-CN" sz="2400" dirty="0"/>
              </a:p>
              <a:p>
                <a:pPr marL="914400" lvl="1" indent="-457200" algn="just">
                  <a:lnSpc>
                    <a:spcPct val="150000"/>
                  </a:lnSpc>
                  <a:buFont typeface="Arial" panose="020B0604020202020204" pitchFamily="34" charset="0"/>
                  <a:buChar char="•"/>
                  <a:defRPr/>
                </a:pPr>
                <a:r>
                  <a:rPr lang="zh-CN" altLang="en-US" sz="2400" dirty="0"/>
                  <a:t>聚合：权重乘以 </a:t>
                </a:r>
                <a14:m>
                  <m:oMath xmlns:m="http://schemas.openxmlformats.org/officeDocument/2006/math">
                    <m:r>
                      <a:rPr lang="en-US" sz="2400" i="1" dirty="0" smtClean="0">
                        <a:latin typeface="Cambria Math" panose="02040503050406030204" pitchFamily="18" charset="0"/>
                      </a:rPr>
                      <m:t>𝑉</m:t>
                    </m:r>
                  </m:oMath>
                </a14:m>
                <a:r>
                  <a:rPr lang="en-US" sz="2400" dirty="0"/>
                  <a:t>，</a:t>
                </a:r>
                <a:r>
                  <a:rPr lang="zh-CN" altLang="en-US" sz="2400" dirty="0"/>
                  <a:t>实现全局信息汇聚</a:t>
                </a:r>
                <a:endParaRPr lang="en-US" altLang="zh-CN" sz="2400" dirty="0"/>
              </a:p>
              <a:p>
                <a:pPr marL="457200" indent="-457200" algn="just">
                  <a:lnSpc>
                    <a:spcPct val="150000"/>
                  </a:lnSpc>
                  <a:buFont typeface="Wingdings" panose="05000000000000000000" pitchFamily="2" charset="2"/>
                  <a:buChar char="p"/>
                  <a:defRPr/>
                </a:pPr>
                <a:r>
                  <a:rPr lang="zh-CN" altLang="en-US" sz="2400" b="1" dirty="0"/>
                  <a:t>自注意力实现动态语义对齐与再分配</a:t>
                </a:r>
              </a:p>
            </p:txBody>
          </p:sp>
        </mc:Choice>
        <mc:Fallback xmlns="">
          <p:sp>
            <p:nvSpPr>
              <p:cNvPr id="10" name="文本框 24">
                <a:extLst>
                  <a:ext uri="{FF2B5EF4-FFF2-40B4-BE49-F238E27FC236}">
                    <a16:creationId xmlns:a16="http://schemas.microsoft.com/office/drawing/2014/main" id="{AF6CB7F8-088E-BA1E-09BA-1B654F4EAA8C}"/>
                  </a:ext>
                </a:extLst>
              </p:cNvPr>
              <p:cNvSpPr txBox="1">
                <a:spLocks noRot="1" noChangeAspect="1" noMove="1" noResize="1" noEditPoints="1" noAdjustHandles="1" noChangeArrowheads="1" noChangeShapeType="1" noTextEdit="1"/>
              </p:cNvSpPr>
              <p:nvPr/>
            </p:nvSpPr>
            <p:spPr>
              <a:xfrm>
                <a:off x="657774" y="841589"/>
                <a:ext cx="10723240" cy="5457328"/>
              </a:xfrm>
              <a:prstGeom prst="rect">
                <a:avLst/>
              </a:prstGeom>
              <a:blipFill>
                <a:blip r:embed="rId3"/>
                <a:stretch>
                  <a:fillRect l="-709" b="-1860"/>
                </a:stretch>
              </a:blipFill>
              <a:ln w="19050">
                <a:noFill/>
              </a:ln>
            </p:spPr>
            <p:txBody>
              <a:bodyPr/>
              <a:lstStyle/>
              <a:p>
                <a:r>
                  <a:rPr lang="en-US">
                    <a:noFill/>
                  </a:rPr>
                  <a:t> </a:t>
                </a:r>
              </a:p>
            </p:txBody>
          </p:sp>
        </mc:Fallback>
      </mc:AlternateContent>
    </p:spTree>
    <p:extLst>
      <p:ext uri="{BB962C8B-B14F-4D97-AF65-F5344CB8AC3E}">
        <p14:creationId xmlns:p14="http://schemas.microsoft.com/office/powerpoint/2010/main" val="30754395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FED54-ACF5-76D5-68C8-2BBC41BEB074}"/>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8ACBA302-DEF1-D489-CFF9-7029133F057C}"/>
              </a:ext>
            </a:extLst>
          </p:cNvPr>
          <p:cNvGrpSpPr/>
          <p:nvPr/>
        </p:nvGrpSpPr>
        <p:grpSpPr>
          <a:xfrm>
            <a:off x="0" y="-1589"/>
            <a:ext cx="12191999" cy="768585"/>
            <a:chOff x="0" y="-1589"/>
            <a:chExt cx="12191999" cy="768585"/>
          </a:xfrm>
        </p:grpSpPr>
        <p:grpSp>
          <p:nvGrpSpPr>
            <p:cNvPr id="5" name="Group 9">
              <a:extLst>
                <a:ext uri="{FF2B5EF4-FFF2-40B4-BE49-F238E27FC236}">
                  <a16:creationId xmlns:a16="http://schemas.microsoft.com/office/drawing/2014/main" id="{8C36592F-BE93-8AE4-429F-E841A2DA1E8E}"/>
                </a:ext>
              </a:extLst>
            </p:cNvPr>
            <p:cNvGrpSpPr>
              <a:grpSpLocks noChangeAspect="1"/>
            </p:cNvGrpSpPr>
            <p:nvPr/>
          </p:nvGrpSpPr>
          <p:grpSpPr bwMode="auto">
            <a:xfrm>
              <a:off x="0" y="-1589"/>
              <a:ext cx="12191999" cy="767234"/>
              <a:chOff x="-1" y="-1"/>
              <a:chExt cx="7719" cy="568"/>
            </a:xfrm>
          </p:grpSpPr>
          <p:sp>
            <p:nvSpPr>
              <p:cNvPr id="8" name="Freeform 7">
                <a:extLst>
                  <a:ext uri="{FF2B5EF4-FFF2-40B4-BE49-F238E27FC236}">
                    <a16:creationId xmlns:a16="http://schemas.microsoft.com/office/drawing/2014/main" id="{B3DE9ADA-1A8F-BBCF-3407-A5DE0FFF33E4}"/>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9" name="AutoShape 8">
                <a:extLst>
                  <a:ext uri="{FF2B5EF4-FFF2-40B4-BE49-F238E27FC236}">
                    <a16:creationId xmlns:a16="http://schemas.microsoft.com/office/drawing/2014/main" id="{3DA7089D-E55E-9084-5C44-1D868A30A983}"/>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6" name="任意多边形: 形状 12">
              <a:extLst>
                <a:ext uri="{FF2B5EF4-FFF2-40B4-BE49-F238E27FC236}">
                  <a16:creationId xmlns:a16="http://schemas.microsoft.com/office/drawing/2014/main" id="{E436ED96-2B2A-0257-A84B-5E8A0117D937}"/>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7" name="文本框 18">
              <a:extLst>
                <a:ext uri="{FF2B5EF4-FFF2-40B4-BE49-F238E27FC236}">
                  <a16:creationId xmlns:a16="http://schemas.microsoft.com/office/drawing/2014/main" id="{B8D22A27-5B60-7514-94C2-CB593320AE8A}"/>
                </a:ext>
              </a:extLst>
            </p:cNvPr>
            <p:cNvSpPr txBox="1"/>
            <p:nvPr/>
          </p:nvSpPr>
          <p:spPr>
            <a:xfrm>
              <a:off x="350439" y="120418"/>
              <a:ext cx="902811" cy="523220"/>
            </a:xfrm>
            <a:prstGeom prst="rect">
              <a:avLst/>
            </a:prstGeom>
            <a:noFill/>
          </p:spPr>
          <p:txBody>
            <a:bodyPr wrap="none" rtlCol="0">
              <a:spAutoFit/>
            </a:bodyPr>
            <a:lstStyle/>
            <a:p>
              <a:pPr>
                <a:defRPr/>
              </a:pPr>
              <a:r>
                <a:rPr lang="zh-CN" altLang="en-US" sz="2800" b="1" dirty="0">
                  <a:solidFill>
                    <a:prstClr val="white"/>
                  </a:solidFill>
                  <a:cs typeface="+mn-ea"/>
                  <a:sym typeface="+mn-lt"/>
                </a:rPr>
                <a:t>总结</a:t>
              </a:r>
            </a:p>
          </p:txBody>
        </p:sp>
      </p:grpSp>
      <p:sp>
        <p:nvSpPr>
          <p:cNvPr id="10" name="文本框 24">
            <a:extLst>
              <a:ext uri="{FF2B5EF4-FFF2-40B4-BE49-F238E27FC236}">
                <a16:creationId xmlns:a16="http://schemas.microsoft.com/office/drawing/2014/main" id="{71B78564-7595-F113-0D27-55D035C29CD8}"/>
              </a:ext>
            </a:extLst>
          </p:cNvPr>
          <p:cNvSpPr txBox="1"/>
          <p:nvPr/>
        </p:nvSpPr>
        <p:spPr>
          <a:xfrm>
            <a:off x="657774" y="841589"/>
            <a:ext cx="10723240" cy="4783617"/>
          </a:xfrm>
          <a:prstGeom prst="rect">
            <a:avLst/>
          </a:prstGeom>
          <a:noFill/>
          <a:ln w="19050">
            <a:noFill/>
          </a:ln>
        </p:spPr>
        <p:txBody>
          <a:bodyPr wrap="square">
            <a:spAutoFit/>
          </a:bodyPr>
          <a:lstStyle/>
          <a:p>
            <a:pPr marL="228600" indent="-457200" algn="just">
              <a:lnSpc>
                <a:spcPct val="130000"/>
              </a:lnSpc>
              <a:spcBef>
                <a:spcPts val="1000"/>
              </a:spcBef>
              <a:buFont typeface="Wingdings" panose="05000000000000000000" pitchFamily="2" charset="2"/>
              <a:buChar char="p"/>
              <a:defRPr/>
            </a:pPr>
            <a:r>
              <a:rPr lang="zh-CN" altLang="en-US" sz="2400" b="1" kern="100" dirty="0">
                <a:solidFill>
                  <a:prstClr val="black"/>
                </a:solidFill>
                <a:cs typeface="+mn-ea"/>
              </a:rPr>
              <a:t>自注意力的优点</a:t>
            </a:r>
            <a:endParaRPr lang="en-US" altLang="zh-CN" sz="2400" b="1" kern="100" dirty="0">
              <a:solidFill>
                <a:prstClr val="black"/>
              </a:solidFill>
              <a:cs typeface="+mn-ea"/>
            </a:endParaRPr>
          </a:p>
          <a:p>
            <a:pPr marL="685800" lvl="1" indent="-457200" algn="just">
              <a:lnSpc>
                <a:spcPct val="130000"/>
              </a:lnSpc>
              <a:spcBef>
                <a:spcPts val="1000"/>
              </a:spcBef>
              <a:buFont typeface="Arial" panose="020B0604020202020204" pitchFamily="34" charset="0"/>
              <a:buChar char="•"/>
              <a:defRPr/>
            </a:pPr>
            <a:r>
              <a:rPr lang="zh-CN" altLang="en-US" sz="2400" b="1" dirty="0"/>
              <a:t>高并行性</a:t>
            </a:r>
            <a:r>
              <a:rPr lang="zh-CN" altLang="en-US" sz="2400" dirty="0"/>
              <a:t>：无需序列顺序，支持全序列同时计算</a:t>
            </a:r>
            <a:endParaRPr lang="en-US" altLang="zh-CN" sz="2400" dirty="0"/>
          </a:p>
          <a:p>
            <a:pPr marL="685800" lvl="1" indent="-457200" algn="just">
              <a:lnSpc>
                <a:spcPct val="130000"/>
              </a:lnSpc>
              <a:spcBef>
                <a:spcPts val="1000"/>
              </a:spcBef>
              <a:buFont typeface="Arial" panose="020B0604020202020204" pitchFamily="34" charset="0"/>
              <a:buChar char="•"/>
              <a:defRPr/>
            </a:pPr>
            <a:r>
              <a:rPr lang="zh-CN" altLang="en-US" sz="2400" b="1" dirty="0"/>
              <a:t>长程依赖捕捉</a:t>
            </a:r>
            <a:r>
              <a:rPr lang="zh-CN" altLang="en-US" sz="2400" dirty="0"/>
              <a:t>：直接建模任意位置间关联</a:t>
            </a:r>
            <a:endParaRPr lang="en-US" altLang="zh-CN" sz="2400" dirty="0"/>
          </a:p>
          <a:p>
            <a:pPr marL="685800" lvl="1" indent="-457200" algn="just">
              <a:lnSpc>
                <a:spcPct val="130000"/>
              </a:lnSpc>
              <a:spcBef>
                <a:spcPts val="1000"/>
              </a:spcBef>
              <a:buFont typeface="Arial" panose="020B0604020202020204" pitchFamily="34" charset="0"/>
              <a:buChar char="•"/>
              <a:defRPr/>
            </a:pPr>
            <a:r>
              <a:rPr lang="zh-CN" altLang="en-US" sz="2400" b="1" dirty="0"/>
              <a:t>动态权重分配</a:t>
            </a:r>
            <a:r>
              <a:rPr lang="zh-CN" altLang="en-US" sz="2400" dirty="0"/>
              <a:t>：根据输入内容自适应聚焦最相关上下文</a:t>
            </a:r>
          </a:p>
          <a:p>
            <a:pPr marL="228600" indent="-457200" algn="just">
              <a:lnSpc>
                <a:spcPct val="130000"/>
              </a:lnSpc>
              <a:spcBef>
                <a:spcPts val="1000"/>
              </a:spcBef>
              <a:buFont typeface="Wingdings" panose="05000000000000000000" pitchFamily="2" charset="2"/>
              <a:buChar char="p"/>
              <a:defRPr/>
            </a:pPr>
            <a:r>
              <a:rPr lang="zh-CN" altLang="en-US" sz="2400" b="1" kern="100" dirty="0">
                <a:solidFill>
                  <a:prstClr val="black"/>
                </a:solidFill>
                <a:cs typeface="+mn-ea"/>
              </a:rPr>
              <a:t>自注意力的局限</a:t>
            </a:r>
          </a:p>
          <a:p>
            <a:pPr marL="685800" lvl="1" indent="-457200" algn="just">
              <a:lnSpc>
                <a:spcPct val="130000"/>
              </a:lnSpc>
              <a:spcBef>
                <a:spcPts val="1000"/>
              </a:spcBef>
              <a:buFont typeface="Arial" panose="020B0604020202020204" pitchFamily="34" charset="0"/>
              <a:buChar char="•"/>
              <a:defRPr/>
            </a:pPr>
            <a:r>
              <a:rPr lang="zh-CN" altLang="en-US" sz="2400" b="1" dirty="0"/>
              <a:t>单一视角：</a:t>
            </a:r>
            <a:r>
              <a:rPr lang="zh-CN" altLang="en-US" sz="2400" dirty="0"/>
              <a:t>一次注意力只能聚焦一种模式，需要多头并行分担</a:t>
            </a:r>
          </a:p>
          <a:p>
            <a:pPr marL="685800" lvl="1" indent="-457200" algn="just">
              <a:lnSpc>
                <a:spcPct val="130000"/>
              </a:lnSpc>
              <a:spcBef>
                <a:spcPts val="1000"/>
              </a:spcBef>
              <a:buFont typeface="Arial" panose="020B0604020202020204" pitchFamily="34" charset="0"/>
              <a:buChar char="•"/>
              <a:defRPr/>
            </a:pPr>
            <a:r>
              <a:rPr lang="zh-CN" altLang="en-US" sz="2400" b="1" dirty="0"/>
              <a:t>深层表示不足：</a:t>
            </a:r>
            <a:r>
              <a:rPr lang="zh-CN" altLang="en-US" sz="2400" dirty="0"/>
              <a:t>纯自注意难学层次结构，需前馈层与多层堆叠</a:t>
            </a:r>
          </a:p>
          <a:p>
            <a:pPr marL="685800" lvl="1" indent="-457200" algn="just">
              <a:lnSpc>
                <a:spcPct val="130000"/>
              </a:lnSpc>
              <a:spcBef>
                <a:spcPts val="1000"/>
              </a:spcBef>
              <a:buFont typeface="Arial" panose="020B0604020202020204" pitchFamily="34" charset="0"/>
              <a:buChar char="•"/>
              <a:defRPr/>
            </a:pPr>
            <a:r>
              <a:rPr lang="zh-CN" altLang="en-US" sz="2400" b="1" dirty="0"/>
              <a:t>训练不稳定：</a:t>
            </a:r>
            <a:r>
              <a:rPr lang="zh-CN" altLang="en-US" sz="2400" dirty="0"/>
              <a:t>深层堆叠易导致梯度问题，需残差连接与归一化</a:t>
            </a:r>
          </a:p>
        </p:txBody>
      </p:sp>
    </p:spTree>
    <p:extLst>
      <p:ext uri="{BB962C8B-B14F-4D97-AF65-F5344CB8AC3E}">
        <p14:creationId xmlns:p14="http://schemas.microsoft.com/office/powerpoint/2010/main" val="17218493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EAFF8-633C-BDE5-58A5-EF638C3CD7B5}"/>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055D6100-DE4B-ADBE-747B-7F34704ADF1E}"/>
              </a:ext>
            </a:extLst>
          </p:cNvPr>
          <p:cNvGrpSpPr/>
          <p:nvPr/>
        </p:nvGrpSpPr>
        <p:grpSpPr>
          <a:xfrm>
            <a:off x="0" y="-1589"/>
            <a:ext cx="12191999" cy="768585"/>
            <a:chOff x="0" y="-1589"/>
            <a:chExt cx="12191999" cy="768585"/>
          </a:xfrm>
        </p:grpSpPr>
        <p:grpSp>
          <p:nvGrpSpPr>
            <p:cNvPr id="5" name="Group 9">
              <a:extLst>
                <a:ext uri="{FF2B5EF4-FFF2-40B4-BE49-F238E27FC236}">
                  <a16:creationId xmlns:a16="http://schemas.microsoft.com/office/drawing/2014/main" id="{FEB41695-4DAE-B3AC-1D20-E3B723246BB9}"/>
                </a:ext>
              </a:extLst>
            </p:cNvPr>
            <p:cNvGrpSpPr>
              <a:grpSpLocks noChangeAspect="1"/>
            </p:cNvGrpSpPr>
            <p:nvPr/>
          </p:nvGrpSpPr>
          <p:grpSpPr bwMode="auto">
            <a:xfrm>
              <a:off x="0" y="-1589"/>
              <a:ext cx="12191999" cy="767234"/>
              <a:chOff x="-1" y="-1"/>
              <a:chExt cx="7719" cy="568"/>
            </a:xfrm>
          </p:grpSpPr>
          <p:sp>
            <p:nvSpPr>
              <p:cNvPr id="8" name="Freeform 7">
                <a:extLst>
                  <a:ext uri="{FF2B5EF4-FFF2-40B4-BE49-F238E27FC236}">
                    <a16:creationId xmlns:a16="http://schemas.microsoft.com/office/drawing/2014/main" id="{E8B347F9-1316-12B6-08D9-47FCB57F2CB0}"/>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9" name="AutoShape 8">
                <a:extLst>
                  <a:ext uri="{FF2B5EF4-FFF2-40B4-BE49-F238E27FC236}">
                    <a16:creationId xmlns:a16="http://schemas.microsoft.com/office/drawing/2014/main" id="{77362E6A-6290-E559-93AF-1E2C4A20F68E}"/>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6" name="任意多边形: 形状 12">
              <a:extLst>
                <a:ext uri="{FF2B5EF4-FFF2-40B4-BE49-F238E27FC236}">
                  <a16:creationId xmlns:a16="http://schemas.microsoft.com/office/drawing/2014/main" id="{49AD8C16-2FBC-A27A-5100-EDF1BFA1F13F}"/>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7" name="文本框 18">
              <a:extLst>
                <a:ext uri="{FF2B5EF4-FFF2-40B4-BE49-F238E27FC236}">
                  <a16:creationId xmlns:a16="http://schemas.microsoft.com/office/drawing/2014/main" id="{98D3EF44-949F-9F7F-82D5-C0432FE278FD}"/>
                </a:ext>
              </a:extLst>
            </p:cNvPr>
            <p:cNvSpPr txBox="1"/>
            <p:nvPr/>
          </p:nvSpPr>
          <p:spPr>
            <a:xfrm>
              <a:off x="350439" y="120418"/>
              <a:ext cx="1620957" cy="523220"/>
            </a:xfrm>
            <a:prstGeom prst="rect">
              <a:avLst/>
            </a:prstGeom>
            <a:noFill/>
          </p:spPr>
          <p:txBody>
            <a:bodyPr wrap="none" rtlCol="0">
              <a:spAutoFit/>
            </a:bodyPr>
            <a:lstStyle/>
            <a:p>
              <a:pPr>
                <a:defRPr/>
              </a:pPr>
              <a:r>
                <a:rPr lang="zh-CN" altLang="en-US" sz="2800" b="1" dirty="0">
                  <a:solidFill>
                    <a:prstClr val="white"/>
                  </a:solidFill>
                  <a:cs typeface="+mn-ea"/>
                  <a:sym typeface="+mn-lt"/>
                </a:rPr>
                <a:t>参考阅读</a:t>
              </a:r>
            </a:p>
          </p:txBody>
        </p:sp>
      </p:grpSp>
      <p:sp>
        <p:nvSpPr>
          <p:cNvPr id="10" name="文本框 24">
            <a:extLst>
              <a:ext uri="{FF2B5EF4-FFF2-40B4-BE49-F238E27FC236}">
                <a16:creationId xmlns:a16="http://schemas.microsoft.com/office/drawing/2014/main" id="{72BB82E5-D5EF-6A1D-E86E-152055025CE2}"/>
              </a:ext>
            </a:extLst>
          </p:cNvPr>
          <p:cNvSpPr txBox="1"/>
          <p:nvPr/>
        </p:nvSpPr>
        <p:spPr>
          <a:xfrm>
            <a:off x="657774" y="841589"/>
            <a:ext cx="10723240" cy="5494325"/>
          </a:xfrm>
          <a:prstGeom prst="rect">
            <a:avLst/>
          </a:prstGeom>
          <a:noFill/>
          <a:ln w="19050">
            <a:noFill/>
          </a:ln>
        </p:spPr>
        <p:txBody>
          <a:bodyPr wrap="square">
            <a:spAutoFit/>
          </a:bodyPr>
          <a:lstStyle/>
          <a:p>
            <a:pPr marL="228600" indent="-457200" algn="just">
              <a:lnSpc>
                <a:spcPct val="130000"/>
              </a:lnSpc>
              <a:spcBef>
                <a:spcPts val="1000"/>
              </a:spcBef>
              <a:buFont typeface="Wingdings" panose="05000000000000000000" pitchFamily="2" charset="2"/>
              <a:buChar char="p"/>
              <a:defRPr/>
            </a:pPr>
            <a:r>
              <a:rPr lang="en-US" sz="2400" dirty="0"/>
              <a:t>Dan </a:t>
            </a:r>
            <a:r>
              <a:rPr lang="en-US" sz="2400" dirty="0" err="1"/>
              <a:t>Jurafsky</a:t>
            </a:r>
            <a:r>
              <a:rPr lang="en-US" sz="2400" dirty="0"/>
              <a:t> and James H. Martin</a:t>
            </a:r>
            <a:r>
              <a:rPr lang="en-US" altLang="zh-CN" sz="2400" dirty="0"/>
              <a:t>.</a:t>
            </a:r>
            <a:r>
              <a:rPr lang="zh-CN" altLang="en-US" sz="2400" dirty="0"/>
              <a:t> </a:t>
            </a:r>
            <a:r>
              <a:rPr lang="en-US" altLang="zh-CN" sz="2400" dirty="0"/>
              <a:t>Speech and Language Processing (3rd ed. draft);</a:t>
            </a:r>
            <a:r>
              <a:rPr lang="zh-CN" altLang="en-US" sz="2400" dirty="0"/>
              <a:t> </a:t>
            </a:r>
            <a:r>
              <a:rPr lang="en-US" altLang="zh-CN" sz="2400" dirty="0"/>
              <a:t>Chapter</a:t>
            </a:r>
            <a:r>
              <a:rPr lang="zh-CN" altLang="en-US" sz="2400" dirty="0"/>
              <a:t> </a:t>
            </a:r>
            <a:r>
              <a:rPr lang="en-US" altLang="zh-CN" sz="2400" dirty="0"/>
              <a:t>8,</a:t>
            </a:r>
            <a:r>
              <a:rPr lang="zh-CN" altLang="en-US" sz="2400" dirty="0"/>
              <a:t> </a:t>
            </a:r>
            <a:r>
              <a:rPr lang="en-US" altLang="zh-CN" sz="2400" dirty="0"/>
              <a:t>9.</a:t>
            </a:r>
            <a:r>
              <a:rPr lang="zh-CN" altLang="en-US" sz="2400" dirty="0"/>
              <a:t> </a:t>
            </a:r>
            <a:r>
              <a:rPr lang="en-US" altLang="zh-CN" sz="2400" dirty="0"/>
              <a:t>2025</a:t>
            </a:r>
            <a:endParaRPr lang="en-US" sz="2400" dirty="0"/>
          </a:p>
          <a:p>
            <a:pPr marL="685800" lvl="1" indent="-457200" algn="just">
              <a:lnSpc>
                <a:spcPct val="130000"/>
              </a:lnSpc>
              <a:spcBef>
                <a:spcPts val="1000"/>
              </a:spcBef>
              <a:buFont typeface="Arial" panose="020B0604020202020204" pitchFamily="34" charset="0"/>
              <a:buChar char="•"/>
              <a:defRPr/>
            </a:pPr>
            <a:r>
              <a:rPr lang="en-US" sz="2400" spc="-45" dirty="0" err="1">
                <a:latin typeface="Calibri" panose="020F0502020204030204" pitchFamily="34" charset="0"/>
                <a:cs typeface="Calibri" panose="020F0502020204030204" pitchFamily="34" charset="0"/>
              </a:rPr>
              <a:t>系统介绍了RNN和LSTM的原理</a:t>
            </a:r>
            <a:r>
              <a:rPr lang="zh-CN" altLang="en-US" sz="2400" spc="-45" dirty="0">
                <a:latin typeface="Calibri" panose="020F0502020204030204" pitchFamily="34" charset="0"/>
                <a:cs typeface="Calibri" panose="020F0502020204030204" pitchFamily="34" charset="0"/>
              </a:rPr>
              <a:t>、优势以及局限</a:t>
            </a:r>
            <a:endParaRPr lang="en-US" altLang="zh-CN" sz="2400" spc="-45" dirty="0">
              <a:latin typeface="Calibri" panose="020F0502020204030204" pitchFamily="34" charset="0"/>
              <a:cs typeface="Calibri" panose="020F0502020204030204" pitchFamily="34" charset="0"/>
            </a:endParaRPr>
          </a:p>
          <a:p>
            <a:pPr marL="685800" lvl="1" indent="-457200" algn="just">
              <a:lnSpc>
                <a:spcPct val="130000"/>
              </a:lnSpc>
              <a:spcBef>
                <a:spcPts val="1000"/>
              </a:spcBef>
              <a:buFont typeface="Arial" panose="020B0604020202020204" pitchFamily="34" charset="0"/>
              <a:buChar char="•"/>
              <a:defRPr/>
            </a:pPr>
            <a:r>
              <a:rPr lang="zh-CN" altLang="en-US" sz="2400" spc="-45" dirty="0">
                <a:latin typeface="Calibri" panose="020F0502020204030204" pitchFamily="34" charset="0"/>
                <a:cs typeface="Calibri" panose="020F0502020204030204" pitchFamily="34" charset="0"/>
              </a:rPr>
              <a:t>系统介绍了</a:t>
            </a:r>
            <a:r>
              <a:rPr lang="en-US" altLang="zh-CN" sz="2400" spc="-45" dirty="0">
                <a:latin typeface="Calibri" panose="020F0502020204030204" pitchFamily="34" charset="0"/>
                <a:cs typeface="Calibri" panose="020F0502020204030204" pitchFamily="34" charset="0"/>
              </a:rPr>
              <a:t>self-attention</a:t>
            </a:r>
            <a:r>
              <a:rPr lang="zh-CN" altLang="en-US" sz="2400" spc="-45" dirty="0">
                <a:latin typeface="Calibri" panose="020F0502020204030204" pitchFamily="34" charset="0"/>
                <a:cs typeface="Calibri" panose="020F0502020204030204" pitchFamily="34" charset="0"/>
              </a:rPr>
              <a:t>的计算方法</a:t>
            </a:r>
            <a:endParaRPr lang="en-US" sz="2400" spc="-45" dirty="0">
              <a:latin typeface="Calibri" panose="020F0502020204030204" pitchFamily="34" charset="0"/>
              <a:cs typeface="Calibri" panose="020F0502020204030204" pitchFamily="34" charset="0"/>
            </a:endParaRPr>
          </a:p>
          <a:p>
            <a:pPr marL="228600" indent="-457200" algn="just">
              <a:lnSpc>
                <a:spcPct val="130000"/>
              </a:lnSpc>
              <a:spcBef>
                <a:spcPts val="1000"/>
              </a:spcBef>
              <a:buFont typeface="Wingdings" panose="05000000000000000000" pitchFamily="2" charset="2"/>
              <a:buChar char="p"/>
              <a:defRPr/>
            </a:pPr>
            <a:r>
              <a:rPr lang="en-US" sz="2400" dirty="0" err="1"/>
              <a:t>Zichao</a:t>
            </a:r>
            <a:r>
              <a:rPr lang="en-US" sz="2400" dirty="0"/>
              <a:t> Yang, </a:t>
            </a:r>
            <a:r>
              <a:rPr lang="en-US" sz="2400" dirty="0" err="1"/>
              <a:t>Diyi</a:t>
            </a:r>
            <a:r>
              <a:rPr lang="en-US" sz="2400" dirty="0"/>
              <a:t> Yang, Chris Dyer, Xiaodong He, Alex Smola &amp; Eduard </a:t>
            </a:r>
            <a:r>
              <a:rPr lang="en-US" sz="2400" dirty="0" err="1"/>
              <a:t>Hovy</a:t>
            </a:r>
            <a:r>
              <a:rPr lang="en-US" sz="2400" dirty="0"/>
              <a:t>. “Hierarchical Attention Networks for Document Classification.”</a:t>
            </a:r>
          </a:p>
          <a:p>
            <a:pPr marL="685800" lvl="1" indent="-457200" algn="just">
              <a:lnSpc>
                <a:spcPct val="130000"/>
              </a:lnSpc>
              <a:spcBef>
                <a:spcPts val="1000"/>
              </a:spcBef>
              <a:buFont typeface="Arial" panose="020B0604020202020204" pitchFamily="34" charset="0"/>
              <a:buChar char="•"/>
              <a:defRPr/>
            </a:pPr>
            <a:r>
              <a:rPr lang="zh-CN" altLang="en-US" sz="2400" spc="-45" dirty="0">
                <a:latin typeface="Calibri" panose="020F0502020204030204" pitchFamily="34" charset="0"/>
                <a:cs typeface="Calibri" panose="020F0502020204030204" pitchFamily="34" charset="0"/>
              </a:rPr>
              <a:t>在双层 </a:t>
            </a:r>
            <a:r>
              <a:rPr lang="en-US" sz="2400" spc="-45" dirty="0">
                <a:latin typeface="Calibri" panose="020F0502020204030204" pitchFamily="34" charset="0"/>
                <a:cs typeface="Calibri" panose="020F0502020204030204" pitchFamily="34" charset="0"/>
              </a:rPr>
              <a:t>Bi-LSTM </a:t>
            </a:r>
            <a:r>
              <a:rPr lang="zh-CN" altLang="en-US" sz="2400" spc="-45" dirty="0">
                <a:latin typeface="Calibri" panose="020F0502020204030204" pitchFamily="34" charset="0"/>
                <a:cs typeface="Calibri" panose="020F0502020204030204" pitchFamily="34" charset="0"/>
              </a:rPr>
              <a:t>结构上分别加入句子级和词级注意力，允许模型聚焦于最具判别力的词和句子，用于长文档分类。​</a:t>
            </a:r>
            <a:endParaRPr lang="en-US" sz="2400" spc="-45" dirty="0">
              <a:latin typeface="Calibri" panose="020F0502020204030204" pitchFamily="34" charset="0"/>
              <a:cs typeface="Calibri" panose="020F0502020204030204" pitchFamily="34" charset="0"/>
            </a:endParaRPr>
          </a:p>
          <a:p>
            <a:pPr marL="685800" lvl="1" indent="-457200" algn="just">
              <a:lnSpc>
                <a:spcPct val="130000"/>
              </a:lnSpc>
              <a:spcBef>
                <a:spcPts val="1000"/>
              </a:spcBef>
              <a:buFont typeface="Arial" panose="020B0604020202020204" pitchFamily="34" charset="0"/>
              <a:buChar char="•"/>
              <a:defRPr/>
            </a:pPr>
            <a:r>
              <a:rPr lang="zh-CN" altLang="en-US" sz="2400" spc="-45" dirty="0">
                <a:latin typeface="Calibri" panose="020F0502020204030204" pitchFamily="34" charset="0"/>
                <a:cs typeface="Calibri" panose="020F0502020204030204" pitchFamily="34" charset="0"/>
              </a:rPr>
              <a:t>该方法在 </a:t>
            </a:r>
            <a:r>
              <a:rPr lang="en-US" sz="2400" spc="-45" dirty="0">
                <a:latin typeface="Calibri" panose="020F0502020204030204" pitchFamily="34" charset="0"/>
                <a:cs typeface="Calibri" panose="020F0502020204030204" pitchFamily="34" charset="0"/>
              </a:rPr>
              <a:t>Yelp </a:t>
            </a:r>
            <a:r>
              <a:rPr lang="zh-CN" altLang="en-US" sz="2400" spc="-45" dirty="0">
                <a:latin typeface="Calibri" panose="020F0502020204030204" pitchFamily="34" charset="0"/>
                <a:cs typeface="Calibri" panose="020F0502020204030204" pitchFamily="34" charset="0"/>
              </a:rPr>
              <a:t>评论和 </a:t>
            </a:r>
            <a:r>
              <a:rPr lang="en-US" sz="2400" spc="-45" dirty="0">
                <a:latin typeface="Calibri" panose="020F0502020204030204" pitchFamily="34" charset="0"/>
                <a:cs typeface="Calibri" panose="020F0502020204030204" pitchFamily="34" charset="0"/>
              </a:rPr>
              <a:t>Yahoo Answers </a:t>
            </a:r>
            <a:r>
              <a:rPr lang="zh-CN" altLang="en-US" sz="2400" spc="-45" dirty="0">
                <a:latin typeface="Calibri" panose="020F0502020204030204" pitchFamily="34" charset="0"/>
                <a:cs typeface="Calibri" panose="020F0502020204030204" pitchFamily="34" charset="0"/>
              </a:rPr>
              <a:t>等多项文档分类任务上超越传统 </a:t>
            </a:r>
            <a:r>
              <a:rPr lang="en-US" sz="2400" spc="-45" dirty="0">
                <a:latin typeface="Calibri" panose="020F0502020204030204" pitchFamily="34" charset="0"/>
                <a:cs typeface="Calibri" panose="020F0502020204030204" pitchFamily="34" charset="0"/>
              </a:rPr>
              <a:t>LSTM </a:t>
            </a:r>
            <a:r>
              <a:rPr lang="zh-CN" altLang="en-US" sz="2400" spc="-45" dirty="0">
                <a:latin typeface="Calibri" panose="020F0502020204030204" pitchFamily="34" charset="0"/>
                <a:cs typeface="Calibri" panose="020F0502020204030204" pitchFamily="34" charset="0"/>
              </a:rPr>
              <a:t>和 </a:t>
            </a:r>
            <a:r>
              <a:rPr lang="en-US" sz="2400" spc="-45" dirty="0">
                <a:latin typeface="Calibri" panose="020F0502020204030204" pitchFamily="34" charset="0"/>
                <a:cs typeface="Calibri" panose="020F0502020204030204" pitchFamily="34" charset="0"/>
              </a:rPr>
              <a:t>CNN </a:t>
            </a:r>
            <a:r>
              <a:rPr lang="zh-CN" altLang="en-US" sz="2400" spc="-45" dirty="0">
                <a:latin typeface="Calibri" panose="020F0502020204030204" pitchFamily="34" charset="0"/>
                <a:cs typeface="Calibri" panose="020F0502020204030204" pitchFamily="34" charset="0"/>
              </a:rPr>
              <a:t>基线。</a:t>
            </a:r>
            <a:endParaRPr lang="en-US" sz="2400" spc="-45"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694492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C5A36-93FC-D803-B0B7-B65A46495EF7}"/>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9CDBD4B8-37EC-AD8E-A836-1F050977C6C9}"/>
              </a:ext>
            </a:extLst>
          </p:cNvPr>
          <p:cNvGrpSpPr/>
          <p:nvPr/>
        </p:nvGrpSpPr>
        <p:grpSpPr>
          <a:xfrm>
            <a:off x="0" y="-1589"/>
            <a:ext cx="12191999" cy="768585"/>
            <a:chOff x="0" y="-1589"/>
            <a:chExt cx="12191999" cy="768585"/>
          </a:xfrm>
        </p:grpSpPr>
        <p:grpSp>
          <p:nvGrpSpPr>
            <p:cNvPr id="5" name="Group 9">
              <a:extLst>
                <a:ext uri="{FF2B5EF4-FFF2-40B4-BE49-F238E27FC236}">
                  <a16:creationId xmlns:a16="http://schemas.microsoft.com/office/drawing/2014/main" id="{D4972C3B-D635-5670-AD34-4C6221291E59}"/>
                </a:ext>
              </a:extLst>
            </p:cNvPr>
            <p:cNvGrpSpPr>
              <a:grpSpLocks noChangeAspect="1"/>
            </p:cNvGrpSpPr>
            <p:nvPr/>
          </p:nvGrpSpPr>
          <p:grpSpPr bwMode="auto">
            <a:xfrm>
              <a:off x="0" y="-1589"/>
              <a:ext cx="12191999" cy="767234"/>
              <a:chOff x="-1" y="-1"/>
              <a:chExt cx="7719" cy="568"/>
            </a:xfrm>
          </p:grpSpPr>
          <p:sp>
            <p:nvSpPr>
              <p:cNvPr id="8" name="Freeform 7">
                <a:extLst>
                  <a:ext uri="{FF2B5EF4-FFF2-40B4-BE49-F238E27FC236}">
                    <a16:creationId xmlns:a16="http://schemas.microsoft.com/office/drawing/2014/main" id="{637CDDF2-C6DD-FD40-7D45-0DC6AABD9997}"/>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9" name="AutoShape 8">
                <a:extLst>
                  <a:ext uri="{FF2B5EF4-FFF2-40B4-BE49-F238E27FC236}">
                    <a16:creationId xmlns:a16="http://schemas.microsoft.com/office/drawing/2014/main" id="{8F4AB891-B914-E9E2-813E-CF9E1A9790B2}"/>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6" name="任意多边形: 形状 12">
              <a:extLst>
                <a:ext uri="{FF2B5EF4-FFF2-40B4-BE49-F238E27FC236}">
                  <a16:creationId xmlns:a16="http://schemas.microsoft.com/office/drawing/2014/main" id="{AC1CCA8F-5223-4A6A-9690-02DBC102A284}"/>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7" name="文本框 18">
              <a:extLst>
                <a:ext uri="{FF2B5EF4-FFF2-40B4-BE49-F238E27FC236}">
                  <a16:creationId xmlns:a16="http://schemas.microsoft.com/office/drawing/2014/main" id="{C96CC960-8D45-FE7B-D89F-891DE26EC7CD}"/>
                </a:ext>
              </a:extLst>
            </p:cNvPr>
            <p:cNvSpPr txBox="1"/>
            <p:nvPr/>
          </p:nvSpPr>
          <p:spPr>
            <a:xfrm>
              <a:off x="350439" y="120418"/>
              <a:ext cx="1620957" cy="523220"/>
            </a:xfrm>
            <a:prstGeom prst="rect">
              <a:avLst/>
            </a:prstGeom>
            <a:noFill/>
          </p:spPr>
          <p:txBody>
            <a:bodyPr wrap="none" rtlCol="0">
              <a:spAutoFit/>
            </a:bodyPr>
            <a:lstStyle/>
            <a:p>
              <a:pPr>
                <a:defRPr/>
              </a:pPr>
              <a:r>
                <a:rPr lang="zh-CN" altLang="en-US" sz="2800" b="1" dirty="0">
                  <a:solidFill>
                    <a:prstClr val="white"/>
                  </a:solidFill>
                  <a:cs typeface="+mn-ea"/>
                  <a:sym typeface="+mn-lt"/>
                </a:rPr>
                <a:t>参考阅读</a:t>
              </a:r>
            </a:p>
          </p:txBody>
        </p:sp>
      </p:grpSp>
      <p:sp>
        <p:nvSpPr>
          <p:cNvPr id="10" name="文本框 24">
            <a:extLst>
              <a:ext uri="{FF2B5EF4-FFF2-40B4-BE49-F238E27FC236}">
                <a16:creationId xmlns:a16="http://schemas.microsoft.com/office/drawing/2014/main" id="{491FB530-F777-CAE1-43DB-E502DFB7F92F}"/>
              </a:ext>
            </a:extLst>
          </p:cNvPr>
          <p:cNvSpPr txBox="1"/>
          <p:nvPr/>
        </p:nvSpPr>
        <p:spPr>
          <a:xfrm>
            <a:off x="657774" y="841589"/>
            <a:ext cx="10723240" cy="5366084"/>
          </a:xfrm>
          <a:prstGeom prst="rect">
            <a:avLst/>
          </a:prstGeom>
          <a:noFill/>
          <a:ln w="19050">
            <a:noFill/>
          </a:ln>
        </p:spPr>
        <p:txBody>
          <a:bodyPr wrap="square">
            <a:spAutoFit/>
          </a:bodyPr>
          <a:lstStyle/>
          <a:p>
            <a:pPr marL="228600" indent="-457200" algn="just">
              <a:lnSpc>
                <a:spcPct val="130000"/>
              </a:lnSpc>
              <a:spcBef>
                <a:spcPts val="1000"/>
              </a:spcBef>
              <a:buFont typeface="Wingdings" panose="05000000000000000000" pitchFamily="2" charset="2"/>
              <a:buChar char="p"/>
              <a:defRPr/>
            </a:pPr>
            <a:r>
              <a:rPr lang="en-US" sz="2400" dirty="0"/>
              <a:t>Alexander M. Rush, Sumit Chopra &amp; Jason Weston. “A Neural Attention Model for Abstractive Sentence Summarization.”</a:t>
            </a:r>
          </a:p>
          <a:p>
            <a:pPr marL="685800" lvl="1" indent="-457200" algn="just">
              <a:lnSpc>
                <a:spcPct val="130000"/>
              </a:lnSpc>
              <a:spcBef>
                <a:spcPts val="1000"/>
              </a:spcBef>
              <a:buFont typeface="Arial" panose="020B0604020202020204" pitchFamily="34" charset="0"/>
              <a:buChar char="•"/>
              <a:defRPr/>
            </a:pPr>
            <a:r>
              <a:rPr lang="zh-CN" altLang="en-US" sz="2400" spc="-45" dirty="0">
                <a:latin typeface="Calibri" panose="020F0502020204030204" pitchFamily="34" charset="0"/>
                <a:cs typeface="Calibri" panose="020F0502020204030204" pitchFamily="34" charset="0"/>
              </a:rPr>
              <a:t>在 </a:t>
            </a:r>
            <a:r>
              <a:rPr lang="en-US" altLang="zh-CN" sz="2400" spc="-45" dirty="0">
                <a:latin typeface="Calibri" panose="020F0502020204030204" pitchFamily="34" charset="0"/>
                <a:cs typeface="Calibri" panose="020F0502020204030204" pitchFamily="34" charset="0"/>
              </a:rPr>
              <a:t>LSTM </a:t>
            </a:r>
            <a:r>
              <a:rPr lang="zh-CN" altLang="en-US" sz="2400" spc="-45" dirty="0">
                <a:latin typeface="Calibri" panose="020F0502020204030204" pitchFamily="34" charset="0"/>
                <a:cs typeface="Calibri" panose="020F0502020204030204" pitchFamily="34" charset="0"/>
              </a:rPr>
              <a:t>编码</a:t>
            </a:r>
            <a:r>
              <a:rPr lang="en-US" altLang="zh-CN" sz="2400" spc="-45" dirty="0">
                <a:latin typeface="Calibri" panose="020F0502020204030204" pitchFamily="34" charset="0"/>
                <a:cs typeface="Calibri" panose="020F0502020204030204" pitchFamily="34" charset="0"/>
              </a:rPr>
              <a:t>-</a:t>
            </a:r>
            <a:r>
              <a:rPr lang="zh-CN" altLang="en-US" sz="2400" spc="-45" dirty="0">
                <a:latin typeface="Calibri" panose="020F0502020204030204" pitchFamily="34" charset="0"/>
                <a:cs typeface="Calibri" panose="020F0502020204030204" pitchFamily="34" charset="0"/>
              </a:rPr>
              <a:t>解码框架中加入局部注意力，用于短句摘要生成，模型在基准数据集上获得显著性能提升；</a:t>
            </a:r>
          </a:p>
          <a:p>
            <a:pPr marL="685800" lvl="1" indent="-457200" algn="just">
              <a:lnSpc>
                <a:spcPct val="130000"/>
              </a:lnSpc>
              <a:spcBef>
                <a:spcPts val="1000"/>
              </a:spcBef>
              <a:buFont typeface="Arial" panose="020B0604020202020204" pitchFamily="34" charset="0"/>
              <a:buChar char="•"/>
              <a:defRPr/>
            </a:pPr>
            <a:r>
              <a:rPr lang="zh-CN" altLang="en-US" sz="2400" spc="-45" dirty="0">
                <a:latin typeface="Calibri" panose="020F0502020204030204" pitchFamily="34" charset="0"/>
                <a:cs typeface="Calibri" panose="020F0502020204030204" pitchFamily="34" charset="0"/>
              </a:rPr>
              <a:t>该工作奠定了注意力机制在文本生成任务中替代传统提取式方法的基础。</a:t>
            </a:r>
            <a:endParaRPr lang="en-US" altLang="zh-CN" sz="2400" spc="-45" dirty="0">
              <a:latin typeface="Calibri" panose="020F0502020204030204" pitchFamily="34" charset="0"/>
              <a:cs typeface="Calibri" panose="020F0502020204030204" pitchFamily="34" charset="0"/>
            </a:endParaRPr>
          </a:p>
          <a:p>
            <a:pPr marL="228600" indent="-457200" algn="just">
              <a:lnSpc>
                <a:spcPct val="130000"/>
              </a:lnSpc>
              <a:spcBef>
                <a:spcPts val="1000"/>
              </a:spcBef>
              <a:buFont typeface="Wingdings" panose="05000000000000000000" pitchFamily="2" charset="2"/>
              <a:buChar char="p"/>
              <a:defRPr/>
            </a:pPr>
            <a:r>
              <a:rPr lang="en-US" sz="2400" dirty="0"/>
              <a:t>Abigail See, Peter J. Liu &amp; Christopher D. Manning. “Get To The Point: Summarization with Pointer-Generator Networks.</a:t>
            </a:r>
          </a:p>
          <a:p>
            <a:pPr marL="685800" lvl="1" indent="-457200" algn="just">
              <a:lnSpc>
                <a:spcPct val="130000"/>
              </a:lnSpc>
              <a:spcBef>
                <a:spcPts val="1000"/>
              </a:spcBef>
              <a:buFont typeface="Arial" panose="020B0604020202020204" pitchFamily="34" charset="0"/>
              <a:buChar char="•"/>
              <a:defRPr/>
            </a:pPr>
            <a:r>
              <a:rPr lang="zh-CN" altLang="en-US" sz="2400" spc="-45" dirty="0">
                <a:latin typeface="Calibri" panose="020F0502020204030204" pitchFamily="34" charset="0"/>
                <a:cs typeface="Calibri" panose="020F0502020204030204" pitchFamily="34" charset="0"/>
              </a:rPr>
              <a:t>在标准的 </a:t>
            </a:r>
            <a:r>
              <a:rPr lang="en-US" sz="2400" spc="-45" dirty="0">
                <a:latin typeface="Calibri" panose="020F0502020204030204" pitchFamily="34" charset="0"/>
                <a:cs typeface="Calibri" panose="020F0502020204030204" pitchFamily="34" charset="0"/>
              </a:rPr>
              <a:t>LSTM seq2seq＋attention </a:t>
            </a:r>
            <a:r>
              <a:rPr lang="zh-CN" altLang="en-US" sz="2400" spc="-45" dirty="0">
                <a:latin typeface="Calibri" panose="020F0502020204030204" pitchFamily="34" charset="0"/>
                <a:cs typeface="Calibri" panose="020F0502020204030204" pitchFamily="34" charset="0"/>
              </a:rPr>
              <a:t>框架中，引入 </a:t>
            </a:r>
            <a:r>
              <a:rPr lang="en-US" sz="2400" spc="-45" dirty="0">
                <a:latin typeface="Calibri" panose="020F0502020204030204" pitchFamily="34" charset="0"/>
                <a:cs typeface="Calibri" panose="020F0502020204030204" pitchFamily="34" charset="0"/>
              </a:rPr>
              <a:t>hybrid pointer-generator </a:t>
            </a:r>
            <a:r>
              <a:rPr lang="zh-CN" altLang="en-US" sz="2400" spc="-45" dirty="0">
                <a:latin typeface="Calibri" panose="020F0502020204030204" pitchFamily="34" charset="0"/>
                <a:cs typeface="Calibri" panose="020F0502020204030204" pitchFamily="34" charset="0"/>
              </a:rPr>
              <a:t>机制：模型既能像传统生成器那样生成新词，又能通过指针复制原文中的单词，显著提升了摘要的事实准确性和对 </a:t>
            </a:r>
            <a:r>
              <a:rPr lang="en-US" sz="2400" spc="-45" dirty="0">
                <a:latin typeface="Calibri" panose="020F0502020204030204" pitchFamily="34" charset="0"/>
                <a:cs typeface="Calibri" panose="020F0502020204030204" pitchFamily="34" charset="0"/>
              </a:rPr>
              <a:t>OOV </a:t>
            </a:r>
            <a:r>
              <a:rPr lang="zh-CN" altLang="en-US" sz="2400" spc="-45" dirty="0">
                <a:latin typeface="Calibri" panose="020F0502020204030204" pitchFamily="34" charset="0"/>
                <a:cs typeface="Calibri" panose="020F0502020204030204" pitchFamily="34" charset="0"/>
              </a:rPr>
              <a:t>词的覆盖能力</a:t>
            </a:r>
            <a:endParaRPr lang="en-US" sz="2400" spc="-45"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305127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28AA3DC-071E-9CD4-494F-B29728AA4568}"/>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CD9BD3BA-6567-BCE9-6A67-6A914D14B63A}"/>
              </a:ext>
            </a:extLst>
          </p:cNvPr>
          <p:cNvGrpSpPr/>
          <p:nvPr/>
        </p:nvGrpSpPr>
        <p:grpSpPr>
          <a:xfrm>
            <a:off x="0" y="-1589"/>
            <a:ext cx="12191999" cy="768585"/>
            <a:chOff x="0" y="-1589"/>
            <a:chExt cx="12191999" cy="768585"/>
          </a:xfrm>
        </p:grpSpPr>
        <p:grpSp>
          <p:nvGrpSpPr>
            <p:cNvPr id="5" name="Group 9">
              <a:extLst>
                <a:ext uri="{FF2B5EF4-FFF2-40B4-BE49-F238E27FC236}">
                  <a16:creationId xmlns:a16="http://schemas.microsoft.com/office/drawing/2014/main" id="{AD00369F-BE86-D458-23AF-C57F7EF9F9CC}"/>
                </a:ext>
              </a:extLst>
            </p:cNvPr>
            <p:cNvGrpSpPr>
              <a:grpSpLocks noChangeAspect="1"/>
            </p:cNvGrpSpPr>
            <p:nvPr/>
          </p:nvGrpSpPr>
          <p:grpSpPr bwMode="auto">
            <a:xfrm>
              <a:off x="0" y="-1589"/>
              <a:ext cx="12191999" cy="767234"/>
              <a:chOff x="-1" y="-1"/>
              <a:chExt cx="7719" cy="568"/>
            </a:xfrm>
          </p:grpSpPr>
          <p:sp>
            <p:nvSpPr>
              <p:cNvPr id="8" name="Freeform 7">
                <a:extLst>
                  <a:ext uri="{FF2B5EF4-FFF2-40B4-BE49-F238E27FC236}">
                    <a16:creationId xmlns:a16="http://schemas.microsoft.com/office/drawing/2014/main" id="{B7D874F7-3D70-C789-A7B4-3CE8F9478652}"/>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9" name="AutoShape 8">
                <a:extLst>
                  <a:ext uri="{FF2B5EF4-FFF2-40B4-BE49-F238E27FC236}">
                    <a16:creationId xmlns:a16="http://schemas.microsoft.com/office/drawing/2014/main" id="{42045F48-DC50-BC04-26BD-C0293D9845BA}"/>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6" name="任意多边形: 形状 12">
              <a:extLst>
                <a:ext uri="{FF2B5EF4-FFF2-40B4-BE49-F238E27FC236}">
                  <a16:creationId xmlns:a16="http://schemas.microsoft.com/office/drawing/2014/main" id="{41BF98A5-3B96-62BF-866F-03C081F863B1}"/>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7" name="文本框 18">
              <a:extLst>
                <a:ext uri="{FF2B5EF4-FFF2-40B4-BE49-F238E27FC236}">
                  <a16:creationId xmlns:a16="http://schemas.microsoft.com/office/drawing/2014/main" id="{FA9022A3-E234-426B-F36D-F98D75D21D57}"/>
                </a:ext>
              </a:extLst>
            </p:cNvPr>
            <p:cNvSpPr txBox="1"/>
            <p:nvPr/>
          </p:nvSpPr>
          <p:spPr>
            <a:xfrm>
              <a:off x="350439" y="120418"/>
              <a:ext cx="1620957" cy="523220"/>
            </a:xfrm>
            <a:prstGeom prst="rect">
              <a:avLst/>
            </a:prstGeom>
            <a:noFill/>
          </p:spPr>
          <p:txBody>
            <a:bodyPr wrap="none" rtlCol="0">
              <a:spAutoFit/>
            </a:bodyPr>
            <a:lstStyle/>
            <a:p>
              <a:pPr>
                <a:defRPr/>
              </a:pPr>
              <a:r>
                <a:rPr lang="zh-CN" altLang="en-US" sz="2800" b="1" dirty="0">
                  <a:solidFill>
                    <a:prstClr val="white"/>
                  </a:solidFill>
                  <a:cs typeface="+mn-ea"/>
                  <a:sym typeface="+mn-lt"/>
                </a:rPr>
                <a:t>参考阅读</a:t>
              </a:r>
            </a:p>
          </p:txBody>
        </p:sp>
      </p:grpSp>
      <p:sp>
        <p:nvSpPr>
          <p:cNvPr id="10" name="文本框 24">
            <a:extLst>
              <a:ext uri="{FF2B5EF4-FFF2-40B4-BE49-F238E27FC236}">
                <a16:creationId xmlns:a16="http://schemas.microsoft.com/office/drawing/2014/main" id="{3DE145B2-1934-76B8-DE8C-669F40FA782B}"/>
              </a:ext>
            </a:extLst>
          </p:cNvPr>
          <p:cNvSpPr txBox="1"/>
          <p:nvPr/>
        </p:nvSpPr>
        <p:spPr>
          <a:xfrm>
            <a:off x="657774" y="841589"/>
            <a:ext cx="10723240" cy="4534062"/>
          </a:xfrm>
          <a:prstGeom prst="rect">
            <a:avLst/>
          </a:prstGeom>
          <a:noFill/>
          <a:ln w="19050">
            <a:noFill/>
          </a:ln>
        </p:spPr>
        <p:txBody>
          <a:bodyPr wrap="square">
            <a:spAutoFit/>
          </a:bodyPr>
          <a:lstStyle/>
          <a:p>
            <a:pPr marL="228600" indent="-457200" algn="just">
              <a:lnSpc>
                <a:spcPct val="130000"/>
              </a:lnSpc>
              <a:spcBef>
                <a:spcPts val="1000"/>
              </a:spcBef>
              <a:buFont typeface="Wingdings" panose="05000000000000000000" pitchFamily="2" charset="2"/>
              <a:buChar char="p"/>
              <a:defRPr/>
            </a:pPr>
            <a:r>
              <a:rPr lang="en-US" sz="2400" dirty="0"/>
              <a:t>Elman, J. L.</a:t>
            </a:r>
            <a:r>
              <a:rPr lang="zh-CN" altLang="en-US" sz="2400" dirty="0"/>
              <a:t> </a:t>
            </a:r>
            <a:r>
              <a:rPr lang="en-US" sz="2400" i="1" dirty="0"/>
              <a:t>“Finding Structure in Time”</a:t>
            </a:r>
            <a:r>
              <a:rPr lang="en-US" sz="2400" dirty="0"/>
              <a:t>, Cognitive Science, 1990</a:t>
            </a:r>
          </a:p>
          <a:p>
            <a:pPr marL="685800" lvl="1" indent="-457200" algn="just">
              <a:lnSpc>
                <a:spcPct val="130000"/>
              </a:lnSpc>
              <a:spcBef>
                <a:spcPts val="1000"/>
              </a:spcBef>
              <a:buFont typeface="Arial" panose="020B0604020202020204" pitchFamily="34" charset="0"/>
              <a:buChar char="•"/>
              <a:defRPr/>
            </a:pPr>
            <a:r>
              <a:rPr lang="zh-CN" altLang="en-US" sz="2400" dirty="0"/>
              <a:t>在标准前馈网络中引入了“上下文单元”，将上一时刻的隐藏状态反馈到当前输入中，从而使模型能够处理任意长度的序列并捕捉历史信息</a:t>
            </a:r>
            <a:endParaRPr lang="en-US" altLang="zh-CN" sz="2400" dirty="0"/>
          </a:p>
          <a:p>
            <a:pPr marL="685800" lvl="1" indent="-457200" algn="just">
              <a:lnSpc>
                <a:spcPct val="130000"/>
              </a:lnSpc>
              <a:spcBef>
                <a:spcPts val="1000"/>
              </a:spcBef>
              <a:buFont typeface="Arial" panose="020B0604020202020204" pitchFamily="34" charset="0"/>
              <a:buChar char="•"/>
              <a:defRPr/>
            </a:pPr>
            <a:endParaRPr lang="en-US" sz="2400" spc="-45" dirty="0">
              <a:latin typeface="Calibri" panose="020F0502020204030204" pitchFamily="34" charset="0"/>
              <a:cs typeface="Calibri" panose="020F0502020204030204" pitchFamily="34" charset="0"/>
            </a:endParaRPr>
          </a:p>
          <a:p>
            <a:pPr marL="228600" indent="-457200" algn="just">
              <a:lnSpc>
                <a:spcPct val="130000"/>
              </a:lnSpc>
              <a:spcBef>
                <a:spcPts val="1000"/>
              </a:spcBef>
              <a:buFont typeface="Wingdings" panose="05000000000000000000" pitchFamily="2" charset="2"/>
              <a:buChar char="p"/>
              <a:defRPr/>
            </a:pPr>
            <a:r>
              <a:rPr lang="en-US" sz="2400" spc="-45" dirty="0">
                <a:latin typeface="Calibri" panose="020F0502020204030204" pitchFamily="34" charset="0"/>
                <a:cs typeface="Calibri" panose="020F0502020204030204" pitchFamily="34" charset="0"/>
              </a:rPr>
              <a:t>Hochreiter</a:t>
            </a:r>
            <a:r>
              <a:rPr lang="en-US" sz="2400" spc="-40" dirty="0">
                <a:latin typeface="Calibri" panose="020F0502020204030204" pitchFamily="34" charset="0"/>
                <a:cs typeface="Calibri" panose="020F0502020204030204" pitchFamily="34" charset="0"/>
              </a:rPr>
              <a:t> </a:t>
            </a:r>
            <a:r>
              <a:rPr lang="en-US" sz="2400" spc="-70" dirty="0">
                <a:latin typeface="Calibri" panose="020F0502020204030204" pitchFamily="34" charset="0"/>
                <a:cs typeface="Calibri" panose="020F0502020204030204" pitchFamily="34" charset="0"/>
              </a:rPr>
              <a:t>and</a:t>
            </a:r>
            <a:r>
              <a:rPr lang="en-US" sz="2400" spc="-25" dirty="0">
                <a:latin typeface="Calibri" panose="020F0502020204030204" pitchFamily="34" charset="0"/>
                <a:cs typeface="Calibri" panose="020F0502020204030204" pitchFamily="34" charset="0"/>
              </a:rPr>
              <a:t> </a:t>
            </a:r>
            <a:r>
              <a:rPr lang="en-US" sz="2400" spc="-75" dirty="0" err="1">
                <a:latin typeface="Calibri" panose="020F0502020204030204" pitchFamily="34" charset="0"/>
                <a:cs typeface="Calibri" panose="020F0502020204030204" pitchFamily="34" charset="0"/>
              </a:rPr>
              <a:t>Schmidhuber</a:t>
            </a:r>
            <a:r>
              <a:rPr lang="en-US" altLang="zh-CN" sz="2400" spc="-75" dirty="0">
                <a:latin typeface="Calibri" panose="020F0502020204030204" pitchFamily="34" charset="0"/>
                <a:cs typeface="Calibri" panose="020F0502020204030204" pitchFamily="34" charset="0"/>
              </a:rPr>
              <a:t>.</a:t>
            </a:r>
            <a:r>
              <a:rPr lang="en-US" sz="2400" spc="-30" dirty="0">
                <a:latin typeface="Calibri" panose="020F0502020204030204" pitchFamily="34" charset="0"/>
                <a:cs typeface="Calibri" panose="020F0502020204030204" pitchFamily="34" charset="0"/>
              </a:rPr>
              <a:t> </a:t>
            </a:r>
            <a:r>
              <a:rPr lang="en-US" sz="2400" spc="-105" dirty="0">
                <a:latin typeface="Calibri" panose="020F0502020204030204" pitchFamily="34" charset="0"/>
                <a:cs typeface="Calibri" panose="020F0502020204030204" pitchFamily="34" charset="0"/>
              </a:rPr>
              <a:t>Long</a:t>
            </a:r>
            <a:r>
              <a:rPr lang="en-US" sz="2400" spc="-30" dirty="0">
                <a:latin typeface="Calibri" panose="020F0502020204030204" pitchFamily="34" charset="0"/>
                <a:cs typeface="Calibri" panose="020F0502020204030204" pitchFamily="34" charset="0"/>
              </a:rPr>
              <a:t> </a:t>
            </a:r>
            <a:r>
              <a:rPr lang="en-US" sz="2400" spc="-45" dirty="0">
                <a:latin typeface="Calibri" panose="020F0502020204030204" pitchFamily="34" charset="0"/>
                <a:cs typeface="Calibri" panose="020F0502020204030204" pitchFamily="34" charset="0"/>
              </a:rPr>
              <a:t>short-</a:t>
            </a:r>
            <a:r>
              <a:rPr lang="en-US" sz="2400" spc="-20" dirty="0">
                <a:latin typeface="Calibri" panose="020F0502020204030204" pitchFamily="34" charset="0"/>
                <a:cs typeface="Calibri" panose="020F0502020204030204" pitchFamily="34" charset="0"/>
              </a:rPr>
              <a:t>term</a:t>
            </a:r>
            <a:r>
              <a:rPr lang="en-US" sz="2400" spc="-30" dirty="0">
                <a:latin typeface="Calibri" panose="020F0502020204030204" pitchFamily="34" charset="0"/>
                <a:cs typeface="Calibri" panose="020F0502020204030204" pitchFamily="34" charset="0"/>
              </a:rPr>
              <a:t> </a:t>
            </a:r>
            <a:r>
              <a:rPr lang="en-US" sz="2400" spc="-65" dirty="0">
                <a:latin typeface="Calibri" panose="020F0502020204030204" pitchFamily="34" charset="0"/>
                <a:cs typeface="Calibri" panose="020F0502020204030204" pitchFamily="34" charset="0"/>
              </a:rPr>
              <a:t>memory</a:t>
            </a:r>
            <a:r>
              <a:rPr lang="en-US" altLang="zh-CN" sz="2400" spc="-65" dirty="0">
                <a:latin typeface="Calibri" panose="020F0502020204030204" pitchFamily="34" charset="0"/>
                <a:cs typeface="Calibri" panose="020F0502020204030204" pitchFamily="34" charset="0"/>
              </a:rPr>
              <a:t>.</a:t>
            </a:r>
            <a:r>
              <a:rPr lang="zh-CN" altLang="en-US" sz="2400" spc="-65" dirty="0">
                <a:latin typeface="Calibri" panose="020F0502020204030204" pitchFamily="34" charset="0"/>
                <a:cs typeface="Calibri" panose="020F0502020204030204" pitchFamily="34" charset="0"/>
              </a:rPr>
              <a:t> </a:t>
            </a:r>
            <a:r>
              <a:rPr lang="en-US" sz="2400" dirty="0">
                <a:latin typeface="Calibri" panose="020F0502020204030204" pitchFamily="34" charset="0"/>
                <a:cs typeface="Calibri" panose="020F0502020204030204" pitchFamily="34" charset="0"/>
              </a:rPr>
              <a:t>Neural Computation, 1997</a:t>
            </a:r>
            <a:endParaRPr lang="en-US" sz="2400" spc="-65" dirty="0">
              <a:latin typeface="Calibri" panose="020F0502020204030204" pitchFamily="34" charset="0"/>
              <a:cs typeface="Calibri" panose="020F0502020204030204" pitchFamily="34" charset="0"/>
            </a:endParaRPr>
          </a:p>
          <a:p>
            <a:pPr marL="571500" lvl="1" indent="-342900" algn="just">
              <a:lnSpc>
                <a:spcPct val="130000"/>
              </a:lnSpc>
              <a:spcBef>
                <a:spcPts val="1000"/>
              </a:spcBef>
              <a:buFont typeface="Arial" panose="020B0604020202020204" pitchFamily="34" charset="0"/>
              <a:buChar char="•"/>
              <a:defRPr/>
            </a:pPr>
            <a:r>
              <a:rPr lang="zh-CN" altLang="en-US" sz="2400" spc="-65" dirty="0">
                <a:latin typeface="Calibri" panose="020F0502020204030204" pitchFamily="34" charset="0"/>
                <a:cs typeface="Calibri" panose="020F0502020204030204" pitchFamily="34" charset="0"/>
              </a:rPr>
              <a:t>提出门控记忆单元（输入</a:t>
            </a:r>
            <a:r>
              <a:rPr lang="en-US" altLang="zh-CN" sz="2400" spc="-65" dirty="0">
                <a:latin typeface="Calibri" panose="020F0502020204030204" pitchFamily="34" charset="0"/>
                <a:cs typeface="Calibri" panose="020F0502020204030204" pitchFamily="34" charset="0"/>
              </a:rPr>
              <a:t>/</a:t>
            </a:r>
            <a:r>
              <a:rPr lang="zh-CN" altLang="en-US" sz="2400" spc="-65" dirty="0">
                <a:latin typeface="Calibri" panose="020F0502020204030204" pitchFamily="34" charset="0"/>
                <a:cs typeface="Calibri" panose="020F0502020204030204" pitchFamily="34" charset="0"/>
              </a:rPr>
              <a:t>输出</a:t>
            </a:r>
            <a:r>
              <a:rPr lang="en-US" altLang="zh-CN" sz="2400" spc="-65" dirty="0">
                <a:latin typeface="Calibri" panose="020F0502020204030204" pitchFamily="34" charset="0"/>
                <a:cs typeface="Calibri" panose="020F0502020204030204" pitchFamily="34" charset="0"/>
              </a:rPr>
              <a:t>/</a:t>
            </a:r>
            <a:r>
              <a:rPr lang="zh-CN" altLang="en-US" sz="2400" spc="-65" dirty="0">
                <a:latin typeface="Calibri" panose="020F0502020204030204" pitchFamily="34" charset="0"/>
                <a:cs typeface="Calibri" panose="020F0502020204030204" pitchFamily="34" charset="0"/>
              </a:rPr>
              <a:t>遗忘门），系统性解决了循环网络的梯度消失问题</a:t>
            </a:r>
          </a:p>
          <a:p>
            <a:pPr marL="571500" lvl="1" indent="-342900" algn="just">
              <a:lnSpc>
                <a:spcPct val="130000"/>
              </a:lnSpc>
              <a:spcBef>
                <a:spcPts val="1000"/>
              </a:spcBef>
              <a:buFont typeface="Arial" panose="020B0604020202020204" pitchFamily="34" charset="0"/>
              <a:buChar char="•"/>
              <a:defRPr/>
            </a:pPr>
            <a:r>
              <a:rPr lang="zh-CN" altLang="en-US" sz="2400" spc="-65" dirty="0">
                <a:latin typeface="Calibri" panose="020F0502020204030204" pitchFamily="34" charset="0"/>
                <a:cs typeface="Calibri" panose="020F0502020204030204" pitchFamily="34" charset="0"/>
              </a:rPr>
              <a:t>模型可在序列长度大幅增加时，依然保持有效的长期信息存储和调用</a:t>
            </a:r>
          </a:p>
        </p:txBody>
      </p:sp>
    </p:spTree>
    <p:extLst>
      <p:ext uri="{BB962C8B-B14F-4D97-AF65-F5344CB8AC3E}">
        <p14:creationId xmlns:p14="http://schemas.microsoft.com/office/powerpoint/2010/main" val="3143254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8D071F7-6BCF-0A3B-A2DF-3A5F7D41FB07}"/>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CEB45845-A537-E786-0F2E-E7953222BEC5}"/>
              </a:ext>
            </a:extLst>
          </p:cNvPr>
          <p:cNvGrpSpPr/>
          <p:nvPr/>
        </p:nvGrpSpPr>
        <p:grpSpPr>
          <a:xfrm>
            <a:off x="0" y="-1589"/>
            <a:ext cx="12191999" cy="768585"/>
            <a:chOff x="0" y="-1589"/>
            <a:chExt cx="12191999" cy="768585"/>
          </a:xfrm>
        </p:grpSpPr>
        <p:grpSp>
          <p:nvGrpSpPr>
            <p:cNvPr id="5" name="Group 9">
              <a:extLst>
                <a:ext uri="{FF2B5EF4-FFF2-40B4-BE49-F238E27FC236}">
                  <a16:creationId xmlns:a16="http://schemas.microsoft.com/office/drawing/2014/main" id="{F3FB2E18-0000-BBB4-1909-947374558D5C}"/>
                </a:ext>
              </a:extLst>
            </p:cNvPr>
            <p:cNvGrpSpPr>
              <a:grpSpLocks noChangeAspect="1"/>
            </p:cNvGrpSpPr>
            <p:nvPr/>
          </p:nvGrpSpPr>
          <p:grpSpPr bwMode="auto">
            <a:xfrm>
              <a:off x="0" y="-1589"/>
              <a:ext cx="12191999" cy="767234"/>
              <a:chOff x="-1" y="-1"/>
              <a:chExt cx="7719" cy="568"/>
            </a:xfrm>
          </p:grpSpPr>
          <p:sp>
            <p:nvSpPr>
              <p:cNvPr id="8" name="Freeform 7">
                <a:extLst>
                  <a:ext uri="{FF2B5EF4-FFF2-40B4-BE49-F238E27FC236}">
                    <a16:creationId xmlns:a16="http://schemas.microsoft.com/office/drawing/2014/main" id="{9B470BC7-9E7C-B3AE-8E97-A857E9B8CB90}"/>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9" name="AutoShape 8">
                <a:extLst>
                  <a:ext uri="{FF2B5EF4-FFF2-40B4-BE49-F238E27FC236}">
                    <a16:creationId xmlns:a16="http://schemas.microsoft.com/office/drawing/2014/main" id="{65791005-0E95-DD48-36A0-F85CB249CE48}"/>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6" name="任意多边形: 形状 12">
              <a:extLst>
                <a:ext uri="{FF2B5EF4-FFF2-40B4-BE49-F238E27FC236}">
                  <a16:creationId xmlns:a16="http://schemas.microsoft.com/office/drawing/2014/main" id="{068E0639-2F56-4647-51B9-B8E8F8A9BB06}"/>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7" name="文本框 18">
              <a:extLst>
                <a:ext uri="{FF2B5EF4-FFF2-40B4-BE49-F238E27FC236}">
                  <a16:creationId xmlns:a16="http://schemas.microsoft.com/office/drawing/2014/main" id="{3365F73F-D927-6C0A-2E0D-B1D8B7303864}"/>
                </a:ext>
              </a:extLst>
            </p:cNvPr>
            <p:cNvSpPr txBox="1"/>
            <p:nvPr/>
          </p:nvSpPr>
          <p:spPr>
            <a:xfrm>
              <a:off x="350439" y="120418"/>
              <a:ext cx="1620957" cy="523220"/>
            </a:xfrm>
            <a:prstGeom prst="rect">
              <a:avLst/>
            </a:prstGeom>
            <a:noFill/>
          </p:spPr>
          <p:txBody>
            <a:bodyPr wrap="none" rtlCol="0">
              <a:spAutoFit/>
            </a:bodyPr>
            <a:lstStyle/>
            <a:p>
              <a:pPr>
                <a:defRPr/>
              </a:pPr>
              <a:r>
                <a:rPr lang="zh-CN" altLang="en-US" sz="2800" b="1" dirty="0">
                  <a:solidFill>
                    <a:prstClr val="white"/>
                  </a:solidFill>
                  <a:cs typeface="+mn-ea"/>
                  <a:sym typeface="+mn-lt"/>
                </a:rPr>
                <a:t>参考阅读</a:t>
              </a:r>
            </a:p>
          </p:txBody>
        </p:sp>
      </p:grpSp>
      <p:sp>
        <p:nvSpPr>
          <p:cNvPr id="10" name="文本框 24">
            <a:extLst>
              <a:ext uri="{FF2B5EF4-FFF2-40B4-BE49-F238E27FC236}">
                <a16:creationId xmlns:a16="http://schemas.microsoft.com/office/drawing/2014/main" id="{00486CDC-D572-BA92-F090-FDDC26ADE3B7}"/>
              </a:ext>
            </a:extLst>
          </p:cNvPr>
          <p:cNvSpPr txBox="1"/>
          <p:nvPr/>
        </p:nvSpPr>
        <p:spPr>
          <a:xfrm>
            <a:off x="657774" y="841589"/>
            <a:ext cx="10723240" cy="5135508"/>
          </a:xfrm>
          <a:prstGeom prst="rect">
            <a:avLst/>
          </a:prstGeom>
          <a:noFill/>
          <a:ln w="19050">
            <a:noFill/>
          </a:ln>
        </p:spPr>
        <p:txBody>
          <a:bodyPr wrap="square">
            <a:spAutoFit/>
          </a:bodyPr>
          <a:lstStyle/>
          <a:p>
            <a:pPr marL="228600" indent="-457200" algn="just">
              <a:lnSpc>
                <a:spcPct val="130000"/>
              </a:lnSpc>
              <a:spcBef>
                <a:spcPts val="1000"/>
              </a:spcBef>
              <a:buFont typeface="Wingdings" panose="05000000000000000000" pitchFamily="2" charset="2"/>
              <a:buChar char="p"/>
              <a:defRPr/>
            </a:pPr>
            <a:r>
              <a:rPr lang="en-US" sz="2400" dirty="0" err="1">
                <a:latin typeface="Arial"/>
                <a:cs typeface="Arial"/>
              </a:rPr>
              <a:t>Bahdanau</a:t>
            </a:r>
            <a:r>
              <a:rPr lang="en-US" sz="2400" spc="-27" dirty="0">
                <a:latin typeface="Arial"/>
                <a:cs typeface="Arial"/>
              </a:rPr>
              <a:t> </a:t>
            </a:r>
            <a:r>
              <a:rPr lang="en-US" sz="2400" dirty="0">
                <a:latin typeface="Arial"/>
                <a:cs typeface="Arial"/>
              </a:rPr>
              <a:t>et</a:t>
            </a:r>
            <a:r>
              <a:rPr lang="en-US" sz="2400" spc="-13" dirty="0">
                <a:latin typeface="Arial"/>
                <a:cs typeface="Arial"/>
              </a:rPr>
              <a:t> </a:t>
            </a:r>
            <a:r>
              <a:rPr lang="en-US" sz="2400" dirty="0">
                <a:latin typeface="Arial"/>
                <a:cs typeface="Arial"/>
              </a:rPr>
              <a:t>al,</a:t>
            </a:r>
            <a:r>
              <a:rPr lang="en-US" sz="2400" spc="-13" dirty="0">
                <a:latin typeface="Arial"/>
                <a:cs typeface="Arial"/>
              </a:rPr>
              <a:t> </a:t>
            </a:r>
            <a:r>
              <a:rPr lang="en-US" sz="2400" dirty="0">
                <a:latin typeface="Arial"/>
                <a:cs typeface="Arial"/>
              </a:rPr>
              <a:t>“Neural</a:t>
            </a:r>
            <a:r>
              <a:rPr lang="en-US" sz="2400" spc="-7" dirty="0">
                <a:latin typeface="Arial"/>
                <a:cs typeface="Arial"/>
              </a:rPr>
              <a:t> </a:t>
            </a:r>
            <a:r>
              <a:rPr lang="en-US" sz="2400" dirty="0">
                <a:latin typeface="Arial"/>
                <a:cs typeface="Arial"/>
              </a:rPr>
              <a:t>machine</a:t>
            </a:r>
            <a:r>
              <a:rPr lang="en-US" sz="2400" spc="-13" dirty="0">
                <a:latin typeface="Arial"/>
                <a:cs typeface="Arial"/>
              </a:rPr>
              <a:t> translation </a:t>
            </a:r>
            <a:r>
              <a:rPr lang="en-US" sz="2400" dirty="0">
                <a:latin typeface="Arial"/>
                <a:cs typeface="Arial"/>
              </a:rPr>
              <a:t>by</a:t>
            </a:r>
            <a:r>
              <a:rPr lang="en-US" sz="2400" spc="-7" dirty="0">
                <a:latin typeface="Arial"/>
                <a:cs typeface="Arial"/>
              </a:rPr>
              <a:t> </a:t>
            </a:r>
            <a:r>
              <a:rPr lang="en-US" sz="2400" dirty="0">
                <a:latin typeface="Arial"/>
                <a:cs typeface="Arial"/>
              </a:rPr>
              <a:t>jointly</a:t>
            </a:r>
            <a:r>
              <a:rPr lang="en-US" sz="2400" spc="-13" dirty="0">
                <a:latin typeface="Arial"/>
                <a:cs typeface="Arial"/>
              </a:rPr>
              <a:t> </a:t>
            </a:r>
            <a:r>
              <a:rPr lang="en-US" sz="2400" dirty="0">
                <a:latin typeface="Arial"/>
                <a:cs typeface="Arial"/>
              </a:rPr>
              <a:t>learning</a:t>
            </a:r>
            <a:r>
              <a:rPr lang="en-US" sz="2400" spc="-13" dirty="0">
                <a:latin typeface="Arial"/>
                <a:cs typeface="Arial"/>
              </a:rPr>
              <a:t> </a:t>
            </a:r>
            <a:r>
              <a:rPr lang="en-US" sz="2400" dirty="0">
                <a:latin typeface="Arial"/>
                <a:cs typeface="Arial"/>
              </a:rPr>
              <a:t>to</a:t>
            </a:r>
            <a:r>
              <a:rPr lang="en-US" sz="2400" spc="-13" dirty="0">
                <a:latin typeface="Arial"/>
                <a:cs typeface="Arial"/>
              </a:rPr>
              <a:t> </a:t>
            </a:r>
            <a:r>
              <a:rPr lang="en-US" sz="2400" dirty="0">
                <a:latin typeface="Arial"/>
                <a:cs typeface="Arial"/>
              </a:rPr>
              <a:t>align</a:t>
            </a:r>
            <a:r>
              <a:rPr lang="en-US" sz="2400" spc="-7" dirty="0">
                <a:latin typeface="Arial"/>
                <a:cs typeface="Arial"/>
              </a:rPr>
              <a:t> </a:t>
            </a:r>
            <a:r>
              <a:rPr lang="en-US" sz="2400" dirty="0">
                <a:latin typeface="Arial"/>
                <a:cs typeface="Arial"/>
              </a:rPr>
              <a:t>and</a:t>
            </a:r>
            <a:r>
              <a:rPr lang="en-US" sz="2400" spc="-13" dirty="0">
                <a:latin typeface="Arial"/>
                <a:cs typeface="Arial"/>
              </a:rPr>
              <a:t> translate”, </a:t>
            </a:r>
            <a:r>
              <a:rPr lang="en-US" sz="2400" dirty="0">
                <a:latin typeface="Arial"/>
                <a:cs typeface="Arial"/>
              </a:rPr>
              <a:t>ICLR</a:t>
            </a:r>
            <a:r>
              <a:rPr lang="en-US" sz="2400" spc="-7" dirty="0">
                <a:latin typeface="Arial"/>
                <a:cs typeface="Arial"/>
              </a:rPr>
              <a:t> </a:t>
            </a:r>
            <a:r>
              <a:rPr lang="en-US" sz="2400" spc="-27" dirty="0">
                <a:latin typeface="Arial"/>
                <a:cs typeface="Arial"/>
              </a:rPr>
              <a:t>2015</a:t>
            </a:r>
          </a:p>
          <a:p>
            <a:pPr marL="685800" lvl="1" indent="-457200" algn="just">
              <a:lnSpc>
                <a:spcPct val="130000"/>
              </a:lnSpc>
              <a:spcBef>
                <a:spcPts val="1000"/>
              </a:spcBef>
              <a:buFont typeface="Arial" panose="020B0604020202020204" pitchFamily="34" charset="0"/>
              <a:buChar char="•"/>
              <a:defRPr/>
            </a:pPr>
            <a:r>
              <a:rPr lang="zh-CN" altLang="en-US" sz="2400" spc="-27" dirty="0">
                <a:latin typeface="Arial"/>
                <a:cs typeface="Arial"/>
              </a:rPr>
              <a:t>首次提出前馈注意力实现了对任意位置上下文的动态聚合</a:t>
            </a:r>
          </a:p>
          <a:p>
            <a:pPr marL="685800" lvl="1" indent="-457200" algn="just">
              <a:lnSpc>
                <a:spcPct val="130000"/>
              </a:lnSpc>
              <a:spcBef>
                <a:spcPts val="1000"/>
              </a:spcBef>
              <a:buFont typeface="Arial" panose="020B0604020202020204" pitchFamily="34" charset="0"/>
              <a:buChar char="•"/>
              <a:defRPr/>
            </a:pPr>
            <a:r>
              <a:rPr lang="zh-CN" altLang="en-US" sz="2400" spc="-27" dirty="0">
                <a:latin typeface="Arial"/>
                <a:cs typeface="Arial"/>
              </a:rPr>
              <a:t>揭示了 </a:t>
            </a:r>
            <a:r>
              <a:rPr lang="en-US" sz="2400" spc="-27" dirty="0">
                <a:latin typeface="Arial"/>
                <a:cs typeface="Arial"/>
              </a:rPr>
              <a:t>RNN </a:t>
            </a:r>
            <a:r>
              <a:rPr lang="zh-CN" altLang="en-US" sz="2400" spc="-27" dirty="0">
                <a:latin typeface="Arial"/>
                <a:cs typeface="Arial"/>
              </a:rPr>
              <a:t>序列建模的长距依赖瓶颈，为后续自注意力动机奠定基础 </a:t>
            </a:r>
          </a:p>
          <a:p>
            <a:pPr marL="228600" indent="-457200" algn="just">
              <a:lnSpc>
                <a:spcPct val="130000"/>
              </a:lnSpc>
              <a:spcBef>
                <a:spcPts val="1000"/>
              </a:spcBef>
              <a:buFont typeface="Wingdings" panose="05000000000000000000" pitchFamily="2" charset="2"/>
              <a:buChar char="p"/>
              <a:defRPr/>
            </a:pPr>
            <a:endParaRPr lang="en-US" altLang="zh-CN" sz="2400" dirty="0"/>
          </a:p>
          <a:p>
            <a:pPr marL="228600" indent="-457200" algn="just">
              <a:lnSpc>
                <a:spcPct val="130000"/>
              </a:lnSpc>
              <a:spcBef>
                <a:spcPts val="1000"/>
              </a:spcBef>
              <a:buFont typeface="Wingdings" panose="05000000000000000000" pitchFamily="2" charset="2"/>
              <a:buChar char="p"/>
              <a:defRPr/>
            </a:pPr>
            <a:r>
              <a:rPr lang="en-US" sz="2400" dirty="0"/>
              <a:t>Vaswani, A. et al.</a:t>
            </a:r>
            <a:r>
              <a:rPr lang="zh-CN" altLang="en-US" sz="2400" dirty="0"/>
              <a:t> </a:t>
            </a:r>
            <a:r>
              <a:rPr lang="en-US" sz="2400" i="1" dirty="0"/>
              <a:t>“</a:t>
            </a:r>
            <a:r>
              <a:rPr lang="en-US" sz="2400" dirty="0"/>
              <a:t>Attention Is All You Need</a:t>
            </a:r>
            <a:r>
              <a:rPr lang="en-US" sz="2400" i="1" dirty="0"/>
              <a:t>”</a:t>
            </a:r>
            <a:r>
              <a:rPr lang="en-US" sz="2400" dirty="0"/>
              <a:t>, </a:t>
            </a:r>
            <a:r>
              <a:rPr lang="en-US" sz="2400" dirty="0" err="1"/>
              <a:t>NeurIPS</a:t>
            </a:r>
            <a:r>
              <a:rPr lang="en-US" sz="2400" dirty="0"/>
              <a:t> 2017</a:t>
            </a:r>
          </a:p>
          <a:p>
            <a:pPr marL="685800" lvl="1" indent="-457200" algn="just">
              <a:lnSpc>
                <a:spcPct val="130000"/>
              </a:lnSpc>
              <a:spcBef>
                <a:spcPts val="1000"/>
              </a:spcBef>
              <a:buFont typeface="Arial" panose="020B0604020202020204" pitchFamily="34" charset="0"/>
              <a:buChar char="•"/>
              <a:defRPr/>
            </a:pPr>
            <a:r>
              <a:rPr lang="zh-CN" altLang="en-US" sz="2400" dirty="0"/>
              <a:t>系统化提出了查询</a:t>
            </a:r>
            <a:r>
              <a:rPr lang="en-US" altLang="zh-CN" sz="2400" dirty="0"/>
              <a:t>/</a:t>
            </a:r>
            <a:r>
              <a:rPr lang="zh-CN" altLang="en-US" sz="2400" dirty="0"/>
              <a:t>键</a:t>
            </a:r>
            <a:r>
              <a:rPr lang="en-US" altLang="zh-CN" sz="2400" dirty="0"/>
              <a:t>/</a:t>
            </a:r>
            <a:r>
              <a:rPr lang="zh-CN" altLang="en-US" sz="2400" dirty="0"/>
              <a:t>值（</a:t>
            </a:r>
            <a:r>
              <a:rPr lang="en-US" altLang="zh-CN" sz="2400" dirty="0"/>
              <a:t>QKV</a:t>
            </a:r>
            <a:r>
              <a:rPr lang="zh-CN" altLang="en-US" sz="2400" dirty="0"/>
              <a:t>）与多头自注意力机制，开启纯注意力架构时代</a:t>
            </a:r>
          </a:p>
          <a:p>
            <a:pPr marL="685800" lvl="1" indent="-457200" algn="just">
              <a:lnSpc>
                <a:spcPct val="130000"/>
              </a:lnSpc>
              <a:spcBef>
                <a:spcPts val="1000"/>
              </a:spcBef>
              <a:buFont typeface="Arial" panose="020B0604020202020204" pitchFamily="34" charset="0"/>
              <a:buChar char="•"/>
              <a:defRPr/>
            </a:pPr>
            <a:r>
              <a:rPr lang="zh-CN" altLang="en-US" sz="2400" dirty="0"/>
              <a:t>通过并行化设计彻底解决了序列顺序依赖，成为 </a:t>
            </a:r>
            <a:r>
              <a:rPr lang="en-US" altLang="zh-CN" sz="2400" dirty="0"/>
              <a:t>Transformer </a:t>
            </a:r>
            <a:r>
              <a:rPr lang="zh-CN" altLang="en-US" sz="2400" dirty="0"/>
              <a:t>的核心骨架</a:t>
            </a:r>
          </a:p>
        </p:txBody>
      </p:sp>
    </p:spTree>
    <p:extLst>
      <p:ext uri="{BB962C8B-B14F-4D97-AF65-F5344CB8AC3E}">
        <p14:creationId xmlns:p14="http://schemas.microsoft.com/office/powerpoint/2010/main" val="10042667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F618D-32E2-70E8-6579-26690EDBED23}"/>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2138376D-A18C-D423-C005-752C31FFA826}"/>
              </a:ext>
            </a:extLst>
          </p:cNvPr>
          <p:cNvGrpSpPr/>
          <p:nvPr/>
        </p:nvGrpSpPr>
        <p:grpSpPr>
          <a:xfrm>
            <a:off x="0" y="-1589"/>
            <a:ext cx="12191999" cy="768585"/>
            <a:chOff x="0" y="-1589"/>
            <a:chExt cx="12191999" cy="768585"/>
          </a:xfrm>
        </p:grpSpPr>
        <p:grpSp>
          <p:nvGrpSpPr>
            <p:cNvPr id="5" name="Group 9">
              <a:extLst>
                <a:ext uri="{FF2B5EF4-FFF2-40B4-BE49-F238E27FC236}">
                  <a16:creationId xmlns:a16="http://schemas.microsoft.com/office/drawing/2014/main" id="{02384CEB-7B9E-C439-0C3A-3AFD4BB06FD1}"/>
                </a:ext>
              </a:extLst>
            </p:cNvPr>
            <p:cNvGrpSpPr>
              <a:grpSpLocks noChangeAspect="1"/>
            </p:cNvGrpSpPr>
            <p:nvPr/>
          </p:nvGrpSpPr>
          <p:grpSpPr bwMode="auto">
            <a:xfrm>
              <a:off x="0" y="-1589"/>
              <a:ext cx="12191999" cy="767234"/>
              <a:chOff x="-1" y="-1"/>
              <a:chExt cx="7719" cy="568"/>
            </a:xfrm>
          </p:grpSpPr>
          <p:sp>
            <p:nvSpPr>
              <p:cNvPr id="8" name="Freeform 7">
                <a:extLst>
                  <a:ext uri="{FF2B5EF4-FFF2-40B4-BE49-F238E27FC236}">
                    <a16:creationId xmlns:a16="http://schemas.microsoft.com/office/drawing/2014/main" id="{D49A43FE-9715-AB4D-8E78-2D271AB5AF31}"/>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9" name="AutoShape 8">
                <a:extLst>
                  <a:ext uri="{FF2B5EF4-FFF2-40B4-BE49-F238E27FC236}">
                    <a16:creationId xmlns:a16="http://schemas.microsoft.com/office/drawing/2014/main" id="{207DB792-EB97-70F0-5523-3E05C044086F}"/>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6" name="任意多边形: 形状 12">
              <a:extLst>
                <a:ext uri="{FF2B5EF4-FFF2-40B4-BE49-F238E27FC236}">
                  <a16:creationId xmlns:a16="http://schemas.microsoft.com/office/drawing/2014/main" id="{207C6846-6D74-60C9-DA67-B10C3A9084A4}"/>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7" name="文本框 18">
              <a:extLst>
                <a:ext uri="{FF2B5EF4-FFF2-40B4-BE49-F238E27FC236}">
                  <a16:creationId xmlns:a16="http://schemas.microsoft.com/office/drawing/2014/main" id="{D373A495-EE7F-D80B-9F9A-E4BAF99186CE}"/>
                </a:ext>
              </a:extLst>
            </p:cNvPr>
            <p:cNvSpPr txBox="1"/>
            <p:nvPr/>
          </p:nvSpPr>
          <p:spPr>
            <a:xfrm>
              <a:off x="350439" y="120418"/>
              <a:ext cx="1620957" cy="523220"/>
            </a:xfrm>
            <a:prstGeom prst="rect">
              <a:avLst/>
            </a:prstGeom>
            <a:noFill/>
          </p:spPr>
          <p:txBody>
            <a:bodyPr wrap="none" rtlCol="0">
              <a:spAutoFit/>
            </a:bodyPr>
            <a:lstStyle/>
            <a:p>
              <a:pPr>
                <a:defRPr/>
              </a:pPr>
              <a:r>
                <a:rPr lang="zh-CN" altLang="en-US" sz="2800" b="1">
                  <a:solidFill>
                    <a:prstClr val="white"/>
                  </a:solidFill>
                  <a:cs typeface="+mn-ea"/>
                  <a:sym typeface="+mn-lt"/>
                </a:rPr>
                <a:t>课后思考</a:t>
              </a:r>
            </a:p>
          </p:txBody>
        </p:sp>
      </p:grpSp>
      <p:sp>
        <p:nvSpPr>
          <p:cNvPr id="10" name="文本框 24">
            <a:extLst>
              <a:ext uri="{FF2B5EF4-FFF2-40B4-BE49-F238E27FC236}">
                <a16:creationId xmlns:a16="http://schemas.microsoft.com/office/drawing/2014/main" id="{582736B2-6BDA-4D78-D18F-BD08097DDB3B}"/>
              </a:ext>
            </a:extLst>
          </p:cNvPr>
          <p:cNvSpPr txBox="1"/>
          <p:nvPr/>
        </p:nvSpPr>
        <p:spPr>
          <a:xfrm>
            <a:off x="657774" y="841589"/>
            <a:ext cx="10723240" cy="2796407"/>
          </a:xfrm>
          <a:prstGeom prst="rect">
            <a:avLst/>
          </a:prstGeom>
          <a:noFill/>
          <a:ln w="19050">
            <a:noFill/>
          </a:ln>
        </p:spPr>
        <p:txBody>
          <a:bodyPr wrap="square">
            <a:spAutoFit/>
          </a:bodyPr>
          <a:lstStyle/>
          <a:p>
            <a:pPr marL="457200" marR="0" lvl="0" indent="-457200" algn="just"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lang="zh-CN" altLang="en-US" sz="2400"/>
              <a:t>在注意力机制中，“注意力”具体指的是什么？举一个日常生活中的例子，说明注意力机制是如何帮助人类更有效地处理信息的。</a:t>
            </a:r>
            <a:endParaRPr lang="en-US" altLang="zh-CN" sz="2400"/>
          </a:p>
          <a:p>
            <a:pPr marL="457200" marR="0" lvl="0" indent="-457200" algn="just"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endParaRPr kumimoji="0" lang="zh-CN" altLang="en-US" sz="2400" b="1" i="0" u="none" strike="noStrike" kern="100" cap="none" spc="0" normalizeH="0" baseline="0" noProof="0">
              <a:ln>
                <a:noFill/>
              </a:ln>
              <a:solidFill>
                <a:prstClr val="black"/>
              </a:solidFill>
              <a:effectLst/>
              <a:uLnTx/>
              <a:uFillTx/>
              <a:cs typeface="+mn-ea"/>
              <a:sym typeface="+mn-lt"/>
            </a:endParaRPr>
          </a:p>
          <a:p>
            <a:pPr marL="457200" marR="0" lvl="0" indent="-457200" algn="just"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lang="zh-CN" altLang="en-US" sz="2400"/>
              <a:t>注意力得分（</a:t>
            </a:r>
            <a:r>
              <a:rPr lang="en-US" sz="2400"/>
              <a:t>Attention Score）</a:t>
            </a:r>
            <a:r>
              <a:rPr lang="zh-CN" altLang="en-US" sz="2400"/>
              <a:t>为什么需要进行归一化（如使用</a:t>
            </a:r>
            <a:r>
              <a:rPr lang="en-US" sz="2400" err="1"/>
              <a:t>Softmax</a:t>
            </a:r>
            <a:r>
              <a:rPr lang="zh-CN" altLang="en-US" sz="2400"/>
              <a:t>函数）？如果不进行归一化，可能会出现哪些问题？</a:t>
            </a:r>
            <a:endParaRPr kumimoji="0" lang="en-US" altLang="zh-CN" sz="2400" b="1" i="0" u="none" strike="noStrike" kern="100" cap="none" spc="0" normalizeH="0" baseline="0" noProof="0">
              <a:ln>
                <a:noFill/>
              </a:ln>
              <a:solidFill>
                <a:prstClr val="black"/>
              </a:solidFill>
              <a:effectLst/>
              <a:uLnTx/>
              <a:uFillTx/>
              <a:cs typeface="+mn-ea"/>
              <a:sym typeface="+mn-lt"/>
            </a:endParaRPr>
          </a:p>
        </p:txBody>
      </p:sp>
    </p:spTree>
    <p:extLst>
      <p:ext uri="{BB962C8B-B14F-4D97-AF65-F5344CB8AC3E}">
        <p14:creationId xmlns:p14="http://schemas.microsoft.com/office/powerpoint/2010/main" val="39883134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402a1233-a9f0-48c5-9afd-f14827add457&quot;,&quot;Name&quot;:null,&quot;Kind&quot;:1,&quot;OldGuidesSetting&quot;:{&quot;HeaderHeight&quot;:0.0,&quot;FooterHeight&quot;:0.0,&quot;SideMargin&quot;:0.0,&quot;TopMargin&quot;:0.0,&quot;BottomMargin&quot;:0.0,&quot;IntervalMargin&quot;:0.0}}"/>
</p:tagLst>
</file>

<file path=ppt/tags/tag2.xml><?xml version="1.0" encoding="utf-8"?>
<p:tagLst xmlns:a="http://schemas.openxmlformats.org/drawingml/2006/main" xmlns:r="http://schemas.openxmlformats.org/officeDocument/2006/relationships" xmlns:p="http://schemas.openxmlformats.org/presentationml/2006/main">
  <p:tag name="ISLIDE.DIAGRAM" val="#950666;"/>
</p:tagLst>
</file>

<file path=ppt/tags/tag3.xml><?xml version="1.0" encoding="utf-8"?>
<p:tagLst xmlns:a="http://schemas.openxmlformats.org/drawingml/2006/main" xmlns:r="http://schemas.openxmlformats.org/officeDocument/2006/relationships" xmlns:p="http://schemas.openxmlformats.org/presentationml/2006/main">
  <p:tag name="ISLIDE.DIAGRAM" val="#950666;"/>
</p:tagLst>
</file>

<file path=ppt/tags/tag4.xml><?xml version="1.0" encoding="utf-8"?>
<p:tagLst xmlns:a="http://schemas.openxmlformats.org/drawingml/2006/main" xmlns:r="http://schemas.openxmlformats.org/officeDocument/2006/relationships" xmlns:p="http://schemas.openxmlformats.org/presentationml/2006/main">
  <p:tag name="ISLIDE.DIAGRAM" val="#950666;"/>
</p:tagLst>
</file>

<file path=ppt/tags/tag5.xml><?xml version="1.0" encoding="utf-8"?>
<p:tagLst xmlns:a="http://schemas.openxmlformats.org/drawingml/2006/main" xmlns:r="http://schemas.openxmlformats.org/officeDocument/2006/relationships" xmlns:p="http://schemas.openxmlformats.org/presentationml/2006/main">
  <p:tag name="REFSHAPE" val="998277628"/>
  <p:tag name="KSO_WM_UNIT_PLACING_PICTURE_USER_VIEWPORT" val="{&quot;height&quot;:2874,&quot;width&quot;:6955}"/>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ont">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2973</TotalTime>
  <Words>4959</Words>
  <Application>Microsoft Macintosh PowerPoint</Application>
  <PresentationFormat>Widescreen</PresentationFormat>
  <Paragraphs>947</Paragraphs>
  <Slides>46</Slides>
  <Notes>45</Notes>
  <HiddenSlides>2</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46</vt:i4>
      </vt:variant>
    </vt:vector>
  </HeadingPairs>
  <TitlesOfParts>
    <vt:vector size="57" baseType="lpstr">
      <vt:lpstr>等线</vt:lpstr>
      <vt:lpstr>Microsoft YaHei</vt:lpstr>
      <vt:lpstr>Microsoft YaHei</vt:lpstr>
      <vt:lpstr>Microsoft YaHei Semibold</vt:lpstr>
      <vt:lpstr>Arial</vt:lpstr>
      <vt:lpstr>Calibri</vt:lpstr>
      <vt:lpstr>Cambria Math</vt:lpstr>
      <vt:lpstr>Helvetica</vt:lpstr>
      <vt:lpstr>Times New Roman</vt:lpstr>
      <vt:lpstr>Wingdings</vt:lpstr>
      <vt:lpstr>1_Office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Yan Song</dc:creator>
  <cp:lastModifiedBy>Qiyu Kang</cp:lastModifiedBy>
  <cp:revision>119</cp:revision>
  <dcterms:created xsi:type="dcterms:W3CDTF">2024-12-31T08:18:00Z</dcterms:created>
  <dcterms:modified xsi:type="dcterms:W3CDTF">2026-10-12T02:58:00Z</dcterms:modified>
</cp:coreProperties>
</file>