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36" r:id="rId3"/>
    <p:sldId id="4837" r:id="rId5"/>
    <p:sldId id="4884" r:id="rId6"/>
    <p:sldId id="4886" r:id="rId7"/>
    <p:sldId id="4887" r:id="rId8"/>
    <p:sldId id="4889" r:id="rId9"/>
    <p:sldId id="4863" r:id="rId10"/>
    <p:sldId id="4879" r:id="rId11"/>
    <p:sldId id="4805" r:id="rId12"/>
    <p:sldId id="4892" r:id="rId13"/>
    <p:sldId id="4894" r:id="rId14"/>
    <p:sldId id="4900" r:id="rId15"/>
    <p:sldId id="4899" r:id="rId16"/>
    <p:sldId id="4854" r:id="rId17"/>
    <p:sldId id="4895" r:id="rId18"/>
    <p:sldId id="4896" r:id="rId19"/>
    <p:sldId id="4807" r:id="rId20"/>
    <p:sldId id="4897" r:id="rId21"/>
    <p:sldId id="4849" r:id="rId22"/>
    <p:sldId id="4898" r:id="rId23"/>
    <p:sldId id="4851" r:id="rId24"/>
    <p:sldId id="4856" r:id="rId25"/>
    <p:sldId id="4825" r:id="rId26"/>
    <p:sldId id="4831" r:id="rId27"/>
    <p:sldId id="4793" r:id="rId28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C6A1D21-F8D5-4699-9A24-19FFA6F3A92A}">
          <p14:sldIdLst>
            <p14:sldId id="4836"/>
            <p14:sldId id="4837"/>
            <p14:sldId id="4884"/>
            <p14:sldId id="4886"/>
            <p14:sldId id="4887"/>
            <p14:sldId id="4889"/>
            <p14:sldId id="4863"/>
            <p14:sldId id="4879"/>
            <p14:sldId id="4805"/>
            <p14:sldId id="4892"/>
            <p14:sldId id="4894"/>
            <p14:sldId id="4900"/>
            <p14:sldId id="4899"/>
            <p14:sldId id="4854"/>
            <p14:sldId id="4895"/>
            <p14:sldId id="4896"/>
            <p14:sldId id="4807"/>
            <p14:sldId id="4897"/>
            <p14:sldId id="4849"/>
            <p14:sldId id="4898"/>
            <p14:sldId id="4851"/>
            <p14:sldId id="4856"/>
            <p14:sldId id="4825"/>
            <p14:sldId id="4831"/>
            <p14:sldId id="479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E5FF"/>
    <a:srgbClr val="FC5507"/>
    <a:srgbClr val="B0007E"/>
    <a:srgbClr val="118CC4"/>
    <a:srgbClr val="CC0000"/>
    <a:srgbClr val="4472C4"/>
    <a:srgbClr val="203864"/>
    <a:srgbClr val="A1B8E1"/>
    <a:srgbClr val="E6F4F7"/>
    <a:srgbClr val="D0D9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78" autoAdjust="0"/>
    <p:restoredTop sz="85983" autoAdjust="0"/>
  </p:normalViewPr>
  <p:slideViewPr>
    <p:cSldViewPr snapToGrid="0">
      <p:cViewPr varScale="1">
        <p:scale>
          <a:sx n="104" d="100"/>
          <a:sy n="104" d="100"/>
        </p:scale>
        <p:origin x="232" y="5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gs" Target="tags/tag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似然 L(θ)</c:v>
                </c:pt>
              </c:strCache>
            </c:strRef>
          </c:tx>
          <c:spPr>
            <a:ln w="38100" cap="flat" cmpd="sng" algn="ctr">
              <a:solidFill>
                <a:srgbClr val="C86A2E"/>
              </a:solidFill>
              <a:prstDash val="solid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Sheet1!$A$2:$A$26</c:f>
              <c:strCache>
                <c:ptCount val="25"/>
                <c:pt idx="0">
                  <c:v>0.02</c:v>
                </c:pt>
                <c:pt idx="4">
                  <c:v>0.18</c:v>
                </c:pt>
                <c:pt idx="8">
                  <c:v>0.34</c:v>
                </c:pt>
                <c:pt idx="12">
                  <c:v>0.50</c:v>
                </c:pt>
                <c:pt idx="16">
                  <c:v>0.66</c:v>
                </c:pt>
                <c:pt idx="20">
                  <c:v>0.82</c:v>
                </c:pt>
                <c:pt idx="24">
                  <c:v>0.98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0.0003</c:v>
                </c:pt>
                <c:pt idx="4">
                  <c:v>0.0015</c:v>
                </c:pt>
                <c:pt idx="5">
                  <c:v>0.0053</c:v>
                </c:pt>
                <c:pt idx="6">
                  <c:v>0.0146</c:v>
                </c:pt>
                <c:pt idx="7">
                  <c:v>0.0337</c:v>
                </c:pt>
                <c:pt idx="8">
                  <c:v>0.0679</c:v>
                </c:pt>
                <c:pt idx="9">
                  <c:v>0.1226</c:v>
                </c:pt>
                <c:pt idx="10">
                  <c:v>0.2023</c:v>
                </c:pt>
                <c:pt idx="11">
                  <c:v>0.3086</c:v>
                </c:pt>
                <c:pt idx="12">
                  <c:v>0.4392</c:v>
                </c:pt>
                <c:pt idx="13">
                  <c:v>0.5861</c:v>
                </c:pt>
                <c:pt idx="14">
                  <c:v>0.7357</c:v>
                </c:pt>
                <c:pt idx="15">
                  <c:v>0.869</c:v>
                </c:pt>
                <c:pt idx="16">
                  <c:v>0.9643</c:v>
                </c:pt>
                <c:pt idx="17">
                  <c:v>1</c:v>
                </c:pt>
                <c:pt idx="18">
                  <c:v>0.9605</c:v>
                </c:pt>
                <c:pt idx="19">
                  <c:v>0.8412</c:v>
                </c:pt>
                <c:pt idx="20">
                  <c:v>0.6538</c:v>
                </c:pt>
                <c:pt idx="21">
                  <c:v>0.4294</c:v>
                </c:pt>
                <c:pt idx="22">
                  <c:v>0.2151</c:v>
                </c:pt>
                <c:pt idx="23">
                  <c:v>0.063</c:v>
                </c:pt>
                <c:pt idx="24">
                  <c:v>0.0031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707A8C"/>
                </a:solidFill>
                <a:latin typeface="Cambria" panose="02040503050406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l"/>
        <c:majorGridlines>
          <c:spPr>
            <a:ln w="12700" cap="flat" cmpd="sng" algn="ctr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b6b687e2-2354-478c-bed4-0af75c202b2a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EC146-7103-4549-868D-FD3600C3A4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6AA05-AB2B-4215-978B-A09B2D34874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dirty="0"/>
              <a:t>还有其他的定义和描述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dirty="0"/>
              <a:t>任务决定了输入、输出</a:t>
            </a:r>
            <a:endParaRPr lang="en-SG" altLang="zh-CN" dirty="0"/>
          </a:p>
          <a:p>
            <a:pPr algn="l">
              <a:lnSpc>
                <a:spcPct val="150000"/>
              </a:lnSpc>
            </a:pPr>
            <a:r>
              <a:rPr lang="zh-CN" altLang="en-US" dirty="0"/>
              <a:t>性能决定了得学到什么东西</a:t>
            </a:r>
            <a:endParaRPr lang="en-SG" altLang="zh-CN" dirty="0"/>
          </a:p>
          <a:p>
            <a:pPr algn="l">
              <a:lnSpc>
                <a:spcPct val="150000"/>
              </a:lnSpc>
            </a:pPr>
            <a:r>
              <a:rPr lang="zh-CN" altLang="en-US" dirty="0"/>
              <a:t>经验决定了学习的方式（监督、半监督）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/>
              <a:t>经验</a:t>
            </a:r>
            <a:r>
              <a:rPr lang="en-US" altLang="zh-CN"/>
              <a:t>E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dirty="0"/>
              <a:t>后面会陆陆续续接触到其他的损失函数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AA05-AB2B-4215-978B-A09B2D348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为什么会有概率统计？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为什么会有概率统计？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为什么会有概率统计？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为什么会有概率统计？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为什么会有概率统计？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在本模块中，我将概述我们计划在机器学习中涉及的主题</a:t>
            </a:r>
            <a:r>
              <a:rPr kumimoji="1" lang="zh-CN" altLang="en-US" dirty="0"/>
              <a:t>。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C82B69B-4CDB-45EF-AF2E-DEBF6EE82A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•</a:t>
            </a:r>
            <a:r>
              <a:rPr lang="zh-CN" altLang="en-US" dirty="0"/>
              <a:t>我们将介绍的第一种主要预测任务是回归。这里，输出</a:t>
            </a:r>
            <a:r>
              <a:rPr lang="en-US" altLang="zh-CN" dirty="0"/>
              <a:t>y</a:t>
            </a:r>
            <a:r>
              <a:rPr lang="zh-CN" altLang="en-US" dirty="0"/>
              <a:t>是一个实数</a:t>
            </a:r>
            <a:r>
              <a:rPr lang="en-US" altLang="zh-CN" dirty="0"/>
              <a:t>(</a:t>
            </a:r>
            <a:r>
              <a:rPr lang="zh-CN" altLang="en-US" dirty="0"/>
              <a:t>通常称为响应或目标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一个应用是贫困地图</a:t>
            </a:r>
            <a:r>
              <a:rPr lang="en-US" altLang="zh-CN" dirty="0"/>
              <a:t>:</a:t>
            </a:r>
            <a:r>
              <a:rPr lang="zh-CN" altLang="en-US" dirty="0"/>
              <a:t>给定一幅卫星图像，预测该地区家庭的平均资产财富指数。这是常用的衡量世界各地的贫困状况，并确定哪些地区最需要援助。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另一个应用</a:t>
            </a:r>
            <a:r>
              <a:rPr lang="en-US" altLang="zh-CN" dirty="0"/>
              <a:t>:</a:t>
            </a:r>
            <a:r>
              <a:rPr lang="zh-CN" altLang="en-US" dirty="0"/>
              <a:t>给定房子的信息</a:t>
            </a:r>
            <a:r>
              <a:rPr lang="en-US" altLang="zh-CN" dirty="0"/>
              <a:t>(</a:t>
            </a:r>
            <a:r>
              <a:rPr lang="zh-CN" altLang="en-US" dirty="0"/>
              <a:t>例如，位置，卧室数量</a:t>
            </a:r>
            <a:r>
              <a:rPr lang="en-US" altLang="zh-CN" dirty="0"/>
              <a:t>)</a:t>
            </a:r>
            <a:r>
              <a:rPr lang="zh-CN" altLang="en-US" dirty="0"/>
              <a:t>，预测它的价格。</a:t>
            </a:r>
            <a:r>
              <a:rPr lang="en-US" altLang="zh-CN" dirty="0"/>
              <a:t>•</a:t>
            </a:r>
            <a:r>
              <a:rPr lang="zh-CN" altLang="en-US" dirty="0"/>
              <a:t>第三个应用是预测某些服务的到达时间，这些服务可能是包裹递送、航班或拼车。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分类和回归之间的关键区别是分类有离散的输出</a:t>
            </a:r>
            <a:r>
              <a:rPr lang="en-US" altLang="zh-CN" dirty="0"/>
              <a:t>(</a:t>
            </a:r>
            <a:r>
              <a:rPr lang="zh-CN" altLang="en-US" dirty="0"/>
              <a:t>例如，二元分类的“是”或“否”</a:t>
            </a:r>
            <a:r>
              <a:rPr lang="en-US" altLang="zh-CN" dirty="0"/>
              <a:t>)</a:t>
            </a:r>
            <a:r>
              <a:rPr lang="zh-CN" altLang="en-US" dirty="0"/>
              <a:t>，而回归有连续的输出。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•</a:t>
            </a:r>
            <a:r>
              <a:rPr lang="zh-CN" altLang="en-US" dirty="0"/>
              <a:t>我们将介绍的第一种主要预测任务是回归。这里，输出</a:t>
            </a:r>
            <a:r>
              <a:rPr lang="en-US" altLang="zh-CN" dirty="0"/>
              <a:t>y</a:t>
            </a:r>
            <a:r>
              <a:rPr lang="zh-CN" altLang="en-US" dirty="0"/>
              <a:t>是一个实数</a:t>
            </a:r>
            <a:r>
              <a:rPr lang="en-US" altLang="zh-CN" dirty="0"/>
              <a:t>(</a:t>
            </a:r>
            <a:r>
              <a:rPr lang="zh-CN" altLang="en-US" dirty="0"/>
              <a:t>通常称为响应或目标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一个应用是贫困地图</a:t>
            </a:r>
            <a:r>
              <a:rPr lang="en-US" altLang="zh-CN" dirty="0"/>
              <a:t>:</a:t>
            </a:r>
            <a:r>
              <a:rPr lang="zh-CN" altLang="en-US" dirty="0"/>
              <a:t>给定一幅卫星图像，预测该地区家庭的平均资产财富指数。这是常用的衡量世界各地的贫困状况，并确定哪些地区最需要援助。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另一个应用</a:t>
            </a:r>
            <a:r>
              <a:rPr lang="en-US" altLang="zh-CN" dirty="0"/>
              <a:t>:</a:t>
            </a:r>
            <a:r>
              <a:rPr lang="zh-CN" altLang="en-US" dirty="0"/>
              <a:t>给定房子的信息</a:t>
            </a:r>
            <a:r>
              <a:rPr lang="en-US" altLang="zh-CN" dirty="0"/>
              <a:t>(</a:t>
            </a:r>
            <a:r>
              <a:rPr lang="zh-CN" altLang="en-US" dirty="0"/>
              <a:t>例如，位置，卧室数量</a:t>
            </a:r>
            <a:r>
              <a:rPr lang="en-US" altLang="zh-CN" dirty="0"/>
              <a:t>)</a:t>
            </a:r>
            <a:r>
              <a:rPr lang="zh-CN" altLang="en-US" dirty="0"/>
              <a:t>，预测它的价格。</a:t>
            </a:r>
            <a:r>
              <a:rPr lang="en-US" altLang="zh-CN" dirty="0"/>
              <a:t>•</a:t>
            </a:r>
            <a:r>
              <a:rPr lang="zh-CN" altLang="en-US" dirty="0"/>
              <a:t>第三个应用是预测某些服务的到达时间，这些服务可能是包裹递送、航班或拼车。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分类和回归之间的关键区别是分类有离散的输出</a:t>
            </a:r>
            <a:r>
              <a:rPr lang="en-US" altLang="zh-CN" dirty="0"/>
              <a:t>(</a:t>
            </a:r>
            <a:r>
              <a:rPr lang="zh-CN" altLang="en-US" dirty="0"/>
              <a:t>例如，二元分类的“是”或“否”</a:t>
            </a:r>
            <a:r>
              <a:rPr lang="en-US" altLang="zh-CN" dirty="0"/>
              <a:t>)</a:t>
            </a:r>
            <a:r>
              <a:rPr lang="zh-CN" altLang="en-US" dirty="0"/>
              <a:t>，而回归有连续的输出。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•</a:t>
            </a:r>
            <a:r>
              <a:rPr lang="zh-CN" altLang="en-US" dirty="0"/>
              <a:t>一个常见的预测任务是二进制分类，其中输出</a:t>
            </a:r>
            <a:r>
              <a:rPr lang="en-US" altLang="zh-CN" dirty="0"/>
              <a:t>y</a:t>
            </a:r>
            <a:r>
              <a:rPr lang="zh-CN" altLang="en-US" dirty="0"/>
              <a:t>，通常表示为正</a:t>
            </a:r>
            <a:r>
              <a:rPr lang="en-US" altLang="zh-CN" dirty="0"/>
              <a:t>(+1)</a:t>
            </a:r>
            <a:r>
              <a:rPr lang="zh-CN" altLang="en-US" dirty="0"/>
              <a:t>或负</a:t>
            </a:r>
            <a:r>
              <a:rPr lang="en-US" altLang="zh-CN" dirty="0"/>
              <a:t>(-1)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在分类任务的上下文中，</a:t>
            </a:r>
            <a:r>
              <a:rPr lang="en-US" altLang="zh-CN" dirty="0"/>
              <a:t>f</a:t>
            </a:r>
            <a:r>
              <a:rPr lang="zh-CN" altLang="en-US" dirty="0"/>
              <a:t>称为分类器，</a:t>
            </a:r>
            <a:r>
              <a:rPr lang="en-US" altLang="zh-CN" dirty="0"/>
              <a:t>y</a:t>
            </a:r>
            <a:r>
              <a:rPr lang="zh-CN" altLang="en-US" dirty="0"/>
              <a:t>称为标签</a:t>
            </a:r>
            <a:r>
              <a:rPr lang="en-US" altLang="zh-CN" dirty="0"/>
              <a:t>(</a:t>
            </a:r>
            <a:r>
              <a:rPr lang="zh-CN" altLang="en-US" dirty="0"/>
              <a:t>有时是类、类别或标签</a:t>
            </a:r>
            <a:r>
              <a:rPr lang="en-US" altLang="zh-CN" dirty="0"/>
              <a:t>)</a:t>
            </a:r>
            <a:r>
              <a:rPr lang="zh-CN" altLang="en-US" dirty="0"/>
              <a:t>。下面是一些实际应用。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一个应用是欺诈检测</a:t>
            </a:r>
            <a:r>
              <a:rPr lang="en-US" altLang="zh-CN" dirty="0"/>
              <a:t>:</a:t>
            </a:r>
            <a:r>
              <a:rPr lang="zh-CN" altLang="en-US" dirty="0"/>
              <a:t>给定信用卡交易的信息，预测它是否属于恶意交易，从而阻止交易。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另一个应用程序是管理在线讨论论坛</a:t>
            </a:r>
            <a:r>
              <a:rPr lang="en-US" altLang="zh-CN" dirty="0"/>
              <a:t>:</a:t>
            </a:r>
            <a:r>
              <a:rPr lang="zh-CN" altLang="en-US" dirty="0"/>
              <a:t>给定一个在线评论，预测它是否有毒</a:t>
            </a:r>
            <a:r>
              <a:rPr lang="en-US" altLang="zh-CN" dirty="0"/>
              <a:t>(</a:t>
            </a:r>
            <a:r>
              <a:rPr lang="zh-CN" altLang="en-US" dirty="0"/>
              <a:t>因此应该被标记或删除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最后一个应用来自物理学</a:t>
            </a:r>
            <a:r>
              <a:rPr lang="en-US" altLang="zh-CN" dirty="0"/>
              <a:t>:</a:t>
            </a:r>
            <a:r>
              <a:rPr lang="zh-CN" altLang="en-US" dirty="0"/>
              <a:t>发现希格斯玻色子后，科学家们对它的衰变方式很感兴趣。欧洲核子研究中心</a:t>
            </a:r>
            <a:r>
              <a:rPr lang="en-US" altLang="zh-CN" dirty="0"/>
              <a:t>(CERN)</a:t>
            </a:r>
            <a:r>
              <a:rPr lang="zh-CN" altLang="en-US" dirty="0"/>
              <a:t>的大型强子对撞机</a:t>
            </a:r>
            <a:r>
              <a:rPr lang="en-US" altLang="zh-CN" dirty="0"/>
              <a:t>(Large Hadron Collider)</a:t>
            </a:r>
            <a:r>
              <a:rPr lang="zh-CN" altLang="en-US" dirty="0"/>
              <a:t>让质子相互碰撞，然后探测随后发生的事件。目标是预测每个事件是希格斯玻色子衰变</a:t>
            </a:r>
            <a:r>
              <a:rPr lang="en-US" altLang="zh-CN" dirty="0"/>
              <a:t>(</a:t>
            </a:r>
            <a:r>
              <a:rPr lang="zh-CN" altLang="en-US" dirty="0"/>
              <a:t>变成两个</a:t>
            </a:r>
            <a:r>
              <a:rPr lang="en-US" altLang="zh-CN" dirty="0"/>
              <a:t>tau</a:t>
            </a:r>
            <a:r>
              <a:rPr lang="zh-CN" altLang="en-US" dirty="0"/>
              <a:t>粒子</a:t>
            </a:r>
            <a:r>
              <a:rPr lang="en-US" altLang="zh-CN" dirty="0"/>
              <a:t>)</a:t>
            </a:r>
            <a:r>
              <a:rPr lang="zh-CN" altLang="en-US" dirty="0"/>
              <a:t>还是只是背景噪声。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每个应用程序都有一个相关的</a:t>
            </a:r>
            <a:r>
              <a:rPr lang="en-US" altLang="zh-CN" dirty="0"/>
              <a:t>Kaggle</a:t>
            </a:r>
            <a:r>
              <a:rPr lang="zh-CN" altLang="en-US" dirty="0"/>
              <a:t>数据集。你可以点击图片了解更多细节。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顺便说一句，多类分类是二元分类的一种推广，其中输出</a:t>
            </a:r>
            <a:r>
              <a:rPr lang="en-US" altLang="zh-CN" dirty="0"/>
              <a:t>y</a:t>
            </a:r>
            <a:r>
              <a:rPr lang="zh-CN" altLang="en-US" dirty="0"/>
              <a:t>可以是</a:t>
            </a:r>
            <a:r>
              <a:rPr lang="en-US" altLang="zh-CN" dirty="0"/>
              <a:t>K</a:t>
            </a:r>
            <a:r>
              <a:rPr lang="zh-CN" altLang="en-US" dirty="0"/>
              <a:t>个可能值之一。例如，在数字分类中，</a:t>
            </a:r>
            <a:r>
              <a:rPr lang="en-US" altLang="zh-CN" dirty="0"/>
              <a:t>K = 10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28600" indent="-228600">
              <a:buAutoNum type="arabicPeriod"/>
            </a:pPr>
            <a:endParaRPr lang="en-SG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6AA05-AB2B-4215-978B-A09B2D348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•</a:t>
            </a:r>
            <a:r>
              <a:rPr lang="zh-CN" altLang="en-US" dirty="0"/>
              <a:t>现在让我们介绍线性回归框架。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假设我们有训练数据，由一组例子组成。每个示例</a:t>
            </a:r>
            <a:r>
              <a:rPr lang="en-US" altLang="zh-CN" dirty="0"/>
              <a:t>(</a:t>
            </a:r>
            <a:r>
              <a:rPr lang="zh-CN" altLang="en-US" dirty="0"/>
              <a:t>也称为数据点、实例、案例</a:t>
            </a:r>
            <a:r>
              <a:rPr lang="en-US" altLang="zh-CN" dirty="0"/>
              <a:t>)</a:t>
            </a:r>
            <a:r>
              <a:rPr lang="zh-CN" altLang="en-US" dirty="0"/>
              <a:t>由输入</a:t>
            </a:r>
            <a:r>
              <a:rPr lang="en-US" altLang="zh-CN" dirty="0"/>
              <a:t>x</a:t>
            </a:r>
            <a:r>
              <a:rPr lang="zh-CN" altLang="en-US" dirty="0"/>
              <a:t>和输出</a:t>
            </a:r>
            <a:r>
              <a:rPr lang="en-US" altLang="zh-CN" dirty="0"/>
              <a:t>y</a:t>
            </a:r>
            <a:r>
              <a:rPr lang="zh-CN" altLang="en-US" dirty="0"/>
              <a:t>组成。我们可以通过绘制</a:t>
            </a:r>
            <a:r>
              <a:rPr lang="en-US" altLang="zh-CN" dirty="0"/>
              <a:t>y</a:t>
            </a:r>
            <a:r>
              <a:rPr lang="zh-CN" altLang="en-US" dirty="0"/>
              <a:t>与</a:t>
            </a:r>
            <a:r>
              <a:rPr lang="en-US" altLang="zh-CN" dirty="0"/>
              <a:t>x</a:t>
            </a:r>
            <a:r>
              <a:rPr lang="zh-CN" altLang="en-US" dirty="0"/>
              <a:t>的关系来可视化训练集。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学习算法使用训练数据并生成模型</a:t>
            </a:r>
            <a:r>
              <a:rPr lang="en-US" altLang="zh-CN" dirty="0"/>
              <a:t>f</a:t>
            </a:r>
            <a:r>
              <a:rPr lang="zh-CN" altLang="en-US" dirty="0"/>
              <a:t>，我们将其称为回归上下文中的预测器。在这个例子中，</a:t>
            </a:r>
            <a:r>
              <a:rPr lang="en-US" altLang="zh-CN" dirty="0"/>
              <a:t>f</a:t>
            </a:r>
            <a:r>
              <a:rPr lang="zh-CN" altLang="en-US" dirty="0"/>
              <a:t>是红线。、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这个预测器允许我们对新的输入进行预测。例如，如果输入</a:t>
            </a:r>
            <a:r>
              <a:rPr lang="en-US" altLang="zh-CN" dirty="0"/>
              <a:t>3</a:t>
            </a:r>
            <a:r>
              <a:rPr lang="zh-CN" altLang="en-US" dirty="0"/>
              <a:t>，就得到</a:t>
            </a:r>
            <a:r>
              <a:rPr lang="en-US" altLang="zh-CN" dirty="0"/>
              <a:t>f(3)</a:t>
            </a:r>
            <a:r>
              <a:rPr lang="zh-CN" altLang="en-US" dirty="0"/>
              <a:t>对应于灰色的圆。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要完全指定学习算法，需要做出三个设计决策</a:t>
            </a:r>
            <a:r>
              <a:rPr lang="en-US" altLang="zh-CN" dirty="0"/>
              <a:t>: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首先，学习算法允许产生哪些预测因子</a:t>
            </a:r>
            <a:r>
              <a:rPr lang="en-US" altLang="zh-CN" dirty="0"/>
              <a:t>f ?</a:t>
            </a:r>
            <a:r>
              <a:rPr lang="zh-CN" altLang="en-US" dirty="0"/>
              <a:t>只有直线还是曲线</a:t>
            </a:r>
            <a:r>
              <a:rPr lang="en-US" altLang="zh-CN" dirty="0"/>
              <a:t>?</a:t>
            </a:r>
            <a:r>
              <a:rPr lang="zh-CN" altLang="en-US" dirty="0"/>
              <a:t>换句话说，假设类是什么</a:t>
            </a:r>
            <a:r>
              <a:rPr lang="en-US" altLang="zh-CN" dirty="0"/>
              <a:t>?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第二，学习算法如何判断哪个预测器是好的</a:t>
            </a:r>
            <a:r>
              <a:rPr lang="en-US" altLang="zh-CN" dirty="0"/>
              <a:t>?</a:t>
            </a:r>
            <a:r>
              <a:rPr lang="zh-CN" altLang="en-US" dirty="0"/>
              <a:t>换句话说，损失函数是什么</a:t>
            </a:r>
            <a:r>
              <a:rPr lang="en-US" altLang="zh-CN" dirty="0"/>
              <a:t>?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最后，学习算法是如何找到最佳预测器的</a:t>
            </a:r>
            <a:r>
              <a:rPr lang="en-US" altLang="zh-CN" dirty="0"/>
              <a:t>?</a:t>
            </a:r>
            <a:r>
              <a:rPr lang="zh-CN" altLang="en-US" dirty="0"/>
              <a:t>换句话说，优化算法是什么</a:t>
            </a:r>
            <a:r>
              <a:rPr lang="en-US" altLang="zh-CN" dirty="0"/>
              <a:t>?</a:t>
            </a:r>
            <a:endParaRPr lang="en-SG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•</a:t>
            </a:r>
            <a:r>
              <a:rPr lang="zh-CN" altLang="en-US" dirty="0"/>
              <a:t>让我们考虑第一个设计决策</a:t>
            </a:r>
            <a:r>
              <a:rPr lang="en-US" altLang="zh-CN" dirty="0"/>
              <a:t>:</a:t>
            </a:r>
            <a:r>
              <a:rPr lang="zh-CN" altLang="en-US" dirty="0"/>
              <a:t>假设类是什么</a:t>
            </a:r>
            <a:r>
              <a:rPr lang="en-US" altLang="zh-CN" dirty="0"/>
              <a:t>?</a:t>
            </a:r>
            <a:r>
              <a:rPr lang="zh-CN" altLang="en-US" dirty="0"/>
              <a:t>一个可能的预测器是红线，其中截距为</a:t>
            </a:r>
            <a:r>
              <a:rPr lang="en-US" altLang="zh-CN" dirty="0"/>
              <a:t>1</a:t>
            </a:r>
            <a:r>
              <a:rPr lang="zh-CN" altLang="en-US" dirty="0"/>
              <a:t>，斜率为</a:t>
            </a:r>
            <a:r>
              <a:rPr lang="en-US" altLang="zh-CN" dirty="0"/>
              <a:t>0.57</a:t>
            </a:r>
            <a:r>
              <a:rPr lang="zh-CN" altLang="en-US" dirty="0"/>
              <a:t>，另一个预测器是紫色线，其中截距为</a:t>
            </a:r>
            <a:r>
              <a:rPr lang="en-US" altLang="zh-CN" dirty="0"/>
              <a:t>2</a:t>
            </a:r>
            <a:r>
              <a:rPr lang="zh-CN" altLang="en-US" dirty="0"/>
              <a:t>，斜率为</a:t>
            </a:r>
            <a:r>
              <a:rPr lang="en-US" altLang="zh-CN" dirty="0"/>
              <a:t>0.2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一般来说，让我们考虑所有形式为</a:t>
            </a:r>
            <a:r>
              <a:rPr lang="en-US" altLang="zh-CN" dirty="0"/>
              <a:t>f(x) = w1 + w2x</a:t>
            </a:r>
            <a:r>
              <a:rPr lang="zh-CN" altLang="en-US" dirty="0"/>
              <a:t>的预测因子，其中截距</a:t>
            </a:r>
            <a:r>
              <a:rPr lang="en-US" altLang="zh-CN" dirty="0"/>
              <a:t>w1</a:t>
            </a:r>
            <a:r>
              <a:rPr lang="zh-CN" altLang="en-US" dirty="0"/>
              <a:t>和斜率</a:t>
            </a:r>
            <a:r>
              <a:rPr lang="en-US" altLang="zh-CN" dirty="0"/>
              <a:t>w2</a:t>
            </a:r>
            <a:r>
              <a:rPr lang="zh-CN" altLang="en-US" dirty="0"/>
              <a:t>可以是任意实数。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现在让我们用向量符号进一步推广。让我们将截距和斜率打包成一个向量，我们将其称为权重向量</a:t>
            </a:r>
            <a:r>
              <a:rPr lang="en-US" altLang="zh-CN" dirty="0"/>
              <a:t>(</a:t>
            </a:r>
            <a:r>
              <a:rPr lang="zh-CN" altLang="en-US" dirty="0"/>
              <a:t>更一般地称为模型的参数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类似地，我们将定义一个特征提取器</a:t>
            </a:r>
            <a:r>
              <a:rPr lang="en-US" altLang="zh-CN" dirty="0"/>
              <a:t>(</a:t>
            </a:r>
            <a:r>
              <a:rPr lang="zh-CN" altLang="en-US" dirty="0"/>
              <a:t>也称为特征映射</a:t>
            </a:r>
            <a:r>
              <a:rPr lang="en-US" altLang="zh-CN" dirty="0"/>
              <a:t>)φ</a:t>
            </a:r>
            <a:r>
              <a:rPr lang="zh-CN" altLang="en-US" dirty="0"/>
              <a:t>，它取</a:t>
            </a:r>
            <a:r>
              <a:rPr lang="en-US" altLang="zh-CN" dirty="0"/>
              <a:t>x</a:t>
            </a:r>
            <a:r>
              <a:rPr lang="zh-CN" altLang="en-US" dirty="0"/>
              <a:t>并将其转换为特征向量</a:t>
            </a:r>
            <a:r>
              <a:rPr lang="en-US" altLang="zh-CN" dirty="0"/>
              <a:t>[1,x]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现在我们可以简洁地将预测器</a:t>
            </a:r>
            <a:r>
              <a:rPr lang="en-US" altLang="zh-CN" dirty="0" err="1"/>
              <a:t>fw</a:t>
            </a:r>
            <a:r>
              <a:rPr lang="zh-CN" altLang="en-US" dirty="0"/>
              <a:t>写成权重向量和特征向量之间的点积，我们称之为分数。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为了看到这个预测器的作用，让我们将</a:t>
            </a:r>
            <a:r>
              <a:rPr lang="en-US" altLang="zh-CN" dirty="0"/>
              <a:t>x = 3</a:t>
            </a:r>
            <a:r>
              <a:rPr lang="zh-CN" altLang="en-US" dirty="0"/>
              <a:t>作为输入，并进行点积。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最后，将假设类</a:t>
            </a:r>
            <a:r>
              <a:rPr lang="en-US" altLang="zh-CN" dirty="0"/>
              <a:t>F</a:t>
            </a:r>
            <a:r>
              <a:rPr lang="zh-CN" altLang="en-US" dirty="0"/>
              <a:t>定义为所有可能的预测因子</a:t>
            </a:r>
            <a:r>
              <a:rPr lang="en-US" altLang="zh-CN" dirty="0" err="1"/>
              <a:t>fw</a:t>
            </a:r>
            <a:r>
              <a:rPr lang="zh-CN" altLang="en-US" dirty="0"/>
              <a:t>的集合，因为我们在所有可能的权重向量</a:t>
            </a:r>
            <a:r>
              <a:rPr lang="en-US" altLang="zh-CN" dirty="0"/>
              <a:t>w</a:t>
            </a:r>
            <a:r>
              <a:rPr lang="zh-CN" altLang="en-US" dirty="0"/>
              <a:t>范围内。这是我们希望我们的学习算法考虑的可能函数。</a:t>
            </a:r>
            <a:endParaRPr lang="en-SG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关键是特征提取器</a:t>
            </a:r>
            <a:r>
              <a:rPr lang="en-US" altLang="zh-CN" dirty="0"/>
              <a:t>φ</a:t>
            </a:r>
            <a:r>
              <a:rPr lang="zh-CN" altLang="en-US" dirty="0"/>
              <a:t>可以是任意的。让我们定义它包含一个</a:t>
            </a:r>
            <a:r>
              <a:rPr lang="en-US" altLang="zh-CN" dirty="0"/>
              <a:t>x2</a:t>
            </a:r>
            <a:r>
              <a:rPr lang="zh-CN" altLang="en-US" dirty="0"/>
              <a:t>项。</a:t>
            </a:r>
            <a:endParaRPr lang="zh-CN" altLang="en-US" dirty="0"/>
          </a:p>
          <a:p>
            <a:r>
              <a:rPr lang="en-US" altLang="zh-CN" dirty="0"/>
              <a:t>•</a:t>
            </a:r>
            <a:r>
              <a:rPr lang="zh-CN" altLang="en-US" dirty="0"/>
              <a:t>现在，通过适当地设置权重，我们可以定义一个非线性</a:t>
            </a:r>
            <a:r>
              <a:rPr lang="en-US" altLang="zh-CN" dirty="0"/>
              <a:t>(</a:t>
            </a:r>
            <a:r>
              <a:rPr lang="zh-CN" altLang="en-US" dirty="0"/>
              <a:t>特别是二次型</a:t>
            </a:r>
            <a:r>
              <a:rPr lang="en-US" altLang="zh-CN" dirty="0"/>
              <a:t>)</a:t>
            </a:r>
            <a:r>
              <a:rPr lang="zh-CN" altLang="en-US" dirty="0"/>
              <a:t>预测器。</a:t>
            </a:r>
            <a:endParaRPr lang="zh-CN" altLang="en-US" dirty="0"/>
          </a:p>
          <a:p>
            <a:r>
              <a:rPr lang="en-US" altLang="zh-CN" dirty="0"/>
              <a:t>•</a:t>
            </a:r>
            <a:r>
              <a:rPr lang="zh-CN" altLang="en-US" dirty="0"/>
              <a:t>前两个二次预测器的例子在截距、斜率和曲率上有所不同。</a:t>
            </a:r>
            <a:endParaRPr lang="zh-CN" altLang="en-US" dirty="0"/>
          </a:p>
          <a:p>
            <a:r>
              <a:rPr lang="en-US" altLang="zh-CN" dirty="0"/>
              <a:t>•</a:t>
            </a:r>
            <a:r>
              <a:rPr lang="zh-CN" altLang="en-US" dirty="0"/>
              <a:t>请注意，通过将特征</a:t>
            </a:r>
            <a:r>
              <a:rPr lang="en-US" altLang="zh-CN" dirty="0"/>
              <a:t>x2</a:t>
            </a:r>
            <a:r>
              <a:rPr lang="zh-CN" altLang="en-US" dirty="0"/>
              <a:t>的权重设置为零，我们可以恢复线性预测器。</a:t>
            </a:r>
            <a:endParaRPr lang="zh-CN" altLang="en-US" dirty="0"/>
          </a:p>
          <a:p>
            <a:r>
              <a:rPr lang="en-US" altLang="zh-CN" dirty="0"/>
              <a:t>•</a:t>
            </a:r>
            <a:r>
              <a:rPr lang="zh-CN" altLang="en-US" dirty="0"/>
              <a:t>同样，假设类是通过改变</a:t>
            </a:r>
            <a:r>
              <a:rPr lang="en-US" altLang="zh-CN" dirty="0"/>
              <a:t>w</a:t>
            </a:r>
            <a:r>
              <a:rPr lang="zh-CN" altLang="en-US" dirty="0"/>
              <a:t>得到的所有预测因子</a:t>
            </a:r>
            <a:r>
              <a:rPr lang="en-US" altLang="zh-CN" dirty="0" err="1"/>
              <a:t>fw</a:t>
            </a:r>
            <a:r>
              <a:rPr lang="zh-CN" altLang="en-US" dirty="0"/>
              <a:t>的集合。</a:t>
            </a:r>
            <a:endParaRPr lang="zh-CN" altLang="en-US" dirty="0"/>
          </a:p>
          <a:p>
            <a:r>
              <a:rPr lang="en-US" altLang="zh-CN" dirty="0"/>
              <a:t>•</a:t>
            </a:r>
            <a:r>
              <a:rPr lang="zh-CN" altLang="en-US" dirty="0"/>
              <a:t>请注意，二次预测器的假设类是线性预测器假设类的超集。</a:t>
            </a:r>
            <a:endParaRPr lang="zh-CN" altLang="en-US" dirty="0"/>
          </a:p>
          <a:p>
            <a:r>
              <a:rPr lang="en-US" altLang="zh-CN" dirty="0"/>
              <a:t>•</a:t>
            </a:r>
            <a:r>
              <a:rPr lang="zh-CN" altLang="en-US" dirty="0"/>
              <a:t>总之，我们已经看到了通过改变特征提取器</a:t>
            </a:r>
            <a:r>
              <a:rPr lang="en-US" altLang="zh-CN" dirty="0"/>
              <a:t>φ</a:t>
            </a:r>
            <a:r>
              <a:rPr lang="zh-CN" altLang="en-US" dirty="0"/>
              <a:t>来获得非线性预测器的第一个例子</a:t>
            </a:r>
            <a:r>
              <a:rPr lang="en-US" altLang="zh-CN" dirty="0"/>
              <a:t>!</a:t>
            </a:r>
            <a:endParaRPr lang="en-US" altLang="zh-CN" dirty="0"/>
          </a:p>
          <a:p>
            <a:r>
              <a:rPr lang="en-US" altLang="zh-CN" dirty="0"/>
              <a:t>•</a:t>
            </a:r>
            <a:r>
              <a:rPr lang="zh-CN" altLang="en-US" dirty="0"/>
              <a:t>高级</a:t>
            </a:r>
            <a:r>
              <a:rPr lang="en-US" altLang="zh-CN" dirty="0"/>
              <a:t>:</a:t>
            </a:r>
            <a:r>
              <a:rPr lang="zh-CN" altLang="en-US" dirty="0"/>
              <a:t>这里</a:t>
            </a:r>
            <a:r>
              <a:rPr lang="en-US" altLang="zh-CN" dirty="0" err="1"/>
              <a:t>x∈R</a:t>
            </a:r>
            <a:r>
              <a:rPr lang="zh-CN" altLang="en-US" dirty="0"/>
              <a:t>是一维的，所以</a:t>
            </a:r>
            <a:r>
              <a:rPr lang="en-US" altLang="zh-CN" dirty="0"/>
              <a:t>x2</a:t>
            </a:r>
            <a:r>
              <a:rPr lang="zh-CN" altLang="en-US" dirty="0"/>
              <a:t>只是一个额外的特征。如果</a:t>
            </a:r>
            <a:r>
              <a:rPr lang="en-US" altLang="zh-CN" dirty="0" err="1"/>
              <a:t>x∈Rd</a:t>
            </a:r>
            <a:r>
              <a:rPr lang="zh-CN" altLang="en-US" dirty="0"/>
              <a:t>是</a:t>
            </a:r>
            <a:r>
              <a:rPr lang="en-US" altLang="zh-CN" dirty="0"/>
              <a:t>d</a:t>
            </a:r>
            <a:r>
              <a:rPr lang="zh-CN" altLang="en-US" dirty="0"/>
              <a:t>维的，那么对于</a:t>
            </a:r>
            <a:r>
              <a:rPr lang="en-US" altLang="zh-CN" dirty="0" err="1"/>
              <a:t>i</a:t>
            </a:r>
            <a:r>
              <a:rPr lang="en-US" altLang="zh-CN" dirty="0"/>
              <a:t>, j∈{1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有</a:t>
            </a:r>
            <a:r>
              <a:rPr lang="en-US" altLang="zh-CN" dirty="0"/>
              <a:t>O(d2)</a:t>
            </a:r>
            <a:r>
              <a:rPr lang="zh-CN" altLang="en-US" dirty="0"/>
              <a:t>个</a:t>
            </a:r>
            <a:r>
              <a:rPr lang="en-US" altLang="zh-CN" dirty="0" err="1"/>
              <a:t>xixj</a:t>
            </a:r>
            <a:r>
              <a:rPr lang="zh-CN" altLang="en-US" dirty="0"/>
              <a:t>形式的二次特征。</a:t>
            </a:r>
            <a:r>
              <a:rPr lang="en-US" altLang="zh-CN" dirty="0"/>
              <a:t>d}</a:t>
            </a:r>
            <a:r>
              <a:rPr lang="zh-CN" altLang="en-US" dirty="0"/>
              <a:t>。当</a:t>
            </a:r>
            <a:r>
              <a:rPr lang="en-US" altLang="zh-CN" dirty="0"/>
              <a:t>d</a:t>
            </a:r>
            <a:r>
              <a:rPr lang="zh-CN" altLang="en-US" dirty="0"/>
              <a:t>很大时，那么</a:t>
            </a:r>
            <a:r>
              <a:rPr lang="en-US" altLang="zh-CN" dirty="0"/>
              <a:t>d2</a:t>
            </a:r>
            <a:r>
              <a:rPr lang="zh-CN" altLang="en-US" dirty="0"/>
              <a:t>可能会大得令人望而却步，这是使用线性预测器来增加表达性可能存在问题的原因之一。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•</a:t>
            </a:r>
            <a:r>
              <a:rPr lang="zh-CN" altLang="en-US" dirty="0"/>
              <a:t>等一下</a:t>
            </a:r>
            <a:r>
              <a:rPr lang="en-US" altLang="zh-CN" dirty="0"/>
              <a:t>……</a:t>
            </a:r>
            <a:r>
              <a:rPr lang="zh-CN" altLang="en-US" dirty="0"/>
              <a:t>如果我们还在使用线性预测器，我们怎么能得到非线性预测器呢</a:t>
            </a:r>
            <a:r>
              <a:rPr lang="en-US" altLang="zh-CN" dirty="0"/>
              <a:t>?</a:t>
            </a:r>
            <a:r>
              <a:rPr lang="zh-CN" altLang="en-US" dirty="0"/>
              <a:t>这是一种语言上的花招，因为“线性”是模棱两可的。</a:t>
            </a:r>
            <a:endParaRPr lang="zh-CN" altLang="en-US" dirty="0"/>
          </a:p>
          <a:p>
            <a:r>
              <a:rPr lang="en-US" altLang="zh-CN" dirty="0"/>
              <a:t>•</a:t>
            </a:r>
            <a:r>
              <a:rPr lang="zh-CN" altLang="en-US" dirty="0"/>
              <a:t>分数</a:t>
            </a:r>
            <a:r>
              <a:rPr lang="en-US" altLang="zh-CN" dirty="0" err="1"/>
              <a:t>w·φ</a:t>
            </a:r>
            <a:r>
              <a:rPr lang="en-US" altLang="zh-CN" dirty="0"/>
              <a:t>(x)</a:t>
            </a:r>
            <a:r>
              <a:rPr lang="zh-CN" altLang="en-US" dirty="0"/>
              <a:t>与</a:t>
            </a:r>
            <a:r>
              <a:rPr lang="en-US" altLang="zh-CN" dirty="0"/>
              <a:t>w</a:t>
            </a:r>
            <a:r>
              <a:rPr lang="zh-CN" altLang="en-US" dirty="0"/>
              <a:t>和</a:t>
            </a:r>
            <a:r>
              <a:rPr lang="en-US" altLang="zh-CN" dirty="0"/>
              <a:t>φ(x)</a:t>
            </a:r>
            <a:r>
              <a:rPr lang="zh-CN" altLang="en-US" dirty="0"/>
              <a:t>呈线性关系。然而，分数在</a:t>
            </a:r>
            <a:r>
              <a:rPr lang="en-US" altLang="zh-CN" dirty="0"/>
              <a:t>x</a:t>
            </a:r>
            <a:r>
              <a:rPr lang="zh-CN" altLang="en-US" dirty="0"/>
              <a:t>上不是线性的</a:t>
            </a:r>
            <a:r>
              <a:rPr lang="en-US" altLang="zh-CN" dirty="0"/>
              <a:t>(</a:t>
            </a:r>
            <a:r>
              <a:rPr lang="zh-CN" altLang="en-US" dirty="0"/>
              <a:t>它甚至可能没有意义，因为</a:t>
            </a:r>
            <a:r>
              <a:rPr lang="en-US" altLang="zh-CN" dirty="0"/>
              <a:t>x</a:t>
            </a:r>
            <a:r>
              <a:rPr lang="zh-CN" altLang="en-US" dirty="0"/>
              <a:t>不一定是</a:t>
            </a:r>
            <a:r>
              <a:rPr lang="en-US" altLang="zh-CN" dirty="0"/>
              <a:t>a</a:t>
            </a:r>
            <a:endParaRPr lang="en-US" altLang="zh-CN" dirty="0"/>
          </a:p>
          <a:p>
            <a:r>
              <a:rPr lang="zh-CN" altLang="en-US" dirty="0"/>
              <a:t>矢量</a:t>
            </a:r>
            <a:r>
              <a:rPr lang="en-US" altLang="zh-CN" dirty="0"/>
              <a:t>-</a:t>
            </a:r>
            <a:r>
              <a:rPr lang="zh-CN" altLang="en-US" dirty="0"/>
              <a:t>它可以是一个字符串或</a:t>
            </a:r>
            <a:r>
              <a:rPr lang="en-US" altLang="zh-CN" dirty="0"/>
              <a:t>PDF</a:t>
            </a:r>
            <a:r>
              <a:rPr lang="zh-CN" altLang="en-US" dirty="0"/>
              <a:t>文件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en-US" altLang="zh-CN" dirty="0"/>
              <a:t>•</a:t>
            </a:r>
            <a:r>
              <a:rPr lang="zh-CN" altLang="en-US" dirty="0"/>
              <a:t>其意义如下</a:t>
            </a:r>
            <a:r>
              <a:rPr lang="en-US" altLang="zh-CN" dirty="0"/>
              <a:t>:</a:t>
            </a:r>
            <a:r>
              <a:rPr lang="zh-CN" altLang="en-US" dirty="0"/>
              <a:t>从特征提取器的角度来看，我们可以定义在</a:t>
            </a:r>
            <a:r>
              <a:rPr lang="en-US" altLang="zh-CN" dirty="0"/>
              <a:t>x</a:t>
            </a:r>
            <a:r>
              <a:rPr lang="zh-CN" altLang="en-US" dirty="0"/>
              <a:t>中产生非常非线性函数的任意特征。</a:t>
            </a:r>
            <a:endParaRPr lang="zh-CN" altLang="en-US" dirty="0"/>
          </a:p>
          <a:p>
            <a:r>
              <a:rPr lang="en-US" altLang="zh-CN" dirty="0"/>
              <a:t>•</a:t>
            </a:r>
            <a:r>
              <a:rPr lang="zh-CN" altLang="en-US" dirty="0"/>
              <a:t>从学习算法的角度来看</a:t>
            </a:r>
            <a:r>
              <a:rPr lang="en-US" altLang="zh-CN" dirty="0"/>
              <a:t>(</a:t>
            </a:r>
            <a:r>
              <a:rPr lang="zh-CN" altLang="en-US" dirty="0"/>
              <a:t>只考虑</a:t>
            </a:r>
            <a:r>
              <a:rPr lang="en-US" altLang="zh-CN" dirty="0"/>
              <a:t>φ(x)</a:t>
            </a:r>
            <a:r>
              <a:rPr lang="zh-CN" altLang="en-US" dirty="0"/>
              <a:t>，而不是</a:t>
            </a:r>
            <a:r>
              <a:rPr lang="en-US" altLang="zh-CN" dirty="0"/>
              <a:t>x)</a:t>
            </a:r>
            <a:r>
              <a:rPr lang="zh-CN" altLang="en-US" dirty="0"/>
              <a:t>，线性可以有效地优化权重。</a:t>
            </a:r>
            <a:endParaRPr lang="zh-CN" altLang="en-US" dirty="0"/>
          </a:p>
          <a:p>
            <a:r>
              <a:rPr lang="en-US" altLang="zh-CN" dirty="0"/>
              <a:t>•</a:t>
            </a:r>
            <a:r>
              <a:rPr lang="zh-CN" altLang="en-US" dirty="0"/>
              <a:t>高级</a:t>
            </a:r>
            <a:r>
              <a:rPr lang="en-US" altLang="zh-CN" dirty="0"/>
              <a:t>:</a:t>
            </a:r>
            <a:r>
              <a:rPr lang="zh-CN" altLang="en-US" dirty="0"/>
              <a:t>如果分数在</a:t>
            </a:r>
            <a:r>
              <a:rPr lang="en-US" altLang="zh-CN" dirty="0"/>
              <a:t>w</a:t>
            </a:r>
            <a:r>
              <a:rPr lang="zh-CN" altLang="en-US" dirty="0"/>
              <a:t>中是线性的，损失函数</a:t>
            </a:r>
            <a:r>
              <a:rPr lang="en-US" altLang="zh-CN" dirty="0"/>
              <a:t>loss</a:t>
            </a:r>
            <a:r>
              <a:rPr lang="zh-CN" altLang="en-US" dirty="0"/>
              <a:t>是凸的</a:t>
            </a:r>
            <a:r>
              <a:rPr lang="en-US" altLang="zh-CN" dirty="0"/>
              <a:t>(</a:t>
            </a:r>
            <a:r>
              <a:rPr lang="zh-CN" altLang="en-US" dirty="0"/>
              <a:t>这适用于平方，铰链，逻辑损失，但不包括</a:t>
            </a:r>
            <a:r>
              <a:rPr lang="en-US" altLang="zh-CN" dirty="0"/>
              <a:t>0 - 1</a:t>
            </a:r>
            <a:r>
              <a:rPr lang="zh-CN" altLang="en-US" dirty="0"/>
              <a:t>损失</a:t>
            </a:r>
            <a:r>
              <a:rPr lang="en-US" altLang="zh-CN" dirty="0"/>
              <a:t>)</a:t>
            </a:r>
            <a:r>
              <a:rPr lang="zh-CN" altLang="en-US" dirty="0"/>
              <a:t>，然后最小化训练损失。</a:t>
            </a:r>
            <a:r>
              <a:rPr lang="en-US" altLang="zh-CN" dirty="0" err="1"/>
              <a:t>TrainLoss</a:t>
            </a:r>
            <a:r>
              <a:rPr lang="zh-CN" altLang="en-US" dirty="0"/>
              <a:t>是一个凸优化问题，适当步长梯度下降保证收敛到全局最小值。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</a:fld>
            <a:endParaRPr lang="zh-CN" altLang="en-US"/>
          </a:p>
        </p:txBody>
      </p:sp>
      <p:grpSp>
        <p:nvGrpSpPr>
          <p:cNvPr id="9" name="Group 9"/>
          <p:cNvGrpSpPr>
            <a:grpSpLocks noChangeAspect="1"/>
          </p:cNvGrpSpPr>
          <p:nvPr userDrawn="1"/>
        </p:nvGrpSpPr>
        <p:grpSpPr bwMode="auto">
          <a:xfrm>
            <a:off x="1" y="0"/>
            <a:ext cx="12191999" cy="767234"/>
            <a:chOff x="-1" y="-1"/>
            <a:chExt cx="7719" cy="568"/>
          </a:xfrm>
        </p:grpSpPr>
        <p:sp>
          <p:nvSpPr>
            <p:cNvPr id="10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2" name="任意多边形: 形状 12"/>
          <p:cNvSpPr/>
          <p:nvPr userDrawn="1"/>
        </p:nvSpPr>
        <p:spPr bwMode="auto">
          <a:xfrm>
            <a:off x="-7951" y="-7951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D6292-6C13-4F21-ABA9-7D7BEAFB5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11B20-7BE2-4D3A-BBD1-988185DBD1E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25.png"/><Relationship Id="rId13" Type="http://schemas.openxmlformats.org/officeDocument/2006/relationships/image" Target="../media/image24.png"/><Relationship Id="rId12" Type="http://schemas.openxmlformats.org/officeDocument/2006/relationships/image" Target="../media/image23.png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6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0439" y="120418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chemeClr val="bg1"/>
                </a:solidFill>
                <a:cs typeface="+mn-ea"/>
                <a:sym typeface="+mn-lt"/>
              </a:rPr>
              <a:t>什么是机器学习？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0439" y="966252"/>
            <a:ext cx="10785647" cy="4517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3200" b="1" dirty="0"/>
              <a:t>Tom Mitshell (1997):</a:t>
            </a:r>
            <a:endParaRPr lang="zh-CN" altLang="en-US" sz="3200" b="1" dirty="0"/>
          </a:p>
          <a:p>
            <a:pPr>
              <a:lnSpc>
                <a:spcPct val="150000"/>
              </a:lnSpc>
            </a:pPr>
            <a:r>
              <a:rPr lang="en-US" altLang="zh-CN" sz="3200" dirty="0"/>
              <a:t>	</a:t>
            </a:r>
            <a:r>
              <a:rPr lang="zh-CN" altLang="en-US" sz="3200" dirty="0"/>
              <a:t>假设用P来评估计算机程序在某类任务T上的性能，若一个程序通过利用</a:t>
            </a:r>
            <a:r>
              <a:rPr lang="zh-CN" altLang="en-US" sz="3200" dirty="0">
                <a:solidFill>
                  <a:srgbClr val="FF0000"/>
                </a:solidFill>
              </a:rPr>
              <a:t>经验E</a:t>
            </a:r>
            <a:r>
              <a:rPr lang="zh-CN" altLang="en-US" sz="3200" dirty="0"/>
              <a:t>在</a:t>
            </a:r>
            <a:r>
              <a:rPr lang="zh-CN" altLang="en-US" sz="3200" dirty="0">
                <a:solidFill>
                  <a:srgbClr val="FF0000"/>
                </a:solidFill>
              </a:rPr>
              <a:t>任务T</a:t>
            </a:r>
            <a:r>
              <a:rPr lang="zh-CN" altLang="en-US" sz="3200" dirty="0"/>
              <a:t>上获得了</a:t>
            </a:r>
            <a:r>
              <a:rPr lang="zh-CN" altLang="en-US" sz="3200" dirty="0">
                <a:solidFill>
                  <a:srgbClr val="FF0000"/>
                </a:solidFill>
              </a:rPr>
              <a:t>性能</a:t>
            </a:r>
            <a:r>
              <a:rPr lang="en-US" altLang="zh-CN" sz="3200" dirty="0">
                <a:solidFill>
                  <a:srgbClr val="FF0000"/>
                </a:solidFill>
              </a:rPr>
              <a:t>P</a:t>
            </a:r>
            <a:r>
              <a:rPr lang="zh-CN" altLang="en-US" sz="3200" dirty="0"/>
              <a:t>改善，则我们就说关于T和P，该程序对E进行了学习。</a:t>
            </a:r>
            <a:endParaRPr lang="en-US" altLang="zh-CN" sz="3200" dirty="0"/>
          </a:p>
          <a:p>
            <a:pPr>
              <a:lnSpc>
                <a:spcPct val="150000"/>
              </a:lnSpc>
            </a:pPr>
            <a:endParaRPr lang="en-US" altLang="zh-CN" sz="3200" kern="1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kumimoji="0" lang="zh-CN" altLang="en-US" sz="3200" b="1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rPr>
              <a:t>                        </a:t>
            </a:r>
            <a:r>
              <a:rPr kumimoji="0" lang="zh-CN" alt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+mn-ea"/>
                <a:sym typeface="+mn-lt"/>
              </a:rPr>
              <a:t>总结：利用经验改善任务性能</a:t>
            </a:r>
            <a:endParaRPr kumimoji="0" lang="en-US" altLang="zh-CN" sz="32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0439" y="120418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chemeClr val="bg1"/>
                </a:solidFill>
                <a:cs typeface="+mn-ea"/>
                <a:sym typeface="+mn-lt"/>
              </a:rPr>
              <a:t>什么是机器学习？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94849" y="4446506"/>
            <a:ext cx="7366936" cy="222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3200" b="1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rPr>
              <a:t>任务</a:t>
            </a:r>
            <a:r>
              <a:rPr kumimoji="0" lang="en-GB" altLang="zh-CN" sz="3200" b="1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rPr>
              <a:t>T</a:t>
            </a:r>
            <a:r>
              <a:rPr kumimoji="0" lang="zh-CN" altLang="en-GB" sz="3200" b="1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rPr>
              <a:t>：</a:t>
            </a:r>
            <a:r>
              <a:rPr kumimoji="0" lang="zh-CN" altLang="en-US" sz="320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rPr>
              <a:t>识别好瓜和坏瓜</a:t>
            </a:r>
            <a:endParaRPr kumimoji="0" lang="zh-CN" altLang="en-US" sz="3200" i="0" u="none" strike="noStrike" kern="100" cap="none" spc="0" normalizeH="0" baseline="0" noProof="0" dirty="0">
              <a:ln>
                <a:noFill/>
              </a:ln>
              <a:effectLst/>
              <a:uLnTx/>
              <a:uFillTx/>
              <a:cs typeface="+mn-ea"/>
              <a:sym typeface="+mn-lt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3200" b="1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rPr>
              <a:t>性能</a:t>
            </a:r>
            <a:r>
              <a:rPr kumimoji="0" lang="en-GB" altLang="zh-CN" sz="3200" b="1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rPr>
              <a:t>P</a:t>
            </a:r>
            <a:r>
              <a:rPr kumimoji="0" lang="zh-CN" altLang="en-GB" sz="3200" b="1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rPr>
              <a:t>：</a:t>
            </a:r>
            <a:r>
              <a:rPr kumimoji="0" lang="zh-CN" altLang="en-US" sz="320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rPr>
              <a:t>识别正确率</a:t>
            </a:r>
            <a:endParaRPr kumimoji="0" lang="zh-CN" altLang="en-US" sz="3200" i="0" u="none" strike="noStrike" kern="100" cap="none" spc="0" normalizeH="0" baseline="0" noProof="0" dirty="0">
              <a:ln>
                <a:noFill/>
              </a:ln>
              <a:effectLst/>
              <a:uLnTx/>
              <a:uFillTx/>
              <a:cs typeface="+mn-ea"/>
              <a:sym typeface="+mn-lt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3200" b="1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rPr>
              <a:t>经验</a:t>
            </a:r>
            <a:r>
              <a:rPr kumimoji="0" lang="en-GB" altLang="zh-CN" sz="3200" b="1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rPr>
              <a:t>E</a:t>
            </a:r>
            <a:r>
              <a:rPr kumimoji="0" lang="zh-CN" altLang="en-GB" sz="3200" b="1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rPr>
              <a:t>：</a:t>
            </a:r>
            <a:r>
              <a:rPr kumimoji="0" lang="zh-CN" altLang="en-US" sz="320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rPr>
              <a:t>标注好的好瓜和坏瓜的图片</a:t>
            </a:r>
            <a:endParaRPr kumimoji="0" lang="en-US" altLang="zh-CN" sz="3200" i="0" u="none" strike="noStrike" kern="100" cap="none" spc="0" normalizeH="0" baseline="0" noProof="0" dirty="0">
              <a:ln>
                <a:noFill/>
              </a:ln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612" y="2159000"/>
            <a:ext cx="1371600" cy="1270000"/>
          </a:xfrm>
          <a:prstGeom prst="rect">
            <a:avLst/>
          </a:prstGeom>
        </p:spPr>
      </p:pic>
      <p:sp>
        <p:nvSpPr>
          <p:cNvPr id="6" name="右大括号 5"/>
          <p:cNvSpPr/>
          <p:nvPr/>
        </p:nvSpPr>
        <p:spPr>
          <a:xfrm rot="10800000">
            <a:off x="4736661" y="1574659"/>
            <a:ext cx="618979" cy="2173922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" name="Picture 2" descr="我是吃瓜群众图标免费下载-图标0xeWPkgPa-新图网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387" y="1059143"/>
            <a:ext cx="1352351" cy="1352351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瓜图标图标免费下载-图标0mjaeUWej-新图网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339" y="2800657"/>
            <a:ext cx="1325956" cy="132595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7007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人工智能：从智能的外延到智能体（</a:t>
            </a:r>
            <a:r>
              <a:rPr lang="zh-CN" altLang="en-US" sz="2800" b="1" dirty="0">
                <a:solidFill>
                  <a:srgbClr val="FFFF00"/>
                </a:solidFill>
                <a:cs typeface="+mn-ea"/>
                <a:sym typeface="+mn-lt"/>
              </a:rPr>
              <a:t>回顾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57774" y="841589"/>
            <a:ext cx="10465855" cy="58041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每一种智能行为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X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都对应着一种人工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X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智能，行为</a:t>
            </a:r>
            <a:r>
              <a:rPr lang="en-US" altLang="zh-CN" sz="2400" b="1" kern="100" dirty="0">
                <a:solidFill>
                  <a:prstClr val="black"/>
                </a:solidFill>
                <a:cs typeface="+mn-ea"/>
                <a:sym typeface="+mn-lt"/>
              </a:rPr>
              <a:t>X</a:t>
            </a:r>
            <a:r>
              <a:rPr lang="zh-CN" altLang="en-US" sz="2400" b="1" kern="100" dirty="0">
                <a:solidFill>
                  <a:prstClr val="black"/>
                </a:solidFill>
                <a:cs typeface="+mn-ea"/>
                <a:sym typeface="+mn-lt"/>
              </a:rPr>
              <a:t>与环境需要进行交互</a:t>
            </a:r>
            <a:endParaRPr kumimoji="0" lang="en-SG" altLang="zh-CN" sz="24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238" y="1666934"/>
            <a:ext cx="5531887" cy="26132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4" name="矩形: 圆角 43"/>
              <p:cNvSpPr/>
              <p:nvPr/>
            </p:nvSpPr>
            <p:spPr>
              <a:xfrm>
                <a:off x="7984502" y="1920607"/>
                <a:ext cx="2309567" cy="148943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8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</m:oMath>
                  </m:oMathPara>
                </a14:m>
                <a:endParaRPr lang="zh-CN" altLang="en-US" sz="8000" dirty="0"/>
              </a:p>
            </p:txBody>
          </p:sp>
        </mc:Choice>
        <mc:Fallback>
          <p:sp>
            <p:nvSpPr>
              <p:cNvPr id="44" name="矩形: 圆角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502" y="1920607"/>
                <a:ext cx="2309567" cy="1489435"/>
              </a:xfrm>
              <a:prstGeom prst="roundRect">
                <a:avLst/>
              </a:prstGeom>
              <a:blipFill rotWithShape="1">
                <a:blip r:embed="rId2"/>
                <a:stretch>
                  <a:fillRect l="-275" t="-451" r="-271" b="-420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接箭头连接符 45"/>
          <p:cNvCxnSpPr>
            <a:endCxn id="44" idx="1"/>
          </p:cNvCxnSpPr>
          <p:nvPr/>
        </p:nvCxnSpPr>
        <p:spPr>
          <a:xfrm>
            <a:off x="6504495" y="2665325"/>
            <a:ext cx="1480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10294069" y="2663448"/>
            <a:ext cx="1480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 flipH="1">
            <a:off x="6853286" y="2201783"/>
            <a:ext cx="972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input</a:t>
            </a:r>
            <a:endParaRPr lang="zh-CN" altLang="en-US" sz="2400" dirty="0"/>
          </a:p>
        </p:txBody>
      </p:sp>
      <p:sp>
        <p:nvSpPr>
          <p:cNvPr id="50" name="文本框 49"/>
          <p:cNvSpPr txBox="1"/>
          <p:nvPr/>
        </p:nvSpPr>
        <p:spPr>
          <a:xfrm flipH="1">
            <a:off x="10491411" y="2201782"/>
            <a:ext cx="1085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output</a:t>
            </a:r>
            <a:endParaRPr lang="zh-CN" altLang="en-US" sz="2400" dirty="0"/>
          </a:p>
        </p:txBody>
      </p:sp>
      <p:sp>
        <p:nvSpPr>
          <p:cNvPr id="72" name="文本框 71"/>
          <p:cNvSpPr txBox="1"/>
          <p:nvPr/>
        </p:nvSpPr>
        <p:spPr>
          <a:xfrm flipH="1">
            <a:off x="9208746" y="1970949"/>
            <a:ext cx="1085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agent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cxnSp>
        <p:nvCxnSpPr>
          <p:cNvPr id="82" name="直接连接符 81"/>
          <p:cNvCxnSpPr>
            <a:stCxn id="50" idx="2"/>
          </p:cNvCxnSpPr>
          <p:nvPr/>
        </p:nvCxnSpPr>
        <p:spPr>
          <a:xfrm>
            <a:off x="11034071" y="2663447"/>
            <a:ext cx="0" cy="1538688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/>
          <p:cNvCxnSpPr>
            <a:endCxn id="48" idx="2"/>
          </p:cNvCxnSpPr>
          <p:nvPr/>
        </p:nvCxnSpPr>
        <p:spPr>
          <a:xfrm rot="10800000">
            <a:off x="7339475" y="2663449"/>
            <a:ext cx="3694597" cy="1559235"/>
          </a:xfrm>
          <a:prstGeom prst="bentConnector2">
            <a:avLst/>
          </a:prstGeom>
          <a:ln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 flipH="1">
            <a:off x="8467517" y="3691219"/>
            <a:ext cx="1640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feedback</a:t>
            </a:r>
            <a:endParaRPr lang="zh-CN" altLang="en-US" sz="2400" dirty="0"/>
          </a:p>
        </p:txBody>
      </p:sp>
      <p:graphicFrame>
        <p:nvGraphicFramePr>
          <p:cNvPr id="87" name="表格 86"/>
          <p:cNvGraphicFramePr>
            <a:graphicFrameLocks noGrp="1"/>
          </p:cNvGraphicFramePr>
          <p:nvPr/>
        </p:nvGraphicFramePr>
        <p:xfrm>
          <a:off x="1710523" y="4778760"/>
          <a:ext cx="8581203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886"/>
                <a:gridCol w="1225886"/>
                <a:gridCol w="1115644"/>
                <a:gridCol w="1336128"/>
                <a:gridCol w="1292517"/>
                <a:gridCol w="1247408"/>
                <a:gridCol w="1137734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人脸识别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对话问答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围棋象棋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机器翻译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数学证明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…………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input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人脸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问题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棋盘状态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语言</a:t>
                      </a:r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句子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题目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…………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output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回答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下一步落子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语言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句子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答案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…………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feedback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正确与否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正确与否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输赢（多步）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正确与否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正确与否（单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多步）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…………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0439" y="120418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chemeClr val="bg1"/>
                </a:solidFill>
                <a:cs typeface="+mn-ea"/>
                <a:sym typeface="+mn-lt"/>
              </a:rPr>
              <a:t>机器学习基本概念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58783" y="1575582"/>
          <a:ext cx="4343836" cy="2666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959"/>
                <a:gridCol w="1085959"/>
                <a:gridCol w="1085959"/>
                <a:gridCol w="1085959"/>
              </a:tblGrid>
              <a:tr h="409032">
                <a:tc>
                  <a:txBody>
                    <a:bodyPr/>
                    <a:lstStyle/>
                    <a:p>
                      <a:r>
                        <a:rPr lang="zh-CN" altLang="en-US" dirty="0"/>
                        <a:t>色泽（</a:t>
                      </a:r>
                      <a:r>
                        <a:rPr lang="en-US" altLang="zh-CN" dirty="0"/>
                        <a:t>x</a:t>
                      </a:r>
                      <a:r>
                        <a:rPr lang="en-US" altLang="zh-CN" baseline="-25000" dirty="0"/>
                        <a:t>1</a:t>
                      </a:r>
                      <a:r>
                        <a:rPr lang="zh-CN" altLang="en-US" dirty="0"/>
                        <a:t>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根蒂（</a:t>
                      </a:r>
                      <a:r>
                        <a:rPr lang="en-US" altLang="zh-CN" dirty="0"/>
                        <a:t>x</a:t>
                      </a:r>
                      <a:r>
                        <a:rPr lang="en-US" altLang="zh-CN" baseline="-25000" dirty="0"/>
                        <a:t>2</a:t>
                      </a:r>
                      <a:r>
                        <a:rPr lang="zh-CN" altLang="en-US" dirty="0"/>
                        <a:t>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敲声（</a:t>
                      </a:r>
                      <a:r>
                        <a:rPr lang="en-US" altLang="zh-CN" dirty="0"/>
                        <a:t>x</a:t>
                      </a:r>
                      <a:r>
                        <a:rPr lang="en-US" altLang="zh-CN" baseline="-25000" dirty="0"/>
                        <a:t>3</a:t>
                      </a:r>
                      <a:r>
                        <a:rPr lang="zh-CN" altLang="en-US" dirty="0"/>
                        <a:t>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好瓜（</a:t>
                      </a:r>
                      <a:r>
                        <a:rPr lang="en-US" altLang="zh-CN" dirty="0"/>
                        <a:t>y</a:t>
                      </a:r>
                      <a:r>
                        <a:rPr lang="zh-CN" altLang="en-US" dirty="0"/>
                        <a:t>）</a:t>
                      </a:r>
                      <a:endParaRPr lang="zh-CN" altLang="en-US" dirty="0"/>
                    </a:p>
                  </a:txBody>
                  <a:tcPr/>
                </a:tc>
              </a:tr>
              <a:tr h="58977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r>
                        <a:rPr lang="zh-CN" altLang="en-US" dirty="0"/>
                        <a:t>（青绿）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r>
                        <a:rPr lang="zh-CN" altLang="en-US" dirty="0"/>
                        <a:t>（蜷缩）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r>
                        <a:rPr lang="zh-CN" altLang="en-US" dirty="0"/>
                        <a:t>（浊响）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r>
                        <a:rPr lang="zh-CN" altLang="en-US" dirty="0"/>
                        <a:t>（是）</a:t>
                      </a:r>
                      <a:endParaRPr lang="zh-CN" altLang="en-US" dirty="0"/>
                    </a:p>
                  </a:txBody>
                  <a:tcPr/>
                </a:tc>
              </a:tr>
              <a:tr h="618979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（乌黑）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</a:t>
                      </a:r>
                      <a:r>
                        <a:rPr lang="zh-CN" altLang="en-US" dirty="0"/>
                        <a:t>（蜷缩）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</a:t>
                      </a:r>
                      <a:r>
                        <a:rPr lang="zh-CN" altLang="en-US" dirty="0"/>
                        <a:t>（浊响）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</a:t>
                      </a:r>
                      <a:r>
                        <a:rPr lang="zh-CN" altLang="en-US" dirty="0"/>
                        <a:t>（是）</a:t>
                      </a:r>
                      <a:endParaRPr lang="zh-CN" altLang="en-US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r>
                        <a:rPr lang="zh-CN" altLang="en-US" dirty="0"/>
                        <a:t>（青绿）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（硬挺）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（清脆）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（否）</a:t>
                      </a:r>
                      <a:endParaRPr lang="zh-CN" altLang="en-US" dirty="0"/>
                    </a:p>
                  </a:txBody>
                  <a:tcPr/>
                </a:tc>
              </a:tr>
              <a:tr h="409032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（乌黑）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（稍蜷）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（沉闷）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（否）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390802" y="840167"/>
            <a:ext cx="6098344" cy="66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800" b="1" dirty="0"/>
              <a:t>数据集</a:t>
            </a:r>
            <a:endParaRPr lang="zh-CN" altLang="en-GB" sz="2800" b="1" dirty="0"/>
          </a:p>
        </p:txBody>
      </p:sp>
      <p:sp>
        <p:nvSpPr>
          <p:cNvPr id="8" name="右大括号 7"/>
          <p:cNvSpPr/>
          <p:nvPr/>
        </p:nvSpPr>
        <p:spPr>
          <a:xfrm rot="5400000">
            <a:off x="2068509" y="2979887"/>
            <a:ext cx="432581" cy="3252035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064434" y="4913086"/>
            <a:ext cx="889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特征</a:t>
            </a:r>
            <a:endParaRPr lang="zh-CN" altLang="en-US" sz="2400" dirty="0"/>
          </a:p>
        </p:txBody>
      </p:sp>
      <p:sp>
        <p:nvSpPr>
          <p:cNvPr id="11" name="右大括号 10"/>
          <p:cNvSpPr/>
          <p:nvPr/>
        </p:nvSpPr>
        <p:spPr>
          <a:xfrm rot="5400000">
            <a:off x="4240426" y="4060003"/>
            <a:ext cx="432583" cy="1091802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098770" y="4928270"/>
            <a:ext cx="889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标签</a:t>
            </a:r>
            <a:endParaRPr lang="zh-CN" altLang="en-US" sz="2400" dirty="0"/>
          </a:p>
        </p:txBody>
      </p:sp>
      <p:sp>
        <p:nvSpPr>
          <p:cNvPr id="16" name="右大括号 15"/>
          <p:cNvSpPr/>
          <p:nvPr/>
        </p:nvSpPr>
        <p:spPr>
          <a:xfrm>
            <a:off x="4973843" y="1929710"/>
            <a:ext cx="403574" cy="652428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377417" y="2128125"/>
            <a:ext cx="889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样本</a:t>
            </a:r>
            <a:endParaRPr lang="zh-CN" altLang="en-US" sz="2400" dirty="0"/>
          </a:p>
        </p:txBody>
      </p:sp>
      <p:sp>
        <p:nvSpPr>
          <p:cNvPr id="19" name="文本框 18"/>
          <p:cNvSpPr txBox="1"/>
          <p:nvPr/>
        </p:nvSpPr>
        <p:spPr>
          <a:xfrm>
            <a:off x="407268" y="5229812"/>
            <a:ext cx="6098344" cy="66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800" b="1" dirty="0"/>
              <a:t>模型</a:t>
            </a:r>
            <a:endParaRPr lang="zh-CN" altLang="en-GB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672601" y="5992752"/>
                <a:ext cx="31494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400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2400" i="1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kumimoji="1" lang="en-US" altLang="zh-CN" sz="240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zh-CN" sz="2400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2400" i="1">
                          <a:latin typeface="Cambria Math" panose="02040503050406030204" pitchFamily="18" charset="0"/>
                        </a:rPr>
                        <m:t>bx</m:t>
                      </m:r>
                      <m:r>
                        <a:rPr kumimoji="1" lang="en-US" altLang="zh-CN" sz="24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2400" i="1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kumimoji="1" lang="en-US" altLang="zh-CN" sz="240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zh-CN" sz="2400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2400" i="1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01" y="5992752"/>
                <a:ext cx="3149452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4" t="-70" r="-283" b="-154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右大括号 20"/>
          <p:cNvSpPr/>
          <p:nvPr/>
        </p:nvSpPr>
        <p:spPr>
          <a:xfrm rot="10800000">
            <a:off x="9946018" y="5886706"/>
            <a:ext cx="403574" cy="652428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rcRect l="2428" t="2369" b="1"/>
          <a:stretch>
            <a:fillRect/>
          </a:stretch>
        </p:blipFill>
        <p:spPr>
          <a:xfrm>
            <a:off x="6093656" y="1440582"/>
            <a:ext cx="6098344" cy="346047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4187584" y="6017985"/>
                <a:ext cx="57570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400" i="1" smtClean="0">
                          <a:latin typeface="Cambria Math" panose="02040503050406030204" pitchFamily="18" charset="0"/>
                        </a:rPr>
                        <m:t>假设</m:t>
                      </m:r>
                      <m:r>
                        <m:rPr>
                          <m:sty m:val="p"/>
                        </m:rPr>
                        <a:rPr kumimoji="1" lang="en-US" altLang="zh-CN" sz="2400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240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zh-CN" sz="2400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2400" i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zh-CN" sz="24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240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zh-CN" sz="2400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zh-CN" altLang="en-US" sz="2400" b="0" i="1" smtClean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代入</m:t>
                      </m:r>
                      <m:r>
                        <m:rPr>
                          <m:sty m:val="p"/>
                        </m:rPr>
                        <a:rPr kumimoji="1" lang="en-US" altLang="zh-CN" sz="2400" i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zh-CN" sz="2400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zh-CN" altLang="en-US" sz="2400" b="0" i="1" smtClean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m:rPr>
                          <m:sty m:val="p"/>
                        </m:rPr>
                        <a:rPr kumimoji="1" lang="en-US" altLang="zh-CN" sz="2400" i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zh-CN" sz="2400" i="1" baseline="-25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zh-CN" altLang="en-US" sz="2400" b="0" i="1" smtClean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m:rPr>
                          <m:sty m:val="p"/>
                        </m:rPr>
                        <a:rPr kumimoji="1" lang="en-US" altLang="zh-CN" sz="2400" i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zh-CN" sz="2400" i="1" baseline="-2500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7584" y="6017985"/>
                <a:ext cx="5757089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7" t="-24" r="10" b="-519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10349592" y="5702040"/>
                <a:ext cx="24901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400" dirty="0"/>
                  <a:t>若≤</a:t>
                </a:r>
                <a:r>
                  <a:rPr kumimoji="1" lang="en-US" altLang="zh-CN" sz="2400" dirty="0"/>
                  <a:t>0</a:t>
                </a:r>
                <a:r>
                  <a:rPr kumimoji="1" lang="zh-CN" altLang="en-US" sz="2400" dirty="0"/>
                  <a:t>，</a:t>
                </a:r>
                <a14:m>
                  <m:oMath xmlns:m="http://schemas.openxmlformats.org/officeDocument/2006/math">
                    <m:acc>
                      <m:accPr>
                        <m:ctrlPr>
                          <a:rPr kumimoji="1"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2400" i="1" dirty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0 </a:t>
                </a:r>
                <a:endParaRPr kumimoji="1" lang="zh-CN" altLang="en-US" sz="2400" dirty="0"/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9592" y="5702040"/>
                <a:ext cx="2490186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15" t="-81" r="3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10310204" y="6262136"/>
                <a:ext cx="24901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400" dirty="0"/>
                  <a:t>若</a:t>
                </a:r>
                <a:r>
                  <a:rPr kumimoji="1" lang="en-US" altLang="zh-CN" sz="2400" dirty="0"/>
                  <a:t>&gt;0</a:t>
                </a:r>
                <a:r>
                  <a:rPr kumimoji="1" lang="zh-CN" altLang="en-US" sz="2400" dirty="0"/>
                  <a:t>，</a:t>
                </a:r>
                <a:r>
                  <a:rPr kumimoji="1" lang="en-US" altLang="zh-CN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trlPr>
                          <a:rPr kumimoji="1" lang="en-US" altLang="zh-CN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2400" i="1" dirty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1</a:t>
                </a:r>
                <a:endParaRPr kumimoji="1" lang="zh-CN" altLang="en-US" sz="2400" dirty="0"/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0204" y="6262136"/>
                <a:ext cx="2490186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14" t="-87" r="2" b="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10502423" y="5283493"/>
                <a:ext cx="145621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trlPr>
                          <a:rPr kumimoji="1" lang="en-US" altLang="zh-CN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2000" i="1" dirty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a:rPr kumimoji="1" lang="en-US" altLang="zh-CN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/>
                  <a:t>是预测值</a:t>
                </a:r>
                <a:endParaRPr lang="zh-CN" altLang="en-US" sz="2000" dirty="0"/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2423" y="5283493"/>
                <a:ext cx="1456215" cy="400110"/>
              </a:xfrm>
              <a:prstGeom prst="rect">
                <a:avLst/>
              </a:prstGeom>
              <a:blipFill rotWithShape="1">
                <a:blip r:embed="rId6"/>
                <a:stretch>
                  <a:fillRect l="-11" t="-73" r="22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/>
      <p:bldP spid="11" grpId="0" animBg="1"/>
      <p:bldP spid="12" grpId="0"/>
      <p:bldP spid="16" grpId="0" animBg="1"/>
      <p:bldP spid="18" grpId="0"/>
      <p:bldP spid="19" grpId="0"/>
      <p:bldP spid="20" grpId="0"/>
      <p:bldP spid="21" grpId="0" animBg="1"/>
      <p:bldP spid="24" grpId="0"/>
      <p:bldP spid="26" grpId="0"/>
      <p:bldP spid="27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0439" y="120418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chemeClr val="bg1"/>
                </a:solidFill>
                <a:cs typeface="+mn-ea"/>
                <a:sym typeface="+mn-lt"/>
              </a:rPr>
              <a:t>机器学习基本概念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0439" y="950595"/>
            <a:ext cx="6098344" cy="74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200" b="1" dirty="0"/>
              <a:t>不同的</a:t>
            </a:r>
            <a:r>
              <a:rPr lang="el-GR" altLang="zh-CN" sz="3200" b="1" dirty="0"/>
              <a:t>θ</a:t>
            </a:r>
            <a:r>
              <a:rPr lang="zh-CN" altLang="el-GR" sz="3200" b="1" dirty="0"/>
              <a:t>有</a:t>
            </a:r>
            <a:r>
              <a:rPr lang="zh-CN" altLang="en-US" sz="3200" b="1" dirty="0"/>
              <a:t>什么影响呢？</a:t>
            </a:r>
            <a:endParaRPr lang="zh-CN" altLang="en-GB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3914235" y="1763838"/>
                <a:ext cx="420070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3200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3200" i="1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kumimoji="1" lang="en-US" altLang="zh-CN" sz="320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zh-CN" sz="3200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3200" i="1">
                          <a:latin typeface="Cambria Math" panose="02040503050406030204" pitchFamily="18" charset="0"/>
                        </a:rPr>
                        <m:t>bx</m:t>
                      </m:r>
                      <m:r>
                        <a:rPr kumimoji="1" lang="en-US" altLang="zh-CN" sz="32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3200" i="1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kumimoji="1" lang="en-US" altLang="zh-CN" sz="320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zh-CN" sz="3200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3200" i="1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235" y="1763838"/>
                <a:ext cx="4200702" cy="492443"/>
              </a:xfrm>
              <a:prstGeom prst="rect">
                <a:avLst/>
              </a:prstGeom>
              <a:blipFill rotWithShape="1">
                <a:blip r:embed="rId1"/>
                <a:stretch>
                  <a:fillRect l="-2" t="-90" r="-235" b="-154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右大括号 27"/>
          <p:cNvSpPr/>
          <p:nvPr/>
        </p:nvSpPr>
        <p:spPr>
          <a:xfrm rot="5400000">
            <a:off x="6176454" y="1001842"/>
            <a:ext cx="360338" cy="3017156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81923" y="3828044"/>
                <a:ext cx="60983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sz="2800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23" y="3828044"/>
                <a:ext cx="6098344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5" t="-50" r="2" b="-38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81923" y="4570129"/>
                <a:ext cx="60983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sz="28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23" y="4570129"/>
                <a:ext cx="6098344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5" t="-6" r="2" b="-38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线箭头连接符 24"/>
          <p:cNvCxnSpPr/>
          <p:nvPr/>
        </p:nvCxnSpPr>
        <p:spPr>
          <a:xfrm>
            <a:off x="8371628" y="3143043"/>
            <a:ext cx="278540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线箭头连接符 30"/>
          <p:cNvCxnSpPr/>
          <p:nvPr/>
        </p:nvCxnSpPr>
        <p:spPr>
          <a:xfrm flipV="1">
            <a:off x="9764329" y="1714890"/>
            <a:ext cx="0" cy="296185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/>
              <p:cNvSpPr txBox="1"/>
              <p:nvPr/>
            </p:nvSpPr>
            <p:spPr>
              <a:xfrm>
                <a:off x="9497043" y="3138285"/>
                <a:ext cx="8904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7043" y="3138285"/>
                <a:ext cx="890445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69" t="-31" r="18" b="1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/>
              <p:cNvSpPr txBox="1"/>
              <p:nvPr/>
            </p:nvSpPr>
            <p:spPr>
              <a:xfrm>
                <a:off x="2748987" y="2841144"/>
                <a:ext cx="64641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altLang="zh-CN" sz="2800" dirty="0" smtClean="0">
                          <a:solidFill>
                            <a:srgbClr val="4F4F4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θ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8987" y="2841144"/>
                <a:ext cx="6464104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1" t="-29" r="8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线连接符 38"/>
          <p:cNvCxnSpPr/>
          <p:nvPr/>
        </p:nvCxnSpPr>
        <p:spPr>
          <a:xfrm flipV="1">
            <a:off x="8300282" y="2108376"/>
            <a:ext cx="2393521" cy="205981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/>
        </p:nvCxnSpPr>
        <p:spPr>
          <a:xfrm flipV="1">
            <a:off x="7989384" y="1480511"/>
            <a:ext cx="2393521" cy="205981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/>
            </p:nvSpPr>
            <p:spPr>
              <a:xfrm>
                <a:off x="9425697" y="2811051"/>
                <a:ext cx="89044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5697" y="2811051"/>
                <a:ext cx="890445" cy="338554"/>
              </a:xfrm>
              <a:prstGeom prst="rect">
                <a:avLst/>
              </a:prstGeom>
              <a:blipFill rotWithShape="1">
                <a:blip r:embed="rId6"/>
                <a:stretch>
                  <a:fillRect l="-44" t="-160" r="64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/>
              <p:cNvSpPr txBox="1"/>
              <p:nvPr/>
            </p:nvSpPr>
            <p:spPr>
              <a:xfrm>
                <a:off x="9396336" y="1976504"/>
                <a:ext cx="89044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6336" y="1976504"/>
                <a:ext cx="890445" cy="338554"/>
              </a:xfrm>
              <a:prstGeom prst="rect">
                <a:avLst/>
              </a:prstGeom>
              <a:blipFill rotWithShape="1">
                <a:blip r:embed="rId7"/>
                <a:stretch>
                  <a:fillRect l="-27" t="-113" r="47" b="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/>
              <p:cNvSpPr txBox="1"/>
              <p:nvPr/>
            </p:nvSpPr>
            <p:spPr>
              <a:xfrm>
                <a:off x="10765149" y="3138285"/>
                <a:ext cx="8904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5149" y="3138285"/>
                <a:ext cx="890445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71" t="-31" r="19" b="1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本框 44"/>
              <p:cNvSpPr txBox="1"/>
              <p:nvPr/>
            </p:nvSpPr>
            <p:spPr>
              <a:xfrm rot="10800000" flipH="1" flipV="1">
                <a:off x="9605174" y="1546954"/>
                <a:ext cx="6741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H="1" flipV="1">
                <a:off x="9605174" y="1546954"/>
                <a:ext cx="674182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24" t="-25" r="91" b="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/>
              <p:cNvSpPr txBox="1"/>
              <p:nvPr/>
            </p:nvSpPr>
            <p:spPr>
              <a:xfrm>
                <a:off x="10251292" y="1960917"/>
                <a:ext cx="12855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7" name="文本框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1292" y="1960917"/>
                <a:ext cx="1285568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38" t="-10" r="14" b="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/>
              <p:cNvSpPr txBox="1"/>
              <p:nvPr/>
            </p:nvSpPr>
            <p:spPr>
              <a:xfrm>
                <a:off x="9889038" y="1187347"/>
                <a:ext cx="12855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baseline="-25000" dirty="0"/>
              </a:p>
            </p:txBody>
          </p:sp>
        </mc:Choice>
        <mc:Fallback>
          <p:sp>
            <p:nvSpPr>
              <p:cNvPr id="48" name="文本框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9038" y="1187347"/>
                <a:ext cx="1285568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14" t="-144" r="40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椭圆 48"/>
          <p:cNvSpPr/>
          <p:nvPr/>
        </p:nvSpPr>
        <p:spPr>
          <a:xfrm>
            <a:off x="10267757" y="1944049"/>
            <a:ext cx="120968" cy="10568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本框 49"/>
              <p:cNvSpPr txBox="1"/>
              <p:nvPr/>
            </p:nvSpPr>
            <p:spPr>
              <a:xfrm>
                <a:off x="10085040" y="1620182"/>
                <a:ext cx="8904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0" name="文本框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5040" y="1620182"/>
                <a:ext cx="890445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68" t="-80" r="16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本框 54"/>
              <p:cNvSpPr txBox="1"/>
              <p:nvPr/>
            </p:nvSpPr>
            <p:spPr>
              <a:xfrm>
                <a:off x="2748987" y="5237889"/>
                <a:ext cx="10037049" cy="661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zh-CN" sz="2800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en-US" altLang="zh-CN" sz="2800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设置下</a:t>
                </a:r>
                <a:r>
                  <a:rPr lang="en-US" altLang="zh-CN" sz="2800" dirty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是坏瓜，</a:t>
                </a:r>
                <a:r>
                  <a:rPr kumimoji="1" lang="en-US" altLang="zh-CN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zh-CN" sz="2800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en-US" altLang="zh-CN" sz="2800" b="0" i="1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设置下</a:t>
                </a:r>
                <a:r>
                  <a:rPr lang="en-US" altLang="zh-CN" sz="2800" dirty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是好瓜 。</a:t>
                </a:r>
                <a:endParaRPr lang="zh-CN" alt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5" name="文本框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8987" y="5237889"/>
                <a:ext cx="10037049" cy="661784"/>
              </a:xfrm>
              <a:prstGeom prst="rect">
                <a:avLst/>
              </a:prstGeom>
              <a:blipFill rotWithShape="1">
                <a:blip r:embed="rId13"/>
                <a:stretch>
                  <a:fillRect l="-1" t="-62" r="3" b="-143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3553257" y="5889384"/>
                <a:ext cx="10037049" cy="6585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l-GR" sz="2800" b="1" dirty="0">
                    <a:solidFill>
                      <a:srgbClr val="FF0000"/>
                    </a:solidFill>
                  </a:rPr>
                  <a:t>不同</a:t>
                </a:r>
                <a:r>
                  <a:rPr lang="zh-CN" altLang="en-US" sz="2800" b="1" dirty="0">
                    <a:solidFill>
                      <a:srgbClr val="FF0000"/>
                    </a:solidFill>
                  </a:rPr>
                  <a:t>的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CN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</a:rPr>
                  <a:t>会导致预测的不同。</a:t>
                </a:r>
                <a:endParaRPr lang="zh-CN" altLang="en-GB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257" y="5889384"/>
                <a:ext cx="10037049" cy="658578"/>
              </a:xfrm>
              <a:prstGeom prst="rect">
                <a:avLst/>
              </a:prstGeom>
              <a:blipFill rotWithShape="1">
                <a:blip r:embed="rId14"/>
                <a:stretch>
                  <a:fillRect l="-4" t="-60" b="-40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0439" y="120418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chemeClr val="bg1"/>
                </a:solidFill>
                <a:cs typeface="+mn-ea"/>
                <a:sym typeface="+mn-lt"/>
              </a:rPr>
              <a:t>机器学习基本概念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0438" y="950595"/>
            <a:ext cx="6656233" cy="741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200" b="1" dirty="0"/>
              <a:t>损失函数可以判断哪组参数更好。</a:t>
            </a:r>
            <a:endParaRPr lang="zh-CN" altLang="en-GB" sz="3200" dirty="0"/>
          </a:p>
        </p:txBody>
      </p:sp>
      <p:sp>
        <p:nvSpPr>
          <p:cNvPr id="11" name="文本框 10"/>
          <p:cNvSpPr txBox="1"/>
          <p:nvPr/>
        </p:nvSpPr>
        <p:spPr>
          <a:xfrm>
            <a:off x="-79261" y="1833144"/>
            <a:ext cx="6265068" cy="3247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b="1" dirty="0"/>
              <a:t>0-1</a:t>
            </a:r>
            <a:r>
              <a:rPr lang="zh-CN" altLang="en-US" sz="2800" b="1" dirty="0"/>
              <a:t>损失函数：</a:t>
            </a:r>
            <a:endParaRPr lang="en-US" altLang="zh-CN" sz="2800" b="1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b="1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/>
              <a:t>绝对值损失函数：</a:t>
            </a:r>
            <a:endParaRPr lang="en-US" altLang="zh-CN" sz="2800" b="1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b="1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/>
              <a:t>平方损失函数：</a:t>
            </a:r>
            <a:endParaRPr lang="en-US" altLang="zh-CN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3076947" y="1774041"/>
                <a:ext cx="4057328" cy="8700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trlPr>
                                <a:rPr kumimoji="1"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zh-CN" altLang="en-US" sz="2000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acc>
                                <m:accPr>
                                  <m:ctrlPr>
                                    <a:rPr kumimoji="1"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0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</m:nary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acc>
                                <m:accPr>
                                  <m:ctrlPr>
                                    <a:rPr kumimoji="1"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0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acc>
                                <m:accPr>
                                  <m:ctrlPr>
                                    <a:rPr kumimoji="1"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0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947" y="1774041"/>
                <a:ext cx="4057328" cy="870046"/>
              </a:xfrm>
              <a:prstGeom prst="rect">
                <a:avLst/>
              </a:prstGeom>
              <a:blipFill rotWithShape="1">
                <a:blip r:embed="rId1"/>
                <a:stretch>
                  <a:fillRect l="-9" t="-56" r="-187" b="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2169566" y="2822408"/>
                <a:ext cx="6265068" cy="1310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9566" y="2822408"/>
                <a:ext cx="6265068" cy="1310295"/>
              </a:xfrm>
              <a:prstGeom prst="rect">
                <a:avLst/>
              </a:prstGeom>
              <a:blipFill rotWithShape="1">
                <a:blip r:embed="rId2"/>
                <a:stretch>
                  <a:fillRect l="-6" t="-36" r="9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1944200" y="4039771"/>
                <a:ext cx="6265068" cy="1310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kumimoji="1" lang="en-US" altLang="zh-CN" sz="28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  <m:r>
                            <a:rPr kumimoji="1" lang="en-US" altLang="zh-CN" sz="2800" b="0" i="1" baseline="3000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nary>
                    </m:oMath>
                  </m:oMathPara>
                </a14:m>
                <a:endParaRPr lang="zh-CN" altLang="en-US" sz="2800" baseline="30000" dirty="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200" y="4039771"/>
                <a:ext cx="6265068" cy="1310295"/>
              </a:xfrm>
              <a:prstGeom prst="rect">
                <a:avLst/>
              </a:prstGeom>
              <a:blipFill rotWithShape="1">
                <a:blip r:embed="rId3"/>
                <a:stretch>
                  <a:fillRect l="-7" t="-3336" r="10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/>
              <p:cNvSpPr txBox="1"/>
              <p:nvPr/>
            </p:nvSpPr>
            <p:spPr>
              <a:xfrm>
                <a:off x="3678554" y="5353586"/>
                <a:ext cx="71140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800" b="0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800" b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设置的损失更小，参数更好。</a:t>
                </a:r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8554" y="5353586"/>
                <a:ext cx="7114032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9" t="-102" r="2" b="-37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本框 40"/>
          <p:cNvSpPr txBox="1"/>
          <p:nvPr/>
        </p:nvSpPr>
        <p:spPr>
          <a:xfrm>
            <a:off x="2169566" y="5907405"/>
            <a:ext cx="78433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训练的过程就是在损失函数的指引下找到最好的参数设置的过程，实际上是一个优化问题。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0439" y="120418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chemeClr val="bg1"/>
                </a:solidFill>
                <a:cs typeface="+mn-ea"/>
                <a:sym typeface="+mn-lt"/>
              </a:rPr>
              <a:t>机器学习示例</a:t>
            </a:r>
            <a:r>
              <a:rPr lang="en-US" altLang="zh-CN" sz="3200" b="1" dirty="0">
                <a:solidFill>
                  <a:schemeClr val="bg1"/>
                </a:solidFill>
                <a:cs typeface="+mn-ea"/>
                <a:sym typeface="+mn-lt"/>
              </a:rPr>
              <a:t>——</a:t>
            </a:r>
            <a:r>
              <a:rPr lang="zh-CN" altLang="en-US" sz="3200" b="1" dirty="0">
                <a:solidFill>
                  <a:schemeClr val="bg1"/>
                </a:solidFill>
                <a:cs typeface="+mn-ea"/>
                <a:sym typeface="+mn-lt"/>
              </a:rPr>
              <a:t>贷款诈骗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0439" y="765645"/>
            <a:ext cx="6034863" cy="6121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什么是贷款诈骗？</a:t>
            </a:r>
            <a:endParaRPr lang="zh-CN" altLang="en-US" sz="2400" b="1" i="0" dirty="0">
              <a:solidFill>
                <a:srgbClr val="333333"/>
              </a:solidFill>
              <a:effectLst/>
              <a:latin typeface="+mj-ea"/>
              <a:ea typeface="+mj-e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贷款申请欺诈是指申请人在申请贷款过程中，通过伪造身份、收入、职业或其他材料，骗取金融机构贷款的行为。</a:t>
            </a:r>
            <a:endParaRPr lang="en-US" altLang="zh-CN" sz="2400" dirty="0"/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例如，申请人可能虚报收入、伪造工作单位，或者盗用他人身份申请贷款。</a:t>
            </a:r>
            <a:endParaRPr lang="en-US" altLang="zh-CN" sz="2400" dirty="0"/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银行可以利用历史贷款申请数据，训练机器学习模型，自动识别存在欺诈风险的申请。</a:t>
            </a:r>
            <a:endParaRPr lang="zh-CN" altLang="en-US" sz="2400" b="0" i="0" dirty="0">
              <a:solidFill>
                <a:srgbClr val="374151"/>
              </a:solidFill>
              <a:effectLst/>
              <a:latin typeface="ui-sans-serif"/>
            </a:endParaRPr>
          </a:p>
          <a:p>
            <a:pPr>
              <a:lnSpc>
                <a:spcPct val="150000"/>
              </a:lnSpc>
            </a:pPr>
            <a:br>
              <a:rPr lang="zh-CN" altLang="en-US" sz="2400" dirty="0"/>
            </a:br>
            <a:endParaRPr lang="zh-CN" altLang="en-US" sz="2400" b="0" i="0" dirty="0">
              <a:solidFill>
                <a:srgbClr val="333333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2" name="Picture 2" descr="新华视点：疫情期间网络贷款诈骗激增，警惕伸向个体经营和创业者的“黑手”-新华网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973" y="2149329"/>
            <a:ext cx="5055588" cy="323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5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7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object 2"/>
          <p:cNvSpPr txBox="1"/>
          <p:nvPr/>
        </p:nvSpPr>
        <p:spPr>
          <a:xfrm>
            <a:off x="477864" y="493409"/>
            <a:ext cx="14216097" cy="907912"/>
          </a:xfrm>
          <a:prstGeom prst="rect">
            <a:avLst/>
          </a:prstGeom>
        </p:spPr>
        <p:txBody>
          <a:bodyPr vert="horz" wrap="square" lIns="0" tIns="289531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r>
              <a:rPr lang="zh-CN" altLang="en-US" b="1" spc="-13" dirty="0"/>
              <a:t>用矩阵重写西瓜分类模型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50439" y="120418"/>
            <a:ext cx="33489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chemeClr val="bg1"/>
                </a:solidFill>
                <a:cs typeface="+mn-ea"/>
                <a:sym typeface="+mn-lt"/>
              </a:rPr>
              <a:t>5.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机器学习模型实例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685307" y="2124117"/>
          <a:ext cx="3855160" cy="3200400"/>
        </p:xfrm>
        <a:graphic>
          <a:graphicData uri="http://schemas.openxmlformats.org/drawingml/2006/table">
            <a:tbl>
              <a:tblPr firstRow="1" bandRow="1"/>
              <a:tblGrid>
                <a:gridCol w="771032"/>
                <a:gridCol w="771032"/>
                <a:gridCol w="771032"/>
                <a:gridCol w="771032"/>
                <a:gridCol w="771032"/>
              </a:tblGrid>
              <a:tr h="640080"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x</a:t>
                      </a:r>
                      <a:r>
                        <a:rPr lang="en-US" altLang="zh-CN" baseline="-25000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x</a:t>
                      </a:r>
                      <a:r>
                        <a:rPr lang="en-US" altLang="zh-CN" baseline="-25000" dirty="0"/>
                        <a:t>2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x</a:t>
                      </a:r>
                      <a:r>
                        <a:rPr lang="en-US" altLang="zh-CN" baseline="-25000" dirty="0"/>
                        <a:t>3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bias</a:t>
                      </a:r>
                      <a:endParaRPr lang="zh-CN" altLang="en-US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 b="1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</a:tr>
              <a:tr h="640080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0" name="文本框 39"/>
          <p:cNvSpPr txBox="1"/>
          <p:nvPr/>
        </p:nvSpPr>
        <p:spPr>
          <a:xfrm>
            <a:off x="599149" y="1543479"/>
            <a:ext cx="2102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</a:rPr>
              <a:t>扩展数据矩阵</a:t>
            </a:r>
            <a:endParaRPr lang="zh-CN" altLang="en-US" sz="24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0699284" y="2918765"/>
          <a:ext cx="562271" cy="1785608"/>
        </p:xfrm>
        <a:graphic>
          <a:graphicData uri="http://schemas.openxmlformats.org/drawingml/2006/table">
            <a:tbl>
              <a:tblPr firstRow="1" bandRow="1"/>
              <a:tblGrid>
                <a:gridCol w="562271"/>
              </a:tblGrid>
              <a:tr h="446402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</a:tr>
              <a:tr h="446402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</a:tr>
              <a:tr h="446402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</a:tr>
              <a:tr h="446402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609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1219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828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24384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30480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36576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42672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4876800">
                        <a:defRPr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表格 13"/>
              <p:cNvGraphicFramePr>
                <a:graphicFrameLocks noGrp="1"/>
              </p:cNvGraphicFramePr>
              <p:nvPr/>
            </p:nvGraphicFramePr>
            <p:xfrm>
              <a:off x="7439376" y="3447423"/>
              <a:ext cx="3084128" cy="64008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771032"/>
                    <a:gridCol w="771032"/>
                    <a:gridCol w="771032"/>
                    <a:gridCol w="771032"/>
                  </a:tblGrid>
                  <a:tr h="640080">
                    <a:tc>
                      <a:txBody>
                        <a:bodyPr/>
                        <a:lstStyle>
                          <a:lvl1pPr marL="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1pPr>
                          <a:lvl2pPr marL="6096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2pPr>
                          <a:lvl3pPr marL="12192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3pPr>
                          <a:lvl4pPr marL="18288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4pPr>
                          <a:lvl5pPr marL="24384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5pPr>
                          <a:lvl6pPr marL="30480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6pPr>
                          <a:lvl7pPr marL="36576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7pPr>
                          <a:lvl8pPr marL="42672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8pPr>
                          <a:lvl9pPr marL="48768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9pPr>
                        </a:lstStyle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dirty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472C4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1pPr>
                          <a:lvl2pPr marL="6096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2pPr>
                          <a:lvl3pPr marL="12192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3pPr>
                          <a:lvl4pPr marL="18288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4pPr>
                          <a:lvl5pPr marL="24384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5pPr>
                          <a:lvl6pPr marL="30480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6pPr>
                          <a:lvl7pPr marL="36576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7pPr>
                          <a:lvl8pPr marL="42672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8pPr>
                          <a:lvl9pPr marL="48768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dirty="0"/>
                            <a:t>x</a:t>
                          </a:r>
                          <a:r>
                            <a:rPr lang="en-US" altLang="zh-CN" baseline="-25000" dirty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472C4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1pPr>
                          <a:lvl2pPr marL="6096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2pPr>
                          <a:lvl3pPr marL="12192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3pPr>
                          <a:lvl4pPr marL="18288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4pPr>
                          <a:lvl5pPr marL="24384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5pPr>
                          <a:lvl6pPr marL="30480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6pPr>
                          <a:lvl7pPr marL="36576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7pPr>
                          <a:lvl8pPr marL="42672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8pPr>
                          <a:lvl9pPr marL="48768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dirty="0"/>
                            <a:t>x</a:t>
                          </a:r>
                          <a:r>
                            <a:rPr lang="en-US" altLang="zh-CN" baseline="-25000" dirty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472C4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472C4">
                            <a:tint val="40000"/>
                          </a:srgbClr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4" name="表格 13"/>
              <p:cNvGraphicFramePr>
                <a:graphicFrameLocks noGrp="1"/>
              </p:cNvGraphicFramePr>
              <p:nvPr/>
            </p:nvGraphicFramePr>
            <p:xfrm>
              <a:off x="7439376" y="3447423"/>
              <a:ext cx="3084128" cy="64008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771032"/>
                    <a:gridCol w="771032"/>
                    <a:gridCol w="771032"/>
                    <a:gridCol w="771032"/>
                  </a:tblGrid>
                  <a:tr h="6400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>
                          <a:lvl1pPr marL="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1pPr>
                          <a:lvl2pPr marL="6096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2pPr>
                          <a:lvl3pPr marL="12192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3pPr>
                          <a:lvl4pPr marL="18288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4pPr>
                          <a:lvl5pPr marL="24384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5pPr>
                          <a:lvl6pPr marL="30480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6pPr>
                          <a:lvl7pPr marL="36576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7pPr>
                          <a:lvl8pPr marL="42672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8pPr>
                          <a:lvl9pPr marL="48768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dirty="0"/>
                            <a:t>x</a:t>
                          </a:r>
                          <a:r>
                            <a:rPr lang="en-US" altLang="zh-CN" baseline="-25000" dirty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472C4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1pPr>
                          <a:lvl2pPr marL="6096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2pPr>
                          <a:lvl3pPr marL="12192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3pPr>
                          <a:lvl4pPr marL="18288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4pPr>
                          <a:lvl5pPr marL="24384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5pPr>
                          <a:lvl6pPr marL="30480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6pPr>
                          <a:lvl7pPr marL="36576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7pPr>
                          <a:lvl8pPr marL="42672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8pPr>
                          <a:lvl9pPr marL="4876800">
                            <a:defRPr>
                              <a:solidFill>
                                <a:schemeClr val="dk1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dirty="0"/>
                            <a:t>x</a:t>
                          </a:r>
                          <a:r>
                            <a:rPr lang="en-US" altLang="zh-CN" baseline="-25000" dirty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472C4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472C4">
                            <a:tint val="40000"/>
                          </a:srgb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6549143" y="3536630"/>
                <a:ext cx="10085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y</m:t>
                      </m:r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143" y="3536630"/>
                <a:ext cx="1008537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38" t="-68" r="54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右大括号 23"/>
          <p:cNvSpPr/>
          <p:nvPr/>
        </p:nvSpPr>
        <p:spPr>
          <a:xfrm rot="5400000">
            <a:off x="8842939" y="2741817"/>
            <a:ext cx="277000" cy="3084127"/>
          </a:xfrm>
          <a:prstGeom prst="rightBrace">
            <a:avLst/>
          </a:prstGeom>
          <a:noFill/>
          <a:ln w="3810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8704579" y="4398831"/>
                <a:ext cx="5537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579" y="4398831"/>
                <a:ext cx="553720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114" t="-40" r="114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右大括号 33"/>
          <p:cNvSpPr/>
          <p:nvPr/>
        </p:nvSpPr>
        <p:spPr>
          <a:xfrm>
            <a:off x="11275236" y="2962984"/>
            <a:ext cx="277000" cy="1676561"/>
          </a:xfrm>
          <a:prstGeom prst="rightBrace">
            <a:avLst/>
          </a:prstGeom>
          <a:noFill/>
          <a:ln w="3810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/>
              <p:cNvSpPr txBox="1"/>
              <p:nvPr/>
            </p:nvSpPr>
            <p:spPr>
              <a:xfrm>
                <a:off x="11413736" y="3557803"/>
                <a:ext cx="553720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3736" y="3557803"/>
                <a:ext cx="553720" cy="374270"/>
              </a:xfrm>
              <a:prstGeom prst="rect">
                <a:avLst/>
              </a:prstGeom>
              <a:blipFill rotWithShape="1">
                <a:blip r:embed="rId4"/>
                <a:stretch>
                  <a:fillRect l="-44" t="-142" r="44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/>
              <p:cNvSpPr txBox="1"/>
              <p:nvPr/>
            </p:nvSpPr>
            <p:spPr>
              <a:xfrm>
                <a:off x="6792172" y="2207587"/>
                <a:ext cx="31494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400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2400" i="1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kumimoji="1" lang="en-US" altLang="zh-CN" sz="240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zh-CN" sz="2400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2400" i="1">
                          <a:latin typeface="Cambria Math" panose="02040503050406030204" pitchFamily="18" charset="0"/>
                        </a:rPr>
                        <m:t>bx</m:t>
                      </m:r>
                      <m:r>
                        <a:rPr kumimoji="1" lang="en-US" altLang="zh-CN" sz="24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2400" i="1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kumimoji="1" lang="en-US" altLang="zh-CN" sz="240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zh-CN" sz="2400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2400" i="1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172" y="2207587"/>
                <a:ext cx="3149452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7" t="-89" r="-280" b="-154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/>
          <p:cNvSpPr txBox="1"/>
          <p:nvPr/>
        </p:nvSpPr>
        <p:spPr>
          <a:xfrm>
            <a:off x="6812025" y="1543478"/>
            <a:ext cx="889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</a:rPr>
              <a:t>模型</a:t>
            </a:r>
            <a:endParaRPr lang="zh-CN" altLang="en-US" sz="24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/>
              <p:cNvSpPr txBox="1"/>
              <p:nvPr/>
            </p:nvSpPr>
            <p:spPr>
              <a:xfrm>
                <a:off x="6639317" y="4895210"/>
                <a:ext cx="1448043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y</m:t>
                      </m:r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US" altLang="zh-CN" sz="24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317" y="4895210"/>
                <a:ext cx="1448043" cy="468205"/>
              </a:xfrm>
              <a:prstGeom prst="rect">
                <a:avLst/>
              </a:prstGeom>
              <a:blipFill rotWithShape="1">
                <a:blip r:embed="rId6"/>
                <a:stretch>
                  <a:fillRect l="-27" t="-135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43601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三个核心变量</a:t>
            </a:r>
            <a:endParaRPr lang="zh-CN" altLang="en-US" sz="2800" b="1" dirty="0">
              <a:solidFill>
                <a:prstClr val="white"/>
              </a:solidFill>
              <a:cs typeface="+mn-ea"/>
              <a:sym typeface="+mn-lt"/>
            </a:endParaRPr>
          </a:p>
          <a:p>
            <a:pPr>
              <a:defRPr/>
            </a:pPr>
            <a:endParaRPr lang="zh-CN" altLang="en-US" sz="2800" b="1" dirty="0">
              <a:solidFill>
                <a:prstClr val="white"/>
              </a:solidFill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2"/>
              <p:cNvSpPr txBox="1"/>
              <p:nvPr/>
            </p:nvSpPr>
            <p:spPr>
              <a:xfrm>
                <a:off x="647700" y="1238250"/>
                <a:ext cx="97155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Prior </a:t>
                </a:r>
                <a:r>
                  <a: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先验 𝑝</a:t>
                </a:r>
                <a:r>
                  <a:rPr lang="en-US" altLang="zh-C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(𝜃)</a:t>
                </a:r>
                <a:r>
                  <a: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 </a:t>
                </a:r>
                <a:r>
                  <a:rPr lang="en-US" sz="2000" dirty="0" err="1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看数据之前，对参数</a:t>
                </a:r>
                <a:r>
                  <a:rPr lang="en-US" sz="20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θ</a:t>
                </a:r>
                <a:r>
                  <a:rPr lang="en-US" sz="20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的相信程度</a:t>
                </a:r>
                <a:endPara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en-US" altLang="zh-C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en-US" altLang="zh-C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Likelihood </a:t>
                </a:r>
                <a:r>
                  <a: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似然 </a:t>
                </a:r>
                <a14:m>
                  <m:oMath xmlns:m="http://schemas.openxmlformats.org/officeDocument/2006/math">
                    <m:r>
                      <a:rPr lang="ar-AE" sz="200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r>
                  <a:rPr lang="en-US" sz="20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参数 θ 给定时，当前数据 </a:t>
                </a:r>
                <a:r>
                  <a:rPr lang="en-US" sz="2000" i="1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</a:t>
                </a:r>
                <a:r>
                  <a:rPr lang="en-US" sz="20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出现的可能性。</a:t>
                </a:r>
                <a:endParaRPr 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en-US" altLang="zh-C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en-US" altLang="zh-C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en-US" altLang="zh-C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en-US" altLang="zh-C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Posterior</a:t>
                </a:r>
                <a14:m>
                  <m:oMath xmlns:m="http://schemas.openxmlformats.org/officeDocument/2006/math">
                    <m:r>
                      <a:rPr lang="zh-CN" altLang="en-US" sz="20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后验</m:t>
                    </m:r>
                    <m:r>
                      <a:rPr lang="zh-CN" altLang="en-US" sz="20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看完数据 </a:t>
                </a:r>
                <a:r>
                  <a:rPr lang="en-US" altLang="zh-C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 </a:t>
                </a:r>
                <a:r>
                  <a: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之后，对参数 </a:t>
                </a:r>
                <a:r>
                  <a:rPr lang="el-GR" altLang="zh-C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θ </a:t>
                </a:r>
                <a:r>
                  <a: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的相信程度。</a:t>
                </a:r>
                <a:endPara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endParaRPr lang="ar-AE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endParaRPr lang="en-US" altLang="zh-C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" y="1238250"/>
                <a:ext cx="9715500" cy="3785652"/>
              </a:xfrm>
              <a:prstGeom prst="rect">
                <a:avLst/>
              </a:prstGeom>
              <a:blipFill rotWithShape="1">
                <a:blip r:embed="rId1"/>
                <a:stretch>
                  <a:fillRect t="-621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623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MLE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：最大似然估计</a:t>
            </a:r>
            <a:endParaRPr lang="zh-CN" altLang="en-US" sz="2800" b="1" dirty="0">
              <a:solidFill>
                <a:prstClr val="white"/>
              </a:solidFill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2"/>
              <p:cNvSpPr txBox="1"/>
              <p:nvPr/>
            </p:nvSpPr>
            <p:spPr>
              <a:xfrm>
                <a:off x="647700" y="1238250"/>
                <a:ext cx="9715500" cy="2792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en-US" sz="20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Maximum Likelihood Estimation：</a:t>
                </a:r>
                <a:r>
                  <a:rPr lang="zh-CN" altLang="en-US" sz="20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选择让观测数据最可能出现的参数。</a:t>
                </a:r>
                <a:endParaRPr lang="zh-CN" altLang="en-US" sz="2000" dirty="0">
                  <a:solidFill>
                    <a:srgbClr val="11182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l"/>
                </a:pPr>
                <a:endParaRPr lang="en-US" sz="2000" dirty="0">
                  <a:solidFill>
                    <a:srgbClr val="11182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MLE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𝜃</m:t>
                          </m:r>
                        </m:lim>
                      </m:limLow>
                      <m:r>
                        <a:rPr lang="ar-AE" sz="200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ar-AE" sz="2800" dirty="0"/>
              </a:p>
              <a:p>
                <a:pPr marL="742950" lvl="1" indent="-285750">
                  <a:buFont typeface="Wingdings" panose="05000000000000000000" pitchFamily="2" charset="2"/>
                  <a:buChar char="l"/>
                </a:pPr>
                <a:endParaRPr lang="ar-AE" sz="2800" dirty="0"/>
              </a:p>
              <a:p>
                <a:endParaRPr lang="zh-CN" altLang="en-US" sz="2000" dirty="0"/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endParaRPr lang="en-US" sz="2000" dirty="0"/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endPara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l"/>
                </a:pP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" y="1238250"/>
                <a:ext cx="9715500" cy="2792688"/>
              </a:xfrm>
              <a:prstGeom prst="rect">
                <a:avLst/>
              </a:prstGeom>
              <a:blipFill rotWithShape="1">
                <a:blip r:embed="rId2"/>
                <a:stretch>
                  <a:fillRect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Chart 0"/>
          <p:cNvGraphicFramePr/>
          <p:nvPr/>
        </p:nvGraphicFramePr>
        <p:xfrm>
          <a:off x="259080" y="2490512"/>
          <a:ext cx="74066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7836131" y="3429000"/>
                <a:ext cx="3912524" cy="18262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6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现在抛硬币 10 </a:t>
                </a:r>
                <a:r>
                  <a:rPr lang="en-US" sz="1600" dirty="0" err="1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次，观察到</a:t>
                </a:r>
                <a:r>
                  <a:rPr lang="en-US" sz="16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 </a:t>
                </a:r>
                <a:r>
                  <a:rPr lang="en-US" altLang="zh-CN" sz="16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7</a:t>
                </a:r>
                <a:r>
                  <a:rPr lang="en-US" sz="16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 次正面、</a:t>
                </a:r>
                <a:r>
                  <a:rPr lang="en-US" altLang="zh-CN" sz="16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3</a:t>
                </a:r>
                <a:r>
                  <a:rPr lang="en-US" sz="16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 </a:t>
                </a:r>
                <a:r>
                  <a:rPr lang="en-US" sz="1600" dirty="0" err="1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次反面</a:t>
                </a:r>
                <a:r>
                  <a:rPr lang="zh-CN" altLang="en-US" sz="16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：</a:t>
                </a:r>
                <a:endParaRPr lang="en-US" sz="16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altLang="zh-CN" sz="1600" dirty="0">
                  <a:latin typeface="+mn-ea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160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m:rPr>
                          <m:nor/>
                        </m:rPr>
                        <a:rPr lang="zh-CN" altLang="en-US" sz="1600">
                          <a:latin typeface="Cambria Math" panose="02040503050406030204" pitchFamily="18" charset="0"/>
                        </a:rPr>
                        <m:t> 次正面</m:t>
                      </m:r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, </m:t>
                      </m:r>
                      <m:r>
                        <m:rPr>
                          <m:nor/>
                        </m:rP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zh-CN" altLang="en-US" sz="1600">
                          <a:latin typeface="Cambria Math" panose="02040503050406030204" pitchFamily="18" charset="0"/>
                        </a:rPr>
                        <m:t> 次反面</m:t>
                      </m:r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16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altLang="zh-CN" sz="1600" dirty="0">
                  <a:latin typeface="+mn-ea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altLang="zh-CN" sz="1600" dirty="0">
                  <a:latin typeface="+mn-ea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zh-CN" altLang="en-US" sz="16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直觉上，最“自然”的估计是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ar-AE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ar-AE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6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6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ar-AE" sz="16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131" y="3429000"/>
                <a:ext cx="3912524" cy="1826269"/>
              </a:xfrm>
              <a:prstGeom prst="rect">
                <a:avLst/>
              </a:prstGeom>
              <a:blipFill rotWithShape="1">
                <a:blip r:embed="rId3"/>
                <a:stretch>
                  <a:fillRect l="-6" r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623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MAP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：最大后验估计</a:t>
            </a:r>
            <a:endParaRPr lang="zh-CN" altLang="en-US" sz="2800" b="1" dirty="0">
              <a:solidFill>
                <a:prstClr val="white"/>
              </a:solidFill>
              <a:cs typeface="+mn-ea"/>
              <a:sym typeface="+mn-lt"/>
            </a:endParaRPr>
          </a:p>
          <a:p>
            <a:pPr>
              <a:defRPr/>
            </a:pPr>
            <a:endParaRPr lang="zh-CN" altLang="en-US" sz="2800" b="1" dirty="0">
              <a:solidFill>
                <a:prstClr val="white"/>
              </a:solidFill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2"/>
              <p:cNvSpPr txBox="1"/>
              <p:nvPr/>
            </p:nvSpPr>
            <p:spPr>
              <a:xfrm>
                <a:off x="647700" y="1238250"/>
                <a:ext cx="9715500" cy="4357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en-US" sz="20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Posterior </a:t>
                </a:r>
                <a:r>
                  <a:rPr lang="zh-CN" altLang="en-US" sz="20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表示“看完数据之后”的相信程度</a:t>
                </a:r>
                <a:endParaRPr lang="zh-CN" altLang="en-US" sz="2000" dirty="0">
                  <a:solidFill>
                    <a:srgbClr val="11182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l"/>
                </a:pPr>
                <a:endParaRPr lang="en-US" sz="2000" dirty="0">
                  <a:solidFill>
                    <a:srgbClr val="11182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2000" dirty="0"/>
              </a:p>
              <a:p>
                <a:pPr lvl="1"/>
                <a:endParaRPr lang="ar-AE" sz="2000" dirty="0"/>
              </a:p>
              <a:p>
                <a:endParaRPr lang="zh-CN" altLang="en-US" sz="2000" dirty="0"/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最大后验估计：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MAP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arg</m:t>
                    </m:r>
                    <m:limLow>
                      <m:limLow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ar-AE" sz="2000">
                            <a:latin typeface="Cambria Math" panose="02040503050406030204" pitchFamily="18" charset="0"/>
                          </a:rPr>
                          <m:t>𝜃</m:t>
                        </m:r>
                      </m:lim>
                    </m:limLow>
                    <m:r>
                      <a:rPr lang="zh-CN" alt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ar-AE" sz="2400" dirty="0"/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endParaRPr lang="zh-CN" altLang="en-US" sz="2000" dirty="0"/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endParaRPr lang="en-US" sz="2000" dirty="0"/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利用 </a:t>
                </a:r>
                <a:r>
                  <a:rPr lang="en-US" altLang="zh-C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Bayes </a:t>
                </a:r>
                <a:r>
                  <a: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公式：</a:t>
                </a:r>
                <a:endParaRPr lang="en-US" altLang="zh-C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MAP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𝜃</m:t>
                          </m:r>
                        </m:lim>
                      </m:limLow>
                      <m:r>
                        <a:rPr lang="ar-AE" sz="200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endPara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l"/>
                </a:pP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" y="1238250"/>
                <a:ext cx="9715500" cy="4357090"/>
              </a:xfrm>
              <a:prstGeom prst="rect">
                <a:avLst/>
              </a:prstGeom>
              <a:blipFill rotWithShape="1">
                <a:blip r:embed="rId1"/>
                <a:stretch>
                  <a:fillRect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8" y="120418"/>
            <a:ext cx="56236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MLE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与 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MAP 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的区别</a:t>
            </a:r>
            <a:endParaRPr lang="zh-CN" altLang="en-US" sz="2800" b="1" dirty="0">
              <a:solidFill>
                <a:prstClr val="white"/>
              </a:solidFill>
              <a:cs typeface="+mn-ea"/>
              <a:sym typeface="+mn-lt"/>
            </a:endParaRPr>
          </a:p>
          <a:p>
            <a:pPr>
              <a:defRPr/>
            </a:pPr>
            <a:endParaRPr lang="zh-CN" altLang="en-US" sz="2800" b="1" dirty="0">
              <a:solidFill>
                <a:prstClr val="white"/>
              </a:solidFill>
              <a:cs typeface="+mn-ea"/>
              <a:sym typeface="+mn-lt"/>
            </a:endParaRPr>
          </a:p>
          <a:p>
            <a:pPr>
              <a:defRPr/>
            </a:pPr>
            <a:endParaRPr lang="zh-CN" altLang="en-US" sz="2800" b="1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" name="Text 4"/>
          <p:cNvSpPr/>
          <p:nvPr/>
        </p:nvSpPr>
        <p:spPr>
          <a:xfrm>
            <a:off x="1097280" y="1417320"/>
            <a:ext cx="4206240" cy="4114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MLE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5"/>
              <p:cNvSpPr/>
              <p:nvPr/>
            </p:nvSpPr>
            <p:spPr>
              <a:xfrm>
                <a:off x="731520" y="2103120"/>
                <a:ext cx="5029200" cy="73152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1016" tIns="1016" rIns="1016" bIns="1016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MLE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lim>
                      </m:limLow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5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2103120"/>
                <a:ext cx="5029200" cy="73152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6"/>
          <p:cNvSpPr/>
          <p:nvPr/>
        </p:nvSpPr>
        <p:spPr>
          <a:xfrm>
            <a:off x="868680" y="3246120"/>
            <a:ext cx="4754880" cy="7772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 err="1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只看数据：谁让训练数据最可能，就选谁</a:t>
            </a:r>
            <a:endParaRPr lang="en-US" sz="1900" dirty="0"/>
          </a:p>
        </p:txBody>
      </p:sp>
      <p:sp>
        <p:nvSpPr>
          <p:cNvPr id="7" name="Text 7"/>
          <p:cNvSpPr/>
          <p:nvPr/>
        </p:nvSpPr>
        <p:spPr>
          <a:xfrm>
            <a:off x="6858000" y="1417320"/>
            <a:ext cx="4206240" cy="4114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MAP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8"/>
              <p:cNvSpPr/>
              <p:nvPr/>
            </p:nvSpPr>
            <p:spPr>
              <a:xfrm>
                <a:off x="6400800" y="2103120"/>
                <a:ext cx="5029200" cy="73152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1016" tIns="1016" rIns="1016" bIns="1016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MAP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lim>
                      </m:limLow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8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103120"/>
                <a:ext cx="5029200" cy="7315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9"/>
          <p:cNvSpPr/>
          <p:nvPr/>
        </p:nvSpPr>
        <p:spPr>
          <a:xfrm>
            <a:off x="6537960" y="3246120"/>
            <a:ext cx="4754880" cy="7772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 + </a:t>
            </a:r>
            <a:r>
              <a:rPr lang="en-US" sz="1900" dirty="0" err="1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先验：既解释数据，也符合先验知识</a:t>
            </a:r>
            <a:endParaRPr lang="en-US" sz="1900" dirty="0"/>
          </a:p>
        </p:txBody>
      </p:sp>
      <p:sp>
        <p:nvSpPr>
          <p:cNvPr id="12" name="TextBox 11"/>
          <p:cNvSpPr txBox="1"/>
          <p:nvPr/>
        </p:nvSpPr>
        <p:spPr>
          <a:xfrm>
            <a:off x="1645921" y="5027413"/>
            <a:ext cx="856210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如果先验是均匀分布，MAP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3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MLE </a:t>
            </a:r>
            <a:r>
              <a:rPr lang="en-US" sz="3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一致</a:t>
            </a:r>
            <a:endParaRPr lang="en-US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5075" y="1174044"/>
            <a:ext cx="5085645" cy="304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6298716" y="1174044"/>
            <a:ext cx="5085645" cy="304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43601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补充：对参数 </a:t>
            </a:r>
            <a:r>
              <a:rPr lang="el-GR" altLang="zh-CN" sz="2800" b="1" dirty="0">
                <a:solidFill>
                  <a:prstClr val="white"/>
                </a:solidFill>
                <a:cs typeface="+mn-ea"/>
                <a:sym typeface="+mn-lt"/>
              </a:rPr>
              <a:t>θ </a:t>
            </a:r>
            <a:r>
              <a:rPr lang="zh-CN" altLang="el-GR" sz="2800" b="1" dirty="0">
                <a:solidFill>
                  <a:prstClr val="white"/>
                </a:solidFill>
                <a:cs typeface="+mn-ea"/>
                <a:sym typeface="+mn-lt"/>
              </a:rPr>
              <a:t>的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讨论</a:t>
            </a:r>
            <a:endParaRPr lang="zh-CN" altLang="en-US" sz="2800" b="1" dirty="0">
              <a:solidFill>
                <a:prstClr val="white"/>
              </a:solidFill>
              <a:cs typeface="+mn-ea"/>
              <a:sym typeface="+mn-lt"/>
            </a:endParaRPr>
          </a:p>
          <a:p>
            <a:pPr>
              <a:defRPr/>
            </a:pPr>
            <a:endParaRPr lang="zh-CN" altLang="en-US" sz="2800" b="1" dirty="0">
              <a:solidFill>
                <a:prstClr val="white"/>
              </a:solidFill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2"/>
              <p:cNvSpPr txBox="1"/>
              <p:nvPr/>
            </p:nvSpPr>
            <p:spPr>
              <a:xfrm>
                <a:off x="2791390" y="1778054"/>
                <a:ext cx="97155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Prior </a:t>
                </a:r>
                <a:r>
                  <a: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先验 𝑝</a:t>
                </a:r>
                <a:r>
                  <a:rPr lang="en-US" altLang="zh-C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(𝜃)</a:t>
                </a:r>
                <a:r>
                  <a: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 </a:t>
                </a:r>
                <a:r>
                  <a:rPr lang="en-US" sz="2000" dirty="0" err="1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看数据之前，对参数</a:t>
                </a:r>
                <a:r>
                  <a:rPr lang="en-US" sz="20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θ</a:t>
                </a:r>
                <a:r>
                  <a:rPr lang="en-US" sz="20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的相信程度</a:t>
                </a:r>
                <a:endParaRPr lang="en-US" altLang="zh-C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en-US" altLang="zh-C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Likelihood </a:t>
                </a:r>
                <a:r>
                  <a: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似然：</a:t>
                </a:r>
                <a14:m>
                  <m:oMath xmlns:m="http://schemas.openxmlformats.org/officeDocument/2006/math">
                    <m:r>
                      <a:rPr lang="ar-AE" sz="2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ar-AE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r>
                  <a:rPr lang="en-US" sz="20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参数 θ 给定时，当前数据 </a:t>
                </a:r>
                <a:r>
                  <a:rPr lang="en-US" sz="2000" i="1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</a:t>
                </a:r>
                <a:r>
                  <a:rPr lang="en-US" sz="20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出现的可能性</a:t>
                </a:r>
                <a:r>
                  <a:rPr lang="en-US" sz="20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endParaRPr lang="en-US" altLang="zh-C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1390" y="1778054"/>
                <a:ext cx="9715500" cy="1323439"/>
              </a:xfrm>
              <a:prstGeom prst="rect">
                <a:avLst/>
              </a:prstGeom>
              <a:blipFill rotWithShape="1">
                <a:blip r:embed="rId1"/>
                <a:stretch>
                  <a:fillRect l="-6" t="-1779" r="6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-1229337" y="902793"/>
                <a:ext cx="1110412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参数 </a:t>
                </a:r>
                <a:r>
                  <a:rPr lang="en-US" sz="3200" dirty="0" err="1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θ</a:t>
                </a:r>
                <a:r>
                  <a:rPr lang="zh-CN" altLang="en-US" sz="32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是否看作随机的：</a:t>
                </a:r>
                <a:r>
                  <a:rPr lang="ar-AE" sz="3200" dirty="0"/>
                  <a:t> </a:t>
                </a:r>
                <a14:m>
                  <m:oMath xmlns:m="http://schemas.openxmlformats.org/officeDocument/2006/math">
                    <m:r>
                      <a:rPr lang="ar-AE" sz="3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ar-AE" sz="3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3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vs. 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3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32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ar-AE" sz="3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sz="30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29337" y="902793"/>
                <a:ext cx="11104124" cy="584775"/>
              </a:xfrm>
              <a:prstGeom prst="rect">
                <a:avLst/>
              </a:prstGeom>
              <a:blipFill rotWithShape="1">
                <a:blip r:embed="rId2"/>
                <a:stretch>
                  <a:fillRect l="6" t="-78" r="5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14952" y="1945979"/>
            <a:ext cx="287771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/>
              <a:t>随机参数估计</a:t>
            </a:r>
            <a:r>
              <a:rPr lang="zh-CN" altLang="en-US" sz="3000" dirty="0"/>
              <a:t>：</a:t>
            </a:r>
            <a:endParaRPr lang="en-US" sz="3000" dirty="0"/>
          </a:p>
        </p:txBody>
      </p:sp>
      <p:sp>
        <p:nvSpPr>
          <p:cNvPr id="9" name="TextBox 8"/>
          <p:cNvSpPr txBox="1"/>
          <p:nvPr/>
        </p:nvSpPr>
        <p:spPr>
          <a:xfrm>
            <a:off x="114952" y="4418226"/>
            <a:ext cx="328327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/>
              <a:t>非随机参数估计</a:t>
            </a:r>
            <a:r>
              <a:rPr lang="zh-CN" altLang="en-US" sz="3000" dirty="0"/>
              <a:t>：</a:t>
            </a:r>
            <a:endParaRPr lang="en-US" sz="3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126258" y="4282301"/>
                <a:ext cx="8810367" cy="1984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Likelihood </a:t>
                </a:r>
                <a:r>
                  <a: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似然：</a:t>
                </a:r>
                <a14:m>
                  <m:oMath xmlns:m="http://schemas.openxmlformats.org/officeDocument/2006/math">
                    <m:r>
                      <a:rPr lang="ar-AE" sz="2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ar-AE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r>
                  <a:rPr lang="en-US" sz="20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参数 θ 给定时，当前数据 </a:t>
                </a:r>
                <a:r>
                  <a:rPr lang="en-US" sz="2000" i="1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</a:t>
                </a:r>
                <a:r>
                  <a:rPr lang="en-US" sz="20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出现的可能性</a:t>
                </a:r>
                <a:r>
                  <a:rPr lang="en-US" sz="20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en-US" sz="2000" dirty="0">
                  <a:solidFill>
                    <a:srgbClr val="11182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endParaRPr lang="en-US" altLang="zh-CN" sz="2000" dirty="0">
                  <a:solidFill>
                    <a:srgbClr val="11182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例子</a:t>
                </a:r>
                <a:r>
                  <a:rPr lang="en-US" altLang="zh-CN" sz="20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0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：估计高斯分布的均值和方差</a:t>
                </a:r>
                <a:endParaRPr lang="en-US" altLang="zh-CN" sz="2000" dirty="0">
                  <a:solidFill>
                    <a:srgbClr val="11182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endParaRPr lang="en-US" altLang="zh-CN" sz="2000" dirty="0">
                  <a:solidFill>
                    <a:srgbClr val="11182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例子</a:t>
                </a:r>
                <a:r>
                  <a:rPr lang="en-US" altLang="zh-CN" sz="20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2:</a:t>
                </a:r>
                <a:r>
                  <a:rPr lang="zh-CN" altLang="en-US" sz="2000" dirty="0">
                    <a:solidFill>
                      <a:srgbClr val="11182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=</m:t>
                    </m:r>
                    <m:sSup>
                      <m:sSupPr>
                        <m:ctrlPr>
                          <a:rPr lang="en-US" altLang="zh-CN" sz="2000" b="1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sSupPr>
                      <m:e>
                        <m:r>
                          <a:rPr lang="en-US" altLang="zh-CN" sz="2000" b="1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𝜽</m:t>
                        </m:r>
                      </m:e>
                      <m:sup>
                        <m:r>
                          <a:rPr lang="en-US" altLang="zh-CN" sz="2000" b="1" i="1" spc="6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⊺</m:t>
                        </m:r>
                      </m:sup>
                    </m:sSup>
                    <m:r>
                      <a:rPr lang="en-US" altLang="zh-CN" sz="2000" b="1" i="1" spc="6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𝝓</m:t>
                    </m:r>
                    <m:d>
                      <m:dPr>
                        <m:ctrlPr>
                          <a:rPr lang="en-US" altLang="zh-CN" sz="2000" b="1" i="1" spc="6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</m:ctrlPr>
                      </m:dPr>
                      <m:e>
                        <m:r>
                          <a:rPr lang="en-US" altLang="zh-CN" sz="2000" b="1" i="1" spc="6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𝒙</m:t>
                        </m:r>
                      </m:e>
                    </m:d>
                    <m:r>
                      <a:rPr lang="en-US" altLang="zh-CN" sz="2000" b="1" i="1" spc="6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+</m:t>
                    </m:r>
                  </m:oMath>
                </a14:m>
                <a:r>
                  <a:rPr lang="en-SG" altLang="zh-CN" sz="2000" b="1" dirty="0">
                    <a:solidFill>
                      <a:srgbClr val="2B2728"/>
                    </a:solidFill>
                    <a:ea typeface="Cambria Math" panose="02040503050406030204" pitchFamily="18" charset="0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r>
                      <a:rPr lang="en-SG" altLang="zh-CN" sz="20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𝝐</m:t>
                    </m:r>
                  </m:oMath>
                </a14:m>
                <a:r>
                  <a:rPr lang="en-US" altLang="zh-CN" sz="2000" b="1" dirty="0">
                    <a:solidFill>
                      <a:srgbClr val="2B2728"/>
                    </a:solidFill>
                    <a:latin typeface="Arial" panose="020B0604020202020204"/>
                    <a:cs typeface="Arial" panose="020B0604020202020204"/>
                  </a:rPr>
                  <a:t>,</a:t>
                </a:r>
                <a:r>
                  <a:rPr lang="zh-CN" altLang="en-US" sz="2000" b="1" dirty="0">
                    <a:solidFill>
                      <a:srgbClr val="2B2728"/>
                    </a:solidFill>
                    <a:latin typeface="Arial" panose="020B0604020202020204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r>
                      <a:rPr lang="en-SG" altLang="zh-CN" sz="2000" b="1" i="1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𝝐</m:t>
                    </m:r>
                    <m:r>
                      <a:rPr lang="en-US" altLang="zh-CN" sz="2000" b="1" i="1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~</m:t>
                    </m:r>
                    <m:r>
                      <a:rPr lang="en-US" altLang="zh-CN" sz="2000" b="1" i="1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𝑵</m:t>
                    </m:r>
                    <m:r>
                      <a:rPr lang="en-US" altLang="zh-CN" sz="2000" b="1" i="1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(</m:t>
                    </m:r>
                    <m:r>
                      <a:rPr lang="en-US" altLang="zh-CN" sz="2000" b="1" i="1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𝟎</m:t>
                    </m:r>
                    <m:r>
                      <a:rPr lang="en-US" altLang="zh-CN" sz="2000" b="1" i="1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,</m:t>
                    </m:r>
                    <m:sSup>
                      <m:sSupPr>
                        <m:ctrlPr>
                          <a:rPr lang="en-US" altLang="zh-CN" sz="2000" b="1" i="1">
                            <a:solidFill>
                              <a:srgbClr val="2B27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rgbClr val="2B27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𝝈</m:t>
                        </m:r>
                      </m:e>
                      <m:sup>
                        <m:r>
                          <a:rPr lang="en-US" altLang="zh-CN" sz="2000" b="1" i="1">
                            <a:solidFill>
                              <a:srgbClr val="2B27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𝟐</m:t>
                        </m:r>
                      </m:sup>
                    </m:sSup>
                    <m:r>
                      <a:rPr lang="en-US" altLang="zh-CN" sz="2000" b="1" i="1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)</m:t>
                    </m:r>
                  </m:oMath>
                </a14:m>
                <a:r>
                  <a:rPr lang="zh-CN" altLang="en-US" sz="2000" b="1" dirty="0">
                    <a:solidFill>
                      <a:srgbClr val="2B2728"/>
                    </a:solidFill>
                    <a:latin typeface="Arial" panose="020B0604020202020204"/>
                    <a:cs typeface="Arial" panose="020B0604020202020204"/>
                  </a:rPr>
                  <a:t> </a:t>
                </a:r>
                <a:endParaRPr lang="en-SG" altLang="zh-CN" sz="2000" b="1" dirty="0">
                  <a:solidFill>
                    <a:srgbClr val="2B2728"/>
                  </a:solidFill>
                  <a:latin typeface="Arial" panose="020B0604020202020204"/>
                  <a:cs typeface="Arial" panose="020B0604020202020204"/>
                </a:endParaRPr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endPara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6258" y="4282301"/>
                <a:ext cx="8810367" cy="1984261"/>
              </a:xfrm>
              <a:prstGeom prst="rect">
                <a:avLst/>
              </a:prstGeom>
              <a:blipFill rotWithShape="1">
                <a:blip r:embed="rId3"/>
                <a:stretch>
                  <a:fillRect l="-2" t="-25" r="6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3864"/>
          </a:solidFill>
          <a:ln w="57150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50616" y="376157"/>
            <a:ext cx="3400585" cy="569319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167679" y="1321633"/>
            <a:ext cx="11856641" cy="2901395"/>
            <a:chOff x="167679" y="1321633"/>
            <a:chExt cx="11856641" cy="2901395"/>
          </a:xfrm>
        </p:grpSpPr>
        <p:sp>
          <p:nvSpPr>
            <p:cNvPr id="6" name="矩形 5"/>
            <p:cNvSpPr/>
            <p:nvPr/>
          </p:nvSpPr>
          <p:spPr>
            <a:xfrm>
              <a:off x="167679" y="1321633"/>
              <a:ext cx="11856641" cy="1414780"/>
            </a:xfrm>
            <a:prstGeom prst="rect">
              <a:avLst/>
            </a:prstGeom>
          </p:spPr>
          <p:txBody>
            <a:bodyPr wrap="square" lIns="87545" tIns="43772" rIns="87545" bIns="43772">
              <a:spAutoFit/>
            </a:bodyPr>
            <a:lstStyle/>
            <a:p>
              <a:pPr marL="0" marR="0" lvl="0" indent="0" algn="ctr" defTabSz="1750695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《</a:t>
              </a:r>
              <a:r>
                <a:rPr kumimoji="0" lang="zh-CN" altLang="en-US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人工智能数学原理与算法</a:t>
              </a:r>
              <a:r>
                <a:rPr kumimoji="0" lang="en-US" altLang="zh-CN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》</a:t>
              </a:r>
              <a:br>
                <a:rPr kumimoji="0" lang="en-US" altLang="zh-CN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</a:br>
              <a:r>
                <a:rPr kumimoji="0" lang="zh-CN" altLang="en-US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第</a:t>
              </a:r>
              <a:r>
                <a:rPr kumimoji="0" lang="en-US" altLang="zh-CN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</a:t>
              </a:r>
              <a:r>
                <a:rPr kumimoji="0" lang="zh-CN" altLang="en-US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章：机器学习基础</a:t>
              </a:r>
              <a:endParaRPr kumimoji="0" lang="en-US" altLang="zh-CN" sz="36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67679" y="3221943"/>
              <a:ext cx="11856641" cy="1001085"/>
            </a:xfrm>
            <a:prstGeom prst="rect">
              <a:avLst/>
            </a:prstGeom>
          </p:spPr>
          <p:txBody>
            <a:bodyPr wrap="square" lIns="87545" tIns="43772" rIns="87545" bIns="43772">
              <a:spAutoFit/>
            </a:bodyPr>
            <a:lstStyle/>
            <a:p>
              <a:pPr marL="0" marR="0" lvl="0" indent="0" algn="ctr" defTabSz="1750695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2.4 </a:t>
              </a:r>
              <a:r>
                <a:rPr kumimoji="0" lang="zh-CN" altLang="en-US" sz="54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线性回归</a:t>
              </a:r>
              <a:endParaRPr kumimoji="0" lang="en-US" altLang="zh-CN" sz="54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3627188" y="4463916"/>
            <a:ext cx="5404863" cy="1381060"/>
          </a:xfrm>
          <a:prstGeom prst="rect">
            <a:avLst/>
          </a:prstGeom>
        </p:spPr>
        <p:txBody>
          <a:bodyPr wrap="square" lIns="87545" tIns="43772" rIns="87545" bIns="43772">
            <a:spAutoFit/>
          </a:bodyPr>
          <a:lstStyle/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康奇宇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 err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qiyukang@ustc.edu.cn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910"/>
    </mc:Choice>
    <mc:Fallback>
      <p:transition spd="slow" advTm="1191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23596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5396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机器学习（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Machine Learning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28204" y="3579224"/>
            <a:ext cx="72934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x:</a:t>
            </a:r>
            <a:r>
              <a:rPr lang="zh-CN" altLang="en-US" sz="2000" dirty="0"/>
              <a:t>通常为实向量（句子或图像写成向量表示）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y:</a:t>
            </a:r>
            <a:r>
              <a:rPr lang="zh-CN" altLang="en-US" sz="2000" dirty="0"/>
              <a:t>取决于任务类型</a:t>
            </a:r>
            <a:endParaRPr lang="zh-CN" altLang="en-US" sz="2000" dirty="0"/>
          </a:p>
          <a:p>
            <a:endParaRPr lang="en-US" altLang="zh-CN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l="34896" t="43762" r="37398" b="41707"/>
          <a:stretch>
            <a:fillRect/>
          </a:stretch>
        </p:blipFill>
        <p:spPr>
          <a:xfrm>
            <a:off x="3579223" y="1933303"/>
            <a:ext cx="4114800" cy="10972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805160" y="2112611"/>
            <a:ext cx="682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输入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746275" y="2112611"/>
            <a:ext cx="682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87598" y="1625279"/>
            <a:ext cx="100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预测器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23596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42979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回归问题（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Regression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40" t="22723" r="87620" b="13289"/>
          <a:stretch>
            <a:fillRect/>
          </a:stretch>
        </p:blipFill>
        <p:spPr>
          <a:xfrm>
            <a:off x="511553" y="2551597"/>
            <a:ext cx="1617898" cy="40585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r="21102"/>
          <a:stretch>
            <a:fillRect/>
          </a:stretch>
        </p:blipFill>
        <p:spPr>
          <a:xfrm>
            <a:off x="2995672" y="1071195"/>
            <a:ext cx="3983862" cy="132004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566430" y="4189470"/>
            <a:ext cx="1488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</a:rPr>
              <a:t>房价估计：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50165" y="5536638"/>
            <a:ext cx="1488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</a:rPr>
              <a:t>到达时间：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5420870" y="2812798"/>
            <a:ext cx="5160181" cy="400110"/>
            <a:chOff x="5420870" y="2812798"/>
            <a:chExt cx="5160181" cy="400110"/>
          </a:xfrm>
        </p:grpSpPr>
        <p:sp>
          <p:nvSpPr>
            <p:cNvPr id="11" name="文本框 10"/>
            <p:cNvSpPr txBox="1"/>
            <p:nvPr/>
          </p:nvSpPr>
          <p:spPr>
            <a:xfrm>
              <a:off x="5420870" y="2812798"/>
              <a:ext cx="12842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/>
                <a:t>卫星图像</a:t>
              </a:r>
              <a:endParaRPr lang="zh-CN" altLang="en-US" sz="2000" dirty="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8602328" y="2812798"/>
              <a:ext cx="19787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/>
                <a:t>资产财富指数</a:t>
              </a:r>
              <a:endParaRPr lang="zh-CN" altLang="en-US" sz="2000" dirty="0"/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7533676" y="3041482"/>
              <a:ext cx="77984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4553631" y="4180771"/>
            <a:ext cx="5831508" cy="400110"/>
            <a:chOff x="4553631" y="4180771"/>
            <a:chExt cx="5831508" cy="400110"/>
          </a:xfrm>
        </p:grpSpPr>
        <p:sp>
          <p:nvSpPr>
            <p:cNvPr id="28" name="文本框 27"/>
            <p:cNvSpPr txBox="1"/>
            <p:nvPr/>
          </p:nvSpPr>
          <p:spPr>
            <a:xfrm>
              <a:off x="4553631" y="4180771"/>
              <a:ext cx="31015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/>
                <a:t>房屋信息（位置，面积）</a:t>
              </a:r>
              <a:endParaRPr lang="zh-CN" altLang="en-US" sz="2000" dirty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9100931" y="4180771"/>
              <a:ext cx="12842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/>
                <a:t>房价</a:t>
              </a:r>
              <a:endParaRPr lang="zh-CN" altLang="en-US" sz="2000" dirty="0"/>
            </a:p>
          </p:txBody>
        </p:sp>
        <p:cxnSp>
          <p:nvCxnSpPr>
            <p:cNvPr id="21" name="直接箭头连接符 20"/>
            <p:cNvCxnSpPr/>
            <p:nvPr/>
          </p:nvCxnSpPr>
          <p:spPr>
            <a:xfrm>
              <a:off x="7533676" y="4407312"/>
              <a:ext cx="77984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/>
        </p:nvGrpSpPr>
        <p:grpSpPr>
          <a:xfrm>
            <a:off x="4668391" y="5548745"/>
            <a:ext cx="5415473" cy="400110"/>
            <a:chOff x="4668391" y="5548745"/>
            <a:chExt cx="5415473" cy="400110"/>
          </a:xfrm>
        </p:grpSpPr>
        <p:sp>
          <p:nvSpPr>
            <p:cNvPr id="30" name="文本框 29"/>
            <p:cNvSpPr txBox="1"/>
            <p:nvPr/>
          </p:nvSpPr>
          <p:spPr>
            <a:xfrm>
              <a:off x="4668391" y="5548745"/>
              <a:ext cx="28720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/>
                <a:t>目的地，天气，时间</a:t>
              </a:r>
              <a:endParaRPr lang="zh-CN" altLang="en-US" sz="2000" dirty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8799656" y="5548745"/>
              <a:ext cx="12842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/>
                <a:t>到达时间</a:t>
              </a:r>
              <a:endParaRPr lang="zh-CN" altLang="en-US" sz="2000" dirty="0"/>
            </a:p>
          </p:txBody>
        </p:sp>
        <p:cxnSp>
          <p:nvCxnSpPr>
            <p:cNvPr id="22" name="直接箭头连接符 21"/>
            <p:cNvCxnSpPr/>
            <p:nvPr/>
          </p:nvCxnSpPr>
          <p:spPr>
            <a:xfrm>
              <a:off x="7533676" y="5773143"/>
              <a:ext cx="77984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2567951" y="2828404"/>
            <a:ext cx="1488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</a:rPr>
              <a:t>贫困地图：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256916" y="1563640"/>
            <a:ext cx="17486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响应（</a:t>
            </a:r>
            <a:r>
              <a:rPr lang="en-US" altLang="zh-CN" sz="1600" dirty="0">
                <a:solidFill>
                  <a:srgbClr val="FF0000"/>
                </a:solidFill>
              </a:rPr>
              <a:t>response</a:t>
            </a:r>
            <a:r>
              <a:rPr lang="zh-CN" altLang="en-US" sz="1600" dirty="0">
                <a:solidFill>
                  <a:srgbClr val="FF0000"/>
                </a:solidFill>
              </a:rPr>
              <a:t>）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62552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二分类问题（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Binary Classification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24436" r="10673"/>
          <a:stretch>
            <a:fillRect/>
          </a:stretch>
        </p:blipFill>
        <p:spPr>
          <a:xfrm>
            <a:off x="2857500" y="1272892"/>
            <a:ext cx="5142958" cy="102487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t="24795" r="87710" b="21552"/>
          <a:stretch>
            <a:fillRect/>
          </a:stretch>
        </p:blipFill>
        <p:spPr>
          <a:xfrm>
            <a:off x="269677" y="2106592"/>
            <a:ext cx="1432096" cy="2951545"/>
          </a:xfrm>
          <a:prstGeom prst="rect">
            <a:avLst/>
          </a:prstGeom>
        </p:spPr>
      </p:pic>
      <p:sp>
        <p:nvSpPr>
          <p:cNvPr id="7" name="文本框 3"/>
          <p:cNvSpPr txBox="1"/>
          <p:nvPr/>
        </p:nvSpPr>
        <p:spPr>
          <a:xfrm>
            <a:off x="1492930" y="5688691"/>
            <a:ext cx="66212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问：分类和回归之间的关键区别是什么？</a:t>
            </a:r>
            <a:endParaRPr lang="en-SG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分类有</a:t>
            </a:r>
            <a:r>
              <a:rPr lang="zh-CN" altLang="en-US" b="1" dirty="0">
                <a:solidFill>
                  <a:srgbClr val="C00000"/>
                </a:solidFill>
              </a:rPr>
              <a:t>离散的输出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回归有</a:t>
            </a:r>
            <a:r>
              <a:rPr lang="zh-CN" altLang="en-US" b="1" dirty="0">
                <a:solidFill>
                  <a:srgbClr val="C00000"/>
                </a:solidFill>
              </a:rPr>
              <a:t>连续的输出</a:t>
            </a:r>
            <a:endParaRPr lang="en-US" altLang="zh-CN" dirty="0">
              <a:solidFill>
                <a:srgbClr val="C00000"/>
              </a:solidFill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416043" y="5585108"/>
            <a:ext cx="4150396" cy="475024"/>
            <a:chOff x="7273818" y="5279958"/>
            <a:chExt cx="4150396" cy="475024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78972" y="5279958"/>
              <a:ext cx="2045242" cy="475024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7273818" y="5354872"/>
              <a:ext cx="22174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/>
                <a:t>扩展：多分类问题</a:t>
              </a:r>
              <a:endParaRPr lang="zh-CN" altLang="en-US" sz="2000" dirty="0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3983619" y="2399487"/>
            <a:ext cx="21490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信用卡交易信息</a:t>
            </a:r>
            <a:endParaRPr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8580311" y="2422636"/>
            <a:ext cx="1247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是否欺诈</a:t>
            </a:r>
            <a:endParaRPr lang="zh-CN" altLang="en-US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359575" y="3353737"/>
            <a:ext cx="1250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评论信息</a:t>
            </a:r>
            <a:endParaRPr lang="zh-CN" altLang="en-US" sz="2000" dirty="0"/>
          </a:p>
        </p:txBody>
      </p:sp>
      <p:sp>
        <p:nvSpPr>
          <p:cNvPr id="12" name="文本框 11"/>
          <p:cNvSpPr txBox="1"/>
          <p:nvPr/>
        </p:nvSpPr>
        <p:spPr>
          <a:xfrm>
            <a:off x="8580311" y="3510001"/>
            <a:ext cx="1247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是否有害</a:t>
            </a:r>
            <a:endParaRPr lang="zh-CN" altLang="en-US" sz="2000" dirty="0"/>
          </a:p>
        </p:txBody>
      </p:sp>
      <p:sp>
        <p:nvSpPr>
          <p:cNvPr id="16" name="文本框 15"/>
          <p:cNvSpPr txBox="1"/>
          <p:nvPr/>
        </p:nvSpPr>
        <p:spPr>
          <a:xfrm>
            <a:off x="3874053" y="4429178"/>
            <a:ext cx="2731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测量到的粒子对撞信息</a:t>
            </a:r>
            <a:endParaRPr lang="zh-CN" altLang="en-US" sz="2000" dirty="0"/>
          </a:p>
        </p:txBody>
      </p:sp>
      <p:sp>
        <p:nvSpPr>
          <p:cNvPr id="18" name="文本框 9"/>
          <p:cNvSpPr txBox="1"/>
          <p:nvPr/>
        </p:nvSpPr>
        <p:spPr>
          <a:xfrm>
            <a:off x="8000457" y="4450147"/>
            <a:ext cx="2981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粒子衰变还是背景噪音</a:t>
            </a:r>
            <a:endParaRPr lang="zh-CN" altLang="en-US" sz="2000" dirty="0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6883895" y="2610281"/>
            <a:ext cx="7798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6883895" y="3617296"/>
            <a:ext cx="7798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6883895" y="4624311"/>
            <a:ext cx="7798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3800352" y="805152"/>
            <a:ext cx="162862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FF0000"/>
                </a:solidFill>
              </a:rPr>
              <a:t>分类器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algn="ctr"/>
            <a:r>
              <a:rPr lang="zh-CN" altLang="en-US" sz="1600" dirty="0">
                <a:solidFill>
                  <a:srgbClr val="FF0000"/>
                </a:solidFill>
              </a:rPr>
              <a:t>（</a:t>
            </a:r>
            <a:r>
              <a:rPr lang="en-US" altLang="zh-CN" sz="1600" dirty="0">
                <a:solidFill>
                  <a:srgbClr val="FF0000"/>
                </a:solidFill>
              </a:rPr>
              <a:t>classifier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131046" y="1406149"/>
            <a:ext cx="17486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标签（</a:t>
            </a:r>
            <a:r>
              <a:rPr lang="en-US" altLang="zh-CN" sz="1600" dirty="0">
                <a:solidFill>
                  <a:srgbClr val="FF0000"/>
                </a:solidFill>
              </a:rPr>
              <a:t>label</a:t>
            </a:r>
            <a:r>
              <a:rPr lang="zh-CN" altLang="en-US" sz="1600" dirty="0">
                <a:solidFill>
                  <a:srgbClr val="FF0000"/>
                </a:solidFill>
              </a:rPr>
              <a:t>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139468" y="2398628"/>
            <a:ext cx="1247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</a:rPr>
              <a:t>欺诈检测</a:t>
            </a:r>
            <a:r>
              <a:rPr lang="en-US" altLang="zh-CN" sz="2000" dirty="0">
                <a:solidFill>
                  <a:srgbClr val="0070C0"/>
                </a:solidFill>
              </a:rPr>
              <a:t>: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135378" y="3370243"/>
            <a:ext cx="1247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</a:rPr>
              <a:t>评论检测</a:t>
            </a:r>
            <a:r>
              <a:rPr lang="en-US" altLang="zh-CN" sz="2000" dirty="0">
                <a:solidFill>
                  <a:srgbClr val="0070C0"/>
                </a:solidFill>
              </a:rPr>
              <a:t>: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134624" y="4424256"/>
            <a:ext cx="1247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</a:rPr>
              <a:t>粒子对撞</a:t>
            </a:r>
            <a:r>
              <a:rPr lang="en-US" altLang="zh-CN" sz="2000" dirty="0">
                <a:solidFill>
                  <a:srgbClr val="0070C0"/>
                </a:solidFill>
              </a:rPr>
              <a:t>: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0663" y="0"/>
            <a:ext cx="7439299" cy="317427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4274"/>
            <a:ext cx="7464175" cy="34485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556" y="1638082"/>
            <a:ext cx="4854586" cy="15361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6270" y="4296767"/>
            <a:ext cx="4631725" cy="1529445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7376986" y="54319"/>
            <a:ext cx="0" cy="680368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0439" y="120418"/>
            <a:ext cx="4979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假设类（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Hypothesis Class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7700" y="1238250"/>
            <a:ext cx="58864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+mn-ea"/>
              </a:rPr>
              <a:t>模型：我们对于世界如何运行的假设</a:t>
            </a:r>
            <a:endParaRPr lang="en-US" altLang="zh-CN" sz="2000" dirty="0">
              <a:latin typeface="+mn-ea"/>
            </a:endParaRPr>
          </a:p>
          <a:p>
            <a:endParaRPr lang="en-US" altLang="zh-CN" sz="2000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+mn-ea"/>
              </a:rPr>
              <a:t>假设：输入</a:t>
            </a:r>
            <a:r>
              <a:rPr lang="en-US" altLang="zh-CN" sz="2000" dirty="0">
                <a:latin typeface="+mn-ea"/>
              </a:rPr>
              <a:t>x</a:t>
            </a:r>
            <a:r>
              <a:rPr lang="zh-CN" altLang="en-US" sz="2000" dirty="0">
                <a:latin typeface="+mn-ea"/>
              </a:rPr>
              <a:t>和输出</a:t>
            </a:r>
            <a:r>
              <a:rPr lang="en-US" altLang="zh-CN" sz="2000" dirty="0">
                <a:latin typeface="+mn-ea"/>
              </a:rPr>
              <a:t>y</a:t>
            </a:r>
            <a:r>
              <a:rPr lang="zh-CN" altLang="en-US" sz="2000" dirty="0">
                <a:latin typeface="+mn-ea"/>
              </a:rPr>
              <a:t>之间的关系</a:t>
            </a:r>
            <a:endParaRPr lang="en-US" altLang="zh-CN" sz="2000" dirty="0">
              <a:latin typeface="+mn-ea"/>
            </a:endParaRPr>
          </a:p>
          <a:p>
            <a:endParaRPr lang="en-US" altLang="zh-CN" sz="2000" dirty="0">
              <a:latin typeface="+mn-ea"/>
            </a:endParaRPr>
          </a:p>
        </p:txBody>
      </p:sp>
      <p:pic>
        <p:nvPicPr>
          <p:cNvPr id="6" name="Picture 4"/>
          <p:cNvPicPr>
            <a:picLocks noChangeAspect="1"/>
          </p:cNvPicPr>
          <p:nvPr/>
        </p:nvPicPr>
        <p:blipFill>
          <a:blip r:embed="rId1"/>
          <a:srcRect l="58611" b="22149"/>
          <a:stretch>
            <a:fillRect/>
          </a:stretch>
        </p:blipFill>
        <p:spPr>
          <a:xfrm>
            <a:off x="7206875" y="985269"/>
            <a:ext cx="4229100" cy="3176648"/>
          </a:xfrm>
          <a:prstGeom prst="rect">
            <a:avLst/>
          </a:prstGeom>
        </p:spPr>
      </p:pic>
      <p:pic>
        <p:nvPicPr>
          <p:cNvPr id="7" name="object 4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8876" y="1656010"/>
            <a:ext cx="2399517" cy="123760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6"/>
              <p:cNvSpPr/>
              <p:nvPr/>
            </p:nvSpPr>
            <p:spPr>
              <a:xfrm>
                <a:off x="1593499" y="2550502"/>
                <a:ext cx="4400885" cy="3754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未知的</m:t>
                    </m:r>
                    <m:r>
                      <a:rPr lang="zh-CN" alt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映射关系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dirty="0"/>
              </a:p>
            </p:txBody>
          </p:sp>
        </mc:Choice>
        <mc:Fallback>
          <p:sp>
            <p:nvSpPr>
              <p:cNvPr id="8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499" y="2550502"/>
                <a:ext cx="4400885" cy="375424"/>
              </a:xfrm>
              <a:prstGeom prst="rect">
                <a:avLst/>
              </a:prstGeom>
              <a:blipFill rotWithShape="1">
                <a:blip r:embed="rId3"/>
                <a:stretch>
                  <a:fillRect l="-6" t="-91" r="14" b="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2"/>
              <p:cNvSpPr txBox="1"/>
              <p:nvPr/>
            </p:nvSpPr>
            <p:spPr>
              <a:xfrm>
                <a:off x="1593499" y="3778957"/>
                <a:ext cx="7052755" cy="1341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SG" altLang="zh-CN" sz="2000" dirty="0">
                  <a:solidFill>
                    <a:srgbClr val="C00000"/>
                  </a:solidFill>
                  <a:latin typeface="+mn-ea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trlPr>
                          <a:rPr lang="zh-CN" alt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000" dirty="0">
                    <a:solidFill>
                      <a:srgbClr val="C00000"/>
                    </a:solidFill>
                    <a:latin typeface="+mn-ea"/>
                  </a:rPr>
                  <a:t>: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+mn-ea"/>
                  </a:rPr>
                  <a:t> 预测值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+mn-ea"/>
                  </a:rPr>
                  <a:t> 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+mn-ea"/>
                  </a:rPr>
                  <a:t>（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+mn-ea"/>
                  </a:rPr>
                  <a:t>prediction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+mn-ea"/>
                  </a:rPr>
                  <a:t> 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+mn-ea"/>
                  </a:rPr>
                  <a:t>or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+mn-ea"/>
                  </a:rPr>
                  <a:t> 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+mn-ea"/>
                  </a:rPr>
                  <a:t>estimation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+mn-ea"/>
                  </a:rPr>
                  <a:t>）</a:t>
                </a:r>
                <a:endParaRPr lang="en-US" altLang="zh-CN" sz="2000" dirty="0">
                  <a:solidFill>
                    <a:srgbClr val="C00000"/>
                  </a:solidFill>
                  <a:latin typeface="+mn-ea"/>
                </a:endParaRPr>
              </a:p>
              <a:p>
                <a:endParaRPr lang="en-US" altLang="zh-CN" sz="2000" i="1" dirty="0">
                  <a:solidFill>
                    <a:srgbClr val="C00000"/>
                  </a:solidFill>
                  <a:latin typeface="+mn-ea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a:rPr lang="en-US" altLang="zh-CN" sz="2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trlPr>
                          <a:rPr lang="zh-CN" altLang="en-US" sz="2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</m:oMath>
                </a14:m>
                <a:r>
                  <a: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ea"/>
                  </a:rPr>
                  <a:t> </a:t>
                </a:r>
                <a:r>
                  <a:rPr lang="en-US" altLang="zh-C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ea"/>
                  </a:rPr>
                  <a:t>:</a:t>
                </a:r>
                <a:r>
                  <a: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ea"/>
                  </a:rPr>
                  <a:t> 误差 、损失、风险</a:t>
                </a:r>
                <a:endPara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9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499" y="3778957"/>
                <a:ext cx="7052755" cy="1341521"/>
              </a:xfrm>
              <a:prstGeom prst="rect">
                <a:avLst/>
              </a:prstGeom>
              <a:blipFill rotWithShape="1">
                <a:blip r:embed="rId4"/>
                <a:stretch>
                  <a:fillRect l="-4" t="-5" r="1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1006018" y="5352595"/>
            <a:ext cx="495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注意：我们假设的模型不一定必须是线性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7700" y="3607853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+mn-ea"/>
              </a:rPr>
              <a:t>模型</a:t>
            </a:r>
            <a:endParaRPr lang="zh-CN" altLang="en-US" sz="1800" dirty="0"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593499" y="3132699"/>
                <a:ext cx="60980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sz="1800" dirty="0">
                    <a:solidFill>
                      <a:srgbClr val="C00000"/>
                    </a:solidFill>
                    <a:latin typeface="+mn-ea"/>
                  </a:rPr>
                  <a:t>:</a:t>
                </a:r>
                <a:r>
                  <a:rPr lang="zh-CN" altLang="en-US" sz="1800" dirty="0">
                    <a:solidFill>
                      <a:srgbClr val="C00000"/>
                    </a:solidFill>
                    <a:latin typeface="+mn-ea"/>
                  </a:rPr>
                  <a:t> 真实值 （</a:t>
                </a:r>
                <a:r>
                  <a:rPr lang="en-US" altLang="zh-CN" sz="1800" dirty="0">
                    <a:solidFill>
                      <a:srgbClr val="C00000"/>
                    </a:solidFill>
                    <a:latin typeface="+mn-ea"/>
                  </a:rPr>
                  <a:t>target or</a:t>
                </a:r>
                <a:r>
                  <a:rPr lang="zh-CN" altLang="en-US" sz="1800" dirty="0">
                    <a:solidFill>
                      <a:srgbClr val="C00000"/>
                    </a:solidFill>
                    <a:latin typeface="+mn-ea"/>
                  </a:rPr>
                  <a:t> </a:t>
                </a:r>
                <a:r>
                  <a:rPr lang="en-US" altLang="zh-CN" sz="1800" dirty="0">
                    <a:solidFill>
                      <a:srgbClr val="C00000"/>
                    </a:solidFill>
                    <a:latin typeface="+mn-ea"/>
                  </a:rPr>
                  <a:t>ground-truth</a:t>
                </a:r>
                <a:r>
                  <a:rPr lang="zh-CN" altLang="en-US" sz="1800" dirty="0">
                    <a:solidFill>
                      <a:srgbClr val="C00000"/>
                    </a:solidFill>
                    <a:latin typeface="+mn-ea"/>
                  </a:rPr>
                  <a:t> </a:t>
                </a:r>
                <a:r>
                  <a:rPr lang="en-US" altLang="zh-CN" sz="1800" dirty="0">
                    <a:solidFill>
                      <a:srgbClr val="C00000"/>
                    </a:solidFill>
                    <a:latin typeface="+mn-ea"/>
                  </a:rPr>
                  <a:t>to</a:t>
                </a:r>
                <a:r>
                  <a:rPr lang="zh-CN" altLang="en-US" sz="1800" dirty="0">
                    <a:solidFill>
                      <a:srgbClr val="C00000"/>
                    </a:solidFill>
                    <a:latin typeface="+mn-ea"/>
                  </a:rPr>
                  <a:t> </a:t>
                </a:r>
                <a:r>
                  <a:rPr lang="en-US" altLang="zh-CN" sz="1800" dirty="0">
                    <a:solidFill>
                      <a:srgbClr val="C00000"/>
                    </a:solidFill>
                    <a:latin typeface="+mn-ea"/>
                  </a:rPr>
                  <a:t>be</a:t>
                </a:r>
                <a:r>
                  <a:rPr lang="zh-CN" altLang="en-US" sz="1800" dirty="0">
                    <a:solidFill>
                      <a:srgbClr val="C00000"/>
                    </a:solidFill>
                    <a:latin typeface="+mn-ea"/>
                  </a:rPr>
                  <a:t> </a:t>
                </a:r>
                <a:r>
                  <a:rPr lang="en-US" altLang="zh-CN" sz="1800" dirty="0">
                    <a:solidFill>
                      <a:srgbClr val="C00000"/>
                    </a:solidFill>
                    <a:latin typeface="+mn-ea"/>
                  </a:rPr>
                  <a:t>predicted</a:t>
                </a:r>
                <a:r>
                  <a:rPr lang="zh-CN" altLang="en-US" sz="1800" dirty="0">
                    <a:solidFill>
                      <a:srgbClr val="C00000"/>
                    </a:solidFill>
                    <a:latin typeface="+mn-ea"/>
                  </a:rPr>
                  <a:t>）</a:t>
                </a:r>
                <a:endParaRPr lang="en-US" altLang="zh-CN" sz="1800" dirty="0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499" y="3132699"/>
                <a:ext cx="6098058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5" t="-66" r="7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582" y="0"/>
            <a:ext cx="7772400" cy="41962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2245"/>
            <a:ext cx="6830548" cy="24157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161" y="4740455"/>
            <a:ext cx="5752839" cy="21175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785" y="2415755"/>
            <a:ext cx="7574692" cy="190911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框架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45807"/>
          <a:stretch>
            <a:fillRect/>
          </a:stretch>
        </p:blipFill>
        <p:spPr>
          <a:xfrm>
            <a:off x="531187" y="1417207"/>
            <a:ext cx="11120148" cy="2857738"/>
          </a:xfrm>
          <a:prstGeom prst="rect">
            <a:avLst/>
          </a:prstGeom>
        </p:spPr>
      </p:pic>
      <p:sp>
        <p:nvSpPr>
          <p:cNvPr id="5" name="文本框 2"/>
          <p:cNvSpPr txBox="1"/>
          <p:nvPr/>
        </p:nvSpPr>
        <p:spPr>
          <a:xfrm>
            <a:off x="1217679" y="5439390"/>
            <a:ext cx="2607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怎么求解最优的模型？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sp>
        <p:nvSpPr>
          <p:cNvPr id="26" name="文本框 2"/>
          <p:cNvSpPr txBox="1"/>
          <p:nvPr/>
        </p:nvSpPr>
        <p:spPr>
          <a:xfrm>
            <a:off x="1217679" y="4205266"/>
            <a:ext cx="1981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使用什么模型？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sp>
        <p:nvSpPr>
          <p:cNvPr id="29" name="文本框 2"/>
          <p:cNvSpPr txBox="1"/>
          <p:nvPr/>
        </p:nvSpPr>
        <p:spPr>
          <a:xfrm>
            <a:off x="1205925" y="4800288"/>
            <a:ext cx="3372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怎么确定一个模型的好坏？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68770" y="4236044"/>
            <a:ext cx="3372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假设类（</a:t>
            </a:r>
            <a:r>
              <a:rPr lang="en-US" altLang="zh-CN" dirty="0"/>
              <a:t>Hypothesis Class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768770" y="4815677"/>
            <a:ext cx="3372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损失函数（</a:t>
            </a:r>
            <a:r>
              <a:rPr lang="en-US" altLang="zh-CN" dirty="0"/>
              <a:t>Loss Function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768769" y="5439390"/>
            <a:ext cx="4328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优化算法（</a:t>
            </a:r>
            <a:r>
              <a:rPr lang="en-US" altLang="zh-CN" dirty="0"/>
              <a:t>Optimization Algorithm</a:t>
            </a:r>
            <a:r>
              <a:rPr lang="zh-CN" altLang="en-US" dirty="0"/>
              <a:t>）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课程安排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094248" y="1409700"/>
            <a:ext cx="9753598" cy="4359377"/>
            <a:chOff x="628652" y="1710813"/>
            <a:chExt cx="7954909" cy="3829664"/>
          </a:xfrm>
        </p:grpSpPr>
        <p:sp>
          <p:nvSpPr>
            <p:cNvPr id="5" name="Rectangle 6"/>
            <p:cNvSpPr/>
            <p:nvPr/>
          </p:nvSpPr>
          <p:spPr>
            <a:xfrm>
              <a:off x="628652" y="1710813"/>
              <a:ext cx="2184605" cy="75708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假设类</a:t>
              </a:r>
              <a:endParaRPr 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9"/>
            <p:cNvSpPr/>
            <p:nvPr/>
          </p:nvSpPr>
          <p:spPr>
            <a:xfrm>
              <a:off x="3419735" y="1710813"/>
              <a:ext cx="2184605" cy="75708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损失函数</a:t>
              </a:r>
              <a:endParaRPr 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10"/>
            <p:cNvSpPr/>
            <p:nvPr/>
          </p:nvSpPr>
          <p:spPr>
            <a:xfrm>
              <a:off x="6255726" y="1710813"/>
              <a:ext cx="2184605" cy="75708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优化算法</a:t>
              </a:r>
              <a:endParaRPr 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12"/>
            <p:cNvSpPr/>
            <p:nvPr/>
          </p:nvSpPr>
          <p:spPr>
            <a:xfrm>
              <a:off x="628652" y="3190568"/>
              <a:ext cx="2184605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rgbClr val="FF0000"/>
                  </a:solidFill>
                </a:rPr>
                <a:t>线性回归</a:t>
              </a:r>
              <a:endParaRPr 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9" name="Rectangle 13"/>
            <p:cNvSpPr/>
            <p:nvPr/>
          </p:nvSpPr>
          <p:spPr>
            <a:xfrm>
              <a:off x="3419735" y="3190568"/>
              <a:ext cx="2184605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平方损失</a:t>
              </a:r>
              <a:endParaRPr 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14"/>
            <p:cNvSpPr/>
            <p:nvPr/>
          </p:nvSpPr>
          <p:spPr>
            <a:xfrm>
              <a:off x="6255726" y="3190568"/>
              <a:ext cx="2184605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梯度下降</a:t>
              </a:r>
              <a:endParaRPr 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5"/>
            <p:cNvSpPr/>
            <p:nvPr/>
          </p:nvSpPr>
          <p:spPr>
            <a:xfrm>
              <a:off x="628652" y="4783393"/>
              <a:ext cx="2184605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rgbClr val="FF0000"/>
                  </a:solidFill>
                </a:rPr>
                <a:t>多项式回归</a:t>
              </a:r>
              <a:endParaRPr 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Rectangle 17"/>
            <p:cNvSpPr/>
            <p:nvPr/>
          </p:nvSpPr>
          <p:spPr>
            <a:xfrm>
              <a:off x="3751250" y="4783393"/>
              <a:ext cx="1816538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为什么使用平方损失</a:t>
              </a:r>
              <a:endParaRPr 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8"/>
            <p:cNvSpPr/>
            <p:nvPr/>
          </p:nvSpPr>
          <p:spPr>
            <a:xfrm>
              <a:off x="6112491" y="4783393"/>
              <a:ext cx="2471070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随机梯度下降</a:t>
              </a:r>
              <a:endParaRPr 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Down Arrow 19"/>
            <p:cNvSpPr/>
            <p:nvPr/>
          </p:nvSpPr>
          <p:spPr>
            <a:xfrm>
              <a:off x="1573468" y="2509786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19" name="Down Arrow 20"/>
            <p:cNvSpPr/>
            <p:nvPr/>
          </p:nvSpPr>
          <p:spPr>
            <a:xfrm>
              <a:off x="1573468" y="4119717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0" name="Down Arrow 21"/>
            <p:cNvSpPr/>
            <p:nvPr/>
          </p:nvSpPr>
          <p:spPr>
            <a:xfrm>
              <a:off x="4364551" y="2509786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1" name="Down Arrow 22"/>
            <p:cNvSpPr/>
            <p:nvPr/>
          </p:nvSpPr>
          <p:spPr>
            <a:xfrm>
              <a:off x="4364551" y="4119717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2" name="Down Arrow 23"/>
            <p:cNvSpPr/>
            <p:nvPr/>
          </p:nvSpPr>
          <p:spPr>
            <a:xfrm>
              <a:off x="7200542" y="2509786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3" name="Down Arrow 24"/>
            <p:cNvSpPr/>
            <p:nvPr/>
          </p:nvSpPr>
          <p:spPr>
            <a:xfrm>
              <a:off x="7200542" y="4119717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4" name="Plus 25"/>
            <p:cNvSpPr/>
            <p:nvPr/>
          </p:nvSpPr>
          <p:spPr>
            <a:xfrm>
              <a:off x="2942303" y="1892710"/>
              <a:ext cx="393290" cy="393290"/>
            </a:xfrm>
            <a:prstGeom prst="mathPlu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5" name="Plus 26"/>
            <p:cNvSpPr/>
            <p:nvPr/>
          </p:nvSpPr>
          <p:spPr>
            <a:xfrm>
              <a:off x="5719201" y="1892710"/>
              <a:ext cx="393290" cy="393290"/>
            </a:xfrm>
            <a:prstGeom prst="mathPlu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线性回归模型）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52749"/>
          <a:stretch>
            <a:fillRect/>
          </a:stretch>
        </p:blipFill>
        <p:spPr>
          <a:xfrm>
            <a:off x="533322" y="886300"/>
            <a:ext cx="11397235" cy="25642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903998" y="3840002"/>
            <a:ext cx="2325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参数向量</a:t>
            </a:r>
            <a:r>
              <a:rPr lang="en-US" altLang="zh-CN" sz="2000" dirty="0">
                <a:solidFill>
                  <a:srgbClr val="FF0000"/>
                </a:solidFill>
              </a:rPr>
              <a:t>/</a:t>
            </a:r>
            <a:r>
              <a:rPr lang="zh-CN" altLang="en-US" sz="2000" dirty="0">
                <a:solidFill>
                  <a:srgbClr val="FF0000"/>
                </a:solidFill>
              </a:rPr>
              <a:t>模型参数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6504224" y="3854719"/>
            <a:ext cx="1473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特征提取器</a:t>
            </a:r>
            <a:endParaRPr lang="en-SG" altLang="zh-CN" sz="2000" dirty="0">
              <a:solidFill>
                <a:srgbClr val="FF0000"/>
              </a:solidFill>
            </a:endParaRPr>
          </a:p>
        </p:txBody>
      </p:sp>
      <p:sp>
        <p:nvSpPr>
          <p:cNvPr id="7" name="文本框 2"/>
          <p:cNvSpPr txBox="1"/>
          <p:nvPr/>
        </p:nvSpPr>
        <p:spPr>
          <a:xfrm>
            <a:off x="8259408" y="3870783"/>
            <a:ext cx="126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特征向量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807809" y="6069555"/>
                <a:ext cx="19458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（预测器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的集合）</a:t>
                </a:r>
                <a:endParaRPr lang="zh-CN" altLang="en-US" dirty="0"/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09" y="6069555"/>
                <a:ext cx="1945885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5" t="-61" r="-5139" b="1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654" y="4310800"/>
            <a:ext cx="1470787" cy="3505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84034" y="3809228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</a:rPr>
              <a:t>向量表示：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198" y="4308806"/>
            <a:ext cx="1539373" cy="304826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0112" y="4695463"/>
            <a:ext cx="2560542" cy="51820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4770" y="5507195"/>
            <a:ext cx="2514600" cy="663054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337922" y="560789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</a:rPr>
              <a:t>假设类：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66720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多项式回归（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Polynomial Regression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2287" y="1268911"/>
            <a:ext cx="3925063" cy="10010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7"/>
              <p:cNvSpPr txBox="1"/>
              <p:nvPr/>
            </p:nvSpPr>
            <p:spPr>
              <a:xfrm>
                <a:off x="1542287" y="2771848"/>
                <a:ext cx="525856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/>
                  <a:t>将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sz="20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000" dirty="0"/>
                  <a:t>不同维度的值</a:t>
                </a:r>
                <a:r>
                  <a:rPr lang="zh-CN" altLang="en-US" sz="2000" dirty="0">
                    <a:solidFill>
                      <a:srgbClr val="C00000"/>
                    </a:solidFill>
                  </a:rPr>
                  <a:t>当做不同的特征</a:t>
                </a:r>
                <a:endParaRPr lang="zh-CN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4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287" y="2771848"/>
                <a:ext cx="5258563" cy="400110"/>
              </a:xfrm>
              <a:prstGeom prst="rect">
                <a:avLst/>
              </a:prstGeom>
              <a:blipFill rotWithShape="1">
                <a:blip r:embed="rId2"/>
                <a:stretch>
                  <a:fillRect l="-10" t="-18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287" y="3624488"/>
            <a:ext cx="2925453" cy="250203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“线性”体现在哪？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30952" y="4292016"/>
            <a:ext cx="11120618" cy="2445566"/>
            <a:chOff x="535691" y="4026950"/>
            <a:chExt cx="11120618" cy="2445566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rcRect t="52118"/>
            <a:stretch>
              <a:fillRect/>
            </a:stretch>
          </p:blipFill>
          <p:spPr>
            <a:xfrm>
              <a:off x="535691" y="4026950"/>
              <a:ext cx="11120618" cy="244556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矩形 2"/>
                <p:cNvSpPr/>
                <p:nvPr/>
              </p:nvSpPr>
              <p:spPr>
                <a:xfrm>
                  <a:off x="1516712" y="4701699"/>
                  <a:ext cx="7910187" cy="79127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342900" indent="-342900">
                    <a:buFont typeface="Wingdings" panose="05000000000000000000" pitchFamily="2" charset="2"/>
                    <a:buChar char="l"/>
                  </a:pPr>
                  <a:r>
                    <a:rPr lang="zh-CN" altLang="en-US" sz="2400" b="0" dirty="0">
                      <a:solidFill>
                        <a:schemeClr val="tx1"/>
                      </a:solidFill>
                    </a:rPr>
                    <a:t>表达能力</a:t>
                  </a:r>
                  <a14:m>
                    <m:oMath xmlns:m="http://schemas.openxmlformats.org/officeDocument/2006/math">
                      <m:r>
                        <a:rPr lang="zh-CN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zh-CN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zh-CN" altLang="en-US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zh-CN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zh-CN" altLang="en-US" sz="2400" b="0" dirty="0">
                      <a:solidFill>
                        <a:schemeClr val="tx1"/>
                      </a:solidFill>
                    </a:rPr>
                    <a:t>是</a:t>
                  </a:r>
                  <a14:m>
                    <m:oMath xmlns:m="http://schemas.openxmlformats.org/officeDocument/2006/math">
                      <m:r>
                        <a:rPr lang="en-US" altLang="zh-C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zh-CN" altLang="en-US" sz="2400" b="0" dirty="0">
                      <a:solidFill>
                        <a:schemeClr val="tx1"/>
                      </a:solidFill>
                    </a:rPr>
                    <a:t>的</a:t>
                  </a:r>
                  <a:r>
                    <a:rPr lang="zh-CN" altLang="en-US" sz="2400" b="0" dirty="0">
                      <a:solidFill>
                        <a:srgbClr val="FF0000"/>
                      </a:solidFill>
                    </a:rPr>
                    <a:t>非线性</a:t>
                  </a:r>
                  <a:r>
                    <a:rPr lang="zh-CN" altLang="en-US" sz="2400" b="0" dirty="0">
                      <a:solidFill>
                        <a:schemeClr val="tx1"/>
                      </a:solidFill>
                    </a:rPr>
                    <a:t>函数</a:t>
                  </a:r>
                  <a:endParaRPr lang="en-US" altLang="zh-CN" sz="2400" b="0" dirty="0">
                    <a:solidFill>
                      <a:schemeClr val="tx1"/>
                    </a:solidFill>
                  </a:endParaRPr>
                </a:p>
                <a:p>
                  <a:pPr marL="342900" indent="-342900">
                    <a:buFont typeface="Wingdings" panose="05000000000000000000" pitchFamily="2" charset="2"/>
                    <a:buChar char="l"/>
                  </a:pPr>
                  <a:r>
                    <a:rPr lang="zh-CN" altLang="en-US" sz="2400" b="0" dirty="0">
                      <a:solidFill>
                        <a:schemeClr val="tx1"/>
                      </a:solidFill>
                    </a:rPr>
                    <a:t>效率</a:t>
                  </a:r>
                  <a14:m>
                    <m:oMath xmlns:m="http://schemas.openxmlformats.org/officeDocument/2006/math">
                      <m:r>
                        <a:rPr lang="zh-CN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zh-CN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zh-CN" altLang="en-US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zh-CN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zh-CN" altLang="en-US" sz="2400" b="0" dirty="0">
                      <a:solidFill>
                        <a:schemeClr val="tx1"/>
                      </a:solidFill>
                    </a:rPr>
                    <a:t>是</a:t>
                  </a:r>
                  <a14:m>
                    <m:oMath xmlns:m="http://schemas.openxmlformats.org/officeDocument/2006/math">
                      <m:r>
                        <a:rPr lang="en-US" altLang="zh-C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zh-CN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的</m:t>
                      </m:r>
                    </m:oMath>
                  </a14:m>
                  <a:r>
                    <a:rPr lang="zh-CN" altLang="en-US" sz="2400" b="0" dirty="0">
                      <a:solidFill>
                        <a:srgbClr val="0000FF"/>
                      </a:solidFill>
                    </a:rPr>
                    <a:t>线性</a:t>
                  </a:r>
                  <a:r>
                    <a:rPr lang="zh-CN" altLang="en-US" sz="2400" b="0" dirty="0">
                      <a:solidFill>
                        <a:schemeClr val="tx1"/>
                      </a:solidFill>
                    </a:rPr>
                    <a:t>函数</a:t>
                  </a:r>
                  <a:endParaRPr lang="en-US" altLang="zh-CN" sz="24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" name="矩形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6712" y="4701699"/>
                  <a:ext cx="7910187" cy="791278"/>
                </a:xfrm>
                <a:prstGeom prst="rect">
                  <a:avLst/>
                </a:prstGeom>
                <a:blipFill rotWithShape="1">
                  <a:blip r:embed="rId2"/>
                </a:blipFill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文本框 9"/>
          <p:cNvSpPr txBox="1"/>
          <p:nvPr/>
        </p:nvSpPr>
        <p:spPr>
          <a:xfrm>
            <a:off x="1226917" y="1568981"/>
            <a:ext cx="1898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预测值</a:t>
            </a:r>
            <a:r>
              <a:rPr lang="en-US" altLang="zh-CN" sz="2400" dirty="0"/>
              <a:t>: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226917" y="2520293"/>
                <a:ext cx="2303361" cy="1424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/>
                  <a:t>关于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2000" dirty="0"/>
                  <a:t>线性吗？</a:t>
                </a:r>
                <a:endParaRPr lang="en-SG" altLang="zh-CN" sz="20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/>
                  <a:t>关于</a:t>
                </a:r>
                <a14:m>
                  <m:oMath xmlns:m="http://schemas.openxmlformats.org/officeDocument/2006/math"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zh-CN" altLang="en-US" sz="20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线性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吗</m:t>
                    </m:r>
                  </m:oMath>
                </a14:m>
                <a:r>
                  <a:rPr lang="zh-CN" altLang="en-US" sz="2000" dirty="0"/>
                  <a:t>？</a:t>
                </a:r>
                <a:endParaRPr lang="en-US" altLang="zh-CN" sz="20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/>
                  <a:t>关于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000" dirty="0"/>
                  <a:t>线性吗？</a:t>
                </a:r>
                <a:endParaRPr lang="en-US" altLang="zh-CN" sz="2000" dirty="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917" y="2520293"/>
                <a:ext cx="2303361" cy="1424429"/>
              </a:xfrm>
              <a:prstGeom prst="rect">
                <a:avLst/>
              </a:prstGeom>
              <a:blipFill rotWithShape="1">
                <a:blip r:embed="rId3"/>
                <a:stretch>
                  <a:fillRect l="-4" t="-43" r="14" b="-8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654" y="2607357"/>
            <a:ext cx="734347" cy="13785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5032169" y="1615147"/>
                <a:ext cx="292980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169" y="1615147"/>
                <a:ext cx="2929802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5" t="-93" r="12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1706585" y="4290665"/>
            <a:ext cx="3087484" cy="483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关键点：非线性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&quot;402a1233-a9f0-48c5-9afd-f14827add457&quot;,&quot;Name&quot;:null,&quot;Kind&quot;:1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2959</Words>
  <Application>WPS 演示</Application>
  <PresentationFormat>Widescreen</PresentationFormat>
  <Paragraphs>539</Paragraphs>
  <Slides>25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4" baseType="lpstr">
      <vt:lpstr>Arial</vt:lpstr>
      <vt:lpstr>宋体</vt:lpstr>
      <vt:lpstr>Wingdings</vt:lpstr>
      <vt:lpstr>微软雅黑</vt:lpstr>
      <vt:lpstr>等线</vt:lpstr>
      <vt:lpstr>Cambria Math</vt:lpstr>
      <vt:lpstr>Times New Roman</vt:lpstr>
      <vt:lpstr>ui-sans-serif</vt:lpstr>
      <vt:lpstr>Segoe Print</vt:lpstr>
      <vt:lpstr>Arial</vt:lpstr>
      <vt:lpstr>微软雅黑</vt:lpstr>
      <vt:lpstr>Cambria</vt:lpstr>
      <vt:lpstr>Arial Unicode MS</vt:lpstr>
      <vt:lpstr>BatangChe</vt:lpstr>
      <vt:lpstr>Calibri</vt:lpstr>
      <vt:lpstr>Cambria</vt:lpstr>
      <vt:lpstr>Wingdings</vt:lpstr>
      <vt:lpstr>ui-sans-serif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靖杨 徐</dc:creator>
  <cp:lastModifiedBy>HZY</cp:lastModifiedBy>
  <cp:revision>1204</cp:revision>
  <cp:lastPrinted>2025-03-20T05:49:00Z</cp:lastPrinted>
  <dcterms:created xsi:type="dcterms:W3CDTF">2025-02-23T09:04:00Z</dcterms:created>
  <dcterms:modified xsi:type="dcterms:W3CDTF">2026-09-15T04:01:41Z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EE83F5076FA745BEA4E6C4689669F789_13</vt:lpwstr>
  </property>
  <property fmtid="{D5CDD505-2E9C-101B-9397-08002B2CF9AE}" pid="3" name="KSOProductBuildVer">
    <vt:lpwstr>2052-12.1.0.28505</vt:lpwstr>
  </property>
</Properties>
</file>