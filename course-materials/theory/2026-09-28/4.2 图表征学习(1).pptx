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028" r:id="rId3"/>
    <p:sldId id="5040" r:id="rId5"/>
    <p:sldId id="4926" r:id="rId6"/>
    <p:sldId id="5037" r:id="rId7"/>
    <p:sldId id="5032" r:id="rId8"/>
    <p:sldId id="5038" r:id="rId9"/>
    <p:sldId id="5039" r:id="rId10"/>
    <p:sldId id="5068" r:id="rId11"/>
    <p:sldId id="5072" r:id="rId12"/>
    <p:sldId id="5033" r:id="rId13"/>
    <p:sldId id="5073" r:id="rId14"/>
    <p:sldId id="5074" r:id="rId15"/>
    <p:sldId id="5044" r:id="rId16"/>
    <p:sldId id="5045" r:id="rId17"/>
    <p:sldId id="5046" r:id="rId18"/>
    <p:sldId id="5047" r:id="rId19"/>
    <p:sldId id="5048" r:id="rId20"/>
    <p:sldId id="5049" r:id="rId21"/>
    <p:sldId id="5050" r:id="rId22"/>
    <p:sldId id="5069" r:id="rId23"/>
    <p:sldId id="5052" r:id="rId24"/>
    <p:sldId id="5053" r:id="rId25"/>
    <p:sldId id="5054" r:id="rId26"/>
    <p:sldId id="5071" r:id="rId27"/>
    <p:sldId id="5055" r:id="rId28"/>
    <p:sldId id="5056" r:id="rId29"/>
    <p:sldId id="5057" r:id="rId30"/>
    <p:sldId id="5058" r:id="rId31"/>
    <p:sldId id="5059" r:id="rId32"/>
    <p:sldId id="5070" r:id="rId33"/>
    <p:sldId id="5060" r:id="rId34"/>
    <p:sldId id="5061" r:id="rId35"/>
    <p:sldId id="5062" r:id="rId36"/>
    <p:sldId id="5063" r:id="rId37"/>
    <p:sldId id="5064" r:id="rId38"/>
    <p:sldId id="5065" r:id="rId39"/>
    <p:sldId id="5066" r:id="rId40"/>
    <p:sldId id="5067" r:id="rId41"/>
  </p:sldIdLst>
  <p:sldSz cx="12192000" cy="6858000"/>
  <p:notesSz cx="6858000" cy="91440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6A1D21-F8D5-4699-9A24-19FFA6F3A92A}">
          <p14:sldIdLst>
            <p14:sldId id="5028"/>
            <p14:sldId id="5040"/>
            <p14:sldId id="4926"/>
            <p14:sldId id="5037"/>
            <p14:sldId id="5032"/>
            <p14:sldId id="5038"/>
            <p14:sldId id="5039"/>
            <p14:sldId id="5068"/>
            <p14:sldId id="5072"/>
            <p14:sldId id="5033"/>
            <p14:sldId id="5073"/>
            <p14:sldId id="5074"/>
            <p14:sldId id="5044"/>
            <p14:sldId id="5045"/>
            <p14:sldId id="5046"/>
            <p14:sldId id="5047"/>
            <p14:sldId id="5048"/>
            <p14:sldId id="5049"/>
            <p14:sldId id="5050"/>
            <p14:sldId id="5069"/>
            <p14:sldId id="5052"/>
            <p14:sldId id="5053"/>
            <p14:sldId id="5054"/>
            <p14:sldId id="5071"/>
            <p14:sldId id="5055"/>
            <p14:sldId id="5056"/>
            <p14:sldId id="5057"/>
            <p14:sldId id="5058"/>
            <p14:sldId id="5059"/>
            <p14:sldId id="5070"/>
            <p14:sldId id="5060"/>
            <p14:sldId id="5061"/>
            <p14:sldId id="5062"/>
            <p14:sldId id="5063"/>
            <p14:sldId id="5064"/>
            <p14:sldId id="5065"/>
            <p14:sldId id="5066"/>
            <p14:sldId id="50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60B5CC"/>
    <a:srgbClr val="F0AD00"/>
    <a:srgbClr val="E76C7D"/>
    <a:srgbClr val="F6C8CE"/>
    <a:srgbClr val="C3E3ED"/>
    <a:srgbClr val="85BE00"/>
    <a:srgbClr val="EDF5E7"/>
    <a:srgbClr val="B0007E"/>
    <a:srgbClr val="F2E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91" autoAdjust="0"/>
    <p:restoredTop sz="74883" autoAdjust="0"/>
  </p:normalViewPr>
  <p:slideViewPr>
    <p:cSldViewPr snapToGrid="0">
      <p:cViewPr varScale="1">
        <p:scale>
          <a:sx n="200" d="100"/>
          <a:sy n="200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5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C146-7103-4549-868D-FD3600C3A4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AA05-AB2B-4215-978B-A09B2D3487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在本模块中，我将概述我们计划在机器学习中涉及的主题</a:t>
            </a:r>
            <a:r>
              <a:rPr kumimoji="1" lang="zh-CN" altLang="en-US" dirty="0"/>
              <a:t>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第 </a:t>
            </a:r>
            <a:r>
              <a:rPr lang="en-US" altLang="zh-CN" sz="1600" dirty="0"/>
              <a:t>17 </a:t>
            </a:r>
            <a:r>
              <a:rPr lang="zh-CN" altLang="en-US" sz="1600" dirty="0"/>
              <a:t>页留了个问题：两个节点应该有相似的嵌入，到底是因为它们直接相连、共享邻居，还是结构角色相似？随机游走给出的回答是：从 </a:t>
            </a:r>
            <a:r>
              <a:rPr lang="en-US" sz="1600" dirty="0"/>
              <a:t>u </a:t>
            </a:r>
            <a:r>
              <a:rPr lang="zh-CN" altLang="en-US" sz="1600" dirty="0"/>
              <a:t>出发随便走几步，经常能碰到 </a:t>
            </a:r>
            <a:r>
              <a:rPr lang="en-US" sz="1600" dirty="0"/>
              <a:t>v，</a:t>
            </a:r>
            <a:r>
              <a:rPr lang="zh-CN" altLang="en-US" sz="1600" dirty="0"/>
              <a:t>那 </a:t>
            </a:r>
            <a:r>
              <a:rPr lang="en-US" sz="1600" dirty="0"/>
              <a:t>u </a:t>
            </a:r>
            <a:r>
              <a:rPr lang="zh-CN" altLang="en-US" sz="1600" dirty="0"/>
              <a:t>和 </a:t>
            </a:r>
            <a:r>
              <a:rPr lang="en-US" sz="1600" dirty="0"/>
              <a:t>v </a:t>
            </a:r>
            <a:r>
              <a:rPr lang="zh-CN" altLang="en-US" sz="1600" dirty="0"/>
              <a:t>就相似。这个定义的好处是它不只看一跳邻居，走 </a:t>
            </a:r>
            <a:r>
              <a:rPr lang="en-US" altLang="zh-CN" sz="1600" dirty="0"/>
              <a:t>3 </a:t>
            </a:r>
            <a:r>
              <a:rPr lang="zh-CN" altLang="en-US" sz="1600" dirty="0"/>
              <a:t>步、</a:t>
            </a:r>
            <a:r>
              <a:rPr lang="en-US" altLang="zh-CN" sz="1600" dirty="0"/>
              <a:t>5 </a:t>
            </a:r>
            <a:r>
              <a:rPr lang="zh-CN" altLang="en-US" sz="1600" dirty="0"/>
              <a:t>步也算，所以自然包含了</a:t>
            </a:r>
            <a:r>
              <a:rPr lang="en-US" altLang="zh-CN" sz="1600" dirty="0"/>
              <a:t>"</a:t>
            </a:r>
            <a:r>
              <a:rPr lang="zh-CN" altLang="en-US" sz="1600" dirty="0"/>
              <a:t>多跳的高阶结构信息</a:t>
            </a:r>
            <a:r>
              <a:rPr lang="en-US" altLang="zh-CN" sz="1600" dirty="0"/>
              <a:t>"</a:t>
            </a:r>
            <a:r>
              <a:rPr lang="zh-CN" altLang="en-US" sz="1600" dirty="0"/>
              <a:t>（第 </a:t>
            </a:r>
            <a:r>
              <a:rPr lang="en-US" altLang="zh-CN" sz="1600" dirty="0"/>
              <a:t>23 </a:t>
            </a:r>
            <a:r>
              <a:rPr lang="zh-CN" altLang="en-US" sz="1600" dirty="0"/>
              <a:t>页说的）。而且它是</a:t>
            </a:r>
            <a:r>
              <a:rPr lang="en-US" altLang="zh-CN" sz="1600" dirty="0"/>
              <a:t>"</a:t>
            </a:r>
            <a:r>
              <a:rPr lang="zh-CN" altLang="en-US" sz="1600" dirty="0"/>
              <a:t>软</a:t>
            </a:r>
            <a:r>
              <a:rPr lang="en-US" altLang="zh-CN" sz="1600" dirty="0"/>
              <a:t>"</a:t>
            </a:r>
            <a:r>
              <a:rPr lang="zh-CN" altLang="en-US" sz="1600" dirty="0"/>
              <a:t>的：碰到的概率高就很相似，概率低就不太相似，不是非黑即白。</a:t>
            </a:r>
            <a:endParaRPr lang="zh-CN" altLang="en-US" sz="16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049EC6D-DB1F-44A4-BAF7-4CD4248B20A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" name="任意多边形: 形状 12"/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D6292-6C13-4F21-ABA9-7D7BEAFB5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1B20-7BE2-4D3A-BBD1-988185DBD1E4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8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9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" name="任意多边形: 形状 12"/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 noChangeAspect="1"/>
          </p:cNvGrpSpPr>
          <p:nvPr userDrawn="1"/>
        </p:nvGrpSpPr>
        <p:grpSpPr bwMode="auto">
          <a:xfrm>
            <a:off x="-21265" y="-22854"/>
            <a:ext cx="12191999" cy="767234"/>
            <a:chOff x="-1" y="-1"/>
            <a:chExt cx="7719" cy="568"/>
          </a:xfrm>
        </p:grpSpPr>
        <p:sp>
          <p:nvSpPr>
            <p:cNvPr id="3" name="Freeform 11"/>
            <p:cNvSpPr/>
            <p:nvPr/>
          </p:nvSpPr>
          <p:spPr bwMode="auto">
            <a:xfrm>
              <a:off x="1469" y="-1"/>
              <a:ext cx="6249" cy="568"/>
            </a:xfrm>
            <a:custGeom>
              <a:avLst/>
              <a:gdLst>
                <a:gd name="T0" fmla="*/ 718 w 10599"/>
                <a:gd name="T1" fmla="*/ 0 h 1172"/>
                <a:gd name="T2" fmla="*/ 718 w 10599"/>
                <a:gd name="T3" fmla="*/ 0 h 1172"/>
                <a:gd name="T4" fmla="*/ 659 w 10599"/>
                <a:gd name="T5" fmla="*/ 37 h 1172"/>
                <a:gd name="T6" fmla="*/ 0 w 10599"/>
                <a:gd name="T7" fmla="*/ 1172 h 1172"/>
                <a:gd name="T8" fmla="*/ 10599 w 10599"/>
                <a:gd name="T9" fmla="*/ 1172 h 1172"/>
                <a:gd name="T10" fmla="*/ 10599 w 10599"/>
                <a:gd name="T11" fmla="*/ 0 h 1172"/>
                <a:gd name="T12" fmla="*/ 718 w 10599"/>
                <a:gd name="T13" fmla="*/ 0 h 1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599" h="1172">
                  <a:moveTo>
                    <a:pt x="718" y="0"/>
                  </a:moveTo>
                  <a:lnTo>
                    <a:pt x="718" y="0"/>
                  </a:lnTo>
                  <a:lnTo>
                    <a:pt x="659" y="37"/>
                  </a:lnTo>
                  <a:lnTo>
                    <a:pt x="0" y="1172"/>
                  </a:lnTo>
                  <a:lnTo>
                    <a:pt x="10599" y="1172"/>
                  </a:lnTo>
                  <a:lnTo>
                    <a:pt x="10599" y="0"/>
                  </a:lnTo>
                  <a:lnTo>
                    <a:pt x="718" y="0"/>
                  </a:lnTo>
                  <a:close/>
                </a:path>
              </a:pathLst>
            </a:custGeom>
            <a:solidFill>
              <a:srgbClr val="649EB2">
                <a:lumMod val="20000"/>
                <a:lumOff val="80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" name="AutoShape 8"/>
            <p:cNvSpPr>
              <a:spLocks noChangeAspect="1" noChangeArrowheads="1" noTextEdit="1"/>
            </p:cNvSpPr>
            <p:nvPr/>
          </p:nvSpPr>
          <p:spPr bwMode="auto">
            <a:xfrm>
              <a:off x="-1" y="0"/>
              <a:ext cx="7713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6223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5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" name="任意多边形: 形状 12"/>
          <p:cNvSpPr/>
          <p:nvPr userDrawn="1"/>
        </p:nvSpPr>
        <p:spPr bwMode="auto">
          <a:xfrm>
            <a:off x="-30742" y="-24205"/>
            <a:ext cx="9288002" cy="768585"/>
          </a:xfrm>
          <a:custGeom>
            <a:avLst/>
            <a:gdLst>
              <a:gd name="connsiteX0" fmla="*/ 0 w 9288002"/>
              <a:gd name="connsiteY0" fmla="*/ 0 h 768585"/>
              <a:gd name="connsiteX1" fmla="*/ 9288002 w 9288002"/>
              <a:gd name="connsiteY1" fmla="*/ 0 h 768585"/>
              <a:gd name="connsiteX2" fmla="*/ 8786022 w 9288002"/>
              <a:gd name="connsiteY2" fmla="*/ 754718 h 768585"/>
              <a:gd name="connsiteX3" fmla="*/ 8743383 w 9288002"/>
              <a:gd name="connsiteY3" fmla="*/ 768585 h 768585"/>
              <a:gd name="connsiteX4" fmla="*/ 0 w 9288002"/>
              <a:gd name="connsiteY4" fmla="*/ 768585 h 768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002" h="768585">
                <a:moveTo>
                  <a:pt x="0" y="0"/>
                </a:moveTo>
                <a:lnTo>
                  <a:pt x="9288002" y="0"/>
                </a:lnTo>
                <a:lnTo>
                  <a:pt x="8786022" y="754718"/>
                </a:lnTo>
                <a:lnTo>
                  <a:pt x="8743383" y="768585"/>
                </a:lnTo>
                <a:lnTo>
                  <a:pt x="0" y="768585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6223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D6292-6C13-4F21-ABA9-7D7BEAFB5B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11B20-7BE2-4D3A-BBD1-988185DBD1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1.GIF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864"/>
          </a:solidFill>
          <a:ln w="57150"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50616" y="376157"/>
            <a:ext cx="3400585" cy="569319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67679" y="1321633"/>
            <a:ext cx="11856641" cy="2901395"/>
            <a:chOff x="167679" y="1321633"/>
            <a:chExt cx="11856641" cy="2901395"/>
          </a:xfrm>
        </p:grpSpPr>
        <p:sp>
          <p:nvSpPr>
            <p:cNvPr id="6" name="矩形 5"/>
            <p:cNvSpPr/>
            <p:nvPr/>
          </p:nvSpPr>
          <p:spPr>
            <a:xfrm>
              <a:off x="167679" y="1321633"/>
              <a:ext cx="11856641" cy="1414780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《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人工智能数学原理与算法</a:t>
              </a:r>
              <a: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》</a:t>
              </a:r>
              <a:br>
                <a:rPr kumimoji="0" lang="en-US" altLang="zh-CN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</a:b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第</a:t>
              </a:r>
              <a:r>
                <a:rPr lang="en-US" altLang="zh-CN" sz="36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kumimoji="0" lang="zh-CN" altLang="en-US" sz="36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章：图神经网络</a:t>
              </a:r>
              <a:endParaRPr kumimoji="0" lang="en-US" altLang="zh-CN" sz="36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67679" y="3221943"/>
              <a:ext cx="11856641" cy="1001085"/>
            </a:xfrm>
            <a:prstGeom prst="rect">
              <a:avLst/>
            </a:prstGeom>
          </p:spPr>
          <p:txBody>
            <a:bodyPr wrap="square" lIns="87545" tIns="43772" rIns="87545" bIns="43772">
              <a:spAutoFit/>
            </a:bodyPr>
            <a:lstStyle/>
            <a:p>
              <a:pPr marL="0" marR="0" lvl="0" indent="0" algn="ctr" defTabSz="1750695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54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kumimoji="0" lang="en-US" altLang="zh-CN" sz="5400" b="1" i="0" u="none" strike="noStrike" kern="1200" cap="none" spc="4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.2 </a:t>
              </a:r>
              <a:r>
                <a:rPr lang="zh-CN" altLang="en-US" sz="5400" b="1" spc="4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图表征学习</a:t>
              </a:r>
              <a:endParaRPr kumimoji="0" lang="en-US" altLang="zh-CN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3627188" y="4463916"/>
            <a:ext cx="5404863" cy="1381060"/>
          </a:xfrm>
          <a:prstGeom prst="rect">
            <a:avLst/>
          </a:prstGeom>
        </p:spPr>
        <p:txBody>
          <a:bodyPr wrap="square" lIns="87545" tIns="43772" rIns="87545" bIns="43772">
            <a:spAutoFit/>
          </a:bodyPr>
          <a:lstStyle/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康奇宇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ctr" defTabSz="1750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qiyukang@ustc.edu.cn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advTm="1191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/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/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概述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28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/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节点嵌入</a:t>
              </a:r>
              <a:endParaRPr lang="zh-CN" altLang="en-US" sz="2000" b="1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/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基于随机游走的节点嵌入</a:t>
              </a:r>
              <a:endParaRPr lang="zh-CN" altLang="en-US" sz="2000" b="1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6"/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/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图嵌入</a:t>
              </a:r>
              <a:endParaRPr lang="zh-CN" altLang="en-US" sz="2000" b="1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回顾：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面向图数据的传统机器学习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object 3"/>
          <p:cNvSpPr/>
          <p:nvPr/>
        </p:nvSpPr>
        <p:spPr>
          <a:xfrm>
            <a:off x="3034631" y="3681666"/>
            <a:ext cx="933450" cy="142875"/>
          </a:xfrm>
          <a:custGeom>
            <a:avLst/>
            <a:gdLst/>
            <a:ahLst/>
            <a:cxnLst/>
            <a:rect l="l" t="t" r="r" b="b"/>
            <a:pathLst>
              <a:path w="933450" h="142875">
                <a:moveTo>
                  <a:pt x="847399" y="71437"/>
                </a:moveTo>
                <a:lnTo>
                  <a:pt x="790249" y="142875"/>
                </a:lnTo>
                <a:lnTo>
                  <a:pt x="904549" y="85725"/>
                </a:lnTo>
                <a:lnTo>
                  <a:pt x="847399" y="85725"/>
                </a:lnTo>
                <a:lnTo>
                  <a:pt x="847399" y="71437"/>
                </a:lnTo>
                <a:close/>
              </a:path>
              <a:path w="933450" h="142875">
                <a:moveTo>
                  <a:pt x="835969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835969" y="85725"/>
                </a:lnTo>
                <a:lnTo>
                  <a:pt x="847399" y="71437"/>
                </a:lnTo>
                <a:lnTo>
                  <a:pt x="835969" y="57150"/>
                </a:lnTo>
                <a:close/>
              </a:path>
              <a:path w="933450" h="142875">
                <a:moveTo>
                  <a:pt x="904549" y="57150"/>
                </a:moveTo>
                <a:lnTo>
                  <a:pt x="847399" y="57150"/>
                </a:lnTo>
                <a:lnTo>
                  <a:pt x="847399" y="85725"/>
                </a:lnTo>
                <a:lnTo>
                  <a:pt x="904549" y="85725"/>
                </a:lnTo>
                <a:lnTo>
                  <a:pt x="933124" y="71437"/>
                </a:lnTo>
                <a:lnTo>
                  <a:pt x="904549" y="57150"/>
                </a:lnTo>
                <a:close/>
              </a:path>
              <a:path w="933450" h="142875">
                <a:moveTo>
                  <a:pt x="790249" y="0"/>
                </a:moveTo>
                <a:lnTo>
                  <a:pt x="847399" y="71437"/>
                </a:lnTo>
                <a:lnTo>
                  <a:pt x="847399" y="57150"/>
                </a:lnTo>
                <a:lnTo>
                  <a:pt x="904549" y="57150"/>
                </a:lnTo>
                <a:lnTo>
                  <a:pt x="790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4"/>
          <p:cNvSpPr/>
          <p:nvPr/>
        </p:nvSpPr>
        <p:spPr>
          <a:xfrm>
            <a:off x="5911757" y="3681666"/>
            <a:ext cx="800100" cy="142875"/>
          </a:xfrm>
          <a:custGeom>
            <a:avLst/>
            <a:gdLst/>
            <a:ahLst/>
            <a:cxnLst/>
            <a:rect l="l" t="t" r="r" b="b"/>
            <a:pathLst>
              <a:path w="800100" h="142875">
                <a:moveTo>
                  <a:pt x="713775" y="71437"/>
                </a:moveTo>
                <a:lnTo>
                  <a:pt x="656625" y="142875"/>
                </a:lnTo>
                <a:lnTo>
                  <a:pt x="770925" y="85725"/>
                </a:lnTo>
                <a:lnTo>
                  <a:pt x="713775" y="85725"/>
                </a:lnTo>
                <a:lnTo>
                  <a:pt x="713775" y="71437"/>
                </a:lnTo>
                <a:close/>
              </a:path>
              <a:path w="800100" h="142875">
                <a:moveTo>
                  <a:pt x="70234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702345" y="85725"/>
                </a:lnTo>
                <a:lnTo>
                  <a:pt x="713775" y="71437"/>
                </a:lnTo>
                <a:lnTo>
                  <a:pt x="702345" y="57150"/>
                </a:lnTo>
                <a:close/>
              </a:path>
              <a:path w="800100" h="142875">
                <a:moveTo>
                  <a:pt x="770925" y="57150"/>
                </a:moveTo>
                <a:lnTo>
                  <a:pt x="713775" y="57150"/>
                </a:lnTo>
                <a:lnTo>
                  <a:pt x="713775" y="85725"/>
                </a:lnTo>
                <a:lnTo>
                  <a:pt x="770925" y="85725"/>
                </a:lnTo>
                <a:lnTo>
                  <a:pt x="799500" y="71437"/>
                </a:lnTo>
                <a:lnTo>
                  <a:pt x="770925" y="57150"/>
                </a:lnTo>
                <a:close/>
              </a:path>
              <a:path w="800100" h="142875">
                <a:moveTo>
                  <a:pt x="656625" y="0"/>
                </a:moveTo>
                <a:lnTo>
                  <a:pt x="713775" y="71437"/>
                </a:lnTo>
                <a:lnTo>
                  <a:pt x="713775" y="57150"/>
                </a:lnTo>
                <a:lnTo>
                  <a:pt x="770925" y="57150"/>
                </a:lnTo>
                <a:lnTo>
                  <a:pt x="656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8521031" y="3681666"/>
            <a:ext cx="583565" cy="142875"/>
          </a:xfrm>
          <a:custGeom>
            <a:avLst/>
            <a:gdLst/>
            <a:ahLst/>
            <a:cxnLst/>
            <a:rect l="l" t="t" r="r" b="b"/>
            <a:pathLst>
              <a:path w="583565" h="142875">
                <a:moveTo>
                  <a:pt x="497288" y="71437"/>
                </a:moveTo>
                <a:lnTo>
                  <a:pt x="440138" y="142875"/>
                </a:lnTo>
                <a:lnTo>
                  <a:pt x="554438" y="85725"/>
                </a:lnTo>
                <a:lnTo>
                  <a:pt x="497288" y="85725"/>
                </a:lnTo>
                <a:lnTo>
                  <a:pt x="497288" y="71437"/>
                </a:lnTo>
                <a:close/>
              </a:path>
              <a:path w="583565" h="142875">
                <a:moveTo>
                  <a:pt x="485858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485858" y="85725"/>
                </a:lnTo>
                <a:lnTo>
                  <a:pt x="497288" y="71437"/>
                </a:lnTo>
                <a:lnTo>
                  <a:pt x="485858" y="57150"/>
                </a:lnTo>
                <a:close/>
              </a:path>
              <a:path w="583565" h="142875">
                <a:moveTo>
                  <a:pt x="554438" y="57150"/>
                </a:moveTo>
                <a:lnTo>
                  <a:pt x="497288" y="57150"/>
                </a:lnTo>
                <a:lnTo>
                  <a:pt x="497288" y="85725"/>
                </a:lnTo>
                <a:lnTo>
                  <a:pt x="554438" y="85725"/>
                </a:lnTo>
                <a:lnTo>
                  <a:pt x="583013" y="71437"/>
                </a:lnTo>
                <a:lnTo>
                  <a:pt x="554438" y="57150"/>
                </a:lnTo>
                <a:close/>
              </a:path>
              <a:path w="583565" h="142875">
                <a:moveTo>
                  <a:pt x="440138" y="0"/>
                </a:moveTo>
                <a:lnTo>
                  <a:pt x="497288" y="71437"/>
                </a:lnTo>
                <a:lnTo>
                  <a:pt x="497288" y="57150"/>
                </a:lnTo>
                <a:lnTo>
                  <a:pt x="554438" y="57150"/>
                </a:lnTo>
                <a:lnTo>
                  <a:pt x="4401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object 6"/>
          <p:cNvGrpSpPr/>
          <p:nvPr/>
        </p:nvGrpSpPr>
        <p:grpSpPr>
          <a:xfrm>
            <a:off x="1761245" y="3206165"/>
            <a:ext cx="1727200" cy="1538605"/>
            <a:chOff x="149014" y="4024313"/>
            <a:chExt cx="1727200" cy="1538605"/>
          </a:xfrm>
        </p:grpSpPr>
        <p:sp>
          <p:nvSpPr>
            <p:cNvPr id="15" name="object 7"/>
            <p:cNvSpPr/>
            <p:nvPr/>
          </p:nvSpPr>
          <p:spPr>
            <a:xfrm>
              <a:off x="1259639" y="4643267"/>
              <a:ext cx="616585" cy="919480"/>
            </a:xfrm>
            <a:custGeom>
              <a:avLst/>
              <a:gdLst/>
              <a:ahLst/>
              <a:cxnLst/>
              <a:rect l="l" t="t" r="r" b="b"/>
              <a:pathLst>
                <a:path w="616585" h="919479">
                  <a:moveTo>
                    <a:pt x="0" y="771770"/>
                  </a:moveTo>
                  <a:lnTo>
                    <a:pt x="61163" y="919335"/>
                  </a:lnTo>
                  <a:lnTo>
                    <a:pt x="110427" y="836090"/>
                  </a:lnTo>
                  <a:lnTo>
                    <a:pt x="81316" y="836090"/>
                  </a:lnTo>
                  <a:lnTo>
                    <a:pt x="53012" y="832319"/>
                  </a:lnTo>
                  <a:lnTo>
                    <a:pt x="53163" y="831199"/>
                  </a:lnTo>
                  <a:lnTo>
                    <a:pt x="54686" y="822471"/>
                  </a:lnTo>
                  <a:lnTo>
                    <a:pt x="54718" y="822283"/>
                  </a:lnTo>
                  <a:lnTo>
                    <a:pt x="0" y="771770"/>
                  </a:lnTo>
                  <a:close/>
                </a:path>
                <a:path w="616585" h="919479">
                  <a:moveTo>
                    <a:pt x="54718" y="822283"/>
                  </a:moveTo>
                  <a:lnTo>
                    <a:pt x="53163" y="831199"/>
                  </a:lnTo>
                  <a:lnTo>
                    <a:pt x="53012" y="832319"/>
                  </a:lnTo>
                  <a:lnTo>
                    <a:pt x="81316" y="836090"/>
                  </a:lnTo>
                  <a:lnTo>
                    <a:pt x="81708" y="833824"/>
                  </a:lnTo>
                  <a:lnTo>
                    <a:pt x="67221" y="833824"/>
                  </a:lnTo>
                  <a:lnTo>
                    <a:pt x="54718" y="822283"/>
                  </a:lnTo>
                  <a:close/>
                </a:path>
                <a:path w="616585" h="919479">
                  <a:moveTo>
                    <a:pt x="142518" y="781865"/>
                  </a:moveTo>
                  <a:lnTo>
                    <a:pt x="83673" y="822471"/>
                  </a:lnTo>
                  <a:lnTo>
                    <a:pt x="81316" y="836090"/>
                  </a:lnTo>
                  <a:lnTo>
                    <a:pt x="110427" y="836090"/>
                  </a:lnTo>
                  <a:lnTo>
                    <a:pt x="142518" y="781865"/>
                  </a:lnTo>
                  <a:close/>
                </a:path>
                <a:path w="616585" h="919479">
                  <a:moveTo>
                    <a:pt x="587937" y="0"/>
                  </a:moveTo>
                  <a:lnTo>
                    <a:pt x="586385" y="43013"/>
                  </a:lnTo>
                  <a:lnTo>
                    <a:pt x="581931" y="84700"/>
                  </a:lnTo>
                  <a:lnTo>
                    <a:pt x="574765" y="125764"/>
                  </a:lnTo>
                  <a:lnTo>
                    <a:pt x="565076" y="165859"/>
                  </a:lnTo>
                  <a:lnTo>
                    <a:pt x="553064" y="204636"/>
                  </a:lnTo>
                  <a:lnTo>
                    <a:pt x="538929" y="241744"/>
                  </a:lnTo>
                  <a:lnTo>
                    <a:pt x="522875" y="276834"/>
                  </a:lnTo>
                  <a:lnTo>
                    <a:pt x="485862" y="339557"/>
                  </a:lnTo>
                  <a:lnTo>
                    <a:pt x="443815" y="390010"/>
                  </a:lnTo>
                  <a:lnTo>
                    <a:pt x="398731" y="425479"/>
                  </a:lnTo>
                  <a:lnTo>
                    <a:pt x="353469" y="443449"/>
                  </a:lnTo>
                  <a:lnTo>
                    <a:pt x="318263" y="446323"/>
                  </a:lnTo>
                  <a:lnTo>
                    <a:pt x="304162" y="448444"/>
                  </a:lnTo>
                  <a:lnTo>
                    <a:pt x="262906" y="462859"/>
                  </a:lnTo>
                  <a:lnTo>
                    <a:pt x="224204" y="487672"/>
                  </a:lnTo>
                  <a:lnTo>
                    <a:pt x="176095" y="535090"/>
                  </a:lnTo>
                  <a:lnTo>
                    <a:pt x="133670" y="595788"/>
                  </a:lnTo>
                  <a:lnTo>
                    <a:pt x="114944" y="630278"/>
                  </a:lnTo>
                  <a:lnTo>
                    <a:pt x="98097" y="667096"/>
                  </a:lnTo>
                  <a:lnTo>
                    <a:pt x="83308" y="705920"/>
                  </a:lnTo>
                  <a:lnTo>
                    <a:pt x="70760" y="746428"/>
                  </a:lnTo>
                  <a:lnTo>
                    <a:pt x="60647" y="788295"/>
                  </a:lnTo>
                  <a:lnTo>
                    <a:pt x="54718" y="822283"/>
                  </a:lnTo>
                  <a:lnTo>
                    <a:pt x="67221" y="833824"/>
                  </a:lnTo>
                  <a:lnTo>
                    <a:pt x="83673" y="822471"/>
                  </a:lnTo>
                  <a:lnTo>
                    <a:pt x="88428" y="794986"/>
                  </a:lnTo>
                  <a:lnTo>
                    <a:pt x="98063" y="754863"/>
                  </a:lnTo>
                  <a:lnTo>
                    <a:pt x="110018" y="716074"/>
                  </a:lnTo>
                  <a:lnTo>
                    <a:pt x="124091" y="678964"/>
                  </a:lnTo>
                  <a:lnTo>
                    <a:pt x="140069" y="643888"/>
                  </a:lnTo>
                  <a:lnTo>
                    <a:pt x="176861" y="581232"/>
                  </a:lnTo>
                  <a:lnTo>
                    <a:pt x="218513" y="530879"/>
                  </a:lnTo>
                  <a:lnTo>
                    <a:pt x="263377" y="495159"/>
                  </a:lnTo>
                  <a:lnTo>
                    <a:pt x="308558" y="476679"/>
                  </a:lnTo>
                  <a:lnTo>
                    <a:pt x="346564" y="473377"/>
                  </a:lnTo>
                  <a:lnTo>
                    <a:pt x="360567" y="471129"/>
                  </a:lnTo>
                  <a:lnTo>
                    <a:pt x="401461" y="456497"/>
                  </a:lnTo>
                  <a:lnTo>
                    <a:pt x="440528" y="431111"/>
                  </a:lnTo>
                  <a:lnTo>
                    <a:pt x="488105" y="383773"/>
                  </a:lnTo>
                  <a:lnTo>
                    <a:pt x="530239" y="323165"/>
                  </a:lnTo>
                  <a:lnTo>
                    <a:pt x="548868" y="288701"/>
                  </a:lnTo>
                  <a:lnTo>
                    <a:pt x="565640" y="251896"/>
                  </a:lnTo>
                  <a:lnTo>
                    <a:pt x="580365" y="213071"/>
                  </a:lnTo>
                  <a:lnTo>
                    <a:pt x="592857" y="172551"/>
                  </a:lnTo>
                  <a:lnTo>
                    <a:pt x="602917" y="130656"/>
                  </a:lnTo>
                  <a:lnTo>
                    <a:pt x="610346" y="87712"/>
                  </a:lnTo>
                  <a:lnTo>
                    <a:pt x="614941" y="44044"/>
                  </a:lnTo>
                  <a:lnTo>
                    <a:pt x="616493" y="1031"/>
                  </a:lnTo>
                  <a:lnTo>
                    <a:pt x="587937" y="0"/>
                  </a:lnTo>
                  <a:close/>
                </a:path>
                <a:path w="616585" h="919479">
                  <a:moveTo>
                    <a:pt x="83673" y="822471"/>
                  </a:moveTo>
                  <a:lnTo>
                    <a:pt x="67221" y="833824"/>
                  </a:lnTo>
                  <a:lnTo>
                    <a:pt x="81708" y="833824"/>
                  </a:lnTo>
                  <a:lnTo>
                    <a:pt x="83673" y="822471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object 8"/>
            <p:cNvSpPr/>
            <p:nvPr/>
          </p:nvSpPr>
          <p:spPr>
            <a:xfrm>
              <a:off x="163301" y="4038601"/>
              <a:ext cx="1259205" cy="1065530"/>
            </a:xfrm>
            <a:custGeom>
              <a:avLst/>
              <a:gdLst/>
              <a:ahLst/>
              <a:cxnLst/>
              <a:rect l="l" t="t" r="r" b="b"/>
              <a:pathLst>
                <a:path w="1259205" h="1065529">
                  <a:moveTo>
                    <a:pt x="0" y="177553"/>
                  </a:moveTo>
                  <a:lnTo>
                    <a:pt x="6342" y="130352"/>
                  </a:lnTo>
                  <a:lnTo>
                    <a:pt x="24241" y="87938"/>
                  </a:lnTo>
                  <a:lnTo>
                    <a:pt x="52004" y="52004"/>
                  </a:lnTo>
                  <a:lnTo>
                    <a:pt x="87938" y="24241"/>
                  </a:lnTo>
                  <a:lnTo>
                    <a:pt x="130352" y="6342"/>
                  </a:lnTo>
                  <a:lnTo>
                    <a:pt x="177553" y="0"/>
                  </a:lnTo>
                  <a:lnTo>
                    <a:pt x="1081547" y="0"/>
                  </a:lnTo>
                  <a:lnTo>
                    <a:pt x="1128747" y="6342"/>
                  </a:lnTo>
                  <a:lnTo>
                    <a:pt x="1171161" y="24241"/>
                  </a:lnTo>
                  <a:lnTo>
                    <a:pt x="1207096" y="52004"/>
                  </a:lnTo>
                  <a:lnTo>
                    <a:pt x="1234858" y="87938"/>
                  </a:lnTo>
                  <a:lnTo>
                    <a:pt x="1252757" y="130352"/>
                  </a:lnTo>
                  <a:lnTo>
                    <a:pt x="1259100" y="177553"/>
                  </a:lnTo>
                  <a:lnTo>
                    <a:pt x="1259100" y="887746"/>
                  </a:lnTo>
                  <a:lnTo>
                    <a:pt x="1252757" y="934947"/>
                  </a:lnTo>
                  <a:lnTo>
                    <a:pt x="1234858" y="977361"/>
                  </a:lnTo>
                  <a:lnTo>
                    <a:pt x="1207096" y="1013295"/>
                  </a:lnTo>
                  <a:lnTo>
                    <a:pt x="1171161" y="1041058"/>
                  </a:lnTo>
                  <a:lnTo>
                    <a:pt x="1128747" y="1058957"/>
                  </a:lnTo>
                  <a:lnTo>
                    <a:pt x="1081547" y="1065300"/>
                  </a:lnTo>
                  <a:lnTo>
                    <a:pt x="177553" y="1065300"/>
                  </a:lnTo>
                  <a:lnTo>
                    <a:pt x="130352" y="1058957"/>
                  </a:lnTo>
                  <a:lnTo>
                    <a:pt x="87938" y="1041058"/>
                  </a:lnTo>
                  <a:lnTo>
                    <a:pt x="52004" y="1013295"/>
                  </a:lnTo>
                  <a:lnTo>
                    <a:pt x="24241" y="977361"/>
                  </a:lnTo>
                  <a:lnTo>
                    <a:pt x="6342" y="934947"/>
                  </a:lnTo>
                  <a:lnTo>
                    <a:pt x="0" y="887746"/>
                  </a:lnTo>
                  <a:lnTo>
                    <a:pt x="0" y="177553"/>
                  </a:lnTo>
                  <a:close/>
                </a:path>
              </a:pathLst>
            </a:custGeom>
            <a:ln w="28575">
              <a:solidFill>
                <a:srgbClr val="6BB76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object 9"/>
          <p:cNvSpPr txBox="1"/>
          <p:nvPr/>
        </p:nvSpPr>
        <p:spPr>
          <a:xfrm>
            <a:off x="1675245" y="3555814"/>
            <a:ext cx="1393100" cy="36266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78105" algn="ctr">
              <a:lnSpc>
                <a:spcPct val="101000"/>
              </a:lnSpc>
              <a:spcBef>
                <a:spcPts val="75"/>
              </a:spcBef>
            </a:pPr>
            <a:r>
              <a:rPr lang="en-SG" sz="24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输入图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28" name="object 10"/>
          <p:cNvSpPr/>
          <p:nvPr/>
        </p:nvSpPr>
        <p:spPr>
          <a:xfrm>
            <a:off x="3967755" y="3220453"/>
            <a:ext cx="1944370" cy="1065530"/>
          </a:xfrm>
          <a:custGeom>
            <a:avLst/>
            <a:gdLst/>
            <a:ahLst/>
            <a:cxnLst/>
            <a:rect l="l" t="t" r="r" b="b"/>
            <a:pathLst>
              <a:path w="1944370" h="1065529">
                <a:moveTo>
                  <a:pt x="0" y="177553"/>
                </a:moveTo>
                <a:lnTo>
                  <a:pt x="6342" y="130353"/>
                </a:lnTo>
                <a:lnTo>
                  <a:pt x="24241" y="87939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766446" y="0"/>
                </a:lnTo>
                <a:lnTo>
                  <a:pt x="1813646" y="6342"/>
                </a:lnTo>
                <a:lnTo>
                  <a:pt x="1856060" y="24241"/>
                </a:lnTo>
                <a:lnTo>
                  <a:pt x="1891995" y="52004"/>
                </a:lnTo>
                <a:lnTo>
                  <a:pt x="1919758" y="87939"/>
                </a:lnTo>
                <a:lnTo>
                  <a:pt x="1937657" y="130353"/>
                </a:lnTo>
                <a:lnTo>
                  <a:pt x="1944000" y="177553"/>
                </a:lnTo>
                <a:lnTo>
                  <a:pt x="1944000" y="887746"/>
                </a:lnTo>
                <a:lnTo>
                  <a:pt x="1937657" y="934946"/>
                </a:lnTo>
                <a:lnTo>
                  <a:pt x="1919758" y="977360"/>
                </a:lnTo>
                <a:lnTo>
                  <a:pt x="1891995" y="1013295"/>
                </a:lnTo>
                <a:lnTo>
                  <a:pt x="1856060" y="1041058"/>
                </a:lnTo>
                <a:lnTo>
                  <a:pt x="1813646" y="1058957"/>
                </a:lnTo>
                <a:lnTo>
                  <a:pt x="1766446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0"/>
                </a:lnTo>
                <a:lnTo>
                  <a:pt x="6342" y="934946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bject 11"/>
          <p:cNvSpPr txBox="1"/>
          <p:nvPr/>
        </p:nvSpPr>
        <p:spPr>
          <a:xfrm>
            <a:off x="4070857" y="3555933"/>
            <a:ext cx="1682766" cy="39433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36525" marR="5080" indent="-123825" algn="ctr">
              <a:lnSpc>
                <a:spcPts val="2780"/>
              </a:lnSpc>
              <a:spcBef>
                <a:spcPts val="275"/>
              </a:spcBef>
            </a:pPr>
            <a:r>
              <a:rPr lang="en-SG" sz="2400" spc="-35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结构化特征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30" name="object 12"/>
          <p:cNvSpPr/>
          <p:nvPr/>
        </p:nvSpPr>
        <p:spPr>
          <a:xfrm>
            <a:off x="6711258" y="3220453"/>
            <a:ext cx="1810385" cy="1065530"/>
          </a:xfrm>
          <a:custGeom>
            <a:avLst/>
            <a:gdLst/>
            <a:ahLst/>
            <a:cxnLst/>
            <a:rect l="l" t="t" r="r" b="b"/>
            <a:pathLst>
              <a:path w="1810384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632222" y="0"/>
                </a:lnTo>
                <a:lnTo>
                  <a:pt x="1679422" y="6342"/>
                </a:lnTo>
                <a:lnTo>
                  <a:pt x="1721836" y="24241"/>
                </a:lnTo>
                <a:lnTo>
                  <a:pt x="1757771" y="52004"/>
                </a:lnTo>
                <a:lnTo>
                  <a:pt x="1785533" y="87938"/>
                </a:lnTo>
                <a:lnTo>
                  <a:pt x="1803432" y="130352"/>
                </a:lnTo>
                <a:lnTo>
                  <a:pt x="1809775" y="177553"/>
                </a:lnTo>
                <a:lnTo>
                  <a:pt x="1809775" y="887746"/>
                </a:lnTo>
                <a:lnTo>
                  <a:pt x="1803432" y="934947"/>
                </a:lnTo>
                <a:lnTo>
                  <a:pt x="1785533" y="977361"/>
                </a:lnTo>
                <a:lnTo>
                  <a:pt x="1757771" y="1013295"/>
                </a:lnTo>
                <a:lnTo>
                  <a:pt x="1721836" y="1041058"/>
                </a:lnTo>
                <a:lnTo>
                  <a:pt x="1679422" y="1058957"/>
                </a:lnTo>
                <a:lnTo>
                  <a:pt x="163222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object 13"/>
          <p:cNvSpPr txBox="1"/>
          <p:nvPr/>
        </p:nvSpPr>
        <p:spPr>
          <a:xfrm>
            <a:off x="6741094" y="3429000"/>
            <a:ext cx="1621408" cy="7357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6515" algn="ctr">
              <a:lnSpc>
                <a:spcPct val="101000"/>
              </a:lnSpc>
              <a:spcBef>
                <a:spcPts val="75"/>
              </a:spcBef>
            </a:pPr>
            <a:r>
              <a:rPr lang="en-SG" sz="24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构建</a:t>
            </a:r>
            <a:r>
              <a:rPr lang="en-US" altLang="zh-CN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&amp;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优化</a:t>
            </a:r>
            <a:r>
              <a:rPr lang="en-SG" sz="24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模型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32" name="object 14"/>
          <p:cNvSpPr/>
          <p:nvPr/>
        </p:nvSpPr>
        <p:spPr>
          <a:xfrm>
            <a:off x="7200143" y="4558719"/>
            <a:ext cx="2950210" cy="132715"/>
          </a:xfrm>
          <a:custGeom>
            <a:avLst/>
            <a:gdLst/>
            <a:ahLst/>
            <a:cxnLst/>
            <a:rect l="l" t="t" r="r" b="b"/>
            <a:pathLst>
              <a:path w="2950209" h="132714">
                <a:moveTo>
                  <a:pt x="2925441" y="51499"/>
                </a:moveTo>
                <a:lnTo>
                  <a:pt x="2921558" y="51499"/>
                </a:lnTo>
                <a:lnTo>
                  <a:pt x="2921647" y="65608"/>
                </a:lnTo>
                <a:lnTo>
                  <a:pt x="2921739" y="80073"/>
                </a:lnTo>
                <a:lnTo>
                  <a:pt x="2868868" y="80405"/>
                </a:lnTo>
                <a:lnTo>
                  <a:pt x="2822149" y="108052"/>
                </a:lnTo>
                <a:lnTo>
                  <a:pt x="2819901" y="116815"/>
                </a:lnTo>
                <a:lnTo>
                  <a:pt x="2827939" y="130397"/>
                </a:lnTo>
                <a:lnTo>
                  <a:pt x="2836702" y="132645"/>
                </a:lnTo>
                <a:lnTo>
                  <a:pt x="2949980" y="65608"/>
                </a:lnTo>
                <a:lnTo>
                  <a:pt x="2925441" y="51499"/>
                </a:lnTo>
                <a:close/>
              </a:path>
              <a:path w="2950209" h="132714">
                <a:moveTo>
                  <a:pt x="2868688" y="51831"/>
                </a:moveTo>
                <a:lnTo>
                  <a:pt x="0" y="69844"/>
                </a:lnTo>
                <a:lnTo>
                  <a:pt x="52" y="78173"/>
                </a:lnTo>
                <a:lnTo>
                  <a:pt x="179" y="98419"/>
                </a:lnTo>
                <a:lnTo>
                  <a:pt x="2868868" y="80405"/>
                </a:lnTo>
                <a:lnTo>
                  <a:pt x="2893270" y="65965"/>
                </a:lnTo>
                <a:lnTo>
                  <a:pt x="2868688" y="51831"/>
                </a:lnTo>
                <a:close/>
              </a:path>
              <a:path w="2950209" h="132714">
                <a:moveTo>
                  <a:pt x="2893270" y="65965"/>
                </a:moveTo>
                <a:lnTo>
                  <a:pt x="2868868" y="80405"/>
                </a:lnTo>
                <a:lnTo>
                  <a:pt x="2921739" y="80073"/>
                </a:lnTo>
                <a:lnTo>
                  <a:pt x="2921727" y="78173"/>
                </a:lnTo>
                <a:lnTo>
                  <a:pt x="2914503" y="78173"/>
                </a:lnTo>
                <a:lnTo>
                  <a:pt x="2893270" y="65965"/>
                </a:lnTo>
                <a:close/>
              </a:path>
              <a:path w="2950209" h="132714">
                <a:moveTo>
                  <a:pt x="2914349" y="53491"/>
                </a:moveTo>
                <a:lnTo>
                  <a:pt x="2893270" y="65965"/>
                </a:lnTo>
                <a:lnTo>
                  <a:pt x="2914503" y="78173"/>
                </a:lnTo>
                <a:lnTo>
                  <a:pt x="2914425" y="65608"/>
                </a:lnTo>
                <a:lnTo>
                  <a:pt x="2914349" y="53491"/>
                </a:lnTo>
                <a:close/>
              </a:path>
              <a:path w="2950209" h="132714">
                <a:moveTo>
                  <a:pt x="2921571" y="53491"/>
                </a:moveTo>
                <a:lnTo>
                  <a:pt x="2914349" y="53491"/>
                </a:lnTo>
                <a:lnTo>
                  <a:pt x="2914425" y="65608"/>
                </a:lnTo>
                <a:lnTo>
                  <a:pt x="2914503" y="78173"/>
                </a:lnTo>
                <a:lnTo>
                  <a:pt x="2921727" y="78173"/>
                </a:lnTo>
                <a:lnTo>
                  <a:pt x="2921647" y="65608"/>
                </a:lnTo>
                <a:lnTo>
                  <a:pt x="2921571" y="53491"/>
                </a:lnTo>
                <a:close/>
              </a:path>
              <a:path w="2950209" h="132714">
                <a:moveTo>
                  <a:pt x="2921558" y="51499"/>
                </a:moveTo>
                <a:lnTo>
                  <a:pt x="2868688" y="51831"/>
                </a:lnTo>
                <a:lnTo>
                  <a:pt x="2893270" y="65965"/>
                </a:lnTo>
                <a:lnTo>
                  <a:pt x="2914349" y="53491"/>
                </a:lnTo>
                <a:lnTo>
                  <a:pt x="2921571" y="53491"/>
                </a:lnTo>
                <a:lnTo>
                  <a:pt x="2921558" y="51499"/>
                </a:lnTo>
                <a:close/>
              </a:path>
              <a:path w="2950209" h="132714">
                <a:moveTo>
                  <a:pt x="2835869" y="0"/>
                </a:moveTo>
                <a:lnTo>
                  <a:pt x="2827135" y="2357"/>
                </a:lnTo>
                <a:lnTo>
                  <a:pt x="2819269" y="16038"/>
                </a:lnTo>
                <a:lnTo>
                  <a:pt x="2821626" y="24772"/>
                </a:lnTo>
                <a:lnTo>
                  <a:pt x="2868688" y="51831"/>
                </a:lnTo>
                <a:lnTo>
                  <a:pt x="2925441" y="51499"/>
                </a:lnTo>
                <a:lnTo>
                  <a:pt x="283586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object 15"/>
          <p:cNvSpPr txBox="1"/>
          <p:nvPr/>
        </p:nvSpPr>
        <p:spPr>
          <a:xfrm>
            <a:off x="7139417" y="4762728"/>
            <a:ext cx="3010936" cy="39433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130175" algn="ctr">
              <a:lnSpc>
                <a:spcPts val="2780"/>
              </a:lnSpc>
              <a:spcBef>
                <a:spcPts val="275"/>
              </a:spcBef>
            </a:pPr>
            <a:r>
              <a:rPr lang="en-SG" sz="2400" spc="-10" dirty="0" err="1">
                <a:solidFill>
                  <a:srgbClr val="5A63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下游预测任务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34" name="object 16"/>
          <p:cNvSpPr txBox="1"/>
          <p:nvPr/>
        </p:nvSpPr>
        <p:spPr>
          <a:xfrm>
            <a:off x="654539" y="4959897"/>
            <a:ext cx="439804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SG" sz="2400" spc="-8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特征工程</a:t>
            </a:r>
            <a:endParaRPr lang="en-SG" sz="2400" spc="-8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（基于人工统计的节点</a:t>
            </a:r>
            <a:r>
              <a:rPr lang="en-US" altLang="zh-CN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-</a:t>
            </a:r>
            <a:r>
              <a:rPr lang="zh-CN" altLang="en-US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、链接</a:t>
            </a:r>
            <a:r>
              <a:rPr lang="en-US" altLang="zh-CN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-</a:t>
            </a:r>
            <a:r>
              <a:rPr lang="zh-CN" altLang="en-US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、图级别的特征）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35" name="object 18"/>
          <p:cNvSpPr/>
          <p:nvPr/>
        </p:nvSpPr>
        <p:spPr>
          <a:xfrm>
            <a:off x="9104045" y="3224725"/>
            <a:ext cx="1654810" cy="1065530"/>
          </a:xfrm>
          <a:custGeom>
            <a:avLst/>
            <a:gdLst/>
            <a:ahLst/>
            <a:cxnLst/>
            <a:rect l="l" t="t" r="r" b="b"/>
            <a:pathLst>
              <a:path w="1654809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476682" y="0"/>
                </a:lnTo>
                <a:lnTo>
                  <a:pt x="1523883" y="6342"/>
                </a:lnTo>
                <a:lnTo>
                  <a:pt x="1566297" y="24241"/>
                </a:lnTo>
                <a:lnTo>
                  <a:pt x="1602231" y="52004"/>
                </a:lnTo>
                <a:lnTo>
                  <a:pt x="1629994" y="87938"/>
                </a:lnTo>
                <a:lnTo>
                  <a:pt x="1647893" y="130352"/>
                </a:lnTo>
                <a:lnTo>
                  <a:pt x="1654236" y="177553"/>
                </a:lnTo>
                <a:lnTo>
                  <a:pt x="1654236" y="887746"/>
                </a:lnTo>
                <a:lnTo>
                  <a:pt x="1647893" y="934947"/>
                </a:lnTo>
                <a:lnTo>
                  <a:pt x="1629994" y="977361"/>
                </a:lnTo>
                <a:lnTo>
                  <a:pt x="1602231" y="1013295"/>
                </a:lnTo>
                <a:lnTo>
                  <a:pt x="1566297" y="1041058"/>
                </a:lnTo>
                <a:lnTo>
                  <a:pt x="1523883" y="1058957"/>
                </a:lnTo>
                <a:lnTo>
                  <a:pt x="147668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object 19"/>
          <p:cNvSpPr txBox="1"/>
          <p:nvPr/>
        </p:nvSpPr>
        <p:spPr>
          <a:xfrm>
            <a:off x="9262381" y="3552175"/>
            <a:ext cx="13379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SG" sz="2400" spc="-4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输出预测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37" name="文本框 33"/>
          <p:cNvSpPr txBox="1"/>
          <p:nvPr/>
        </p:nvSpPr>
        <p:spPr>
          <a:xfrm>
            <a:off x="830048" y="828293"/>
            <a:ext cx="10551826" cy="132202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给定一个输入图，提取节点、边和图级特征，然后学习一个将特征映射到标签的模型（如 神经网络等）</a:t>
            </a:r>
            <a:endParaRPr lang="en-SG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3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504" y="2235336"/>
            <a:ext cx="2579294" cy="522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图表征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object 3"/>
          <p:cNvSpPr/>
          <p:nvPr/>
        </p:nvSpPr>
        <p:spPr>
          <a:xfrm>
            <a:off x="3034631" y="3681666"/>
            <a:ext cx="933450" cy="142875"/>
          </a:xfrm>
          <a:custGeom>
            <a:avLst/>
            <a:gdLst/>
            <a:ahLst/>
            <a:cxnLst/>
            <a:rect l="l" t="t" r="r" b="b"/>
            <a:pathLst>
              <a:path w="933450" h="142875">
                <a:moveTo>
                  <a:pt x="847399" y="71437"/>
                </a:moveTo>
                <a:lnTo>
                  <a:pt x="790249" y="142875"/>
                </a:lnTo>
                <a:lnTo>
                  <a:pt x="904549" y="85725"/>
                </a:lnTo>
                <a:lnTo>
                  <a:pt x="847399" y="85725"/>
                </a:lnTo>
                <a:lnTo>
                  <a:pt x="847399" y="71437"/>
                </a:lnTo>
                <a:close/>
              </a:path>
              <a:path w="933450" h="142875">
                <a:moveTo>
                  <a:pt x="835969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835969" y="85725"/>
                </a:lnTo>
                <a:lnTo>
                  <a:pt x="847399" y="71437"/>
                </a:lnTo>
                <a:lnTo>
                  <a:pt x="835969" y="57150"/>
                </a:lnTo>
                <a:close/>
              </a:path>
              <a:path w="933450" h="142875">
                <a:moveTo>
                  <a:pt x="904549" y="57150"/>
                </a:moveTo>
                <a:lnTo>
                  <a:pt x="847399" y="57150"/>
                </a:lnTo>
                <a:lnTo>
                  <a:pt x="847399" y="85725"/>
                </a:lnTo>
                <a:lnTo>
                  <a:pt x="904549" y="85725"/>
                </a:lnTo>
                <a:lnTo>
                  <a:pt x="933124" y="71437"/>
                </a:lnTo>
                <a:lnTo>
                  <a:pt x="904549" y="57150"/>
                </a:lnTo>
                <a:close/>
              </a:path>
              <a:path w="933450" h="142875">
                <a:moveTo>
                  <a:pt x="790249" y="0"/>
                </a:moveTo>
                <a:lnTo>
                  <a:pt x="847399" y="71437"/>
                </a:lnTo>
                <a:lnTo>
                  <a:pt x="847399" y="57150"/>
                </a:lnTo>
                <a:lnTo>
                  <a:pt x="904549" y="57150"/>
                </a:lnTo>
                <a:lnTo>
                  <a:pt x="7902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4"/>
          <p:cNvSpPr/>
          <p:nvPr/>
        </p:nvSpPr>
        <p:spPr>
          <a:xfrm>
            <a:off x="5911757" y="3681666"/>
            <a:ext cx="800100" cy="142875"/>
          </a:xfrm>
          <a:custGeom>
            <a:avLst/>
            <a:gdLst/>
            <a:ahLst/>
            <a:cxnLst/>
            <a:rect l="l" t="t" r="r" b="b"/>
            <a:pathLst>
              <a:path w="800100" h="142875">
                <a:moveTo>
                  <a:pt x="713775" y="71437"/>
                </a:moveTo>
                <a:lnTo>
                  <a:pt x="656625" y="142875"/>
                </a:lnTo>
                <a:lnTo>
                  <a:pt x="770925" y="85725"/>
                </a:lnTo>
                <a:lnTo>
                  <a:pt x="713775" y="85725"/>
                </a:lnTo>
                <a:lnTo>
                  <a:pt x="713775" y="71437"/>
                </a:lnTo>
                <a:close/>
              </a:path>
              <a:path w="800100" h="142875">
                <a:moveTo>
                  <a:pt x="702345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702345" y="85725"/>
                </a:lnTo>
                <a:lnTo>
                  <a:pt x="713775" y="71437"/>
                </a:lnTo>
                <a:lnTo>
                  <a:pt x="702345" y="57150"/>
                </a:lnTo>
                <a:close/>
              </a:path>
              <a:path w="800100" h="142875">
                <a:moveTo>
                  <a:pt x="770925" y="57150"/>
                </a:moveTo>
                <a:lnTo>
                  <a:pt x="713775" y="57150"/>
                </a:lnTo>
                <a:lnTo>
                  <a:pt x="713775" y="85725"/>
                </a:lnTo>
                <a:lnTo>
                  <a:pt x="770925" y="85725"/>
                </a:lnTo>
                <a:lnTo>
                  <a:pt x="799500" y="71437"/>
                </a:lnTo>
                <a:lnTo>
                  <a:pt x="770925" y="57150"/>
                </a:lnTo>
                <a:close/>
              </a:path>
              <a:path w="800100" h="142875">
                <a:moveTo>
                  <a:pt x="656625" y="0"/>
                </a:moveTo>
                <a:lnTo>
                  <a:pt x="713775" y="71437"/>
                </a:lnTo>
                <a:lnTo>
                  <a:pt x="713775" y="57150"/>
                </a:lnTo>
                <a:lnTo>
                  <a:pt x="770925" y="57150"/>
                </a:lnTo>
                <a:lnTo>
                  <a:pt x="6566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8521031" y="3681666"/>
            <a:ext cx="583565" cy="142875"/>
          </a:xfrm>
          <a:custGeom>
            <a:avLst/>
            <a:gdLst/>
            <a:ahLst/>
            <a:cxnLst/>
            <a:rect l="l" t="t" r="r" b="b"/>
            <a:pathLst>
              <a:path w="583565" h="142875">
                <a:moveTo>
                  <a:pt x="497288" y="71437"/>
                </a:moveTo>
                <a:lnTo>
                  <a:pt x="440138" y="142875"/>
                </a:lnTo>
                <a:lnTo>
                  <a:pt x="554438" y="85725"/>
                </a:lnTo>
                <a:lnTo>
                  <a:pt x="497288" y="85725"/>
                </a:lnTo>
                <a:lnTo>
                  <a:pt x="497288" y="71437"/>
                </a:lnTo>
                <a:close/>
              </a:path>
              <a:path w="583565" h="142875">
                <a:moveTo>
                  <a:pt x="485858" y="57150"/>
                </a:moveTo>
                <a:lnTo>
                  <a:pt x="0" y="57150"/>
                </a:lnTo>
                <a:lnTo>
                  <a:pt x="0" y="85725"/>
                </a:lnTo>
                <a:lnTo>
                  <a:pt x="485858" y="85725"/>
                </a:lnTo>
                <a:lnTo>
                  <a:pt x="497288" y="71437"/>
                </a:lnTo>
                <a:lnTo>
                  <a:pt x="485858" y="57150"/>
                </a:lnTo>
                <a:close/>
              </a:path>
              <a:path w="583565" h="142875">
                <a:moveTo>
                  <a:pt x="554438" y="57150"/>
                </a:moveTo>
                <a:lnTo>
                  <a:pt x="497288" y="57150"/>
                </a:lnTo>
                <a:lnTo>
                  <a:pt x="497288" y="85725"/>
                </a:lnTo>
                <a:lnTo>
                  <a:pt x="554438" y="85725"/>
                </a:lnTo>
                <a:lnTo>
                  <a:pt x="583013" y="71437"/>
                </a:lnTo>
                <a:lnTo>
                  <a:pt x="554438" y="57150"/>
                </a:lnTo>
                <a:close/>
              </a:path>
              <a:path w="583565" h="142875">
                <a:moveTo>
                  <a:pt x="440138" y="0"/>
                </a:moveTo>
                <a:lnTo>
                  <a:pt x="497288" y="71437"/>
                </a:lnTo>
                <a:lnTo>
                  <a:pt x="497288" y="57150"/>
                </a:lnTo>
                <a:lnTo>
                  <a:pt x="554438" y="57150"/>
                </a:lnTo>
                <a:lnTo>
                  <a:pt x="4401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object 6"/>
          <p:cNvGrpSpPr/>
          <p:nvPr/>
        </p:nvGrpSpPr>
        <p:grpSpPr>
          <a:xfrm>
            <a:off x="1761245" y="3206165"/>
            <a:ext cx="1727200" cy="1538605"/>
            <a:chOff x="149014" y="4024313"/>
            <a:chExt cx="1727200" cy="1538605"/>
          </a:xfrm>
        </p:grpSpPr>
        <p:sp>
          <p:nvSpPr>
            <p:cNvPr id="15" name="object 7"/>
            <p:cNvSpPr/>
            <p:nvPr/>
          </p:nvSpPr>
          <p:spPr>
            <a:xfrm>
              <a:off x="1259639" y="4643267"/>
              <a:ext cx="616585" cy="919480"/>
            </a:xfrm>
            <a:custGeom>
              <a:avLst/>
              <a:gdLst/>
              <a:ahLst/>
              <a:cxnLst/>
              <a:rect l="l" t="t" r="r" b="b"/>
              <a:pathLst>
                <a:path w="616585" h="919479">
                  <a:moveTo>
                    <a:pt x="0" y="771770"/>
                  </a:moveTo>
                  <a:lnTo>
                    <a:pt x="61163" y="919335"/>
                  </a:lnTo>
                  <a:lnTo>
                    <a:pt x="110427" y="836090"/>
                  </a:lnTo>
                  <a:lnTo>
                    <a:pt x="81316" y="836090"/>
                  </a:lnTo>
                  <a:lnTo>
                    <a:pt x="53012" y="832319"/>
                  </a:lnTo>
                  <a:lnTo>
                    <a:pt x="53163" y="831199"/>
                  </a:lnTo>
                  <a:lnTo>
                    <a:pt x="54686" y="822471"/>
                  </a:lnTo>
                  <a:lnTo>
                    <a:pt x="54718" y="822283"/>
                  </a:lnTo>
                  <a:lnTo>
                    <a:pt x="0" y="771770"/>
                  </a:lnTo>
                  <a:close/>
                </a:path>
                <a:path w="616585" h="919479">
                  <a:moveTo>
                    <a:pt x="54718" y="822283"/>
                  </a:moveTo>
                  <a:lnTo>
                    <a:pt x="53163" y="831199"/>
                  </a:lnTo>
                  <a:lnTo>
                    <a:pt x="53012" y="832319"/>
                  </a:lnTo>
                  <a:lnTo>
                    <a:pt x="81316" y="836090"/>
                  </a:lnTo>
                  <a:lnTo>
                    <a:pt x="81708" y="833824"/>
                  </a:lnTo>
                  <a:lnTo>
                    <a:pt x="67221" y="833824"/>
                  </a:lnTo>
                  <a:lnTo>
                    <a:pt x="54718" y="822283"/>
                  </a:lnTo>
                  <a:close/>
                </a:path>
                <a:path w="616585" h="919479">
                  <a:moveTo>
                    <a:pt x="142518" y="781865"/>
                  </a:moveTo>
                  <a:lnTo>
                    <a:pt x="83673" y="822471"/>
                  </a:lnTo>
                  <a:lnTo>
                    <a:pt x="81316" y="836090"/>
                  </a:lnTo>
                  <a:lnTo>
                    <a:pt x="110427" y="836090"/>
                  </a:lnTo>
                  <a:lnTo>
                    <a:pt x="142518" y="781865"/>
                  </a:lnTo>
                  <a:close/>
                </a:path>
                <a:path w="616585" h="919479">
                  <a:moveTo>
                    <a:pt x="587937" y="0"/>
                  </a:moveTo>
                  <a:lnTo>
                    <a:pt x="586385" y="43013"/>
                  </a:lnTo>
                  <a:lnTo>
                    <a:pt x="581931" y="84700"/>
                  </a:lnTo>
                  <a:lnTo>
                    <a:pt x="574765" y="125764"/>
                  </a:lnTo>
                  <a:lnTo>
                    <a:pt x="565076" y="165859"/>
                  </a:lnTo>
                  <a:lnTo>
                    <a:pt x="553064" y="204636"/>
                  </a:lnTo>
                  <a:lnTo>
                    <a:pt x="538929" y="241744"/>
                  </a:lnTo>
                  <a:lnTo>
                    <a:pt x="522875" y="276834"/>
                  </a:lnTo>
                  <a:lnTo>
                    <a:pt x="485862" y="339557"/>
                  </a:lnTo>
                  <a:lnTo>
                    <a:pt x="443815" y="390010"/>
                  </a:lnTo>
                  <a:lnTo>
                    <a:pt x="398731" y="425479"/>
                  </a:lnTo>
                  <a:lnTo>
                    <a:pt x="353469" y="443449"/>
                  </a:lnTo>
                  <a:lnTo>
                    <a:pt x="318263" y="446323"/>
                  </a:lnTo>
                  <a:lnTo>
                    <a:pt x="304162" y="448444"/>
                  </a:lnTo>
                  <a:lnTo>
                    <a:pt x="262906" y="462859"/>
                  </a:lnTo>
                  <a:lnTo>
                    <a:pt x="224204" y="487672"/>
                  </a:lnTo>
                  <a:lnTo>
                    <a:pt x="176095" y="535090"/>
                  </a:lnTo>
                  <a:lnTo>
                    <a:pt x="133670" y="595788"/>
                  </a:lnTo>
                  <a:lnTo>
                    <a:pt x="114944" y="630278"/>
                  </a:lnTo>
                  <a:lnTo>
                    <a:pt x="98097" y="667096"/>
                  </a:lnTo>
                  <a:lnTo>
                    <a:pt x="83308" y="705920"/>
                  </a:lnTo>
                  <a:lnTo>
                    <a:pt x="70760" y="746428"/>
                  </a:lnTo>
                  <a:lnTo>
                    <a:pt x="60647" y="788295"/>
                  </a:lnTo>
                  <a:lnTo>
                    <a:pt x="54718" y="822283"/>
                  </a:lnTo>
                  <a:lnTo>
                    <a:pt x="67221" y="833824"/>
                  </a:lnTo>
                  <a:lnTo>
                    <a:pt x="83673" y="822471"/>
                  </a:lnTo>
                  <a:lnTo>
                    <a:pt x="88428" y="794986"/>
                  </a:lnTo>
                  <a:lnTo>
                    <a:pt x="98063" y="754863"/>
                  </a:lnTo>
                  <a:lnTo>
                    <a:pt x="110018" y="716074"/>
                  </a:lnTo>
                  <a:lnTo>
                    <a:pt x="124091" y="678964"/>
                  </a:lnTo>
                  <a:lnTo>
                    <a:pt x="140069" y="643888"/>
                  </a:lnTo>
                  <a:lnTo>
                    <a:pt x="176861" y="581232"/>
                  </a:lnTo>
                  <a:lnTo>
                    <a:pt x="218513" y="530879"/>
                  </a:lnTo>
                  <a:lnTo>
                    <a:pt x="263377" y="495159"/>
                  </a:lnTo>
                  <a:lnTo>
                    <a:pt x="308558" y="476679"/>
                  </a:lnTo>
                  <a:lnTo>
                    <a:pt x="346564" y="473377"/>
                  </a:lnTo>
                  <a:lnTo>
                    <a:pt x="360567" y="471129"/>
                  </a:lnTo>
                  <a:lnTo>
                    <a:pt x="401461" y="456497"/>
                  </a:lnTo>
                  <a:lnTo>
                    <a:pt x="440528" y="431111"/>
                  </a:lnTo>
                  <a:lnTo>
                    <a:pt x="488105" y="383773"/>
                  </a:lnTo>
                  <a:lnTo>
                    <a:pt x="530239" y="323165"/>
                  </a:lnTo>
                  <a:lnTo>
                    <a:pt x="548868" y="288701"/>
                  </a:lnTo>
                  <a:lnTo>
                    <a:pt x="565640" y="251896"/>
                  </a:lnTo>
                  <a:lnTo>
                    <a:pt x="580365" y="213071"/>
                  </a:lnTo>
                  <a:lnTo>
                    <a:pt x="592857" y="172551"/>
                  </a:lnTo>
                  <a:lnTo>
                    <a:pt x="602917" y="130656"/>
                  </a:lnTo>
                  <a:lnTo>
                    <a:pt x="610346" y="87712"/>
                  </a:lnTo>
                  <a:lnTo>
                    <a:pt x="614941" y="44044"/>
                  </a:lnTo>
                  <a:lnTo>
                    <a:pt x="616493" y="1031"/>
                  </a:lnTo>
                  <a:lnTo>
                    <a:pt x="587937" y="0"/>
                  </a:lnTo>
                  <a:close/>
                </a:path>
                <a:path w="616585" h="919479">
                  <a:moveTo>
                    <a:pt x="83673" y="822471"/>
                  </a:moveTo>
                  <a:lnTo>
                    <a:pt x="67221" y="833824"/>
                  </a:lnTo>
                  <a:lnTo>
                    <a:pt x="81708" y="833824"/>
                  </a:lnTo>
                  <a:lnTo>
                    <a:pt x="83673" y="822471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object 8"/>
            <p:cNvSpPr/>
            <p:nvPr/>
          </p:nvSpPr>
          <p:spPr>
            <a:xfrm>
              <a:off x="163301" y="4038601"/>
              <a:ext cx="1259205" cy="1065530"/>
            </a:xfrm>
            <a:custGeom>
              <a:avLst/>
              <a:gdLst/>
              <a:ahLst/>
              <a:cxnLst/>
              <a:rect l="l" t="t" r="r" b="b"/>
              <a:pathLst>
                <a:path w="1259205" h="1065529">
                  <a:moveTo>
                    <a:pt x="0" y="177553"/>
                  </a:moveTo>
                  <a:lnTo>
                    <a:pt x="6342" y="130352"/>
                  </a:lnTo>
                  <a:lnTo>
                    <a:pt x="24241" y="87938"/>
                  </a:lnTo>
                  <a:lnTo>
                    <a:pt x="52004" y="52004"/>
                  </a:lnTo>
                  <a:lnTo>
                    <a:pt x="87938" y="24241"/>
                  </a:lnTo>
                  <a:lnTo>
                    <a:pt x="130352" y="6342"/>
                  </a:lnTo>
                  <a:lnTo>
                    <a:pt x="177553" y="0"/>
                  </a:lnTo>
                  <a:lnTo>
                    <a:pt x="1081547" y="0"/>
                  </a:lnTo>
                  <a:lnTo>
                    <a:pt x="1128747" y="6342"/>
                  </a:lnTo>
                  <a:lnTo>
                    <a:pt x="1171161" y="24241"/>
                  </a:lnTo>
                  <a:lnTo>
                    <a:pt x="1207096" y="52004"/>
                  </a:lnTo>
                  <a:lnTo>
                    <a:pt x="1234858" y="87938"/>
                  </a:lnTo>
                  <a:lnTo>
                    <a:pt x="1252757" y="130352"/>
                  </a:lnTo>
                  <a:lnTo>
                    <a:pt x="1259100" y="177553"/>
                  </a:lnTo>
                  <a:lnTo>
                    <a:pt x="1259100" y="887746"/>
                  </a:lnTo>
                  <a:lnTo>
                    <a:pt x="1252757" y="934947"/>
                  </a:lnTo>
                  <a:lnTo>
                    <a:pt x="1234858" y="977361"/>
                  </a:lnTo>
                  <a:lnTo>
                    <a:pt x="1207096" y="1013295"/>
                  </a:lnTo>
                  <a:lnTo>
                    <a:pt x="1171161" y="1041058"/>
                  </a:lnTo>
                  <a:lnTo>
                    <a:pt x="1128747" y="1058957"/>
                  </a:lnTo>
                  <a:lnTo>
                    <a:pt x="1081547" y="1065300"/>
                  </a:lnTo>
                  <a:lnTo>
                    <a:pt x="177553" y="1065300"/>
                  </a:lnTo>
                  <a:lnTo>
                    <a:pt x="130352" y="1058957"/>
                  </a:lnTo>
                  <a:lnTo>
                    <a:pt x="87938" y="1041058"/>
                  </a:lnTo>
                  <a:lnTo>
                    <a:pt x="52004" y="1013295"/>
                  </a:lnTo>
                  <a:lnTo>
                    <a:pt x="24241" y="977361"/>
                  </a:lnTo>
                  <a:lnTo>
                    <a:pt x="6342" y="934947"/>
                  </a:lnTo>
                  <a:lnTo>
                    <a:pt x="0" y="887746"/>
                  </a:lnTo>
                  <a:lnTo>
                    <a:pt x="0" y="177553"/>
                  </a:lnTo>
                  <a:close/>
                </a:path>
              </a:pathLst>
            </a:custGeom>
            <a:ln w="28575">
              <a:solidFill>
                <a:srgbClr val="6BB76D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object 9"/>
          <p:cNvSpPr txBox="1"/>
          <p:nvPr/>
        </p:nvSpPr>
        <p:spPr>
          <a:xfrm>
            <a:off x="1675245" y="3555814"/>
            <a:ext cx="1393100" cy="36266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78105" algn="ctr">
              <a:lnSpc>
                <a:spcPct val="101000"/>
              </a:lnSpc>
              <a:spcBef>
                <a:spcPts val="75"/>
              </a:spcBef>
            </a:pPr>
            <a:r>
              <a:rPr lang="en-SG" sz="24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输入图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28" name="object 10"/>
          <p:cNvSpPr/>
          <p:nvPr/>
        </p:nvSpPr>
        <p:spPr>
          <a:xfrm>
            <a:off x="3967755" y="3220453"/>
            <a:ext cx="1944370" cy="1065530"/>
          </a:xfrm>
          <a:custGeom>
            <a:avLst/>
            <a:gdLst/>
            <a:ahLst/>
            <a:cxnLst/>
            <a:rect l="l" t="t" r="r" b="b"/>
            <a:pathLst>
              <a:path w="1944370" h="1065529">
                <a:moveTo>
                  <a:pt x="0" y="177553"/>
                </a:moveTo>
                <a:lnTo>
                  <a:pt x="6342" y="130353"/>
                </a:lnTo>
                <a:lnTo>
                  <a:pt x="24241" y="87939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766446" y="0"/>
                </a:lnTo>
                <a:lnTo>
                  <a:pt x="1813646" y="6342"/>
                </a:lnTo>
                <a:lnTo>
                  <a:pt x="1856060" y="24241"/>
                </a:lnTo>
                <a:lnTo>
                  <a:pt x="1891995" y="52004"/>
                </a:lnTo>
                <a:lnTo>
                  <a:pt x="1919758" y="87939"/>
                </a:lnTo>
                <a:lnTo>
                  <a:pt x="1937657" y="130353"/>
                </a:lnTo>
                <a:lnTo>
                  <a:pt x="1944000" y="177553"/>
                </a:lnTo>
                <a:lnTo>
                  <a:pt x="1944000" y="887746"/>
                </a:lnTo>
                <a:lnTo>
                  <a:pt x="1937657" y="934946"/>
                </a:lnTo>
                <a:lnTo>
                  <a:pt x="1919758" y="977360"/>
                </a:lnTo>
                <a:lnTo>
                  <a:pt x="1891995" y="1013295"/>
                </a:lnTo>
                <a:lnTo>
                  <a:pt x="1856060" y="1041058"/>
                </a:lnTo>
                <a:lnTo>
                  <a:pt x="1813646" y="1058957"/>
                </a:lnTo>
                <a:lnTo>
                  <a:pt x="1766446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0"/>
                </a:lnTo>
                <a:lnTo>
                  <a:pt x="6342" y="934946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object 12"/>
          <p:cNvSpPr/>
          <p:nvPr/>
        </p:nvSpPr>
        <p:spPr>
          <a:xfrm>
            <a:off x="6711258" y="3220453"/>
            <a:ext cx="1810385" cy="1065530"/>
          </a:xfrm>
          <a:custGeom>
            <a:avLst/>
            <a:gdLst/>
            <a:ahLst/>
            <a:cxnLst/>
            <a:rect l="l" t="t" r="r" b="b"/>
            <a:pathLst>
              <a:path w="1810384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632222" y="0"/>
                </a:lnTo>
                <a:lnTo>
                  <a:pt x="1679422" y="6342"/>
                </a:lnTo>
                <a:lnTo>
                  <a:pt x="1721836" y="24241"/>
                </a:lnTo>
                <a:lnTo>
                  <a:pt x="1757771" y="52004"/>
                </a:lnTo>
                <a:lnTo>
                  <a:pt x="1785533" y="87938"/>
                </a:lnTo>
                <a:lnTo>
                  <a:pt x="1803432" y="130352"/>
                </a:lnTo>
                <a:lnTo>
                  <a:pt x="1809775" y="177553"/>
                </a:lnTo>
                <a:lnTo>
                  <a:pt x="1809775" y="887746"/>
                </a:lnTo>
                <a:lnTo>
                  <a:pt x="1803432" y="934947"/>
                </a:lnTo>
                <a:lnTo>
                  <a:pt x="1785533" y="977361"/>
                </a:lnTo>
                <a:lnTo>
                  <a:pt x="1757771" y="1013295"/>
                </a:lnTo>
                <a:lnTo>
                  <a:pt x="1721836" y="1041058"/>
                </a:lnTo>
                <a:lnTo>
                  <a:pt x="1679422" y="1058957"/>
                </a:lnTo>
                <a:lnTo>
                  <a:pt x="163222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object 13"/>
          <p:cNvSpPr txBox="1"/>
          <p:nvPr/>
        </p:nvSpPr>
        <p:spPr>
          <a:xfrm>
            <a:off x="6741094" y="3429000"/>
            <a:ext cx="1621408" cy="7357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6515" algn="ctr">
              <a:lnSpc>
                <a:spcPct val="101000"/>
              </a:lnSpc>
              <a:spcBef>
                <a:spcPts val="75"/>
              </a:spcBef>
            </a:pPr>
            <a:r>
              <a:rPr lang="en-SG" sz="24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构建</a:t>
            </a:r>
            <a:r>
              <a:rPr lang="en-US" altLang="zh-CN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&amp;</a:t>
            </a:r>
            <a:r>
              <a:rPr lang="zh-CN" altLang="en-US" sz="2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优化</a:t>
            </a:r>
            <a:r>
              <a:rPr lang="en-SG" sz="24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模型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32" name="object 14"/>
          <p:cNvSpPr/>
          <p:nvPr/>
        </p:nvSpPr>
        <p:spPr>
          <a:xfrm>
            <a:off x="7200143" y="4558719"/>
            <a:ext cx="2950210" cy="132715"/>
          </a:xfrm>
          <a:custGeom>
            <a:avLst/>
            <a:gdLst/>
            <a:ahLst/>
            <a:cxnLst/>
            <a:rect l="l" t="t" r="r" b="b"/>
            <a:pathLst>
              <a:path w="2950209" h="132714">
                <a:moveTo>
                  <a:pt x="2925441" y="51499"/>
                </a:moveTo>
                <a:lnTo>
                  <a:pt x="2921558" y="51499"/>
                </a:lnTo>
                <a:lnTo>
                  <a:pt x="2921647" y="65608"/>
                </a:lnTo>
                <a:lnTo>
                  <a:pt x="2921739" y="80073"/>
                </a:lnTo>
                <a:lnTo>
                  <a:pt x="2868868" y="80405"/>
                </a:lnTo>
                <a:lnTo>
                  <a:pt x="2822149" y="108052"/>
                </a:lnTo>
                <a:lnTo>
                  <a:pt x="2819901" y="116815"/>
                </a:lnTo>
                <a:lnTo>
                  <a:pt x="2827939" y="130397"/>
                </a:lnTo>
                <a:lnTo>
                  <a:pt x="2836702" y="132645"/>
                </a:lnTo>
                <a:lnTo>
                  <a:pt x="2949980" y="65608"/>
                </a:lnTo>
                <a:lnTo>
                  <a:pt x="2925441" y="51499"/>
                </a:lnTo>
                <a:close/>
              </a:path>
              <a:path w="2950209" h="132714">
                <a:moveTo>
                  <a:pt x="2868688" y="51831"/>
                </a:moveTo>
                <a:lnTo>
                  <a:pt x="0" y="69844"/>
                </a:lnTo>
                <a:lnTo>
                  <a:pt x="52" y="78173"/>
                </a:lnTo>
                <a:lnTo>
                  <a:pt x="179" y="98419"/>
                </a:lnTo>
                <a:lnTo>
                  <a:pt x="2868868" y="80405"/>
                </a:lnTo>
                <a:lnTo>
                  <a:pt x="2893270" y="65965"/>
                </a:lnTo>
                <a:lnTo>
                  <a:pt x="2868688" y="51831"/>
                </a:lnTo>
                <a:close/>
              </a:path>
              <a:path w="2950209" h="132714">
                <a:moveTo>
                  <a:pt x="2893270" y="65965"/>
                </a:moveTo>
                <a:lnTo>
                  <a:pt x="2868868" y="80405"/>
                </a:lnTo>
                <a:lnTo>
                  <a:pt x="2921739" y="80073"/>
                </a:lnTo>
                <a:lnTo>
                  <a:pt x="2921727" y="78173"/>
                </a:lnTo>
                <a:lnTo>
                  <a:pt x="2914503" y="78173"/>
                </a:lnTo>
                <a:lnTo>
                  <a:pt x="2893270" y="65965"/>
                </a:lnTo>
                <a:close/>
              </a:path>
              <a:path w="2950209" h="132714">
                <a:moveTo>
                  <a:pt x="2914349" y="53491"/>
                </a:moveTo>
                <a:lnTo>
                  <a:pt x="2893270" y="65965"/>
                </a:lnTo>
                <a:lnTo>
                  <a:pt x="2914503" y="78173"/>
                </a:lnTo>
                <a:lnTo>
                  <a:pt x="2914425" y="65608"/>
                </a:lnTo>
                <a:lnTo>
                  <a:pt x="2914349" y="53491"/>
                </a:lnTo>
                <a:close/>
              </a:path>
              <a:path w="2950209" h="132714">
                <a:moveTo>
                  <a:pt x="2921571" y="53491"/>
                </a:moveTo>
                <a:lnTo>
                  <a:pt x="2914349" y="53491"/>
                </a:lnTo>
                <a:lnTo>
                  <a:pt x="2914425" y="65608"/>
                </a:lnTo>
                <a:lnTo>
                  <a:pt x="2914503" y="78173"/>
                </a:lnTo>
                <a:lnTo>
                  <a:pt x="2921727" y="78173"/>
                </a:lnTo>
                <a:lnTo>
                  <a:pt x="2921647" y="65608"/>
                </a:lnTo>
                <a:lnTo>
                  <a:pt x="2921571" y="53491"/>
                </a:lnTo>
                <a:close/>
              </a:path>
              <a:path w="2950209" h="132714">
                <a:moveTo>
                  <a:pt x="2921558" y="51499"/>
                </a:moveTo>
                <a:lnTo>
                  <a:pt x="2868688" y="51831"/>
                </a:lnTo>
                <a:lnTo>
                  <a:pt x="2893270" y="65965"/>
                </a:lnTo>
                <a:lnTo>
                  <a:pt x="2914349" y="53491"/>
                </a:lnTo>
                <a:lnTo>
                  <a:pt x="2921571" y="53491"/>
                </a:lnTo>
                <a:lnTo>
                  <a:pt x="2921558" y="51499"/>
                </a:lnTo>
                <a:close/>
              </a:path>
              <a:path w="2950209" h="132714">
                <a:moveTo>
                  <a:pt x="2835869" y="0"/>
                </a:moveTo>
                <a:lnTo>
                  <a:pt x="2827135" y="2357"/>
                </a:lnTo>
                <a:lnTo>
                  <a:pt x="2819269" y="16038"/>
                </a:lnTo>
                <a:lnTo>
                  <a:pt x="2821626" y="24772"/>
                </a:lnTo>
                <a:lnTo>
                  <a:pt x="2868688" y="51831"/>
                </a:lnTo>
                <a:lnTo>
                  <a:pt x="2925441" y="51499"/>
                </a:lnTo>
                <a:lnTo>
                  <a:pt x="2835869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object 15"/>
          <p:cNvSpPr txBox="1"/>
          <p:nvPr/>
        </p:nvSpPr>
        <p:spPr>
          <a:xfrm>
            <a:off x="7139417" y="4762728"/>
            <a:ext cx="3010936" cy="39433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130175" algn="ctr">
              <a:lnSpc>
                <a:spcPts val="2780"/>
              </a:lnSpc>
              <a:spcBef>
                <a:spcPts val="275"/>
              </a:spcBef>
            </a:pPr>
            <a:r>
              <a:rPr lang="en-SG" sz="2400" spc="-10" dirty="0" err="1">
                <a:solidFill>
                  <a:srgbClr val="5A63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下游预测任务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34" name="object 16"/>
          <p:cNvSpPr txBox="1"/>
          <p:nvPr/>
        </p:nvSpPr>
        <p:spPr>
          <a:xfrm>
            <a:off x="654539" y="4959897"/>
            <a:ext cx="439804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SG" sz="2400" spc="-8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特征工程</a:t>
            </a:r>
            <a:endParaRPr lang="en-SG" sz="2400" spc="-8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（节点</a:t>
            </a:r>
            <a:r>
              <a:rPr lang="en-US" altLang="zh-CN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-</a:t>
            </a:r>
            <a:r>
              <a:rPr lang="zh-CN" altLang="en-US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、链接</a:t>
            </a:r>
            <a:r>
              <a:rPr lang="en-US" altLang="zh-CN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-</a:t>
            </a:r>
            <a:r>
              <a:rPr lang="zh-CN" altLang="en-US" sz="2400" spc="-8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、图级别的特征）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35" name="object 18"/>
          <p:cNvSpPr/>
          <p:nvPr/>
        </p:nvSpPr>
        <p:spPr>
          <a:xfrm>
            <a:off x="9104045" y="3224725"/>
            <a:ext cx="1654810" cy="1065530"/>
          </a:xfrm>
          <a:custGeom>
            <a:avLst/>
            <a:gdLst/>
            <a:ahLst/>
            <a:cxnLst/>
            <a:rect l="l" t="t" r="r" b="b"/>
            <a:pathLst>
              <a:path w="1654809" h="1065529">
                <a:moveTo>
                  <a:pt x="0" y="177553"/>
                </a:moveTo>
                <a:lnTo>
                  <a:pt x="6342" y="130352"/>
                </a:lnTo>
                <a:lnTo>
                  <a:pt x="24241" y="87938"/>
                </a:lnTo>
                <a:lnTo>
                  <a:pt x="52004" y="52004"/>
                </a:lnTo>
                <a:lnTo>
                  <a:pt x="87938" y="24241"/>
                </a:lnTo>
                <a:lnTo>
                  <a:pt x="130352" y="6342"/>
                </a:lnTo>
                <a:lnTo>
                  <a:pt x="177553" y="0"/>
                </a:lnTo>
                <a:lnTo>
                  <a:pt x="1476682" y="0"/>
                </a:lnTo>
                <a:lnTo>
                  <a:pt x="1523883" y="6342"/>
                </a:lnTo>
                <a:lnTo>
                  <a:pt x="1566297" y="24241"/>
                </a:lnTo>
                <a:lnTo>
                  <a:pt x="1602231" y="52004"/>
                </a:lnTo>
                <a:lnTo>
                  <a:pt x="1629994" y="87938"/>
                </a:lnTo>
                <a:lnTo>
                  <a:pt x="1647893" y="130352"/>
                </a:lnTo>
                <a:lnTo>
                  <a:pt x="1654236" y="177553"/>
                </a:lnTo>
                <a:lnTo>
                  <a:pt x="1654236" y="887746"/>
                </a:lnTo>
                <a:lnTo>
                  <a:pt x="1647893" y="934947"/>
                </a:lnTo>
                <a:lnTo>
                  <a:pt x="1629994" y="977361"/>
                </a:lnTo>
                <a:lnTo>
                  <a:pt x="1602231" y="1013295"/>
                </a:lnTo>
                <a:lnTo>
                  <a:pt x="1566297" y="1041058"/>
                </a:lnTo>
                <a:lnTo>
                  <a:pt x="1523883" y="1058957"/>
                </a:lnTo>
                <a:lnTo>
                  <a:pt x="1476682" y="1065300"/>
                </a:lnTo>
                <a:lnTo>
                  <a:pt x="177553" y="1065300"/>
                </a:lnTo>
                <a:lnTo>
                  <a:pt x="130352" y="1058957"/>
                </a:lnTo>
                <a:lnTo>
                  <a:pt x="87938" y="1041058"/>
                </a:lnTo>
                <a:lnTo>
                  <a:pt x="52004" y="1013295"/>
                </a:lnTo>
                <a:lnTo>
                  <a:pt x="24241" y="977361"/>
                </a:lnTo>
                <a:lnTo>
                  <a:pt x="6342" y="934947"/>
                </a:lnTo>
                <a:lnTo>
                  <a:pt x="0" y="887746"/>
                </a:lnTo>
                <a:lnTo>
                  <a:pt x="0" y="177553"/>
                </a:lnTo>
                <a:close/>
              </a:path>
            </a:pathLst>
          </a:custGeom>
          <a:ln w="28575">
            <a:solidFill>
              <a:srgbClr val="6BB76D"/>
            </a:solidFill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object 19"/>
          <p:cNvSpPr txBox="1"/>
          <p:nvPr/>
        </p:nvSpPr>
        <p:spPr>
          <a:xfrm>
            <a:off x="9262381" y="3552175"/>
            <a:ext cx="13379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SG" sz="2400" spc="-4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输出预测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37" name="文本框 33"/>
          <p:cNvSpPr txBox="1"/>
          <p:nvPr/>
        </p:nvSpPr>
        <p:spPr>
          <a:xfrm>
            <a:off x="830048" y="828293"/>
            <a:ext cx="10551826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图表征学习缓解了每次都需要进行特征工程的需求</a:t>
            </a:r>
            <a:endParaRPr lang="en-SG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6" name="object 8"/>
          <p:cNvSpPr/>
          <p:nvPr/>
        </p:nvSpPr>
        <p:spPr>
          <a:xfrm>
            <a:off x="2254756" y="4890740"/>
            <a:ext cx="1197610" cy="800735"/>
          </a:xfrm>
          <a:custGeom>
            <a:avLst/>
            <a:gdLst/>
            <a:ahLst/>
            <a:cxnLst/>
            <a:rect l="l" t="t" r="r" b="b"/>
            <a:pathLst>
              <a:path w="1197610" h="800735">
                <a:moveTo>
                  <a:pt x="1152635" y="0"/>
                </a:moveTo>
                <a:lnTo>
                  <a:pt x="598739" y="350556"/>
                </a:lnTo>
                <a:lnTo>
                  <a:pt x="44842" y="0"/>
                </a:lnTo>
                <a:lnTo>
                  <a:pt x="0" y="70850"/>
                </a:lnTo>
                <a:lnTo>
                  <a:pt x="520343" y="400174"/>
                </a:lnTo>
                <a:lnTo>
                  <a:pt x="0" y="729496"/>
                </a:lnTo>
                <a:lnTo>
                  <a:pt x="44842" y="800347"/>
                </a:lnTo>
                <a:lnTo>
                  <a:pt x="598739" y="449790"/>
                </a:lnTo>
                <a:lnTo>
                  <a:pt x="1152635" y="800347"/>
                </a:lnTo>
                <a:lnTo>
                  <a:pt x="1197478" y="729496"/>
                </a:lnTo>
                <a:lnTo>
                  <a:pt x="677134" y="400174"/>
                </a:lnTo>
                <a:lnTo>
                  <a:pt x="1197478" y="70850"/>
                </a:lnTo>
                <a:lnTo>
                  <a:pt x="115263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16"/>
          <p:cNvSpPr txBox="1"/>
          <p:nvPr/>
        </p:nvSpPr>
        <p:spPr>
          <a:xfrm>
            <a:off x="672847" y="5850132"/>
            <a:ext cx="439804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SG" sz="2400" b="1" spc="-8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表征学习</a:t>
            </a:r>
            <a:endParaRPr lang="en-SG" sz="2400" b="1" spc="-8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8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（</a:t>
            </a:r>
            <a:r>
              <a:rPr lang="zh-CN" altLang="en-SG" sz="2400" b="1" spc="-8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自动</a:t>
            </a:r>
            <a:r>
              <a:rPr lang="zh-CN" altLang="en-US" sz="2400" b="1" spc="-8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学习特征，而非人工）</a:t>
            </a:r>
            <a:endParaRPr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8" name="object 11"/>
          <p:cNvSpPr txBox="1"/>
          <p:nvPr/>
        </p:nvSpPr>
        <p:spPr>
          <a:xfrm>
            <a:off x="4070857" y="3555933"/>
            <a:ext cx="1682766" cy="394339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36525" marR="5080" indent="-123825" algn="ctr">
              <a:lnSpc>
                <a:spcPts val="2780"/>
              </a:lnSpc>
              <a:spcBef>
                <a:spcPts val="275"/>
              </a:spcBef>
            </a:pPr>
            <a:r>
              <a:rPr lang="en-SG" sz="2400" spc="-35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结构化特征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图表征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76489" y="3657570"/>
            <a:ext cx="5844540" cy="843280"/>
            <a:chOff x="3028953" y="3801949"/>
            <a:chExt cx="5844540" cy="843280"/>
          </a:xfrm>
        </p:grpSpPr>
        <p:sp>
          <p:nvSpPr>
            <p:cNvPr id="5" name="object 5"/>
            <p:cNvSpPr/>
            <p:nvPr/>
          </p:nvSpPr>
          <p:spPr>
            <a:xfrm>
              <a:off x="5689600" y="3814660"/>
              <a:ext cx="3158490" cy="422909"/>
            </a:xfrm>
            <a:custGeom>
              <a:avLst/>
              <a:gdLst/>
              <a:ahLst/>
              <a:cxnLst/>
              <a:rect l="l" t="t" r="r" b="b"/>
              <a:pathLst>
                <a:path w="3158490" h="422910">
                  <a:moveTo>
                    <a:pt x="3158185" y="0"/>
                  </a:moveTo>
                  <a:lnTo>
                    <a:pt x="3158185" y="0"/>
                  </a:lnTo>
                  <a:lnTo>
                    <a:pt x="0" y="0"/>
                  </a:lnTo>
                  <a:lnTo>
                    <a:pt x="0" y="422541"/>
                  </a:lnTo>
                  <a:lnTo>
                    <a:pt x="3158185" y="422541"/>
                  </a:lnTo>
                  <a:lnTo>
                    <a:pt x="3158185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83252" y="3808299"/>
              <a:ext cx="3171190" cy="448309"/>
            </a:xfrm>
            <a:custGeom>
              <a:avLst/>
              <a:gdLst/>
              <a:ahLst/>
              <a:cxnLst/>
              <a:rect l="l" t="t" r="r" b="b"/>
              <a:pathLst>
                <a:path w="3171190" h="448310">
                  <a:moveTo>
                    <a:pt x="532714" y="0"/>
                  </a:moveTo>
                  <a:lnTo>
                    <a:pt x="532714" y="447953"/>
                  </a:lnTo>
                </a:path>
                <a:path w="3171190" h="448310">
                  <a:moveTo>
                    <a:pt x="1059078" y="0"/>
                  </a:moveTo>
                  <a:lnTo>
                    <a:pt x="1059078" y="447953"/>
                  </a:lnTo>
                </a:path>
                <a:path w="3171190" h="448310">
                  <a:moveTo>
                    <a:pt x="1585442" y="0"/>
                  </a:moveTo>
                  <a:lnTo>
                    <a:pt x="1585442" y="447953"/>
                  </a:lnTo>
                </a:path>
                <a:path w="3171190" h="448310">
                  <a:moveTo>
                    <a:pt x="2111806" y="0"/>
                  </a:moveTo>
                  <a:lnTo>
                    <a:pt x="2111806" y="447953"/>
                  </a:lnTo>
                </a:path>
                <a:path w="3171190" h="448310">
                  <a:moveTo>
                    <a:pt x="2638170" y="0"/>
                  </a:moveTo>
                  <a:lnTo>
                    <a:pt x="2638170" y="447953"/>
                  </a:lnTo>
                </a:path>
                <a:path w="3171190" h="448310">
                  <a:moveTo>
                    <a:pt x="6350" y="0"/>
                  </a:moveTo>
                  <a:lnTo>
                    <a:pt x="6350" y="447953"/>
                  </a:lnTo>
                </a:path>
                <a:path w="3171190" h="448310">
                  <a:moveTo>
                    <a:pt x="3164534" y="0"/>
                  </a:moveTo>
                  <a:lnTo>
                    <a:pt x="3164534" y="447953"/>
                  </a:lnTo>
                </a:path>
                <a:path w="3171190" h="448310">
                  <a:moveTo>
                    <a:pt x="0" y="6350"/>
                  </a:moveTo>
                  <a:lnTo>
                    <a:pt x="3170884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683252" y="4237202"/>
              <a:ext cx="3171190" cy="0"/>
            </a:xfrm>
            <a:custGeom>
              <a:avLst/>
              <a:gdLst/>
              <a:ahLst/>
              <a:cxnLst/>
              <a:rect l="l" t="t" r="r" b="b"/>
              <a:pathLst>
                <a:path w="3171190">
                  <a:moveTo>
                    <a:pt x="0" y="0"/>
                  </a:moveTo>
                  <a:lnTo>
                    <a:pt x="3170884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28953" y="3969273"/>
              <a:ext cx="2660650" cy="114300"/>
            </a:xfrm>
            <a:custGeom>
              <a:avLst/>
              <a:gdLst/>
              <a:ahLst/>
              <a:cxnLst/>
              <a:rect l="l" t="t" r="r" b="b"/>
              <a:pathLst>
                <a:path w="2660650" h="114300">
                  <a:moveTo>
                    <a:pt x="2546102" y="0"/>
                  </a:moveTo>
                  <a:lnTo>
                    <a:pt x="2546269" y="38100"/>
                  </a:lnTo>
                  <a:lnTo>
                    <a:pt x="2546351" y="56983"/>
                  </a:lnTo>
                  <a:lnTo>
                    <a:pt x="2546477" y="85798"/>
                  </a:lnTo>
                  <a:lnTo>
                    <a:pt x="2546602" y="114300"/>
                  </a:lnTo>
                  <a:lnTo>
                    <a:pt x="2621976" y="76199"/>
                  </a:lnTo>
                  <a:lnTo>
                    <a:pt x="2565077" y="76199"/>
                  </a:lnTo>
                  <a:lnTo>
                    <a:pt x="2572889" y="74586"/>
                  </a:lnTo>
                  <a:lnTo>
                    <a:pt x="2578926" y="70478"/>
                  </a:lnTo>
                  <a:lnTo>
                    <a:pt x="2582982" y="64405"/>
                  </a:lnTo>
                  <a:lnTo>
                    <a:pt x="2584447" y="56983"/>
                  </a:lnTo>
                  <a:lnTo>
                    <a:pt x="2582917" y="49575"/>
                  </a:lnTo>
                  <a:lnTo>
                    <a:pt x="2578808" y="43537"/>
                  </a:lnTo>
                  <a:lnTo>
                    <a:pt x="2572735" y="39481"/>
                  </a:lnTo>
                  <a:lnTo>
                    <a:pt x="2565736" y="38100"/>
                  </a:lnTo>
                  <a:lnTo>
                    <a:pt x="2623144" y="38100"/>
                  </a:lnTo>
                  <a:lnTo>
                    <a:pt x="2546102" y="0"/>
                  </a:lnTo>
                  <a:close/>
                </a:path>
                <a:path w="2660650" h="114300">
                  <a:moveTo>
                    <a:pt x="2546269" y="38100"/>
                  </a:moveTo>
                  <a:lnTo>
                    <a:pt x="18967" y="49162"/>
                  </a:lnTo>
                  <a:lnTo>
                    <a:pt x="0" y="68295"/>
                  </a:lnTo>
                  <a:lnTo>
                    <a:pt x="1530" y="75704"/>
                  </a:lnTo>
                  <a:lnTo>
                    <a:pt x="5639" y="81742"/>
                  </a:lnTo>
                  <a:lnTo>
                    <a:pt x="11712" y="85798"/>
                  </a:lnTo>
                  <a:lnTo>
                    <a:pt x="19133" y="87262"/>
                  </a:lnTo>
                  <a:lnTo>
                    <a:pt x="2546435" y="76199"/>
                  </a:lnTo>
                  <a:lnTo>
                    <a:pt x="2546317" y="49162"/>
                  </a:lnTo>
                  <a:lnTo>
                    <a:pt x="2546269" y="38100"/>
                  </a:lnTo>
                  <a:close/>
                </a:path>
                <a:path w="2660650" h="114300">
                  <a:moveTo>
                    <a:pt x="2623144" y="38100"/>
                  </a:moveTo>
                  <a:lnTo>
                    <a:pt x="2565736" y="38100"/>
                  </a:lnTo>
                  <a:lnTo>
                    <a:pt x="2572735" y="39481"/>
                  </a:lnTo>
                  <a:lnTo>
                    <a:pt x="2578808" y="43537"/>
                  </a:lnTo>
                  <a:lnTo>
                    <a:pt x="2582917" y="49575"/>
                  </a:lnTo>
                  <a:lnTo>
                    <a:pt x="2584378" y="56649"/>
                  </a:lnTo>
                  <a:lnTo>
                    <a:pt x="2584447" y="56983"/>
                  </a:lnTo>
                  <a:lnTo>
                    <a:pt x="2582982" y="64405"/>
                  </a:lnTo>
                  <a:lnTo>
                    <a:pt x="2578926" y="70478"/>
                  </a:lnTo>
                  <a:lnTo>
                    <a:pt x="2572889" y="74586"/>
                  </a:lnTo>
                  <a:lnTo>
                    <a:pt x="2565077" y="76199"/>
                  </a:lnTo>
                  <a:lnTo>
                    <a:pt x="2621976" y="76199"/>
                  </a:lnTo>
                  <a:lnTo>
                    <a:pt x="2660651" y="56649"/>
                  </a:lnTo>
                  <a:lnTo>
                    <a:pt x="2623144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89606" y="4253829"/>
              <a:ext cx="3158490" cy="387985"/>
            </a:xfrm>
            <a:custGeom>
              <a:avLst/>
              <a:gdLst/>
              <a:ahLst/>
              <a:cxnLst/>
              <a:rect l="l" t="t" r="r" b="b"/>
              <a:pathLst>
                <a:path w="3158490" h="387985">
                  <a:moveTo>
                    <a:pt x="3158184" y="0"/>
                  </a:moveTo>
                  <a:lnTo>
                    <a:pt x="3153232" y="44457"/>
                  </a:lnTo>
                  <a:lnTo>
                    <a:pt x="3139127" y="85269"/>
                  </a:lnTo>
                  <a:lnTo>
                    <a:pt x="3116995" y="121269"/>
                  </a:lnTo>
                  <a:lnTo>
                    <a:pt x="3087961" y="151296"/>
                  </a:lnTo>
                  <a:lnTo>
                    <a:pt x="3053150" y="174185"/>
                  </a:lnTo>
                  <a:lnTo>
                    <a:pt x="3013688" y="188771"/>
                  </a:lnTo>
                  <a:lnTo>
                    <a:pt x="2970700" y="193892"/>
                  </a:lnTo>
                  <a:lnTo>
                    <a:pt x="1774914" y="193892"/>
                  </a:lnTo>
                  <a:lnTo>
                    <a:pt x="1731925" y="199013"/>
                  </a:lnTo>
                  <a:lnTo>
                    <a:pt x="1692462" y="213599"/>
                  </a:lnTo>
                  <a:lnTo>
                    <a:pt x="1657651" y="236488"/>
                  </a:lnTo>
                  <a:lnTo>
                    <a:pt x="1628617" y="266515"/>
                  </a:lnTo>
                  <a:lnTo>
                    <a:pt x="1606485" y="302515"/>
                  </a:lnTo>
                  <a:lnTo>
                    <a:pt x="1592380" y="343327"/>
                  </a:lnTo>
                  <a:lnTo>
                    <a:pt x="1587429" y="387785"/>
                  </a:lnTo>
                  <a:lnTo>
                    <a:pt x="1582477" y="343327"/>
                  </a:lnTo>
                  <a:lnTo>
                    <a:pt x="1568373" y="302515"/>
                  </a:lnTo>
                  <a:lnTo>
                    <a:pt x="1546241" y="266515"/>
                  </a:lnTo>
                  <a:lnTo>
                    <a:pt x="1517206" y="236488"/>
                  </a:lnTo>
                  <a:lnTo>
                    <a:pt x="1482395" y="213599"/>
                  </a:lnTo>
                  <a:lnTo>
                    <a:pt x="1442933" y="199013"/>
                  </a:lnTo>
                  <a:lnTo>
                    <a:pt x="1399945" y="193892"/>
                  </a:lnTo>
                  <a:lnTo>
                    <a:pt x="187484" y="193892"/>
                  </a:lnTo>
                  <a:lnTo>
                    <a:pt x="144495" y="188771"/>
                  </a:lnTo>
                  <a:lnTo>
                    <a:pt x="105033" y="174185"/>
                  </a:lnTo>
                  <a:lnTo>
                    <a:pt x="70222" y="151296"/>
                  </a:lnTo>
                  <a:lnTo>
                    <a:pt x="41188" y="121269"/>
                  </a:lnTo>
                  <a:lnTo>
                    <a:pt x="19056" y="85269"/>
                  </a:lnTo>
                  <a:lnTo>
                    <a:pt x="4951" y="4445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9611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965804" y="3088025"/>
            <a:ext cx="11309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SG" sz="3200" spc="-10" dirty="0" err="1">
                <a:solidFill>
                  <a:srgbClr val="961100"/>
                </a:solidFill>
                <a:latin typeface="Arial MT"/>
                <a:cs typeface="Arial MT"/>
              </a:rPr>
              <a:t>向量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1670" y="3901841"/>
            <a:ext cx="1788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mbria Math"/>
                <a:cs typeface="Cambria Math"/>
              </a:rPr>
              <a:t>𝑓:</a:t>
            </a:r>
            <a:r>
              <a:rPr sz="3200" spc="-16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𝑢</a:t>
            </a:r>
            <a:r>
              <a:rPr sz="3200" spc="2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→</a:t>
            </a:r>
            <a:r>
              <a:rPr sz="3200" spc="200" dirty="0">
                <a:latin typeface="Cambria Math"/>
                <a:cs typeface="Cambria Math"/>
              </a:rPr>
              <a:t> </a:t>
            </a:r>
            <a:r>
              <a:rPr sz="3200" spc="-25" dirty="0">
                <a:latin typeface="Cambria Math"/>
                <a:cs typeface="Cambria Math"/>
              </a:rPr>
              <a:t>ℝ</a:t>
            </a:r>
            <a:r>
              <a:rPr sz="3450" spc="-37" baseline="28000" dirty="0">
                <a:latin typeface="Cambria Math"/>
                <a:cs typeface="Cambria Math"/>
              </a:rPr>
              <a:t>𝑑</a:t>
            </a:r>
            <a:endParaRPr sz="3450" baseline="28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08346" y="4379109"/>
            <a:ext cx="3416070" cy="175330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347345" algn="ctr">
              <a:lnSpc>
                <a:spcPct val="100000"/>
              </a:lnSpc>
              <a:spcBef>
                <a:spcPts val="1775"/>
              </a:spcBef>
            </a:pPr>
            <a:r>
              <a:rPr sz="4800" spc="-37" baseline="-21000" dirty="0">
                <a:latin typeface="Cambria Math"/>
                <a:cs typeface="Cambria Math"/>
              </a:rPr>
              <a:t>ℝ</a:t>
            </a:r>
            <a:r>
              <a:rPr sz="2300" spc="-25" dirty="0">
                <a:latin typeface="Cambria Math"/>
                <a:cs typeface="Cambria Math"/>
              </a:rPr>
              <a:t>𝑑</a:t>
            </a:r>
            <a:endParaRPr sz="2300" dirty="0">
              <a:latin typeface="Cambria Math"/>
              <a:cs typeface="Cambria Math"/>
            </a:endParaRPr>
          </a:p>
          <a:p>
            <a:pPr marL="867410" marR="30480" indent="-829945">
              <a:lnSpc>
                <a:spcPct val="101000"/>
              </a:lnSpc>
              <a:spcBef>
                <a:spcPts val="1230"/>
              </a:spcBef>
            </a:pPr>
            <a:r>
              <a:rPr lang="en-SG" sz="2400" dirty="0" err="1">
                <a:latin typeface="Arial MT"/>
                <a:cs typeface="Arial MT"/>
              </a:rPr>
              <a:t>表征</a:t>
            </a:r>
            <a:r>
              <a:rPr lang="zh-CN" altLang="en-US" sz="2400" dirty="0">
                <a:latin typeface="Arial MT"/>
                <a:cs typeface="Arial MT"/>
              </a:rPr>
              <a:t>（</a:t>
            </a:r>
            <a:r>
              <a:rPr lang="en-US" altLang="zh-CN" sz="2400" dirty="0">
                <a:latin typeface="Arial MT"/>
                <a:cs typeface="Arial MT"/>
              </a:rPr>
              <a:t>representation</a:t>
            </a:r>
            <a:r>
              <a:rPr lang="zh-CN" altLang="en-US" sz="2400" dirty="0">
                <a:latin typeface="Arial MT"/>
                <a:cs typeface="Arial MT"/>
              </a:rPr>
              <a:t>）</a:t>
            </a:r>
            <a:endParaRPr lang="en-SG" altLang="zh-CN" sz="2400" spc="-10" dirty="0">
              <a:latin typeface="Arial MT"/>
              <a:cs typeface="Arial MT"/>
            </a:endParaRPr>
          </a:p>
          <a:p>
            <a:pPr marL="867410" marR="30480" indent="-829945">
              <a:lnSpc>
                <a:spcPct val="101000"/>
              </a:lnSpc>
              <a:spcBef>
                <a:spcPts val="1230"/>
              </a:spcBef>
            </a:pPr>
            <a:r>
              <a:rPr lang="en-SG" sz="2400" spc="-10" dirty="0" err="1">
                <a:latin typeface="Arial MT"/>
                <a:cs typeface="Arial MT"/>
              </a:rPr>
              <a:t>嵌入</a:t>
            </a:r>
            <a:r>
              <a:rPr lang="zh-CN" altLang="en-US" sz="2400" spc="-10" dirty="0">
                <a:latin typeface="Arial MT"/>
                <a:cs typeface="Arial MT"/>
              </a:rPr>
              <a:t>（</a:t>
            </a:r>
            <a:r>
              <a:rPr lang="en-US" altLang="zh-CN" sz="2400" spc="-10" dirty="0">
                <a:latin typeface="Arial MT"/>
                <a:cs typeface="Arial MT"/>
              </a:rPr>
              <a:t>embedding</a:t>
            </a:r>
            <a:r>
              <a:rPr lang="zh-CN" altLang="en-US" sz="2400" spc="-10" dirty="0">
                <a:latin typeface="Arial MT"/>
                <a:cs typeface="Arial MT"/>
              </a:rPr>
              <a:t>）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16" name="object 1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36466" y="3119429"/>
            <a:ext cx="2873340" cy="2519360"/>
          </a:xfrm>
          <a:prstGeom prst="rect">
            <a:avLst/>
          </a:prstGeom>
        </p:spPr>
      </p:pic>
      <p:sp>
        <p:nvSpPr>
          <p:cNvPr id="18" name="object 14"/>
          <p:cNvSpPr txBox="1"/>
          <p:nvPr/>
        </p:nvSpPr>
        <p:spPr>
          <a:xfrm>
            <a:off x="3733300" y="3084661"/>
            <a:ext cx="927735" cy="105541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0"/>
              </a:spcBef>
            </a:pPr>
            <a:r>
              <a:rPr lang="en-SG" sz="3200" spc="-20" dirty="0" err="1">
                <a:solidFill>
                  <a:srgbClr val="961100"/>
                </a:solidFill>
                <a:latin typeface="Arial MT"/>
                <a:cs typeface="Arial MT"/>
              </a:rPr>
              <a:t>节点</a:t>
            </a:r>
            <a:endParaRPr sz="3200" dirty="0">
              <a:latin typeface="Arial MT"/>
              <a:cs typeface="Arial MT"/>
            </a:endParaRPr>
          </a:p>
          <a:p>
            <a:pPr marL="134620">
              <a:lnSpc>
                <a:spcPct val="100000"/>
              </a:lnSpc>
              <a:spcBef>
                <a:spcPts val="370"/>
              </a:spcBef>
            </a:pPr>
            <a:r>
              <a:rPr sz="2900" spc="-50" dirty="0">
                <a:latin typeface="Cambria Math"/>
                <a:cs typeface="Cambria Math"/>
              </a:rPr>
              <a:t>𝑢</a:t>
            </a:r>
            <a:endParaRPr sz="2900" dirty="0">
              <a:latin typeface="Cambria Math"/>
              <a:cs typeface="Cambria Math"/>
            </a:endParaRPr>
          </a:p>
        </p:txBody>
      </p:sp>
      <p:sp>
        <p:nvSpPr>
          <p:cNvPr id="20" name="文本框 33"/>
          <p:cNvSpPr txBox="1"/>
          <p:nvPr/>
        </p:nvSpPr>
        <p:spPr>
          <a:xfrm>
            <a:off x="830048" y="828293"/>
            <a:ext cx="10551826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：实现高效的、与任务无关的图特征自动学习！</a:t>
            </a:r>
            <a:endParaRPr lang="en-SG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图表征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学习：节点嵌入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59584" y="4028336"/>
            <a:ext cx="3171190" cy="833515"/>
            <a:chOff x="5683252" y="3808299"/>
            <a:chExt cx="3171190" cy="833515"/>
          </a:xfrm>
        </p:grpSpPr>
        <p:sp>
          <p:nvSpPr>
            <p:cNvPr id="5" name="object 5"/>
            <p:cNvSpPr/>
            <p:nvPr/>
          </p:nvSpPr>
          <p:spPr>
            <a:xfrm>
              <a:off x="5689600" y="3814660"/>
              <a:ext cx="3158490" cy="422909"/>
            </a:xfrm>
            <a:custGeom>
              <a:avLst/>
              <a:gdLst/>
              <a:ahLst/>
              <a:cxnLst/>
              <a:rect l="l" t="t" r="r" b="b"/>
              <a:pathLst>
                <a:path w="3158490" h="422910">
                  <a:moveTo>
                    <a:pt x="3158185" y="0"/>
                  </a:moveTo>
                  <a:lnTo>
                    <a:pt x="3158185" y="0"/>
                  </a:lnTo>
                  <a:lnTo>
                    <a:pt x="0" y="0"/>
                  </a:lnTo>
                  <a:lnTo>
                    <a:pt x="0" y="422541"/>
                  </a:lnTo>
                  <a:lnTo>
                    <a:pt x="3158185" y="422541"/>
                  </a:lnTo>
                  <a:lnTo>
                    <a:pt x="3158185" y="0"/>
                  </a:lnTo>
                  <a:close/>
                </a:path>
              </a:pathLst>
            </a:custGeom>
            <a:solidFill>
              <a:srgbClr val="F0AD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83252" y="3808299"/>
              <a:ext cx="3171190" cy="448309"/>
            </a:xfrm>
            <a:custGeom>
              <a:avLst/>
              <a:gdLst/>
              <a:ahLst/>
              <a:cxnLst/>
              <a:rect l="l" t="t" r="r" b="b"/>
              <a:pathLst>
                <a:path w="3171190" h="448310">
                  <a:moveTo>
                    <a:pt x="532714" y="0"/>
                  </a:moveTo>
                  <a:lnTo>
                    <a:pt x="532714" y="447953"/>
                  </a:lnTo>
                </a:path>
                <a:path w="3171190" h="448310">
                  <a:moveTo>
                    <a:pt x="1059078" y="0"/>
                  </a:moveTo>
                  <a:lnTo>
                    <a:pt x="1059078" y="447953"/>
                  </a:lnTo>
                </a:path>
                <a:path w="3171190" h="448310">
                  <a:moveTo>
                    <a:pt x="1585442" y="0"/>
                  </a:moveTo>
                  <a:lnTo>
                    <a:pt x="1585442" y="447953"/>
                  </a:lnTo>
                </a:path>
                <a:path w="3171190" h="448310">
                  <a:moveTo>
                    <a:pt x="2111806" y="0"/>
                  </a:moveTo>
                  <a:lnTo>
                    <a:pt x="2111806" y="447953"/>
                  </a:lnTo>
                </a:path>
                <a:path w="3171190" h="448310">
                  <a:moveTo>
                    <a:pt x="2638170" y="0"/>
                  </a:moveTo>
                  <a:lnTo>
                    <a:pt x="2638170" y="447953"/>
                  </a:lnTo>
                </a:path>
                <a:path w="3171190" h="448310">
                  <a:moveTo>
                    <a:pt x="6350" y="0"/>
                  </a:moveTo>
                  <a:lnTo>
                    <a:pt x="6350" y="447953"/>
                  </a:lnTo>
                </a:path>
                <a:path w="3171190" h="448310">
                  <a:moveTo>
                    <a:pt x="3164534" y="0"/>
                  </a:moveTo>
                  <a:lnTo>
                    <a:pt x="3164534" y="447953"/>
                  </a:lnTo>
                </a:path>
                <a:path w="3171190" h="448310">
                  <a:moveTo>
                    <a:pt x="0" y="6350"/>
                  </a:moveTo>
                  <a:lnTo>
                    <a:pt x="3170884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683252" y="4237202"/>
              <a:ext cx="3171190" cy="0"/>
            </a:xfrm>
            <a:custGeom>
              <a:avLst/>
              <a:gdLst/>
              <a:ahLst/>
              <a:cxnLst/>
              <a:rect l="l" t="t" r="r" b="b"/>
              <a:pathLst>
                <a:path w="3171190">
                  <a:moveTo>
                    <a:pt x="0" y="0"/>
                  </a:moveTo>
                  <a:lnTo>
                    <a:pt x="3170884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89606" y="4253829"/>
              <a:ext cx="3158490" cy="387985"/>
            </a:xfrm>
            <a:custGeom>
              <a:avLst/>
              <a:gdLst/>
              <a:ahLst/>
              <a:cxnLst/>
              <a:rect l="l" t="t" r="r" b="b"/>
              <a:pathLst>
                <a:path w="3158490" h="387985">
                  <a:moveTo>
                    <a:pt x="3158184" y="0"/>
                  </a:moveTo>
                  <a:lnTo>
                    <a:pt x="3153232" y="44457"/>
                  </a:lnTo>
                  <a:lnTo>
                    <a:pt x="3139127" y="85269"/>
                  </a:lnTo>
                  <a:lnTo>
                    <a:pt x="3116995" y="121269"/>
                  </a:lnTo>
                  <a:lnTo>
                    <a:pt x="3087961" y="151296"/>
                  </a:lnTo>
                  <a:lnTo>
                    <a:pt x="3053150" y="174185"/>
                  </a:lnTo>
                  <a:lnTo>
                    <a:pt x="3013688" y="188771"/>
                  </a:lnTo>
                  <a:lnTo>
                    <a:pt x="2970700" y="193892"/>
                  </a:lnTo>
                  <a:lnTo>
                    <a:pt x="1774914" y="193892"/>
                  </a:lnTo>
                  <a:lnTo>
                    <a:pt x="1731925" y="199013"/>
                  </a:lnTo>
                  <a:lnTo>
                    <a:pt x="1692462" y="213599"/>
                  </a:lnTo>
                  <a:lnTo>
                    <a:pt x="1657651" y="236488"/>
                  </a:lnTo>
                  <a:lnTo>
                    <a:pt x="1628617" y="266515"/>
                  </a:lnTo>
                  <a:lnTo>
                    <a:pt x="1606485" y="302515"/>
                  </a:lnTo>
                  <a:lnTo>
                    <a:pt x="1592380" y="343327"/>
                  </a:lnTo>
                  <a:lnTo>
                    <a:pt x="1587429" y="387785"/>
                  </a:lnTo>
                  <a:lnTo>
                    <a:pt x="1582477" y="343327"/>
                  </a:lnTo>
                  <a:lnTo>
                    <a:pt x="1568373" y="302515"/>
                  </a:lnTo>
                  <a:lnTo>
                    <a:pt x="1546241" y="266515"/>
                  </a:lnTo>
                  <a:lnTo>
                    <a:pt x="1517206" y="236488"/>
                  </a:lnTo>
                  <a:lnTo>
                    <a:pt x="1482395" y="213599"/>
                  </a:lnTo>
                  <a:lnTo>
                    <a:pt x="1442933" y="199013"/>
                  </a:lnTo>
                  <a:lnTo>
                    <a:pt x="1399945" y="193892"/>
                  </a:lnTo>
                  <a:lnTo>
                    <a:pt x="187484" y="193892"/>
                  </a:lnTo>
                  <a:lnTo>
                    <a:pt x="144495" y="188771"/>
                  </a:lnTo>
                  <a:lnTo>
                    <a:pt x="105033" y="174185"/>
                  </a:lnTo>
                  <a:lnTo>
                    <a:pt x="70222" y="151296"/>
                  </a:lnTo>
                  <a:lnTo>
                    <a:pt x="41188" y="121269"/>
                  </a:lnTo>
                  <a:lnTo>
                    <a:pt x="19056" y="85269"/>
                  </a:lnTo>
                  <a:lnTo>
                    <a:pt x="4951" y="44457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9611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594600" y="3452441"/>
            <a:ext cx="11309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SG" sz="3200" spc="-10" dirty="0" err="1">
                <a:solidFill>
                  <a:srgbClr val="961100"/>
                </a:solidFill>
                <a:latin typeface="Arial MT"/>
                <a:cs typeface="Arial MT"/>
              </a:rPr>
              <a:t>向量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4458" y="4779337"/>
            <a:ext cx="5797771" cy="175330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347345" algn="ctr">
              <a:lnSpc>
                <a:spcPct val="100000"/>
              </a:lnSpc>
              <a:spcBef>
                <a:spcPts val="1775"/>
              </a:spcBef>
            </a:pPr>
            <a:r>
              <a:rPr sz="4800" spc="-37" baseline="-21000" dirty="0">
                <a:latin typeface="Cambria Math"/>
                <a:cs typeface="Cambria Math"/>
              </a:rPr>
              <a:t>ℝ</a:t>
            </a:r>
            <a:r>
              <a:rPr sz="2300" spc="-25" dirty="0">
                <a:latin typeface="Cambria Math"/>
                <a:cs typeface="Cambria Math"/>
              </a:rPr>
              <a:t>𝑑</a:t>
            </a:r>
            <a:endParaRPr sz="2300" dirty="0">
              <a:latin typeface="Cambria Math"/>
              <a:cs typeface="Cambria Math"/>
            </a:endParaRPr>
          </a:p>
          <a:p>
            <a:pPr marL="867410" marR="30480" indent="-829945">
              <a:lnSpc>
                <a:spcPct val="101000"/>
              </a:lnSpc>
              <a:spcBef>
                <a:spcPts val="1230"/>
              </a:spcBef>
            </a:pPr>
            <a:r>
              <a:rPr lang="en-SG" sz="2400" dirty="0" err="1">
                <a:latin typeface="Arial MT"/>
                <a:cs typeface="Arial MT"/>
              </a:rPr>
              <a:t>特征表示</a:t>
            </a:r>
            <a:r>
              <a:rPr lang="zh-CN" altLang="en-US" sz="2400" dirty="0">
                <a:latin typeface="Arial MT"/>
                <a:cs typeface="Arial MT"/>
              </a:rPr>
              <a:t>（</a:t>
            </a:r>
            <a:r>
              <a:rPr lang="en-US" altLang="zh-CN" sz="2400" dirty="0">
                <a:latin typeface="Arial MT"/>
                <a:cs typeface="Arial MT"/>
              </a:rPr>
              <a:t>feature</a:t>
            </a:r>
            <a:r>
              <a:rPr lang="zh-CN" altLang="en-US" sz="2400" dirty="0">
                <a:latin typeface="Arial MT"/>
                <a:cs typeface="Arial MT"/>
              </a:rPr>
              <a:t> </a:t>
            </a:r>
            <a:r>
              <a:rPr lang="en-US" altLang="zh-CN" sz="2400" dirty="0">
                <a:latin typeface="Arial MT"/>
                <a:cs typeface="Arial MT"/>
              </a:rPr>
              <a:t>representation</a:t>
            </a:r>
            <a:r>
              <a:rPr lang="zh-CN" altLang="en-US" sz="2400" dirty="0">
                <a:latin typeface="Arial MT"/>
                <a:cs typeface="Arial MT"/>
              </a:rPr>
              <a:t>）</a:t>
            </a:r>
            <a:endParaRPr lang="en-SG" altLang="zh-CN" sz="2400" spc="-10" dirty="0">
              <a:latin typeface="Arial MT"/>
              <a:cs typeface="Arial MT"/>
            </a:endParaRPr>
          </a:p>
          <a:p>
            <a:pPr marL="867410" marR="30480" indent="-829945">
              <a:lnSpc>
                <a:spcPct val="101000"/>
              </a:lnSpc>
              <a:spcBef>
                <a:spcPts val="1230"/>
              </a:spcBef>
            </a:pPr>
            <a:r>
              <a:rPr lang="en-SG" sz="2400" spc="-10" dirty="0" err="1">
                <a:latin typeface="Arial MT"/>
                <a:cs typeface="Arial MT"/>
              </a:rPr>
              <a:t>向量嵌入</a:t>
            </a:r>
            <a:r>
              <a:rPr lang="en-US" altLang="zh-CN" sz="2400" spc="-10" dirty="0">
                <a:latin typeface="Arial MT"/>
                <a:cs typeface="Arial MT"/>
              </a:rPr>
              <a:t>(embedding)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20" name="文本框 33"/>
          <p:cNvSpPr txBox="1"/>
          <p:nvPr/>
        </p:nvSpPr>
        <p:spPr>
          <a:xfrm>
            <a:off x="830048" y="828293"/>
            <a:ext cx="11105278" cy="324781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：将节点映射到一个嵌入空间（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embedding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space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）</a:t>
            </a:r>
            <a:endParaRPr lang="en-SG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节点嵌入的相似性反映它们在图中的相似性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例如：两个节点彼此接近（通过一条边相连）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编码图结构信息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可用于多种下游预测任务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object 13"/>
          <p:cNvSpPr/>
          <p:nvPr/>
        </p:nvSpPr>
        <p:spPr>
          <a:xfrm>
            <a:off x="8903216" y="3988726"/>
            <a:ext cx="978535" cy="485140"/>
          </a:xfrm>
          <a:custGeom>
            <a:avLst/>
            <a:gdLst/>
            <a:ahLst/>
            <a:cxnLst/>
            <a:rect l="l" t="t" r="r" b="b"/>
            <a:pathLst>
              <a:path w="978535" h="485139">
                <a:moveTo>
                  <a:pt x="0" y="121158"/>
                </a:moveTo>
                <a:lnTo>
                  <a:pt x="736092" y="121158"/>
                </a:lnTo>
                <a:lnTo>
                  <a:pt x="736092" y="0"/>
                </a:lnTo>
                <a:lnTo>
                  <a:pt x="978408" y="242316"/>
                </a:lnTo>
                <a:lnTo>
                  <a:pt x="736092" y="484632"/>
                </a:lnTo>
                <a:lnTo>
                  <a:pt x="736092" y="363473"/>
                </a:lnTo>
                <a:lnTo>
                  <a:pt x="0" y="363473"/>
                </a:lnTo>
                <a:lnTo>
                  <a:pt x="0" y="121158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10789" y="3957708"/>
            <a:ext cx="272558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Courier New" panose="02070409020205090404" pitchFamily="49" charset="0"/>
              <a:buChar char="o"/>
            </a:pPr>
            <a:r>
              <a:rPr lang="zh-CN" altLang="en-SG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节点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分类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914400" lvl="1" indent="-457200">
              <a:buFont typeface="Courier New" panose="02070409020205090404" pitchFamily="49" charset="0"/>
              <a:buChar char="o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链接预测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914400" lvl="1" indent="-457200">
              <a:buFont typeface="Courier New" panose="02070409020205090404" pitchFamily="49" charset="0"/>
              <a:buChar char="o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图分类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914400" lvl="1" indent="-457200">
              <a:buFont typeface="Courier New" panose="02070409020205090404" pitchFamily="49" charset="0"/>
              <a:buChar char="o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…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4" name="object 10"/>
          <p:cNvSpPr txBox="1"/>
          <p:nvPr/>
        </p:nvSpPr>
        <p:spPr>
          <a:xfrm>
            <a:off x="10768313" y="3448912"/>
            <a:ext cx="11309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10" dirty="0" err="1">
                <a:solidFill>
                  <a:srgbClr val="0070C0"/>
                </a:solidFill>
                <a:latin typeface="Arial MT"/>
                <a:cs typeface="Arial MT"/>
              </a:rPr>
              <a:t>任务</a:t>
            </a:r>
            <a:endParaRPr sz="3200" dirty="0">
              <a:solidFill>
                <a:srgbClr val="0070C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节点嵌入示例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33"/>
          <p:cNvSpPr txBox="1"/>
          <p:nvPr/>
        </p:nvSpPr>
        <p:spPr>
          <a:xfrm>
            <a:off x="830048" y="828293"/>
            <a:ext cx="11105278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en-SG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Zachary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空手道俱乐部网络中节点的二维嵌入表示</a:t>
            </a:r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3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09874" y="1888535"/>
            <a:ext cx="9745625" cy="3942451"/>
          </a:xfrm>
          <a:prstGeom prst="rect">
            <a:avLst/>
          </a:prstGeom>
        </p:spPr>
      </p:pic>
      <p:sp>
        <p:nvSpPr>
          <p:cNvPr id="8" name="object 5"/>
          <p:cNvSpPr txBox="1"/>
          <p:nvPr/>
        </p:nvSpPr>
        <p:spPr>
          <a:xfrm>
            <a:off x="350439" y="6570123"/>
            <a:ext cx="702055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0" dirty="0">
                <a:solidFill>
                  <a:srgbClr val="7F7F7F"/>
                </a:solidFill>
                <a:latin typeface="Arial MT"/>
                <a:cs typeface="Arial MT"/>
              </a:rPr>
              <a:t>Image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F7F7F"/>
                </a:solidFill>
                <a:latin typeface="Arial MT"/>
                <a:cs typeface="Arial MT"/>
              </a:rPr>
              <a:t>from: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u="sng" spc="-45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Perozzi</a:t>
            </a:r>
            <a:r>
              <a:rPr sz="1400" u="sng" spc="-40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et</a:t>
            </a:r>
            <a:r>
              <a:rPr sz="1400" u="sng" spc="-45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 </a:t>
            </a:r>
            <a:r>
              <a:rPr sz="1400" u="sng" spc="-20" dirty="0">
                <a:solidFill>
                  <a:srgbClr val="168BBA"/>
                </a:solidFill>
                <a:uFill>
                  <a:solidFill>
                    <a:srgbClr val="168BBA"/>
                  </a:solidFill>
                </a:uFill>
                <a:latin typeface="Arial MT"/>
                <a:cs typeface="Arial MT"/>
              </a:rPr>
              <a:t>al</a:t>
            </a:r>
            <a:r>
              <a:rPr sz="1400" spc="-20" dirty="0">
                <a:solidFill>
                  <a:srgbClr val="7F7F7F"/>
                </a:solidFill>
                <a:latin typeface="Arial MT"/>
                <a:cs typeface="Arial MT"/>
              </a:rPr>
              <a:t>.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7F7F7F"/>
                </a:solidFill>
                <a:latin typeface="Arial MT"/>
                <a:cs typeface="Arial MT"/>
              </a:rPr>
              <a:t>DeepWalk: Online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7F7F7F"/>
                </a:solidFill>
                <a:latin typeface="Arial MT"/>
                <a:cs typeface="Arial MT"/>
              </a:rPr>
              <a:t>Learning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F7F7F"/>
                </a:solidFill>
                <a:latin typeface="Arial MT"/>
                <a:cs typeface="Arial MT"/>
              </a:rPr>
              <a:t>of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7F7F7F"/>
                </a:solidFill>
                <a:latin typeface="Arial MT"/>
                <a:cs typeface="Arial MT"/>
              </a:rPr>
              <a:t>Social</a:t>
            </a:r>
            <a:r>
              <a:rPr sz="1400" spc="-40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7F7F7F"/>
                </a:solidFill>
                <a:latin typeface="Arial MT"/>
                <a:cs typeface="Arial MT"/>
              </a:rPr>
              <a:t>Representations.</a:t>
            </a:r>
            <a:r>
              <a:rPr sz="1400" spc="-4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1400" i="1" spc="-35" dirty="0">
                <a:solidFill>
                  <a:srgbClr val="7F7F7F"/>
                </a:solidFill>
                <a:latin typeface="Arial" panose="020B0604020202090204"/>
                <a:cs typeface="Arial" panose="020B0604020202090204"/>
              </a:rPr>
              <a:t>KDD</a:t>
            </a:r>
            <a:r>
              <a:rPr sz="1400" i="1" spc="-40" dirty="0">
                <a:solidFill>
                  <a:srgbClr val="7F7F7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400" i="1" spc="-10" dirty="0">
                <a:solidFill>
                  <a:srgbClr val="7F7F7F"/>
                </a:solidFill>
                <a:latin typeface="Arial" panose="020B0604020202090204"/>
                <a:cs typeface="Arial" panose="020B0604020202090204"/>
              </a:rPr>
              <a:t>2014.</a:t>
            </a:r>
            <a:endParaRPr sz="14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/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/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概述</a:t>
              </a:r>
              <a:endParaRPr lang="zh-CN" altLang="en-US" sz="20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28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/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节点嵌入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/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基于随机游走的节点嵌入</a:t>
              </a:r>
              <a:endParaRPr lang="zh-CN" altLang="en-US" sz="2000" b="1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6"/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/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图嵌入</a:t>
              </a:r>
              <a:endParaRPr lang="zh-CN" altLang="en-US" sz="2000" b="1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5850"/>
            <a:ext cx="12192000" cy="577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8"/>
          <p:cNvSpPr txBox="1"/>
          <p:nvPr/>
        </p:nvSpPr>
        <p:spPr>
          <a:xfrm>
            <a:off x="350439" y="120418"/>
            <a:ext cx="8267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什么叫嵌入：以词嵌入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(Word Embedding) 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为例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633384" y="6341184"/>
                <a:ext cx="61132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effectLst/>
                    <a:latin typeface="Google Sans Text"/>
                  </a:rPr>
                  <a:t>King - Man + Woman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effectLst/>
                    <a:latin typeface="Google Sans Text"/>
                  </a:rPr>
                  <a:t>Queen</a:t>
                </a:r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384" y="6341184"/>
                <a:ext cx="6113206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3" t="-16" r="4" b="-2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SG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object 3"/>
          <p:cNvGrpSpPr/>
          <p:nvPr/>
        </p:nvGrpSpPr>
        <p:grpSpPr>
          <a:xfrm>
            <a:off x="2642596" y="4211272"/>
            <a:ext cx="2259330" cy="1238250"/>
            <a:chOff x="1182624" y="4163146"/>
            <a:chExt cx="2259330" cy="1238250"/>
          </a:xfrm>
        </p:grpSpPr>
        <p:sp>
          <p:nvSpPr>
            <p:cNvPr id="3" name="object 4"/>
            <p:cNvSpPr/>
            <p:nvPr/>
          </p:nvSpPr>
          <p:spPr>
            <a:xfrm>
              <a:off x="1409906" y="4203904"/>
              <a:ext cx="241300" cy="990600"/>
            </a:xfrm>
            <a:custGeom>
              <a:avLst/>
              <a:gdLst/>
              <a:ahLst/>
              <a:cxnLst/>
              <a:rect l="l" t="t" r="r" b="b"/>
              <a:pathLst>
                <a:path w="241300" h="990600">
                  <a:moveTo>
                    <a:pt x="241066" y="0"/>
                  </a:moveTo>
                  <a:lnTo>
                    <a:pt x="0" y="99060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5"/>
            <p:cNvSpPr/>
            <p:nvPr/>
          </p:nvSpPr>
          <p:spPr>
            <a:xfrm>
              <a:off x="1679848" y="4203904"/>
              <a:ext cx="794385" cy="685800"/>
            </a:xfrm>
            <a:custGeom>
              <a:avLst/>
              <a:gdLst/>
              <a:ahLst/>
              <a:cxnLst/>
              <a:rect l="l" t="t" r="r" b="b"/>
              <a:pathLst>
                <a:path w="794385" h="685800">
                  <a:moveTo>
                    <a:pt x="0" y="0"/>
                  </a:moveTo>
                  <a:lnTo>
                    <a:pt x="793866" y="685799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6"/>
            <p:cNvSpPr/>
            <p:nvPr/>
          </p:nvSpPr>
          <p:spPr>
            <a:xfrm>
              <a:off x="1409907" y="4889702"/>
              <a:ext cx="1035050" cy="305435"/>
            </a:xfrm>
            <a:custGeom>
              <a:avLst/>
              <a:gdLst/>
              <a:ahLst/>
              <a:cxnLst/>
              <a:rect l="l" t="t" r="r" b="b"/>
              <a:pathLst>
                <a:path w="1035050" h="305435">
                  <a:moveTo>
                    <a:pt x="0" y="304808"/>
                  </a:moveTo>
                  <a:lnTo>
                    <a:pt x="1034933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7"/>
            <p:cNvSpPr/>
            <p:nvPr/>
          </p:nvSpPr>
          <p:spPr>
            <a:xfrm>
              <a:off x="1689257" y="4177433"/>
              <a:ext cx="1738630" cy="376555"/>
            </a:xfrm>
            <a:custGeom>
              <a:avLst/>
              <a:gdLst/>
              <a:ahLst/>
              <a:cxnLst/>
              <a:rect l="l" t="t" r="r" b="b"/>
              <a:pathLst>
                <a:path w="1738629" h="376554">
                  <a:moveTo>
                    <a:pt x="1738160" y="376188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182624" y="4995671"/>
              <a:ext cx="405384" cy="405383"/>
            </a:xfrm>
            <a:prstGeom prst="rect">
              <a:avLst/>
            </a:prstGeom>
          </p:spPr>
        </p:pic>
        <p:sp>
          <p:nvSpPr>
            <p:cNvPr id="18" name="object 9"/>
            <p:cNvSpPr/>
            <p:nvPr/>
          </p:nvSpPr>
          <p:spPr>
            <a:xfrm>
              <a:off x="1225638" y="5012894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160019" y="0"/>
                  </a:moveTo>
                  <a:lnTo>
                    <a:pt x="109440" y="8157"/>
                  </a:lnTo>
                  <a:lnTo>
                    <a:pt x="65513" y="30874"/>
                  </a:lnTo>
                  <a:lnTo>
                    <a:pt x="30874" y="65514"/>
                  </a:lnTo>
                  <a:lnTo>
                    <a:pt x="8157" y="109441"/>
                  </a:lnTo>
                  <a:lnTo>
                    <a:pt x="0" y="160020"/>
                  </a:lnTo>
                  <a:lnTo>
                    <a:pt x="8157" y="210598"/>
                  </a:lnTo>
                  <a:lnTo>
                    <a:pt x="30874" y="254525"/>
                  </a:lnTo>
                  <a:lnTo>
                    <a:pt x="65513" y="289165"/>
                  </a:lnTo>
                  <a:lnTo>
                    <a:pt x="109440" y="311881"/>
                  </a:lnTo>
                  <a:lnTo>
                    <a:pt x="160019" y="320040"/>
                  </a:lnTo>
                  <a:lnTo>
                    <a:pt x="210598" y="311881"/>
                  </a:lnTo>
                  <a:lnTo>
                    <a:pt x="254525" y="289165"/>
                  </a:lnTo>
                  <a:lnTo>
                    <a:pt x="289165" y="254525"/>
                  </a:lnTo>
                  <a:lnTo>
                    <a:pt x="311881" y="210598"/>
                  </a:lnTo>
                  <a:lnTo>
                    <a:pt x="320039" y="160020"/>
                  </a:lnTo>
                  <a:lnTo>
                    <a:pt x="311881" y="109441"/>
                  </a:lnTo>
                  <a:lnTo>
                    <a:pt x="289165" y="65514"/>
                  </a:lnTo>
                  <a:lnTo>
                    <a:pt x="254525" y="30874"/>
                  </a:lnTo>
                  <a:lnTo>
                    <a:pt x="210598" y="8157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10"/>
            <p:cNvSpPr/>
            <p:nvPr/>
          </p:nvSpPr>
          <p:spPr>
            <a:xfrm>
              <a:off x="1225638" y="5012894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39">
                  <a:moveTo>
                    <a:pt x="0" y="160020"/>
                  </a:moveTo>
                  <a:lnTo>
                    <a:pt x="8157" y="109441"/>
                  </a:lnTo>
                  <a:lnTo>
                    <a:pt x="30874" y="65514"/>
                  </a:lnTo>
                  <a:lnTo>
                    <a:pt x="65514" y="30874"/>
                  </a:lnTo>
                  <a:lnTo>
                    <a:pt x="109441" y="8157"/>
                  </a:lnTo>
                  <a:lnTo>
                    <a:pt x="160020" y="0"/>
                  </a:lnTo>
                  <a:lnTo>
                    <a:pt x="210598" y="8157"/>
                  </a:lnTo>
                  <a:lnTo>
                    <a:pt x="254525" y="30874"/>
                  </a:lnTo>
                  <a:lnTo>
                    <a:pt x="289165" y="65514"/>
                  </a:lnTo>
                  <a:lnTo>
                    <a:pt x="311882" y="109441"/>
                  </a:lnTo>
                  <a:lnTo>
                    <a:pt x="320040" y="160020"/>
                  </a:lnTo>
                  <a:lnTo>
                    <a:pt x="311882" y="210598"/>
                  </a:lnTo>
                  <a:lnTo>
                    <a:pt x="289165" y="254525"/>
                  </a:lnTo>
                  <a:lnTo>
                    <a:pt x="254525" y="289165"/>
                  </a:lnTo>
                  <a:lnTo>
                    <a:pt x="210598" y="311882"/>
                  </a:lnTo>
                  <a:lnTo>
                    <a:pt x="160020" y="320040"/>
                  </a:lnTo>
                  <a:lnTo>
                    <a:pt x="109441" y="311882"/>
                  </a:lnTo>
                  <a:lnTo>
                    <a:pt x="65514" y="289165"/>
                  </a:lnTo>
                  <a:lnTo>
                    <a:pt x="30874" y="254525"/>
                  </a:lnTo>
                  <a:lnTo>
                    <a:pt x="8157" y="210598"/>
                  </a:lnTo>
                  <a:lnTo>
                    <a:pt x="0" y="160020"/>
                  </a:lnTo>
                  <a:close/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11"/>
          <p:cNvSpPr txBox="1"/>
          <p:nvPr/>
        </p:nvSpPr>
        <p:spPr>
          <a:xfrm>
            <a:off x="2759314" y="506157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</a:t>
            </a:r>
            <a:endParaRPr sz="18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8" name="object 12"/>
          <p:cNvGrpSpPr/>
          <p:nvPr/>
        </p:nvGrpSpPr>
        <p:grpSpPr>
          <a:xfrm>
            <a:off x="2901675" y="4044054"/>
            <a:ext cx="2234565" cy="1125220"/>
            <a:chOff x="1441703" y="3995928"/>
            <a:chExt cx="2234565" cy="1125220"/>
          </a:xfrm>
        </p:grpSpPr>
        <p:pic>
          <p:nvPicPr>
            <p:cNvPr id="29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1703" y="3995928"/>
              <a:ext cx="408432" cy="408431"/>
            </a:xfrm>
            <a:prstGeom prst="rect">
              <a:avLst/>
            </a:prstGeom>
          </p:spPr>
        </p:pic>
        <p:sp>
          <p:nvSpPr>
            <p:cNvPr id="30" name="object 14"/>
            <p:cNvSpPr/>
            <p:nvPr/>
          </p:nvSpPr>
          <p:spPr>
            <a:xfrm>
              <a:off x="1485883" y="401496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20" y="0"/>
                  </a:moveTo>
                  <a:lnTo>
                    <a:pt x="109441" y="8157"/>
                  </a:lnTo>
                  <a:lnTo>
                    <a:pt x="65514" y="30874"/>
                  </a:lnTo>
                  <a:lnTo>
                    <a:pt x="30874" y="65514"/>
                  </a:lnTo>
                  <a:lnTo>
                    <a:pt x="8157" y="109441"/>
                  </a:lnTo>
                  <a:lnTo>
                    <a:pt x="0" y="160019"/>
                  </a:lnTo>
                  <a:lnTo>
                    <a:pt x="8157" y="210598"/>
                  </a:lnTo>
                  <a:lnTo>
                    <a:pt x="30874" y="254525"/>
                  </a:lnTo>
                  <a:lnTo>
                    <a:pt x="65514" y="289165"/>
                  </a:lnTo>
                  <a:lnTo>
                    <a:pt x="109441" y="311882"/>
                  </a:lnTo>
                  <a:lnTo>
                    <a:pt x="160020" y="320040"/>
                  </a:lnTo>
                  <a:lnTo>
                    <a:pt x="210598" y="311882"/>
                  </a:lnTo>
                  <a:lnTo>
                    <a:pt x="254525" y="289165"/>
                  </a:lnTo>
                  <a:lnTo>
                    <a:pt x="289165" y="254525"/>
                  </a:lnTo>
                  <a:lnTo>
                    <a:pt x="311881" y="210598"/>
                  </a:lnTo>
                  <a:lnTo>
                    <a:pt x="320040" y="160019"/>
                  </a:lnTo>
                  <a:lnTo>
                    <a:pt x="311881" y="109441"/>
                  </a:lnTo>
                  <a:lnTo>
                    <a:pt x="289165" y="65514"/>
                  </a:lnTo>
                  <a:lnTo>
                    <a:pt x="254525" y="30874"/>
                  </a:lnTo>
                  <a:lnTo>
                    <a:pt x="210598" y="8157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15"/>
            <p:cNvSpPr/>
            <p:nvPr/>
          </p:nvSpPr>
          <p:spPr>
            <a:xfrm>
              <a:off x="1485883" y="401496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20"/>
                  </a:moveTo>
                  <a:lnTo>
                    <a:pt x="8157" y="109441"/>
                  </a:lnTo>
                  <a:lnTo>
                    <a:pt x="30874" y="65514"/>
                  </a:lnTo>
                  <a:lnTo>
                    <a:pt x="65514" y="30874"/>
                  </a:lnTo>
                  <a:lnTo>
                    <a:pt x="109441" y="8157"/>
                  </a:lnTo>
                  <a:lnTo>
                    <a:pt x="160020" y="0"/>
                  </a:lnTo>
                  <a:lnTo>
                    <a:pt x="210598" y="8157"/>
                  </a:lnTo>
                  <a:lnTo>
                    <a:pt x="254525" y="30874"/>
                  </a:lnTo>
                  <a:lnTo>
                    <a:pt x="289165" y="65514"/>
                  </a:lnTo>
                  <a:lnTo>
                    <a:pt x="311882" y="109441"/>
                  </a:lnTo>
                  <a:lnTo>
                    <a:pt x="320040" y="160020"/>
                  </a:lnTo>
                  <a:lnTo>
                    <a:pt x="311882" y="210598"/>
                  </a:lnTo>
                  <a:lnTo>
                    <a:pt x="289165" y="254525"/>
                  </a:lnTo>
                  <a:lnTo>
                    <a:pt x="254525" y="289165"/>
                  </a:lnTo>
                  <a:lnTo>
                    <a:pt x="210598" y="311882"/>
                  </a:lnTo>
                  <a:lnTo>
                    <a:pt x="160020" y="320040"/>
                  </a:lnTo>
                  <a:lnTo>
                    <a:pt x="109441" y="311882"/>
                  </a:lnTo>
                  <a:lnTo>
                    <a:pt x="65514" y="289165"/>
                  </a:lnTo>
                  <a:lnTo>
                    <a:pt x="30874" y="254525"/>
                  </a:lnTo>
                  <a:lnTo>
                    <a:pt x="8157" y="210598"/>
                  </a:lnTo>
                  <a:lnTo>
                    <a:pt x="0" y="160020"/>
                  </a:lnTo>
                  <a:close/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7455" y="4383024"/>
              <a:ext cx="408431" cy="408431"/>
            </a:xfrm>
            <a:prstGeom prst="rect">
              <a:avLst/>
            </a:prstGeom>
          </p:spPr>
        </p:pic>
        <p:sp>
          <p:nvSpPr>
            <p:cNvPr id="33" name="object 17"/>
            <p:cNvSpPr/>
            <p:nvPr/>
          </p:nvSpPr>
          <p:spPr>
            <a:xfrm>
              <a:off x="3312185" y="4401855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19" y="0"/>
                  </a:moveTo>
                  <a:lnTo>
                    <a:pt x="109441" y="8157"/>
                  </a:lnTo>
                  <a:lnTo>
                    <a:pt x="65514" y="30874"/>
                  </a:lnTo>
                  <a:lnTo>
                    <a:pt x="30874" y="65514"/>
                  </a:lnTo>
                  <a:lnTo>
                    <a:pt x="8157" y="109441"/>
                  </a:lnTo>
                  <a:lnTo>
                    <a:pt x="0" y="160019"/>
                  </a:lnTo>
                  <a:lnTo>
                    <a:pt x="8157" y="210598"/>
                  </a:lnTo>
                  <a:lnTo>
                    <a:pt x="30874" y="254525"/>
                  </a:lnTo>
                  <a:lnTo>
                    <a:pt x="65514" y="289165"/>
                  </a:lnTo>
                  <a:lnTo>
                    <a:pt x="109441" y="311882"/>
                  </a:lnTo>
                  <a:lnTo>
                    <a:pt x="160019" y="320039"/>
                  </a:lnTo>
                  <a:lnTo>
                    <a:pt x="210598" y="311882"/>
                  </a:lnTo>
                  <a:lnTo>
                    <a:pt x="254525" y="289165"/>
                  </a:lnTo>
                  <a:lnTo>
                    <a:pt x="289165" y="254525"/>
                  </a:lnTo>
                  <a:lnTo>
                    <a:pt x="311882" y="210598"/>
                  </a:lnTo>
                  <a:lnTo>
                    <a:pt x="320039" y="160019"/>
                  </a:lnTo>
                  <a:lnTo>
                    <a:pt x="311882" y="109441"/>
                  </a:lnTo>
                  <a:lnTo>
                    <a:pt x="289165" y="65514"/>
                  </a:lnTo>
                  <a:lnTo>
                    <a:pt x="254525" y="30874"/>
                  </a:lnTo>
                  <a:lnTo>
                    <a:pt x="210598" y="8157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18"/>
            <p:cNvSpPr/>
            <p:nvPr/>
          </p:nvSpPr>
          <p:spPr>
            <a:xfrm>
              <a:off x="3312185" y="4401855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20"/>
                  </a:moveTo>
                  <a:lnTo>
                    <a:pt x="8157" y="109441"/>
                  </a:lnTo>
                  <a:lnTo>
                    <a:pt x="30874" y="65514"/>
                  </a:lnTo>
                  <a:lnTo>
                    <a:pt x="65514" y="30874"/>
                  </a:lnTo>
                  <a:lnTo>
                    <a:pt x="109441" y="8157"/>
                  </a:lnTo>
                  <a:lnTo>
                    <a:pt x="160020" y="0"/>
                  </a:lnTo>
                  <a:lnTo>
                    <a:pt x="210598" y="8157"/>
                  </a:lnTo>
                  <a:lnTo>
                    <a:pt x="254525" y="30874"/>
                  </a:lnTo>
                  <a:lnTo>
                    <a:pt x="289165" y="65514"/>
                  </a:lnTo>
                  <a:lnTo>
                    <a:pt x="311882" y="109441"/>
                  </a:lnTo>
                  <a:lnTo>
                    <a:pt x="320040" y="160020"/>
                  </a:lnTo>
                  <a:lnTo>
                    <a:pt x="311882" y="210598"/>
                  </a:lnTo>
                  <a:lnTo>
                    <a:pt x="289165" y="254525"/>
                  </a:lnTo>
                  <a:lnTo>
                    <a:pt x="254525" y="289165"/>
                  </a:lnTo>
                  <a:lnTo>
                    <a:pt x="210598" y="311882"/>
                  </a:lnTo>
                  <a:lnTo>
                    <a:pt x="160020" y="320040"/>
                  </a:lnTo>
                  <a:lnTo>
                    <a:pt x="109441" y="311882"/>
                  </a:lnTo>
                  <a:lnTo>
                    <a:pt x="65514" y="289165"/>
                  </a:lnTo>
                  <a:lnTo>
                    <a:pt x="30874" y="254525"/>
                  </a:lnTo>
                  <a:lnTo>
                    <a:pt x="8157" y="210598"/>
                  </a:lnTo>
                  <a:lnTo>
                    <a:pt x="0" y="160020"/>
                  </a:lnTo>
                  <a:close/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2471" y="4715256"/>
              <a:ext cx="405384" cy="405384"/>
            </a:xfrm>
            <a:prstGeom prst="rect">
              <a:avLst/>
            </a:prstGeom>
          </p:spPr>
        </p:pic>
        <p:sp>
          <p:nvSpPr>
            <p:cNvPr id="36" name="object 20"/>
            <p:cNvSpPr/>
            <p:nvPr/>
          </p:nvSpPr>
          <p:spPr>
            <a:xfrm>
              <a:off x="2295578" y="473286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160019" y="0"/>
                  </a:moveTo>
                  <a:lnTo>
                    <a:pt x="109441" y="8157"/>
                  </a:lnTo>
                  <a:lnTo>
                    <a:pt x="65514" y="30874"/>
                  </a:lnTo>
                  <a:lnTo>
                    <a:pt x="30874" y="65514"/>
                  </a:lnTo>
                  <a:lnTo>
                    <a:pt x="8157" y="109441"/>
                  </a:lnTo>
                  <a:lnTo>
                    <a:pt x="0" y="160019"/>
                  </a:lnTo>
                  <a:lnTo>
                    <a:pt x="8157" y="210598"/>
                  </a:lnTo>
                  <a:lnTo>
                    <a:pt x="30874" y="254525"/>
                  </a:lnTo>
                  <a:lnTo>
                    <a:pt x="65514" y="289165"/>
                  </a:lnTo>
                  <a:lnTo>
                    <a:pt x="109441" y="311882"/>
                  </a:lnTo>
                  <a:lnTo>
                    <a:pt x="160019" y="320040"/>
                  </a:lnTo>
                  <a:lnTo>
                    <a:pt x="210598" y="311882"/>
                  </a:lnTo>
                  <a:lnTo>
                    <a:pt x="254525" y="289165"/>
                  </a:lnTo>
                  <a:lnTo>
                    <a:pt x="289165" y="254525"/>
                  </a:lnTo>
                  <a:lnTo>
                    <a:pt x="311882" y="210598"/>
                  </a:lnTo>
                  <a:lnTo>
                    <a:pt x="320039" y="160019"/>
                  </a:lnTo>
                  <a:lnTo>
                    <a:pt x="311882" y="109441"/>
                  </a:lnTo>
                  <a:lnTo>
                    <a:pt x="289165" y="65514"/>
                  </a:lnTo>
                  <a:lnTo>
                    <a:pt x="254525" y="30874"/>
                  </a:lnTo>
                  <a:lnTo>
                    <a:pt x="210598" y="8157"/>
                  </a:lnTo>
                  <a:lnTo>
                    <a:pt x="16001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21"/>
            <p:cNvSpPr/>
            <p:nvPr/>
          </p:nvSpPr>
          <p:spPr>
            <a:xfrm>
              <a:off x="2295578" y="4732867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39" h="320039">
                  <a:moveTo>
                    <a:pt x="0" y="160020"/>
                  </a:moveTo>
                  <a:lnTo>
                    <a:pt x="8157" y="109441"/>
                  </a:lnTo>
                  <a:lnTo>
                    <a:pt x="30874" y="65514"/>
                  </a:lnTo>
                  <a:lnTo>
                    <a:pt x="65514" y="30874"/>
                  </a:lnTo>
                  <a:lnTo>
                    <a:pt x="109441" y="8157"/>
                  </a:lnTo>
                  <a:lnTo>
                    <a:pt x="160020" y="0"/>
                  </a:lnTo>
                  <a:lnTo>
                    <a:pt x="210598" y="8157"/>
                  </a:lnTo>
                  <a:lnTo>
                    <a:pt x="254525" y="30874"/>
                  </a:lnTo>
                  <a:lnTo>
                    <a:pt x="289165" y="65514"/>
                  </a:lnTo>
                  <a:lnTo>
                    <a:pt x="311882" y="109441"/>
                  </a:lnTo>
                  <a:lnTo>
                    <a:pt x="320040" y="160020"/>
                  </a:lnTo>
                  <a:lnTo>
                    <a:pt x="311882" y="210598"/>
                  </a:lnTo>
                  <a:lnTo>
                    <a:pt x="289165" y="254525"/>
                  </a:lnTo>
                  <a:lnTo>
                    <a:pt x="254525" y="289165"/>
                  </a:lnTo>
                  <a:lnTo>
                    <a:pt x="210598" y="311882"/>
                  </a:lnTo>
                  <a:lnTo>
                    <a:pt x="160020" y="320040"/>
                  </a:lnTo>
                  <a:lnTo>
                    <a:pt x="109441" y="311882"/>
                  </a:lnTo>
                  <a:lnTo>
                    <a:pt x="65514" y="289165"/>
                  </a:lnTo>
                  <a:lnTo>
                    <a:pt x="30874" y="254525"/>
                  </a:lnTo>
                  <a:lnTo>
                    <a:pt x="8157" y="210598"/>
                  </a:lnTo>
                  <a:lnTo>
                    <a:pt x="0" y="160020"/>
                  </a:lnTo>
                  <a:close/>
                </a:path>
              </a:pathLst>
            </a:custGeom>
            <a:ln w="63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23"/>
          <p:cNvSpPr txBox="1"/>
          <p:nvPr/>
        </p:nvSpPr>
        <p:spPr>
          <a:xfrm>
            <a:off x="3838878" y="480554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</a:t>
            </a:r>
            <a:endParaRPr sz="18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9" name="object 24"/>
          <p:cNvSpPr txBox="1"/>
          <p:nvPr/>
        </p:nvSpPr>
        <p:spPr>
          <a:xfrm>
            <a:off x="8672699" y="5160837"/>
            <a:ext cx="14668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114" dirty="0">
                <a:latin typeface="Symbol"/>
                <a:cs typeface="Symbol"/>
              </a:rPr>
              <a:t>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0" name="object 25"/>
          <p:cNvSpPr txBox="1"/>
          <p:nvPr/>
        </p:nvSpPr>
        <p:spPr>
          <a:xfrm>
            <a:off x="8672699" y="5967523"/>
            <a:ext cx="14668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114" dirty="0">
                <a:latin typeface="Symbol"/>
                <a:cs typeface="Symbol"/>
              </a:rPr>
              <a:t>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3" name="object 26"/>
          <p:cNvSpPr txBox="1"/>
          <p:nvPr/>
        </p:nvSpPr>
        <p:spPr>
          <a:xfrm>
            <a:off x="6991309" y="5967523"/>
            <a:ext cx="14668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114" dirty="0">
                <a:latin typeface="Symbol"/>
                <a:cs typeface="Symbol"/>
              </a:rPr>
              <a:t>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4" name="object 27"/>
          <p:cNvSpPr txBox="1"/>
          <p:nvPr/>
        </p:nvSpPr>
        <p:spPr>
          <a:xfrm>
            <a:off x="8462412" y="5412848"/>
            <a:ext cx="38227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075" spc="405" baseline="-20000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050" spc="270" dirty="0">
                <a:latin typeface="Symbol"/>
                <a:cs typeface="Symbol"/>
              </a:rPr>
              <a:t>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5" name="object 28"/>
          <p:cNvSpPr txBox="1"/>
          <p:nvPr/>
        </p:nvSpPr>
        <p:spPr>
          <a:xfrm>
            <a:off x="6965909" y="5412848"/>
            <a:ext cx="38735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050" spc="165" dirty="0">
                <a:latin typeface="Symbol"/>
                <a:cs typeface="Symbol"/>
              </a:rPr>
              <a:t></a:t>
            </a:r>
            <a:r>
              <a:rPr sz="2050" spc="-2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075" spc="247" baseline="-20000" dirty="0">
                <a:latin typeface="Times New Roman" panose="02020503050405090304"/>
                <a:cs typeface="Times New Roman" panose="02020503050405090304"/>
              </a:rPr>
              <a:t>0</a:t>
            </a:r>
            <a:endParaRPr sz="3075" baseline="-200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6" name="object 29"/>
          <p:cNvSpPr txBox="1"/>
          <p:nvPr/>
        </p:nvSpPr>
        <p:spPr>
          <a:xfrm>
            <a:off x="6953209" y="4721204"/>
            <a:ext cx="1904364" cy="15246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1970"/>
              </a:lnSpc>
              <a:spcBef>
                <a:spcPts val="120"/>
              </a:spcBef>
              <a:tabLst>
                <a:tab pos="649605" algn="l"/>
                <a:tab pos="1100455" algn="l"/>
                <a:tab pos="1546860" algn="l"/>
              </a:tabLst>
            </a:pPr>
            <a:r>
              <a:rPr sz="3075" spc="247" baseline="-4000" dirty="0">
                <a:latin typeface="Symbol"/>
                <a:cs typeface="Symbol"/>
              </a:rPr>
              <a:t></a:t>
            </a:r>
            <a:r>
              <a:rPr sz="3075" spc="-397" baseline="-40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0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0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270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3075" spc="405" baseline="-4000" dirty="0">
                <a:latin typeface="Symbol"/>
                <a:cs typeface="Symbol"/>
              </a:rPr>
              <a:t></a:t>
            </a:r>
            <a:endParaRPr sz="3075" baseline="-4000">
              <a:latin typeface="Symbol"/>
              <a:cs typeface="Symbol"/>
            </a:endParaRPr>
          </a:p>
          <a:p>
            <a:pPr marL="50800">
              <a:lnSpc>
                <a:spcPts val="1555"/>
              </a:lnSpc>
              <a:tabLst>
                <a:tab pos="1731645" algn="l"/>
              </a:tabLst>
            </a:pPr>
            <a:r>
              <a:rPr sz="2050" spc="114" dirty="0">
                <a:latin typeface="Symbol"/>
                <a:cs typeface="Symbol"/>
              </a:rPr>
              <a:t>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14" dirty="0">
                <a:latin typeface="Symbol"/>
                <a:cs typeface="Symbol"/>
              </a:rPr>
              <a:t></a:t>
            </a:r>
            <a:endParaRPr sz="2050">
              <a:latin typeface="Symbol"/>
              <a:cs typeface="Symbol"/>
            </a:endParaRPr>
          </a:p>
          <a:p>
            <a:pPr marL="200660">
              <a:lnSpc>
                <a:spcPts val="2045"/>
              </a:lnSpc>
              <a:tabLst>
                <a:tab pos="652145" algn="l"/>
                <a:tab pos="1100455" algn="l"/>
                <a:tab pos="1546860" algn="l"/>
              </a:tabLst>
            </a:pP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0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55" dirty="0">
                <a:latin typeface="Times New Roman" panose="02020503050405090304"/>
                <a:cs typeface="Times New Roman" panose="02020503050405090304"/>
              </a:rPr>
              <a:t>0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1</a:t>
            </a:r>
            <a:endParaRPr sz="2050">
              <a:latin typeface="Times New Roman" panose="02020503050405090304"/>
              <a:cs typeface="Times New Roman" panose="02020503050405090304"/>
            </a:endParaRPr>
          </a:p>
          <a:p>
            <a:pPr marL="50800">
              <a:lnSpc>
                <a:spcPct val="100000"/>
              </a:lnSpc>
              <a:spcBef>
                <a:spcPts val="645"/>
              </a:spcBef>
              <a:tabLst>
                <a:tab pos="652145" algn="l"/>
                <a:tab pos="1100455" algn="l"/>
                <a:tab pos="1731645" algn="l"/>
              </a:tabLst>
            </a:pPr>
            <a:r>
              <a:rPr sz="3075" spc="172" baseline="-33000" dirty="0">
                <a:latin typeface="Symbol"/>
                <a:cs typeface="Symbol"/>
              </a:rPr>
              <a:t></a:t>
            </a:r>
            <a:r>
              <a:rPr sz="3075" baseline="-3300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0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0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3075" spc="172" baseline="-33000" dirty="0">
                <a:latin typeface="Symbol"/>
                <a:cs typeface="Symbol"/>
              </a:rPr>
              <a:t></a:t>
            </a:r>
            <a:endParaRPr sz="3075" baseline="-33000">
              <a:latin typeface="Symbol"/>
              <a:cs typeface="Symbol"/>
            </a:endParaRPr>
          </a:p>
          <a:p>
            <a:pPr marL="200660">
              <a:lnSpc>
                <a:spcPct val="100000"/>
              </a:lnSpc>
              <a:spcBef>
                <a:spcPts val="645"/>
              </a:spcBef>
              <a:tabLst>
                <a:tab pos="649605" algn="l"/>
                <a:tab pos="1097915" algn="l"/>
                <a:tab pos="1549400" algn="l"/>
              </a:tabLst>
            </a:pP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1</a:t>
            </a:r>
            <a:r>
              <a:rPr sz="20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2050" spc="165" dirty="0">
                <a:latin typeface="Times New Roman" panose="02020503050405090304"/>
                <a:cs typeface="Times New Roman" panose="02020503050405090304"/>
              </a:rPr>
              <a:t>0</a:t>
            </a:r>
            <a:endParaRPr sz="20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7" name="object 30"/>
          <p:cNvSpPr txBox="1"/>
          <p:nvPr/>
        </p:nvSpPr>
        <p:spPr>
          <a:xfrm>
            <a:off x="6472831" y="5308754"/>
            <a:ext cx="69088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050" i="1" spc="26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2050" i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2050" spc="235" dirty="0">
                <a:latin typeface="Symbol"/>
                <a:cs typeface="Symbol"/>
              </a:rPr>
              <a:t></a:t>
            </a:r>
            <a:r>
              <a:rPr sz="205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3075" spc="172" baseline="31000" dirty="0">
                <a:latin typeface="Symbol"/>
                <a:cs typeface="Symbol"/>
              </a:rPr>
              <a:t></a:t>
            </a:r>
            <a:endParaRPr sz="3075" baseline="31000">
              <a:latin typeface="Symbol"/>
              <a:cs typeface="Symbol"/>
            </a:endParaRPr>
          </a:p>
        </p:txBody>
      </p:sp>
      <p:sp>
        <p:nvSpPr>
          <p:cNvPr id="48" name="object 31"/>
          <p:cNvSpPr txBox="1"/>
          <p:nvPr/>
        </p:nvSpPr>
        <p:spPr>
          <a:xfrm>
            <a:off x="3106864" y="5417178"/>
            <a:ext cx="23469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mbria Math"/>
                <a:cs typeface="Cambria Math"/>
              </a:rPr>
              <a:t>V</a:t>
            </a:r>
            <a:r>
              <a:rPr sz="3200" dirty="0">
                <a:latin typeface="Arial MT"/>
                <a:cs typeface="Arial MT"/>
              </a:rPr>
              <a:t>: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{1,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2,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3,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4}</a:t>
            </a:r>
            <a:endParaRPr sz="320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33"/>
              <p:cNvSpPr txBox="1"/>
              <p:nvPr/>
            </p:nvSpPr>
            <p:spPr>
              <a:xfrm>
                <a:off x="830048" y="828293"/>
                <a:ext cx="11105278" cy="324781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假设</a:t>
                </a:r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：假设我们有一个（无向）图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SG" sz="28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：</a:t>
                </a:r>
                <a:endParaRPr lang="en-SG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是节点集合</a:t>
                </a:r>
                <a:endParaRPr lang="en-SG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是链接矩阵（假设为二值矩阵）</a:t>
                </a:r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为简化起见：不使用节点特征或其他附加信息</a:t>
                </a:r>
                <a:endParaRPr lang="en-US" altLang="zh-CN" sz="2800" b="1" i="1" dirty="0">
                  <a:solidFill>
                    <a:srgbClr val="0070C0"/>
                  </a:solidFill>
                  <a:latin typeface="Times New Roman" panose="02020503050405090304" charset="0"/>
                  <a:ea typeface="黑体" panose="02010609060101010101" charset="-122"/>
                  <a:cs typeface="Times New Roman" panose="02020503050405090304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49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105278" cy="3247812"/>
              </a:xfrm>
              <a:prstGeom prst="rect">
                <a:avLst/>
              </a:prstGeom>
              <a:blipFill rotWithShape="1">
                <a:blip r:embed="rId5"/>
                <a:stretch>
                  <a:fillRect l="-1" t="-8" r="5" b="-1002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节点嵌入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/>
          <p:cNvSpPr txBox="1"/>
          <p:nvPr/>
        </p:nvSpPr>
        <p:spPr>
          <a:xfrm>
            <a:off x="830048" y="828293"/>
            <a:ext cx="11105278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：目标是对节点进行编码，使得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嵌入空间中的相似性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（例如点积）能够近似反映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图中的相似性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rcRect b="12694"/>
          <a:stretch>
            <a:fillRect/>
          </a:stretch>
        </p:blipFill>
        <p:spPr>
          <a:xfrm>
            <a:off x="1887310" y="2452200"/>
            <a:ext cx="8990754" cy="3395148"/>
          </a:xfrm>
          <a:prstGeom prst="rect">
            <a:avLst/>
          </a:prstGeom>
        </p:spPr>
      </p:pic>
      <p:sp>
        <p:nvSpPr>
          <p:cNvPr id="5" name="object 10"/>
          <p:cNvSpPr txBox="1"/>
          <p:nvPr/>
        </p:nvSpPr>
        <p:spPr>
          <a:xfrm>
            <a:off x="2923723" y="5847347"/>
            <a:ext cx="11309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图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6" name="object 10"/>
          <p:cNvSpPr txBox="1"/>
          <p:nvPr/>
        </p:nvSpPr>
        <p:spPr>
          <a:xfrm>
            <a:off x="8102960" y="5847347"/>
            <a:ext cx="22017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嵌入空间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节点嵌入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758825"/>
            <a:ext cx="10775950" cy="60991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节点嵌入的学习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/>
          <p:cNvSpPr txBox="1"/>
          <p:nvPr/>
        </p:nvSpPr>
        <p:spPr>
          <a:xfrm>
            <a:off x="830048" y="828293"/>
            <a:ext cx="11105278" cy="324781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编码器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Encoder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将节点映射到嵌入表示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定义一个节点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相似性函数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（即，度量图中的相似性）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解码器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Decoder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从嵌入中恢复相似性得分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优化编码器的参数，使得：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object 10"/>
          <p:cNvSpPr txBox="1"/>
          <p:nvPr/>
        </p:nvSpPr>
        <p:spPr>
          <a:xfrm>
            <a:off x="2786612" y="4934378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图上相似度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12" name="object 10"/>
          <p:cNvSpPr txBox="1"/>
          <p:nvPr/>
        </p:nvSpPr>
        <p:spPr>
          <a:xfrm>
            <a:off x="7609908" y="4934378"/>
            <a:ext cx="3022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嵌入空间相似度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33"/>
              <p:cNvSpPr txBox="1"/>
              <p:nvPr/>
            </p:nvSpPr>
            <p:spPr>
              <a:xfrm>
                <a:off x="350439" y="1483659"/>
                <a:ext cx="11105278" cy="7630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13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9" y="1483659"/>
                <a:ext cx="11105278" cy="763029"/>
              </a:xfrm>
              <a:prstGeom prst="rect">
                <a:avLst/>
              </a:prstGeom>
              <a:blipFill rotWithShape="1">
                <a:blip r:embed="rId1"/>
                <a:stretch>
                  <a:fillRect l="-5" t="-39" r="3" b="-415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33"/>
              <p:cNvSpPr txBox="1"/>
              <p:nvPr/>
            </p:nvSpPr>
            <p:spPr>
              <a:xfrm>
                <a:off x="543361" y="4260760"/>
                <a:ext cx="11105278" cy="75020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0" smtClean="0">
                          <a:latin typeface="Cambria Math" panose="02040503050406030204" pitchFamily="18" charset="0"/>
                        </a:rPr>
                        <m:t>𝐬𝐢𝐦𝐢𝐥𝐚𝐫𝐢𝐭𝐲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zh-CN" altLang="en-US" sz="2800" b="1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DEC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16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1" y="4260760"/>
                <a:ext cx="11105278" cy="750205"/>
              </a:xfrm>
              <a:prstGeom prst="rect">
                <a:avLst/>
              </a:prstGeom>
              <a:blipFill rotWithShape="1">
                <a:blip r:embed="rId2"/>
                <a:stretch>
                  <a:fillRect l="-4" t="-73" r="2" b="-590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“浅层”编码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/>
          <p:cNvSpPr txBox="1"/>
          <p:nvPr/>
        </p:nvSpPr>
        <p:spPr>
          <a:xfrm>
            <a:off x="830048" y="828293"/>
            <a:ext cx="11105278" cy="260148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最简单的编码方法：编码器仅是一个嵌入查找表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33"/>
              <p:cNvSpPr txBox="1"/>
              <p:nvPr/>
            </p:nvSpPr>
            <p:spPr>
              <a:xfrm>
                <a:off x="350439" y="1483659"/>
                <a:ext cx="11105278" cy="73866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ENC</m:t>
                      </m:r>
                      <m:d>
                        <m:d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d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𝒗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3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39" y="1483659"/>
                <a:ext cx="11105278" cy="738664"/>
              </a:xfrm>
              <a:prstGeom prst="rect">
                <a:avLst/>
              </a:prstGeom>
              <a:blipFill rotWithShape="1">
                <a:blip r:embed="rId1"/>
                <a:stretch>
                  <a:fillRect l="-5" t="-40" r="3" b="-758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33"/>
              <p:cNvSpPr txBox="1"/>
              <p:nvPr/>
            </p:nvSpPr>
            <p:spPr>
              <a:xfrm>
                <a:off x="543361" y="2897468"/>
                <a:ext cx="4967102" cy="7630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𝒁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×|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6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61" y="2897468"/>
                <a:ext cx="4967102" cy="763029"/>
              </a:xfrm>
              <a:prstGeom prst="rect">
                <a:avLst/>
              </a:prstGeom>
              <a:blipFill rotWithShape="1">
                <a:blip r:embed="rId2"/>
                <a:stretch>
                  <a:fillRect l="-9" t="-78" r="11" b="-411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33"/>
              <p:cNvSpPr txBox="1"/>
              <p:nvPr/>
            </p:nvSpPr>
            <p:spPr>
              <a:xfrm>
                <a:off x="561891" y="4958141"/>
                <a:ext cx="4967102" cy="7630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7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91" y="4958141"/>
                <a:ext cx="4967102" cy="763029"/>
              </a:xfrm>
              <a:prstGeom prst="rect">
                <a:avLst/>
              </a:prstGeom>
              <a:blipFill rotWithShape="1">
                <a:blip r:embed="rId3"/>
                <a:stretch>
                  <a:fillRect l="-11" t="-8" r="1" b="-418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33"/>
          <p:cNvSpPr txBox="1"/>
          <p:nvPr/>
        </p:nvSpPr>
        <p:spPr>
          <a:xfrm>
            <a:off x="4150764" y="2624572"/>
            <a:ext cx="6388899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矩阵：每一列是一个节点的嵌入表示（即我们要学习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/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优化的内容）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33"/>
              <p:cNvSpPr txBox="1"/>
              <p:nvPr/>
            </p:nvSpPr>
            <p:spPr>
              <a:xfrm>
                <a:off x="4150763" y="4685246"/>
                <a:ext cx="6388899" cy="13088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>
                  <a:buNone/>
                </a:pPr>
                <a:r>
                  <a:rPr lang="zh-CN" altLang="en-US" sz="2800" b="1" dirty="0">
                    <a:solidFill>
                      <a:srgbClr val="0432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指示向量：除了表示节点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800" b="1" dirty="0">
                    <a:solidFill>
                      <a:srgbClr val="0432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的那一列为 </a:t>
                </a:r>
                <a:r>
                  <a:rPr lang="en-US" altLang="zh-CN" sz="2800" b="1" dirty="0">
                    <a:solidFill>
                      <a:srgbClr val="0432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1 </a:t>
                </a:r>
                <a:r>
                  <a:rPr lang="zh-CN" altLang="en-US" sz="2800" b="1" dirty="0">
                    <a:solidFill>
                      <a:srgbClr val="0432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外，其余全为 </a:t>
                </a:r>
                <a:r>
                  <a:rPr lang="en-US" altLang="zh-CN" sz="2800" b="1" dirty="0">
                    <a:solidFill>
                      <a:srgbClr val="0432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0</a:t>
                </a:r>
                <a:r>
                  <a:rPr lang="zh-CN" altLang="en-US" sz="2800" b="1" dirty="0">
                    <a:solidFill>
                      <a:srgbClr val="0432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。</a:t>
                </a:r>
                <a:endParaRPr lang="en-SG" altLang="zh-CN" sz="2800" b="1" dirty="0">
                  <a:solidFill>
                    <a:srgbClr val="0432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9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763" y="4685246"/>
                <a:ext cx="6388899" cy="1308820"/>
              </a:xfrm>
              <a:prstGeom prst="rect">
                <a:avLst/>
              </a:prstGeom>
              <a:blipFill rotWithShape="1">
                <a:blip r:embed="rId4"/>
                <a:stretch>
                  <a:fillRect l="-6" t="-17" r="9" b="-963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“浅层”编码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/>
          <p:cNvSpPr txBox="1"/>
          <p:nvPr/>
        </p:nvSpPr>
        <p:spPr>
          <a:xfrm>
            <a:off x="830048" y="828293"/>
            <a:ext cx="1110527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最简单的编码方法：编码器仅是一个嵌入查找表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" name="文本框 33"/>
          <p:cNvSpPr txBox="1"/>
          <p:nvPr/>
        </p:nvSpPr>
        <p:spPr>
          <a:xfrm>
            <a:off x="2312616" y="4342520"/>
            <a:ext cx="1839308" cy="58105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嵌入矩阵</a:t>
            </a:r>
            <a:endParaRPr lang="en-SG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2" name="object 4"/>
          <p:cNvGrpSpPr/>
          <p:nvPr/>
        </p:nvGrpSpPr>
        <p:grpSpPr>
          <a:xfrm>
            <a:off x="4288167" y="3055903"/>
            <a:ext cx="4266565" cy="2095500"/>
            <a:chOff x="2146546" y="3368724"/>
            <a:chExt cx="4266565" cy="2095500"/>
          </a:xfrm>
        </p:grpSpPr>
        <p:sp>
          <p:nvSpPr>
            <p:cNvPr id="4" name="object 5"/>
            <p:cNvSpPr/>
            <p:nvPr/>
          </p:nvSpPr>
          <p:spPr>
            <a:xfrm>
              <a:off x="2146546" y="3368724"/>
              <a:ext cx="4266565" cy="2095500"/>
            </a:xfrm>
            <a:custGeom>
              <a:avLst/>
              <a:gdLst/>
              <a:ahLst/>
              <a:cxnLst/>
              <a:rect l="l" t="t" r="r" b="b"/>
              <a:pathLst>
                <a:path w="4266565" h="2095500">
                  <a:moveTo>
                    <a:pt x="4241939" y="0"/>
                  </a:moveTo>
                  <a:lnTo>
                    <a:pt x="23999" y="0"/>
                  </a:lnTo>
                  <a:lnTo>
                    <a:pt x="14657" y="1886"/>
                  </a:lnTo>
                  <a:lnTo>
                    <a:pt x="7028" y="7029"/>
                  </a:lnTo>
                  <a:lnTo>
                    <a:pt x="1885" y="14658"/>
                  </a:lnTo>
                  <a:lnTo>
                    <a:pt x="0" y="24000"/>
                  </a:lnTo>
                  <a:lnTo>
                    <a:pt x="0" y="2070877"/>
                  </a:lnTo>
                  <a:lnTo>
                    <a:pt x="1885" y="2080219"/>
                  </a:lnTo>
                  <a:lnTo>
                    <a:pt x="7028" y="2087848"/>
                  </a:lnTo>
                  <a:lnTo>
                    <a:pt x="14657" y="2092991"/>
                  </a:lnTo>
                  <a:lnTo>
                    <a:pt x="23999" y="2094877"/>
                  </a:lnTo>
                  <a:lnTo>
                    <a:pt x="4241939" y="2094877"/>
                  </a:lnTo>
                  <a:lnTo>
                    <a:pt x="4251281" y="2092991"/>
                  </a:lnTo>
                  <a:lnTo>
                    <a:pt x="4258909" y="2087848"/>
                  </a:lnTo>
                  <a:lnTo>
                    <a:pt x="4264052" y="2080219"/>
                  </a:lnTo>
                  <a:lnTo>
                    <a:pt x="4265938" y="2070877"/>
                  </a:lnTo>
                  <a:lnTo>
                    <a:pt x="4265938" y="2066077"/>
                  </a:lnTo>
                  <a:lnTo>
                    <a:pt x="28799" y="2066077"/>
                  </a:lnTo>
                  <a:lnTo>
                    <a:pt x="28799" y="28799"/>
                  </a:lnTo>
                  <a:lnTo>
                    <a:pt x="4265938" y="28799"/>
                  </a:lnTo>
                  <a:lnTo>
                    <a:pt x="4265938" y="24000"/>
                  </a:lnTo>
                  <a:lnTo>
                    <a:pt x="4264052" y="14658"/>
                  </a:lnTo>
                  <a:lnTo>
                    <a:pt x="4258909" y="7029"/>
                  </a:lnTo>
                  <a:lnTo>
                    <a:pt x="4251281" y="1886"/>
                  </a:lnTo>
                  <a:lnTo>
                    <a:pt x="4241939" y="0"/>
                  </a:lnTo>
                  <a:close/>
                </a:path>
                <a:path w="4266565" h="2095500">
                  <a:moveTo>
                    <a:pt x="4265938" y="28799"/>
                  </a:moveTo>
                  <a:lnTo>
                    <a:pt x="4237139" y="28799"/>
                  </a:lnTo>
                  <a:lnTo>
                    <a:pt x="4237139" y="2066077"/>
                  </a:lnTo>
                  <a:lnTo>
                    <a:pt x="4265938" y="2066077"/>
                  </a:lnTo>
                  <a:lnTo>
                    <a:pt x="4265938" y="28799"/>
                  </a:lnTo>
                  <a:close/>
                </a:path>
                <a:path w="4266565" h="2095500">
                  <a:moveTo>
                    <a:pt x="4227539" y="38400"/>
                  </a:moveTo>
                  <a:lnTo>
                    <a:pt x="38399" y="38400"/>
                  </a:lnTo>
                  <a:lnTo>
                    <a:pt x="38399" y="2056477"/>
                  </a:lnTo>
                  <a:lnTo>
                    <a:pt x="4227539" y="2056477"/>
                  </a:lnTo>
                  <a:lnTo>
                    <a:pt x="4227539" y="2046876"/>
                  </a:lnTo>
                  <a:lnTo>
                    <a:pt x="47999" y="2046876"/>
                  </a:lnTo>
                  <a:lnTo>
                    <a:pt x="47999" y="48000"/>
                  </a:lnTo>
                  <a:lnTo>
                    <a:pt x="4227539" y="48000"/>
                  </a:lnTo>
                  <a:lnTo>
                    <a:pt x="4227539" y="38400"/>
                  </a:lnTo>
                  <a:close/>
                </a:path>
                <a:path w="4266565" h="2095500">
                  <a:moveTo>
                    <a:pt x="4227539" y="48000"/>
                  </a:moveTo>
                  <a:lnTo>
                    <a:pt x="4217939" y="48000"/>
                  </a:lnTo>
                  <a:lnTo>
                    <a:pt x="4217939" y="2046876"/>
                  </a:lnTo>
                  <a:lnTo>
                    <a:pt x="4227539" y="2046876"/>
                  </a:lnTo>
                  <a:lnTo>
                    <a:pt x="4227539" y="48000"/>
                  </a:lnTo>
                  <a:close/>
                </a:path>
              </a:pathLst>
            </a:custGeom>
            <a:solidFill>
              <a:srgbClr val="B07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6"/>
            <p:cNvSpPr/>
            <p:nvPr/>
          </p:nvSpPr>
          <p:spPr>
            <a:xfrm>
              <a:off x="3238407" y="3384636"/>
              <a:ext cx="267970" cy="2078989"/>
            </a:xfrm>
            <a:custGeom>
              <a:avLst/>
              <a:gdLst/>
              <a:ahLst/>
              <a:cxnLst/>
              <a:rect l="l" t="t" r="r" b="b"/>
              <a:pathLst>
                <a:path w="267970" h="2078989">
                  <a:moveTo>
                    <a:pt x="28799" y="2017908"/>
                  </a:moveTo>
                  <a:lnTo>
                    <a:pt x="120" y="2020796"/>
                  </a:lnTo>
                  <a:lnTo>
                    <a:pt x="1024" y="2029766"/>
                  </a:lnTo>
                  <a:lnTo>
                    <a:pt x="1225" y="2030752"/>
                  </a:lnTo>
                  <a:lnTo>
                    <a:pt x="11766" y="2054153"/>
                  </a:lnTo>
                  <a:lnTo>
                    <a:pt x="34243" y="2036142"/>
                  </a:lnTo>
                  <a:lnTo>
                    <a:pt x="31318" y="2030752"/>
                  </a:lnTo>
                  <a:lnTo>
                    <a:pt x="29470" y="2024799"/>
                  </a:lnTo>
                  <a:lnTo>
                    <a:pt x="28824" y="2018389"/>
                  </a:lnTo>
                  <a:lnTo>
                    <a:pt x="28799" y="2017908"/>
                  </a:lnTo>
                  <a:close/>
                </a:path>
                <a:path w="267970" h="2078989">
                  <a:moveTo>
                    <a:pt x="28799" y="1970389"/>
                  </a:moveTo>
                  <a:lnTo>
                    <a:pt x="0" y="1970389"/>
                  </a:lnTo>
                  <a:lnTo>
                    <a:pt x="0" y="2018389"/>
                  </a:lnTo>
                  <a:lnTo>
                    <a:pt x="23999" y="2018389"/>
                  </a:lnTo>
                  <a:lnTo>
                    <a:pt x="28775" y="2017908"/>
                  </a:lnTo>
                  <a:lnTo>
                    <a:pt x="28799" y="1970389"/>
                  </a:lnTo>
                  <a:close/>
                </a:path>
                <a:path w="267970" h="2078989">
                  <a:moveTo>
                    <a:pt x="47878" y="2015981"/>
                  </a:moveTo>
                  <a:lnTo>
                    <a:pt x="38399" y="2016945"/>
                  </a:lnTo>
                  <a:lnTo>
                    <a:pt x="38472" y="2018389"/>
                  </a:lnTo>
                  <a:lnTo>
                    <a:pt x="38924" y="2022875"/>
                  </a:lnTo>
                  <a:lnTo>
                    <a:pt x="40206" y="2027003"/>
                  </a:lnTo>
                  <a:lnTo>
                    <a:pt x="42237" y="2030746"/>
                  </a:lnTo>
                  <a:lnTo>
                    <a:pt x="50232" y="2025350"/>
                  </a:lnTo>
                  <a:lnTo>
                    <a:pt x="49094" y="2023254"/>
                  </a:lnTo>
                  <a:lnTo>
                    <a:pt x="48379" y="2020951"/>
                  </a:lnTo>
                  <a:lnTo>
                    <a:pt x="48121" y="2018389"/>
                  </a:lnTo>
                  <a:lnTo>
                    <a:pt x="47999" y="2016945"/>
                  </a:lnTo>
                  <a:lnTo>
                    <a:pt x="47878" y="2015981"/>
                  </a:lnTo>
                  <a:close/>
                </a:path>
                <a:path w="267970" h="2078989">
                  <a:moveTo>
                    <a:pt x="47999" y="1970389"/>
                  </a:moveTo>
                  <a:lnTo>
                    <a:pt x="38399" y="1970389"/>
                  </a:lnTo>
                  <a:lnTo>
                    <a:pt x="38399" y="2016945"/>
                  </a:lnTo>
                  <a:lnTo>
                    <a:pt x="47878" y="2015981"/>
                  </a:lnTo>
                  <a:lnTo>
                    <a:pt x="47999" y="1970389"/>
                  </a:lnTo>
                  <a:close/>
                </a:path>
                <a:path w="267970" h="2078989">
                  <a:moveTo>
                    <a:pt x="28799" y="1874389"/>
                  </a:moveTo>
                  <a:lnTo>
                    <a:pt x="0" y="1874389"/>
                  </a:lnTo>
                  <a:lnTo>
                    <a:pt x="0" y="1922388"/>
                  </a:lnTo>
                  <a:lnTo>
                    <a:pt x="28799" y="1922388"/>
                  </a:lnTo>
                  <a:lnTo>
                    <a:pt x="28799" y="1874389"/>
                  </a:lnTo>
                  <a:close/>
                </a:path>
                <a:path w="267970" h="2078989">
                  <a:moveTo>
                    <a:pt x="47999" y="1874389"/>
                  </a:moveTo>
                  <a:lnTo>
                    <a:pt x="38399" y="1874389"/>
                  </a:lnTo>
                  <a:lnTo>
                    <a:pt x="38399" y="1922388"/>
                  </a:lnTo>
                  <a:lnTo>
                    <a:pt x="47999" y="1922388"/>
                  </a:lnTo>
                  <a:lnTo>
                    <a:pt x="47999" y="1874389"/>
                  </a:lnTo>
                  <a:close/>
                </a:path>
                <a:path w="267970" h="2078989">
                  <a:moveTo>
                    <a:pt x="28799" y="1778389"/>
                  </a:moveTo>
                  <a:lnTo>
                    <a:pt x="0" y="1778389"/>
                  </a:lnTo>
                  <a:lnTo>
                    <a:pt x="0" y="1826389"/>
                  </a:lnTo>
                  <a:lnTo>
                    <a:pt x="28799" y="1826389"/>
                  </a:lnTo>
                  <a:lnTo>
                    <a:pt x="28799" y="1778389"/>
                  </a:lnTo>
                  <a:close/>
                </a:path>
                <a:path w="267970" h="2078989">
                  <a:moveTo>
                    <a:pt x="47999" y="1778389"/>
                  </a:moveTo>
                  <a:lnTo>
                    <a:pt x="38399" y="1778389"/>
                  </a:lnTo>
                  <a:lnTo>
                    <a:pt x="38399" y="1826389"/>
                  </a:lnTo>
                  <a:lnTo>
                    <a:pt x="47999" y="1826389"/>
                  </a:lnTo>
                  <a:lnTo>
                    <a:pt x="47999" y="1778389"/>
                  </a:lnTo>
                  <a:close/>
                </a:path>
                <a:path w="267970" h="2078989">
                  <a:moveTo>
                    <a:pt x="28799" y="1682389"/>
                  </a:moveTo>
                  <a:lnTo>
                    <a:pt x="0" y="1682389"/>
                  </a:lnTo>
                  <a:lnTo>
                    <a:pt x="0" y="1730388"/>
                  </a:lnTo>
                  <a:lnTo>
                    <a:pt x="28799" y="1730388"/>
                  </a:lnTo>
                  <a:lnTo>
                    <a:pt x="28799" y="1682389"/>
                  </a:lnTo>
                  <a:close/>
                </a:path>
                <a:path w="267970" h="2078989">
                  <a:moveTo>
                    <a:pt x="47999" y="1682389"/>
                  </a:moveTo>
                  <a:lnTo>
                    <a:pt x="38399" y="1682389"/>
                  </a:lnTo>
                  <a:lnTo>
                    <a:pt x="38399" y="1730388"/>
                  </a:lnTo>
                  <a:lnTo>
                    <a:pt x="47999" y="1730388"/>
                  </a:lnTo>
                  <a:lnTo>
                    <a:pt x="47999" y="1682389"/>
                  </a:lnTo>
                  <a:close/>
                </a:path>
                <a:path w="267970" h="2078989">
                  <a:moveTo>
                    <a:pt x="28799" y="1586388"/>
                  </a:moveTo>
                  <a:lnTo>
                    <a:pt x="0" y="1586388"/>
                  </a:lnTo>
                  <a:lnTo>
                    <a:pt x="0" y="1634389"/>
                  </a:lnTo>
                  <a:lnTo>
                    <a:pt x="28799" y="1634389"/>
                  </a:lnTo>
                  <a:lnTo>
                    <a:pt x="28799" y="1586388"/>
                  </a:lnTo>
                  <a:close/>
                </a:path>
                <a:path w="267970" h="2078989">
                  <a:moveTo>
                    <a:pt x="47999" y="1586388"/>
                  </a:moveTo>
                  <a:lnTo>
                    <a:pt x="38399" y="1586388"/>
                  </a:lnTo>
                  <a:lnTo>
                    <a:pt x="38399" y="1634389"/>
                  </a:lnTo>
                  <a:lnTo>
                    <a:pt x="47999" y="1634389"/>
                  </a:lnTo>
                  <a:lnTo>
                    <a:pt x="47999" y="1586388"/>
                  </a:lnTo>
                  <a:close/>
                </a:path>
                <a:path w="267970" h="2078989">
                  <a:moveTo>
                    <a:pt x="28799" y="1490389"/>
                  </a:moveTo>
                  <a:lnTo>
                    <a:pt x="0" y="1490389"/>
                  </a:lnTo>
                  <a:lnTo>
                    <a:pt x="0" y="1538389"/>
                  </a:lnTo>
                  <a:lnTo>
                    <a:pt x="28799" y="1538389"/>
                  </a:lnTo>
                  <a:lnTo>
                    <a:pt x="28799" y="1490389"/>
                  </a:lnTo>
                  <a:close/>
                </a:path>
                <a:path w="267970" h="2078989">
                  <a:moveTo>
                    <a:pt x="47999" y="1490389"/>
                  </a:moveTo>
                  <a:lnTo>
                    <a:pt x="38399" y="1490389"/>
                  </a:lnTo>
                  <a:lnTo>
                    <a:pt x="38399" y="1538389"/>
                  </a:lnTo>
                  <a:lnTo>
                    <a:pt x="47999" y="1538389"/>
                  </a:lnTo>
                  <a:lnTo>
                    <a:pt x="47999" y="1490389"/>
                  </a:lnTo>
                  <a:close/>
                </a:path>
                <a:path w="267970" h="2078989">
                  <a:moveTo>
                    <a:pt x="28799" y="1394388"/>
                  </a:moveTo>
                  <a:lnTo>
                    <a:pt x="0" y="1394388"/>
                  </a:lnTo>
                  <a:lnTo>
                    <a:pt x="0" y="1442389"/>
                  </a:lnTo>
                  <a:lnTo>
                    <a:pt x="28799" y="1442389"/>
                  </a:lnTo>
                  <a:lnTo>
                    <a:pt x="28799" y="1394388"/>
                  </a:lnTo>
                  <a:close/>
                </a:path>
                <a:path w="267970" h="2078989">
                  <a:moveTo>
                    <a:pt x="47999" y="1394388"/>
                  </a:moveTo>
                  <a:lnTo>
                    <a:pt x="38399" y="1394388"/>
                  </a:lnTo>
                  <a:lnTo>
                    <a:pt x="38399" y="1442389"/>
                  </a:lnTo>
                  <a:lnTo>
                    <a:pt x="47999" y="1442389"/>
                  </a:lnTo>
                  <a:lnTo>
                    <a:pt x="47999" y="1394388"/>
                  </a:lnTo>
                  <a:close/>
                </a:path>
                <a:path w="267970" h="2078989">
                  <a:moveTo>
                    <a:pt x="28799" y="1298389"/>
                  </a:moveTo>
                  <a:lnTo>
                    <a:pt x="0" y="1298389"/>
                  </a:lnTo>
                  <a:lnTo>
                    <a:pt x="0" y="1346389"/>
                  </a:lnTo>
                  <a:lnTo>
                    <a:pt x="28799" y="1346389"/>
                  </a:lnTo>
                  <a:lnTo>
                    <a:pt x="28799" y="1298389"/>
                  </a:lnTo>
                  <a:close/>
                </a:path>
                <a:path w="267970" h="2078989">
                  <a:moveTo>
                    <a:pt x="47999" y="1298389"/>
                  </a:moveTo>
                  <a:lnTo>
                    <a:pt x="38399" y="1298389"/>
                  </a:lnTo>
                  <a:lnTo>
                    <a:pt x="38399" y="1346389"/>
                  </a:lnTo>
                  <a:lnTo>
                    <a:pt x="47999" y="1346389"/>
                  </a:lnTo>
                  <a:lnTo>
                    <a:pt x="47999" y="1298389"/>
                  </a:lnTo>
                  <a:close/>
                </a:path>
                <a:path w="267970" h="2078989">
                  <a:moveTo>
                    <a:pt x="28799" y="1202389"/>
                  </a:moveTo>
                  <a:lnTo>
                    <a:pt x="0" y="1202389"/>
                  </a:lnTo>
                  <a:lnTo>
                    <a:pt x="0" y="1250389"/>
                  </a:lnTo>
                  <a:lnTo>
                    <a:pt x="28799" y="1250389"/>
                  </a:lnTo>
                  <a:lnTo>
                    <a:pt x="28799" y="1202389"/>
                  </a:lnTo>
                  <a:close/>
                </a:path>
                <a:path w="267970" h="2078989">
                  <a:moveTo>
                    <a:pt x="47999" y="1202389"/>
                  </a:moveTo>
                  <a:lnTo>
                    <a:pt x="38399" y="1202389"/>
                  </a:lnTo>
                  <a:lnTo>
                    <a:pt x="38399" y="1250389"/>
                  </a:lnTo>
                  <a:lnTo>
                    <a:pt x="47999" y="1250389"/>
                  </a:lnTo>
                  <a:lnTo>
                    <a:pt x="47999" y="1202389"/>
                  </a:lnTo>
                  <a:close/>
                </a:path>
                <a:path w="267970" h="2078989">
                  <a:moveTo>
                    <a:pt x="28799" y="1106389"/>
                  </a:moveTo>
                  <a:lnTo>
                    <a:pt x="0" y="1106389"/>
                  </a:lnTo>
                  <a:lnTo>
                    <a:pt x="0" y="1154389"/>
                  </a:lnTo>
                  <a:lnTo>
                    <a:pt x="28799" y="1154389"/>
                  </a:lnTo>
                  <a:lnTo>
                    <a:pt x="28799" y="1106389"/>
                  </a:lnTo>
                  <a:close/>
                </a:path>
                <a:path w="267970" h="2078989">
                  <a:moveTo>
                    <a:pt x="47999" y="1106389"/>
                  </a:moveTo>
                  <a:lnTo>
                    <a:pt x="38399" y="1106389"/>
                  </a:lnTo>
                  <a:lnTo>
                    <a:pt x="38399" y="1154389"/>
                  </a:lnTo>
                  <a:lnTo>
                    <a:pt x="47999" y="1154389"/>
                  </a:lnTo>
                  <a:lnTo>
                    <a:pt x="47999" y="1106389"/>
                  </a:lnTo>
                  <a:close/>
                </a:path>
                <a:path w="267970" h="2078989">
                  <a:moveTo>
                    <a:pt x="28799" y="1010389"/>
                  </a:moveTo>
                  <a:lnTo>
                    <a:pt x="0" y="1010389"/>
                  </a:lnTo>
                  <a:lnTo>
                    <a:pt x="0" y="1058388"/>
                  </a:lnTo>
                  <a:lnTo>
                    <a:pt x="28799" y="1058388"/>
                  </a:lnTo>
                  <a:lnTo>
                    <a:pt x="28799" y="1010389"/>
                  </a:lnTo>
                  <a:close/>
                </a:path>
                <a:path w="267970" h="2078989">
                  <a:moveTo>
                    <a:pt x="47999" y="1010389"/>
                  </a:moveTo>
                  <a:lnTo>
                    <a:pt x="38399" y="1010389"/>
                  </a:lnTo>
                  <a:lnTo>
                    <a:pt x="38399" y="1058388"/>
                  </a:lnTo>
                  <a:lnTo>
                    <a:pt x="47999" y="1058388"/>
                  </a:lnTo>
                  <a:lnTo>
                    <a:pt x="47999" y="1010389"/>
                  </a:lnTo>
                  <a:close/>
                </a:path>
                <a:path w="267970" h="2078989">
                  <a:moveTo>
                    <a:pt x="28799" y="914389"/>
                  </a:moveTo>
                  <a:lnTo>
                    <a:pt x="0" y="914389"/>
                  </a:lnTo>
                  <a:lnTo>
                    <a:pt x="0" y="962389"/>
                  </a:lnTo>
                  <a:lnTo>
                    <a:pt x="28799" y="962389"/>
                  </a:lnTo>
                  <a:lnTo>
                    <a:pt x="28799" y="914389"/>
                  </a:lnTo>
                  <a:close/>
                </a:path>
                <a:path w="267970" h="2078989">
                  <a:moveTo>
                    <a:pt x="47999" y="914389"/>
                  </a:moveTo>
                  <a:lnTo>
                    <a:pt x="38399" y="914389"/>
                  </a:lnTo>
                  <a:lnTo>
                    <a:pt x="38399" y="962389"/>
                  </a:lnTo>
                  <a:lnTo>
                    <a:pt x="47999" y="962389"/>
                  </a:lnTo>
                  <a:lnTo>
                    <a:pt x="47999" y="914389"/>
                  </a:lnTo>
                  <a:close/>
                </a:path>
                <a:path w="267970" h="2078989">
                  <a:moveTo>
                    <a:pt x="28799" y="818389"/>
                  </a:moveTo>
                  <a:lnTo>
                    <a:pt x="0" y="818389"/>
                  </a:lnTo>
                  <a:lnTo>
                    <a:pt x="0" y="866388"/>
                  </a:lnTo>
                  <a:lnTo>
                    <a:pt x="28799" y="866388"/>
                  </a:lnTo>
                  <a:lnTo>
                    <a:pt x="28799" y="818389"/>
                  </a:lnTo>
                  <a:close/>
                </a:path>
                <a:path w="267970" h="2078989">
                  <a:moveTo>
                    <a:pt x="47999" y="818389"/>
                  </a:moveTo>
                  <a:lnTo>
                    <a:pt x="38399" y="818389"/>
                  </a:lnTo>
                  <a:lnTo>
                    <a:pt x="38399" y="866388"/>
                  </a:lnTo>
                  <a:lnTo>
                    <a:pt x="47999" y="866388"/>
                  </a:lnTo>
                  <a:lnTo>
                    <a:pt x="47999" y="818389"/>
                  </a:lnTo>
                  <a:close/>
                </a:path>
                <a:path w="267970" h="2078989">
                  <a:moveTo>
                    <a:pt x="28799" y="722389"/>
                  </a:moveTo>
                  <a:lnTo>
                    <a:pt x="0" y="722389"/>
                  </a:lnTo>
                  <a:lnTo>
                    <a:pt x="0" y="770389"/>
                  </a:lnTo>
                  <a:lnTo>
                    <a:pt x="28799" y="770389"/>
                  </a:lnTo>
                  <a:lnTo>
                    <a:pt x="28799" y="722389"/>
                  </a:lnTo>
                  <a:close/>
                </a:path>
                <a:path w="267970" h="2078989">
                  <a:moveTo>
                    <a:pt x="47999" y="722389"/>
                  </a:moveTo>
                  <a:lnTo>
                    <a:pt x="38399" y="722389"/>
                  </a:lnTo>
                  <a:lnTo>
                    <a:pt x="38399" y="770389"/>
                  </a:lnTo>
                  <a:lnTo>
                    <a:pt x="47999" y="770389"/>
                  </a:lnTo>
                  <a:lnTo>
                    <a:pt x="47999" y="722389"/>
                  </a:lnTo>
                  <a:close/>
                </a:path>
                <a:path w="267970" h="2078989">
                  <a:moveTo>
                    <a:pt x="28799" y="626389"/>
                  </a:moveTo>
                  <a:lnTo>
                    <a:pt x="0" y="626389"/>
                  </a:lnTo>
                  <a:lnTo>
                    <a:pt x="0" y="674389"/>
                  </a:lnTo>
                  <a:lnTo>
                    <a:pt x="28799" y="674389"/>
                  </a:lnTo>
                  <a:lnTo>
                    <a:pt x="28799" y="626389"/>
                  </a:lnTo>
                  <a:close/>
                </a:path>
                <a:path w="267970" h="2078989">
                  <a:moveTo>
                    <a:pt x="47999" y="626389"/>
                  </a:moveTo>
                  <a:lnTo>
                    <a:pt x="38399" y="626389"/>
                  </a:lnTo>
                  <a:lnTo>
                    <a:pt x="38399" y="674389"/>
                  </a:lnTo>
                  <a:lnTo>
                    <a:pt x="47999" y="674389"/>
                  </a:lnTo>
                  <a:lnTo>
                    <a:pt x="47999" y="626389"/>
                  </a:lnTo>
                  <a:close/>
                </a:path>
                <a:path w="267970" h="2078989">
                  <a:moveTo>
                    <a:pt x="28799" y="530388"/>
                  </a:moveTo>
                  <a:lnTo>
                    <a:pt x="0" y="530388"/>
                  </a:lnTo>
                  <a:lnTo>
                    <a:pt x="0" y="578389"/>
                  </a:lnTo>
                  <a:lnTo>
                    <a:pt x="28799" y="578389"/>
                  </a:lnTo>
                  <a:lnTo>
                    <a:pt x="28799" y="530388"/>
                  </a:lnTo>
                  <a:close/>
                </a:path>
                <a:path w="267970" h="2078989">
                  <a:moveTo>
                    <a:pt x="47999" y="530388"/>
                  </a:moveTo>
                  <a:lnTo>
                    <a:pt x="38399" y="530388"/>
                  </a:lnTo>
                  <a:lnTo>
                    <a:pt x="38399" y="578389"/>
                  </a:lnTo>
                  <a:lnTo>
                    <a:pt x="47999" y="578389"/>
                  </a:lnTo>
                  <a:lnTo>
                    <a:pt x="47999" y="530388"/>
                  </a:lnTo>
                  <a:close/>
                </a:path>
                <a:path w="267970" h="2078989">
                  <a:moveTo>
                    <a:pt x="28799" y="434389"/>
                  </a:moveTo>
                  <a:lnTo>
                    <a:pt x="0" y="434389"/>
                  </a:lnTo>
                  <a:lnTo>
                    <a:pt x="0" y="482389"/>
                  </a:lnTo>
                  <a:lnTo>
                    <a:pt x="28799" y="482389"/>
                  </a:lnTo>
                  <a:lnTo>
                    <a:pt x="28799" y="434389"/>
                  </a:lnTo>
                  <a:close/>
                </a:path>
                <a:path w="267970" h="2078989">
                  <a:moveTo>
                    <a:pt x="47999" y="434389"/>
                  </a:moveTo>
                  <a:lnTo>
                    <a:pt x="38399" y="434389"/>
                  </a:lnTo>
                  <a:lnTo>
                    <a:pt x="38399" y="482389"/>
                  </a:lnTo>
                  <a:lnTo>
                    <a:pt x="47999" y="482389"/>
                  </a:lnTo>
                  <a:lnTo>
                    <a:pt x="47999" y="434389"/>
                  </a:lnTo>
                  <a:close/>
                </a:path>
                <a:path w="267970" h="2078989">
                  <a:moveTo>
                    <a:pt x="28799" y="338388"/>
                  </a:moveTo>
                  <a:lnTo>
                    <a:pt x="0" y="338388"/>
                  </a:lnTo>
                  <a:lnTo>
                    <a:pt x="0" y="386389"/>
                  </a:lnTo>
                  <a:lnTo>
                    <a:pt x="28799" y="386389"/>
                  </a:lnTo>
                  <a:lnTo>
                    <a:pt x="28799" y="338388"/>
                  </a:lnTo>
                  <a:close/>
                </a:path>
                <a:path w="267970" h="2078989">
                  <a:moveTo>
                    <a:pt x="47999" y="338388"/>
                  </a:moveTo>
                  <a:lnTo>
                    <a:pt x="38399" y="338388"/>
                  </a:lnTo>
                  <a:lnTo>
                    <a:pt x="38399" y="386389"/>
                  </a:lnTo>
                  <a:lnTo>
                    <a:pt x="47999" y="386389"/>
                  </a:lnTo>
                  <a:lnTo>
                    <a:pt x="47999" y="338388"/>
                  </a:lnTo>
                  <a:close/>
                </a:path>
                <a:path w="267970" h="2078989">
                  <a:moveTo>
                    <a:pt x="28799" y="242389"/>
                  </a:moveTo>
                  <a:lnTo>
                    <a:pt x="0" y="242389"/>
                  </a:lnTo>
                  <a:lnTo>
                    <a:pt x="0" y="290389"/>
                  </a:lnTo>
                  <a:lnTo>
                    <a:pt x="28799" y="290389"/>
                  </a:lnTo>
                  <a:lnTo>
                    <a:pt x="28799" y="242389"/>
                  </a:lnTo>
                  <a:close/>
                </a:path>
                <a:path w="267970" h="2078989">
                  <a:moveTo>
                    <a:pt x="47999" y="242389"/>
                  </a:moveTo>
                  <a:lnTo>
                    <a:pt x="38399" y="242389"/>
                  </a:lnTo>
                  <a:lnTo>
                    <a:pt x="38399" y="290389"/>
                  </a:lnTo>
                  <a:lnTo>
                    <a:pt x="47999" y="290389"/>
                  </a:lnTo>
                  <a:lnTo>
                    <a:pt x="47999" y="242389"/>
                  </a:lnTo>
                  <a:close/>
                </a:path>
                <a:path w="267970" h="2078989">
                  <a:moveTo>
                    <a:pt x="28799" y="146389"/>
                  </a:moveTo>
                  <a:lnTo>
                    <a:pt x="0" y="146389"/>
                  </a:lnTo>
                  <a:lnTo>
                    <a:pt x="0" y="194390"/>
                  </a:lnTo>
                  <a:lnTo>
                    <a:pt x="28799" y="194390"/>
                  </a:lnTo>
                  <a:lnTo>
                    <a:pt x="28799" y="146389"/>
                  </a:lnTo>
                  <a:close/>
                </a:path>
                <a:path w="267970" h="2078989">
                  <a:moveTo>
                    <a:pt x="47999" y="146389"/>
                  </a:moveTo>
                  <a:lnTo>
                    <a:pt x="38399" y="146389"/>
                  </a:lnTo>
                  <a:lnTo>
                    <a:pt x="38399" y="194390"/>
                  </a:lnTo>
                  <a:lnTo>
                    <a:pt x="47999" y="194390"/>
                  </a:lnTo>
                  <a:lnTo>
                    <a:pt x="47999" y="146389"/>
                  </a:lnTo>
                  <a:close/>
                </a:path>
                <a:path w="267970" h="2078989">
                  <a:moveTo>
                    <a:pt x="2645" y="43436"/>
                  </a:moveTo>
                  <a:lnTo>
                    <a:pt x="1344" y="47623"/>
                  </a:lnTo>
                  <a:lnTo>
                    <a:pt x="1024" y="49199"/>
                  </a:lnTo>
                  <a:lnTo>
                    <a:pt x="863" y="50797"/>
                  </a:lnTo>
                  <a:lnTo>
                    <a:pt x="0" y="60576"/>
                  </a:lnTo>
                  <a:lnTo>
                    <a:pt x="0" y="98389"/>
                  </a:lnTo>
                  <a:lnTo>
                    <a:pt x="28799" y="98389"/>
                  </a:lnTo>
                  <a:lnTo>
                    <a:pt x="28799" y="60576"/>
                  </a:lnTo>
                  <a:lnTo>
                    <a:pt x="29470" y="54166"/>
                  </a:lnTo>
                  <a:lnTo>
                    <a:pt x="30151" y="51974"/>
                  </a:lnTo>
                  <a:lnTo>
                    <a:pt x="2645" y="43436"/>
                  </a:lnTo>
                  <a:close/>
                </a:path>
                <a:path w="267970" h="2078989">
                  <a:moveTo>
                    <a:pt x="39319" y="54820"/>
                  </a:moveTo>
                  <a:lnTo>
                    <a:pt x="38924" y="56090"/>
                  </a:lnTo>
                  <a:lnTo>
                    <a:pt x="38399" y="60576"/>
                  </a:lnTo>
                  <a:lnTo>
                    <a:pt x="38399" y="98389"/>
                  </a:lnTo>
                  <a:lnTo>
                    <a:pt x="47999" y="98389"/>
                  </a:lnTo>
                  <a:lnTo>
                    <a:pt x="47999" y="60576"/>
                  </a:lnTo>
                  <a:lnTo>
                    <a:pt x="48379" y="58013"/>
                  </a:lnTo>
                  <a:lnTo>
                    <a:pt x="48487" y="57666"/>
                  </a:lnTo>
                  <a:lnTo>
                    <a:pt x="39319" y="54820"/>
                  </a:lnTo>
                  <a:close/>
                </a:path>
                <a:path w="267970" h="2078989">
                  <a:moveTo>
                    <a:pt x="109392" y="0"/>
                  </a:moveTo>
                  <a:lnTo>
                    <a:pt x="61393" y="0"/>
                  </a:lnTo>
                  <a:lnTo>
                    <a:pt x="61393" y="28799"/>
                  </a:lnTo>
                  <a:lnTo>
                    <a:pt x="109392" y="28799"/>
                  </a:lnTo>
                  <a:lnTo>
                    <a:pt x="109392" y="0"/>
                  </a:lnTo>
                  <a:close/>
                </a:path>
                <a:path w="267970" h="2078989">
                  <a:moveTo>
                    <a:pt x="109392" y="38399"/>
                  </a:moveTo>
                  <a:lnTo>
                    <a:pt x="61393" y="38399"/>
                  </a:lnTo>
                  <a:lnTo>
                    <a:pt x="61393" y="47999"/>
                  </a:lnTo>
                  <a:lnTo>
                    <a:pt x="109392" y="47999"/>
                  </a:lnTo>
                  <a:lnTo>
                    <a:pt x="109392" y="38399"/>
                  </a:lnTo>
                  <a:close/>
                </a:path>
                <a:path w="267970" h="2078989">
                  <a:moveTo>
                    <a:pt x="205393" y="0"/>
                  </a:moveTo>
                  <a:lnTo>
                    <a:pt x="157393" y="0"/>
                  </a:lnTo>
                  <a:lnTo>
                    <a:pt x="157393" y="28799"/>
                  </a:lnTo>
                  <a:lnTo>
                    <a:pt x="205393" y="28799"/>
                  </a:lnTo>
                  <a:lnTo>
                    <a:pt x="205393" y="0"/>
                  </a:lnTo>
                  <a:close/>
                </a:path>
                <a:path w="267970" h="2078989">
                  <a:moveTo>
                    <a:pt x="205393" y="38399"/>
                  </a:moveTo>
                  <a:lnTo>
                    <a:pt x="157393" y="38399"/>
                  </a:lnTo>
                  <a:lnTo>
                    <a:pt x="157393" y="47999"/>
                  </a:lnTo>
                  <a:lnTo>
                    <a:pt x="205393" y="47999"/>
                  </a:lnTo>
                  <a:lnTo>
                    <a:pt x="205393" y="38399"/>
                  </a:lnTo>
                  <a:close/>
                </a:path>
                <a:path w="267970" h="2078989">
                  <a:moveTo>
                    <a:pt x="264612" y="42797"/>
                  </a:moveTo>
                  <a:lnTo>
                    <a:pt x="237106" y="51335"/>
                  </a:lnTo>
                  <a:lnTo>
                    <a:pt x="237985" y="54166"/>
                  </a:lnTo>
                  <a:lnTo>
                    <a:pt x="238679" y="61057"/>
                  </a:lnTo>
                  <a:lnTo>
                    <a:pt x="238655" y="97720"/>
                  </a:lnTo>
                  <a:lnTo>
                    <a:pt x="267455" y="97720"/>
                  </a:lnTo>
                  <a:lnTo>
                    <a:pt x="267335" y="58168"/>
                  </a:lnTo>
                  <a:lnTo>
                    <a:pt x="266430" y="49199"/>
                  </a:lnTo>
                  <a:lnTo>
                    <a:pt x="266109" y="47622"/>
                  </a:lnTo>
                  <a:lnTo>
                    <a:pt x="264612" y="42797"/>
                  </a:lnTo>
                  <a:close/>
                </a:path>
                <a:path w="267970" h="2078989">
                  <a:moveTo>
                    <a:pt x="227938" y="54182"/>
                  </a:moveTo>
                  <a:lnTo>
                    <a:pt x="218768" y="57028"/>
                  </a:lnTo>
                  <a:lnTo>
                    <a:pt x="219076" y="58013"/>
                  </a:lnTo>
                  <a:lnTo>
                    <a:pt x="219479" y="62020"/>
                  </a:lnTo>
                  <a:lnTo>
                    <a:pt x="219455" y="97720"/>
                  </a:lnTo>
                  <a:lnTo>
                    <a:pt x="229055" y="97720"/>
                  </a:lnTo>
                  <a:lnTo>
                    <a:pt x="229128" y="62020"/>
                  </a:lnTo>
                  <a:lnTo>
                    <a:pt x="228724" y="58013"/>
                  </a:lnTo>
                  <a:lnTo>
                    <a:pt x="228624" y="57028"/>
                  </a:lnTo>
                  <a:lnTo>
                    <a:pt x="228530" y="56090"/>
                  </a:lnTo>
                  <a:lnTo>
                    <a:pt x="227938" y="54182"/>
                  </a:lnTo>
                  <a:close/>
                </a:path>
                <a:path w="267970" h="2078989">
                  <a:moveTo>
                    <a:pt x="267455" y="145719"/>
                  </a:moveTo>
                  <a:lnTo>
                    <a:pt x="238655" y="145719"/>
                  </a:lnTo>
                  <a:lnTo>
                    <a:pt x="238655" y="193720"/>
                  </a:lnTo>
                  <a:lnTo>
                    <a:pt x="267455" y="193720"/>
                  </a:lnTo>
                  <a:lnTo>
                    <a:pt x="267455" y="145719"/>
                  </a:lnTo>
                  <a:close/>
                </a:path>
                <a:path w="267970" h="2078989">
                  <a:moveTo>
                    <a:pt x="229055" y="145719"/>
                  </a:moveTo>
                  <a:lnTo>
                    <a:pt x="219455" y="145719"/>
                  </a:lnTo>
                  <a:lnTo>
                    <a:pt x="219455" y="193720"/>
                  </a:lnTo>
                  <a:lnTo>
                    <a:pt x="229055" y="193720"/>
                  </a:lnTo>
                  <a:lnTo>
                    <a:pt x="229055" y="145719"/>
                  </a:lnTo>
                  <a:close/>
                </a:path>
                <a:path w="267970" h="2078989">
                  <a:moveTo>
                    <a:pt x="267455" y="241720"/>
                  </a:moveTo>
                  <a:lnTo>
                    <a:pt x="238655" y="241720"/>
                  </a:lnTo>
                  <a:lnTo>
                    <a:pt x="238655" y="289720"/>
                  </a:lnTo>
                  <a:lnTo>
                    <a:pt x="267455" y="289720"/>
                  </a:lnTo>
                  <a:lnTo>
                    <a:pt x="267455" y="241720"/>
                  </a:lnTo>
                  <a:close/>
                </a:path>
                <a:path w="267970" h="2078989">
                  <a:moveTo>
                    <a:pt x="229055" y="241720"/>
                  </a:moveTo>
                  <a:lnTo>
                    <a:pt x="219455" y="241720"/>
                  </a:lnTo>
                  <a:lnTo>
                    <a:pt x="219455" y="289720"/>
                  </a:lnTo>
                  <a:lnTo>
                    <a:pt x="229055" y="289720"/>
                  </a:lnTo>
                  <a:lnTo>
                    <a:pt x="229055" y="241720"/>
                  </a:lnTo>
                  <a:close/>
                </a:path>
                <a:path w="267970" h="2078989">
                  <a:moveTo>
                    <a:pt x="267455" y="337719"/>
                  </a:moveTo>
                  <a:lnTo>
                    <a:pt x="238655" y="337719"/>
                  </a:lnTo>
                  <a:lnTo>
                    <a:pt x="238655" y="385720"/>
                  </a:lnTo>
                  <a:lnTo>
                    <a:pt x="267455" y="385720"/>
                  </a:lnTo>
                  <a:lnTo>
                    <a:pt x="267455" y="337719"/>
                  </a:lnTo>
                  <a:close/>
                </a:path>
                <a:path w="267970" h="2078989">
                  <a:moveTo>
                    <a:pt x="229055" y="337719"/>
                  </a:moveTo>
                  <a:lnTo>
                    <a:pt x="219455" y="337719"/>
                  </a:lnTo>
                  <a:lnTo>
                    <a:pt x="219455" y="385720"/>
                  </a:lnTo>
                  <a:lnTo>
                    <a:pt x="229055" y="385720"/>
                  </a:lnTo>
                  <a:lnTo>
                    <a:pt x="229055" y="337719"/>
                  </a:lnTo>
                  <a:close/>
                </a:path>
                <a:path w="267970" h="2078989">
                  <a:moveTo>
                    <a:pt x="267455" y="433720"/>
                  </a:moveTo>
                  <a:lnTo>
                    <a:pt x="238655" y="433720"/>
                  </a:lnTo>
                  <a:lnTo>
                    <a:pt x="238655" y="481719"/>
                  </a:lnTo>
                  <a:lnTo>
                    <a:pt x="267455" y="481719"/>
                  </a:lnTo>
                  <a:lnTo>
                    <a:pt x="267455" y="433720"/>
                  </a:lnTo>
                  <a:close/>
                </a:path>
                <a:path w="267970" h="2078989">
                  <a:moveTo>
                    <a:pt x="229055" y="433720"/>
                  </a:moveTo>
                  <a:lnTo>
                    <a:pt x="219455" y="433720"/>
                  </a:lnTo>
                  <a:lnTo>
                    <a:pt x="219455" y="481719"/>
                  </a:lnTo>
                  <a:lnTo>
                    <a:pt x="229055" y="481719"/>
                  </a:lnTo>
                  <a:lnTo>
                    <a:pt x="229055" y="433720"/>
                  </a:lnTo>
                  <a:close/>
                </a:path>
                <a:path w="267970" h="2078989">
                  <a:moveTo>
                    <a:pt x="267455" y="529719"/>
                  </a:moveTo>
                  <a:lnTo>
                    <a:pt x="238655" y="529719"/>
                  </a:lnTo>
                  <a:lnTo>
                    <a:pt x="238655" y="577720"/>
                  </a:lnTo>
                  <a:lnTo>
                    <a:pt x="267455" y="577720"/>
                  </a:lnTo>
                  <a:lnTo>
                    <a:pt x="267455" y="529719"/>
                  </a:lnTo>
                  <a:close/>
                </a:path>
                <a:path w="267970" h="2078989">
                  <a:moveTo>
                    <a:pt x="229055" y="529719"/>
                  </a:moveTo>
                  <a:lnTo>
                    <a:pt x="219455" y="529719"/>
                  </a:lnTo>
                  <a:lnTo>
                    <a:pt x="219455" y="577720"/>
                  </a:lnTo>
                  <a:lnTo>
                    <a:pt x="229055" y="577720"/>
                  </a:lnTo>
                  <a:lnTo>
                    <a:pt x="229055" y="529719"/>
                  </a:lnTo>
                  <a:close/>
                </a:path>
                <a:path w="267970" h="2078989">
                  <a:moveTo>
                    <a:pt x="267455" y="625720"/>
                  </a:moveTo>
                  <a:lnTo>
                    <a:pt x="238655" y="625720"/>
                  </a:lnTo>
                  <a:lnTo>
                    <a:pt x="238655" y="673719"/>
                  </a:lnTo>
                  <a:lnTo>
                    <a:pt x="267455" y="673719"/>
                  </a:lnTo>
                  <a:lnTo>
                    <a:pt x="267455" y="625720"/>
                  </a:lnTo>
                  <a:close/>
                </a:path>
                <a:path w="267970" h="2078989">
                  <a:moveTo>
                    <a:pt x="229055" y="625720"/>
                  </a:moveTo>
                  <a:lnTo>
                    <a:pt x="219455" y="625720"/>
                  </a:lnTo>
                  <a:lnTo>
                    <a:pt x="219455" y="673719"/>
                  </a:lnTo>
                  <a:lnTo>
                    <a:pt x="229055" y="673719"/>
                  </a:lnTo>
                  <a:lnTo>
                    <a:pt x="229055" y="625720"/>
                  </a:lnTo>
                  <a:close/>
                </a:path>
                <a:path w="267970" h="2078989">
                  <a:moveTo>
                    <a:pt x="267455" y="721720"/>
                  </a:moveTo>
                  <a:lnTo>
                    <a:pt x="238655" y="721720"/>
                  </a:lnTo>
                  <a:lnTo>
                    <a:pt x="238655" y="769720"/>
                  </a:lnTo>
                  <a:lnTo>
                    <a:pt x="267455" y="769720"/>
                  </a:lnTo>
                  <a:lnTo>
                    <a:pt x="267455" y="721720"/>
                  </a:lnTo>
                  <a:close/>
                </a:path>
                <a:path w="267970" h="2078989">
                  <a:moveTo>
                    <a:pt x="229055" y="721720"/>
                  </a:moveTo>
                  <a:lnTo>
                    <a:pt x="219455" y="721720"/>
                  </a:lnTo>
                  <a:lnTo>
                    <a:pt x="219455" y="769720"/>
                  </a:lnTo>
                  <a:lnTo>
                    <a:pt x="229055" y="769720"/>
                  </a:lnTo>
                  <a:lnTo>
                    <a:pt x="229055" y="721720"/>
                  </a:lnTo>
                  <a:close/>
                </a:path>
                <a:path w="267970" h="2078989">
                  <a:moveTo>
                    <a:pt x="267455" y="817719"/>
                  </a:moveTo>
                  <a:lnTo>
                    <a:pt x="238655" y="817719"/>
                  </a:lnTo>
                  <a:lnTo>
                    <a:pt x="238655" y="865719"/>
                  </a:lnTo>
                  <a:lnTo>
                    <a:pt x="267455" y="865719"/>
                  </a:lnTo>
                  <a:lnTo>
                    <a:pt x="267455" y="817719"/>
                  </a:lnTo>
                  <a:close/>
                </a:path>
                <a:path w="267970" h="2078989">
                  <a:moveTo>
                    <a:pt x="229055" y="817719"/>
                  </a:moveTo>
                  <a:lnTo>
                    <a:pt x="219455" y="817719"/>
                  </a:lnTo>
                  <a:lnTo>
                    <a:pt x="219455" y="865719"/>
                  </a:lnTo>
                  <a:lnTo>
                    <a:pt x="229055" y="865719"/>
                  </a:lnTo>
                  <a:lnTo>
                    <a:pt x="229055" y="817719"/>
                  </a:lnTo>
                  <a:close/>
                </a:path>
                <a:path w="267970" h="2078989">
                  <a:moveTo>
                    <a:pt x="267455" y="913720"/>
                  </a:moveTo>
                  <a:lnTo>
                    <a:pt x="238655" y="913720"/>
                  </a:lnTo>
                  <a:lnTo>
                    <a:pt x="238655" y="961720"/>
                  </a:lnTo>
                  <a:lnTo>
                    <a:pt x="267455" y="961720"/>
                  </a:lnTo>
                  <a:lnTo>
                    <a:pt x="267455" y="913720"/>
                  </a:lnTo>
                  <a:close/>
                </a:path>
                <a:path w="267970" h="2078989">
                  <a:moveTo>
                    <a:pt x="229055" y="913720"/>
                  </a:moveTo>
                  <a:lnTo>
                    <a:pt x="219455" y="913720"/>
                  </a:lnTo>
                  <a:lnTo>
                    <a:pt x="219455" y="961720"/>
                  </a:lnTo>
                  <a:lnTo>
                    <a:pt x="229055" y="961720"/>
                  </a:lnTo>
                  <a:lnTo>
                    <a:pt x="229055" y="913720"/>
                  </a:lnTo>
                  <a:close/>
                </a:path>
                <a:path w="267970" h="2078989">
                  <a:moveTo>
                    <a:pt x="267455" y="1009719"/>
                  </a:moveTo>
                  <a:lnTo>
                    <a:pt x="238655" y="1009719"/>
                  </a:lnTo>
                  <a:lnTo>
                    <a:pt x="238655" y="1057719"/>
                  </a:lnTo>
                  <a:lnTo>
                    <a:pt x="267455" y="1057719"/>
                  </a:lnTo>
                  <a:lnTo>
                    <a:pt x="267455" y="1009719"/>
                  </a:lnTo>
                  <a:close/>
                </a:path>
                <a:path w="267970" h="2078989">
                  <a:moveTo>
                    <a:pt x="229055" y="1009719"/>
                  </a:moveTo>
                  <a:lnTo>
                    <a:pt x="219455" y="1009719"/>
                  </a:lnTo>
                  <a:lnTo>
                    <a:pt x="219455" y="1057719"/>
                  </a:lnTo>
                  <a:lnTo>
                    <a:pt x="229055" y="1057719"/>
                  </a:lnTo>
                  <a:lnTo>
                    <a:pt x="229055" y="1009719"/>
                  </a:lnTo>
                  <a:close/>
                </a:path>
                <a:path w="267970" h="2078989">
                  <a:moveTo>
                    <a:pt x="267455" y="1105720"/>
                  </a:moveTo>
                  <a:lnTo>
                    <a:pt x="238655" y="1105720"/>
                  </a:lnTo>
                  <a:lnTo>
                    <a:pt x="238655" y="1153720"/>
                  </a:lnTo>
                  <a:lnTo>
                    <a:pt x="267455" y="1153720"/>
                  </a:lnTo>
                  <a:lnTo>
                    <a:pt x="267455" y="1105720"/>
                  </a:lnTo>
                  <a:close/>
                </a:path>
                <a:path w="267970" h="2078989">
                  <a:moveTo>
                    <a:pt x="229055" y="1105720"/>
                  </a:moveTo>
                  <a:lnTo>
                    <a:pt x="219455" y="1105720"/>
                  </a:lnTo>
                  <a:lnTo>
                    <a:pt x="219455" y="1153720"/>
                  </a:lnTo>
                  <a:lnTo>
                    <a:pt x="229055" y="1153720"/>
                  </a:lnTo>
                  <a:lnTo>
                    <a:pt x="229055" y="1105720"/>
                  </a:lnTo>
                  <a:close/>
                </a:path>
                <a:path w="267970" h="2078989">
                  <a:moveTo>
                    <a:pt x="267455" y="1201719"/>
                  </a:moveTo>
                  <a:lnTo>
                    <a:pt x="238655" y="1201719"/>
                  </a:lnTo>
                  <a:lnTo>
                    <a:pt x="238655" y="1249720"/>
                  </a:lnTo>
                  <a:lnTo>
                    <a:pt x="267455" y="1249720"/>
                  </a:lnTo>
                  <a:lnTo>
                    <a:pt x="267455" y="1201719"/>
                  </a:lnTo>
                  <a:close/>
                </a:path>
                <a:path w="267970" h="2078989">
                  <a:moveTo>
                    <a:pt x="229055" y="1201719"/>
                  </a:moveTo>
                  <a:lnTo>
                    <a:pt x="219455" y="1201719"/>
                  </a:lnTo>
                  <a:lnTo>
                    <a:pt x="219455" y="1249720"/>
                  </a:lnTo>
                  <a:lnTo>
                    <a:pt x="229055" y="1249720"/>
                  </a:lnTo>
                  <a:lnTo>
                    <a:pt x="229055" y="1201719"/>
                  </a:lnTo>
                  <a:close/>
                </a:path>
                <a:path w="267970" h="2078989">
                  <a:moveTo>
                    <a:pt x="267455" y="1297720"/>
                  </a:moveTo>
                  <a:lnTo>
                    <a:pt x="238655" y="1297720"/>
                  </a:lnTo>
                  <a:lnTo>
                    <a:pt x="238655" y="1345719"/>
                  </a:lnTo>
                  <a:lnTo>
                    <a:pt x="267455" y="1345719"/>
                  </a:lnTo>
                  <a:lnTo>
                    <a:pt x="267455" y="1297720"/>
                  </a:lnTo>
                  <a:close/>
                </a:path>
                <a:path w="267970" h="2078989">
                  <a:moveTo>
                    <a:pt x="229055" y="1297720"/>
                  </a:moveTo>
                  <a:lnTo>
                    <a:pt x="219455" y="1297720"/>
                  </a:lnTo>
                  <a:lnTo>
                    <a:pt x="219455" y="1345719"/>
                  </a:lnTo>
                  <a:lnTo>
                    <a:pt x="229055" y="1345719"/>
                  </a:lnTo>
                  <a:lnTo>
                    <a:pt x="229055" y="1297720"/>
                  </a:lnTo>
                  <a:close/>
                </a:path>
                <a:path w="267970" h="2078989">
                  <a:moveTo>
                    <a:pt x="267455" y="1393719"/>
                  </a:moveTo>
                  <a:lnTo>
                    <a:pt x="238655" y="1393719"/>
                  </a:lnTo>
                  <a:lnTo>
                    <a:pt x="238655" y="1441720"/>
                  </a:lnTo>
                  <a:lnTo>
                    <a:pt x="267455" y="1441720"/>
                  </a:lnTo>
                  <a:lnTo>
                    <a:pt x="267455" y="1393719"/>
                  </a:lnTo>
                  <a:close/>
                </a:path>
                <a:path w="267970" h="2078989">
                  <a:moveTo>
                    <a:pt x="229055" y="1393719"/>
                  </a:moveTo>
                  <a:lnTo>
                    <a:pt x="219455" y="1393719"/>
                  </a:lnTo>
                  <a:lnTo>
                    <a:pt x="219455" y="1441720"/>
                  </a:lnTo>
                  <a:lnTo>
                    <a:pt x="229055" y="1441720"/>
                  </a:lnTo>
                  <a:lnTo>
                    <a:pt x="229055" y="1393719"/>
                  </a:lnTo>
                  <a:close/>
                </a:path>
                <a:path w="267970" h="2078989">
                  <a:moveTo>
                    <a:pt x="267455" y="1489720"/>
                  </a:moveTo>
                  <a:lnTo>
                    <a:pt x="238655" y="1489720"/>
                  </a:lnTo>
                  <a:lnTo>
                    <a:pt x="238655" y="1537719"/>
                  </a:lnTo>
                  <a:lnTo>
                    <a:pt x="267455" y="1537719"/>
                  </a:lnTo>
                  <a:lnTo>
                    <a:pt x="267455" y="1489720"/>
                  </a:lnTo>
                  <a:close/>
                </a:path>
                <a:path w="267970" h="2078989">
                  <a:moveTo>
                    <a:pt x="229055" y="1489720"/>
                  </a:moveTo>
                  <a:lnTo>
                    <a:pt x="219455" y="1489720"/>
                  </a:lnTo>
                  <a:lnTo>
                    <a:pt x="219455" y="1537719"/>
                  </a:lnTo>
                  <a:lnTo>
                    <a:pt x="229055" y="1537719"/>
                  </a:lnTo>
                  <a:lnTo>
                    <a:pt x="229055" y="1489720"/>
                  </a:lnTo>
                  <a:close/>
                </a:path>
                <a:path w="267970" h="2078989">
                  <a:moveTo>
                    <a:pt x="267455" y="1585720"/>
                  </a:moveTo>
                  <a:lnTo>
                    <a:pt x="238655" y="1585720"/>
                  </a:lnTo>
                  <a:lnTo>
                    <a:pt x="238655" y="1633720"/>
                  </a:lnTo>
                  <a:lnTo>
                    <a:pt x="267455" y="1633720"/>
                  </a:lnTo>
                  <a:lnTo>
                    <a:pt x="267455" y="1585720"/>
                  </a:lnTo>
                  <a:close/>
                </a:path>
                <a:path w="267970" h="2078989">
                  <a:moveTo>
                    <a:pt x="229055" y="1585720"/>
                  </a:moveTo>
                  <a:lnTo>
                    <a:pt x="219455" y="1585720"/>
                  </a:lnTo>
                  <a:lnTo>
                    <a:pt x="219455" y="1633720"/>
                  </a:lnTo>
                  <a:lnTo>
                    <a:pt x="229055" y="1633720"/>
                  </a:lnTo>
                  <a:lnTo>
                    <a:pt x="229055" y="1585720"/>
                  </a:lnTo>
                  <a:close/>
                </a:path>
                <a:path w="267970" h="2078989">
                  <a:moveTo>
                    <a:pt x="267455" y="1681720"/>
                  </a:moveTo>
                  <a:lnTo>
                    <a:pt x="238655" y="1681720"/>
                  </a:lnTo>
                  <a:lnTo>
                    <a:pt x="238655" y="1729719"/>
                  </a:lnTo>
                  <a:lnTo>
                    <a:pt x="267455" y="1729719"/>
                  </a:lnTo>
                  <a:lnTo>
                    <a:pt x="267455" y="1681720"/>
                  </a:lnTo>
                  <a:close/>
                </a:path>
                <a:path w="267970" h="2078989">
                  <a:moveTo>
                    <a:pt x="229055" y="1681720"/>
                  </a:moveTo>
                  <a:lnTo>
                    <a:pt x="219455" y="1681720"/>
                  </a:lnTo>
                  <a:lnTo>
                    <a:pt x="219455" y="1729719"/>
                  </a:lnTo>
                  <a:lnTo>
                    <a:pt x="229055" y="1729719"/>
                  </a:lnTo>
                  <a:lnTo>
                    <a:pt x="229055" y="1681720"/>
                  </a:lnTo>
                  <a:close/>
                </a:path>
                <a:path w="267970" h="2078989">
                  <a:moveTo>
                    <a:pt x="267455" y="1777720"/>
                  </a:moveTo>
                  <a:lnTo>
                    <a:pt x="238655" y="1777720"/>
                  </a:lnTo>
                  <a:lnTo>
                    <a:pt x="238655" y="1825720"/>
                  </a:lnTo>
                  <a:lnTo>
                    <a:pt x="267455" y="1825720"/>
                  </a:lnTo>
                  <a:lnTo>
                    <a:pt x="267455" y="1777720"/>
                  </a:lnTo>
                  <a:close/>
                </a:path>
                <a:path w="267970" h="2078989">
                  <a:moveTo>
                    <a:pt x="229055" y="1777720"/>
                  </a:moveTo>
                  <a:lnTo>
                    <a:pt x="219455" y="1777720"/>
                  </a:lnTo>
                  <a:lnTo>
                    <a:pt x="219455" y="1825720"/>
                  </a:lnTo>
                  <a:lnTo>
                    <a:pt x="229055" y="1825720"/>
                  </a:lnTo>
                  <a:lnTo>
                    <a:pt x="229055" y="1777720"/>
                  </a:lnTo>
                  <a:close/>
                </a:path>
                <a:path w="267970" h="2078989">
                  <a:moveTo>
                    <a:pt x="267455" y="1873719"/>
                  </a:moveTo>
                  <a:lnTo>
                    <a:pt x="238655" y="1873719"/>
                  </a:lnTo>
                  <a:lnTo>
                    <a:pt x="238655" y="1921719"/>
                  </a:lnTo>
                  <a:lnTo>
                    <a:pt x="267455" y="1921719"/>
                  </a:lnTo>
                  <a:lnTo>
                    <a:pt x="267455" y="1873719"/>
                  </a:lnTo>
                  <a:close/>
                </a:path>
                <a:path w="267970" h="2078989">
                  <a:moveTo>
                    <a:pt x="229055" y="1873719"/>
                  </a:moveTo>
                  <a:lnTo>
                    <a:pt x="219455" y="1873719"/>
                  </a:lnTo>
                  <a:lnTo>
                    <a:pt x="219455" y="1921719"/>
                  </a:lnTo>
                  <a:lnTo>
                    <a:pt x="229055" y="1921719"/>
                  </a:lnTo>
                  <a:lnTo>
                    <a:pt x="229055" y="1873719"/>
                  </a:lnTo>
                  <a:close/>
                </a:path>
                <a:path w="267970" h="2078989">
                  <a:moveTo>
                    <a:pt x="267455" y="1969720"/>
                  </a:moveTo>
                  <a:lnTo>
                    <a:pt x="238655" y="1969720"/>
                  </a:lnTo>
                  <a:lnTo>
                    <a:pt x="238655" y="2017720"/>
                  </a:lnTo>
                  <a:lnTo>
                    <a:pt x="267455" y="2017720"/>
                  </a:lnTo>
                  <a:lnTo>
                    <a:pt x="267455" y="1969720"/>
                  </a:lnTo>
                  <a:close/>
                </a:path>
                <a:path w="267970" h="2078989">
                  <a:moveTo>
                    <a:pt x="229055" y="1969720"/>
                  </a:moveTo>
                  <a:lnTo>
                    <a:pt x="219455" y="1969720"/>
                  </a:lnTo>
                  <a:lnTo>
                    <a:pt x="219455" y="2017720"/>
                  </a:lnTo>
                  <a:lnTo>
                    <a:pt x="229055" y="2017720"/>
                  </a:lnTo>
                  <a:lnTo>
                    <a:pt x="229055" y="1969720"/>
                  </a:lnTo>
                  <a:close/>
                </a:path>
                <a:path w="267970" h="2078989">
                  <a:moveTo>
                    <a:pt x="215339" y="2048859"/>
                  </a:moveTo>
                  <a:lnTo>
                    <a:pt x="213287" y="2049495"/>
                  </a:lnTo>
                  <a:lnTo>
                    <a:pt x="206396" y="2050190"/>
                  </a:lnTo>
                  <a:lnTo>
                    <a:pt x="168918" y="2050190"/>
                  </a:lnTo>
                  <a:lnTo>
                    <a:pt x="168918" y="2078965"/>
                  </a:lnTo>
                  <a:lnTo>
                    <a:pt x="208089" y="2078965"/>
                  </a:lnTo>
                  <a:lnTo>
                    <a:pt x="218254" y="2077940"/>
                  </a:lnTo>
                  <a:lnTo>
                    <a:pt x="219831" y="2077619"/>
                  </a:lnTo>
                  <a:lnTo>
                    <a:pt x="223878" y="2076364"/>
                  </a:lnTo>
                  <a:lnTo>
                    <a:pt x="215339" y="2048859"/>
                  </a:lnTo>
                  <a:close/>
                </a:path>
                <a:path w="267970" h="2078989">
                  <a:moveTo>
                    <a:pt x="209667" y="2030586"/>
                  </a:moveTo>
                  <a:lnTo>
                    <a:pt x="209440" y="2030586"/>
                  </a:lnTo>
                  <a:lnTo>
                    <a:pt x="204471" y="2031086"/>
                  </a:lnTo>
                  <a:lnTo>
                    <a:pt x="168918" y="2031086"/>
                  </a:lnTo>
                  <a:lnTo>
                    <a:pt x="168918" y="2040638"/>
                  </a:lnTo>
                  <a:lnTo>
                    <a:pt x="205433" y="2040638"/>
                  </a:lnTo>
                  <a:lnTo>
                    <a:pt x="211364" y="2040041"/>
                  </a:lnTo>
                  <a:lnTo>
                    <a:pt x="212493" y="2039691"/>
                  </a:lnTo>
                  <a:lnTo>
                    <a:pt x="209667" y="2030586"/>
                  </a:lnTo>
                  <a:close/>
                </a:path>
                <a:path w="267970" h="2078989">
                  <a:moveTo>
                    <a:pt x="120917" y="2050166"/>
                  </a:moveTo>
                  <a:lnTo>
                    <a:pt x="72918" y="2050166"/>
                  </a:lnTo>
                  <a:lnTo>
                    <a:pt x="72918" y="2078965"/>
                  </a:lnTo>
                  <a:lnTo>
                    <a:pt x="120917" y="2078965"/>
                  </a:lnTo>
                  <a:lnTo>
                    <a:pt x="120917" y="2050166"/>
                  </a:lnTo>
                  <a:close/>
                </a:path>
                <a:path w="267970" h="2078989">
                  <a:moveTo>
                    <a:pt x="120917" y="2030966"/>
                  </a:moveTo>
                  <a:lnTo>
                    <a:pt x="72918" y="2030966"/>
                  </a:lnTo>
                  <a:lnTo>
                    <a:pt x="72918" y="2040566"/>
                  </a:lnTo>
                  <a:lnTo>
                    <a:pt x="120917" y="2040566"/>
                  </a:lnTo>
                  <a:lnTo>
                    <a:pt x="120917" y="2030966"/>
                  </a:lnTo>
                  <a:close/>
                </a:path>
              </a:pathLst>
            </a:custGeom>
            <a:solidFill>
              <a:srgbClr val="5A637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98982" y="3436141"/>
              <a:ext cx="158495" cy="158496"/>
            </a:xfrm>
            <a:prstGeom prst="rect">
              <a:avLst/>
            </a:prstGeom>
          </p:spPr>
        </p:pic>
        <p:pic>
          <p:nvPicPr>
            <p:cNvPr id="11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8982" y="3639342"/>
              <a:ext cx="158495" cy="158495"/>
            </a:xfrm>
            <a:prstGeom prst="rect">
              <a:avLst/>
            </a:prstGeom>
          </p:spPr>
        </p:pic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8982" y="3842542"/>
              <a:ext cx="158495" cy="158495"/>
            </a:xfrm>
            <a:prstGeom prst="rect">
              <a:avLst/>
            </a:prstGeom>
          </p:spPr>
        </p:pic>
        <p:pic>
          <p:nvPicPr>
            <p:cNvPr id="13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98982" y="4045741"/>
              <a:ext cx="158495" cy="158496"/>
            </a:xfrm>
            <a:prstGeom prst="rect">
              <a:avLst/>
            </a:prstGeom>
          </p:spPr>
        </p:pic>
        <p:pic>
          <p:nvPicPr>
            <p:cNvPr id="14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8982" y="4248942"/>
              <a:ext cx="158495" cy="158495"/>
            </a:xfrm>
            <a:prstGeom prst="rect">
              <a:avLst/>
            </a:prstGeom>
          </p:spPr>
        </p:pic>
        <p:pic>
          <p:nvPicPr>
            <p:cNvPr id="15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8982" y="4452142"/>
              <a:ext cx="158495" cy="158495"/>
            </a:xfrm>
            <a:prstGeom prst="rect">
              <a:avLst/>
            </a:prstGeom>
          </p:spPr>
        </p:pic>
        <p:pic>
          <p:nvPicPr>
            <p:cNvPr id="16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98982" y="4655341"/>
              <a:ext cx="158495" cy="158496"/>
            </a:xfrm>
            <a:prstGeom prst="rect">
              <a:avLst/>
            </a:prstGeom>
          </p:spPr>
        </p:pic>
        <p:pic>
          <p:nvPicPr>
            <p:cNvPr id="17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8982" y="4858542"/>
              <a:ext cx="158495" cy="158495"/>
            </a:xfrm>
            <a:prstGeom prst="rect">
              <a:avLst/>
            </a:prstGeom>
          </p:spPr>
        </p:pic>
        <p:pic>
          <p:nvPicPr>
            <p:cNvPr id="18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98982" y="5061742"/>
              <a:ext cx="158495" cy="158495"/>
            </a:xfrm>
            <a:prstGeom prst="rect">
              <a:avLst/>
            </a:prstGeom>
          </p:spPr>
        </p:pic>
        <p:pic>
          <p:nvPicPr>
            <p:cNvPr id="20" name="object 1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98982" y="5264941"/>
              <a:ext cx="158495" cy="158496"/>
            </a:xfrm>
            <a:prstGeom prst="rect">
              <a:avLst/>
            </a:prstGeom>
          </p:spPr>
        </p:pic>
      </p:grpSp>
      <p:sp>
        <p:nvSpPr>
          <p:cNvPr id="21" name="object 26"/>
          <p:cNvSpPr txBox="1"/>
          <p:nvPr/>
        </p:nvSpPr>
        <p:spPr>
          <a:xfrm>
            <a:off x="3011111" y="3761846"/>
            <a:ext cx="100456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Cambria Math"/>
                <a:cs typeface="Cambria Math"/>
              </a:rPr>
              <a:t>𝐙</a:t>
            </a:r>
            <a:r>
              <a:rPr sz="4800" spc="270" dirty="0">
                <a:latin typeface="Cambria Math"/>
                <a:cs typeface="Cambria Math"/>
              </a:rPr>
              <a:t> </a:t>
            </a:r>
            <a:r>
              <a:rPr sz="4800" spc="-50" dirty="0">
                <a:latin typeface="Cambria Math"/>
                <a:cs typeface="Cambria Math"/>
              </a:rPr>
              <a:t>=</a:t>
            </a:r>
            <a:endParaRPr sz="48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604829" y="2331870"/>
                <a:ext cx="3675647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4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的嵌入向量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829" y="2331870"/>
                <a:ext cx="3675647" cy="475579"/>
              </a:xfrm>
              <a:prstGeom prst="rect">
                <a:avLst/>
              </a:prstGeom>
              <a:blipFill rotWithShape="1">
                <a:blip r:embed="rId3"/>
                <a:stretch>
                  <a:fillRect l="-15" t="-32" r="5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V="1">
            <a:off x="5647998" y="2807449"/>
            <a:ext cx="448002" cy="88076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bject 18"/>
          <p:cNvSpPr/>
          <p:nvPr/>
        </p:nvSpPr>
        <p:spPr>
          <a:xfrm>
            <a:off x="8634107" y="3079886"/>
            <a:ext cx="377190" cy="2030730"/>
          </a:xfrm>
          <a:custGeom>
            <a:avLst/>
            <a:gdLst/>
            <a:ahLst/>
            <a:cxnLst/>
            <a:rect l="l" t="t" r="r" b="b"/>
            <a:pathLst>
              <a:path w="377190" h="2030729">
                <a:moveTo>
                  <a:pt x="2" y="0"/>
                </a:moveTo>
                <a:lnTo>
                  <a:pt x="50100" y="6335"/>
                </a:lnTo>
                <a:lnTo>
                  <a:pt x="95117" y="24215"/>
                </a:lnTo>
                <a:lnTo>
                  <a:pt x="133257" y="51948"/>
                </a:lnTo>
                <a:lnTo>
                  <a:pt x="162725" y="87844"/>
                </a:lnTo>
                <a:lnTo>
                  <a:pt x="181722" y="130212"/>
                </a:lnTo>
                <a:lnTo>
                  <a:pt x="188454" y="177363"/>
                </a:lnTo>
                <a:lnTo>
                  <a:pt x="188452" y="837994"/>
                </a:lnTo>
                <a:lnTo>
                  <a:pt x="195183" y="885144"/>
                </a:lnTo>
                <a:lnTo>
                  <a:pt x="214181" y="927512"/>
                </a:lnTo>
                <a:lnTo>
                  <a:pt x="243648" y="963409"/>
                </a:lnTo>
                <a:lnTo>
                  <a:pt x="281788" y="991142"/>
                </a:lnTo>
                <a:lnTo>
                  <a:pt x="326806" y="1009022"/>
                </a:lnTo>
                <a:lnTo>
                  <a:pt x="376904" y="1015358"/>
                </a:lnTo>
                <a:lnTo>
                  <a:pt x="326806" y="1021693"/>
                </a:lnTo>
                <a:lnTo>
                  <a:pt x="281788" y="1039573"/>
                </a:lnTo>
                <a:lnTo>
                  <a:pt x="243648" y="1067306"/>
                </a:lnTo>
                <a:lnTo>
                  <a:pt x="214181" y="1103202"/>
                </a:lnTo>
                <a:lnTo>
                  <a:pt x="195183" y="1145570"/>
                </a:lnTo>
                <a:lnTo>
                  <a:pt x="188452" y="1192720"/>
                </a:lnTo>
                <a:lnTo>
                  <a:pt x="188452" y="1853351"/>
                </a:lnTo>
                <a:lnTo>
                  <a:pt x="181720" y="1900501"/>
                </a:lnTo>
                <a:lnTo>
                  <a:pt x="162722" y="1942870"/>
                </a:lnTo>
                <a:lnTo>
                  <a:pt x="133255" y="1978766"/>
                </a:lnTo>
                <a:lnTo>
                  <a:pt x="95115" y="2006499"/>
                </a:lnTo>
                <a:lnTo>
                  <a:pt x="50098" y="2024379"/>
                </a:lnTo>
                <a:lnTo>
                  <a:pt x="0" y="2030715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17"/>
          <p:cNvSpPr/>
          <p:nvPr/>
        </p:nvSpPr>
        <p:spPr>
          <a:xfrm>
            <a:off x="4288167" y="5212214"/>
            <a:ext cx="4270375" cy="375285"/>
          </a:xfrm>
          <a:custGeom>
            <a:avLst/>
            <a:gdLst/>
            <a:ahLst/>
            <a:cxnLst/>
            <a:rect l="l" t="t" r="r" b="b"/>
            <a:pathLst>
              <a:path w="4270375" h="375285">
                <a:moveTo>
                  <a:pt x="4270279" y="0"/>
                </a:moveTo>
                <a:lnTo>
                  <a:pt x="4264752" y="49844"/>
                </a:lnTo>
                <a:lnTo>
                  <a:pt x="4249154" y="94633"/>
                </a:lnTo>
                <a:lnTo>
                  <a:pt x="4224961" y="132580"/>
                </a:lnTo>
                <a:lnTo>
                  <a:pt x="4193647" y="161898"/>
                </a:lnTo>
                <a:lnTo>
                  <a:pt x="4156687" y="180799"/>
                </a:lnTo>
                <a:lnTo>
                  <a:pt x="4115556" y="187497"/>
                </a:lnTo>
                <a:lnTo>
                  <a:pt x="2289862" y="187497"/>
                </a:lnTo>
                <a:lnTo>
                  <a:pt x="2248730" y="194195"/>
                </a:lnTo>
                <a:lnTo>
                  <a:pt x="2211770" y="213096"/>
                </a:lnTo>
                <a:lnTo>
                  <a:pt x="2180456" y="242414"/>
                </a:lnTo>
                <a:lnTo>
                  <a:pt x="2156264" y="280361"/>
                </a:lnTo>
                <a:lnTo>
                  <a:pt x="2140666" y="325150"/>
                </a:lnTo>
                <a:lnTo>
                  <a:pt x="2135140" y="374995"/>
                </a:lnTo>
                <a:lnTo>
                  <a:pt x="2129613" y="325150"/>
                </a:lnTo>
                <a:lnTo>
                  <a:pt x="2114015" y="280361"/>
                </a:lnTo>
                <a:lnTo>
                  <a:pt x="2089822" y="242414"/>
                </a:lnTo>
                <a:lnTo>
                  <a:pt x="2058508" y="213096"/>
                </a:lnTo>
                <a:lnTo>
                  <a:pt x="2021548" y="194195"/>
                </a:lnTo>
                <a:lnTo>
                  <a:pt x="1980417" y="187497"/>
                </a:lnTo>
                <a:lnTo>
                  <a:pt x="154722" y="187497"/>
                </a:lnTo>
                <a:lnTo>
                  <a:pt x="113591" y="180799"/>
                </a:lnTo>
                <a:lnTo>
                  <a:pt x="76631" y="161898"/>
                </a:lnTo>
                <a:lnTo>
                  <a:pt x="45317" y="132580"/>
                </a:lnTo>
                <a:lnTo>
                  <a:pt x="21124" y="94633"/>
                </a:lnTo>
                <a:lnTo>
                  <a:pt x="5526" y="49844"/>
                </a:lnTo>
                <a:lnTo>
                  <a:pt x="0" y="0"/>
                </a:lnTo>
              </a:path>
            </a:pathLst>
          </a:custGeom>
          <a:ln w="63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64384" y="5648310"/>
            <a:ext cx="3114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SG" sz="2400" b="1" dirty="0">
                <a:solidFill>
                  <a:srgbClr val="0432FF"/>
                </a:solidFill>
                <a:ea typeface="Cambria Math" panose="02040503050406030204" pitchFamily="18" charset="0"/>
              </a:rPr>
              <a:t>一</a:t>
            </a:r>
            <a:r>
              <a:rPr lang="zh-CN" altLang="en-US" sz="2400" b="1" dirty="0">
                <a:solidFill>
                  <a:srgbClr val="0432FF"/>
                </a:solidFill>
                <a:ea typeface="Cambria Math" panose="02040503050406030204" pitchFamily="18" charset="0"/>
              </a:rPr>
              <a:t>列表示一个节点</a:t>
            </a:r>
            <a:endParaRPr lang="en-US" sz="2400" dirty="0">
              <a:solidFill>
                <a:srgbClr val="0432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9090672" y="3891416"/>
                <a:ext cx="31141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 err="1">
                    <a:solidFill>
                      <a:srgbClr val="0432FF"/>
                    </a:solidFill>
                  </a:rPr>
                  <a:t>嵌入向量的维度</a:t>
                </a:r>
                <a:r>
                  <a:rPr lang="en-US" altLang="zh-CN" sz="2400" b="1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</m:oMath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672" y="3891416"/>
                <a:ext cx="3114129" cy="461665"/>
              </a:xfrm>
              <a:prstGeom prst="rect">
                <a:avLst/>
              </a:prstGeom>
              <a:blipFill rotWithShape="1">
                <a:blip r:embed="rId4"/>
                <a:stretch>
                  <a:fillRect t="-29" r="3" b="-2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“浅层”编码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/>
          <p:cNvSpPr txBox="1"/>
          <p:nvPr/>
        </p:nvSpPr>
        <p:spPr>
          <a:xfrm>
            <a:off x="830048" y="828293"/>
            <a:ext cx="11105278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最简单的编码方法：编码器仅是一个嵌入查找表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" name="文本框 33"/>
          <p:cNvSpPr txBox="1"/>
          <p:nvPr/>
        </p:nvSpPr>
        <p:spPr>
          <a:xfrm>
            <a:off x="673769" y="1825577"/>
            <a:ext cx="10844462" cy="324781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ctr"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每个节点被分配一个唯一的嵌入向量</a:t>
            </a:r>
            <a:b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</a:b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（即我们直接优化每个节点的嵌入表示）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0" indent="0" algn="ctr">
              <a:buNone/>
            </a:pPr>
            <a:endParaRPr lang="en-SG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0" indent="0" algn="ctr">
              <a:buNone/>
            </a:pPr>
            <a:endParaRPr lang="en-SG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0" indent="0" algn="ctr"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代表方法包括：</a:t>
            </a:r>
            <a:r>
              <a:rPr lang="en-SG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DeepWalk</a:t>
            </a:r>
            <a:r>
              <a:rPr lang="zh-CN" altLang="en-SG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lang="en-SG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node2vec</a:t>
            </a:r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框架总结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33"/>
              <p:cNvSpPr txBox="1"/>
              <p:nvPr/>
            </p:nvSpPr>
            <p:spPr>
              <a:xfrm>
                <a:off x="830048" y="828293"/>
                <a:ext cx="11105278" cy="454047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>
                  <a:buFont typeface="Wingdings" panose="05000000000000000000" pitchFamily="2" charset="2"/>
                  <a:buChar char="q"/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Encoder+Decoder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框架</a:t>
                </a:r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浅层编码器：嵌入查找</a:t>
                </a:r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需要优化的参数：矩阵 𝐙，包含所有节点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𝐯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的嵌入向量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我们将在图神经网络（</a:t>
                </a:r>
                <a:r>
                  <a:rPr lang="en-SG" altLang="zh-CN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GNNs</a:t>
                </a:r>
                <a:r>
                  <a:rPr lang="zh-CN" altLang="en-SG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）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中介绍深层编码器</a:t>
                </a:r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解码器：基于节点相似性进行计算</a:t>
                </a:r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SG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目标：最大化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相似节点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对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的内积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49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105278" cy="4540474"/>
              </a:xfrm>
              <a:prstGeom prst="rect">
                <a:avLst/>
              </a:prstGeom>
              <a:blipFill rotWithShape="1">
                <a:blip r:embed="rId1"/>
                <a:stretch>
                  <a:fillRect l="-1" t="-6" r="5" b="-449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如何定义节点相似性？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/>
          <p:cNvSpPr txBox="1"/>
          <p:nvPr/>
        </p:nvSpPr>
        <p:spPr>
          <a:xfrm>
            <a:off x="830048" y="828293"/>
            <a:ext cx="11105278" cy="5694636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不同方法的关键在于它们如何定义节点相似性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两个节点是否应具有相似的嵌入，取决于它们是否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……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相互连接？</a:t>
            </a:r>
            <a:endParaRPr lang="zh-CN" altLang="en-US" sz="2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共享相邻节点？</a:t>
            </a:r>
            <a:endParaRPr lang="zh-CN" altLang="en-US" sz="2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拥有相似的“结构角色”</a:t>
            </a:r>
            <a:r>
              <a:rPr lang="zh-CN" altLang="en-US" sz="2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？</a:t>
            </a:r>
            <a:endParaRPr lang="zh-CN" altLang="en-US" sz="2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接下来我们将学习一种基于</a:t>
            </a:r>
            <a:r>
              <a:rPr lang="zh-CN" altLang="en-US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随机游走（</a:t>
            </a:r>
            <a:r>
              <a:rPr lang="en-US" altLang="zh-CN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random</a:t>
            </a:r>
            <a:r>
              <a:rPr lang="zh-CN" altLang="en-US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walks</a:t>
            </a:r>
            <a:r>
              <a:rPr lang="zh-CN" altLang="en-US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）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的节点相似性定义，并介绍如何针对该相似性度量来优化节点嵌入。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节点嵌入的注意事项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9" name="文本框 33"/>
          <p:cNvSpPr txBox="1"/>
          <p:nvPr/>
        </p:nvSpPr>
        <p:spPr>
          <a:xfrm>
            <a:off x="830048" y="828293"/>
            <a:ext cx="11105278" cy="50075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这是一种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无监督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/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自监督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的节点嵌入学习方式。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我们不使用节点标签，也不使用节点特征。</a:t>
            </a:r>
            <a:endParaRPr lang="en-SG" altLang="zh-CN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其目标是直接估计每个节点在嵌入空间中的一组坐标（即嵌入），使得图结构的某些特征（由解码器 </a:t>
            </a:r>
            <a:r>
              <a:rPr lang="en-SG" altLang="zh-CN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DEC 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捕捉）得以保留。</a:t>
            </a:r>
            <a:endParaRPr lang="zh-CN" alt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这些嵌入是与任务无关的：</a:t>
            </a:r>
            <a:endParaRPr lang="en-SG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6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它们不是为了某个特定任务而训练的，但可以用于各种任务。</a:t>
            </a:r>
            <a:endParaRPr lang="zh-CN" altLang="en-US" sz="26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/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/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概述</a:t>
              </a:r>
              <a:endParaRPr lang="zh-CN" altLang="en-US" sz="20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28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/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节点嵌入</a:t>
              </a:r>
              <a:endParaRPr lang="zh-CN" altLang="en-US" sz="20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28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/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基于随机游走的节点嵌入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6"/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/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latin typeface="Arial" panose="020B0604020202090204" pitchFamily="34" charset="0"/>
                  <a:ea typeface="微软雅黑" panose="020B0503020204020204" pitchFamily="34" charset="-122"/>
                </a:rPr>
                <a:t>图嵌入</a:t>
              </a:r>
              <a:endParaRPr lang="zh-CN" altLang="en-US" sz="2000" b="1" dirty="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0526" y="4762834"/>
            <a:ext cx="2641600" cy="749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081" y="6122617"/>
            <a:ext cx="2416489" cy="749299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数学表示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33"/>
              <p:cNvSpPr txBox="1"/>
              <p:nvPr/>
            </p:nvSpPr>
            <p:spPr>
              <a:xfrm>
                <a:off x="830048" y="828293"/>
                <a:ext cx="11105278" cy="54784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向量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：</a:t>
                </a:r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zh-CN" altLang="en-US" sz="26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6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的嵌入（即我们希望学习的内容）</a:t>
                </a:r>
                <a:endParaRPr lang="en-SG" altLang="zh-CN" sz="2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概率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𝐏</m:t>
                    </m:r>
                    <m:r>
                      <a:rPr lang="en-US" altLang="zh-CN" sz="28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𝒗</m:t>
                    </m:r>
                    <m:r>
                      <a:rPr lang="en-US" altLang="zh-CN" sz="2800" b="1" i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:</a:t>
                </a:r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zh-CN" altLang="en-US" sz="2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从节点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出发进行随机游走，访问到节点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的（预测）概率 。</a:t>
                </a:r>
                <a:endParaRPr lang="en-SG" altLang="zh-CN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用于生成预测概率的非线性函数：</a:t>
                </a:r>
                <a:endParaRPr lang="en-SG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SG" altLang="zh-CN" sz="2600" dirty="0" err="1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Softmax</a:t>
                </a:r>
                <a:r>
                  <a:rPr lang="zh-CN" altLang="en-US" sz="26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函数</a:t>
                </a:r>
                <a:r>
                  <a:rPr lang="zh-CN" altLang="en-US" sz="2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：将一个包含</a:t>
                </a:r>
                <a14:m>
                  <m:oMath xmlns:m="http://schemas.openxmlformats.org/officeDocument/2006/math">
                    <m:r>
                      <a:rPr lang="en-US" altLang="zh-CN" sz="260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𝑲</m:t>
                    </m:r>
                  </m:oMath>
                </a14:m>
                <a:r>
                  <a:rPr lang="zh-CN" altLang="en-US" sz="2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个实数的向量（模型预测）转换为</a:t>
                </a:r>
                <a14:m>
                  <m:oMath xmlns:m="http://schemas.openxmlformats.org/officeDocument/2006/math">
                    <m:r>
                      <a:rPr lang="en-US" altLang="zh-CN" sz="260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𝑲</m:t>
                    </m:r>
                  </m:oMath>
                </a14:m>
                <a:r>
                  <a:rPr lang="zh-CN" altLang="en-US" sz="2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个概率，这些概率的总和为 </a:t>
                </a:r>
                <a:r>
                  <a:rPr lang="en-US" altLang="zh-CN" sz="26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1:</a:t>
                </a:r>
                <a:endParaRPr lang="en-SG" altLang="zh-CN" sz="2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endParaRPr lang="en-SG" altLang="zh-CN" sz="2600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SG" altLang="zh-CN" sz="26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Sigmoid</a:t>
                </a:r>
                <a:r>
                  <a:rPr lang="zh-CN" altLang="en-US" sz="26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</a:t>
                </a:r>
                <a:r>
                  <a:rPr lang="en-SG" sz="2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SG" sz="2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S型函数</a:t>
                </a:r>
                <a:r>
                  <a:rPr lang="zh-CN" altLang="en-US" sz="2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将实数值映射到 </a:t>
                </a:r>
                <a:r>
                  <a:rPr lang="en-US" altLang="zh-CN" sz="2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(0, 1) </a:t>
                </a:r>
                <a:r>
                  <a:rPr lang="zh-CN" altLang="en-US" sz="2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的范围内</a:t>
                </a:r>
                <a:endParaRPr lang="zh-CN" altLang="en-US" sz="26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49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48" y="828293"/>
                <a:ext cx="11105278" cy="5478423"/>
              </a:xfrm>
              <a:prstGeom prst="rect">
                <a:avLst/>
              </a:prstGeom>
              <a:blipFill rotWithShape="1">
                <a:blip r:embed="rId3"/>
                <a:stretch>
                  <a:fillRect l="-1" t="-5" r="5" b="-656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4861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随机游走（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Random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Walk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172452" y="1317959"/>
            <a:ext cx="7172583" cy="5114999"/>
            <a:chOff x="990600" y="1438275"/>
            <a:chExt cx="7172583" cy="5114999"/>
          </a:xfrm>
        </p:grpSpPr>
        <p:sp>
          <p:nvSpPr>
            <p:cNvPr id="44" name="object 2"/>
            <p:cNvSpPr/>
            <p:nvPr/>
          </p:nvSpPr>
          <p:spPr>
            <a:xfrm>
              <a:off x="990600" y="2991293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90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3"/>
            <p:cNvSpPr txBox="1"/>
            <p:nvPr/>
          </p:nvSpPr>
          <p:spPr>
            <a:xfrm>
              <a:off x="1228959" y="3126740"/>
              <a:ext cx="12827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1</a:t>
              </a:r>
              <a:endParaRPr sz="1800">
                <a:latin typeface="Corbel"/>
                <a:cs typeface="Corbel"/>
              </a:endParaRPr>
            </a:p>
          </p:txBody>
        </p:sp>
        <p:grpSp>
          <p:nvGrpSpPr>
            <p:cNvPr id="46" name="object 4"/>
            <p:cNvGrpSpPr/>
            <p:nvPr/>
          </p:nvGrpSpPr>
          <p:grpSpPr>
            <a:xfrm>
              <a:off x="1687267" y="4050339"/>
              <a:ext cx="624840" cy="612775"/>
              <a:chOff x="1687267" y="4050339"/>
              <a:chExt cx="624840" cy="612775"/>
            </a:xfrm>
          </p:grpSpPr>
          <p:sp>
            <p:nvSpPr>
              <p:cNvPr id="47" name="object 5"/>
              <p:cNvSpPr/>
              <p:nvPr/>
            </p:nvSpPr>
            <p:spPr>
              <a:xfrm>
                <a:off x="1696792" y="4059864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593725">
                    <a:moveTo>
                      <a:pt x="302653" y="0"/>
                    </a:moveTo>
                    <a:lnTo>
                      <a:pt x="253561" y="3884"/>
                    </a:lnTo>
                    <a:lnTo>
                      <a:pt x="206991" y="15132"/>
                    </a:lnTo>
                    <a:lnTo>
                      <a:pt x="163566" y="33131"/>
                    </a:lnTo>
                    <a:lnTo>
                      <a:pt x="123910" y="57269"/>
                    </a:lnTo>
                    <a:lnTo>
                      <a:pt x="88645" y="86938"/>
                    </a:lnTo>
                    <a:lnTo>
                      <a:pt x="58394" y="121524"/>
                    </a:lnTo>
                    <a:lnTo>
                      <a:pt x="33781" y="160416"/>
                    </a:lnTo>
                    <a:lnTo>
                      <a:pt x="15429" y="203005"/>
                    </a:lnTo>
                    <a:lnTo>
                      <a:pt x="3961" y="248678"/>
                    </a:lnTo>
                    <a:lnTo>
                      <a:pt x="0" y="296825"/>
                    </a:lnTo>
                    <a:lnTo>
                      <a:pt x="3961" y="344972"/>
                    </a:lnTo>
                    <a:lnTo>
                      <a:pt x="15429" y="390645"/>
                    </a:lnTo>
                    <a:lnTo>
                      <a:pt x="33781" y="433233"/>
                    </a:lnTo>
                    <a:lnTo>
                      <a:pt x="58394" y="472126"/>
                    </a:lnTo>
                    <a:lnTo>
                      <a:pt x="88645" y="506712"/>
                    </a:lnTo>
                    <a:lnTo>
                      <a:pt x="123910" y="536381"/>
                    </a:lnTo>
                    <a:lnTo>
                      <a:pt x="163566" y="560520"/>
                    </a:lnTo>
                    <a:lnTo>
                      <a:pt x="206991" y="578518"/>
                    </a:lnTo>
                    <a:lnTo>
                      <a:pt x="253561" y="589766"/>
                    </a:lnTo>
                    <a:lnTo>
                      <a:pt x="302653" y="593651"/>
                    </a:lnTo>
                    <a:lnTo>
                      <a:pt x="351745" y="589766"/>
                    </a:lnTo>
                    <a:lnTo>
                      <a:pt x="398315" y="578518"/>
                    </a:lnTo>
                    <a:lnTo>
                      <a:pt x="441739" y="560520"/>
                    </a:lnTo>
                    <a:lnTo>
                      <a:pt x="481396" y="536381"/>
                    </a:lnTo>
                    <a:lnTo>
                      <a:pt x="516661" y="506712"/>
                    </a:lnTo>
                    <a:lnTo>
                      <a:pt x="546911" y="472126"/>
                    </a:lnTo>
                    <a:lnTo>
                      <a:pt x="571524" y="433233"/>
                    </a:lnTo>
                    <a:lnTo>
                      <a:pt x="589876" y="390645"/>
                    </a:lnTo>
                    <a:lnTo>
                      <a:pt x="601344" y="344972"/>
                    </a:lnTo>
                    <a:lnTo>
                      <a:pt x="605306" y="296825"/>
                    </a:lnTo>
                    <a:lnTo>
                      <a:pt x="601344" y="248678"/>
                    </a:lnTo>
                    <a:lnTo>
                      <a:pt x="589876" y="203005"/>
                    </a:lnTo>
                    <a:lnTo>
                      <a:pt x="571524" y="160416"/>
                    </a:lnTo>
                    <a:lnTo>
                      <a:pt x="546911" y="121524"/>
                    </a:lnTo>
                    <a:lnTo>
                      <a:pt x="516661" y="86938"/>
                    </a:lnTo>
                    <a:lnTo>
                      <a:pt x="481396" y="57269"/>
                    </a:lnTo>
                    <a:lnTo>
                      <a:pt x="441739" y="33131"/>
                    </a:lnTo>
                    <a:lnTo>
                      <a:pt x="398315" y="15132"/>
                    </a:lnTo>
                    <a:lnTo>
                      <a:pt x="351745" y="3884"/>
                    </a:lnTo>
                    <a:lnTo>
                      <a:pt x="302653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48" name="object 6"/>
              <p:cNvSpPr/>
              <p:nvPr/>
            </p:nvSpPr>
            <p:spPr>
              <a:xfrm>
                <a:off x="1696792" y="4059864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50" name="object 7"/>
            <p:cNvSpPr txBox="1"/>
            <p:nvPr/>
          </p:nvSpPr>
          <p:spPr>
            <a:xfrm>
              <a:off x="1928007" y="4193540"/>
              <a:ext cx="1435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solidFill>
                    <a:srgbClr val="FFFFFF"/>
                  </a:solidFill>
                  <a:latin typeface="Corbel"/>
                  <a:cs typeface="Corbel"/>
                </a:rPr>
                <a:t>4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1" name="object 8"/>
            <p:cNvSpPr/>
            <p:nvPr/>
          </p:nvSpPr>
          <p:spPr>
            <a:xfrm>
              <a:off x="2705637" y="3347483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9"/>
            <p:cNvSpPr txBox="1"/>
            <p:nvPr/>
          </p:nvSpPr>
          <p:spPr>
            <a:xfrm>
              <a:off x="2943995" y="3480307"/>
              <a:ext cx="129539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3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3" name="object 10"/>
            <p:cNvSpPr/>
            <p:nvPr/>
          </p:nvSpPr>
          <p:spPr>
            <a:xfrm>
              <a:off x="1999444" y="2397641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11"/>
            <p:cNvSpPr txBox="1"/>
            <p:nvPr/>
          </p:nvSpPr>
          <p:spPr>
            <a:xfrm>
              <a:off x="2230660" y="2532379"/>
              <a:ext cx="14224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2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5" name="object 12"/>
            <p:cNvSpPr/>
            <p:nvPr/>
          </p:nvSpPr>
          <p:spPr>
            <a:xfrm>
              <a:off x="3109174" y="5009706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13"/>
            <p:cNvSpPr txBox="1"/>
            <p:nvPr/>
          </p:nvSpPr>
          <p:spPr>
            <a:xfrm>
              <a:off x="3344359" y="5144516"/>
              <a:ext cx="13525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5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7" name="object 14"/>
            <p:cNvSpPr/>
            <p:nvPr/>
          </p:nvSpPr>
          <p:spPr>
            <a:xfrm>
              <a:off x="4420673" y="4772247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15"/>
            <p:cNvSpPr txBox="1"/>
            <p:nvPr/>
          </p:nvSpPr>
          <p:spPr>
            <a:xfrm>
              <a:off x="4650300" y="4906771"/>
              <a:ext cx="14541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6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59" name="object 16"/>
            <p:cNvSpPr/>
            <p:nvPr/>
          </p:nvSpPr>
          <p:spPr>
            <a:xfrm>
              <a:off x="4118019" y="5959549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17"/>
            <p:cNvSpPr txBox="1"/>
            <p:nvPr/>
          </p:nvSpPr>
          <p:spPr>
            <a:xfrm>
              <a:off x="4358760" y="6092444"/>
              <a:ext cx="123189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7</a:t>
              </a:r>
              <a:endParaRPr sz="1800">
                <a:latin typeface="Corbel"/>
                <a:cs typeface="Corbel"/>
              </a:endParaRPr>
            </a:p>
          </p:txBody>
        </p:sp>
        <p:grpSp>
          <p:nvGrpSpPr>
            <p:cNvPr id="61" name="object 18"/>
            <p:cNvGrpSpPr/>
            <p:nvPr/>
          </p:nvGrpSpPr>
          <p:grpSpPr>
            <a:xfrm>
              <a:off x="4814685" y="1438275"/>
              <a:ext cx="2037080" cy="850265"/>
              <a:chOff x="4814685" y="1438275"/>
              <a:chExt cx="2037080" cy="850265"/>
            </a:xfrm>
          </p:grpSpPr>
          <p:sp>
            <p:nvSpPr>
              <p:cNvPr id="62" name="object 19"/>
              <p:cNvSpPr/>
              <p:nvPr/>
            </p:nvSpPr>
            <p:spPr>
              <a:xfrm>
                <a:off x="4824210" y="1685259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63" name="object 20"/>
              <p:cNvSpPr/>
              <p:nvPr/>
            </p:nvSpPr>
            <p:spPr>
              <a:xfrm>
                <a:off x="6236594" y="1447800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90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64" name="object 21"/>
            <p:cNvSpPr txBox="1"/>
            <p:nvPr/>
          </p:nvSpPr>
          <p:spPr>
            <a:xfrm>
              <a:off x="5053839" y="1581403"/>
              <a:ext cx="1609725" cy="5378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374775">
                <a:lnSpc>
                  <a:spcPts val="2015"/>
                </a:lnSpc>
                <a:spcBef>
                  <a:spcPts val="100"/>
                </a:spcBef>
              </a:pPr>
              <a:r>
                <a:rPr sz="1800" spc="-25" dirty="0">
                  <a:latin typeface="Corbel"/>
                  <a:cs typeface="Corbel"/>
                </a:rPr>
                <a:t>10</a:t>
              </a:r>
              <a:endParaRPr sz="1800">
                <a:latin typeface="Corbel"/>
                <a:cs typeface="Corbel"/>
              </a:endParaRPr>
            </a:p>
            <a:p>
              <a:pPr marL="12700">
                <a:lnSpc>
                  <a:spcPts val="2015"/>
                </a:lnSpc>
              </a:pPr>
              <a:r>
                <a:rPr sz="1800" spc="-50" dirty="0">
                  <a:latin typeface="Corbel"/>
                  <a:cs typeface="Corbel"/>
                </a:rPr>
                <a:t>9</a:t>
              </a:r>
              <a:endParaRPr sz="1800">
                <a:latin typeface="Corbel"/>
                <a:cs typeface="Corbel"/>
              </a:endParaRPr>
            </a:p>
          </p:txBody>
        </p:sp>
        <p:sp>
          <p:nvSpPr>
            <p:cNvPr id="65" name="object 22"/>
            <p:cNvSpPr/>
            <p:nvPr/>
          </p:nvSpPr>
          <p:spPr>
            <a:xfrm>
              <a:off x="4925095" y="2872563"/>
              <a:ext cx="605790" cy="593725"/>
            </a:xfrm>
            <a:custGeom>
              <a:avLst/>
              <a:gdLst/>
              <a:ahLst/>
              <a:cxnLst/>
              <a:rect l="l" t="t" r="r" b="b"/>
              <a:pathLst>
                <a:path w="605789" h="593725">
                  <a:moveTo>
                    <a:pt x="0" y="296825"/>
                  </a:moveTo>
                  <a:lnTo>
                    <a:pt x="3961" y="248678"/>
                  </a:lnTo>
                  <a:lnTo>
                    <a:pt x="15429" y="203005"/>
                  </a:lnTo>
                  <a:lnTo>
                    <a:pt x="33781" y="160417"/>
                  </a:lnTo>
                  <a:lnTo>
                    <a:pt x="58394" y="121524"/>
                  </a:lnTo>
                  <a:lnTo>
                    <a:pt x="88645" y="86938"/>
                  </a:lnTo>
                  <a:lnTo>
                    <a:pt x="123910" y="57270"/>
                  </a:lnTo>
                  <a:lnTo>
                    <a:pt x="163566" y="33131"/>
                  </a:lnTo>
                  <a:lnTo>
                    <a:pt x="206991" y="15132"/>
                  </a:lnTo>
                  <a:lnTo>
                    <a:pt x="253561" y="3884"/>
                  </a:lnTo>
                  <a:lnTo>
                    <a:pt x="302653" y="0"/>
                  </a:lnTo>
                  <a:lnTo>
                    <a:pt x="351745" y="3884"/>
                  </a:lnTo>
                  <a:lnTo>
                    <a:pt x="398315" y="15132"/>
                  </a:lnTo>
                  <a:lnTo>
                    <a:pt x="441740" y="33131"/>
                  </a:lnTo>
                  <a:lnTo>
                    <a:pt x="481396" y="57270"/>
                  </a:lnTo>
                  <a:lnTo>
                    <a:pt x="516661" y="86938"/>
                  </a:lnTo>
                  <a:lnTo>
                    <a:pt x="546912" y="121524"/>
                  </a:lnTo>
                  <a:lnTo>
                    <a:pt x="571525" y="160417"/>
                  </a:lnTo>
                  <a:lnTo>
                    <a:pt x="589877" y="203005"/>
                  </a:lnTo>
                  <a:lnTo>
                    <a:pt x="601345" y="248678"/>
                  </a:lnTo>
                  <a:lnTo>
                    <a:pt x="605307" y="296825"/>
                  </a:lnTo>
                  <a:lnTo>
                    <a:pt x="601345" y="344972"/>
                  </a:lnTo>
                  <a:lnTo>
                    <a:pt x="589877" y="390645"/>
                  </a:lnTo>
                  <a:lnTo>
                    <a:pt x="571525" y="433233"/>
                  </a:lnTo>
                  <a:lnTo>
                    <a:pt x="546912" y="472126"/>
                  </a:lnTo>
                  <a:lnTo>
                    <a:pt x="516661" y="506712"/>
                  </a:lnTo>
                  <a:lnTo>
                    <a:pt x="481396" y="536380"/>
                  </a:lnTo>
                  <a:lnTo>
                    <a:pt x="441740" y="560519"/>
                  </a:lnTo>
                  <a:lnTo>
                    <a:pt x="398315" y="578518"/>
                  </a:lnTo>
                  <a:lnTo>
                    <a:pt x="351745" y="589766"/>
                  </a:lnTo>
                  <a:lnTo>
                    <a:pt x="302653" y="593651"/>
                  </a:lnTo>
                  <a:lnTo>
                    <a:pt x="253561" y="589766"/>
                  </a:lnTo>
                  <a:lnTo>
                    <a:pt x="206991" y="578518"/>
                  </a:lnTo>
                  <a:lnTo>
                    <a:pt x="163566" y="560519"/>
                  </a:lnTo>
                  <a:lnTo>
                    <a:pt x="123910" y="536380"/>
                  </a:lnTo>
                  <a:lnTo>
                    <a:pt x="88645" y="506712"/>
                  </a:lnTo>
                  <a:lnTo>
                    <a:pt x="58394" y="472126"/>
                  </a:lnTo>
                  <a:lnTo>
                    <a:pt x="33781" y="433233"/>
                  </a:lnTo>
                  <a:lnTo>
                    <a:pt x="15429" y="390645"/>
                  </a:lnTo>
                  <a:lnTo>
                    <a:pt x="3961" y="344972"/>
                  </a:lnTo>
                  <a:lnTo>
                    <a:pt x="0" y="296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23"/>
            <p:cNvSpPr txBox="1"/>
            <p:nvPr/>
          </p:nvSpPr>
          <p:spPr>
            <a:xfrm>
              <a:off x="5156311" y="3007867"/>
              <a:ext cx="1435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0" dirty="0">
                  <a:latin typeface="Corbel"/>
                  <a:cs typeface="Corbel"/>
                </a:rPr>
                <a:t>8</a:t>
              </a:r>
              <a:endParaRPr sz="1800" dirty="0">
                <a:latin typeface="Corbel"/>
                <a:cs typeface="Corbel"/>
              </a:endParaRPr>
            </a:p>
          </p:txBody>
        </p:sp>
        <p:grpSp>
          <p:nvGrpSpPr>
            <p:cNvPr id="67" name="object 24"/>
            <p:cNvGrpSpPr/>
            <p:nvPr/>
          </p:nvGrpSpPr>
          <p:grpSpPr>
            <a:xfrm>
              <a:off x="6227069" y="2150656"/>
              <a:ext cx="1936114" cy="1681480"/>
              <a:chOff x="6227069" y="2150656"/>
              <a:chExt cx="1936114" cy="1681480"/>
            </a:xfrm>
          </p:grpSpPr>
          <p:sp>
            <p:nvSpPr>
              <p:cNvPr id="68" name="object 25"/>
              <p:cNvSpPr/>
              <p:nvPr/>
            </p:nvSpPr>
            <p:spPr>
              <a:xfrm>
                <a:off x="6236594" y="3228752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90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69" name="object 26"/>
              <p:cNvSpPr/>
              <p:nvPr/>
            </p:nvSpPr>
            <p:spPr>
              <a:xfrm>
                <a:off x="7548092" y="2160181"/>
                <a:ext cx="60579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605790" h="593725">
                    <a:moveTo>
                      <a:pt x="0" y="296825"/>
                    </a:moveTo>
                    <a:lnTo>
                      <a:pt x="3961" y="248678"/>
                    </a:lnTo>
                    <a:lnTo>
                      <a:pt x="15429" y="203005"/>
                    </a:lnTo>
                    <a:lnTo>
                      <a:pt x="33781" y="160417"/>
                    </a:lnTo>
                    <a:lnTo>
                      <a:pt x="58394" y="121524"/>
                    </a:lnTo>
                    <a:lnTo>
                      <a:pt x="88645" y="86938"/>
                    </a:lnTo>
                    <a:lnTo>
                      <a:pt x="123910" y="57270"/>
                    </a:lnTo>
                    <a:lnTo>
                      <a:pt x="163566" y="33131"/>
                    </a:lnTo>
                    <a:lnTo>
                      <a:pt x="206991" y="15132"/>
                    </a:lnTo>
                    <a:lnTo>
                      <a:pt x="253561" y="3884"/>
                    </a:lnTo>
                    <a:lnTo>
                      <a:pt x="302653" y="0"/>
                    </a:lnTo>
                    <a:lnTo>
                      <a:pt x="351745" y="3884"/>
                    </a:lnTo>
                    <a:lnTo>
                      <a:pt x="398315" y="15132"/>
                    </a:lnTo>
                    <a:lnTo>
                      <a:pt x="441740" y="33131"/>
                    </a:lnTo>
                    <a:lnTo>
                      <a:pt x="481396" y="57270"/>
                    </a:lnTo>
                    <a:lnTo>
                      <a:pt x="516661" y="86938"/>
                    </a:lnTo>
                    <a:lnTo>
                      <a:pt x="546912" y="121524"/>
                    </a:lnTo>
                    <a:lnTo>
                      <a:pt x="571525" y="160417"/>
                    </a:lnTo>
                    <a:lnTo>
                      <a:pt x="589877" y="203005"/>
                    </a:lnTo>
                    <a:lnTo>
                      <a:pt x="601345" y="248678"/>
                    </a:lnTo>
                    <a:lnTo>
                      <a:pt x="605307" y="296825"/>
                    </a:lnTo>
                    <a:lnTo>
                      <a:pt x="601345" y="344972"/>
                    </a:lnTo>
                    <a:lnTo>
                      <a:pt x="589877" y="390645"/>
                    </a:lnTo>
                    <a:lnTo>
                      <a:pt x="571525" y="433233"/>
                    </a:lnTo>
                    <a:lnTo>
                      <a:pt x="546912" y="472126"/>
                    </a:lnTo>
                    <a:lnTo>
                      <a:pt x="516661" y="506712"/>
                    </a:lnTo>
                    <a:lnTo>
                      <a:pt x="481396" y="536380"/>
                    </a:lnTo>
                    <a:lnTo>
                      <a:pt x="441740" y="560519"/>
                    </a:lnTo>
                    <a:lnTo>
                      <a:pt x="398315" y="578518"/>
                    </a:lnTo>
                    <a:lnTo>
                      <a:pt x="351745" y="589766"/>
                    </a:lnTo>
                    <a:lnTo>
                      <a:pt x="302653" y="593651"/>
                    </a:lnTo>
                    <a:lnTo>
                      <a:pt x="253561" y="589766"/>
                    </a:lnTo>
                    <a:lnTo>
                      <a:pt x="206991" y="578518"/>
                    </a:lnTo>
                    <a:lnTo>
                      <a:pt x="163566" y="560519"/>
                    </a:lnTo>
                    <a:lnTo>
                      <a:pt x="123910" y="536380"/>
                    </a:lnTo>
                    <a:lnTo>
                      <a:pt x="88645" y="506712"/>
                    </a:lnTo>
                    <a:lnTo>
                      <a:pt x="58394" y="472126"/>
                    </a:lnTo>
                    <a:lnTo>
                      <a:pt x="33781" y="433233"/>
                    </a:lnTo>
                    <a:lnTo>
                      <a:pt x="15429" y="390645"/>
                    </a:lnTo>
                    <a:lnTo>
                      <a:pt x="3961" y="344972"/>
                    </a:lnTo>
                    <a:lnTo>
                      <a:pt x="0" y="296825"/>
                    </a:lnTo>
                    <a:close/>
                  </a:path>
                </a:pathLst>
              </a:custGeom>
              <a:ln w="1905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70" name="object 27"/>
            <p:cNvSpPr txBox="1"/>
            <p:nvPr/>
          </p:nvSpPr>
          <p:spPr>
            <a:xfrm>
              <a:off x="7727715" y="2294635"/>
              <a:ext cx="24574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25" dirty="0">
                  <a:latin typeface="Corbel"/>
                  <a:cs typeface="Corbel"/>
                </a:rPr>
                <a:t>12</a:t>
              </a:r>
              <a:endParaRPr sz="1800" dirty="0">
                <a:latin typeface="Corbel"/>
                <a:cs typeface="Corbel"/>
              </a:endParaRPr>
            </a:p>
          </p:txBody>
        </p:sp>
        <p:grpSp>
          <p:nvGrpSpPr>
            <p:cNvPr id="71" name="object 28"/>
            <p:cNvGrpSpPr/>
            <p:nvPr/>
          </p:nvGrpSpPr>
          <p:grpSpPr>
            <a:xfrm>
              <a:off x="1288491" y="1680497"/>
              <a:ext cx="6365875" cy="4403090"/>
              <a:chOff x="1288491" y="1680497"/>
              <a:chExt cx="6365875" cy="4403090"/>
            </a:xfrm>
          </p:grpSpPr>
          <p:sp>
            <p:nvSpPr>
              <p:cNvPr id="72" name="object 29"/>
              <p:cNvSpPr/>
              <p:nvPr/>
            </p:nvSpPr>
            <p:spPr>
              <a:xfrm>
                <a:off x="1293253" y="3584943"/>
                <a:ext cx="504825" cy="474980"/>
              </a:xfrm>
              <a:custGeom>
                <a:avLst/>
                <a:gdLst/>
                <a:ahLst/>
                <a:cxnLst/>
                <a:rect l="l" t="t" r="r" b="b"/>
                <a:pathLst>
                  <a:path w="504825" h="474979">
                    <a:moveTo>
                      <a:pt x="0" y="0"/>
                    </a:moveTo>
                    <a:lnTo>
                      <a:pt x="504423" y="47492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3" name="object 30"/>
              <p:cNvSpPr/>
              <p:nvPr/>
            </p:nvSpPr>
            <p:spPr>
              <a:xfrm>
                <a:off x="1595907" y="3228752"/>
                <a:ext cx="1109980" cy="356235"/>
              </a:xfrm>
              <a:custGeom>
                <a:avLst/>
                <a:gdLst/>
                <a:ahLst/>
                <a:cxnLst/>
                <a:rect l="l" t="t" r="r" b="b"/>
                <a:pathLst>
                  <a:path w="1109980" h="356235">
                    <a:moveTo>
                      <a:pt x="0" y="0"/>
                    </a:moveTo>
                    <a:lnTo>
                      <a:pt x="1109730" y="35619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4" name="object 31"/>
              <p:cNvSpPr/>
              <p:nvPr/>
            </p:nvSpPr>
            <p:spPr>
              <a:xfrm>
                <a:off x="1394137" y="2753833"/>
                <a:ext cx="605790" cy="237490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237489">
                    <a:moveTo>
                      <a:pt x="0" y="237460"/>
                    </a:moveTo>
                    <a:lnTo>
                      <a:pt x="60530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5" name="object 32"/>
              <p:cNvSpPr/>
              <p:nvPr/>
            </p:nvSpPr>
            <p:spPr>
              <a:xfrm>
                <a:off x="2604752" y="2753832"/>
                <a:ext cx="302895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302894" h="593725">
                    <a:moveTo>
                      <a:pt x="0" y="0"/>
                    </a:moveTo>
                    <a:lnTo>
                      <a:pt x="302654" y="59365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6" name="object 33"/>
              <p:cNvSpPr/>
              <p:nvPr/>
            </p:nvSpPr>
            <p:spPr>
              <a:xfrm>
                <a:off x="2302098" y="3941134"/>
                <a:ext cx="605790" cy="356235"/>
              </a:xfrm>
              <a:custGeom>
                <a:avLst/>
                <a:gdLst/>
                <a:ahLst/>
                <a:cxnLst/>
                <a:rect l="l" t="t" r="r" b="b"/>
                <a:pathLst>
                  <a:path w="605789" h="356235">
                    <a:moveTo>
                      <a:pt x="0" y="356191"/>
                    </a:moveTo>
                    <a:lnTo>
                      <a:pt x="605307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7" name="object 34"/>
              <p:cNvSpPr/>
              <p:nvPr/>
            </p:nvSpPr>
            <p:spPr>
              <a:xfrm>
                <a:off x="2201213" y="4534785"/>
                <a:ext cx="1009015" cy="474980"/>
              </a:xfrm>
              <a:custGeom>
                <a:avLst/>
                <a:gdLst/>
                <a:ahLst/>
                <a:cxnLst/>
                <a:rect l="l" t="t" r="r" b="b"/>
                <a:pathLst>
                  <a:path w="1009014" h="474979">
                    <a:moveTo>
                      <a:pt x="0" y="0"/>
                    </a:moveTo>
                    <a:lnTo>
                      <a:pt x="1008845" y="47492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8" name="object 35"/>
              <p:cNvSpPr/>
              <p:nvPr/>
            </p:nvSpPr>
            <p:spPr>
              <a:xfrm>
                <a:off x="3714482" y="5009706"/>
                <a:ext cx="706755" cy="237490"/>
              </a:xfrm>
              <a:custGeom>
                <a:avLst/>
                <a:gdLst/>
                <a:ahLst/>
                <a:cxnLst/>
                <a:rect l="l" t="t" r="r" b="b"/>
                <a:pathLst>
                  <a:path w="706754" h="237489">
                    <a:moveTo>
                      <a:pt x="0" y="237460"/>
                    </a:moveTo>
                    <a:lnTo>
                      <a:pt x="706192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79" name="object 36"/>
              <p:cNvSpPr/>
              <p:nvPr/>
            </p:nvSpPr>
            <p:spPr>
              <a:xfrm>
                <a:off x="3613596" y="5603357"/>
                <a:ext cx="504825" cy="474980"/>
              </a:xfrm>
              <a:custGeom>
                <a:avLst/>
                <a:gdLst/>
                <a:ahLst/>
                <a:cxnLst/>
                <a:rect l="l" t="t" r="r" b="b"/>
                <a:pathLst>
                  <a:path w="504825" h="474979">
                    <a:moveTo>
                      <a:pt x="0" y="0"/>
                    </a:moveTo>
                    <a:lnTo>
                      <a:pt x="504423" y="47492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0" name="object 37"/>
              <p:cNvSpPr/>
              <p:nvPr/>
            </p:nvSpPr>
            <p:spPr>
              <a:xfrm>
                <a:off x="4521557" y="5365897"/>
                <a:ext cx="20193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w="201929" h="593725">
                    <a:moveTo>
                      <a:pt x="201769" y="0"/>
                    </a:moveTo>
                    <a:lnTo>
                      <a:pt x="0" y="59365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1" name="object 38"/>
              <p:cNvSpPr/>
              <p:nvPr/>
            </p:nvSpPr>
            <p:spPr>
              <a:xfrm>
                <a:off x="5530402" y="3347483"/>
                <a:ext cx="706755" cy="118745"/>
              </a:xfrm>
              <a:custGeom>
                <a:avLst/>
                <a:gdLst/>
                <a:ahLst/>
                <a:cxnLst/>
                <a:rect l="l" t="t" r="r" b="b"/>
                <a:pathLst>
                  <a:path w="706754" h="118745">
                    <a:moveTo>
                      <a:pt x="0" y="0"/>
                    </a:moveTo>
                    <a:lnTo>
                      <a:pt x="706192" y="11873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2" name="object 39"/>
              <p:cNvSpPr/>
              <p:nvPr/>
            </p:nvSpPr>
            <p:spPr>
              <a:xfrm>
                <a:off x="6841901" y="2753832"/>
                <a:ext cx="807085" cy="712470"/>
              </a:xfrm>
              <a:custGeom>
                <a:avLst/>
                <a:gdLst/>
                <a:ahLst/>
                <a:cxnLst/>
                <a:rect l="l" t="t" r="r" b="b"/>
                <a:pathLst>
                  <a:path w="807084" h="712470">
                    <a:moveTo>
                      <a:pt x="0" y="712381"/>
                    </a:moveTo>
                    <a:lnTo>
                      <a:pt x="80707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3" name="object 40"/>
              <p:cNvSpPr/>
              <p:nvPr/>
            </p:nvSpPr>
            <p:spPr>
              <a:xfrm>
                <a:off x="6841901" y="1803990"/>
                <a:ext cx="807085" cy="356235"/>
              </a:xfrm>
              <a:custGeom>
                <a:avLst/>
                <a:gdLst/>
                <a:ahLst/>
                <a:cxnLst/>
                <a:rect l="l" t="t" r="r" b="b"/>
                <a:pathLst>
                  <a:path w="807084" h="356235">
                    <a:moveTo>
                      <a:pt x="0" y="0"/>
                    </a:moveTo>
                    <a:lnTo>
                      <a:pt x="807076" y="35619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4" name="object 41"/>
              <p:cNvSpPr/>
              <p:nvPr/>
            </p:nvSpPr>
            <p:spPr>
              <a:xfrm>
                <a:off x="5429517" y="1685260"/>
                <a:ext cx="807085" cy="237490"/>
              </a:xfrm>
              <a:custGeom>
                <a:avLst/>
                <a:gdLst/>
                <a:ahLst/>
                <a:cxnLst/>
                <a:rect l="l" t="t" r="r" b="b"/>
                <a:pathLst>
                  <a:path w="807085" h="237489">
                    <a:moveTo>
                      <a:pt x="0" y="237460"/>
                    </a:moveTo>
                    <a:lnTo>
                      <a:pt x="807076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5" name="object 42"/>
              <p:cNvSpPr/>
              <p:nvPr/>
            </p:nvSpPr>
            <p:spPr>
              <a:xfrm>
                <a:off x="5126865" y="2278912"/>
                <a:ext cx="0" cy="593725"/>
              </a:xfrm>
              <a:custGeom>
                <a:avLst/>
                <a:gdLst/>
                <a:ahLst/>
                <a:cxnLst/>
                <a:rect l="l" t="t" r="r" b="b"/>
                <a:pathLst>
                  <a:path h="593725">
                    <a:moveTo>
                      <a:pt x="0" y="0"/>
                    </a:moveTo>
                    <a:lnTo>
                      <a:pt x="1" y="59365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6" name="object 43"/>
              <p:cNvSpPr/>
              <p:nvPr/>
            </p:nvSpPr>
            <p:spPr>
              <a:xfrm>
                <a:off x="6539247" y="2041451"/>
                <a:ext cx="0" cy="1187450"/>
              </a:xfrm>
              <a:custGeom>
                <a:avLst/>
                <a:gdLst/>
                <a:ahLst/>
                <a:cxnLst/>
                <a:rect l="l" t="t" r="r" b="b"/>
                <a:pathLst>
                  <a:path h="1187450">
                    <a:moveTo>
                      <a:pt x="0" y="0"/>
                    </a:moveTo>
                    <a:lnTo>
                      <a:pt x="1" y="1187302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7" name="object 44"/>
              <p:cNvSpPr/>
              <p:nvPr/>
            </p:nvSpPr>
            <p:spPr>
              <a:xfrm>
                <a:off x="2604752" y="2635101"/>
                <a:ext cx="2320925" cy="356235"/>
              </a:xfrm>
              <a:custGeom>
                <a:avLst/>
                <a:gdLst/>
                <a:ahLst/>
                <a:cxnLst/>
                <a:rect l="l" t="t" r="r" b="b"/>
                <a:pathLst>
                  <a:path w="2320925" h="356235">
                    <a:moveTo>
                      <a:pt x="0" y="0"/>
                    </a:moveTo>
                    <a:lnTo>
                      <a:pt x="2320344" y="356191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88" name="object 45"/>
              <p:cNvSpPr/>
              <p:nvPr/>
            </p:nvSpPr>
            <p:spPr>
              <a:xfrm>
                <a:off x="3411828" y="3466213"/>
                <a:ext cx="1614170" cy="1543685"/>
              </a:xfrm>
              <a:custGeom>
                <a:avLst/>
                <a:gdLst/>
                <a:ahLst/>
                <a:cxnLst/>
                <a:rect l="l" t="t" r="r" b="b"/>
                <a:pathLst>
                  <a:path w="1614170" h="1543685">
                    <a:moveTo>
                      <a:pt x="0" y="1543493"/>
                    </a:moveTo>
                    <a:lnTo>
                      <a:pt x="1614152" y="0"/>
                    </a:lnTo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pic>
            <p:nvPicPr>
              <p:cNvPr id="89" name="object 46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90" name="object 47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91" name="object 48"/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pic>
            <p:nvPicPr>
              <p:cNvPr id="92" name="object 49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93" name="object 50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94" name="object 51"/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pic>
            <p:nvPicPr>
              <p:cNvPr id="95" name="object 52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96" name="object 53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97" name="object 54"/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pic>
            <p:nvPicPr>
              <p:cNvPr id="98" name="object 55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99" name="object 56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00" name="object 57"/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pic>
            <p:nvPicPr>
              <p:cNvPr id="101" name="object 5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102" name="object 59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03" name="object 60"/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pic>
            <p:nvPicPr>
              <p:cNvPr id="104" name="object 61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105" name="object 62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06" name="object 63"/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  <p:pic>
            <p:nvPicPr>
              <p:cNvPr id="107" name="object 64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716024" y="4090416"/>
                <a:ext cx="557784" cy="557784"/>
              </a:xfrm>
              <a:prstGeom prst="rect">
                <a:avLst/>
              </a:prstGeom>
            </p:spPr>
          </p:pic>
          <p:pic>
            <p:nvPicPr>
              <p:cNvPr id="108" name="object 65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65479" y="41148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109" name="object 66"/>
              <p:cNvSpPr/>
              <p:nvPr/>
            </p:nvSpPr>
            <p:spPr>
              <a:xfrm>
                <a:off x="1765479" y="41148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131551" y="160231"/>
                    </a:moveTo>
                    <a:lnTo>
                      <a:pt x="133422" y="150962"/>
                    </a:lnTo>
                    <a:lnTo>
                      <a:pt x="138525" y="143393"/>
                    </a:lnTo>
                    <a:lnTo>
                      <a:pt x="146094" y="138290"/>
                    </a:lnTo>
                    <a:lnTo>
                      <a:pt x="155363" y="136419"/>
                    </a:lnTo>
                    <a:lnTo>
                      <a:pt x="164632" y="138290"/>
                    </a:lnTo>
                    <a:lnTo>
                      <a:pt x="172201" y="143393"/>
                    </a:lnTo>
                    <a:lnTo>
                      <a:pt x="177304" y="150962"/>
                    </a:lnTo>
                    <a:lnTo>
                      <a:pt x="179176" y="160231"/>
                    </a:lnTo>
                    <a:lnTo>
                      <a:pt x="177304" y="169500"/>
                    </a:lnTo>
                    <a:lnTo>
                      <a:pt x="172201" y="177069"/>
                    </a:lnTo>
                    <a:lnTo>
                      <a:pt x="164632" y="182172"/>
                    </a:lnTo>
                    <a:lnTo>
                      <a:pt x="155363" y="184044"/>
                    </a:lnTo>
                    <a:lnTo>
                      <a:pt x="146094" y="182172"/>
                    </a:lnTo>
                    <a:lnTo>
                      <a:pt x="138525" y="177069"/>
                    </a:lnTo>
                    <a:lnTo>
                      <a:pt x="133422" y="169500"/>
                    </a:lnTo>
                    <a:lnTo>
                      <a:pt x="131551" y="160231"/>
                    </a:lnTo>
                  </a:path>
                  <a:path w="457200" h="457200">
                    <a:moveTo>
                      <a:pt x="278024" y="160231"/>
                    </a:moveTo>
                    <a:lnTo>
                      <a:pt x="279895" y="150962"/>
                    </a:lnTo>
                    <a:lnTo>
                      <a:pt x="284998" y="143393"/>
                    </a:lnTo>
                    <a:lnTo>
                      <a:pt x="292567" y="138290"/>
                    </a:lnTo>
                    <a:lnTo>
                      <a:pt x="301836" y="136419"/>
                    </a:lnTo>
                    <a:lnTo>
                      <a:pt x="311105" y="138290"/>
                    </a:lnTo>
                    <a:lnTo>
                      <a:pt x="318674" y="143393"/>
                    </a:lnTo>
                    <a:lnTo>
                      <a:pt x="323777" y="150962"/>
                    </a:lnTo>
                    <a:lnTo>
                      <a:pt x="325649" y="160231"/>
                    </a:lnTo>
                    <a:lnTo>
                      <a:pt x="323777" y="169500"/>
                    </a:lnTo>
                    <a:lnTo>
                      <a:pt x="318674" y="177069"/>
                    </a:lnTo>
                    <a:lnTo>
                      <a:pt x="311105" y="182172"/>
                    </a:lnTo>
                    <a:lnTo>
                      <a:pt x="301836" y="184044"/>
                    </a:lnTo>
                    <a:lnTo>
                      <a:pt x="292567" y="182172"/>
                    </a:lnTo>
                    <a:lnTo>
                      <a:pt x="284998" y="177069"/>
                    </a:lnTo>
                    <a:lnTo>
                      <a:pt x="279895" y="169500"/>
                    </a:lnTo>
                    <a:lnTo>
                      <a:pt x="278024" y="160231"/>
                    </a:lnTo>
                  </a:path>
                  <a:path w="457200" h="457200">
                    <a:moveTo>
                      <a:pt x="104697" y="328294"/>
                    </a:moveTo>
                    <a:lnTo>
                      <a:pt x="145990" y="351931"/>
                    </a:lnTo>
                    <a:lnTo>
                      <a:pt x="187267" y="366113"/>
                    </a:lnTo>
                    <a:lnTo>
                      <a:pt x="228527" y="370840"/>
                    </a:lnTo>
                    <a:lnTo>
                      <a:pt x="269772" y="366113"/>
                    </a:lnTo>
                    <a:lnTo>
                      <a:pt x="311000" y="351931"/>
                    </a:lnTo>
                    <a:lnTo>
                      <a:pt x="352213" y="328294"/>
                    </a:lnTo>
                  </a:path>
                  <a:path w="457200" h="457200">
                    <a:moveTo>
                      <a:pt x="0" y="228600"/>
                    </a:moveTo>
                    <a:lnTo>
                      <a:pt x="4644" y="182529"/>
                    </a:lnTo>
                    <a:lnTo>
                      <a:pt x="17964" y="139618"/>
                    </a:lnTo>
                    <a:lnTo>
                      <a:pt x="39041" y="100787"/>
                    </a:lnTo>
                    <a:lnTo>
                      <a:pt x="66955" y="66955"/>
                    </a:lnTo>
                    <a:lnTo>
                      <a:pt x="100787" y="39041"/>
                    </a:lnTo>
                    <a:lnTo>
                      <a:pt x="139618" y="17964"/>
                    </a:lnTo>
                    <a:lnTo>
                      <a:pt x="182529" y="4644"/>
                    </a:lnTo>
                    <a:lnTo>
                      <a:pt x="228600" y="0"/>
                    </a:lnTo>
                    <a:lnTo>
                      <a:pt x="274670" y="4644"/>
                    </a:lnTo>
                    <a:lnTo>
                      <a:pt x="317581" y="17964"/>
                    </a:lnTo>
                    <a:lnTo>
                      <a:pt x="356412" y="39041"/>
                    </a:lnTo>
                    <a:lnTo>
                      <a:pt x="390244" y="66955"/>
                    </a:lnTo>
                    <a:lnTo>
                      <a:pt x="418158" y="100787"/>
                    </a:lnTo>
                    <a:lnTo>
                      <a:pt x="439235" y="139618"/>
                    </a:lnTo>
                    <a:lnTo>
                      <a:pt x="452555" y="182529"/>
                    </a:lnTo>
                    <a:lnTo>
                      <a:pt x="457200" y="228600"/>
                    </a:lnTo>
                    <a:lnTo>
                      <a:pt x="452555" y="274670"/>
                    </a:lnTo>
                    <a:lnTo>
                      <a:pt x="439235" y="317581"/>
                    </a:lnTo>
                    <a:lnTo>
                      <a:pt x="418158" y="356412"/>
                    </a:lnTo>
                    <a:lnTo>
                      <a:pt x="390244" y="390244"/>
                    </a:lnTo>
                    <a:lnTo>
                      <a:pt x="356412" y="418158"/>
                    </a:lnTo>
                    <a:lnTo>
                      <a:pt x="317581" y="439235"/>
                    </a:lnTo>
                    <a:lnTo>
                      <a:pt x="274670" y="452555"/>
                    </a:lnTo>
                    <a:lnTo>
                      <a:pt x="228600" y="457200"/>
                    </a:lnTo>
                    <a:lnTo>
                      <a:pt x="182529" y="452555"/>
                    </a:lnTo>
                    <a:lnTo>
                      <a:pt x="139618" y="439235"/>
                    </a:lnTo>
                    <a:lnTo>
                      <a:pt x="100787" y="418158"/>
                    </a:lnTo>
                    <a:lnTo>
                      <a:pt x="66955" y="390244"/>
                    </a:lnTo>
                    <a:lnTo>
                      <a:pt x="39041" y="356412"/>
                    </a:lnTo>
                    <a:lnTo>
                      <a:pt x="17964" y="317581"/>
                    </a:lnTo>
                    <a:lnTo>
                      <a:pt x="4644" y="27467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6350">
                <a:solidFill>
                  <a:srgbClr val="F0AC00"/>
                </a:solidFill>
              </a:ln>
            </p:spPr>
            <p:txBody>
              <a:bodyPr wrap="square" lIns="0" tIns="0" rIns="0" bIns="0" rtlCol="0"/>
              <a:lstStyle/>
              <a:p/>
            </p:txBody>
          </p:sp>
        </p:grpSp>
        <p:sp>
          <p:nvSpPr>
            <p:cNvPr id="110" name="object 69"/>
            <p:cNvSpPr/>
            <p:nvPr/>
          </p:nvSpPr>
          <p:spPr>
            <a:xfrm>
              <a:off x="2414968" y="2313774"/>
              <a:ext cx="3797935" cy="2529840"/>
            </a:xfrm>
            <a:custGeom>
              <a:avLst/>
              <a:gdLst/>
              <a:ahLst/>
              <a:cxnLst/>
              <a:rect l="l" t="t" r="r" b="b"/>
              <a:pathLst>
                <a:path w="3797935" h="2529840">
                  <a:moveTo>
                    <a:pt x="815340" y="2529560"/>
                  </a:moveTo>
                  <a:lnTo>
                    <a:pt x="803554" y="2513787"/>
                  </a:lnTo>
                  <a:lnTo>
                    <a:pt x="757999" y="2452763"/>
                  </a:lnTo>
                  <a:lnTo>
                    <a:pt x="745159" y="2478290"/>
                  </a:lnTo>
                  <a:lnTo>
                    <a:pt x="15671" y="2111603"/>
                  </a:lnTo>
                  <a:lnTo>
                    <a:pt x="7086" y="2114435"/>
                  </a:lnTo>
                  <a:lnTo>
                    <a:pt x="0" y="2128545"/>
                  </a:lnTo>
                  <a:lnTo>
                    <a:pt x="2832" y="2137130"/>
                  </a:lnTo>
                  <a:lnTo>
                    <a:pt x="732320" y="2503830"/>
                  </a:lnTo>
                  <a:lnTo>
                    <a:pt x="719493" y="2529357"/>
                  </a:lnTo>
                  <a:lnTo>
                    <a:pt x="815340" y="2529560"/>
                  </a:lnTo>
                  <a:close/>
                </a:path>
                <a:path w="3797935" h="2529840">
                  <a:moveTo>
                    <a:pt x="2336482" y="1192149"/>
                  </a:moveTo>
                  <a:lnTo>
                    <a:pt x="2244648" y="1219555"/>
                  </a:lnTo>
                  <a:lnTo>
                    <a:pt x="2264206" y="1240396"/>
                  </a:lnTo>
                  <a:lnTo>
                    <a:pt x="1000633" y="2426258"/>
                  </a:lnTo>
                  <a:lnTo>
                    <a:pt x="1000340" y="2435301"/>
                  </a:lnTo>
                  <a:lnTo>
                    <a:pt x="1011148" y="2446820"/>
                  </a:lnTo>
                  <a:lnTo>
                    <a:pt x="1020191" y="2447099"/>
                  </a:lnTo>
                  <a:lnTo>
                    <a:pt x="2283752" y="1261224"/>
                  </a:lnTo>
                  <a:lnTo>
                    <a:pt x="2303310" y="1282065"/>
                  </a:lnTo>
                  <a:lnTo>
                    <a:pt x="2324176" y="1225499"/>
                  </a:lnTo>
                  <a:lnTo>
                    <a:pt x="2324290" y="1225207"/>
                  </a:lnTo>
                  <a:lnTo>
                    <a:pt x="2336482" y="1192149"/>
                  </a:lnTo>
                  <a:close/>
                </a:path>
                <a:path w="3797935" h="2529840">
                  <a:moveTo>
                    <a:pt x="2589453" y="85356"/>
                  </a:moveTo>
                  <a:lnTo>
                    <a:pt x="2575077" y="57226"/>
                  </a:lnTo>
                  <a:lnTo>
                    <a:pt x="2545854" y="0"/>
                  </a:lnTo>
                  <a:lnTo>
                    <a:pt x="2504084" y="85356"/>
                  </a:lnTo>
                  <a:lnTo>
                    <a:pt x="2503970" y="85610"/>
                  </a:lnTo>
                  <a:lnTo>
                    <a:pt x="2503855" y="85852"/>
                  </a:lnTo>
                  <a:lnTo>
                    <a:pt x="2503728" y="86093"/>
                  </a:lnTo>
                  <a:lnTo>
                    <a:pt x="2532303" y="85852"/>
                  </a:lnTo>
                  <a:lnTo>
                    <a:pt x="2535847" y="499808"/>
                  </a:lnTo>
                  <a:lnTo>
                    <a:pt x="2535910" y="507949"/>
                  </a:lnTo>
                  <a:lnTo>
                    <a:pt x="2542362" y="514286"/>
                  </a:lnTo>
                  <a:lnTo>
                    <a:pt x="2558008" y="514286"/>
                  </a:lnTo>
                  <a:lnTo>
                    <a:pt x="2564485" y="507707"/>
                  </a:lnTo>
                  <a:lnTo>
                    <a:pt x="2560878" y="86093"/>
                  </a:lnTo>
                  <a:lnTo>
                    <a:pt x="2560878" y="85610"/>
                  </a:lnTo>
                  <a:lnTo>
                    <a:pt x="2589453" y="85356"/>
                  </a:lnTo>
                  <a:close/>
                </a:path>
                <a:path w="3797935" h="2529840">
                  <a:moveTo>
                    <a:pt x="2887002" y="418071"/>
                  </a:moveTo>
                  <a:lnTo>
                    <a:pt x="2858630" y="418350"/>
                  </a:lnTo>
                  <a:lnTo>
                    <a:pt x="2858630" y="440524"/>
                  </a:lnTo>
                  <a:lnTo>
                    <a:pt x="2858427" y="418896"/>
                  </a:lnTo>
                  <a:lnTo>
                    <a:pt x="2858566" y="432638"/>
                  </a:lnTo>
                  <a:lnTo>
                    <a:pt x="2858630" y="440524"/>
                  </a:lnTo>
                  <a:lnTo>
                    <a:pt x="2858630" y="418350"/>
                  </a:lnTo>
                  <a:lnTo>
                    <a:pt x="2858427" y="418350"/>
                  </a:lnTo>
                  <a:lnTo>
                    <a:pt x="2854972" y="59956"/>
                  </a:lnTo>
                  <a:lnTo>
                    <a:pt x="2854896" y="51790"/>
                  </a:lnTo>
                  <a:lnTo>
                    <a:pt x="2848597" y="45618"/>
                  </a:lnTo>
                  <a:lnTo>
                    <a:pt x="2832658" y="45618"/>
                  </a:lnTo>
                  <a:lnTo>
                    <a:pt x="2826321" y="52070"/>
                  </a:lnTo>
                  <a:lnTo>
                    <a:pt x="2829839" y="418071"/>
                  </a:lnTo>
                  <a:lnTo>
                    <a:pt x="2829852" y="418617"/>
                  </a:lnTo>
                  <a:lnTo>
                    <a:pt x="2801277" y="418896"/>
                  </a:lnTo>
                  <a:lnTo>
                    <a:pt x="2844965" y="504202"/>
                  </a:lnTo>
                  <a:lnTo>
                    <a:pt x="2872816" y="447128"/>
                  </a:lnTo>
                  <a:lnTo>
                    <a:pt x="2887002" y="418071"/>
                  </a:lnTo>
                  <a:close/>
                </a:path>
                <a:path w="3797935" h="2529840">
                  <a:moveTo>
                    <a:pt x="3797820" y="1016952"/>
                  </a:moveTo>
                  <a:lnTo>
                    <a:pt x="3723005" y="957046"/>
                  </a:lnTo>
                  <a:lnTo>
                    <a:pt x="3716998" y="984986"/>
                  </a:lnTo>
                  <a:lnTo>
                    <a:pt x="3216262" y="877417"/>
                  </a:lnTo>
                  <a:lnTo>
                    <a:pt x="3208667" y="882319"/>
                  </a:lnTo>
                  <a:lnTo>
                    <a:pt x="3205353" y="897750"/>
                  </a:lnTo>
                  <a:lnTo>
                    <a:pt x="3210255" y="905344"/>
                  </a:lnTo>
                  <a:lnTo>
                    <a:pt x="3711003" y="1012913"/>
                  </a:lnTo>
                  <a:lnTo>
                    <a:pt x="3704996" y="1040853"/>
                  </a:lnTo>
                  <a:lnTo>
                    <a:pt x="3795395" y="1017574"/>
                  </a:lnTo>
                  <a:lnTo>
                    <a:pt x="3797820" y="1016952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70"/>
            <p:cNvSpPr txBox="1"/>
            <p:nvPr/>
          </p:nvSpPr>
          <p:spPr>
            <a:xfrm>
              <a:off x="2614437" y="4269740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 panose="020B0604020202090204"/>
                  <a:cs typeface="Arial" panose="020B0604020202090204"/>
                </a:rPr>
                <a:t>Step</a:t>
              </a:r>
              <a:r>
                <a:rPr sz="1800" b="1" spc="-15" dirty="0">
                  <a:latin typeface="Arial" panose="020B0604020202090204"/>
                  <a:cs typeface="Arial" panose="020B0604020202090204"/>
                </a:rPr>
                <a:t> </a:t>
              </a:r>
              <a:r>
                <a:rPr sz="1800" b="1" spc="-50" dirty="0">
                  <a:latin typeface="Arial" panose="020B0604020202090204"/>
                  <a:cs typeface="Arial" panose="020B0604020202090204"/>
                </a:rPr>
                <a:t>1</a:t>
              </a:r>
              <a:endParaRPr sz="1800">
                <a:latin typeface="Arial" panose="020B0604020202090204"/>
                <a:cs typeface="Arial" panose="020B0604020202090204"/>
              </a:endParaRPr>
            </a:p>
          </p:txBody>
        </p:sp>
        <p:sp>
          <p:nvSpPr>
            <p:cNvPr id="112" name="object 71"/>
            <p:cNvSpPr txBox="1"/>
            <p:nvPr/>
          </p:nvSpPr>
          <p:spPr>
            <a:xfrm>
              <a:off x="4250955" y="4156964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 panose="020B0604020202090204"/>
                  <a:cs typeface="Arial" panose="020B0604020202090204"/>
                </a:rPr>
                <a:t>Step</a:t>
              </a:r>
              <a:r>
                <a:rPr sz="1800" b="1" spc="-15" dirty="0">
                  <a:latin typeface="Arial" panose="020B0604020202090204"/>
                  <a:cs typeface="Arial" panose="020B0604020202090204"/>
                </a:rPr>
                <a:t> </a:t>
              </a:r>
              <a:r>
                <a:rPr sz="1800" b="1" spc="-50" dirty="0">
                  <a:latin typeface="Arial" panose="020B0604020202090204"/>
                  <a:cs typeface="Arial" panose="020B0604020202090204"/>
                </a:rPr>
                <a:t>2</a:t>
              </a:r>
              <a:endParaRPr sz="1800">
                <a:latin typeface="Arial" panose="020B0604020202090204"/>
                <a:cs typeface="Arial" panose="020B0604020202090204"/>
              </a:endParaRPr>
            </a:p>
          </p:txBody>
        </p:sp>
        <p:sp>
          <p:nvSpPr>
            <p:cNvPr id="113" name="object 72"/>
            <p:cNvSpPr txBox="1"/>
            <p:nvPr/>
          </p:nvSpPr>
          <p:spPr>
            <a:xfrm>
              <a:off x="4139859" y="2474467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 panose="020B0604020202090204"/>
                  <a:cs typeface="Arial" panose="020B0604020202090204"/>
                </a:rPr>
                <a:t>Step</a:t>
              </a:r>
              <a:r>
                <a:rPr sz="1800" b="1" spc="-15" dirty="0">
                  <a:latin typeface="Arial" panose="020B0604020202090204"/>
                  <a:cs typeface="Arial" panose="020B0604020202090204"/>
                </a:rPr>
                <a:t> </a:t>
              </a:r>
              <a:r>
                <a:rPr sz="1800" b="1" spc="-50" dirty="0">
                  <a:latin typeface="Arial" panose="020B0604020202090204"/>
                  <a:cs typeface="Arial" panose="020B0604020202090204"/>
                </a:rPr>
                <a:t>3</a:t>
              </a:r>
              <a:endParaRPr sz="1800">
                <a:latin typeface="Arial" panose="020B0604020202090204"/>
                <a:cs typeface="Arial" panose="020B0604020202090204"/>
              </a:endParaRPr>
            </a:p>
          </p:txBody>
        </p:sp>
        <p:sp>
          <p:nvSpPr>
            <p:cNvPr id="114" name="object 73"/>
            <p:cNvSpPr txBox="1"/>
            <p:nvPr/>
          </p:nvSpPr>
          <p:spPr>
            <a:xfrm>
              <a:off x="5361908" y="2474467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 panose="020B0604020202090204"/>
                  <a:cs typeface="Arial" panose="020B0604020202090204"/>
                </a:rPr>
                <a:t>Step</a:t>
              </a:r>
              <a:r>
                <a:rPr sz="1800" b="1" spc="-15" dirty="0">
                  <a:latin typeface="Arial" panose="020B0604020202090204"/>
                  <a:cs typeface="Arial" panose="020B0604020202090204"/>
                </a:rPr>
                <a:t> </a:t>
              </a:r>
              <a:r>
                <a:rPr sz="1800" b="1" spc="-50" dirty="0">
                  <a:latin typeface="Arial" panose="020B0604020202090204"/>
                  <a:cs typeface="Arial" panose="020B0604020202090204"/>
                </a:rPr>
                <a:t>4</a:t>
              </a:r>
              <a:endParaRPr sz="1800">
                <a:latin typeface="Arial" panose="020B0604020202090204"/>
                <a:cs typeface="Arial" panose="020B0604020202090204"/>
              </a:endParaRPr>
            </a:p>
          </p:txBody>
        </p:sp>
        <p:sp>
          <p:nvSpPr>
            <p:cNvPr id="115" name="object 74"/>
            <p:cNvSpPr txBox="1"/>
            <p:nvPr/>
          </p:nvSpPr>
          <p:spPr>
            <a:xfrm>
              <a:off x="5802016" y="2931667"/>
              <a:ext cx="7118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latin typeface="Arial" panose="020B0604020202090204"/>
                  <a:cs typeface="Arial" panose="020B0604020202090204"/>
                </a:rPr>
                <a:t>Step</a:t>
              </a:r>
              <a:r>
                <a:rPr sz="1800" b="1" spc="-15" dirty="0">
                  <a:latin typeface="Arial" panose="020B0604020202090204"/>
                  <a:cs typeface="Arial" panose="020B0604020202090204"/>
                </a:rPr>
                <a:t> </a:t>
              </a:r>
              <a:r>
                <a:rPr sz="1800" b="1" spc="-50" dirty="0">
                  <a:latin typeface="Arial" panose="020B0604020202090204"/>
                  <a:cs typeface="Arial" panose="020B0604020202090204"/>
                </a:rPr>
                <a:t>5</a:t>
              </a:r>
              <a:endParaRPr sz="1800">
                <a:latin typeface="Arial" panose="020B0604020202090204"/>
                <a:cs typeface="Arial" panose="020B0604020202090204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6335117" y="3257282"/>
              <a:ext cx="4746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800" spc="-50" dirty="0">
                  <a:latin typeface="Corbel"/>
                  <a:cs typeface="Corbel"/>
                </a:rPr>
                <a:t>11</a:t>
              </a:r>
              <a:endParaRPr lang="en-SG" sz="1800" dirty="0">
                <a:latin typeface="Corbel"/>
                <a:cs typeface="Corbel"/>
              </a:endParaRPr>
            </a:p>
          </p:txBody>
        </p:sp>
      </p:grpSp>
      <p:sp>
        <p:nvSpPr>
          <p:cNvPr id="120" name="文本框 33"/>
          <p:cNvSpPr txBox="1"/>
          <p:nvPr/>
        </p:nvSpPr>
        <p:spPr>
          <a:xfrm>
            <a:off x="6862958" y="1108714"/>
            <a:ext cx="5318136" cy="518680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给定一个图和一个起始节点，我们随机选择它的一个邻居并移动过去；然后再从当前节点随机选择一个邻居并移动过去，如此反复。</a:t>
            </a:r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以这种方式访问的一系列（随机）节点构成了图上的一次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随机游走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zh-CN" altLang="en-US" sz="26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基于随机游走的嵌入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98" y="872144"/>
            <a:ext cx="10377241" cy="583719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基于随机游走的嵌入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本框 33"/>
              <p:cNvSpPr txBox="1"/>
              <p:nvPr/>
            </p:nvSpPr>
            <p:spPr>
              <a:xfrm>
                <a:off x="4143821" y="2785152"/>
                <a:ext cx="5318136" cy="148265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3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和节点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3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在图上的</a:t>
                </a:r>
                <a:r>
                  <a:rPr lang="zh-CN" altLang="en-US" sz="32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随机游走中共同出现的概率</a:t>
                </a:r>
                <a:endParaRPr lang="zh-CN" altLang="en-US" sz="32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120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821" y="2785152"/>
                <a:ext cx="5318136" cy="1482650"/>
              </a:xfrm>
              <a:prstGeom prst="rect">
                <a:avLst/>
              </a:prstGeom>
              <a:blipFill rotWithShape="1">
                <a:blip r:embed="rId1"/>
                <a:stretch>
                  <a:fillRect l="-8" t="-3" r="9" b="-1023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5"/>
              <p:cNvSpPr txBox="1"/>
              <p:nvPr/>
            </p:nvSpPr>
            <p:spPr>
              <a:xfrm>
                <a:off x="1126404" y="3154172"/>
                <a:ext cx="2397125" cy="95269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  <a:tabLst>
                    <a:tab pos="1797685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  <m:sup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6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6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6000" dirty="0">
                    <a:latin typeface="Cambria Math"/>
                    <a:cs typeface="Cambria Math"/>
                  </a:rPr>
                  <a:t>	</a:t>
                </a:r>
                <a:r>
                  <a:rPr sz="6000" spc="-50" dirty="0">
                    <a:latin typeface="Cambria Math"/>
                    <a:cs typeface="Cambria Math"/>
                  </a:rPr>
                  <a:t>≈</a:t>
                </a:r>
                <a:endParaRPr sz="60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404" y="3154172"/>
                <a:ext cx="2397125" cy="952697"/>
              </a:xfrm>
              <a:prstGeom prst="rect">
                <a:avLst/>
              </a:prstGeom>
              <a:blipFill rotWithShape="1">
                <a:blip r:embed="rId2"/>
                <a:stretch>
                  <a:fillRect l="-23" t="-13" r="23" b="-13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基于随机游走的嵌入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98042" y="1430404"/>
            <a:ext cx="3414495" cy="1998596"/>
          </a:xfrm>
          <a:prstGeom prst="rect">
            <a:avLst/>
          </a:prstGeom>
        </p:spPr>
      </p:pic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6627" y="4570221"/>
            <a:ext cx="3081915" cy="17147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33"/>
              <p:cNvSpPr txBox="1"/>
              <p:nvPr/>
            </p:nvSpPr>
            <p:spPr>
              <a:xfrm>
                <a:off x="777863" y="1267583"/>
                <a:ext cx="7620179" cy="509992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核心思想：如果从节点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开始的随机游走以较高概率访问到节点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𝒗</m:t>
                    </m:r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 </m:t>
                    </m:r>
                  </m:oMath>
                </a14:m>
                <a:r>
                  <a:rPr lang="zh-CN" altLang="en-SG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，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则说明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相似（反映了高阶多跳的结构信息）。</a:t>
                </a:r>
                <a:endParaRPr lang="en-SG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endParaRPr lang="en-SG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优化嵌入，使其能够编码这些随机游走统计信息。</a:t>
                </a:r>
                <a:endParaRPr lang="en-SG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600" kern="12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嵌入空间中的相似性（此处：点积 </a:t>
                </a:r>
                <a:r>
                  <a:rPr lang="en-US" altLang="zh-CN" sz="2600" kern="12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= </a:t>
                </a:r>
                <a:r>
                  <a:rPr lang="en-SG" altLang="zh-CN" sz="2600" kern="12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cos(𝜃)</a:t>
                </a:r>
                <a:r>
                  <a:rPr lang="zh-CN" altLang="en-SG" sz="2600" kern="12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）</a:t>
                </a:r>
                <a:r>
                  <a:rPr lang="zh-CN" altLang="en-US" sz="2600" kern="1200" dirty="0">
                    <a:solidFill>
                      <a:srgbClr val="00B05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编码了随机游走中的“相似性”。</a:t>
                </a:r>
                <a:endParaRPr lang="zh-CN" altLang="en-US" sz="2600" kern="12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</p:txBody>
          </p:sp>
        </mc:Choice>
        <mc:Fallback>
          <p:sp>
            <p:nvSpPr>
              <p:cNvPr id="5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7620179" cy="5099922"/>
              </a:xfrm>
              <a:prstGeom prst="rect">
                <a:avLst/>
              </a:prstGeom>
              <a:blipFill rotWithShape="1">
                <a:blip r:embed="rId3"/>
                <a:stretch>
                  <a:fillRect l="-8" t="-2" r="2" b="-379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目标函数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33"/>
              <p:cNvSpPr txBox="1"/>
              <p:nvPr/>
            </p:nvSpPr>
            <p:spPr>
              <a:xfrm>
                <a:off x="777863" y="1267583"/>
                <a:ext cx="10748390" cy="261302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dirty="0">
                    <a:solidFill>
                      <a:schemeClr val="tx1"/>
                    </a:solidFill>
                    <a:ea typeface="微软雅黑" panose="020B0503020204020204" pitchFamily="34" charset="-122"/>
                    <a:sym typeface="+mn-lt"/>
                  </a:rPr>
                  <a:t>给定一个图输入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𝐺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=(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𝑉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𝐸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)</m:t>
                    </m:r>
                  </m:oMath>
                </a14:m>
                <a:endParaRPr lang="en-SG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目标是学习一个映射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𝑓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: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𝑢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lt"/>
                      </a:rPr>
                      <m:t>→</m:t>
                    </m:r>
                    <m:sSup>
                      <m:sSupPr>
                        <m:ctrl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  <m:t>𝑅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lt"/>
                          </a:rPr>
                          <m:t>𝑑</m:t>
                        </m:r>
                      </m:sup>
                    </m:sSup>
                  </m:oMath>
                </a14:m>
                <a:endParaRPr lang="en-SG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endParaRPr lang="en-SG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优化：对数似然估计</a:t>
                </a:r>
                <a:endParaRPr lang="en-SG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5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10748390" cy="2613023"/>
              </a:xfrm>
              <a:prstGeom prst="rect">
                <a:avLst/>
              </a:prstGeom>
              <a:blipFill rotWithShape="1">
                <a:blip r:embed="rId1"/>
                <a:stretch>
                  <a:fillRect l="-6" t="-5" r="3" b="-808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303" y="3880606"/>
            <a:ext cx="5449394" cy="11794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33"/>
              <p:cNvSpPr txBox="1"/>
              <p:nvPr/>
            </p:nvSpPr>
            <p:spPr>
              <a:xfrm>
                <a:off x="777863" y="5360179"/>
                <a:ext cx="10636274" cy="6456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lt"/>
                          </a:rPr>
                          <m:t>𝑵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lt"/>
                          </a:rPr>
                          <m:t>𝑹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)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表示通过随机游走策略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𝑹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得到的节点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的邻居集合</a:t>
                </a:r>
                <a:endParaRPr lang="zh-CN" altLang="en-US" sz="2600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</p:txBody>
          </p:sp>
        </mc:Choice>
        <mc:Fallback>
          <p:sp>
            <p:nvSpPr>
              <p:cNvPr id="6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5360179"/>
                <a:ext cx="10636274" cy="645690"/>
              </a:xfrm>
              <a:prstGeom prst="rect">
                <a:avLst/>
              </a:prstGeom>
              <a:blipFill rotWithShape="1">
                <a:blip r:embed="rId3"/>
                <a:stretch>
                  <a:fillRect l="-6" t="-22" b="-6681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目标函数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33"/>
              <p:cNvSpPr txBox="1"/>
              <p:nvPr/>
            </p:nvSpPr>
            <p:spPr>
              <a:xfrm>
                <a:off x="777863" y="1267583"/>
                <a:ext cx="10748390" cy="203049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SG" sz="2800" dirty="0">
                    <a:solidFill>
                      <a:schemeClr val="tx1"/>
                    </a:solidFill>
                    <a:ea typeface="微软雅黑" panose="020B0503020204020204" pitchFamily="34" charset="-122"/>
                    <a:sym typeface="+mn-lt"/>
                  </a:rPr>
                  <a:t>相等</a:t>
                </a:r>
                <a:r>
                  <a:rPr lang="zh-CN" altLang="en-US" sz="2800" dirty="0">
                    <a:solidFill>
                      <a:schemeClr val="tx1"/>
                    </a:solidFill>
                    <a:ea typeface="微软雅黑" panose="020B0503020204020204" pitchFamily="34" charset="-122"/>
                    <a:sym typeface="+mn-lt"/>
                  </a:rPr>
                  <a:t>地，</a:t>
                </a:r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通过最小化随机游走邻域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lt"/>
                          </a:rPr>
                          <m:t>𝑵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lt"/>
                          </a:rPr>
                          <m:t>𝑹</m:t>
                        </m:r>
                      </m:sub>
                    </m:sSub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(</m:t>
                    </m:r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)</m:t>
                    </m:r>
                  </m:oMath>
                </a14:m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的负对数似然，来优化节点嵌入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</m:oMath>
                </a14:m>
                <a:endParaRPr lang="zh-CN" altLang="en-US" sz="2800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endParaRPr lang="en-SG" altLang="zh-CN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5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10748390" cy="2030492"/>
              </a:xfrm>
              <a:prstGeom prst="rect">
                <a:avLst/>
              </a:prstGeom>
              <a:blipFill rotWithShape="1">
                <a:blip r:embed="rId1"/>
                <a:stretch>
                  <a:fillRect l="-6" t="-6" r="3" b="-1289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283" y="2641316"/>
            <a:ext cx="6989434" cy="12866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4875744"/>
            <a:ext cx="4800600" cy="1168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33"/>
              <p:cNvSpPr txBox="1"/>
              <p:nvPr/>
            </p:nvSpPr>
            <p:spPr>
              <a:xfrm>
                <a:off x="735574" y="4099172"/>
                <a:ext cx="10636274" cy="64569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en-US" altLang="zh-CN" sz="26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Softmax</a:t>
                </a:r>
                <a:r>
                  <a:rPr lang="zh-CN" altLang="en-US" sz="26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函数：我们希望节点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在所有节点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𝒏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中与节点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6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最为相似。</a:t>
                </a:r>
                <a:endParaRPr lang="zh-CN" altLang="en-US" sz="2600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</p:txBody>
          </p:sp>
        </mc:Choice>
        <mc:Fallback>
          <p:sp>
            <p:nvSpPr>
              <p:cNvPr id="7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74" y="4099172"/>
                <a:ext cx="10636274" cy="645690"/>
              </a:xfrm>
              <a:prstGeom prst="rect">
                <a:avLst/>
              </a:prstGeom>
              <a:blipFill rotWithShape="1">
                <a:blip r:embed="rId4"/>
                <a:stretch>
                  <a:fillRect l="-2" t="-38" r="3" b="-2308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目标函数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600" y="1030037"/>
            <a:ext cx="7670800" cy="2006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33"/>
              <p:cNvSpPr txBox="1"/>
              <p:nvPr/>
            </p:nvSpPr>
            <p:spPr>
              <a:xfrm>
                <a:off x="1823789" y="2895713"/>
                <a:ext cx="2005443" cy="132061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60B5CC"/>
                    </a:solidFill>
                  </a:rPr>
                  <a:t>对所有节点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60B5CC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en-SG" sz="2800" dirty="0">
                    <a:solidFill>
                      <a:srgbClr val="60B5CC"/>
                    </a:solidFill>
                  </a:rPr>
                  <a:t> </a:t>
                </a:r>
                <a:r>
                  <a:rPr lang="zh-CN" altLang="en-US" sz="2800" dirty="0">
                    <a:solidFill>
                      <a:srgbClr val="60B5CC"/>
                    </a:solidFill>
                  </a:rPr>
                  <a:t>求和</a:t>
                </a:r>
                <a:endParaRPr lang="zh-CN" altLang="en-US" sz="2800" dirty="0">
                  <a:solidFill>
                    <a:srgbClr val="60B5CC"/>
                  </a:solidFill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0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789" y="2895713"/>
                <a:ext cx="2005443" cy="1320618"/>
              </a:xfrm>
              <a:prstGeom prst="rect">
                <a:avLst/>
              </a:prstGeom>
              <a:blipFill rotWithShape="1">
                <a:blip r:embed="rId2"/>
                <a:stretch>
                  <a:fillRect l="-3" t="-9" r="9" b="-866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33"/>
              <p:cNvSpPr txBox="1"/>
              <p:nvPr/>
            </p:nvSpPr>
            <p:spPr>
              <a:xfrm>
                <a:off x="3829232" y="2896386"/>
                <a:ext cx="3603588" cy="131927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E76C7D"/>
                    </a:solidFill>
                  </a:rPr>
                  <a:t>对从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E76C7D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rgbClr val="E76C7D"/>
                    </a:solidFill>
                  </a:rPr>
                  <a:t>出发的随机游走中出现的节点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E76C7D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800" dirty="0">
                    <a:solidFill>
                      <a:srgbClr val="E76C7D"/>
                    </a:solidFill>
                  </a:rPr>
                  <a:t>求和</a:t>
                </a:r>
                <a:endParaRPr lang="zh-CN" altLang="en-US" sz="2800" dirty="0">
                  <a:solidFill>
                    <a:srgbClr val="E76C7D"/>
                  </a:solidFill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1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232" y="2896386"/>
                <a:ext cx="3603588" cy="1319272"/>
              </a:xfrm>
              <a:prstGeom prst="rect">
                <a:avLst/>
              </a:prstGeom>
              <a:blipFill rotWithShape="1">
                <a:blip r:embed="rId3"/>
                <a:stretch>
                  <a:fillRect l="-5" t="-11" r="4" b="-1704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33"/>
              <p:cNvSpPr txBox="1"/>
              <p:nvPr/>
            </p:nvSpPr>
            <p:spPr>
              <a:xfrm>
                <a:off x="7585576" y="2896386"/>
                <a:ext cx="3914456" cy="131927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marL="0" indent="0" algn="l">
                  <a:buNone/>
                </a:pPr>
                <a:r>
                  <a:rPr lang="zh-CN" altLang="en-US" sz="2800" dirty="0">
                    <a:solidFill>
                      <a:srgbClr val="F0AD00"/>
                    </a:solidFill>
                  </a:rPr>
                  <a:t>计算节点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0AD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𝒖</m:t>
                    </m:r>
                  </m:oMath>
                </a14:m>
                <a:r>
                  <a:rPr lang="zh-CN" altLang="en-US" sz="2800" dirty="0">
                    <a:solidFill>
                      <a:srgbClr val="F0AD0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0AD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lt"/>
                      </a:rPr>
                      <m:t>𝒗</m:t>
                    </m:r>
                  </m:oMath>
                </a14:m>
                <a:r>
                  <a:rPr lang="zh-CN" altLang="en-US" sz="2800" dirty="0">
                    <a:solidFill>
                      <a:srgbClr val="F0AD00"/>
                    </a:solidFill>
                  </a:rPr>
                  <a:t>在随机游走中共现的预测概率</a:t>
                </a:r>
                <a:endParaRPr lang="zh-CN" altLang="en-US" sz="2800" dirty="0">
                  <a:solidFill>
                    <a:srgbClr val="F0AD00"/>
                  </a:solidFill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2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576" y="2896386"/>
                <a:ext cx="3914456" cy="1319272"/>
              </a:xfrm>
              <a:prstGeom prst="rect">
                <a:avLst/>
              </a:prstGeom>
              <a:blipFill rotWithShape="1">
                <a:blip r:embed="rId4"/>
                <a:stretch>
                  <a:fillRect l="-13" t="-11" r="5" b="-876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33"/>
              <p:cNvSpPr txBox="1"/>
              <p:nvPr/>
            </p:nvSpPr>
            <p:spPr>
              <a:xfrm>
                <a:off x="777863" y="4825987"/>
                <a:ext cx="10636274" cy="67428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b="1" dirty="0">
                    <a:solidFill>
                      <a:srgbClr val="C00000"/>
                    </a:solidFill>
                  </a:rPr>
                  <a:t>优化随机游走嵌入 </a:t>
                </a:r>
                <a:r>
                  <a:rPr lang="en-US" altLang="zh-CN" sz="2800" b="1" dirty="0">
                    <a:solidFill>
                      <a:srgbClr val="C00000"/>
                    </a:solidFill>
                  </a:rPr>
                  <a:t>= </a:t>
                </a:r>
                <a:r>
                  <a:rPr lang="zh-CN" altLang="en-US" sz="2800" b="1" dirty="0">
                    <a:solidFill>
                      <a:srgbClr val="C00000"/>
                    </a:solidFill>
                  </a:rPr>
                  <a:t>寻找使损失函数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lt"/>
                      </a:rPr>
                      <m:t>𝓛</m:t>
                    </m:r>
                  </m:oMath>
                </a14:m>
                <a:r>
                  <a:rPr lang="zh-CN" altLang="en-US" sz="2800" b="1" dirty="0">
                    <a:solidFill>
                      <a:srgbClr val="C00000"/>
                    </a:solidFill>
                  </a:rPr>
                  <a:t>最小的嵌入向量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lt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sym typeface="+mn-lt"/>
                          </a:rPr>
                          <m:t>𝒖</m:t>
                        </m:r>
                      </m:sub>
                    </m:sSub>
                  </m:oMath>
                </a14:m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5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4825987"/>
                <a:ext cx="10636274" cy="674287"/>
              </a:xfrm>
              <a:prstGeom prst="rect">
                <a:avLst/>
              </a:prstGeom>
              <a:blipFill rotWithShape="1">
                <a:blip r:embed="rId5"/>
                <a:stretch>
                  <a:fillRect l="-6" t="-92" b="-1781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优化算法：随机梯度下降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/>
          <p:cNvSpPr txBox="1"/>
          <p:nvPr/>
        </p:nvSpPr>
        <p:spPr>
          <a:xfrm>
            <a:off x="777863" y="1267583"/>
            <a:ext cx="10748390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得到目标函数后，我们如何对其进行优化（最小化）？</a:t>
            </a:r>
            <a:endParaRPr lang="zh-CN" altLang="en-US" sz="2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283" y="1949831"/>
            <a:ext cx="6989434" cy="1286612"/>
          </a:xfrm>
          <a:prstGeom prst="rect">
            <a:avLst/>
          </a:prstGeom>
        </p:spPr>
      </p:pic>
      <p:sp>
        <p:nvSpPr>
          <p:cNvPr id="7" name="文本框 33"/>
          <p:cNvSpPr txBox="1"/>
          <p:nvPr/>
        </p:nvSpPr>
        <p:spPr>
          <a:xfrm>
            <a:off x="735574" y="4099172"/>
            <a:ext cx="10636274" cy="1822102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zh-CN" altLang="en-SG" sz="26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梯度</a:t>
            </a:r>
            <a:r>
              <a:rPr lang="zh-CN" altLang="en-US" sz="26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下降</a:t>
            </a:r>
            <a:endParaRPr lang="en-SG" altLang="zh-CN" sz="2600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SG" altLang="zh-CN" sz="2600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600" kern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随机梯度下降</a:t>
            </a:r>
            <a:endParaRPr lang="zh-CN" altLang="en-US" sz="2600" kern="1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078" y="4099172"/>
            <a:ext cx="2814768" cy="8405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302" y="5193153"/>
            <a:ext cx="2934182" cy="84052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任意多边形: 形状 37"/>
          <p:cNvSpPr/>
          <p:nvPr/>
        </p:nvSpPr>
        <p:spPr>
          <a:xfrm>
            <a:off x="0" y="0"/>
            <a:ext cx="1819275" cy="1819275"/>
          </a:xfrm>
          <a:custGeom>
            <a:avLst/>
            <a:gdLst>
              <a:gd name="connsiteX0" fmla="*/ 0 w 3638550"/>
              <a:gd name="connsiteY0" fmla="*/ 1819275 h 3638550"/>
              <a:gd name="connsiteX1" fmla="*/ 1819275 w 3638550"/>
              <a:gd name="connsiteY1" fmla="*/ 0 h 3638550"/>
              <a:gd name="connsiteX2" fmla="*/ 3638550 w 3638550"/>
              <a:gd name="connsiteY2" fmla="*/ 1819275 h 3638550"/>
              <a:gd name="connsiteX3" fmla="*/ 1819275 w 3638550"/>
              <a:gd name="connsiteY3" fmla="*/ 3638550 h 3638550"/>
              <a:gd name="connsiteX4" fmla="*/ 0 w 3638550"/>
              <a:gd name="connsiteY4" fmla="*/ 1819275 h 3638550"/>
              <a:gd name="connsiteX0-1" fmla="*/ 1819275 w 3638550"/>
              <a:gd name="connsiteY0-2" fmla="*/ 0 h 3638550"/>
              <a:gd name="connsiteX1-3" fmla="*/ 3638550 w 3638550"/>
              <a:gd name="connsiteY1-4" fmla="*/ 1819275 h 3638550"/>
              <a:gd name="connsiteX2-5" fmla="*/ 1819275 w 3638550"/>
              <a:gd name="connsiteY2-6" fmla="*/ 3638550 h 3638550"/>
              <a:gd name="connsiteX3-7" fmla="*/ 0 w 3638550"/>
              <a:gd name="connsiteY3-8" fmla="*/ 1819275 h 3638550"/>
              <a:gd name="connsiteX4-9" fmla="*/ 1910715 w 3638550"/>
              <a:gd name="connsiteY4-10" fmla="*/ 91440 h 3638550"/>
              <a:gd name="connsiteX0-11" fmla="*/ 1819275 w 3638550"/>
              <a:gd name="connsiteY0-12" fmla="*/ 0 h 3638550"/>
              <a:gd name="connsiteX1-13" fmla="*/ 3638550 w 3638550"/>
              <a:gd name="connsiteY1-14" fmla="*/ 1819275 h 3638550"/>
              <a:gd name="connsiteX2-15" fmla="*/ 1819275 w 3638550"/>
              <a:gd name="connsiteY2-16" fmla="*/ 3638550 h 3638550"/>
              <a:gd name="connsiteX3-17" fmla="*/ 0 w 3638550"/>
              <a:gd name="connsiteY3-18" fmla="*/ 1819275 h 3638550"/>
              <a:gd name="connsiteX0-19" fmla="*/ 3638550 w 3638550"/>
              <a:gd name="connsiteY0-20" fmla="*/ 0 h 1819275"/>
              <a:gd name="connsiteX1-21" fmla="*/ 1819275 w 3638550"/>
              <a:gd name="connsiteY1-22" fmla="*/ 1819275 h 1819275"/>
              <a:gd name="connsiteX2-23" fmla="*/ 0 w 3638550"/>
              <a:gd name="connsiteY2-24" fmla="*/ 0 h 1819275"/>
              <a:gd name="connsiteX0-25" fmla="*/ 1819275 w 1819275"/>
              <a:gd name="connsiteY0-26" fmla="*/ 0 h 1819275"/>
              <a:gd name="connsiteX1-27" fmla="*/ 0 w 1819275"/>
              <a:gd name="connsiteY1-28" fmla="*/ 1819275 h 18192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819275" h="1819275">
                <a:moveTo>
                  <a:pt x="1819275" y="0"/>
                </a:moveTo>
                <a:cubicBezTo>
                  <a:pt x="1819275" y="1004758"/>
                  <a:pt x="1004758" y="1819275"/>
                  <a:pt x="0" y="1819275"/>
                </a:cubicBezTo>
              </a:path>
            </a:pathLst>
          </a:custGeom>
          <a:noFill/>
          <a:ln w="38100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727455" y="1730451"/>
            <a:ext cx="5663945" cy="716782"/>
            <a:chOff x="1727455" y="2471291"/>
            <a:chExt cx="5663945" cy="716782"/>
          </a:xfrm>
        </p:grpSpPr>
        <p:sp>
          <p:nvSpPr>
            <p:cNvPr id="61" name="文本框 60"/>
            <p:cNvSpPr txBox="1"/>
            <p:nvPr/>
          </p:nvSpPr>
          <p:spPr>
            <a:xfrm>
              <a:off x="2573268" y="2673753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概述</a:t>
              </a:r>
              <a:endParaRPr lang="zh-CN" altLang="en-US" sz="20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1727455" y="2471291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28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7540339" y="0"/>
            <a:ext cx="4651661" cy="6858000"/>
            <a:chOff x="7540339" y="0"/>
            <a:chExt cx="4651661" cy="6858000"/>
          </a:xfrm>
        </p:grpSpPr>
        <p:sp>
          <p:nvSpPr>
            <p:cNvPr id="60" name="任意多边形: 形状 59"/>
            <p:cNvSpPr/>
            <p:nvPr/>
          </p:nvSpPr>
          <p:spPr>
            <a:xfrm>
              <a:off x="7779658" y="0"/>
              <a:ext cx="4412342" cy="6858000"/>
            </a:xfrm>
            <a:custGeom>
              <a:avLst/>
              <a:gdLst>
                <a:gd name="connsiteX0" fmla="*/ 1295690 w 4412342"/>
                <a:gd name="connsiteY0" fmla="*/ 0 h 6858000"/>
                <a:gd name="connsiteX1" fmla="*/ 4412342 w 4412342"/>
                <a:gd name="connsiteY1" fmla="*/ 0 h 6858000"/>
                <a:gd name="connsiteX2" fmla="*/ 4412342 w 4412342"/>
                <a:gd name="connsiteY2" fmla="*/ 1636729 h 6858000"/>
                <a:gd name="connsiteX3" fmla="*/ 4272563 w 4412342"/>
                <a:gd name="connsiteY3" fmla="*/ 1672670 h 6858000"/>
                <a:gd name="connsiteX4" fmla="*/ 3111228 w 4412342"/>
                <a:gd name="connsiteY4" fmla="*/ 3251199 h 6858000"/>
                <a:gd name="connsiteX5" fmla="*/ 4272563 w 4412342"/>
                <a:gd name="connsiteY5" fmla="*/ 4829728 h 6858000"/>
                <a:gd name="connsiteX6" fmla="*/ 4412342 w 4412342"/>
                <a:gd name="connsiteY6" fmla="*/ 4865669 h 6858000"/>
                <a:gd name="connsiteX7" fmla="*/ 4412342 w 4412342"/>
                <a:gd name="connsiteY7" fmla="*/ 6858000 h 6858000"/>
                <a:gd name="connsiteX8" fmla="*/ 1670654 w 4412342"/>
                <a:gd name="connsiteY8" fmla="*/ 6858000 h 6858000"/>
                <a:gd name="connsiteX9" fmla="*/ 1550198 w 4412342"/>
                <a:gd name="connsiteY9" fmla="*/ 6753659 h 6858000"/>
                <a:gd name="connsiteX10" fmla="*/ 0 w 4412342"/>
                <a:gd name="connsiteY10" fmla="*/ 3251200 h 6858000"/>
                <a:gd name="connsiteX11" fmla="*/ 1229199 w 4412342"/>
                <a:gd name="connsiteY11" fmla="*/ 6974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12342" h="6858000">
                  <a:moveTo>
                    <a:pt x="1295690" y="0"/>
                  </a:moveTo>
                  <a:lnTo>
                    <a:pt x="4412342" y="0"/>
                  </a:lnTo>
                  <a:lnTo>
                    <a:pt x="4412342" y="1636729"/>
                  </a:lnTo>
                  <a:lnTo>
                    <a:pt x="4272563" y="1672670"/>
                  </a:lnTo>
                  <a:cubicBezTo>
                    <a:pt x="3599745" y="1881938"/>
                    <a:pt x="3111228" y="2509519"/>
                    <a:pt x="3111228" y="3251199"/>
                  </a:cubicBezTo>
                  <a:cubicBezTo>
                    <a:pt x="3111228" y="3992879"/>
                    <a:pt x="3599745" y="4620460"/>
                    <a:pt x="4272563" y="4829728"/>
                  </a:cubicBezTo>
                  <a:lnTo>
                    <a:pt x="4412342" y="4865669"/>
                  </a:lnTo>
                  <a:lnTo>
                    <a:pt x="4412342" y="6858000"/>
                  </a:lnTo>
                  <a:lnTo>
                    <a:pt x="1670654" y="6858000"/>
                  </a:lnTo>
                  <a:lnTo>
                    <a:pt x="1550198" y="6753659"/>
                  </a:lnTo>
                  <a:cubicBezTo>
                    <a:pt x="597879" y="5888107"/>
                    <a:pt x="0" y="4639475"/>
                    <a:pt x="0" y="3251200"/>
                  </a:cubicBezTo>
                  <a:cubicBezTo>
                    <a:pt x="0" y="2026252"/>
                    <a:pt x="465477" y="910022"/>
                    <a:pt x="1229199" y="6974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7540339" y="3124369"/>
              <a:ext cx="3592287" cy="1015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r>
                <a:rPr kumimoji="1" lang="zh-CN" altLang="en-US" sz="60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3020204020204" pitchFamily="34" charset="-122"/>
                  <a:sym typeface="Arial" panose="020B0604020202090204" pitchFamily="34" charset="0"/>
                </a:rPr>
                <a:t>目录</a:t>
              </a:r>
              <a:endParaRPr kumimoji="1" lang="en-US" altLang="zh-CN" sz="6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27455" y="2843108"/>
            <a:ext cx="5661007" cy="716782"/>
            <a:chOff x="1727455" y="3483328"/>
            <a:chExt cx="5661007" cy="716782"/>
          </a:xfrm>
        </p:grpSpPr>
        <p:sp>
          <p:nvSpPr>
            <p:cNvPr id="54" name="文本框 53"/>
            <p:cNvSpPr txBox="1"/>
            <p:nvPr/>
          </p:nvSpPr>
          <p:spPr>
            <a:xfrm>
              <a:off x="2570330" y="3658299"/>
              <a:ext cx="4818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节点嵌入</a:t>
              </a:r>
              <a:endParaRPr lang="zh-CN" altLang="en-US" sz="20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1727455" y="3483328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28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727455" y="3955765"/>
            <a:ext cx="4071766" cy="716782"/>
            <a:chOff x="1727455" y="4495365"/>
            <a:chExt cx="4071766" cy="716782"/>
          </a:xfrm>
        </p:grpSpPr>
        <p:sp>
          <p:nvSpPr>
            <p:cNvPr id="51" name="文本框 50"/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基于随机游走的节点嵌入</a:t>
              </a:r>
              <a:endParaRPr lang="zh-CN" altLang="en-US" sz="20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chemeClr val="bg1">
                      <a:lumMod val="85000"/>
                    </a:schemeClr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2800" b="1" dirty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6"/>
          <p:cNvGrpSpPr/>
          <p:nvPr/>
        </p:nvGrpSpPr>
        <p:grpSpPr>
          <a:xfrm>
            <a:off x="1819275" y="5068422"/>
            <a:ext cx="4071766" cy="716782"/>
            <a:chOff x="1727455" y="4495365"/>
            <a:chExt cx="4071766" cy="716782"/>
          </a:xfrm>
        </p:grpSpPr>
        <p:sp>
          <p:nvSpPr>
            <p:cNvPr id="3" name="文本框 50"/>
            <p:cNvSpPr txBox="1"/>
            <p:nvPr/>
          </p:nvSpPr>
          <p:spPr>
            <a:xfrm>
              <a:off x="2570331" y="4706973"/>
              <a:ext cx="32288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25000"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图嵌入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椭圆 52"/>
            <p:cNvSpPr/>
            <p:nvPr/>
          </p:nvSpPr>
          <p:spPr>
            <a:xfrm>
              <a:off x="1727455" y="4495365"/>
              <a:ext cx="716782" cy="716782"/>
            </a:xfrm>
            <a:prstGeom prst="ellipse">
              <a:avLst/>
            </a:prstGeom>
            <a:noFill/>
            <a:ln w="25400">
              <a:gradFill>
                <a:gsLst>
                  <a:gs pos="76000">
                    <a:schemeClr val="tx2">
                      <a:alpha val="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altLang="zh-CN" sz="2800" b="1" dirty="0">
                  <a:solidFill>
                    <a:srgbClr val="4472C4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04</a:t>
              </a:r>
              <a:endParaRPr lang="en-US" altLang="zh-CN" sz="2800" b="1" dirty="0">
                <a:solidFill>
                  <a:srgbClr val="4472C4"/>
                </a:solidFill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图嵌入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33"/>
              <p:cNvSpPr txBox="1"/>
              <p:nvPr/>
            </p:nvSpPr>
            <p:spPr>
              <a:xfrm>
                <a:off x="777863" y="1267583"/>
                <a:ext cx="10748390" cy="13088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b="1" kern="1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目标：</a:t>
                </a:r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希望对一个子图或整个图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进行嵌入表示。</a:t>
                </a:r>
                <a:endParaRPr lang="en-SG" altLang="zh-CN" sz="2800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图嵌入记作：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1" i="1" smtClean="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d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endPara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5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10748390" cy="1308820"/>
              </a:xfrm>
              <a:prstGeom prst="rect">
                <a:avLst/>
              </a:prstGeom>
              <a:blipFill rotWithShape="1">
                <a:blip r:embed="rId1"/>
                <a:stretch>
                  <a:fillRect l="-6" t="-9" r="3" b="-17984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object 5"/>
          <p:cNvGrpSpPr/>
          <p:nvPr/>
        </p:nvGrpSpPr>
        <p:grpSpPr>
          <a:xfrm>
            <a:off x="2162988" y="2354179"/>
            <a:ext cx="7996643" cy="2224525"/>
            <a:chOff x="536437" y="2209800"/>
            <a:chExt cx="7996643" cy="2224525"/>
          </a:xfrm>
        </p:grpSpPr>
        <p:pic>
          <p:nvPicPr>
            <p:cNvPr id="8" name="object 6"/>
            <p:cNvPicPr/>
            <p:nvPr/>
          </p:nvPicPr>
          <p:blipFill>
            <a:blip r:embed="rId2" cstate="print"/>
            <a:srcRect b="14058"/>
            <a:stretch>
              <a:fillRect/>
            </a:stretch>
          </p:blipFill>
          <p:spPr>
            <a:xfrm>
              <a:off x="1066798" y="2209800"/>
              <a:ext cx="7466282" cy="222452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536437" y="2569965"/>
              <a:ext cx="3413760" cy="1864360"/>
            </a:xfrm>
            <a:custGeom>
              <a:avLst/>
              <a:gdLst/>
              <a:ahLst/>
              <a:cxnLst/>
              <a:rect l="l" t="t" r="r" b="b"/>
              <a:pathLst>
                <a:path w="3413760" h="1864360">
                  <a:moveTo>
                    <a:pt x="3033" y="1123334"/>
                  </a:moveTo>
                  <a:lnTo>
                    <a:pt x="436" y="1090500"/>
                  </a:lnTo>
                  <a:lnTo>
                    <a:pt x="0" y="1057717"/>
                  </a:lnTo>
                  <a:lnTo>
                    <a:pt x="1688" y="1025008"/>
                  </a:lnTo>
                  <a:lnTo>
                    <a:pt x="11307" y="959907"/>
                  </a:lnTo>
                  <a:lnTo>
                    <a:pt x="29022" y="895384"/>
                  </a:lnTo>
                  <a:lnTo>
                    <a:pt x="54561" y="831624"/>
                  </a:lnTo>
                  <a:lnTo>
                    <a:pt x="87655" y="768816"/>
                  </a:lnTo>
                  <a:lnTo>
                    <a:pt x="128031" y="707145"/>
                  </a:lnTo>
                  <a:lnTo>
                    <a:pt x="175420" y="646798"/>
                  </a:lnTo>
                  <a:lnTo>
                    <a:pt x="201659" y="617179"/>
                  </a:lnTo>
                  <a:lnTo>
                    <a:pt x="229549" y="587962"/>
                  </a:lnTo>
                  <a:lnTo>
                    <a:pt x="259057" y="559168"/>
                  </a:lnTo>
                  <a:lnTo>
                    <a:pt x="290149" y="530823"/>
                  </a:lnTo>
                  <a:lnTo>
                    <a:pt x="322790" y="502949"/>
                  </a:lnTo>
                  <a:lnTo>
                    <a:pt x="356947" y="475569"/>
                  </a:lnTo>
                  <a:lnTo>
                    <a:pt x="392586" y="448707"/>
                  </a:lnTo>
                  <a:lnTo>
                    <a:pt x="429674" y="422385"/>
                  </a:lnTo>
                  <a:lnTo>
                    <a:pt x="468175" y="396629"/>
                  </a:lnTo>
                  <a:lnTo>
                    <a:pt x="508057" y="371460"/>
                  </a:lnTo>
                  <a:lnTo>
                    <a:pt x="549286" y="346902"/>
                  </a:lnTo>
                  <a:lnTo>
                    <a:pt x="591827" y="322979"/>
                  </a:lnTo>
                  <a:lnTo>
                    <a:pt x="635647" y="299713"/>
                  </a:lnTo>
                  <a:lnTo>
                    <a:pt x="680712" y="277129"/>
                  </a:lnTo>
                  <a:lnTo>
                    <a:pt x="726987" y="255248"/>
                  </a:lnTo>
                  <a:lnTo>
                    <a:pt x="774440" y="234096"/>
                  </a:lnTo>
                  <a:lnTo>
                    <a:pt x="823036" y="213695"/>
                  </a:lnTo>
                  <a:lnTo>
                    <a:pt x="872742" y="194068"/>
                  </a:lnTo>
                  <a:lnTo>
                    <a:pt x="923523" y="175239"/>
                  </a:lnTo>
                  <a:lnTo>
                    <a:pt x="975346" y="157232"/>
                  </a:lnTo>
                  <a:lnTo>
                    <a:pt x="1028177" y="140068"/>
                  </a:lnTo>
                  <a:lnTo>
                    <a:pt x="1081981" y="123773"/>
                  </a:lnTo>
                  <a:lnTo>
                    <a:pt x="1136725" y="108368"/>
                  </a:lnTo>
                  <a:lnTo>
                    <a:pt x="1192376" y="93879"/>
                  </a:lnTo>
                  <a:lnTo>
                    <a:pt x="1248899" y="80327"/>
                  </a:lnTo>
                  <a:lnTo>
                    <a:pt x="1306260" y="67736"/>
                  </a:lnTo>
                  <a:lnTo>
                    <a:pt x="1364426" y="56129"/>
                  </a:lnTo>
                  <a:lnTo>
                    <a:pt x="1423363" y="45531"/>
                  </a:lnTo>
                  <a:lnTo>
                    <a:pt x="1483036" y="35963"/>
                  </a:lnTo>
                  <a:lnTo>
                    <a:pt x="1543412" y="27451"/>
                  </a:lnTo>
                  <a:lnTo>
                    <a:pt x="1604457" y="20016"/>
                  </a:lnTo>
                  <a:lnTo>
                    <a:pt x="1665632" y="13732"/>
                  </a:lnTo>
                  <a:lnTo>
                    <a:pt x="1726393" y="8648"/>
                  </a:lnTo>
                  <a:lnTo>
                    <a:pt x="1786702" y="4748"/>
                  </a:lnTo>
                  <a:lnTo>
                    <a:pt x="1846522" y="2016"/>
                  </a:lnTo>
                  <a:lnTo>
                    <a:pt x="1905813" y="439"/>
                  </a:lnTo>
                  <a:lnTo>
                    <a:pt x="1964539" y="0"/>
                  </a:lnTo>
                  <a:lnTo>
                    <a:pt x="2022659" y="683"/>
                  </a:lnTo>
                  <a:lnTo>
                    <a:pt x="2080137" y="2475"/>
                  </a:lnTo>
                  <a:lnTo>
                    <a:pt x="2136935" y="5359"/>
                  </a:lnTo>
                  <a:lnTo>
                    <a:pt x="2193013" y="9321"/>
                  </a:lnTo>
                  <a:lnTo>
                    <a:pt x="2248334" y="14345"/>
                  </a:lnTo>
                  <a:lnTo>
                    <a:pt x="2302859" y="20416"/>
                  </a:lnTo>
                  <a:lnTo>
                    <a:pt x="2356551" y="27518"/>
                  </a:lnTo>
                  <a:lnTo>
                    <a:pt x="2409371" y="35637"/>
                  </a:lnTo>
                  <a:lnTo>
                    <a:pt x="2461281" y="44757"/>
                  </a:lnTo>
                  <a:lnTo>
                    <a:pt x="2512242" y="54862"/>
                  </a:lnTo>
                  <a:lnTo>
                    <a:pt x="2562217" y="65939"/>
                  </a:lnTo>
                  <a:lnTo>
                    <a:pt x="2611168" y="77970"/>
                  </a:lnTo>
                  <a:lnTo>
                    <a:pt x="2659055" y="90942"/>
                  </a:lnTo>
                  <a:lnTo>
                    <a:pt x="2705841" y="104839"/>
                  </a:lnTo>
                  <a:lnTo>
                    <a:pt x="2751488" y="119646"/>
                  </a:lnTo>
                  <a:lnTo>
                    <a:pt x="2795958" y="135347"/>
                  </a:lnTo>
                  <a:lnTo>
                    <a:pt x="2839211" y="151927"/>
                  </a:lnTo>
                  <a:lnTo>
                    <a:pt x="2881211" y="169371"/>
                  </a:lnTo>
                  <a:lnTo>
                    <a:pt x="2921919" y="187663"/>
                  </a:lnTo>
                  <a:lnTo>
                    <a:pt x="2961296" y="206789"/>
                  </a:lnTo>
                  <a:lnTo>
                    <a:pt x="2999305" y="226733"/>
                  </a:lnTo>
                  <a:lnTo>
                    <a:pt x="3035907" y="247481"/>
                  </a:lnTo>
                  <a:lnTo>
                    <a:pt x="3071064" y="269015"/>
                  </a:lnTo>
                  <a:lnTo>
                    <a:pt x="3104737" y="291323"/>
                  </a:lnTo>
                  <a:lnTo>
                    <a:pt x="3136890" y="314387"/>
                  </a:lnTo>
                  <a:lnTo>
                    <a:pt x="3167483" y="338193"/>
                  </a:lnTo>
                  <a:lnTo>
                    <a:pt x="3223837" y="387971"/>
                  </a:lnTo>
                  <a:lnTo>
                    <a:pt x="3273495" y="440533"/>
                  </a:lnTo>
                  <a:lnTo>
                    <a:pt x="3316150" y="495758"/>
                  </a:lnTo>
                  <a:lnTo>
                    <a:pt x="3351497" y="553524"/>
                  </a:lnTo>
                  <a:lnTo>
                    <a:pt x="3379230" y="613709"/>
                  </a:lnTo>
                  <a:lnTo>
                    <a:pt x="3399045" y="676191"/>
                  </a:lnTo>
                  <a:lnTo>
                    <a:pt x="3410634" y="740847"/>
                  </a:lnTo>
                  <a:lnTo>
                    <a:pt x="3413667" y="806464"/>
                  </a:lnTo>
                  <a:lnTo>
                    <a:pt x="3411978" y="839172"/>
                  </a:lnTo>
                  <a:lnTo>
                    <a:pt x="3402360" y="904273"/>
                  </a:lnTo>
                  <a:lnTo>
                    <a:pt x="3384645" y="968797"/>
                  </a:lnTo>
                  <a:lnTo>
                    <a:pt x="3359105" y="1032556"/>
                  </a:lnTo>
                  <a:lnTo>
                    <a:pt x="3326012" y="1095365"/>
                  </a:lnTo>
                  <a:lnTo>
                    <a:pt x="3285635" y="1157036"/>
                  </a:lnTo>
                  <a:lnTo>
                    <a:pt x="3238247" y="1217383"/>
                  </a:lnTo>
                  <a:lnTo>
                    <a:pt x="3212008" y="1247002"/>
                  </a:lnTo>
                  <a:lnTo>
                    <a:pt x="3184117" y="1276219"/>
                  </a:lnTo>
                  <a:lnTo>
                    <a:pt x="3154609" y="1305012"/>
                  </a:lnTo>
                  <a:lnTo>
                    <a:pt x="3123518" y="1333358"/>
                  </a:lnTo>
                  <a:lnTo>
                    <a:pt x="3090877" y="1361232"/>
                  </a:lnTo>
                  <a:lnTo>
                    <a:pt x="3056719" y="1388612"/>
                  </a:lnTo>
                  <a:lnTo>
                    <a:pt x="3021080" y="1415474"/>
                  </a:lnTo>
                  <a:lnTo>
                    <a:pt x="2983993" y="1441795"/>
                  </a:lnTo>
                  <a:lnTo>
                    <a:pt x="2945491" y="1467552"/>
                  </a:lnTo>
                  <a:lnTo>
                    <a:pt x="2905609" y="1492721"/>
                  </a:lnTo>
                  <a:lnTo>
                    <a:pt x="2864381" y="1517279"/>
                  </a:lnTo>
                  <a:lnTo>
                    <a:pt x="2821840" y="1541202"/>
                  </a:lnTo>
                  <a:lnTo>
                    <a:pt x="2778020" y="1564468"/>
                  </a:lnTo>
                  <a:lnTo>
                    <a:pt x="2732955" y="1587052"/>
                  </a:lnTo>
                  <a:lnTo>
                    <a:pt x="2686679" y="1608932"/>
                  </a:lnTo>
                  <a:lnTo>
                    <a:pt x="2639226" y="1630085"/>
                  </a:lnTo>
                  <a:lnTo>
                    <a:pt x="2590630" y="1650486"/>
                  </a:lnTo>
                  <a:lnTo>
                    <a:pt x="2540924" y="1670112"/>
                  </a:lnTo>
                  <a:lnTo>
                    <a:pt x="2490143" y="1688941"/>
                  </a:lnTo>
                  <a:lnTo>
                    <a:pt x="2438320" y="1706949"/>
                  </a:lnTo>
                  <a:lnTo>
                    <a:pt x="2385490" y="1724112"/>
                  </a:lnTo>
                  <a:lnTo>
                    <a:pt x="2331686" y="1740408"/>
                  </a:lnTo>
                  <a:lnTo>
                    <a:pt x="2276941" y="1755812"/>
                  </a:lnTo>
                  <a:lnTo>
                    <a:pt x="2221290" y="1770302"/>
                  </a:lnTo>
                  <a:lnTo>
                    <a:pt x="2164768" y="1783854"/>
                  </a:lnTo>
                  <a:lnTo>
                    <a:pt x="2107406" y="1796445"/>
                  </a:lnTo>
                  <a:lnTo>
                    <a:pt x="2049240" y="1808051"/>
                  </a:lnTo>
                  <a:lnTo>
                    <a:pt x="1990304" y="1818650"/>
                  </a:lnTo>
                  <a:lnTo>
                    <a:pt x="1930631" y="1828217"/>
                  </a:lnTo>
                  <a:lnTo>
                    <a:pt x="1870254" y="1836730"/>
                  </a:lnTo>
                  <a:lnTo>
                    <a:pt x="1809209" y="1844165"/>
                  </a:lnTo>
                  <a:lnTo>
                    <a:pt x="1748035" y="1850449"/>
                  </a:lnTo>
                  <a:lnTo>
                    <a:pt x="1687274" y="1855533"/>
                  </a:lnTo>
                  <a:lnTo>
                    <a:pt x="1626964" y="1859433"/>
                  </a:lnTo>
                  <a:lnTo>
                    <a:pt x="1567145" y="1862164"/>
                  </a:lnTo>
                  <a:lnTo>
                    <a:pt x="1507853" y="1863742"/>
                  </a:lnTo>
                  <a:lnTo>
                    <a:pt x="1449128" y="1864181"/>
                  </a:lnTo>
                  <a:lnTo>
                    <a:pt x="1391007" y="1863497"/>
                  </a:lnTo>
                  <a:lnTo>
                    <a:pt x="1333529" y="1861706"/>
                  </a:lnTo>
                  <a:lnTo>
                    <a:pt x="1276732" y="1858821"/>
                  </a:lnTo>
                  <a:lnTo>
                    <a:pt x="1220654" y="1854860"/>
                  </a:lnTo>
                  <a:lnTo>
                    <a:pt x="1165333" y="1849836"/>
                  </a:lnTo>
                  <a:lnTo>
                    <a:pt x="1110807" y="1843765"/>
                  </a:lnTo>
                  <a:lnTo>
                    <a:pt x="1057115" y="1836663"/>
                  </a:lnTo>
                  <a:lnTo>
                    <a:pt x="1004295" y="1828544"/>
                  </a:lnTo>
                  <a:lnTo>
                    <a:pt x="952386" y="1819424"/>
                  </a:lnTo>
                  <a:lnTo>
                    <a:pt x="901424" y="1809318"/>
                  </a:lnTo>
                  <a:lnTo>
                    <a:pt x="851449" y="1798242"/>
                  </a:lnTo>
                  <a:lnTo>
                    <a:pt x="802499" y="1786210"/>
                  </a:lnTo>
                  <a:lnTo>
                    <a:pt x="754611" y="1773238"/>
                  </a:lnTo>
                  <a:lnTo>
                    <a:pt x="707825" y="1759342"/>
                  </a:lnTo>
                  <a:lnTo>
                    <a:pt x="662178" y="1744535"/>
                  </a:lnTo>
                  <a:lnTo>
                    <a:pt x="617709" y="1728834"/>
                  </a:lnTo>
                  <a:lnTo>
                    <a:pt x="574455" y="1712254"/>
                  </a:lnTo>
                  <a:lnTo>
                    <a:pt x="532455" y="1694810"/>
                  </a:lnTo>
                  <a:lnTo>
                    <a:pt x="491748" y="1676518"/>
                  </a:lnTo>
                  <a:lnTo>
                    <a:pt x="452371" y="1657392"/>
                  </a:lnTo>
                  <a:lnTo>
                    <a:pt x="414362" y="1637447"/>
                  </a:lnTo>
                  <a:lnTo>
                    <a:pt x="377760" y="1616700"/>
                  </a:lnTo>
                  <a:lnTo>
                    <a:pt x="342603" y="1595165"/>
                  </a:lnTo>
                  <a:lnTo>
                    <a:pt x="308929" y="1572858"/>
                  </a:lnTo>
                  <a:lnTo>
                    <a:pt x="276777" y="1549794"/>
                  </a:lnTo>
                  <a:lnTo>
                    <a:pt x="246184" y="1525987"/>
                  </a:lnTo>
                  <a:lnTo>
                    <a:pt x="189829" y="1476210"/>
                  </a:lnTo>
                  <a:lnTo>
                    <a:pt x="140172" y="1423648"/>
                  </a:lnTo>
                  <a:lnTo>
                    <a:pt x="97517" y="1368422"/>
                  </a:lnTo>
                  <a:lnTo>
                    <a:pt x="62170" y="1310657"/>
                  </a:lnTo>
                  <a:lnTo>
                    <a:pt x="34436" y="1250472"/>
                  </a:lnTo>
                  <a:lnTo>
                    <a:pt x="14622" y="1187990"/>
                  </a:lnTo>
                  <a:lnTo>
                    <a:pt x="3033" y="1123334"/>
                  </a:lnTo>
                  <a:close/>
                </a:path>
              </a:pathLst>
            </a:custGeom>
            <a:ln w="380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212481" y="4716645"/>
            <a:ext cx="11309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图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11" name="object 10"/>
          <p:cNvSpPr txBox="1"/>
          <p:nvPr/>
        </p:nvSpPr>
        <p:spPr>
          <a:xfrm>
            <a:off x="7332940" y="4716645"/>
            <a:ext cx="22017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Arial MT"/>
              </a:rPr>
              <a:t>嵌入空间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Arial MT"/>
            </a:endParaRPr>
          </a:p>
        </p:txBody>
      </p:sp>
      <p:sp>
        <p:nvSpPr>
          <p:cNvPr id="14" name="文本框 33"/>
          <p:cNvSpPr txBox="1"/>
          <p:nvPr/>
        </p:nvSpPr>
        <p:spPr>
          <a:xfrm>
            <a:off x="777863" y="5010320"/>
            <a:ext cx="10748390" cy="156966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任务：</a:t>
            </a:r>
            <a:endParaRPr lang="zh-CN" altLang="en-US" sz="2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zh-CN" altLang="en-US" sz="26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分类有毒与无毒分子</a:t>
            </a:r>
            <a:endParaRPr lang="zh-CN" altLang="en-US" sz="26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zh-CN" altLang="en-US" sz="26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识别异常图结构</a:t>
            </a:r>
            <a:endParaRPr lang="zh-CN" altLang="en-US" sz="26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lt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22012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图嵌入方法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33"/>
              <p:cNvSpPr txBox="1"/>
              <p:nvPr/>
            </p:nvSpPr>
            <p:spPr>
              <a:xfrm>
                <a:off x="777863" y="1267583"/>
                <a:ext cx="10748390" cy="195515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SG" sz="2800" b="1" kern="1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简单</a:t>
                </a:r>
                <a:r>
                  <a:rPr lang="zh-CN" altLang="en-US" sz="2800" b="1" kern="12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有效的方法：</a:t>
                </a:r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。</a:t>
                </a:r>
                <a:endParaRPr lang="en-SG" altLang="zh-CN" sz="2800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在（子）图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上运行标准的节点嵌入方法</a:t>
                </a:r>
                <a:endParaRPr lang="en-SG" altLang="zh-CN" sz="2800" kern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然后对图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800" kern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lt"/>
                  </a:rPr>
                  <a:t>中的节点嵌入进行求和（或求平均）</a:t>
                </a:r>
                <a:endParaRPr lang="zh-CN" altLang="en-US" sz="28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5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863" y="1267583"/>
                <a:ext cx="10748390" cy="1955151"/>
              </a:xfrm>
              <a:prstGeom prst="rect">
                <a:avLst/>
              </a:prstGeom>
              <a:blipFill rotWithShape="1">
                <a:blip r:embed="rId1"/>
                <a:stretch>
                  <a:fillRect l="-6" t="-6" r="3" b="-1171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250" y="3635267"/>
            <a:ext cx="2603500" cy="1460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22012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图嵌入方法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/>
          <p:cNvSpPr txBox="1"/>
          <p:nvPr/>
        </p:nvSpPr>
        <p:spPr>
          <a:xfrm>
            <a:off x="777863" y="1267583"/>
            <a:ext cx="10748390" cy="1308820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algn="l"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引入一个“虚拟节点”来表示（子）图，并运行标准的节点嵌入方法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3" name="object 5"/>
          <p:cNvPicPr/>
          <p:nvPr/>
        </p:nvPicPr>
        <p:blipFill>
          <a:blip r:embed="rId1" cstate="print"/>
          <a:srcRect b="13063"/>
          <a:stretch>
            <a:fillRect/>
          </a:stretch>
        </p:blipFill>
        <p:spPr>
          <a:xfrm>
            <a:off x="1768679" y="2976171"/>
            <a:ext cx="8654641" cy="261085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SG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如何</a:t>
            </a: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使用嵌入？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33"/>
              <p:cNvSpPr txBox="1"/>
              <p:nvPr/>
            </p:nvSpPr>
            <p:spPr>
              <a:xfrm>
                <a:off x="721805" y="858509"/>
                <a:ext cx="10748390" cy="583313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457200" marR="0" lvl="0" indent="-457200" algn="just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p"/>
                  <a:defRPr kumimoji="0" sz="2000" b="0" i="0" u="none" strike="noStrike" kern="1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cs typeface="+mn-ea"/>
                  </a:defRPr>
                </a:lvl1pPr>
              </a:lstStyle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节点分类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：根据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预测节点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的标签</a:t>
                </a:r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algn="l">
                  <a:buFont typeface="Wingdings" panose="05000000000000000000" pitchFamily="2" charset="2"/>
                  <a:buChar char="q"/>
                </a:pPr>
                <a:r>
                  <a:rPr lang="zh-CN" altLang="en-US" sz="28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链接预测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：根据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预测是否存在边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𝒖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SG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在进行节点对建模时，可以对嵌入进行如下操作：</a:t>
                </a:r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拼接：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])</m:t>
                    </m:r>
                  </m:oMath>
                </a14:m>
                <a:endParaRPr lang="en-SG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SG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Hadamard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积：</a:t>
                </a:r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zh-CN" alt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SG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（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对应元素相乘）</a:t>
                </a:r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求和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/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平均：</a:t>
                </a:r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SG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距离：</a:t>
                </a:r>
                <a:r>
                  <a:rPr lang="en-US" altLang="zh-CN" sz="28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𝒇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𝒗</m:t>
                                </m:r>
                              </m:sub>
                            </m:s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SG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zh-CN" altLang="en-US" sz="28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图分类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：通过聚合节点嵌入或使用虚拟节点得到图嵌入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SG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，</a:t>
                </a:r>
                <a:br>
                  <a:rPr lang="zh-CN" altLang="en-SG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</a:b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再基于图嵌入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进行标签预测。</a:t>
                </a:r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</mc:Choice>
        <mc:Fallback>
          <p:sp>
            <p:nvSpPr>
              <p:cNvPr id="5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05" y="858509"/>
                <a:ext cx="10748390" cy="5833135"/>
              </a:xfrm>
              <a:prstGeom prst="rect">
                <a:avLst/>
              </a:prstGeom>
              <a:blipFill rotWithShape="1">
                <a:blip r:embed="rId1"/>
                <a:stretch>
                  <a:fillRect l="-4" t="-11" r="2" b="-1607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/>
          <p:cNvSpPr txBox="1"/>
          <p:nvPr/>
        </p:nvSpPr>
        <p:spPr>
          <a:xfrm>
            <a:off x="721804" y="858509"/>
            <a:ext cx="10996953" cy="5186805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图表征学习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：无需特征工程、用于下游任务的节点和图嵌入学习方法。</a:t>
            </a:r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解码器框架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编码器：嵌入查找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解码器：基于嵌入预测得分，以匹配节点相似性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节点相似性度量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：随机游走</a:t>
            </a:r>
            <a:endParaRPr lang="en-SG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图嵌入扩展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：通过聚合节点嵌入获得图嵌入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局限性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/>
          <p:cNvSpPr txBox="1"/>
          <p:nvPr/>
        </p:nvSpPr>
        <p:spPr>
          <a:xfrm>
            <a:off x="721804" y="858509"/>
            <a:ext cx="10996953" cy="2601481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pPr marL="0" indent="0" algn="l"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基于随机游走的节点嵌入方法存在以下局限性：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传导式（</a:t>
            </a:r>
            <a:r>
              <a:rPr lang="en-US" altLang="zh-CN" sz="2800" b="1" dirty="0" err="1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transductive</a:t>
            </a:r>
            <a:r>
              <a:rPr lang="zh-CN" altLang="en-US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）而非归纳式（</a:t>
            </a:r>
            <a:r>
              <a:rPr lang="en-US" altLang="zh-CN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inductive</a:t>
            </a:r>
            <a:r>
              <a:rPr lang="zh-CN" altLang="en-US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无法为训练集中未出现的节点生成嵌入；</a:t>
            </a:r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无法应用于新的图或动态变化的图。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804" y="4091711"/>
            <a:ext cx="3792834" cy="24871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94685" y="4091711"/>
            <a:ext cx="61240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示例：在测试阶段新增一个节点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（如社交网络中的新用户），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SG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无法为其计算嵌入，必须重新计算所有节点的嵌入。</a:t>
            </a:r>
            <a:endParaRPr lang="zh-CN" altLang="en-US" sz="2400" dirty="0">
              <a:solidFill>
                <a:srgbClr val="0432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局限性</a:t>
            </a:r>
            <a:r>
              <a:rPr lang="en-US" altLang="zh-CN" sz="2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/>
          <p:cNvSpPr txBox="1"/>
          <p:nvPr/>
        </p:nvSpPr>
        <p:spPr>
          <a:xfrm>
            <a:off x="721804" y="858509"/>
            <a:ext cx="1099695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SG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</a:t>
            </a:r>
            <a:r>
              <a:rPr lang="zh-CN" altLang="en-US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捕捉结构相似性（</a:t>
            </a:r>
            <a:r>
              <a:rPr lang="en-US" altLang="zh-CN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structural</a:t>
            </a:r>
            <a:r>
              <a:rPr lang="zh-CN" altLang="en-US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similarity)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1804" y="4036261"/>
            <a:ext cx="10996953" cy="2601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和节点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结构上是相似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都属于一个三角结构，度为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然而，它们的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嵌入却截然不同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从节点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出发的随机游走不太可能访问到节点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122" y="1520998"/>
            <a:ext cx="9433756" cy="23341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350439" y="120418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局限性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33"/>
          <p:cNvSpPr txBox="1"/>
          <p:nvPr/>
        </p:nvSpPr>
        <p:spPr>
          <a:xfrm>
            <a:off x="721804" y="858509"/>
            <a:ext cx="10996953" cy="662489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marR="0" lvl="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 kumimoji="0" sz="2000" b="0" i="0" u="none" strike="noStrike" kern="1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</a:defRPr>
            </a:lvl1pPr>
          </a:lstStyle>
          <a:p>
            <a:r>
              <a:rPr lang="zh-CN" altLang="en-US" sz="2800" b="1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无法利用节点、边和图的特征信息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SG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1803" y="5328795"/>
            <a:ext cx="10996953" cy="670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rgbClr val="C00000"/>
                </a:solidFill>
              </a:rPr>
              <a:t>解决上述局限的方法：图神经网络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940" y="1735869"/>
            <a:ext cx="2902618" cy="32129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9931" y="2644104"/>
            <a:ext cx="5646911" cy="1955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SG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endParaRPr lang="en-SG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例如：在蛋白质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蛋白质相互作用图中，蛋白质的属性向量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ISLIDE.DIAGRAM" val="#950666;"/>
</p:tagLst>
</file>

<file path=ppt/tags/tag2.xml><?xml version="1.0" encoding="utf-8"?>
<p:tagLst xmlns:p="http://schemas.openxmlformats.org/presentationml/2006/main">
  <p:tag name="ISLIDE.DIAGRAM" val="#950666;"/>
</p:tagLst>
</file>

<file path=ppt/tags/tag3.xml><?xml version="1.0" encoding="utf-8"?>
<p:tagLst xmlns:p="http://schemas.openxmlformats.org/presentationml/2006/main">
  <p:tag name="ISLIDE.DIAGRAM" val="#950666;"/>
</p:tagLst>
</file>

<file path=ppt/tags/tag4.xml><?xml version="1.0" encoding="utf-8"?>
<p:tagLst xmlns:p="http://schemas.openxmlformats.org/presentationml/2006/main">
  <p:tag name="ISLIDE.DIAGRAM" val="#950666;"/>
</p:tagLst>
</file>

<file path=ppt/tags/tag5.xml><?xml version="1.0" encoding="utf-8"?>
<p:tagLst xmlns:p="http://schemas.openxmlformats.org/presentationml/2006/main">
  <p:tag name="ISLIDE.GUIDESSETTING" val="{&quot;Id&quot;:&quot;402a1233-a9f0-48c5-9afd-f14827add457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3674</Words>
  <Application>WPS 演示</Application>
  <PresentationFormat>Widescreen</PresentationFormat>
  <Paragraphs>465</Paragraphs>
  <Slides>38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82" baseType="lpstr">
      <vt:lpstr>Arial</vt:lpstr>
      <vt:lpstr>宋体</vt:lpstr>
      <vt:lpstr>Wingdings</vt:lpstr>
      <vt:lpstr>微软雅黑</vt:lpstr>
      <vt:lpstr>等线</vt:lpstr>
      <vt:lpstr>等线</vt:lpstr>
      <vt:lpstr>方正雅意黑 GB18030L2</vt:lpstr>
      <vt:lpstr>Arial MT</vt:lpstr>
      <vt:lpstr>Cambria Math</vt:lpstr>
      <vt:lpstr>Courier New</vt:lpstr>
      <vt:lpstr>Arial</vt:lpstr>
      <vt:lpstr>Google Sans Text</vt:lpstr>
      <vt:lpstr>Cambria Math</vt:lpstr>
      <vt:lpstr>Symbol</vt:lpstr>
      <vt:lpstr>Times New Roman</vt:lpstr>
      <vt:lpstr>Times New Roman</vt:lpstr>
      <vt:lpstr>黑体</vt:lpstr>
      <vt:lpstr>汉仪中等线KW</vt:lpstr>
      <vt:lpstr>宋体</vt:lpstr>
      <vt:lpstr>Arial Unicode MS</vt:lpstr>
      <vt:lpstr>Aptos Display</vt:lpstr>
      <vt:lpstr>Helvetica Neue</vt:lpstr>
      <vt:lpstr>Aptos</vt:lpstr>
      <vt:lpstr>Corbel</vt:lpstr>
      <vt:lpstr>Calibri</vt:lpstr>
      <vt:lpstr>汉仪书宋二KW</vt:lpstr>
      <vt:lpstr>Kingsoft Math</vt:lpstr>
      <vt:lpstr>Thonburi</vt:lpstr>
      <vt:lpstr>Kingsoft Sign</vt:lpstr>
      <vt:lpstr>汉仪中黑KW</vt:lpstr>
      <vt:lpstr>Arial MT</vt:lpstr>
      <vt:lpstr>Corbel</vt:lpstr>
      <vt:lpstr>Google Sans Text</vt:lpstr>
      <vt:lpstr>Symbol</vt:lpstr>
      <vt:lpstr>Wingdings</vt:lpstr>
      <vt:lpstr>微软雅黑</vt:lpstr>
      <vt:lpstr>等线</vt:lpstr>
      <vt:lpstr>黑体</vt:lpstr>
      <vt:lpstr>苹方-简</vt:lpstr>
      <vt:lpstr>DejaVu Math TeX Gyre</vt:lpstr>
      <vt:lpstr>BatangChe</vt:lpstr>
      <vt:lpstr>Apple SD Gothic Neo</vt:lpstr>
      <vt:lpstr>DejaVuMathTeXGyre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靖杨 徐</dc:creator>
  <cp:lastModifiedBy>HZY</cp:lastModifiedBy>
  <cp:revision>1733</cp:revision>
  <cp:lastPrinted>2026-10-12T05:33:28Z</cp:lastPrinted>
  <dcterms:created xsi:type="dcterms:W3CDTF">2026-10-12T05:33:28Z</dcterms:created>
  <dcterms:modified xsi:type="dcterms:W3CDTF">2026-10-12T05:33:28Z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7A6318D4EF8D7D3DCF77B967B01187DE_42</vt:lpwstr>
  </property>
  <property fmtid="{D5CDD505-2E9C-101B-9397-08002B2CF9AE}" pid="3" name="KSOProductBuildVer">
    <vt:lpwstr>2052-12.1.26055.26055</vt:lpwstr>
  </property>
</Properties>
</file>