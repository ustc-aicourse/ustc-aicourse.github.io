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47"/>
  </p:notesMasterIdLst>
  <p:handoutMasterIdLst>
    <p:handoutMasterId r:id="rId48"/>
  </p:handoutMasterIdLst>
  <p:sldIdLst>
    <p:sldId id="4753" r:id="rId3"/>
    <p:sldId id="4881" r:id="rId4"/>
    <p:sldId id="383" r:id="rId5"/>
    <p:sldId id="4812" r:id="rId6"/>
    <p:sldId id="4813" r:id="rId7"/>
    <p:sldId id="4815" r:id="rId8"/>
    <p:sldId id="4816" r:id="rId9"/>
    <p:sldId id="4817" r:id="rId10"/>
    <p:sldId id="4809" r:id="rId11"/>
    <p:sldId id="4819" r:id="rId12"/>
    <p:sldId id="4806" r:id="rId13"/>
    <p:sldId id="4827" r:id="rId14"/>
    <p:sldId id="4811" r:id="rId15"/>
    <p:sldId id="4823" r:id="rId16"/>
    <p:sldId id="4824" r:id="rId17"/>
    <p:sldId id="4825" r:id="rId18"/>
    <p:sldId id="4826" r:id="rId19"/>
    <p:sldId id="4807" r:id="rId20"/>
    <p:sldId id="4851" r:id="rId21"/>
    <p:sldId id="4852" r:id="rId22"/>
    <p:sldId id="4853" r:id="rId23"/>
    <p:sldId id="4854" r:id="rId24"/>
    <p:sldId id="4855" r:id="rId25"/>
    <p:sldId id="4863" r:id="rId26"/>
    <p:sldId id="4875" r:id="rId27"/>
    <p:sldId id="4876" r:id="rId28"/>
    <p:sldId id="4856" r:id="rId29"/>
    <p:sldId id="4864" r:id="rId30"/>
    <p:sldId id="4877" r:id="rId31"/>
    <p:sldId id="4857" r:id="rId32"/>
    <p:sldId id="4865" r:id="rId33"/>
    <p:sldId id="4859" r:id="rId34"/>
    <p:sldId id="4860" r:id="rId35"/>
    <p:sldId id="4861" r:id="rId36"/>
    <p:sldId id="4878" r:id="rId37"/>
    <p:sldId id="4866" r:id="rId38"/>
    <p:sldId id="4867" r:id="rId39"/>
    <p:sldId id="4869" r:id="rId40"/>
    <p:sldId id="4870" r:id="rId41"/>
    <p:sldId id="4871" r:id="rId42"/>
    <p:sldId id="4872" r:id="rId43"/>
    <p:sldId id="4879" r:id="rId44"/>
    <p:sldId id="4880" r:id="rId45"/>
    <p:sldId id="4874" r:id="rId46"/>
  </p:sldIdLst>
  <p:sldSz cx="12192000" cy="6858000"/>
  <p:notesSz cx="9947275" cy="6858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4472C4"/>
    <a:srgbClr val="A1B8E1"/>
    <a:srgbClr val="E6F4F7"/>
    <a:srgbClr val="D0D9DE"/>
    <a:srgbClr val="A5A58D"/>
    <a:srgbClr val="B8B7A3"/>
    <a:srgbClr val="CB997E"/>
    <a:srgbClr val="DDB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66599" autoAdjust="0"/>
  </p:normalViewPr>
  <p:slideViewPr>
    <p:cSldViewPr snapToGrid="0">
      <p:cViewPr varScale="1">
        <p:scale>
          <a:sx n="83" d="100"/>
          <a:sy n="83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93327-D787-45F8-977F-F2DBBEECC12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2A49B-7EF3-44C4-8D75-678124E9C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45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519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492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35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00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658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714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276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260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表征学习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(representation learning)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又称特征学习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(feature learning)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将原始数据转换成为能够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被机器学习有效利用的形式（数据表征）</a:t>
            </a:r>
            <a:endParaRPr lang="en-US" altLang="zh-CN" sz="2400" b="1" dirty="0">
              <a:solidFill>
                <a:srgbClr val="0070C0"/>
              </a:solidFill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避免了手动提取特征的麻烦，允许计算机学习使用特征的同时，也学习如何提取特征</a:t>
            </a: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470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576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017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69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571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004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50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478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484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04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31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311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561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432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837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0261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393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Improving Language Understanding by Generative Pre-Training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5277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Improving Language Understanding by Generative Pre-Training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09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557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6638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641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469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0028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300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3808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噪声对比估计 </a:t>
            </a:r>
            <a:r>
              <a:rPr lang="en-US" altLang="zh-CN" dirty="0"/>
              <a:t>noise contrastive estimation (NCE) </a:t>
            </a:r>
            <a:r>
              <a:rPr lang="en-US" altLang="zh-CN" sz="1050" dirty="0"/>
              <a:t>[</a:t>
            </a:r>
            <a:r>
              <a:rPr lang="en-US" altLang="zh-CN" sz="1050" dirty="0" err="1"/>
              <a:t>Gutmann</a:t>
            </a:r>
            <a:r>
              <a:rPr lang="en-US" altLang="zh-CN" sz="1050" dirty="0"/>
              <a:t> &amp;</a:t>
            </a:r>
            <a:r>
              <a:rPr lang="zh-CN" altLang="en-US" sz="1050" dirty="0"/>
              <a:t> </a:t>
            </a:r>
            <a:r>
              <a:rPr lang="en-US" altLang="zh-CN" sz="1050" dirty="0" err="1"/>
              <a:t>Hyvarinen</a:t>
            </a:r>
            <a:r>
              <a:rPr lang="en-US" altLang="zh-CN" sz="1050" dirty="0"/>
              <a:t> 2010]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6267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FaceNet</a:t>
            </a:r>
            <a:r>
              <a:rPr lang="en-US" altLang="zh-CN" dirty="0"/>
              <a:t>: A Unified Embedding for Face Recognition and Clustering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6290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Representation Learning with Contrastive Predictive Coding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716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4088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6682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872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Contrastive Multiview Coding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3879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740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0411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9056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417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30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7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75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33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3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36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4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2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60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79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94689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 userDrawn="1"/>
        </p:nvSpPr>
        <p:spPr>
          <a:xfrm>
            <a:off x="344170" y="258445"/>
            <a:ext cx="360000" cy="107950"/>
          </a:xfrm>
          <a:prstGeom prst="roundRect">
            <a:avLst>
              <a:gd name="adj" fmla="val 27634"/>
            </a:avLst>
          </a:prstGeom>
          <a:solidFill>
            <a:srgbClr val="9F2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4170" y="418465"/>
            <a:ext cx="252095" cy="179705"/>
          </a:xfrm>
          <a:prstGeom prst="roundRect">
            <a:avLst/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BE6F7"/>
              </a:solidFill>
            </a:endParaRPr>
          </a:p>
        </p:txBody>
      </p:sp>
      <p:sp>
        <p:nvSpPr>
          <p:cNvPr id="66" name="标题 65"/>
          <p:cNvSpPr>
            <a:spLocks noGrp="1"/>
          </p:cNvSpPr>
          <p:nvPr>
            <p:ph type="title"/>
          </p:nvPr>
        </p:nvSpPr>
        <p:spPr>
          <a:xfrm>
            <a:off x="838200" y="199390"/>
            <a:ext cx="10515600" cy="507365"/>
          </a:xfrm>
        </p:spPr>
        <p:txBody>
          <a:bodyPr/>
          <a:lstStyle>
            <a:lvl1pPr>
              <a:defRPr sz="2400" b="1">
                <a:solidFill>
                  <a:srgbClr val="9B1F24"/>
                </a:solidFill>
                <a:latin typeface="Microsoft YaHei Semibold" panose="020B0502040204020203" charset="-122"/>
                <a:ea typeface="Microsoft YaHei Semibold" panose="020B0502040204020203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6"/>
          <p:cNvSpPr/>
          <p:nvPr userDrawn="1"/>
        </p:nvSpPr>
        <p:spPr>
          <a:xfrm>
            <a:off x="10511790" y="6602095"/>
            <a:ext cx="180000" cy="108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10030460" y="6602095"/>
            <a:ext cx="360000" cy="108000"/>
          </a:xfrm>
          <a:prstGeom prst="roundRect">
            <a:avLst>
              <a:gd name="adj" fmla="val 50000"/>
            </a:avLst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10778490" y="6602095"/>
            <a:ext cx="108000" cy="1080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966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48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153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320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27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58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7292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4108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2547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573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671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103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44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67591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 userDrawn="1"/>
        </p:nvSpPr>
        <p:spPr>
          <a:xfrm>
            <a:off x="344170" y="258445"/>
            <a:ext cx="360000" cy="107950"/>
          </a:xfrm>
          <a:prstGeom prst="roundRect">
            <a:avLst>
              <a:gd name="adj" fmla="val 27634"/>
            </a:avLst>
          </a:prstGeom>
          <a:solidFill>
            <a:srgbClr val="9F2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4170" y="418465"/>
            <a:ext cx="252095" cy="179705"/>
          </a:xfrm>
          <a:prstGeom prst="roundRect">
            <a:avLst/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BE6F7"/>
              </a:solidFill>
            </a:endParaRPr>
          </a:p>
        </p:txBody>
      </p:sp>
      <p:sp>
        <p:nvSpPr>
          <p:cNvPr id="66" name="标题 65"/>
          <p:cNvSpPr>
            <a:spLocks noGrp="1"/>
          </p:cNvSpPr>
          <p:nvPr>
            <p:ph type="title"/>
          </p:nvPr>
        </p:nvSpPr>
        <p:spPr>
          <a:xfrm>
            <a:off x="838200" y="199390"/>
            <a:ext cx="10515600" cy="507365"/>
          </a:xfrm>
        </p:spPr>
        <p:txBody>
          <a:bodyPr/>
          <a:lstStyle>
            <a:lvl1pPr>
              <a:defRPr sz="2400" b="1">
                <a:solidFill>
                  <a:srgbClr val="9B1F24"/>
                </a:solidFill>
                <a:latin typeface="Microsoft YaHei Semibold" panose="020B0502040204020203" charset="-122"/>
                <a:ea typeface="Microsoft YaHei Semibold" panose="020B0502040204020203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6"/>
          <p:cNvSpPr/>
          <p:nvPr userDrawn="1"/>
        </p:nvSpPr>
        <p:spPr>
          <a:xfrm>
            <a:off x="10511790" y="6602095"/>
            <a:ext cx="180000" cy="108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10030460" y="6602095"/>
            <a:ext cx="360000" cy="108000"/>
          </a:xfrm>
          <a:prstGeom prst="roundRect">
            <a:avLst>
              <a:gd name="adj" fmla="val 50000"/>
            </a:avLst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10778490" y="6602095"/>
            <a:ext cx="108000" cy="1080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39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25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65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5359" y="945476"/>
            <a:ext cx="11856641" cy="3198289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lvl="0" algn="ctr" defTabSz="1750695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 sz="3200" b="1" spc="4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3200" b="1" spc="4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人工智能数学原理与算法</a:t>
            </a:r>
            <a:r>
              <a:rPr lang="en-US" altLang="zh-CN" sz="3200" b="1" spc="4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  <a:endParaRPr kumimoji="0" lang="en-US" altLang="zh-CN" sz="3200" b="1" i="0" u="none" strike="noStrike" kern="1200" cap="none" spc="4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自监督学习</a:t>
            </a:r>
            <a:endParaRPr lang="en-US" altLang="zh-CN" sz="3200" b="1" spc="400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800" b="1" i="0" u="none" strike="noStrike" kern="1200" cap="none" spc="4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800" b="1" spc="4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 </a:t>
            </a:r>
            <a:r>
              <a:rPr lang="zh-CN" altLang="en-US" sz="4800" b="1" spc="4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自监督学习概述</a:t>
            </a:r>
            <a:endParaRPr lang="en-US" altLang="zh-CN" sz="4800" b="1" spc="400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278C7B-E86A-3646-BDA5-835DF702BB57}"/>
              </a:ext>
            </a:extLst>
          </p:cNvPr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本章的内容组成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602786" y="1267097"/>
            <a:ext cx="4976949" cy="862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6.1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自监督学习概述</a:t>
            </a:r>
          </a:p>
        </p:txBody>
      </p:sp>
      <p:sp>
        <p:nvSpPr>
          <p:cNvPr id="21" name="矩形 20"/>
          <p:cNvSpPr/>
          <p:nvPr/>
        </p:nvSpPr>
        <p:spPr>
          <a:xfrm>
            <a:off x="578849" y="3296423"/>
            <a:ext cx="4976949" cy="862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6.2 word2vec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BERT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模型</a:t>
            </a:r>
            <a:endParaRPr lang="en-US" altLang="zh-CN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（非自回归）</a:t>
            </a:r>
          </a:p>
        </p:txBody>
      </p:sp>
      <p:sp>
        <p:nvSpPr>
          <p:cNvPr id="22" name="矩形 21"/>
          <p:cNvSpPr/>
          <p:nvPr/>
        </p:nvSpPr>
        <p:spPr>
          <a:xfrm>
            <a:off x="6799527" y="3296423"/>
            <a:ext cx="4976949" cy="862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6.3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自回归语言建模</a:t>
            </a:r>
          </a:p>
        </p:txBody>
      </p:sp>
      <p:sp>
        <p:nvSpPr>
          <p:cNvPr id="33" name="矩形 32"/>
          <p:cNvSpPr/>
          <p:nvPr/>
        </p:nvSpPr>
        <p:spPr>
          <a:xfrm>
            <a:off x="6799527" y="5325749"/>
            <a:ext cx="4976949" cy="862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6.4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大语言模型</a:t>
            </a:r>
          </a:p>
        </p:txBody>
      </p:sp>
      <p:sp>
        <p:nvSpPr>
          <p:cNvPr id="6" name="下箭头 5"/>
          <p:cNvSpPr/>
          <p:nvPr/>
        </p:nvSpPr>
        <p:spPr>
          <a:xfrm>
            <a:off x="4122821" y="2307886"/>
            <a:ext cx="641684" cy="8098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下箭头 33"/>
          <p:cNvSpPr/>
          <p:nvPr/>
        </p:nvSpPr>
        <p:spPr>
          <a:xfrm>
            <a:off x="7381188" y="2318074"/>
            <a:ext cx="641684" cy="8098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/>
        </p:nvSpPr>
        <p:spPr>
          <a:xfrm>
            <a:off x="8967159" y="4347400"/>
            <a:ext cx="641684" cy="8098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37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84EADF-E15C-75FE-866C-153D28CA758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2166C21-2F25-D43F-50AE-BC66DFC3D520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78C5DF4B-3528-4D02-38E8-F1A3EB4B6D10}"/>
                </a:ext>
              </a:extLst>
            </p:cNvPr>
            <p:cNvGrpSpPr/>
            <p:nvPr/>
          </p:nvGrpSpPr>
          <p:grpSpPr>
            <a:xfrm>
              <a:off x="1727455" y="132156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64EE8A-09A1-A494-DC62-6CDCBABBD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自监督学习的基本概念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3D2AB357-C908-5824-397C-F8D83F703679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AD37D50-FA12-F8F8-B895-9CAC6F0EDD60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797E39A-883B-B0B4-0F07-EB9619A5A4A2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2ED94F8-074A-35A6-A675-0D0A960CD68D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目录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F458834-3E00-4672-43CE-C49DF554E0A4}"/>
                </a:ext>
              </a:extLst>
            </p:cNvPr>
            <p:cNvGrpSpPr/>
            <p:nvPr/>
          </p:nvGrpSpPr>
          <p:grpSpPr>
            <a:xfrm>
              <a:off x="1727455" y="2333605"/>
              <a:ext cx="5663945" cy="716782"/>
              <a:chOff x="1727455" y="2419283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0214C84-7FDD-9F55-5484-2B580276E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421690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自监督学习的应用范式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949CE15-86BE-830F-1E86-8976980A8CBE}"/>
                  </a:ext>
                </a:extLst>
              </p:cNvPr>
              <p:cNvSpPr/>
              <p:nvPr/>
            </p:nvSpPr>
            <p:spPr>
              <a:xfrm>
                <a:off x="1727455" y="2419283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7C1B5A0-7032-7391-1431-C552D06F0D66}"/>
                </a:ext>
              </a:extLst>
            </p:cNvPr>
            <p:cNvGrpSpPr/>
            <p:nvPr/>
          </p:nvGrpSpPr>
          <p:grpSpPr>
            <a:xfrm>
              <a:off x="1727455" y="3345642"/>
              <a:ext cx="5663945" cy="716782"/>
              <a:chOff x="1727455" y="3517777"/>
              <a:chExt cx="5663945" cy="716782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464D4D-B0F5-9BFD-02D6-65FF317ED1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352018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自监督学习的主要框架</a:t>
                </a: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0A808E55-53E6-93BC-C227-F9436588F660}"/>
                  </a:ext>
                </a:extLst>
              </p:cNvPr>
              <p:cNvSpPr/>
              <p:nvPr/>
            </p:nvSpPr>
            <p:spPr>
              <a:xfrm>
                <a:off x="1727455" y="351777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2677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从一个例子开始：如何表示一个单词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7"/>
            <a:ext cx="11832083" cy="60196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自然语言处理任务：</a:t>
            </a:r>
            <a:r>
              <a:rPr lang="zh-CN" altLang="en-US" b="1" dirty="0">
                <a:solidFill>
                  <a:srgbClr val="0070C0"/>
                </a:solidFill>
              </a:rPr>
              <a:t>情感分析</a:t>
            </a:r>
            <a:r>
              <a:rPr lang="en-US" altLang="zh-CN" b="1" dirty="0">
                <a:solidFill>
                  <a:srgbClr val="0070C0"/>
                </a:solidFill>
              </a:rPr>
              <a:t>(sentiment analysis)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输入</a:t>
            </a:r>
            <a:r>
              <a:rPr lang="en-US" altLang="zh-CN" dirty="0"/>
              <a:t>(input)</a:t>
            </a:r>
            <a:r>
              <a:rPr lang="zh-CN" altLang="en-US" dirty="0"/>
              <a:t>：句子</a:t>
            </a:r>
            <a:r>
              <a:rPr lang="en-US" altLang="zh-CN" dirty="0"/>
              <a:t>/</a:t>
            </a:r>
            <a:r>
              <a:rPr lang="zh-CN" altLang="en-US" dirty="0"/>
              <a:t>单词序列，例如，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like this movie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输出</a:t>
            </a:r>
            <a:r>
              <a:rPr lang="en-US" altLang="zh-CN" dirty="0"/>
              <a:t>(output)</a:t>
            </a:r>
            <a:r>
              <a:rPr lang="zh-CN" altLang="en-US" dirty="0"/>
              <a:t>：句子情感极性类别，正向</a:t>
            </a:r>
            <a:r>
              <a:rPr lang="en-US" altLang="zh-CN" dirty="0"/>
              <a:t>(positive)</a:t>
            </a:r>
            <a:r>
              <a:rPr lang="zh-CN" altLang="en-US" dirty="0"/>
              <a:t>、负向</a:t>
            </a:r>
            <a:r>
              <a:rPr lang="en-US" altLang="zh-CN" dirty="0"/>
              <a:t>(negative)</a:t>
            </a:r>
            <a:r>
              <a:rPr lang="zh-CN" altLang="en-US" dirty="0"/>
              <a:t>、中立</a:t>
            </a:r>
            <a:r>
              <a:rPr lang="en-US" altLang="zh-CN" dirty="0"/>
              <a:t>(neutral)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算法</a:t>
            </a:r>
            <a:r>
              <a:rPr lang="en-US" altLang="zh-CN" dirty="0"/>
              <a:t>/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𝑓</a:t>
            </a:r>
            <a:r>
              <a:rPr lang="en-US" altLang="zh-CN" dirty="0"/>
              <a:t>)</a:t>
            </a:r>
            <a:r>
              <a:rPr lang="zh-CN" altLang="en-US" dirty="0"/>
              <a:t>：对输入进行计算，得到分类结果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FF0000"/>
                </a:solidFill>
              </a:rPr>
              <a:t>问题：如何在计算机中表示输入句子每个单词，使其能够被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b="1" dirty="0">
                <a:solidFill>
                  <a:srgbClr val="FF0000"/>
                </a:solidFill>
              </a:rPr>
              <a:t>有效处理？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631688" y="1629648"/>
            <a:ext cx="5269581" cy="2302077"/>
            <a:chOff x="3538363" y="2385019"/>
            <a:chExt cx="5269581" cy="23020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: 圆角 43">
                  <a:extLst>
                    <a:ext uri="{FF2B5EF4-FFF2-40B4-BE49-F238E27FC236}">
                      <a16:creationId xmlns:a16="http://schemas.microsoft.com/office/drawing/2014/main" id="{B831E660-93DC-4ECB-F7D9-788C4C00FC67}"/>
                    </a:ext>
                  </a:extLst>
                </p:cNvPr>
                <p:cNvSpPr/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8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8000" dirty="0"/>
                </a:p>
              </p:txBody>
            </p:sp>
          </mc:Choice>
          <mc:Fallback xmlns="">
            <p:sp>
              <p:nvSpPr>
                <p:cNvPr id="23" name="矩形: 圆角 4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831E660-93DC-4ECB-F7D9-788C4C00F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4FDB5960-BFBB-9C03-DA90-B1616D2C1996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3538363" y="3129737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91826C8-1A6C-44F6-E8DB-9D71F3BB2945}"/>
                </a:ext>
              </a:extLst>
            </p:cNvPr>
            <p:cNvCxnSpPr/>
            <p:nvPr/>
          </p:nvCxnSpPr>
          <p:spPr>
            <a:xfrm>
              <a:off x="7327937" y="3127860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294F16D-B598-2CB7-033E-6FE987A5FF2B}"/>
                </a:ext>
              </a:extLst>
            </p:cNvPr>
            <p:cNvSpPr txBox="1"/>
            <p:nvPr/>
          </p:nvSpPr>
          <p:spPr>
            <a:xfrm flipH="1">
              <a:off x="3887154" y="2666195"/>
              <a:ext cx="972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input</a:t>
              </a:r>
              <a:endParaRPr lang="zh-CN" altLang="en-US" sz="24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8C15B89-A1FA-FE4E-D29D-E61DD50D0301}"/>
                </a:ext>
              </a:extLst>
            </p:cNvPr>
            <p:cNvSpPr txBox="1"/>
            <p:nvPr/>
          </p:nvSpPr>
          <p:spPr>
            <a:xfrm flipH="1">
              <a:off x="7525279" y="2666194"/>
              <a:ext cx="1085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output</a:t>
              </a:r>
              <a:endParaRPr lang="zh-CN" altLang="en-US" sz="24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B9D8E89-FFCA-6D1F-476E-10A5F366DE3B}"/>
                </a:ext>
              </a:extLst>
            </p:cNvPr>
            <p:cNvSpPr txBox="1"/>
            <p:nvPr/>
          </p:nvSpPr>
          <p:spPr>
            <a:xfrm flipH="1">
              <a:off x="6242614" y="2435361"/>
              <a:ext cx="1085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</a:rPr>
                <a:t>agent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0109547-3F13-0A18-3D20-8DEFF6A1B5F8}"/>
                </a:ext>
              </a:extLst>
            </p:cNvPr>
            <p:cNvCxnSpPr>
              <a:stCxn id="28" idx="2"/>
            </p:cNvCxnSpPr>
            <p:nvPr/>
          </p:nvCxnSpPr>
          <p:spPr>
            <a:xfrm>
              <a:off x="8067939" y="3127859"/>
              <a:ext cx="0" cy="1538688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肘形 83">
              <a:extLst>
                <a:ext uri="{FF2B5EF4-FFF2-40B4-BE49-F238E27FC236}">
                  <a16:creationId xmlns:a16="http://schemas.microsoft.com/office/drawing/2014/main" id="{3DEF4830-5D1E-B3FD-8542-79D888F8E6BB}"/>
                </a:ext>
              </a:extLst>
            </p:cNvPr>
            <p:cNvCxnSpPr>
              <a:endCxn id="27" idx="2"/>
            </p:cNvCxnSpPr>
            <p:nvPr/>
          </p:nvCxnSpPr>
          <p:spPr>
            <a:xfrm rot="10800000">
              <a:off x="4373343" y="3127861"/>
              <a:ext cx="3694597" cy="155923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AD22974-7A09-CCE8-E3D8-7CE999320012}"/>
                </a:ext>
              </a:extLst>
            </p:cNvPr>
            <p:cNvSpPr txBox="1"/>
            <p:nvPr/>
          </p:nvSpPr>
          <p:spPr>
            <a:xfrm flipH="1">
              <a:off x="5501385" y="4155631"/>
              <a:ext cx="1640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feedback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066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从一个例子开始：如何表示一个单词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算法</a:t>
            </a:r>
            <a:r>
              <a:rPr lang="en-US" altLang="zh-CN" b="1" dirty="0"/>
              <a:t>/</a:t>
            </a:r>
            <a:r>
              <a:rPr lang="zh-CN" altLang="en-US" b="1" dirty="0"/>
              <a:t>模型对于输入数据形式的基本要求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数值，可计算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对于不同的单词，具有统一的形式，例如：固定个数的一组数值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自然语言的基本形式</a:t>
            </a:r>
            <a:r>
              <a:rPr lang="zh-CN" altLang="en-US" b="1" dirty="0"/>
              <a:t>“字符串”并不满足以上要求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没有可测量的物理量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在计算机中以字符编码</a:t>
            </a:r>
            <a:r>
              <a:rPr lang="en-US" altLang="zh-CN" dirty="0"/>
              <a:t>(</a:t>
            </a:r>
            <a:r>
              <a:rPr lang="zh-CN" altLang="en-US" dirty="0"/>
              <a:t>例如</a:t>
            </a:r>
            <a:r>
              <a:rPr lang="en-US" altLang="zh-CN" dirty="0"/>
              <a:t>ASCII</a:t>
            </a:r>
            <a:r>
              <a:rPr lang="zh-CN" altLang="en-US" dirty="0"/>
              <a:t>编码</a:t>
            </a:r>
            <a:r>
              <a:rPr lang="en-US" altLang="zh-CN" dirty="0"/>
              <a:t>)</a:t>
            </a:r>
            <a:r>
              <a:rPr lang="zh-CN" altLang="en-US" dirty="0"/>
              <a:t>方式存储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单词对应字符串的长度不统一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b="1" dirty="0">
              <a:solidFill>
                <a:srgbClr val="0070C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05" y="4792995"/>
            <a:ext cx="9715973" cy="19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0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从一个例子开始：如何表示一个单词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7"/>
            <a:ext cx="11523509" cy="56777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表示单词的最基本方式：</a:t>
            </a:r>
            <a:r>
              <a:rPr lang="zh-CN" altLang="en-US" b="1" dirty="0"/>
              <a:t>独热</a:t>
            </a:r>
            <a:r>
              <a:rPr lang="en-US" altLang="zh-CN" b="1" dirty="0"/>
              <a:t>(one-hot)</a:t>
            </a:r>
            <a:r>
              <a:rPr lang="zh-CN" altLang="en-US" b="1" dirty="0"/>
              <a:t>向量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假设使用的词汇表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/>
              <a:t>大小为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|V|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使用一个维度为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|V|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的向量表示每个单词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对于词汇表中的第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个单词，</a:t>
            </a:r>
            <a:r>
              <a:rPr lang="zh-CN" altLang="en-US" dirty="0"/>
              <a:t>该向量中位置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/>
              <a:t>为 </a:t>
            </a:r>
            <a:r>
              <a:rPr lang="en-US" altLang="zh-CN" dirty="0"/>
              <a:t>1</a:t>
            </a:r>
            <a:r>
              <a:rPr lang="zh-CN" altLang="en-US" dirty="0"/>
              <a:t>，其他位置为 </a:t>
            </a:r>
            <a:r>
              <a:rPr lang="en-US" altLang="zh-CN" dirty="0"/>
              <a:t>0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例如，如果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是词汇表中的第 </a:t>
            </a:r>
            <a:r>
              <a:rPr lang="en-US" altLang="zh-CN" dirty="0"/>
              <a:t>5 </a:t>
            </a:r>
            <a:r>
              <a:rPr lang="zh-CN" altLang="en-US" dirty="0"/>
              <a:t>个单词，那么独热向量为 </a:t>
            </a:r>
            <a:endParaRPr lang="en-US" altLang="zh-CN" dirty="0"/>
          </a:p>
          <a:p>
            <a:pPr marL="0" lvl="1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[0,0,0,0,1,0,…,0]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独热向量的缺陷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70C0"/>
                </a:solidFill>
              </a:rPr>
              <a:t>维度高</a:t>
            </a:r>
            <a:r>
              <a:rPr lang="zh-CN" altLang="en-US" dirty="0"/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|V|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通常较大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例如对于英文通常为数万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，造成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的参数量大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不同单词的独热向量是</a:t>
            </a:r>
            <a:r>
              <a:rPr lang="zh-CN" altLang="en-US" b="1" dirty="0">
                <a:solidFill>
                  <a:srgbClr val="0070C0"/>
                </a:solidFill>
              </a:rPr>
              <a:t>正交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的，无法度量不同单词之间的相似程度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  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movie                  I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movie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3" name="左右箭头 2"/>
          <p:cNvSpPr/>
          <p:nvPr/>
        </p:nvSpPr>
        <p:spPr>
          <a:xfrm>
            <a:off x="6081834" y="6204246"/>
            <a:ext cx="709683" cy="25580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28926" y="600898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23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从一个例子开始：如何表示一个单词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7"/>
            <a:ext cx="11523509" cy="56777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从原始数据到数据表征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模型，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将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原始数据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转换成为能够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被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有效利用的形式（数据表征）</a:t>
            </a:r>
            <a:endParaRPr lang="en-US" altLang="zh-CN" b="1" dirty="0">
              <a:solidFill>
                <a:srgbClr val="0070C0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14848" y="3893160"/>
            <a:ext cx="2243579" cy="104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/>
          <p:cNvCxnSpPr>
            <a:endCxn id="5" idx="1"/>
          </p:cNvCxnSpPr>
          <p:nvPr/>
        </p:nvCxnSpPr>
        <p:spPr>
          <a:xfrm flipV="1">
            <a:off x="3100051" y="4416348"/>
            <a:ext cx="514797" cy="529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5718597" y="4388066"/>
            <a:ext cx="660619" cy="1118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00975" y="3937696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504044" y="4291887"/>
            <a:ext cx="2775119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[0,0,0,0,1,0,…,0]</a:t>
            </a:r>
          </a:p>
        </p:txBody>
      </p:sp>
      <p:sp>
        <p:nvSpPr>
          <p:cNvPr id="18" name="矩形 17"/>
          <p:cNvSpPr/>
          <p:nvPr/>
        </p:nvSpPr>
        <p:spPr>
          <a:xfrm>
            <a:off x="6423638" y="3928746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5858427" y="4291887"/>
            <a:ext cx="300595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[…, 0.24, 0.73, …]</a:t>
            </a:r>
          </a:p>
        </p:txBody>
      </p:sp>
      <p:sp>
        <p:nvSpPr>
          <p:cNvPr id="24" name="矩形 23"/>
          <p:cNvSpPr/>
          <p:nvPr/>
        </p:nvSpPr>
        <p:spPr>
          <a:xfrm>
            <a:off x="9288002" y="3864878"/>
            <a:ext cx="2243579" cy="10463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4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>
            <a:endCxn id="24" idx="1"/>
          </p:cNvCxnSpPr>
          <p:nvPr/>
        </p:nvCxnSpPr>
        <p:spPr>
          <a:xfrm>
            <a:off x="8746248" y="4376886"/>
            <a:ext cx="541754" cy="11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6890817" y="1648711"/>
            <a:ext cx="2243579" cy="10463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>
            <a:endCxn id="33" idx="1"/>
          </p:cNvCxnSpPr>
          <p:nvPr/>
        </p:nvCxnSpPr>
        <p:spPr>
          <a:xfrm>
            <a:off x="6349063" y="2160719"/>
            <a:ext cx="541754" cy="11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994761" y="1749937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36" name="矩形 35"/>
          <p:cNvSpPr/>
          <p:nvPr/>
        </p:nvSpPr>
        <p:spPr>
          <a:xfrm>
            <a:off x="3497830" y="2104128"/>
            <a:ext cx="2775119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[0,0,0,0,1,0,…,0]</a:t>
            </a:r>
          </a:p>
        </p:txBody>
      </p:sp>
      <p:sp>
        <p:nvSpPr>
          <p:cNvPr id="37" name="右弧形箭头 36"/>
          <p:cNvSpPr/>
          <p:nvPr/>
        </p:nvSpPr>
        <p:spPr>
          <a:xfrm>
            <a:off x="9853931" y="2433662"/>
            <a:ext cx="650240" cy="128489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5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8" grpId="0"/>
      <p:bldP spid="20" grpId="0"/>
      <p:bldP spid="24" grpId="0" animBg="1"/>
      <p:bldP spid="33" grpId="0" animBg="1"/>
      <p:bldP spid="35" grpId="0"/>
      <p:bldP spid="36" grpId="0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03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从一个例子开始：如何表示一个单词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7"/>
            <a:ext cx="11523509" cy="56777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如何构建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人工设计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特征工程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(feature engineering)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学习得到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表征学习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(representation learning)</a:t>
            </a:r>
          </a:p>
        </p:txBody>
      </p:sp>
      <p:sp>
        <p:nvSpPr>
          <p:cNvPr id="26" name="矩形 25"/>
          <p:cNvSpPr/>
          <p:nvPr/>
        </p:nvSpPr>
        <p:spPr>
          <a:xfrm>
            <a:off x="4154849" y="2161247"/>
            <a:ext cx="2243579" cy="104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箭头连接符 26"/>
          <p:cNvCxnSpPr>
            <a:endCxn id="26" idx="1"/>
          </p:cNvCxnSpPr>
          <p:nvPr/>
        </p:nvCxnSpPr>
        <p:spPr>
          <a:xfrm>
            <a:off x="3654041" y="2684435"/>
            <a:ext cx="500808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6" idx="3"/>
          </p:cNvCxnSpPr>
          <p:nvPr/>
        </p:nvCxnSpPr>
        <p:spPr>
          <a:xfrm>
            <a:off x="6398428" y="2684435"/>
            <a:ext cx="551679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540976" y="2205783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1044045" y="2559974"/>
            <a:ext cx="2775119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[0,0,0,0,1,0,…,0]</a:t>
            </a:r>
          </a:p>
        </p:txBody>
      </p:sp>
      <p:sp>
        <p:nvSpPr>
          <p:cNvPr id="31" name="矩形 30"/>
          <p:cNvSpPr/>
          <p:nvPr/>
        </p:nvSpPr>
        <p:spPr>
          <a:xfrm>
            <a:off x="7009814" y="2238129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6944739" y="2601270"/>
            <a:ext cx="200567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[0,1,… …]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77494" y="3269145"/>
            <a:ext cx="3243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当前单词是否为名词？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当前单词是否有情感极性？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…</a:t>
            </a:r>
          </a:p>
        </p:txBody>
      </p:sp>
      <p:sp>
        <p:nvSpPr>
          <p:cNvPr id="39" name="矩形 38"/>
          <p:cNvSpPr/>
          <p:nvPr/>
        </p:nvSpPr>
        <p:spPr>
          <a:xfrm>
            <a:off x="4081107" y="4777184"/>
            <a:ext cx="2243579" cy="104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/>
          <p:cNvCxnSpPr>
            <a:endCxn id="39" idx="1"/>
          </p:cNvCxnSpPr>
          <p:nvPr/>
        </p:nvCxnSpPr>
        <p:spPr>
          <a:xfrm>
            <a:off x="3580299" y="5300372"/>
            <a:ext cx="500808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9" idx="3"/>
          </p:cNvCxnSpPr>
          <p:nvPr/>
        </p:nvCxnSpPr>
        <p:spPr>
          <a:xfrm>
            <a:off x="6324686" y="5300372"/>
            <a:ext cx="551679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1467234" y="4821720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970303" y="5175911"/>
            <a:ext cx="2775119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[0,0,0,0,1,0,…,0]</a:t>
            </a:r>
          </a:p>
        </p:txBody>
      </p:sp>
      <p:sp>
        <p:nvSpPr>
          <p:cNvPr id="44" name="矩形 43"/>
          <p:cNvSpPr/>
          <p:nvPr/>
        </p:nvSpPr>
        <p:spPr>
          <a:xfrm>
            <a:off x="6936072" y="4854066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like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this movie</a:t>
            </a:r>
            <a:endParaRPr lang="zh-CN" altLang="en-US" sz="2400" dirty="0"/>
          </a:p>
        </p:txBody>
      </p:sp>
      <p:sp>
        <p:nvSpPr>
          <p:cNvPr id="47" name="矩形 46"/>
          <p:cNvSpPr/>
          <p:nvPr/>
        </p:nvSpPr>
        <p:spPr>
          <a:xfrm>
            <a:off x="6398428" y="5189657"/>
            <a:ext cx="300595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[…, 0.24, 0.73, …]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3830703" y="6233652"/>
            <a:ext cx="2769822" cy="4878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训练数据</a:t>
            </a:r>
          </a:p>
        </p:txBody>
      </p:sp>
      <p:sp>
        <p:nvSpPr>
          <p:cNvPr id="49" name="上箭头 48"/>
          <p:cNvSpPr/>
          <p:nvPr/>
        </p:nvSpPr>
        <p:spPr>
          <a:xfrm>
            <a:off x="4906811" y="5899829"/>
            <a:ext cx="592169" cy="257553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83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/>
      <p:bldP spid="30" grpId="0"/>
      <p:bldP spid="31" grpId="0"/>
      <p:bldP spid="32" grpId="0"/>
      <p:bldP spid="6" grpId="0"/>
      <p:bldP spid="39" grpId="0" animBg="1"/>
      <p:bldP spid="42" grpId="0"/>
      <p:bldP spid="43" grpId="0"/>
      <p:bldP spid="44" grpId="0"/>
      <p:bldP spid="47" grpId="0"/>
      <p:bldP spid="48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1083" y="2251587"/>
            <a:ext cx="11763433" cy="41047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</a:t>
            </a:r>
            <a:r>
              <a:rPr lang="zh-CN" altLang="en-US" sz="2800" b="1">
                <a:solidFill>
                  <a:prstClr val="white"/>
                </a:solidFill>
                <a:cs typeface="+mn-ea"/>
                <a:sym typeface="+mn-lt"/>
              </a:rPr>
              <a:t>监督学习的定义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自监督学习</a:t>
            </a:r>
            <a:r>
              <a:rPr lang="en-US" altLang="zh-CN" b="1" dirty="0"/>
              <a:t>(Self-Supervised Learning, SSL)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是一种</a:t>
            </a:r>
            <a:r>
              <a:rPr lang="zh-CN" altLang="en-US" dirty="0">
                <a:solidFill>
                  <a:srgbClr val="0070C0"/>
                </a:solidFill>
              </a:rPr>
              <a:t>特殊的表征学习</a:t>
            </a:r>
            <a:r>
              <a:rPr lang="zh-CN" altLang="en-US" dirty="0"/>
              <a:t>，能够从无标签数据集中学习良好的</a:t>
            </a:r>
            <a:r>
              <a:rPr lang="zh-CN" altLang="en-US" dirty="0">
                <a:solidFill>
                  <a:srgbClr val="0070C0"/>
                </a:solidFill>
              </a:rPr>
              <a:t>数据表征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3958" y="2631776"/>
            <a:ext cx="9879270" cy="313624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什么是“无标签数据集”？</a:t>
            </a:r>
            <a:endParaRPr lang="en-US" altLang="zh-CN" sz="2400" b="1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数据中没有进行有监督训练所需的输出信息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例如，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文本：只有单词序列，没有情感分析的类别标签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图像：只有像素矩阵，没有人脸识别的身份编号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语音：只有语音波形，没有语音识别的文本转写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乘号 3"/>
          <p:cNvSpPr/>
          <p:nvPr/>
        </p:nvSpPr>
        <p:spPr>
          <a:xfrm>
            <a:off x="10560376" y="2885634"/>
            <a:ext cx="1098225" cy="993058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171" y="2885634"/>
            <a:ext cx="4014564" cy="17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7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1083" y="2251587"/>
            <a:ext cx="11763433" cy="41047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</a:t>
            </a:r>
            <a:r>
              <a:rPr lang="zh-CN" altLang="en-US" sz="2800" b="1">
                <a:solidFill>
                  <a:prstClr val="white"/>
                </a:solidFill>
                <a:cs typeface="+mn-ea"/>
                <a:sym typeface="+mn-lt"/>
              </a:rPr>
              <a:t>监督学习的定义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自监督学习</a:t>
            </a:r>
            <a:r>
              <a:rPr lang="en-US" altLang="zh-CN" b="1" dirty="0"/>
              <a:t>(Self-Supervised Learning, SSL)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是一种</a:t>
            </a:r>
            <a:r>
              <a:rPr lang="zh-CN" altLang="en-US" dirty="0">
                <a:solidFill>
                  <a:srgbClr val="0070C0"/>
                </a:solidFill>
              </a:rPr>
              <a:t>特殊的表征学习</a:t>
            </a:r>
            <a:r>
              <a:rPr lang="zh-CN" altLang="en-US" dirty="0"/>
              <a:t>，能够从无标签数据集中学习良好的</a:t>
            </a:r>
            <a:r>
              <a:rPr lang="zh-CN" altLang="en-US" dirty="0">
                <a:solidFill>
                  <a:srgbClr val="0070C0"/>
                </a:solidFill>
              </a:rPr>
              <a:t>数据表征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3958" y="2631776"/>
            <a:ext cx="9879270" cy="105567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如何进行学习？</a:t>
            </a:r>
            <a:endParaRPr lang="en-US" altLang="zh-CN" sz="2400" b="1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/>
              <a:t>从无监督（无标签）数据集中构建有监督学习任务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乘号 3"/>
          <p:cNvSpPr/>
          <p:nvPr/>
        </p:nvSpPr>
        <p:spPr>
          <a:xfrm>
            <a:off x="3766286" y="4205155"/>
            <a:ext cx="1098225" cy="993058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燕尾形 7"/>
          <p:cNvSpPr/>
          <p:nvPr/>
        </p:nvSpPr>
        <p:spPr>
          <a:xfrm>
            <a:off x="5427616" y="4541600"/>
            <a:ext cx="1172941" cy="561614"/>
          </a:xfrm>
          <a:prstGeom prst="chevron">
            <a:avLst>
              <a:gd name="adj" fmla="val 51158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864" y="3925406"/>
            <a:ext cx="4014564" cy="20758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03" y="4172670"/>
            <a:ext cx="4014564" cy="17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0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84EADF-E15C-75FE-866C-153D28CA758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2166C21-2F25-D43F-50AE-BC66DFC3D520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78C5DF4B-3528-4D02-38E8-F1A3EB4B6D10}"/>
                </a:ext>
              </a:extLst>
            </p:cNvPr>
            <p:cNvGrpSpPr/>
            <p:nvPr/>
          </p:nvGrpSpPr>
          <p:grpSpPr>
            <a:xfrm>
              <a:off x="1727455" y="132156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64EE8A-09A1-A494-DC62-6CDCBABBD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自监督学习的基本概念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3D2AB357-C908-5824-397C-F8D83F703679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AD37D50-FA12-F8F8-B895-9CAC6F0EDD60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797E39A-883B-B0B4-0F07-EB9619A5A4A2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2ED94F8-074A-35A6-A675-0D0A960CD68D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目录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F458834-3E00-4672-43CE-C49DF554E0A4}"/>
                </a:ext>
              </a:extLst>
            </p:cNvPr>
            <p:cNvGrpSpPr/>
            <p:nvPr/>
          </p:nvGrpSpPr>
          <p:grpSpPr>
            <a:xfrm>
              <a:off x="1727455" y="2333605"/>
              <a:ext cx="5663945" cy="716782"/>
              <a:chOff x="1727455" y="2419283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0214C84-7FDD-9F55-5484-2B580276E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421690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自监督学习的应用范式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949CE15-86BE-830F-1E86-8976980A8CBE}"/>
                  </a:ext>
                </a:extLst>
              </p:cNvPr>
              <p:cNvSpPr/>
              <p:nvPr/>
            </p:nvSpPr>
            <p:spPr>
              <a:xfrm>
                <a:off x="1727455" y="2419283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7C1B5A0-7032-7391-1431-C552D06F0D66}"/>
                </a:ext>
              </a:extLst>
            </p:cNvPr>
            <p:cNvGrpSpPr/>
            <p:nvPr/>
          </p:nvGrpSpPr>
          <p:grpSpPr>
            <a:xfrm>
              <a:off x="1727455" y="3345642"/>
              <a:ext cx="5663945" cy="716782"/>
              <a:chOff x="1727455" y="3517777"/>
              <a:chExt cx="5663945" cy="716782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464D4D-B0F5-9BFD-02D6-65FF317ED1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352018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自监督学习的主要框架</a:t>
                </a: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0A808E55-53E6-93BC-C227-F9436588F660}"/>
                  </a:ext>
                </a:extLst>
              </p:cNvPr>
              <p:cNvSpPr/>
              <p:nvPr/>
            </p:nvSpPr>
            <p:spPr>
              <a:xfrm>
                <a:off x="1727455" y="351777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611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自监督学习的意义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数据标注成本高昂，因此高质量的标注数据集数量有限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学习良好的表征有助于将有用信息迁移到各种下游任务中，例如：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/>
              <a:t>某个下游任务只有少量样本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/>
              <a:t>零样本 </a:t>
            </a:r>
            <a:r>
              <a:rPr lang="en-US" altLang="zh-CN" sz="2800" dirty="0"/>
              <a:t>(zero-shot) </a:t>
            </a:r>
            <a:r>
              <a:rPr lang="zh-CN" altLang="en-US" sz="2800" dirty="0"/>
              <a:t>迁移到新任务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自监督学习任务通常也被称为</a:t>
            </a:r>
            <a:r>
              <a:rPr lang="zh-CN" altLang="en-US" dirty="0">
                <a:solidFill>
                  <a:srgbClr val="0070C0"/>
                </a:solidFill>
              </a:rPr>
              <a:t>前置任务 </a:t>
            </a:r>
            <a:r>
              <a:rPr lang="en-US" altLang="zh-CN" dirty="0"/>
              <a:t>(pretext task)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99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自监督学习的应用范式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BF95DC9-B183-E54B-5A5D-9B2312348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b="1" dirty="0"/>
                  <a:t>Step 1  </a:t>
                </a:r>
                <a:r>
                  <a:rPr lang="zh-CN" altLang="en-US" b="1" dirty="0"/>
                  <a:t>预训练 </a:t>
                </a:r>
                <a:r>
                  <a:rPr lang="en-US" altLang="zh-CN" b="1" dirty="0"/>
                  <a:t>(Pre-training)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利用大量无标签预训练数据，通过自监督学习任务，训练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/>
                  <a:t>模型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表征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模型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通常</m:t>
                    </m:r>
                  </m:oMath>
                </a14:m>
                <a:r>
                  <a:rPr lang="zh-CN" altLang="en-US" dirty="0"/>
                  <a:t>为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/>
                  <a:t>中靠近输入端的一部分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="" xmlns:a16="http://schemas.microsoft.com/office/drawing/2014/main" id="{EBF95DC9-B183-E54B-5A5D-9B2312348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  <a:blipFill rotWithShape="0">
                <a:blip r:embed="rId3"/>
                <a:stretch>
                  <a:fillRect l="-1076" t="-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13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3341019" y="4401979"/>
            <a:ext cx="5269581" cy="2302077"/>
            <a:chOff x="3538363" y="2385019"/>
            <a:chExt cx="5269581" cy="23020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圆角 43">
                  <a:extLst>
                    <a:ext uri="{FF2B5EF4-FFF2-40B4-BE49-F238E27FC236}">
                      <a16:creationId xmlns:a16="http://schemas.microsoft.com/office/drawing/2014/main" id="{B831E660-93DC-4ECB-F7D9-788C4C00FC67}"/>
                    </a:ext>
                  </a:extLst>
                </p:cNvPr>
                <p:cNvSpPr/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zh-CN" altLang="en-US" sz="8000" dirty="0"/>
                </a:p>
              </p:txBody>
            </p:sp>
          </mc:Choice>
          <mc:Fallback xmlns="">
            <p:sp>
              <p:nvSpPr>
                <p:cNvPr id="10" name="矩形: 圆角 4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831E660-93DC-4ECB-F7D9-788C4C00F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FDB5960-BFBB-9C03-DA90-B1616D2C1996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3538363" y="3129737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91826C8-1A6C-44F6-E8DB-9D71F3BB2945}"/>
                </a:ext>
              </a:extLst>
            </p:cNvPr>
            <p:cNvCxnSpPr/>
            <p:nvPr/>
          </p:nvCxnSpPr>
          <p:spPr>
            <a:xfrm>
              <a:off x="7327937" y="3127860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294F16D-B598-2CB7-033E-6FE987A5FF2B}"/>
                </a:ext>
              </a:extLst>
            </p:cNvPr>
            <p:cNvSpPr txBox="1"/>
            <p:nvPr/>
          </p:nvSpPr>
          <p:spPr>
            <a:xfrm flipH="1">
              <a:off x="3887154" y="2666195"/>
              <a:ext cx="972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input</a:t>
              </a:r>
              <a:endParaRPr lang="zh-CN" altLang="en-US" sz="2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8C15B89-A1FA-FE4E-D29D-E61DD50D0301}"/>
                </a:ext>
              </a:extLst>
            </p:cNvPr>
            <p:cNvSpPr txBox="1"/>
            <p:nvPr/>
          </p:nvSpPr>
          <p:spPr>
            <a:xfrm flipH="1">
              <a:off x="7525279" y="2666194"/>
              <a:ext cx="1085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input*</a:t>
              </a:r>
              <a:endParaRPr lang="zh-CN" altLang="en-US" sz="2400" dirty="0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0109547-3F13-0A18-3D20-8DEFF6A1B5F8}"/>
                </a:ext>
              </a:extLst>
            </p:cNvPr>
            <p:cNvCxnSpPr>
              <a:stCxn id="18" idx="2"/>
            </p:cNvCxnSpPr>
            <p:nvPr/>
          </p:nvCxnSpPr>
          <p:spPr>
            <a:xfrm>
              <a:off x="8067939" y="3127859"/>
              <a:ext cx="0" cy="1538688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83">
              <a:extLst>
                <a:ext uri="{FF2B5EF4-FFF2-40B4-BE49-F238E27FC236}">
                  <a16:creationId xmlns:a16="http://schemas.microsoft.com/office/drawing/2014/main" id="{3DEF4830-5D1E-B3FD-8542-79D888F8E6BB}"/>
                </a:ext>
              </a:extLst>
            </p:cNvPr>
            <p:cNvCxnSpPr>
              <a:endCxn id="16" idx="2"/>
            </p:cNvCxnSpPr>
            <p:nvPr/>
          </p:nvCxnSpPr>
          <p:spPr>
            <a:xfrm rot="10800000">
              <a:off x="4373343" y="3127861"/>
              <a:ext cx="3694597" cy="155923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AD22974-7A09-CCE8-E3D8-7CE999320012}"/>
                </a:ext>
              </a:extLst>
            </p:cNvPr>
            <p:cNvSpPr txBox="1"/>
            <p:nvPr/>
          </p:nvSpPr>
          <p:spPr>
            <a:xfrm flipH="1">
              <a:off x="5501385" y="4155631"/>
              <a:ext cx="1640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feedback</a:t>
              </a:r>
              <a:endParaRPr lang="zh-CN" altLang="en-US" sz="2400" dirty="0"/>
            </a:p>
          </p:txBody>
        </p:sp>
      </p:grpSp>
      <p:sp>
        <p:nvSpPr>
          <p:cNvPr id="23" name="上弧形箭头 22"/>
          <p:cNvSpPr/>
          <p:nvPr/>
        </p:nvSpPr>
        <p:spPr>
          <a:xfrm>
            <a:off x="4081022" y="4014865"/>
            <a:ext cx="3777600" cy="73438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流程图: 磁盘 2"/>
          <p:cNvSpPr/>
          <p:nvPr/>
        </p:nvSpPr>
        <p:spPr>
          <a:xfrm>
            <a:off x="4444468" y="2727545"/>
            <a:ext cx="3084811" cy="949354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预训练数据集</a:t>
            </a:r>
          </a:p>
        </p:txBody>
      </p:sp>
      <p:cxnSp>
        <p:nvCxnSpPr>
          <p:cNvPr id="5" name="直接箭头连接符 4"/>
          <p:cNvCxnSpPr>
            <a:stCxn id="3" idx="3"/>
            <a:endCxn id="10" idx="0"/>
          </p:cNvCxnSpPr>
          <p:nvPr/>
        </p:nvCxnSpPr>
        <p:spPr>
          <a:xfrm flipH="1">
            <a:off x="5975810" y="3676899"/>
            <a:ext cx="11064" cy="7250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圆角矩形 24"/>
              <p:cNvSpPr/>
              <p:nvPr/>
            </p:nvSpPr>
            <p:spPr>
              <a:xfrm>
                <a:off x="5077860" y="4658124"/>
                <a:ext cx="1117893" cy="9733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圆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860" y="4658124"/>
                <a:ext cx="1117893" cy="973393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98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自监督学习的应用范式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BF95DC9-B183-E54B-5A5D-9B2312348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b="1" dirty="0"/>
                  <a:t>Step 2  </a:t>
                </a:r>
                <a:r>
                  <a:rPr lang="zh-CN" altLang="en-US" b="1" dirty="0"/>
                  <a:t>迁移</a:t>
                </a:r>
                <a:endParaRPr lang="en-US" altLang="zh-CN" b="1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dirty="0"/>
                  <a:t>Case 1: </a:t>
                </a:r>
                <a:r>
                  <a:rPr lang="zh-CN" altLang="en-US" dirty="0"/>
                  <a:t>固定表征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模型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利用任务相关有标签数据，对任务模型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进行有监督的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微调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(fine-tuning)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="" xmlns:a16="http://schemas.microsoft.com/office/drawing/2014/main" id="{EBF95DC9-B183-E54B-5A5D-9B2312348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  <a:blipFill rotWithShape="0">
                <a:blip r:embed="rId3"/>
                <a:stretch>
                  <a:fillRect l="-1076" t="-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14</a:t>
            </a:fld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/>
          <p:nvPr/>
        </p:nvCxnSpPr>
        <p:spPr>
          <a:xfrm>
            <a:off x="1840417" y="5038542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294F16D-B598-2CB7-033E-6FE987A5FF2B}"/>
              </a:ext>
            </a:extLst>
          </p:cNvPr>
          <p:cNvSpPr txBox="1"/>
          <p:nvPr/>
        </p:nvSpPr>
        <p:spPr>
          <a:xfrm flipH="1">
            <a:off x="2189208" y="4575000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3" name="流程图: 磁盘 2"/>
          <p:cNvSpPr/>
          <p:nvPr/>
        </p:nvSpPr>
        <p:spPr>
          <a:xfrm>
            <a:off x="5498127" y="2585128"/>
            <a:ext cx="3084811" cy="949354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任务相关数据集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圆角矩形 24"/>
              <p:cNvSpPr/>
              <p:nvPr/>
            </p:nvSpPr>
            <p:spPr>
              <a:xfrm>
                <a:off x="3304137" y="4291947"/>
                <a:ext cx="1117893" cy="148943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圆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137" y="4291947"/>
                <a:ext cx="1117893" cy="1489435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: 圆角 43">
                <a:extLst>
                  <a:ext uri="{FF2B5EF4-FFF2-40B4-BE49-F238E27FC236}">
                    <a16:creationId xmlns:a16="http://schemas.microsoft.com/office/drawing/2014/main" id="{B831E660-93DC-4ECB-F7D9-788C4C00FC67}"/>
                  </a:ext>
                </a:extLst>
              </p:cNvPr>
              <p:cNvSpPr/>
              <p:nvPr/>
            </p:nvSpPr>
            <p:spPr>
              <a:xfrm>
                <a:off x="5885750" y="4291947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8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8000" dirty="0"/>
              </a:p>
            </p:txBody>
          </p:sp>
        </mc:Choice>
        <mc:Fallback xmlns="">
          <p:sp>
            <p:nvSpPr>
              <p:cNvPr id="27" name="矩形: 圆角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31E660-93DC-4ECB-F7D9-788C4C00F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50" y="4291947"/>
                <a:ext cx="2309567" cy="148943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>
            <a:endCxn id="27" idx="1"/>
          </p:cNvCxnSpPr>
          <p:nvPr/>
        </p:nvCxnSpPr>
        <p:spPr>
          <a:xfrm>
            <a:off x="4405743" y="5036665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1826C8-1A6C-44F6-E8DB-9D71F3BB2945}"/>
              </a:ext>
            </a:extLst>
          </p:cNvPr>
          <p:cNvCxnSpPr/>
          <p:nvPr/>
        </p:nvCxnSpPr>
        <p:spPr>
          <a:xfrm>
            <a:off x="8195317" y="5034788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8C15B89-A1FA-FE4E-D29D-E61DD50D0301}"/>
              </a:ext>
            </a:extLst>
          </p:cNvPr>
          <p:cNvSpPr txBox="1"/>
          <p:nvPr/>
        </p:nvSpPr>
        <p:spPr>
          <a:xfrm flipH="1">
            <a:off x="8392659" y="4573122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D8E89-FFCA-6D1F-476E-10A5F366DE3B}"/>
              </a:ext>
            </a:extLst>
          </p:cNvPr>
          <p:cNvSpPr txBox="1"/>
          <p:nvPr/>
        </p:nvSpPr>
        <p:spPr>
          <a:xfrm flipH="1">
            <a:off x="7109994" y="4342289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agent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0109547-3F13-0A18-3D20-8DEFF6A1B5F8}"/>
              </a:ext>
            </a:extLst>
          </p:cNvPr>
          <p:cNvCxnSpPr>
            <a:stCxn id="31" idx="2"/>
          </p:cNvCxnSpPr>
          <p:nvPr/>
        </p:nvCxnSpPr>
        <p:spPr>
          <a:xfrm>
            <a:off x="8935319" y="5034787"/>
            <a:ext cx="0" cy="153868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83">
            <a:extLst>
              <a:ext uri="{FF2B5EF4-FFF2-40B4-BE49-F238E27FC236}">
                <a16:creationId xmlns:a16="http://schemas.microsoft.com/office/drawing/2014/main" id="{3DEF4830-5D1E-B3FD-8542-79D888F8E6BB}"/>
              </a:ext>
            </a:extLst>
          </p:cNvPr>
          <p:cNvCxnSpPr/>
          <p:nvPr/>
        </p:nvCxnSpPr>
        <p:spPr>
          <a:xfrm rot="10800000">
            <a:off x="5240723" y="5034789"/>
            <a:ext cx="3694597" cy="1559235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D22974-7A09-CCE8-E3D8-7CE999320012}"/>
              </a:ext>
            </a:extLst>
          </p:cNvPr>
          <p:cNvSpPr txBox="1"/>
          <p:nvPr/>
        </p:nvSpPr>
        <p:spPr>
          <a:xfrm flipH="1">
            <a:off x="6368765" y="6062559"/>
            <a:ext cx="164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feedback</a:t>
            </a:r>
            <a:endParaRPr lang="zh-CN" altLang="en-US" sz="2400" dirty="0"/>
          </a:p>
        </p:txBody>
      </p:sp>
      <p:cxnSp>
        <p:nvCxnSpPr>
          <p:cNvPr id="36" name="直接箭头连接符 35"/>
          <p:cNvCxnSpPr>
            <a:stCxn id="3" idx="3"/>
            <a:endCxn id="27" idx="0"/>
          </p:cNvCxnSpPr>
          <p:nvPr/>
        </p:nvCxnSpPr>
        <p:spPr>
          <a:xfrm>
            <a:off x="7040533" y="3534482"/>
            <a:ext cx="1" cy="7574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25" y="4287552"/>
            <a:ext cx="475218" cy="4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5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自监督学习的应用范式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BF95DC9-B183-E54B-5A5D-9B2312348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b="1" dirty="0"/>
                  <a:t>Step 2  </a:t>
                </a:r>
                <a:r>
                  <a:rPr lang="zh-CN" altLang="en-US" b="1" dirty="0"/>
                  <a:t>迁移</a:t>
                </a:r>
                <a:endParaRPr lang="en-US" altLang="zh-CN" b="1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dirty="0"/>
                  <a:t>Case 2: </a:t>
                </a:r>
                <a:r>
                  <a:rPr lang="zh-CN" altLang="en-US" dirty="0"/>
                  <a:t>利用任务相关有标签数据，对表征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模型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dirty="0"/>
                  <a:t>任务模型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进行有监督的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联合微调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="" xmlns:a16="http://schemas.microsoft.com/office/drawing/2014/main" id="{EBF95DC9-B183-E54B-5A5D-9B2312348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439" y="1043747"/>
                <a:ext cx="11327296" cy="5383558"/>
              </a:xfrm>
              <a:blipFill rotWithShape="0">
                <a:blip r:embed="rId3"/>
                <a:stretch>
                  <a:fillRect l="-1076" t="-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15</a:t>
            </a:fld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/>
          <p:nvPr/>
        </p:nvCxnSpPr>
        <p:spPr>
          <a:xfrm>
            <a:off x="1840417" y="5038542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294F16D-B598-2CB7-033E-6FE987A5FF2B}"/>
              </a:ext>
            </a:extLst>
          </p:cNvPr>
          <p:cNvSpPr txBox="1"/>
          <p:nvPr/>
        </p:nvSpPr>
        <p:spPr>
          <a:xfrm flipH="1">
            <a:off x="2189208" y="4575000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3" name="流程图: 磁盘 2"/>
          <p:cNvSpPr/>
          <p:nvPr/>
        </p:nvSpPr>
        <p:spPr>
          <a:xfrm>
            <a:off x="5498127" y="2585128"/>
            <a:ext cx="3084811" cy="949354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任务相关数据集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圆角矩形 24"/>
              <p:cNvSpPr/>
              <p:nvPr/>
            </p:nvSpPr>
            <p:spPr>
              <a:xfrm>
                <a:off x="3304137" y="4291947"/>
                <a:ext cx="1117893" cy="148943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圆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137" y="4291947"/>
                <a:ext cx="1117893" cy="1489435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: 圆角 43">
                <a:extLst>
                  <a:ext uri="{FF2B5EF4-FFF2-40B4-BE49-F238E27FC236}">
                    <a16:creationId xmlns:a16="http://schemas.microsoft.com/office/drawing/2014/main" id="{B831E660-93DC-4ECB-F7D9-788C4C00FC67}"/>
                  </a:ext>
                </a:extLst>
              </p:cNvPr>
              <p:cNvSpPr/>
              <p:nvPr/>
            </p:nvSpPr>
            <p:spPr>
              <a:xfrm>
                <a:off x="5885750" y="4291947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8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8000" dirty="0"/>
              </a:p>
            </p:txBody>
          </p:sp>
        </mc:Choice>
        <mc:Fallback xmlns="">
          <p:sp>
            <p:nvSpPr>
              <p:cNvPr id="27" name="矩形: 圆角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31E660-93DC-4ECB-F7D9-788C4C00F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50" y="4291947"/>
                <a:ext cx="2309567" cy="148943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>
            <a:endCxn id="27" idx="1"/>
          </p:cNvCxnSpPr>
          <p:nvPr/>
        </p:nvCxnSpPr>
        <p:spPr>
          <a:xfrm>
            <a:off x="4405743" y="5036665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1826C8-1A6C-44F6-E8DB-9D71F3BB2945}"/>
              </a:ext>
            </a:extLst>
          </p:cNvPr>
          <p:cNvCxnSpPr/>
          <p:nvPr/>
        </p:nvCxnSpPr>
        <p:spPr>
          <a:xfrm>
            <a:off x="8195317" y="5034788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8C15B89-A1FA-FE4E-D29D-E61DD50D0301}"/>
              </a:ext>
            </a:extLst>
          </p:cNvPr>
          <p:cNvSpPr txBox="1"/>
          <p:nvPr/>
        </p:nvSpPr>
        <p:spPr>
          <a:xfrm flipH="1">
            <a:off x="8392659" y="4573122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D8E89-FFCA-6D1F-476E-10A5F366DE3B}"/>
              </a:ext>
            </a:extLst>
          </p:cNvPr>
          <p:cNvSpPr txBox="1"/>
          <p:nvPr/>
        </p:nvSpPr>
        <p:spPr>
          <a:xfrm flipH="1">
            <a:off x="7109994" y="4342289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agent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0109547-3F13-0A18-3D20-8DEFF6A1B5F8}"/>
              </a:ext>
            </a:extLst>
          </p:cNvPr>
          <p:cNvCxnSpPr>
            <a:stCxn id="31" idx="2"/>
          </p:cNvCxnSpPr>
          <p:nvPr/>
        </p:nvCxnSpPr>
        <p:spPr>
          <a:xfrm>
            <a:off x="8935319" y="5034787"/>
            <a:ext cx="0" cy="153868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83">
            <a:extLst>
              <a:ext uri="{FF2B5EF4-FFF2-40B4-BE49-F238E27FC236}">
                <a16:creationId xmlns:a16="http://schemas.microsoft.com/office/drawing/2014/main" id="{3DEF4830-5D1E-B3FD-8542-79D888F8E6BB}"/>
              </a:ext>
            </a:extLst>
          </p:cNvPr>
          <p:cNvCxnSpPr>
            <a:endCxn id="16" idx="2"/>
          </p:cNvCxnSpPr>
          <p:nvPr/>
        </p:nvCxnSpPr>
        <p:spPr>
          <a:xfrm rot="10800000">
            <a:off x="2675397" y="5036665"/>
            <a:ext cx="6259925" cy="1557360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D22974-7A09-CCE8-E3D8-7CE999320012}"/>
              </a:ext>
            </a:extLst>
          </p:cNvPr>
          <p:cNvSpPr txBox="1"/>
          <p:nvPr/>
        </p:nvSpPr>
        <p:spPr>
          <a:xfrm flipH="1">
            <a:off x="6368765" y="6062559"/>
            <a:ext cx="164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feedback</a:t>
            </a:r>
            <a:endParaRPr lang="zh-CN" altLang="en-US" sz="2400" dirty="0"/>
          </a:p>
        </p:txBody>
      </p:sp>
      <p:cxnSp>
        <p:nvCxnSpPr>
          <p:cNvPr id="36" name="直接箭头连接符 35"/>
          <p:cNvCxnSpPr>
            <a:stCxn id="3" idx="3"/>
            <a:endCxn id="27" idx="0"/>
          </p:cNvCxnSpPr>
          <p:nvPr/>
        </p:nvCxnSpPr>
        <p:spPr>
          <a:xfrm>
            <a:off x="7040533" y="3534482"/>
            <a:ext cx="1" cy="7574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72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自监督学习的应用范式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b="1" dirty="0"/>
              <a:t>Step 2  </a:t>
            </a:r>
            <a:r>
              <a:rPr lang="zh-CN" altLang="en-US" b="1" dirty="0"/>
              <a:t>迁移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Case 3: </a:t>
            </a:r>
            <a:r>
              <a:rPr lang="zh-CN" altLang="en-US" b="1" dirty="0">
                <a:solidFill>
                  <a:srgbClr val="0070C0"/>
                </a:solidFill>
              </a:rPr>
              <a:t>上下文学习</a:t>
            </a:r>
            <a:r>
              <a:rPr lang="en-US" altLang="zh-CN" b="1" dirty="0">
                <a:solidFill>
                  <a:srgbClr val="0070C0"/>
                </a:solidFill>
              </a:rPr>
              <a:t>(in-context learning)</a:t>
            </a:r>
            <a:r>
              <a:rPr lang="zh-CN" altLang="en-US" dirty="0"/>
              <a:t>，少量任务相关示例作为模型输入，预模型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无需显式的梯度更新即可识别和执行新的任务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: 圆角 43">
                <a:extLst>
                  <a:ext uri="{FF2B5EF4-FFF2-40B4-BE49-F238E27FC236}">
                    <a16:creationId xmlns:a16="http://schemas.microsoft.com/office/drawing/2014/main" id="{B831E660-93DC-4ECB-F7D9-788C4C00FC67}"/>
                  </a:ext>
                </a:extLst>
              </p:cNvPr>
              <p:cNvSpPr/>
              <p:nvPr/>
            </p:nvSpPr>
            <p:spPr>
              <a:xfrm>
                <a:off x="4909517" y="4529798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zh-CN" altLang="en-US" sz="8000" dirty="0"/>
              </a:p>
            </p:txBody>
          </p:sp>
        </mc:Choice>
        <mc:Fallback xmlns="">
          <p:sp>
            <p:nvSpPr>
              <p:cNvPr id="23" name="矩形: 圆角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31E660-93DC-4ECB-F7D9-788C4C00F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517" y="4529798"/>
                <a:ext cx="2309567" cy="1489435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>
            <a:endCxn id="23" idx="1"/>
          </p:cNvCxnSpPr>
          <p:nvPr/>
        </p:nvCxnSpPr>
        <p:spPr>
          <a:xfrm>
            <a:off x="3429510" y="5274516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91826C8-1A6C-44F6-E8DB-9D71F3BB2945}"/>
              </a:ext>
            </a:extLst>
          </p:cNvPr>
          <p:cNvCxnSpPr/>
          <p:nvPr/>
        </p:nvCxnSpPr>
        <p:spPr>
          <a:xfrm>
            <a:off x="7219084" y="5272639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294F16D-B598-2CB7-033E-6FE987A5FF2B}"/>
              </a:ext>
            </a:extLst>
          </p:cNvPr>
          <p:cNvSpPr txBox="1"/>
          <p:nvPr/>
        </p:nvSpPr>
        <p:spPr>
          <a:xfrm flipH="1">
            <a:off x="3778301" y="4810974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C15B89-A1FA-FE4E-D29D-E61DD50D0301}"/>
              </a:ext>
            </a:extLst>
          </p:cNvPr>
          <p:cNvSpPr txBox="1"/>
          <p:nvPr/>
        </p:nvSpPr>
        <p:spPr>
          <a:xfrm flipH="1">
            <a:off x="7416426" y="4810973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圆角矩形 44"/>
              <p:cNvSpPr/>
              <p:nvPr/>
            </p:nvSpPr>
            <p:spPr>
              <a:xfrm>
                <a:off x="5166351" y="4785943"/>
                <a:ext cx="1117893" cy="9733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圆角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51" y="4785943"/>
                <a:ext cx="1117893" cy="973393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流程图: 磁盘 45"/>
          <p:cNvSpPr/>
          <p:nvPr/>
        </p:nvSpPr>
        <p:spPr>
          <a:xfrm>
            <a:off x="2627108" y="3180335"/>
            <a:ext cx="3084811" cy="949354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少量任务相关示例</a:t>
            </a:r>
          </a:p>
        </p:txBody>
      </p:sp>
      <p:cxnSp>
        <p:nvCxnSpPr>
          <p:cNvPr id="47" name="直接箭头连接符 46"/>
          <p:cNvCxnSpPr>
            <a:stCxn id="46" idx="3"/>
          </p:cNvCxnSpPr>
          <p:nvPr/>
        </p:nvCxnSpPr>
        <p:spPr>
          <a:xfrm>
            <a:off x="4169514" y="4129689"/>
            <a:ext cx="1" cy="7574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393" y="4508421"/>
            <a:ext cx="475218" cy="4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5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自监督学习的应用范式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b="1" dirty="0"/>
              <a:t>Step 2  </a:t>
            </a:r>
            <a:r>
              <a:rPr lang="zh-CN" altLang="en-US" b="1" dirty="0"/>
              <a:t>迁移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Case 4: </a:t>
            </a:r>
            <a:r>
              <a:rPr lang="zh-CN" altLang="en-US" b="1" dirty="0">
                <a:solidFill>
                  <a:srgbClr val="0070C0"/>
                </a:solidFill>
              </a:rPr>
              <a:t>零样本学习</a:t>
            </a:r>
            <a:r>
              <a:rPr lang="en-US" altLang="zh-CN" b="1" dirty="0">
                <a:solidFill>
                  <a:srgbClr val="0070C0"/>
                </a:solidFill>
              </a:rPr>
              <a:t>(zero-shot learning)</a:t>
            </a:r>
            <a:r>
              <a:rPr lang="zh-CN" altLang="en-US" b="1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，模型在没有任务相关训练样例的情况下有能力执行多种任务，不需要经过任务相关的有监督参数更新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: 圆角 43">
                <a:extLst>
                  <a:ext uri="{FF2B5EF4-FFF2-40B4-BE49-F238E27FC236}">
                    <a16:creationId xmlns:a16="http://schemas.microsoft.com/office/drawing/2014/main" id="{B831E660-93DC-4ECB-F7D9-788C4C00FC67}"/>
                  </a:ext>
                </a:extLst>
              </p:cNvPr>
              <p:cNvSpPr/>
              <p:nvPr/>
            </p:nvSpPr>
            <p:spPr>
              <a:xfrm>
                <a:off x="4909517" y="4529798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6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zh-CN" altLang="en-US" sz="8000" dirty="0"/>
              </a:p>
            </p:txBody>
          </p:sp>
        </mc:Choice>
        <mc:Fallback xmlns="">
          <p:sp>
            <p:nvSpPr>
              <p:cNvPr id="23" name="矩形: 圆角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31E660-93DC-4ECB-F7D9-788C4C00F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517" y="4529798"/>
                <a:ext cx="2309567" cy="1489435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FDB5960-BFBB-9C03-DA90-B1616D2C1996}"/>
              </a:ext>
            </a:extLst>
          </p:cNvPr>
          <p:cNvCxnSpPr>
            <a:endCxn id="23" idx="1"/>
          </p:cNvCxnSpPr>
          <p:nvPr/>
        </p:nvCxnSpPr>
        <p:spPr>
          <a:xfrm>
            <a:off x="3429510" y="5274516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91826C8-1A6C-44F6-E8DB-9D71F3BB2945}"/>
              </a:ext>
            </a:extLst>
          </p:cNvPr>
          <p:cNvCxnSpPr/>
          <p:nvPr/>
        </p:nvCxnSpPr>
        <p:spPr>
          <a:xfrm>
            <a:off x="7219084" y="5272639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294F16D-B598-2CB7-033E-6FE987A5FF2B}"/>
              </a:ext>
            </a:extLst>
          </p:cNvPr>
          <p:cNvSpPr txBox="1"/>
          <p:nvPr/>
        </p:nvSpPr>
        <p:spPr>
          <a:xfrm flipH="1">
            <a:off x="3778301" y="4810974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C15B89-A1FA-FE4E-D29D-E61DD50D0301}"/>
              </a:ext>
            </a:extLst>
          </p:cNvPr>
          <p:cNvSpPr txBox="1"/>
          <p:nvPr/>
        </p:nvSpPr>
        <p:spPr>
          <a:xfrm flipH="1">
            <a:off x="7416426" y="4810973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圆角矩形 44"/>
              <p:cNvSpPr/>
              <p:nvPr/>
            </p:nvSpPr>
            <p:spPr>
              <a:xfrm>
                <a:off x="5166351" y="4785943"/>
                <a:ext cx="1117893" cy="9733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圆角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51" y="4785943"/>
                <a:ext cx="1117893" cy="973393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图片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393" y="4508421"/>
            <a:ext cx="475218" cy="475218"/>
          </a:xfrm>
          <a:prstGeom prst="rect">
            <a:avLst/>
          </a:prstGeom>
        </p:spPr>
      </p:pic>
      <p:sp>
        <p:nvSpPr>
          <p:cNvPr id="3" name="云形标注 2"/>
          <p:cNvSpPr/>
          <p:nvPr/>
        </p:nvSpPr>
        <p:spPr>
          <a:xfrm>
            <a:off x="5166351" y="2989567"/>
            <a:ext cx="4651513" cy="1258957"/>
          </a:xfrm>
          <a:prstGeom prst="cloud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大语言模型</a:t>
            </a:r>
          </a:p>
        </p:txBody>
      </p:sp>
    </p:spTree>
    <p:extLst>
      <p:ext uri="{BB962C8B-B14F-4D97-AF65-F5344CB8AC3E}">
        <p14:creationId xmlns:p14="http://schemas.microsoft.com/office/powerpoint/2010/main" val="333325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84EADF-E15C-75FE-866C-153D28CA758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2166C21-2F25-D43F-50AE-BC66DFC3D520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78C5DF4B-3528-4D02-38E8-F1A3EB4B6D10}"/>
                </a:ext>
              </a:extLst>
            </p:cNvPr>
            <p:cNvGrpSpPr/>
            <p:nvPr/>
          </p:nvGrpSpPr>
          <p:grpSpPr>
            <a:xfrm>
              <a:off x="1727455" y="132156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64EE8A-09A1-A494-DC62-6CDCBABBD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自监督学习的基本概念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3D2AB357-C908-5824-397C-F8D83F703679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AD37D50-FA12-F8F8-B895-9CAC6F0EDD60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797E39A-883B-B0B4-0F07-EB9619A5A4A2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2ED94F8-074A-35A6-A675-0D0A960CD68D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目录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F458834-3E00-4672-43CE-C49DF554E0A4}"/>
                </a:ext>
              </a:extLst>
            </p:cNvPr>
            <p:cNvGrpSpPr/>
            <p:nvPr/>
          </p:nvGrpSpPr>
          <p:grpSpPr>
            <a:xfrm>
              <a:off x="1727455" y="2333605"/>
              <a:ext cx="5663945" cy="716782"/>
              <a:chOff x="1727455" y="2419283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0214C84-7FDD-9F55-5484-2B580276E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421690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自监督学习的应用范式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949CE15-86BE-830F-1E86-8976980A8CBE}"/>
                  </a:ext>
                </a:extLst>
              </p:cNvPr>
              <p:cNvSpPr/>
              <p:nvPr/>
            </p:nvSpPr>
            <p:spPr>
              <a:xfrm>
                <a:off x="1727455" y="2419283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7C1B5A0-7032-7391-1431-C552D06F0D66}"/>
                </a:ext>
              </a:extLst>
            </p:cNvPr>
            <p:cNvGrpSpPr/>
            <p:nvPr/>
          </p:nvGrpSpPr>
          <p:grpSpPr>
            <a:xfrm>
              <a:off x="1727455" y="3345642"/>
              <a:ext cx="5663945" cy="716782"/>
              <a:chOff x="1727455" y="3517777"/>
              <a:chExt cx="5663945" cy="716782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5464D4D-B0F5-9BFD-02D6-65FF317ED1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352018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自监督学习的主要框架</a:t>
                </a: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0A808E55-53E6-93BC-C227-F9436588F660}"/>
                  </a:ext>
                </a:extLst>
              </p:cNvPr>
              <p:cNvSpPr/>
              <p:nvPr/>
            </p:nvSpPr>
            <p:spPr>
              <a:xfrm>
                <a:off x="1727455" y="351777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10039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标注 2"/>
          <p:cNvSpPr/>
          <p:nvPr/>
        </p:nvSpPr>
        <p:spPr>
          <a:xfrm>
            <a:off x="6162677" y="1744118"/>
            <a:ext cx="5417574" cy="4235185"/>
          </a:xfrm>
          <a:prstGeom prst="wedgeRoundRectCallout">
            <a:avLst>
              <a:gd name="adj1" fmla="val -85179"/>
              <a:gd name="adj2" fmla="val -10096"/>
              <a:gd name="adj3" fmla="val 1666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00"/>
                </a:solidFill>
              </a:rPr>
              <a:t>如何从无监督（无标签）数据集中构建有监督学习任务？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24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chemeClr val="tx1"/>
                </a:solidFill>
              </a:rPr>
              <a:t>当前两种主要框架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354013" lvl="1" indent="-35401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自预测 </a:t>
            </a:r>
            <a:r>
              <a:rPr lang="en-US" altLang="zh-CN" sz="2400" dirty="0">
                <a:solidFill>
                  <a:schemeClr val="tx1"/>
                </a:solidFill>
              </a:rPr>
              <a:t>(self-prediction)</a:t>
            </a:r>
          </a:p>
          <a:p>
            <a:pPr marL="354013" lvl="1" indent="-35401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对比学习  </a:t>
            </a:r>
            <a:r>
              <a:rPr lang="en-US" altLang="zh-CN" sz="2400" dirty="0">
                <a:solidFill>
                  <a:schemeClr val="tx1"/>
                </a:solidFill>
              </a:rPr>
              <a:t>(contrastive learning)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自监督学习的主要框架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350438" y="3605566"/>
            <a:ext cx="5269581" cy="2302077"/>
            <a:chOff x="3538363" y="2385019"/>
            <a:chExt cx="5269581" cy="23020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: 圆角 43">
                  <a:extLst>
                    <a:ext uri="{FF2B5EF4-FFF2-40B4-BE49-F238E27FC236}">
                      <a16:creationId xmlns:a16="http://schemas.microsoft.com/office/drawing/2014/main" id="{B831E660-93DC-4ECB-F7D9-788C4C00FC67}"/>
                    </a:ext>
                  </a:extLst>
                </p:cNvPr>
                <p:cNvSpPr/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zh-CN" altLang="en-US" sz="8000" dirty="0"/>
                </a:p>
              </p:txBody>
            </p:sp>
          </mc:Choice>
          <mc:Fallback xmlns="">
            <p:sp>
              <p:nvSpPr>
                <p:cNvPr id="18" name="矩形: 圆角 4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831E660-93DC-4ECB-F7D9-788C4C00F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370" y="2385019"/>
                  <a:ext cx="2309567" cy="1489435"/>
                </a:xfrm>
                <a:prstGeom prst="round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4FDB5960-BFBB-9C03-DA90-B1616D2C1996}"/>
                </a:ext>
              </a:extLst>
            </p:cNvPr>
            <p:cNvCxnSpPr>
              <a:endCxn id="18" idx="1"/>
            </p:cNvCxnSpPr>
            <p:nvPr/>
          </p:nvCxnSpPr>
          <p:spPr>
            <a:xfrm>
              <a:off x="3538363" y="3129737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691826C8-1A6C-44F6-E8DB-9D71F3BB2945}"/>
                </a:ext>
              </a:extLst>
            </p:cNvPr>
            <p:cNvCxnSpPr/>
            <p:nvPr/>
          </p:nvCxnSpPr>
          <p:spPr>
            <a:xfrm>
              <a:off x="7327937" y="3127860"/>
              <a:ext cx="14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294F16D-B598-2CB7-033E-6FE987A5FF2B}"/>
                </a:ext>
              </a:extLst>
            </p:cNvPr>
            <p:cNvSpPr txBox="1"/>
            <p:nvPr/>
          </p:nvSpPr>
          <p:spPr>
            <a:xfrm flipH="1">
              <a:off x="3887154" y="2666195"/>
              <a:ext cx="972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input</a:t>
              </a:r>
              <a:endParaRPr lang="zh-CN" altLang="en-US" sz="24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8C15B89-A1FA-FE4E-D29D-E61DD50D0301}"/>
                </a:ext>
              </a:extLst>
            </p:cNvPr>
            <p:cNvSpPr txBox="1"/>
            <p:nvPr/>
          </p:nvSpPr>
          <p:spPr>
            <a:xfrm flipH="1">
              <a:off x="7525279" y="2666194"/>
              <a:ext cx="1085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input*</a:t>
              </a:r>
              <a:endParaRPr lang="zh-CN" altLang="en-US" sz="2400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0109547-3F13-0A18-3D20-8DEFF6A1B5F8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8067939" y="3127859"/>
              <a:ext cx="0" cy="1538688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83">
              <a:extLst>
                <a:ext uri="{FF2B5EF4-FFF2-40B4-BE49-F238E27FC236}">
                  <a16:creationId xmlns:a16="http://schemas.microsoft.com/office/drawing/2014/main" id="{3DEF4830-5D1E-B3FD-8542-79D888F8E6BB}"/>
                </a:ext>
              </a:extLst>
            </p:cNvPr>
            <p:cNvCxnSpPr>
              <a:endCxn id="22" idx="2"/>
            </p:cNvCxnSpPr>
            <p:nvPr/>
          </p:nvCxnSpPr>
          <p:spPr>
            <a:xfrm rot="10800000">
              <a:off x="4373343" y="3127861"/>
              <a:ext cx="3694597" cy="155923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AD22974-7A09-CCE8-E3D8-7CE999320012}"/>
                </a:ext>
              </a:extLst>
            </p:cNvPr>
            <p:cNvSpPr txBox="1"/>
            <p:nvPr/>
          </p:nvSpPr>
          <p:spPr>
            <a:xfrm flipH="1">
              <a:off x="5501385" y="4155631"/>
              <a:ext cx="1640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feedback</a:t>
              </a:r>
              <a:endParaRPr lang="zh-CN" altLang="en-US" sz="2400" dirty="0"/>
            </a:p>
          </p:txBody>
        </p:sp>
      </p:grpSp>
      <p:sp>
        <p:nvSpPr>
          <p:cNvPr id="29" name="上弧形箭头 28"/>
          <p:cNvSpPr/>
          <p:nvPr/>
        </p:nvSpPr>
        <p:spPr>
          <a:xfrm>
            <a:off x="1090441" y="3218452"/>
            <a:ext cx="3777600" cy="73438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流程图: 磁盘 29"/>
          <p:cNvSpPr/>
          <p:nvPr/>
        </p:nvSpPr>
        <p:spPr>
          <a:xfrm>
            <a:off x="1453887" y="1931132"/>
            <a:ext cx="3084811" cy="949354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预训练数据集</a:t>
            </a:r>
          </a:p>
        </p:txBody>
      </p:sp>
      <p:cxnSp>
        <p:nvCxnSpPr>
          <p:cNvPr id="31" name="直接箭头连接符 30"/>
          <p:cNvCxnSpPr>
            <a:stCxn id="30" idx="3"/>
            <a:endCxn id="18" idx="0"/>
          </p:cNvCxnSpPr>
          <p:nvPr/>
        </p:nvCxnSpPr>
        <p:spPr>
          <a:xfrm flipH="1">
            <a:off x="2985229" y="2880486"/>
            <a:ext cx="11064" cy="7250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圆角矩形 31"/>
              <p:cNvSpPr/>
              <p:nvPr/>
            </p:nvSpPr>
            <p:spPr>
              <a:xfrm>
                <a:off x="2087279" y="3861711"/>
                <a:ext cx="1117893" cy="9733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圆角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279" y="3861711"/>
                <a:ext cx="1117893" cy="973393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969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自监督学习的主要框架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自预测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给定单个数据样本，任务是根据样本的一部分预测另一部分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被预测的部分被假定为缺失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这是一种 “</a:t>
            </a:r>
            <a:r>
              <a:rPr lang="zh-CN" altLang="en-US" b="1" dirty="0">
                <a:solidFill>
                  <a:srgbClr val="0070C0"/>
                </a:solidFill>
              </a:rPr>
              <a:t>样本内 </a:t>
            </a:r>
            <a:r>
              <a:rPr lang="en-US" altLang="zh-CN" b="1" dirty="0">
                <a:solidFill>
                  <a:srgbClr val="0070C0"/>
                </a:solidFill>
              </a:rPr>
              <a:t>(intra-sample)</a:t>
            </a:r>
            <a:r>
              <a:rPr lang="en-US" altLang="zh-CN" dirty="0"/>
              <a:t>” </a:t>
            </a:r>
            <a:r>
              <a:rPr lang="zh-CN" altLang="en-US" dirty="0"/>
              <a:t>预测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对比学习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给定多个数据样本，任务是预测它们之间的关系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这些样本可以根据已知逻辑从数据集中选择，也可以通过改变原始数据生成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这是一种 “</a:t>
            </a:r>
            <a:r>
              <a:rPr lang="zh-CN" altLang="en-US" b="1" dirty="0">
                <a:solidFill>
                  <a:srgbClr val="0070C0"/>
                </a:solidFill>
              </a:rPr>
              <a:t>样本间 </a:t>
            </a:r>
            <a:r>
              <a:rPr lang="en-US" altLang="zh-CN" b="1" dirty="0">
                <a:solidFill>
                  <a:srgbClr val="0070C0"/>
                </a:solidFill>
              </a:rPr>
              <a:t>(inter-sample)</a:t>
            </a:r>
            <a:r>
              <a:rPr lang="zh-CN" altLang="en-US" dirty="0"/>
              <a:t>” 预测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20" y="2150799"/>
            <a:ext cx="2492742" cy="103451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r="42026"/>
          <a:stretch/>
        </p:blipFill>
        <p:spPr>
          <a:xfrm>
            <a:off x="8163320" y="5329861"/>
            <a:ext cx="2627874" cy="124452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791194" y="575207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关系？</a:t>
            </a:r>
          </a:p>
        </p:txBody>
      </p:sp>
    </p:spTree>
    <p:extLst>
      <p:ext uri="{BB962C8B-B14F-4D97-AF65-F5344CB8AC3E}">
        <p14:creationId xmlns:p14="http://schemas.microsoft.com/office/powerpoint/2010/main" val="10888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在每个数据样本内构建预测任务；在假装不知道数据某部分的情况下，根据其余部分预测该部分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862" y="2292314"/>
            <a:ext cx="9065877" cy="42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43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在每个数据样本内构建预测任务；在假装不知道数据某部分的情况下，根据其余部分预测该部分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）自回归生成 </a:t>
            </a:r>
            <a:r>
              <a:rPr lang="en-US" altLang="zh-CN" dirty="0"/>
              <a:t>(autoregressive generation)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）掩码生成 </a:t>
            </a:r>
            <a:r>
              <a:rPr lang="en-US" altLang="zh-CN" dirty="0"/>
              <a:t>(masked generation)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）内在关系预测 </a:t>
            </a:r>
            <a:r>
              <a:rPr lang="en-US" altLang="zh-CN" dirty="0"/>
              <a:t>(innate relationship prediction)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59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）自回归生成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根据过去的数据预测未来的数据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任何具有固有顺序的数据都可以用回归模型进行建模，例如：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音频（</a:t>
            </a:r>
            <a:r>
              <a:rPr lang="en-US" altLang="zh-CN" dirty="0" err="1"/>
              <a:t>WaveNet</a:t>
            </a:r>
            <a:r>
              <a:rPr lang="zh-CN" altLang="en-US" dirty="0"/>
              <a:t>、</a:t>
            </a:r>
            <a:r>
              <a:rPr lang="en-US" altLang="zh-CN" dirty="0" err="1"/>
              <a:t>WaveRNN</a:t>
            </a:r>
            <a:r>
              <a:rPr lang="zh-CN" altLang="en-US" dirty="0"/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语言（</a:t>
            </a:r>
            <a:r>
              <a:rPr lang="en-US" altLang="zh-CN" dirty="0"/>
              <a:t>GPT</a:t>
            </a:r>
            <a:r>
              <a:rPr lang="zh-CN" altLang="en-US" dirty="0"/>
              <a:t>、</a:t>
            </a:r>
            <a:r>
              <a:rPr lang="en-US" altLang="zh-CN" dirty="0" err="1"/>
              <a:t>XLNet</a:t>
            </a:r>
            <a:r>
              <a:rPr lang="zh-CN" altLang="en-US" dirty="0"/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图像（</a:t>
            </a:r>
            <a:r>
              <a:rPr lang="en-US" altLang="zh-CN" dirty="0" err="1"/>
              <a:t>PixelCNN</a:t>
            </a:r>
            <a:r>
              <a:rPr lang="zh-CN" altLang="en-US" dirty="0"/>
              <a:t>、</a:t>
            </a:r>
            <a:r>
              <a:rPr lang="en-US" altLang="zh-CN" dirty="0" err="1"/>
              <a:t>PixelRNN</a:t>
            </a:r>
            <a:r>
              <a:rPr lang="zh-CN" altLang="en-US" dirty="0"/>
              <a:t>）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23</a:t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842599" y="3974338"/>
            <a:ext cx="8021068" cy="2382012"/>
            <a:chOff x="945132" y="3299121"/>
            <a:chExt cx="10742281" cy="332468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132" y="5119540"/>
              <a:ext cx="6982799" cy="105742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6987" y="3299121"/>
              <a:ext cx="3410426" cy="332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4302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）自回归生成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示例：用于音频建模的</a:t>
            </a:r>
            <a:r>
              <a:rPr lang="en-US" altLang="zh-CN" dirty="0" err="1"/>
              <a:t>WavNet</a:t>
            </a:r>
            <a:r>
              <a:rPr lang="zh-CN" altLang="en-US" dirty="0"/>
              <a:t>模型 </a:t>
            </a:r>
            <a:r>
              <a:rPr lang="en-US" altLang="zh-CN" sz="2000" dirty="0"/>
              <a:t>[van den Oord et al. 2016]</a:t>
            </a:r>
            <a:endParaRPr lang="zh-CN" altLang="en-US" sz="2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033" y="3289560"/>
            <a:ext cx="5893993" cy="2709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38" y="3246004"/>
            <a:ext cx="5429250" cy="2752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8264" y="1713007"/>
            <a:ext cx="4810537" cy="110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70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）自回归生成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示例：用于语言建模的</a:t>
            </a:r>
            <a:r>
              <a:rPr lang="en-US" altLang="zh-CN" dirty="0"/>
              <a:t>GPT</a:t>
            </a:r>
            <a:r>
              <a:rPr lang="zh-CN" altLang="en-US" dirty="0"/>
              <a:t>模型 </a:t>
            </a:r>
            <a:r>
              <a:rPr lang="en-US" altLang="zh-CN" sz="2000" dirty="0"/>
              <a:t>[Radford et al. 2018]</a:t>
            </a:r>
            <a:endParaRPr lang="zh-CN" altLang="en-US" sz="2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25</a:t>
            </a:fld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944044" y="1931427"/>
            <a:ext cx="7178977" cy="4495878"/>
            <a:chOff x="2657402" y="2141210"/>
            <a:chExt cx="7178977" cy="4495878"/>
          </a:xfrm>
        </p:grpSpPr>
        <p:sp>
          <p:nvSpPr>
            <p:cNvPr id="16" name="矩形 15"/>
            <p:cNvSpPr/>
            <p:nvPr/>
          </p:nvSpPr>
          <p:spPr>
            <a:xfrm>
              <a:off x="2657402" y="4714538"/>
              <a:ext cx="6706800" cy="14519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127625" y="5591429"/>
              <a:ext cx="5715070" cy="37750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词向量</a:t>
              </a:r>
              <a:r>
                <a:rPr lang="en-US" altLang="zh-CN" dirty="0">
                  <a:solidFill>
                    <a:schemeClr val="tx1"/>
                  </a:solidFill>
                </a:rPr>
                <a:t>+</a:t>
              </a:r>
              <a:r>
                <a:rPr lang="zh-CN" altLang="en-US" dirty="0">
                  <a:solidFill>
                    <a:schemeClr val="tx1"/>
                  </a:solidFill>
                </a:rPr>
                <a:t>位置编码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3127625" y="4964232"/>
                  <a:ext cx="5715070" cy="37750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Transformer Block </a:t>
                  </a:r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 12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7625" y="4964232"/>
                  <a:ext cx="5715070" cy="37750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4688" b="-2187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/>
            <p:cNvCxnSpPr>
              <a:endCxn id="22" idx="2"/>
            </p:cNvCxnSpPr>
            <p:nvPr/>
          </p:nvCxnSpPr>
          <p:spPr>
            <a:xfrm flipV="1">
              <a:off x="3528317" y="4575287"/>
              <a:ext cx="0" cy="3889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流程图: 可选过程 21"/>
            <p:cNvSpPr/>
            <p:nvPr/>
          </p:nvSpPr>
          <p:spPr>
            <a:xfrm>
              <a:off x="3312560" y="4041080"/>
              <a:ext cx="431514" cy="534207"/>
            </a:xfrm>
            <a:prstGeom prst="flowChartAlternate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h</a:t>
              </a:r>
              <a:r>
                <a:rPr lang="en-US" altLang="zh-CN" sz="1100" i="1" dirty="0">
                  <a:solidFill>
                    <a:schemeClr val="tx1"/>
                  </a:solidFill>
                </a:rPr>
                <a:t>1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/>
            <p:cNvCxnSpPr>
              <a:endCxn id="24" idx="2"/>
            </p:cNvCxnSpPr>
            <p:nvPr/>
          </p:nvCxnSpPr>
          <p:spPr>
            <a:xfrm flipV="1">
              <a:off x="4820472" y="4575287"/>
              <a:ext cx="0" cy="3889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流程图: 可选过程 23"/>
            <p:cNvSpPr/>
            <p:nvPr/>
          </p:nvSpPr>
          <p:spPr>
            <a:xfrm>
              <a:off x="4604715" y="4041080"/>
              <a:ext cx="431514" cy="534207"/>
            </a:xfrm>
            <a:prstGeom prst="flowChartAlternate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h</a:t>
              </a:r>
              <a:r>
                <a:rPr lang="en-US" altLang="zh-CN" sz="1100" i="1" dirty="0">
                  <a:solidFill>
                    <a:schemeClr val="tx1"/>
                  </a:solidFill>
                </a:rPr>
                <a:t>2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接连接符 24"/>
            <p:cNvCxnSpPr>
              <a:endCxn id="27" idx="2"/>
            </p:cNvCxnSpPr>
            <p:nvPr/>
          </p:nvCxnSpPr>
          <p:spPr>
            <a:xfrm flipH="1" flipV="1">
              <a:off x="6112627" y="4575287"/>
              <a:ext cx="7877" cy="3889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流程图: 可选过程 26"/>
            <p:cNvSpPr/>
            <p:nvPr/>
          </p:nvSpPr>
          <p:spPr>
            <a:xfrm>
              <a:off x="5896870" y="4041080"/>
              <a:ext cx="431514" cy="534207"/>
            </a:xfrm>
            <a:prstGeom prst="flowChartAlternate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h</a:t>
              </a:r>
              <a:r>
                <a:rPr lang="en-US" altLang="zh-CN" sz="1100" i="1" dirty="0">
                  <a:solidFill>
                    <a:schemeClr val="tx1"/>
                  </a:solidFill>
                </a:rPr>
                <a:t>3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接连接符 27"/>
            <p:cNvCxnSpPr>
              <a:endCxn id="29" idx="2"/>
            </p:cNvCxnSpPr>
            <p:nvPr/>
          </p:nvCxnSpPr>
          <p:spPr>
            <a:xfrm flipV="1">
              <a:off x="7404781" y="4575287"/>
              <a:ext cx="0" cy="3889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流程图: 可选过程 28"/>
            <p:cNvSpPr/>
            <p:nvPr/>
          </p:nvSpPr>
          <p:spPr>
            <a:xfrm>
              <a:off x="7189024" y="4041080"/>
              <a:ext cx="431514" cy="534207"/>
            </a:xfrm>
            <a:prstGeom prst="flowChartAlternate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h</a:t>
              </a:r>
              <a:r>
                <a:rPr lang="en-US" altLang="zh-CN" sz="1100" i="1" dirty="0">
                  <a:solidFill>
                    <a:schemeClr val="tx1"/>
                  </a:solidFill>
                </a:rPr>
                <a:t>4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V="1">
              <a:off x="3528317" y="5968934"/>
              <a:ext cx="0" cy="340033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4820472" y="5968933"/>
              <a:ext cx="0" cy="340033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20504" y="5968933"/>
              <a:ext cx="0" cy="340033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7404781" y="5968933"/>
              <a:ext cx="0" cy="340033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4720201" y="6267756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I</a:t>
              </a:r>
              <a:endParaRPr lang="zh-CN" altLang="en-US" b="1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882767" y="6267756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like</a:t>
              </a:r>
              <a:endParaRPr lang="zh-CN" altLang="en-US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07263" y="6267756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this</a:t>
              </a:r>
              <a:endParaRPr lang="zh-CN" altLang="en-US" b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247327" y="6267756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&lt;s&gt;</a:t>
              </a:r>
              <a:endParaRPr lang="zh-CN" altLang="en-US" b="1" dirty="0"/>
            </a:p>
          </p:txBody>
        </p:sp>
        <p:sp>
          <p:nvSpPr>
            <p:cNvPr id="38" name="上箭头 37"/>
            <p:cNvSpPr/>
            <p:nvPr/>
          </p:nvSpPr>
          <p:spPr>
            <a:xfrm>
              <a:off x="5715000" y="5395368"/>
              <a:ext cx="397627" cy="148436"/>
            </a:xfrm>
            <a:prstGeom prst="up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127625" y="3357924"/>
              <a:ext cx="5715070" cy="37750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线性层 </a:t>
              </a:r>
              <a:r>
                <a:rPr lang="en-US" altLang="zh-CN" dirty="0">
                  <a:solidFill>
                    <a:schemeClr val="tx1"/>
                  </a:solidFill>
                </a:rPr>
                <a:t>&amp; </a:t>
              </a:r>
              <a:r>
                <a:rPr lang="en-US" altLang="zh-CN" dirty="0" err="1">
                  <a:solidFill>
                    <a:schemeClr val="tx1"/>
                  </a:solidFill>
                </a:rPr>
                <a:t>softmax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310308" y="411467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解码器输出</a:t>
              </a:r>
            </a:p>
          </p:txBody>
        </p:sp>
        <p:cxnSp>
          <p:nvCxnSpPr>
            <p:cNvPr id="41" name="直接连接符 40"/>
            <p:cNvCxnSpPr>
              <a:stCxn id="22" idx="0"/>
            </p:cNvCxnSpPr>
            <p:nvPr/>
          </p:nvCxnSpPr>
          <p:spPr>
            <a:xfrm flipV="1">
              <a:off x="3528317" y="3720223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V="1">
              <a:off x="4820472" y="3720222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V="1">
              <a:off x="6107169" y="3720221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V="1">
              <a:off x="7404780" y="3735428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V="1">
              <a:off x="3528317" y="3037069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V="1">
              <a:off x="4820472" y="3037068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6107169" y="3037067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7404780" y="3042749"/>
              <a:ext cx="0" cy="320857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3346287" y="214121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I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508853" y="214121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like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733349" y="2141210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this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979022" y="214121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movie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035886" y="2510542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/>
                <a:t>预测下一个词元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概率分布</a:t>
              </a: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3100005" y="2545536"/>
              <a:ext cx="856624" cy="486388"/>
              <a:chOff x="706854" y="3569421"/>
              <a:chExt cx="856624" cy="486388"/>
            </a:xfrm>
          </p:grpSpPr>
          <p:cxnSp>
            <p:nvCxnSpPr>
              <p:cNvPr id="85" name="直接连接符 84"/>
              <p:cNvCxnSpPr/>
              <p:nvPr/>
            </p:nvCxnSpPr>
            <p:spPr>
              <a:xfrm flipV="1">
                <a:off x="857250" y="4021067"/>
                <a:ext cx="645319" cy="104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 85"/>
              <p:cNvSpPr/>
              <p:nvPr/>
            </p:nvSpPr>
            <p:spPr>
              <a:xfrm>
                <a:off x="973931" y="3672932"/>
                <a:ext cx="69850" cy="3491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1044503" y="3569421"/>
                <a:ext cx="66747" cy="45269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111250" y="3671887"/>
                <a:ext cx="69850" cy="3491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182963" y="3776282"/>
                <a:ext cx="69850" cy="244785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1254676" y="3706087"/>
                <a:ext cx="69850" cy="3149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1321549" y="3900488"/>
                <a:ext cx="69850" cy="120579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706854" y="3778810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1316176" y="3778810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5615012" y="2553185"/>
              <a:ext cx="856624" cy="475021"/>
              <a:chOff x="685519" y="4167335"/>
              <a:chExt cx="856624" cy="475021"/>
            </a:xfrm>
          </p:grpSpPr>
          <p:cxnSp>
            <p:nvCxnSpPr>
              <p:cNvPr id="76" name="直接连接符 75"/>
              <p:cNvCxnSpPr/>
              <p:nvPr/>
            </p:nvCxnSpPr>
            <p:spPr>
              <a:xfrm flipV="1">
                <a:off x="835915" y="4607614"/>
                <a:ext cx="645319" cy="104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矩形 76"/>
              <p:cNvSpPr/>
              <p:nvPr/>
            </p:nvSpPr>
            <p:spPr>
              <a:xfrm>
                <a:off x="952596" y="4362829"/>
                <a:ext cx="69850" cy="24583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1023168" y="4212430"/>
                <a:ext cx="66747" cy="396227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1089915" y="4258434"/>
                <a:ext cx="69850" cy="3491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161628" y="4167335"/>
                <a:ext cx="69850" cy="44028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233341" y="4292634"/>
                <a:ext cx="69850" cy="3149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300214" y="4487035"/>
                <a:ext cx="69850" cy="120579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685519" y="4365357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1294841" y="4365357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4322857" y="2541818"/>
              <a:ext cx="856624" cy="486388"/>
              <a:chOff x="1548987" y="3448842"/>
              <a:chExt cx="856624" cy="486388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158309" y="3658231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68" name="直接连接符 67"/>
              <p:cNvCxnSpPr/>
              <p:nvPr/>
            </p:nvCxnSpPr>
            <p:spPr>
              <a:xfrm flipV="1">
                <a:off x="1699383" y="3900488"/>
                <a:ext cx="645319" cy="104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矩形 68"/>
              <p:cNvSpPr/>
              <p:nvPr/>
            </p:nvSpPr>
            <p:spPr>
              <a:xfrm>
                <a:off x="1816064" y="3706087"/>
                <a:ext cx="69850" cy="195446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1886636" y="3622386"/>
                <a:ext cx="66747" cy="279145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953383" y="3551308"/>
                <a:ext cx="69850" cy="3491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2025096" y="3776282"/>
                <a:ext cx="69850" cy="124206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2096809" y="3585508"/>
                <a:ext cx="69850" cy="3149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2163682" y="3448842"/>
                <a:ext cx="69850" cy="45164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1548987" y="3658231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7004852" y="2585636"/>
              <a:ext cx="856624" cy="447528"/>
              <a:chOff x="1575586" y="4331494"/>
              <a:chExt cx="856624" cy="447528"/>
            </a:xfrm>
          </p:grpSpPr>
          <p:sp>
            <p:nvSpPr>
              <p:cNvPr id="58" name="文本框 57"/>
              <p:cNvSpPr txBox="1"/>
              <p:nvPr/>
            </p:nvSpPr>
            <p:spPr>
              <a:xfrm>
                <a:off x="2184908" y="4502023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59" name="直接连接符 58"/>
              <p:cNvCxnSpPr/>
              <p:nvPr/>
            </p:nvCxnSpPr>
            <p:spPr>
              <a:xfrm flipV="1">
                <a:off x="1725982" y="4744280"/>
                <a:ext cx="645319" cy="104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矩形 59"/>
              <p:cNvSpPr/>
              <p:nvPr/>
            </p:nvSpPr>
            <p:spPr>
              <a:xfrm>
                <a:off x="1842663" y="4331494"/>
                <a:ext cx="69850" cy="4138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1913235" y="4466178"/>
                <a:ext cx="66747" cy="279145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979982" y="4395100"/>
                <a:ext cx="69850" cy="3491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2051695" y="4620074"/>
                <a:ext cx="69850" cy="124206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2123408" y="4429300"/>
                <a:ext cx="69850" cy="314980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2190281" y="4549879"/>
                <a:ext cx="69850" cy="194402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1575586" y="4502023"/>
                <a:ext cx="247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70C0"/>
                    </a:solidFill>
                  </a:rPr>
                  <a:t>…</a:t>
                </a:r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097401" y="2388497"/>
                <a:ext cx="21838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401" y="2388497"/>
                <a:ext cx="2183803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227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）自回归生成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示例：用于图像建模的</a:t>
            </a:r>
            <a:r>
              <a:rPr lang="en-US" altLang="zh-CN" dirty="0" err="1"/>
              <a:t>PixelRNN</a:t>
            </a:r>
            <a:r>
              <a:rPr lang="en-US" altLang="zh-CN" dirty="0"/>
              <a:t>/</a:t>
            </a:r>
            <a:r>
              <a:rPr lang="en-US" altLang="zh-CN" dirty="0" err="1"/>
              <a:t>PixelCNN</a:t>
            </a:r>
            <a:r>
              <a:rPr lang="zh-CN" altLang="en-US" dirty="0"/>
              <a:t>模型 </a:t>
            </a:r>
            <a:r>
              <a:rPr lang="en-US" altLang="zh-CN" sz="2000" dirty="0"/>
              <a:t>[van den Oord et al. 2016]</a:t>
            </a:r>
            <a:endParaRPr lang="zh-CN" altLang="en-US" sz="2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24" y="2517058"/>
            <a:ext cx="2831819" cy="28318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871" y="1871160"/>
            <a:ext cx="3850792" cy="11703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746" y="3318250"/>
            <a:ext cx="5458587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48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）掩码生成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随机掩盖一部分信息并假装其缺失，而不考虑自然顺序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模型根据其他未掩盖的信息预测缺失部分，例如：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掩码语言建模（</a:t>
            </a:r>
            <a:r>
              <a:rPr lang="en-US" altLang="zh-CN" dirty="0"/>
              <a:t>BERT</a:t>
            </a:r>
            <a:r>
              <a:rPr lang="zh-CN" altLang="en-US" dirty="0"/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掩码图像建模（去噪自动编码器、上下文自动编码器、上色）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23" y="3902534"/>
            <a:ext cx="8966200" cy="217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73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）掩码生成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5842543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</a:t>
            </a:r>
            <a:r>
              <a:rPr lang="en-US" altLang="zh-CN" dirty="0"/>
              <a:t>BERT </a:t>
            </a:r>
            <a:r>
              <a:rPr lang="en-US" altLang="zh-CN" sz="2000" dirty="0"/>
              <a:t>[Devlin et al. 2018]</a:t>
            </a:r>
            <a:endParaRPr lang="zh-CN" altLang="en-US" sz="20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Bidirectional Encoder Representations from Transformers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自然语言的自监督学习模型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掩码语言模型 </a:t>
            </a:r>
            <a:r>
              <a:rPr lang="en-US" altLang="zh-CN" dirty="0"/>
              <a:t>(masked language model, MLM)</a:t>
            </a:r>
            <a:r>
              <a:rPr lang="zh-CN" altLang="en-US" dirty="0"/>
              <a:t>是</a:t>
            </a:r>
            <a:r>
              <a:rPr lang="en-US" altLang="zh-CN" dirty="0"/>
              <a:t>BERT</a:t>
            </a:r>
            <a:r>
              <a:rPr lang="zh-CN" altLang="en-US" dirty="0"/>
              <a:t>模型的学习任务之一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69" y="1195858"/>
            <a:ext cx="5622000" cy="507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30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）掩码生成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示例：视频上色 </a:t>
            </a:r>
            <a:r>
              <a:rPr lang="en-US" altLang="zh-CN" dirty="0"/>
              <a:t>(Video colorization)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Vondrick</a:t>
            </a:r>
            <a:r>
              <a:rPr lang="en-US" altLang="zh-CN" sz="2000" dirty="0"/>
              <a:t> et al. 2018]</a:t>
            </a:r>
            <a:endParaRPr lang="zh-CN" altLang="en-US" sz="20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从灰度视频预测颜色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作为一种自监督学习方法，能产生丰富的表征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可用于视频分割和无标签视觉区域跟踪，且无需额外微调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651" y="3464642"/>
            <a:ext cx="5308598" cy="262046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49" y="3779183"/>
            <a:ext cx="5803451" cy="19913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144542" y="606317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自监督学习任务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437031" y="606317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下游任务</a:t>
            </a:r>
          </a:p>
        </p:txBody>
      </p:sp>
    </p:spTree>
    <p:extLst>
      <p:ext uri="{BB962C8B-B14F-4D97-AF65-F5344CB8AC3E}">
        <p14:creationId xmlns:p14="http://schemas.microsoft.com/office/powerpoint/2010/main" val="2822536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6580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）内在关系预测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对一个数据样本进行的某些变换（例如分割、旋转）应保持原始信息或遵循所需的内在逻辑，例如：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图像旋转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图像块顺序（例如相对位置、拼图）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834" y="3591147"/>
            <a:ext cx="2656107" cy="18488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692" y="3591147"/>
            <a:ext cx="2304563" cy="239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4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6466"/>
            <a:ext cx="12192000" cy="4055009"/>
          </a:xfrm>
          <a:prstGeom prst="rect">
            <a:avLst/>
          </a:prstGeom>
        </p:spPr>
      </p:pic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6580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自预测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）内在关系预测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示例：基于拼图的视觉表征学习</a:t>
            </a:r>
            <a:r>
              <a:rPr lang="en-US" altLang="zh-CN" sz="2000" dirty="0"/>
              <a:t>[</a:t>
            </a:r>
            <a:r>
              <a:rPr lang="en-US" altLang="zh-CN" sz="2000" dirty="0" err="1"/>
              <a:t>Noroozi</a:t>
            </a:r>
            <a:r>
              <a:rPr lang="en-US" altLang="zh-CN" sz="2000" dirty="0"/>
              <a:t> et al. 2016]</a:t>
            </a:r>
            <a:endParaRPr lang="zh-CN" altLang="en-US" sz="20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将图片分为 </a:t>
            </a:r>
            <a:r>
              <a:rPr lang="en-US" altLang="zh-CN" dirty="0"/>
              <a:t>9 </a:t>
            </a:r>
            <a:r>
              <a:rPr lang="zh-CN" altLang="en-US" dirty="0"/>
              <a:t>块，预先定义好 </a:t>
            </a:r>
            <a:r>
              <a:rPr lang="en-US" altLang="zh-CN" dirty="0"/>
              <a:t>64 </a:t>
            </a:r>
            <a:r>
              <a:rPr lang="zh-CN" altLang="en-US" dirty="0"/>
              <a:t>种排序方式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模型输入任意一种被打乱的序列，期待能够学习到这种序列的顺序属于哪个类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555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目标是学习一个嵌入空间 </a:t>
            </a:r>
            <a:r>
              <a:rPr lang="en-US" altLang="zh-CN" dirty="0"/>
              <a:t>(embedding space)</a:t>
            </a:r>
            <a:r>
              <a:rPr lang="zh-CN" altLang="en-US" dirty="0"/>
              <a:t>，即数据表征所在空间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其中相似的样本对彼此靠近，而不相似的样本对彼此远离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32</a:t>
            </a:fld>
            <a:endParaRPr lang="zh-CN" altLang="en-US"/>
          </a:p>
        </p:txBody>
      </p:sp>
      <p:grpSp>
        <p:nvGrpSpPr>
          <p:cNvPr id="12" name="组合 11"/>
          <p:cNvGrpSpPr>
            <a:grpSpLocks noChangeAspect="1"/>
          </p:cNvGrpSpPr>
          <p:nvPr/>
        </p:nvGrpSpPr>
        <p:grpSpPr>
          <a:xfrm>
            <a:off x="2111568" y="2798567"/>
            <a:ext cx="8221814" cy="2848309"/>
            <a:chOff x="-280081" y="1964472"/>
            <a:chExt cx="13391680" cy="463932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0081" y="2669420"/>
              <a:ext cx="4877481" cy="322942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2801" y="1964472"/>
              <a:ext cx="6258798" cy="4639322"/>
            </a:xfrm>
            <a:prstGeom prst="rect">
              <a:avLst/>
            </a:prstGeom>
          </p:spPr>
        </p:pic>
      </p:grpSp>
      <p:sp>
        <p:nvSpPr>
          <p:cNvPr id="20" name="右箭头 19"/>
          <p:cNvSpPr/>
          <p:nvPr/>
        </p:nvSpPr>
        <p:spPr>
          <a:xfrm>
            <a:off x="4982818" y="3905221"/>
            <a:ext cx="1374428" cy="635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学习后</a:t>
            </a:r>
          </a:p>
        </p:txBody>
      </p:sp>
    </p:spTree>
    <p:extLst>
      <p:ext uri="{BB962C8B-B14F-4D97-AF65-F5344CB8AC3E}">
        <p14:creationId xmlns:p14="http://schemas.microsoft.com/office/powerpoint/2010/main" val="1341732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18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53835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目标是学习一个嵌入空间 </a:t>
            </a:r>
            <a:r>
              <a:rPr lang="en-US" altLang="zh-CN" dirty="0"/>
              <a:t>(embedding space)</a:t>
            </a:r>
            <a:r>
              <a:rPr lang="zh-CN" altLang="en-US" dirty="0"/>
              <a:t>，即数据表征所在空间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其中相似的样本对彼此靠近，而不相似的样本对彼此远离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）样本间分类 </a:t>
            </a:r>
            <a:r>
              <a:rPr lang="en-US" altLang="zh-CN" dirty="0"/>
              <a:t>(inter-sample classification)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）特征聚类 </a:t>
            </a:r>
            <a:r>
              <a:rPr lang="en-US" altLang="zh-CN" dirty="0"/>
              <a:t>(feature clustering)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）多视角编码 </a:t>
            </a:r>
            <a:r>
              <a:rPr lang="en-US" altLang="zh-CN" dirty="0"/>
              <a:t>(</a:t>
            </a:r>
            <a:r>
              <a:rPr lang="en-US" altLang="zh-CN" dirty="0" err="1"/>
              <a:t>multiview</a:t>
            </a:r>
            <a:r>
              <a:rPr lang="en-US" altLang="zh-CN" dirty="0"/>
              <a:t> coding)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77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）样本间分类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327296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给定与目标数据点（</a:t>
            </a:r>
            <a:r>
              <a:rPr lang="zh-CN" altLang="en-US" b="1" dirty="0">
                <a:solidFill>
                  <a:srgbClr val="0070C0"/>
                </a:solidFill>
              </a:rPr>
              <a:t>锚点 </a:t>
            </a:r>
            <a:r>
              <a:rPr lang="en-US" altLang="zh-CN" b="1" dirty="0">
                <a:solidFill>
                  <a:srgbClr val="0070C0"/>
                </a:solidFill>
              </a:rPr>
              <a:t>anchor </a:t>
            </a:r>
            <a:r>
              <a:rPr lang="zh-CN" altLang="en-US" b="1" dirty="0">
                <a:solidFill>
                  <a:srgbClr val="0070C0"/>
                </a:solidFill>
              </a:rPr>
              <a:t>数据</a:t>
            </a:r>
            <a:r>
              <a:rPr lang="zh-CN" altLang="en-US" dirty="0"/>
              <a:t>）相似（</a:t>
            </a:r>
            <a:r>
              <a:rPr lang="zh-CN" altLang="en-US" b="1" dirty="0">
                <a:solidFill>
                  <a:srgbClr val="0070C0"/>
                </a:solidFill>
              </a:rPr>
              <a:t>正样本 </a:t>
            </a:r>
            <a:r>
              <a:rPr lang="en-US" altLang="zh-CN" b="1" dirty="0">
                <a:solidFill>
                  <a:srgbClr val="0070C0"/>
                </a:solidFill>
              </a:rPr>
              <a:t>positive</a:t>
            </a:r>
            <a:r>
              <a:rPr lang="zh-CN" altLang="en-US" dirty="0"/>
              <a:t>）和不相似（</a:t>
            </a:r>
            <a:r>
              <a:rPr lang="zh-CN" altLang="en-US" b="1" dirty="0">
                <a:solidFill>
                  <a:srgbClr val="0070C0"/>
                </a:solidFill>
              </a:rPr>
              <a:t>负样本 </a:t>
            </a:r>
            <a:r>
              <a:rPr lang="en-US" altLang="zh-CN" b="1" dirty="0">
                <a:solidFill>
                  <a:srgbClr val="0070C0"/>
                </a:solidFill>
              </a:rPr>
              <a:t>negative</a:t>
            </a:r>
            <a:r>
              <a:rPr lang="zh-CN" altLang="en-US" dirty="0"/>
              <a:t>）的候选样本集合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识别哪些样本与锚点数据相似，是一个</a:t>
            </a:r>
            <a:r>
              <a:rPr lang="zh-CN" altLang="en-US" b="1" dirty="0">
                <a:solidFill>
                  <a:srgbClr val="0070C0"/>
                </a:solidFill>
              </a:rPr>
              <a:t>分类任务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问题一：如何构建数据点的正负样本集？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问题二：如何设计分类任务的损失函数？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18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）样本间分类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6"/>
            <a:ext cx="11832083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</a:t>
            </a:r>
            <a:r>
              <a:rPr lang="en-US" altLang="zh-CN" dirty="0" err="1"/>
              <a:t>FaceNet</a:t>
            </a:r>
            <a:r>
              <a:rPr lang="en-US" altLang="zh-CN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Schroff</a:t>
            </a:r>
            <a:r>
              <a:rPr lang="en-US" altLang="zh-CN" sz="2000" dirty="0"/>
              <a:t> et al. 2015]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2979" y="1829931"/>
            <a:ext cx="3733014" cy="43242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168400" indent="-1168400">
              <a:spcAft>
                <a:spcPts val="600"/>
              </a:spcAft>
            </a:pPr>
            <a:r>
              <a:rPr lang="zh-CN" altLang="en-US" sz="2000" b="1" dirty="0"/>
              <a:t>样本集构建</a:t>
            </a:r>
            <a:endParaRPr lang="en-US" altLang="zh-CN" sz="2000" b="1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0070C0"/>
                </a:solidFill>
              </a:rPr>
              <a:t>Anchor</a:t>
            </a:r>
            <a:r>
              <a:rPr lang="en-US" altLang="zh-CN" sz="2000" dirty="0"/>
              <a:t>	</a:t>
            </a:r>
            <a:r>
              <a:rPr lang="zh-CN" altLang="en-US" sz="2000" dirty="0"/>
              <a:t>一幅人脸图片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00B050"/>
                </a:solidFill>
              </a:rPr>
              <a:t>Positive</a:t>
            </a:r>
            <a:r>
              <a:rPr lang="en-US" altLang="zh-CN" sz="2000" dirty="0"/>
              <a:t>	</a:t>
            </a:r>
            <a:r>
              <a:rPr lang="zh-CN" altLang="en-US" sz="2000" dirty="0"/>
              <a:t>与</a:t>
            </a:r>
            <a:r>
              <a:rPr lang="en-US" altLang="zh-CN" sz="2000" dirty="0"/>
              <a:t>Anchor</a:t>
            </a:r>
            <a:r>
              <a:rPr lang="zh-CN" altLang="en-US" sz="2000" dirty="0"/>
              <a:t>来自同一人的其他人脸图片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</a:rPr>
              <a:t>Negative</a:t>
            </a:r>
            <a:r>
              <a:rPr lang="en-US" altLang="zh-CN" sz="2000" dirty="0"/>
              <a:t>	</a:t>
            </a:r>
            <a:r>
              <a:rPr lang="zh-CN" altLang="en-US" sz="2000" dirty="0"/>
              <a:t>来自任意其他人的人脸图片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zh-CN" altLang="en-US" sz="2000" b="1" dirty="0"/>
              <a:t>三元组损失函数</a:t>
            </a:r>
            <a:endParaRPr lang="en-US" altLang="zh-CN" sz="2000" b="1" dirty="0"/>
          </a:p>
          <a:p>
            <a:pPr marL="263525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最小化锚点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/>
              <a:t>与正样本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zh-CN" altLang="en-US" sz="2000" dirty="0"/>
              <a:t>之间的距离</a:t>
            </a:r>
            <a:endParaRPr lang="en-US" altLang="zh-CN" sz="2000" dirty="0"/>
          </a:p>
          <a:p>
            <a:pPr marL="263525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最大化锚点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/>
              <a:t>与负样本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zh-CN" altLang="en-US" sz="2000" dirty="0"/>
              <a:t>之间的距离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716594" y="2123768"/>
            <a:ext cx="1307690" cy="50144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295993" y="4882662"/>
            <a:ext cx="924936" cy="25291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966137" y="327214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模型结构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960" y="4791801"/>
            <a:ext cx="5931279" cy="13146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97873" y="6134988"/>
            <a:ext cx="23471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三元组</a:t>
            </a:r>
            <a:r>
              <a:rPr lang="en-US" altLang="zh-CN" sz="2000" b="1" dirty="0"/>
              <a:t>(triplet)</a:t>
            </a:r>
            <a:r>
              <a:rPr lang="zh-CN" altLang="en-US" sz="2000" b="1" dirty="0"/>
              <a:t>损失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540" y="4144874"/>
            <a:ext cx="6935919" cy="61791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284" y="2026741"/>
            <a:ext cx="6694012" cy="119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17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）样本间分类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8" y="1043746"/>
            <a:ext cx="11832083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示例：对比预测编码</a:t>
            </a:r>
            <a:r>
              <a:rPr lang="en-US" altLang="zh-CN" dirty="0"/>
              <a:t>(Contrastive Predictive Coding)</a:t>
            </a:r>
            <a:r>
              <a:rPr lang="en-US" altLang="zh-CN" sz="2000" dirty="0"/>
              <a:t>[van den Oord et al. 2019]</a:t>
            </a:r>
            <a:endParaRPr lang="zh-CN" alt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2680"/>
            <a:ext cx="8128712" cy="48087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04126" y="1788034"/>
            <a:ext cx="3733014" cy="4632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168400" indent="-1168400">
              <a:spcAft>
                <a:spcPts val="600"/>
              </a:spcAft>
            </a:pPr>
            <a:r>
              <a:rPr lang="en-US" altLang="zh-CN" sz="2000" b="1" dirty="0" err="1"/>
              <a:t>InfoNCE</a:t>
            </a:r>
            <a:r>
              <a:rPr lang="zh-CN" altLang="en-US" sz="2000" b="1" dirty="0"/>
              <a:t>损失函数</a:t>
            </a:r>
            <a:endParaRPr lang="en-US" altLang="zh-CN" sz="2000" b="1" dirty="0"/>
          </a:p>
          <a:p>
            <a:pPr marL="263525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1 </a:t>
            </a:r>
            <a:r>
              <a:rPr lang="zh-CN" altLang="en-US" sz="2000" dirty="0"/>
              <a:t>个正例，</a:t>
            </a:r>
            <a:r>
              <a:rPr lang="en-US" altLang="zh-CN" sz="2000" dirty="0"/>
              <a:t>N-1</a:t>
            </a:r>
            <a:r>
              <a:rPr lang="zh-CN" altLang="en-US" sz="2000" dirty="0"/>
              <a:t>个负例</a:t>
            </a:r>
            <a:endParaRPr lang="en-US" altLang="zh-CN" sz="2000" dirty="0"/>
          </a:p>
          <a:p>
            <a:pPr marL="263525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N</a:t>
            </a:r>
            <a:r>
              <a:rPr lang="zh-CN" altLang="en-US" sz="2000" dirty="0"/>
              <a:t>分类的交叉熵损失，希望锚点数据能够分到正例对应的类别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dirty="0"/>
              <a:t> </a:t>
            </a:r>
          </a:p>
          <a:p>
            <a:pPr marL="1168400" indent="-1168400">
              <a:spcAft>
                <a:spcPts val="600"/>
              </a:spcAft>
            </a:pPr>
            <a:r>
              <a:rPr lang="zh-CN" altLang="en-US" sz="2000" b="1" dirty="0"/>
              <a:t>样本集构建</a:t>
            </a:r>
            <a:endParaRPr lang="en-US" altLang="zh-CN" sz="2000" b="1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0070C0"/>
                </a:solidFill>
              </a:rPr>
              <a:t>Anchor</a:t>
            </a:r>
            <a:r>
              <a:rPr lang="en-US" altLang="zh-CN" sz="2000" dirty="0"/>
              <a:t>	</a:t>
            </a:r>
            <a:r>
              <a:rPr lang="zh-CN" altLang="en-US" sz="2000" dirty="0"/>
              <a:t>语音片段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00B050"/>
                </a:solidFill>
              </a:rPr>
              <a:t>Positive</a:t>
            </a:r>
            <a:r>
              <a:rPr lang="en-US" altLang="zh-CN" sz="2000" dirty="0"/>
              <a:t>	</a:t>
            </a:r>
            <a:r>
              <a:rPr lang="zh-CN" altLang="en-US" sz="2000" dirty="0"/>
              <a:t>与</a:t>
            </a:r>
            <a:r>
              <a:rPr lang="en-US" altLang="zh-CN" sz="2000" dirty="0"/>
              <a:t>Anchor</a:t>
            </a:r>
            <a:r>
              <a:rPr lang="zh-CN" altLang="en-US" sz="2000" dirty="0"/>
              <a:t>近邻的未来语音片段</a:t>
            </a:r>
            <a:endParaRPr lang="en-US" altLang="zh-CN" sz="2000" dirty="0"/>
          </a:p>
          <a:p>
            <a:pPr marL="1168400" indent="-1168400"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</a:rPr>
              <a:t>Negative</a:t>
            </a:r>
            <a:r>
              <a:rPr lang="en-US" altLang="zh-CN" sz="2000" dirty="0"/>
              <a:t>	</a:t>
            </a:r>
            <a:r>
              <a:rPr lang="zh-CN" altLang="en-US" sz="2000" dirty="0"/>
              <a:t>从当前语句或其他语句中随机采用的语音片段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938684" y="2035277"/>
            <a:ext cx="2265442" cy="27530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7629832" y="4317077"/>
            <a:ext cx="658763" cy="89402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340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）特征聚类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327296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通过使用学习到的特征对数据样本进行聚类，找到相似的数据样本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对聚类后的样本分配伪标签，使用伪标签进一步指导表征模型的学习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65" y="2945833"/>
            <a:ext cx="8554644" cy="2476846"/>
          </a:xfrm>
          <a:prstGeom prst="rect">
            <a:avLst/>
          </a:prstGeom>
        </p:spPr>
      </p:pic>
      <p:sp>
        <p:nvSpPr>
          <p:cNvPr id="5" name="五边形 4"/>
          <p:cNvSpPr/>
          <p:nvPr/>
        </p:nvSpPr>
        <p:spPr>
          <a:xfrm>
            <a:off x="4770128" y="3728851"/>
            <a:ext cx="1691149" cy="455405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聚类</a:t>
            </a:r>
          </a:p>
        </p:txBody>
      </p:sp>
      <p:sp>
        <p:nvSpPr>
          <p:cNvPr id="7" name="下弧形箭头 6"/>
          <p:cNvSpPr/>
          <p:nvPr/>
        </p:nvSpPr>
        <p:spPr>
          <a:xfrm flipH="1">
            <a:off x="3442775" y="4780020"/>
            <a:ext cx="4119715" cy="1425677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伪标签指导学习</a:t>
            </a:r>
          </a:p>
        </p:txBody>
      </p:sp>
    </p:spTree>
    <p:extLst>
      <p:ext uri="{BB962C8B-B14F-4D97-AF65-F5344CB8AC3E}">
        <p14:creationId xmlns:p14="http://schemas.microsoft.com/office/powerpoint/2010/main" val="378810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）特征聚类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327296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</a:t>
            </a:r>
            <a:r>
              <a:rPr lang="en-US" altLang="zh-CN" dirty="0" err="1"/>
              <a:t>DeepCluster</a:t>
            </a:r>
            <a:r>
              <a:rPr lang="en-US" altLang="zh-CN" dirty="0"/>
              <a:t> </a:t>
            </a:r>
            <a:r>
              <a:rPr lang="en-US" altLang="zh-CN" sz="2000" dirty="0"/>
              <a:t>[Caron et al. 2018]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以得到通用的视觉表征为目标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对卷积神经网络得到的图片表征向量进行无监督聚类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使用聚类得到伪标签作为分类目标，指导卷积神经网络更新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以上两步交替进行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85" y="3701629"/>
            <a:ext cx="9678751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4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）多视角编码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327296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在现实世界中同一实体是能够通过多个视角</a:t>
            </a:r>
            <a:r>
              <a:rPr lang="en-US" altLang="zh-CN" dirty="0"/>
              <a:t>(view)</a:t>
            </a:r>
            <a:r>
              <a:rPr lang="zh-CN" altLang="en-US" dirty="0"/>
              <a:t>的数据来描述的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这里的“视角”是广义的概念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同模态</a:t>
            </a:r>
            <a:r>
              <a:rPr lang="zh-CN" altLang="en-US" dirty="0"/>
              <a:t>：不同波段的光学图像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/>
              <a:t>跨模态</a:t>
            </a:r>
            <a:r>
              <a:rPr lang="zh-CN" altLang="en-US" dirty="0"/>
              <a:t>：对于同一个场景，既可以用图像描述，也可以用文本描述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每个视角信息往往都是有噪声、不完整的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但是一些重要信息往往被不同视角所共享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70C0"/>
                </a:solidFill>
              </a:rPr>
              <a:t>将对比学习目标应用于输入数据的两个或更多不同视角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4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046" y="1684353"/>
            <a:ext cx="7569305" cy="4205169"/>
          </a:xfrm>
          <a:prstGeom prst="rect">
            <a:avLst/>
          </a:prstGeom>
        </p:spPr>
      </p:pic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）多视角编码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4133071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示例：对比多视角编码 </a:t>
            </a:r>
            <a:r>
              <a:rPr lang="en-US" altLang="zh-CN" sz="2000" dirty="0"/>
              <a:t>[Tian et al. 2019]</a:t>
            </a: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基于多传感器视角获得的场景图像，学习图像表征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同一场景不同视角的表征尽量接近（正例）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不同场景的表征尽量远离（负例）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使用类似</a:t>
            </a:r>
            <a:r>
              <a:rPr lang="en-US" altLang="zh-CN" dirty="0" err="1"/>
              <a:t>InfoNCE</a:t>
            </a:r>
            <a:r>
              <a:rPr lang="zh-CN" altLang="en-US" dirty="0"/>
              <a:t>损失函数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4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931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对比学习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）多视角编码</a:t>
            </a:r>
          </a:p>
          <a:p>
            <a:pPr lvl="0"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5370903" cy="581425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模态间的对比学习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“视角” 可以来自两个或更多模态的配对输入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CLIP </a:t>
            </a:r>
            <a:r>
              <a:rPr lang="en-US" altLang="zh-CN" sz="2000" dirty="0"/>
              <a:t>[Radford et al. 2021]</a:t>
            </a:r>
            <a:r>
              <a:rPr lang="en-US" altLang="zh-CN" dirty="0"/>
              <a:t> ALIGN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Jia</a:t>
            </a:r>
            <a:r>
              <a:rPr lang="en-US" altLang="zh-CN" sz="2000" dirty="0"/>
              <a:t> et al. 2021]</a:t>
            </a:r>
            <a:r>
              <a:rPr lang="zh-CN" altLang="en-US" dirty="0"/>
              <a:t>：实现零样本分类、跨模态检索、引导图像生成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 err="1"/>
              <a:t>CodeSearchNet</a:t>
            </a:r>
            <a:r>
              <a:rPr lang="en-US" altLang="zh-CN" dirty="0"/>
              <a:t> </a:t>
            </a:r>
            <a:r>
              <a:rPr lang="en-US" altLang="zh-CN" sz="2000" dirty="0"/>
              <a:t>[Husain et al 2019]</a:t>
            </a:r>
            <a:r>
              <a:rPr lang="zh-CN" altLang="en-US" dirty="0"/>
              <a:t> ：文本和代码之间的对比学习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42" y="1719520"/>
            <a:ext cx="6101317" cy="387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60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6287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本节小节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7"/>
            <a:ext cx="11327296" cy="607480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/>
              <a:t>自监督学习的目的</a:t>
            </a:r>
            <a:endParaRPr lang="en-US" altLang="zh-CN" b="1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将原始数据转化成能够被下游任务模型更好利用的</a:t>
            </a:r>
            <a:r>
              <a:rPr lang="zh-CN" altLang="en-US" b="1" dirty="0">
                <a:solidFill>
                  <a:srgbClr val="0070C0"/>
                </a:solidFill>
              </a:rPr>
              <a:t>数据表征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有监督数据量受限情况下， 将无监督数据中的有用信息迁移到各种下游任务中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/>
              <a:t>应用范式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预训练</a:t>
            </a:r>
            <a:r>
              <a:rPr lang="en-US" altLang="zh-CN" b="1" dirty="0">
                <a:solidFill>
                  <a:srgbClr val="0070C0"/>
                </a:solidFill>
              </a:rPr>
              <a:t>+</a:t>
            </a:r>
            <a:r>
              <a:rPr lang="zh-CN" altLang="en-US" b="1" dirty="0">
                <a:solidFill>
                  <a:srgbClr val="0070C0"/>
                </a:solidFill>
              </a:rPr>
              <a:t>迁移</a:t>
            </a:r>
            <a:r>
              <a:rPr lang="zh-CN" altLang="en-US" dirty="0"/>
              <a:t>；迁移有多种方式，包括</a:t>
            </a:r>
            <a:r>
              <a:rPr lang="zh-CN" altLang="en-US" b="1" dirty="0">
                <a:solidFill>
                  <a:srgbClr val="0070C0"/>
                </a:solidFill>
              </a:rPr>
              <a:t>微调、上下文学习、零样本学习</a:t>
            </a:r>
            <a:r>
              <a:rPr lang="zh-CN" altLang="en-US" dirty="0"/>
              <a:t>等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/>
              <a:t>核心思想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无监督（无标签）数据集中构建有监督学习任务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/>
              <a:t>主要框架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自预测</a:t>
            </a:r>
            <a:r>
              <a:rPr lang="zh-CN" altLang="en-US" dirty="0"/>
              <a:t>：根据样本的一部分预测另一部分，“样本内</a:t>
            </a:r>
            <a:r>
              <a:rPr lang="en-US" altLang="zh-CN" dirty="0"/>
              <a:t>” </a:t>
            </a:r>
            <a:r>
              <a:rPr lang="zh-CN" altLang="en-US" dirty="0"/>
              <a:t>预测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对比学习</a:t>
            </a:r>
            <a:r>
              <a:rPr lang="zh-CN" altLang="en-US" dirty="0"/>
              <a:t>：预测多个样本之间的关系，“样本间</a:t>
            </a:r>
            <a:r>
              <a:rPr lang="en-US" altLang="zh-CN" dirty="0"/>
              <a:t>” </a:t>
            </a:r>
            <a:r>
              <a:rPr lang="zh-CN" altLang="en-US" dirty="0"/>
              <a:t>预测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在</a:t>
            </a:r>
            <a:r>
              <a:rPr lang="zh-CN" altLang="en-US" b="1" dirty="0"/>
              <a:t>文本、图像、语音</a:t>
            </a:r>
            <a:r>
              <a:rPr lang="zh-CN" altLang="en-US" dirty="0"/>
              <a:t>等各模态任务上已经有了广泛应用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12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7426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讨论：为什么自监督学习有效？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458103" cy="581425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/>
              <a:t>利用海量未标注数据</a:t>
            </a:r>
            <a:endParaRPr lang="en-US" altLang="zh-CN" sz="2400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</a:pPr>
            <a:r>
              <a:rPr lang="zh-CN" altLang="en-US" sz="2200" dirty="0"/>
              <a:t>自监督学习无需依赖人工标注，能够充分利用大量易获取的未标注数据</a:t>
            </a:r>
            <a:endParaRPr lang="en-US" altLang="zh-CN" sz="2200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/>
              <a:t>任务驱动的特征学习</a:t>
            </a:r>
            <a:endParaRPr lang="en-US" altLang="zh-CN" sz="2400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</a:pPr>
            <a:r>
              <a:rPr lang="zh-CN" altLang="en-US" sz="2200" dirty="0"/>
              <a:t>通过设计巧妙的预训练任务</a:t>
            </a:r>
            <a:r>
              <a:rPr lang="en-US" altLang="zh-CN" sz="2200" dirty="0"/>
              <a:t>(</a:t>
            </a:r>
            <a:r>
              <a:rPr lang="zh-CN" altLang="en-US" sz="2200" dirty="0"/>
              <a:t>如掩码语言建模、图像补全、对比学习等</a:t>
            </a:r>
            <a:r>
              <a:rPr lang="en-US" altLang="zh-CN" sz="2200" dirty="0"/>
              <a:t>)</a:t>
            </a:r>
            <a:r>
              <a:rPr lang="zh-CN" altLang="en-US" sz="2200" dirty="0"/>
              <a:t>，模型被迫学习数据的内在结构和语义关系，加强对数据本质的理解</a:t>
            </a:r>
            <a:endParaRPr lang="en-US" altLang="zh-CN" sz="2200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/>
              <a:t>普遍存在的数据冗余</a:t>
            </a:r>
            <a:endParaRPr lang="en-US" altLang="zh-CN" sz="2400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</a:pPr>
            <a:r>
              <a:rPr lang="zh-CN" altLang="en-US" sz="2200" dirty="0"/>
              <a:t>现实数据</a:t>
            </a:r>
            <a:r>
              <a:rPr lang="en-US" altLang="zh-CN" sz="2200" dirty="0"/>
              <a:t>(</a:t>
            </a:r>
            <a:r>
              <a:rPr lang="zh-CN" altLang="en-US" sz="2200" dirty="0"/>
              <a:t>如文本、图像、视频</a:t>
            </a:r>
            <a:r>
              <a:rPr lang="en-US" altLang="zh-CN" sz="2200" dirty="0"/>
              <a:t>)</a:t>
            </a:r>
            <a:r>
              <a:rPr lang="zh-CN" altLang="en-US" sz="2200" dirty="0"/>
              <a:t>往往存在冗余，可以提供丰富的自监督信号来源</a:t>
            </a:r>
            <a:endParaRPr lang="en-US" altLang="zh-CN" sz="2200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/>
              <a:t>提升泛化能力避免过拟合</a:t>
            </a:r>
            <a:endParaRPr lang="en-US" altLang="zh-CN" sz="2400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</a:pPr>
            <a:r>
              <a:rPr lang="zh-CN" altLang="en-US" sz="2200" dirty="0"/>
              <a:t>自监督预训练使模型具备通用特征表示能力，这些特征可通过微调迁移到下游任务</a:t>
            </a:r>
            <a:endParaRPr lang="en-US" altLang="zh-CN" sz="22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</a:pPr>
            <a:r>
              <a:rPr lang="zh-CN" altLang="en-US" sz="2200" dirty="0"/>
              <a:t>预训练过程中接触的多样化数据增强了模型对新任务、少样本场景的适应能力</a:t>
            </a:r>
            <a:endParaRPr lang="en-US" altLang="zh-CN" sz="22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22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2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7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8260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课后思考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F95DC9-B183-E54B-5A5D-9B231234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439" y="1043746"/>
            <a:ext cx="11327296" cy="581425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400" dirty="0"/>
              <a:t>基于本节课介绍的“自预测”和“对比学习”两种自监督学习框架，除了课件中提到的任务外，你觉得针对不同的数据模态（图像、音频、文本</a:t>
            </a:r>
            <a:r>
              <a:rPr lang="en-US" altLang="zh-CN" sz="2400" dirty="0"/>
              <a:t>… …</a:t>
            </a:r>
            <a:r>
              <a:rPr lang="zh-CN" altLang="en-US" sz="2400" dirty="0"/>
              <a:t>）还可以设计什么样的自监督学习任务？</a:t>
            </a: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9609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4665</TotalTime>
  <Words>3036</Words>
  <Application>Microsoft Macintosh PowerPoint</Application>
  <PresentationFormat>Widescreen</PresentationFormat>
  <Paragraphs>480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等线</vt:lpstr>
      <vt:lpstr>楷体</vt:lpstr>
      <vt:lpstr>微软雅黑</vt:lpstr>
      <vt:lpstr>Microsoft YaHei Semibold</vt:lpstr>
      <vt:lpstr>Arial</vt:lpstr>
      <vt:lpstr>Calibri</vt:lpstr>
      <vt:lpstr>Cambria Math</vt:lpstr>
      <vt:lpstr>Times New Roman</vt:lpstr>
      <vt:lpstr>1_Office 主题​​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Qiyu Kang</cp:lastModifiedBy>
  <cp:revision>710</cp:revision>
  <cp:lastPrinted>2025-05-14T01:18:32Z</cp:lastPrinted>
  <dcterms:created xsi:type="dcterms:W3CDTF">2024-12-31T08:18:00Z</dcterms:created>
  <dcterms:modified xsi:type="dcterms:W3CDTF">2026-10-19T02:18:11Z</dcterms:modified>
</cp:coreProperties>
</file>