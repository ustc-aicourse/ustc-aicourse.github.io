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1"/>
  </p:handoutMasterIdLst>
  <p:sldIdLst>
    <p:sldId id="5028" r:id="rId3"/>
    <p:sldId id="4926" r:id="rId5"/>
    <p:sldId id="5032" r:id="rId6"/>
    <p:sldId id="5033" r:id="rId7"/>
    <p:sldId id="5034" r:id="rId8"/>
    <p:sldId id="5023" r:id="rId9"/>
    <p:sldId id="5030" r:id="rId10"/>
    <p:sldId id="4821" r:id="rId11"/>
    <p:sldId id="5031" r:id="rId12"/>
    <p:sldId id="4928" r:id="rId13"/>
    <p:sldId id="4929" r:id="rId14"/>
    <p:sldId id="4930" r:id="rId15"/>
    <p:sldId id="4931" r:id="rId16"/>
    <p:sldId id="4932" r:id="rId17"/>
    <p:sldId id="4933" r:id="rId18"/>
    <p:sldId id="4935" r:id="rId19"/>
    <p:sldId id="5024" r:id="rId20"/>
    <p:sldId id="4856" r:id="rId21"/>
    <p:sldId id="4857" r:id="rId22"/>
    <p:sldId id="4858" r:id="rId23"/>
    <p:sldId id="5025" r:id="rId24"/>
    <p:sldId id="4859" r:id="rId25"/>
    <p:sldId id="4863" r:id="rId26"/>
    <p:sldId id="4864" r:id="rId27"/>
    <p:sldId id="4865" r:id="rId28"/>
    <p:sldId id="4867" r:id="rId29"/>
    <p:sldId id="4868" r:id="rId30"/>
    <p:sldId id="4869" r:id="rId31"/>
    <p:sldId id="4870" r:id="rId32"/>
    <p:sldId id="5029" r:id="rId33"/>
    <p:sldId id="5035" r:id="rId34"/>
    <p:sldId id="4875" r:id="rId35"/>
    <p:sldId id="5026" r:id="rId36"/>
    <p:sldId id="4876" r:id="rId37"/>
    <p:sldId id="4877" r:id="rId38"/>
    <p:sldId id="4878" r:id="rId39"/>
    <p:sldId id="4879" r:id="rId40"/>
    <p:sldId id="5036" r:id="rId41"/>
    <p:sldId id="4881" r:id="rId42"/>
    <p:sldId id="4882" r:id="rId43"/>
    <p:sldId id="4883" r:id="rId44"/>
    <p:sldId id="4884" r:id="rId45"/>
    <p:sldId id="5027" r:id="rId46"/>
    <p:sldId id="4936" r:id="rId47"/>
    <p:sldId id="4839" r:id="rId48"/>
    <p:sldId id="4887" r:id="rId49"/>
    <p:sldId id="4885" r:id="rId50"/>
  </p:sldIdLst>
  <p:sldSz cx="12192000" cy="6858000"/>
  <p:notesSz cx="6858000" cy="9144000"/>
  <p:custDataLst>
    <p:tags r:id="rId5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C6A1D21-F8D5-4699-9A24-19FFA6F3A92A}">
          <p14:sldIdLst>
            <p14:sldId id="5028"/>
            <p14:sldId id="4926"/>
            <p14:sldId id="5032"/>
            <p14:sldId id="5033"/>
            <p14:sldId id="5034"/>
            <p14:sldId id="5023"/>
            <p14:sldId id="5030"/>
            <p14:sldId id="4821"/>
            <p14:sldId id="5031"/>
            <p14:sldId id="4928"/>
            <p14:sldId id="4929"/>
            <p14:sldId id="4930"/>
            <p14:sldId id="4931"/>
            <p14:sldId id="4932"/>
            <p14:sldId id="4933"/>
            <p14:sldId id="4935"/>
            <p14:sldId id="5024"/>
            <p14:sldId id="4856"/>
            <p14:sldId id="4857"/>
            <p14:sldId id="4858"/>
            <p14:sldId id="5025"/>
            <p14:sldId id="4859"/>
            <p14:sldId id="4863"/>
            <p14:sldId id="4864"/>
            <p14:sldId id="4865"/>
            <p14:sldId id="4867"/>
            <p14:sldId id="4868"/>
            <p14:sldId id="4869"/>
            <p14:sldId id="4870"/>
            <p14:sldId id="5029"/>
            <p14:sldId id="5035"/>
            <p14:sldId id="4875"/>
            <p14:sldId id="5026"/>
            <p14:sldId id="4876"/>
            <p14:sldId id="4877"/>
            <p14:sldId id="4878"/>
            <p14:sldId id="4879"/>
            <p14:sldId id="5036"/>
            <p14:sldId id="4881"/>
            <p14:sldId id="4882"/>
            <p14:sldId id="4883"/>
            <p14:sldId id="4884"/>
            <p14:sldId id="5027"/>
            <p14:sldId id="4936"/>
            <p14:sldId id="4839"/>
            <p14:sldId id="4887"/>
            <p14:sldId id="488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BE00"/>
    <a:srgbClr val="EDF5E7"/>
    <a:srgbClr val="B0007E"/>
    <a:srgbClr val="F2E7ED"/>
    <a:srgbClr val="0099E8"/>
    <a:srgbClr val="FC5507"/>
    <a:srgbClr val="118CC4"/>
    <a:srgbClr val="203864"/>
    <a:srgbClr val="4472C4"/>
    <a:srgbClr val="A1B8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0" autoAdjust="0"/>
    <p:restoredTop sz="85972" autoAdjust="0"/>
  </p:normalViewPr>
  <p:slideViewPr>
    <p:cSldViewPr snapToGrid="0">
      <p:cViewPr varScale="1">
        <p:scale>
          <a:sx n="230" d="100"/>
          <a:sy n="230" d="100"/>
        </p:scale>
        <p:origin x="12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gs" Target="tags/tag5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C146-7103-4549-868D-FD3600C3A4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6AA05-AB2B-4215-978B-A09B2D3487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在本模块中，我将概述我们计划在机器学习中涉及的主题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C82B69B-4CDB-45EF-AF2E-DEBF6EE82A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SYR</a:t>
            </a:r>
            <a:r>
              <a:rPr lang="zh-CN" altLang="en-US" b="0" dirty="0"/>
              <a:t>：这个地方估计得和杨程的</a:t>
            </a:r>
            <a:r>
              <a:rPr lang="en-US" altLang="zh-CN" b="0" dirty="0"/>
              <a:t>PPT</a:t>
            </a:r>
            <a:r>
              <a:rPr lang="zh-CN" altLang="en-US" b="0" dirty="0"/>
              <a:t>对应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SYR</a:t>
            </a:r>
            <a:r>
              <a:rPr lang="zh-CN" altLang="en-US" b="0" dirty="0"/>
              <a:t>：这个地方估计得和杨程的</a:t>
            </a:r>
            <a:r>
              <a:rPr lang="en-US" altLang="zh-CN" b="0" dirty="0"/>
              <a:t>PPT</a:t>
            </a:r>
            <a:r>
              <a:rPr lang="zh-CN" altLang="en-US" b="0" dirty="0"/>
              <a:t>对应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8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任意多边形: 形状 12"/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8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任意多边形: 形状 12"/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3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5" name="任意多边形: 形状 12"/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Segoe UI" panose="020B0502040204020203" charset="0"/>
              </a:defRPr>
            </a:lvl1pPr>
          </a:lstStyle>
          <a:p>
            <a:fld id="{4CED6292-6C13-4F21-ABA9-7D7BEAFB5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Segoe UI" panose="020B0502040204020203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Segoe UI" panose="020B0502040204020203" charset="0"/>
              </a:defRPr>
            </a:lvl1pPr>
          </a:lstStyle>
          <a:p>
            <a:fld id="{26D11B20-7BE2-4D3A-BBD1-988185DBD1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Variable Display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3.xml"/><Relationship Id="rId14" Type="http://schemas.openxmlformats.org/officeDocument/2006/relationships/image" Target="../media/image44.png"/><Relationship Id="rId13" Type="http://schemas.openxmlformats.org/officeDocument/2006/relationships/image" Target="../media/image43.png"/><Relationship Id="rId12" Type="http://schemas.openxmlformats.org/officeDocument/2006/relationships/image" Target="../media/image42.png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32.png"/><Relationship Id="rId19" Type="http://schemas.openxmlformats.org/officeDocument/2006/relationships/notesSlide" Target="../notesSlides/notesSlide14.xml"/><Relationship Id="rId18" Type="http://schemas.openxmlformats.org/officeDocument/2006/relationships/slideLayout" Target="../slideLayouts/slideLayout3.xml"/><Relationship Id="rId17" Type="http://schemas.openxmlformats.org/officeDocument/2006/relationships/image" Target="../media/image57.png"/><Relationship Id="rId16" Type="http://schemas.openxmlformats.org/officeDocument/2006/relationships/image" Target="../media/image44.png"/><Relationship Id="rId15" Type="http://schemas.openxmlformats.org/officeDocument/2006/relationships/image" Target="../media/image43.png"/><Relationship Id="rId14" Type="http://schemas.openxmlformats.org/officeDocument/2006/relationships/image" Target="../media/image56.png"/><Relationship Id="rId13" Type="http://schemas.openxmlformats.org/officeDocument/2006/relationships/image" Target="../media/image55.png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65.png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7.png"/><Relationship Id="rId2" Type="http://schemas.openxmlformats.org/officeDocument/2006/relationships/image" Target="../media/image26.png"/><Relationship Id="rId1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32.png"/><Relationship Id="rId18" Type="http://schemas.openxmlformats.org/officeDocument/2006/relationships/notesSlide" Target="../notesSlides/notesSlide22.xml"/><Relationship Id="rId17" Type="http://schemas.openxmlformats.org/officeDocument/2006/relationships/slideLayout" Target="../slideLayouts/slideLayout3.xml"/><Relationship Id="rId16" Type="http://schemas.openxmlformats.org/officeDocument/2006/relationships/image" Target="../media/image79.png"/><Relationship Id="rId15" Type="http://schemas.openxmlformats.org/officeDocument/2006/relationships/image" Target="../media/image78.png"/><Relationship Id="rId14" Type="http://schemas.openxmlformats.org/officeDocument/2006/relationships/image" Target="../media/image56.png"/><Relationship Id="rId13" Type="http://schemas.openxmlformats.org/officeDocument/2006/relationships/image" Target="../media/image55.png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2" Type="http://schemas.openxmlformats.org/officeDocument/2006/relationships/notesSlide" Target="../notesSlides/notesSlide23.x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89.png"/><Relationship Id="rId1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9" Type="http://schemas.openxmlformats.org/officeDocument/2006/relationships/notesSlide" Target="../notesSlides/notesSlide27.xml"/><Relationship Id="rId18" Type="http://schemas.openxmlformats.org/officeDocument/2006/relationships/slideLayout" Target="../slideLayouts/slideLayout3.xml"/><Relationship Id="rId17" Type="http://schemas.openxmlformats.org/officeDocument/2006/relationships/image" Target="../media/image56.png"/><Relationship Id="rId16" Type="http://schemas.openxmlformats.org/officeDocument/2006/relationships/image" Target="../media/image55.png"/><Relationship Id="rId15" Type="http://schemas.openxmlformats.org/officeDocument/2006/relationships/image" Target="../media/image54.png"/><Relationship Id="rId14" Type="http://schemas.openxmlformats.org/officeDocument/2006/relationships/image" Target="../media/image53.png"/><Relationship Id="rId13" Type="http://schemas.openxmlformats.org/officeDocument/2006/relationships/image" Target="../media/image52.png"/><Relationship Id="rId12" Type="http://schemas.openxmlformats.org/officeDocument/2006/relationships/image" Target="../media/image51.pn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13.png"/><Relationship Id="rId7" Type="http://schemas.openxmlformats.org/officeDocument/2006/relationships/image" Target="../media/image112.png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4" Type="http://schemas.openxmlformats.org/officeDocument/2006/relationships/notesSlide" Target="../notesSlides/notesSlide29.xml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117.png"/><Relationship Id="rId11" Type="http://schemas.openxmlformats.org/officeDocument/2006/relationships/image" Target="../media/image116.png"/><Relationship Id="rId10" Type="http://schemas.openxmlformats.org/officeDocument/2006/relationships/image" Target="../media/image115.png"/><Relationship Id="rId1" Type="http://schemas.openxmlformats.org/officeDocument/2006/relationships/image" Target="../media/image10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png"/><Relationship Id="rId8" Type="http://schemas.openxmlformats.org/officeDocument/2006/relationships/image" Target="../media/image125.png"/><Relationship Id="rId7" Type="http://schemas.openxmlformats.org/officeDocument/2006/relationships/image" Target="../media/image124.png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0" Type="http://schemas.openxmlformats.org/officeDocument/2006/relationships/notesSlide" Target="../notesSlides/notesSlide32.xml"/><Relationship Id="rId4" Type="http://schemas.openxmlformats.org/officeDocument/2006/relationships/image" Target="../media/image121.png"/><Relationship Id="rId39" Type="http://schemas.openxmlformats.org/officeDocument/2006/relationships/slideLayout" Target="../slideLayouts/slideLayout3.xml"/><Relationship Id="rId38" Type="http://schemas.openxmlformats.org/officeDocument/2006/relationships/image" Target="../media/image155.png"/><Relationship Id="rId37" Type="http://schemas.openxmlformats.org/officeDocument/2006/relationships/image" Target="../media/image154.png"/><Relationship Id="rId36" Type="http://schemas.openxmlformats.org/officeDocument/2006/relationships/image" Target="../media/image153.png"/><Relationship Id="rId35" Type="http://schemas.openxmlformats.org/officeDocument/2006/relationships/image" Target="../media/image152.png"/><Relationship Id="rId34" Type="http://schemas.openxmlformats.org/officeDocument/2006/relationships/image" Target="../media/image151.png"/><Relationship Id="rId33" Type="http://schemas.openxmlformats.org/officeDocument/2006/relationships/image" Target="../media/image150.png"/><Relationship Id="rId32" Type="http://schemas.openxmlformats.org/officeDocument/2006/relationships/image" Target="../media/image149.png"/><Relationship Id="rId31" Type="http://schemas.openxmlformats.org/officeDocument/2006/relationships/image" Target="../media/image148.png"/><Relationship Id="rId30" Type="http://schemas.openxmlformats.org/officeDocument/2006/relationships/image" Target="../media/image147.png"/><Relationship Id="rId3" Type="http://schemas.openxmlformats.org/officeDocument/2006/relationships/image" Target="../media/image120.png"/><Relationship Id="rId29" Type="http://schemas.openxmlformats.org/officeDocument/2006/relationships/image" Target="../media/image146.png"/><Relationship Id="rId28" Type="http://schemas.openxmlformats.org/officeDocument/2006/relationships/image" Target="../media/image145.png"/><Relationship Id="rId27" Type="http://schemas.openxmlformats.org/officeDocument/2006/relationships/image" Target="../media/image144.png"/><Relationship Id="rId26" Type="http://schemas.openxmlformats.org/officeDocument/2006/relationships/image" Target="../media/image143.png"/><Relationship Id="rId25" Type="http://schemas.openxmlformats.org/officeDocument/2006/relationships/image" Target="../media/image142.png"/><Relationship Id="rId24" Type="http://schemas.openxmlformats.org/officeDocument/2006/relationships/image" Target="../media/image141.png"/><Relationship Id="rId23" Type="http://schemas.openxmlformats.org/officeDocument/2006/relationships/image" Target="../media/image140.png"/><Relationship Id="rId22" Type="http://schemas.openxmlformats.org/officeDocument/2006/relationships/image" Target="../media/image139.png"/><Relationship Id="rId21" Type="http://schemas.openxmlformats.org/officeDocument/2006/relationships/image" Target="../media/image138.png"/><Relationship Id="rId20" Type="http://schemas.openxmlformats.org/officeDocument/2006/relationships/image" Target="../media/image137.png"/><Relationship Id="rId2" Type="http://schemas.openxmlformats.org/officeDocument/2006/relationships/image" Target="../media/image119.png"/><Relationship Id="rId19" Type="http://schemas.openxmlformats.org/officeDocument/2006/relationships/image" Target="../media/image136.png"/><Relationship Id="rId18" Type="http://schemas.openxmlformats.org/officeDocument/2006/relationships/image" Target="../media/image135.png"/><Relationship Id="rId17" Type="http://schemas.openxmlformats.org/officeDocument/2006/relationships/image" Target="../media/image134.png"/><Relationship Id="rId16" Type="http://schemas.openxmlformats.org/officeDocument/2006/relationships/image" Target="../media/image133.png"/><Relationship Id="rId15" Type="http://schemas.openxmlformats.org/officeDocument/2006/relationships/image" Target="../media/image132.png"/><Relationship Id="rId14" Type="http://schemas.openxmlformats.org/officeDocument/2006/relationships/image" Target="../media/image131.png"/><Relationship Id="rId13" Type="http://schemas.openxmlformats.org/officeDocument/2006/relationships/image" Target="../media/image130.png"/><Relationship Id="rId12" Type="http://schemas.openxmlformats.org/officeDocument/2006/relationships/image" Target="../media/image129.png"/><Relationship Id="rId11" Type="http://schemas.openxmlformats.org/officeDocument/2006/relationships/image" Target="../media/image128.png"/><Relationship Id="rId10" Type="http://schemas.openxmlformats.org/officeDocument/2006/relationships/image" Target="../media/image127.png"/><Relationship Id="rId1" Type="http://schemas.openxmlformats.org/officeDocument/2006/relationships/image" Target="../media/image118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58.png"/><Relationship Id="rId3" Type="http://schemas.openxmlformats.org/officeDocument/2006/relationships/image" Target="../media/image14.png"/><Relationship Id="rId2" Type="http://schemas.openxmlformats.org/officeDocument/2006/relationships/image" Target="../media/image157.png"/><Relationship Id="rId1" Type="http://schemas.openxmlformats.org/officeDocument/2006/relationships/image" Target="../media/image15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5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image" Target="../media/image15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6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image" Target="../media/image164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8.png"/><Relationship Id="rId8" Type="http://schemas.openxmlformats.org/officeDocument/2006/relationships/image" Target="../media/image177.png"/><Relationship Id="rId7" Type="http://schemas.openxmlformats.org/officeDocument/2006/relationships/image" Target="../media/image176.png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3" Type="http://schemas.openxmlformats.org/officeDocument/2006/relationships/notesSlide" Target="../notesSlides/notesSlide37.x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180.png"/><Relationship Id="rId10" Type="http://schemas.openxmlformats.org/officeDocument/2006/relationships/image" Target="../media/image179.png"/><Relationship Id="rId1" Type="http://schemas.openxmlformats.org/officeDocument/2006/relationships/image" Target="../media/image17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85.png"/><Relationship Id="rId4" Type="http://schemas.openxmlformats.org/officeDocument/2006/relationships/image" Target="../media/image184.png"/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image" Target="../media/image181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image" Target="../media/image186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92.png"/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image" Target="../media/image189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96.png"/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image" Target="../media/image193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7.png"/><Relationship Id="rId1" Type="http://schemas.openxmlformats.org/officeDocument/2006/relationships/image" Target="../media/image196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9.png"/><Relationship Id="rId1" Type="http://schemas.openxmlformats.org/officeDocument/2006/relationships/image" Target="../media/image198.pn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image" Target="../media/image19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864"/>
          </a:solidFill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50616" y="376157"/>
            <a:ext cx="3400585" cy="569319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67679" y="1321633"/>
            <a:ext cx="11856641" cy="2901395"/>
            <a:chOff x="167679" y="1321633"/>
            <a:chExt cx="11856641" cy="2901395"/>
          </a:xfrm>
        </p:grpSpPr>
        <p:sp>
          <p:nvSpPr>
            <p:cNvPr id="6" name="矩形 5"/>
            <p:cNvSpPr/>
            <p:nvPr/>
          </p:nvSpPr>
          <p:spPr>
            <a:xfrm>
              <a:off x="167679" y="1321633"/>
              <a:ext cx="11856641" cy="1414780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《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人工智能数学原理与算法</a:t>
              </a: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》</a:t>
              </a:r>
              <a:b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</a:b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</a:t>
              </a: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章：机器学习基础</a:t>
              </a:r>
              <a:endParaRPr kumimoji="0" lang="en-US" altLang="zh-CN" sz="36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67679" y="3221943"/>
              <a:ext cx="11856641" cy="1001085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2.5 </a:t>
              </a:r>
              <a:r>
                <a:rPr lang="zh-CN" altLang="en-US" sz="54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逻辑</a:t>
              </a:r>
              <a:r>
                <a:rPr kumimoji="0" lang="zh-CN" altLang="en-US" sz="54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回归</a:t>
              </a:r>
              <a:endParaRPr kumimoji="0" lang="en-US" altLang="zh-CN" sz="54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627188" y="4463916"/>
            <a:ext cx="5404863" cy="1381060"/>
          </a:xfrm>
          <a:prstGeom prst="rect">
            <a:avLst/>
          </a:prstGeom>
        </p:spPr>
        <p:txBody>
          <a:bodyPr wrap="square" lIns="87545" tIns="43772" rIns="87545" bIns="43772">
            <a:spAutoFit/>
          </a:bodyPr>
          <a:lstStyle/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康奇宇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qiyukang@ustc.edu.cn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Tm="1191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7546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回顾：机器学习中的回归问题（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Regression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rcRect l="40" t="22723" r="87620" b="13289"/>
          <a:stretch>
            <a:fillRect/>
          </a:stretch>
        </p:blipFill>
        <p:spPr>
          <a:xfrm>
            <a:off x="511553" y="2551597"/>
            <a:ext cx="1617898" cy="40585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21102"/>
          <a:stretch>
            <a:fillRect/>
          </a:stretch>
        </p:blipFill>
        <p:spPr>
          <a:xfrm>
            <a:off x="2995672" y="1071195"/>
            <a:ext cx="3983862" cy="1320047"/>
          </a:xfrm>
          <a:prstGeom prst="rect">
            <a:avLst/>
          </a:prstGeom>
        </p:spPr>
      </p:pic>
      <p:sp>
        <p:nvSpPr>
          <p:cNvPr id="6" name="文本框 8"/>
          <p:cNvSpPr txBox="1"/>
          <p:nvPr/>
        </p:nvSpPr>
        <p:spPr>
          <a:xfrm>
            <a:off x="2566430" y="4189470"/>
            <a:ext cx="1488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房价估计：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9"/>
          <p:cNvSpPr txBox="1"/>
          <p:nvPr/>
        </p:nvSpPr>
        <p:spPr>
          <a:xfrm>
            <a:off x="2550165" y="5536638"/>
            <a:ext cx="1488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到达时间：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24"/>
          <p:cNvGrpSpPr/>
          <p:nvPr/>
        </p:nvGrpSpPr>
        <p:grpSpPr>
          <a:xfrm>
            <a:off x="5420870" y="2812798"/>
            <a:ext cx="5160181" cy="400110"/>
            <a:chOff x="5420870" y="2812798"/>
            <a:chExt cx="5160181" cy="400110"/>
          </a:xfrm>
        </p:grpSpPr>
        <p:sp>
          <p:nvSpPr>
            <p:cNvPr id="9" name="文本框 10"/>
            <p:cNvSpPr txBox="1"/>
            <p:nvPr/>
          </p:nvSpPr>
          <p:spPr>
            <a:xfrm>
              <a:off x="5420870" y="2812798"/>
              <a:ext cx="1284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卫星图像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26"/>
            <p:cNvSpPr txBox="1"/>
            <p:nvPr/>
          </p:nvSpPr>
          <p:spPr>
            <a:xfrm>
              <a:off x="8602328" y="2812798"/>
              <a:ext cx="19787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资产财富指数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直接箭头连接符 19"/>
            <p:cNvCxnSpPr/>
            <p:nvPr/>
          </p:nvCxnSpPr>
          <p:spPr>
            <a:xfrm>
              <a:off x="7533676" y="3041482"/>
              <a:ext cx="7798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25"/>
          <p:cNvGrpSpPr/>
          <p:nvPr/>
        </p:nvGrpSpPr>
        <p:grpSpPr>
          <a:xfrm>
            <a:off x="4553631" y="4180771"/>
            <a:ext cx="5831508" cy="400110"/>
            <a:chOff x="4553631" y="4180771"/>
            <a:chExt cx="5831508" cy="400110"/>
          </a:xfrm>
        </p:grpSpPr>
        <p:sp>
          <p:nvSpPr>
            <p:cNvPr id="16" name="文本框 27"/>
            <p:cNvSpPr txBox="1"/>
            <p:nvPr/>
          </p:nvSpPr>
          <p:spPr>
            <a:xfrm>
              <a:off x="4553631" y="4180771"/>
              <a:ext cx="31015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房屋信息（位置，面积）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28"/>
            <p:cNvSpPr txBox="1"/>
            <p:nvPr/>
          </p:nvSpPr>
          <p:spPr>
            <a:xfrm>
              <a:off x="9100931" y="4180771"/>
              <a:ext cx="1284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房价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0" name="直接箭头连接符 20"/>
            <p:cNvCxnSpPr/>
            <p:nvPr/>
          </p:nvCxnSpPr>
          <p:spPr>
            <a:xfrm>
              <a:off x="7533676" y="4407312"/>
              <a:ext cx="7798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31"/>
          <p:cNvGrpSpPr/>
          <p:nvPr/>
        </p:nvGrpSpPr>
        <p:grpSpPr>
          <a:xfrm>
            <a:off x="4668391" y="5548745"/>
            <a:ext cx="5415473" cy="400110"/>
            <a:chOff x="4668391" y="5548745"/>
            <a:chExt cx="5415473" cy="400110"/>
          </a:xfrm>
        </p:grpSpPr>
        <p:sp>
          <p:nvSpPr>
            <p:cNvPr id="22" name="文本框 29"/>
            <p:cNvSpPr txBox="1"/>
            <p:nvPr/>
          </p:nvSpPr>
          <p:spPr>
            <a:xfrm>
              <a:off x="4668391" y="5548745"/>
              <a:ext cx="2872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目的地，天气，时间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30"/>
            <p:cNvSpPr txBox="1"/>
            <p:nvPr/>
          </p:nvSpPr>
          <p:spPr>
            <a:xfrm>
              <a:off x="8799656" y="5548745"/>
              <a:ext cx="1284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到达时间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接箭头连接符 21"/>
            <p:cNvCxnSpPr/>
            <p:nvPr/>
          </p:nvCxnSpPr>
          <p:spPr>
            <a:xfrm>
              <a:off x="7533676" y="5773143"/>
              <a:ext cx="7798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6"/>
          <p:cNvSpPr txBox="1"/>
          <p:nvPr/>
        </p:nvSpPr>
        <p:spPr>
          <a:xfrm>
            <a:off x="2567951" y="2828404"/>
            <a:ext cx="1488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贫困地图：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3"/>
          <p:cNvSpPr txBox="1"/>
          <p:nvPr/>
        </p:nvSpPr>
        <p:spPr>
          <a:xfrm>
            <a:off x="7256916" y="1563640"/>
            <a:ext cx="1748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响应（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79544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回顾：机器学习中的分类问题（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Classification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3"/>
          <p:cNvPicPr>
            <a:picLocks noChangeAspect="1"/>
          </p:cNvPicPr>
          <p:nvPr/>
        </p:nvPicPr>
        <p:blipFill>
          <a:blip r:embed="rId1"/>
          <a:srcRect t="24436" r="10673"/>
          <a:stretch>
            <a:fillRect/>
          </a:stretch>
        </p:blipFill>
        <p:spPr>
          <a:xfrm>
            <a:off x="2857500" y="1272892"/>
            <a:ext cx="5142958" cy="1024872"/>
          </a:xfrm>
          <a:prstGeom prst="rect">
            <a:avLst/>
          </a:prstGeom>
        </p:spPr>
      </p:pic>
      <p:pic>
        <p:nvPicPr>
          <p:cNvPr id="3" name="图片 5"/>
          <p:cNvPicPr>
            <a:picLocks noChangeAspect="1"/>
          </p:cNvPicPr>
          <p:nvPr/>
        </p:nvPicPr>
        <p:blipFill>
          <a:blip r:embed="rId2"/>
          <a:srcRect t="24795" r="87710" b="21552"/>
          <a:stretch>
            <a:fillRect/>
          </a:stretch>
        </p:blipFill>
        <p:spPr>
          <a:xfrm>
            <a:off x="269677" y="2106592"/>
            <a:ext cx="1432096" cy="2951545"/>
          </a:xfrm>
          <a:prstGeom prst="rect">
            <a:avLst/>
          </a:prstGeom>
        </p:spPr>
      </p:pic>
      <p:sp>
        <p:nvSpPr>
          <p:cNvPr id="13" name="文本框 3"/>
          <p:cNvSpPr txBox="1"/>
          <p:nvPr/>
        </p:nvSpPr>
        <p:spPr>
          <a:xfrm>
            <a:off x="1492930" y="5688691"/>
            <a:ext cx="66212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问：分类和回归之间的关键区别是什么？</a:t>
            </a:r>
            <a:endParaRPr lang="en-SG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分类有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离散的输出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回归有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连续的输出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28"/>
          <p:cNvGrpSpPr/>
          <p:nvPr/>
        </p:nvGrpSpPr>
        <p:grpSpPr>
          <a:xfrm>
            <a:off x="7416043" y="5585108"/>
            <a:ext cx="4150396" cy="475024"/>
            <a:chOff x="7273818" y="5279958"/>
            <a:chExt cx="4150396" cy="475024"/>
          </a:xfrm>
        </p:grpSpPr>
        <p:pic>
          <p:nvPicPr>
            <p:cNvPr id="15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8972" y="5279958"/>
              <a:ext cx="2045242" cy="475024"/>
            </a:xfrm>
            <a:prstGeom prst="rect">
              <a:avLst/>
            </a:prstGeom>
          </p:spPr>
        </p:pic>
        <p:sp>
          <p:nvSpPr>
            <p:cNvPr id="17" name="文本框 4"/>
            <p:cNvSpPr txBox="1"/>
            <p:nvPr/>
          </p:nvSpPr>
          <p:spPr>
            <a:xfrm>
              <a:off x="7273818" y="5354872"/>
              <a:ext cx="22174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扩展：多分类问题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文本框 7"/>
          <p:cNvSpPr txBox="1"/>
          <p:nvPr/>
        </p:nvSpPr>
        <p:spPr>
          <a:xfrm>
            <a:off x="3983619" y="2399487"/>
            <a:ext cx="2149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信用卡交易信息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9"/>
          <p:cNvSpPr txBox="1"/>
          <p:nvPr/>
        </p:nvSpPr>
        <p:spPr>
          <a:xfrm>
            <a:off x="8580311" y="2422636"/>
            <a:ext cx="124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是否欺诈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10"/>
          <p:cNvSpPr txBox="1"/>
          <p:nvPr/>
        </p:nvSpPr>
        <p:spPr>
          <a:xfrm>
            <a:off x="4359575" y="3353737"/>
            <a:ext cx="1250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评论信息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11"/>
          <p:cNvSpPr txBox="1"/>
          <p:nvPr/>
        </p:nvSpPr>
        <p:spPr>
          <a:xfrm>
            <a:off x="8580311" y="3510001"/>
            <a:ext cx="124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是否有害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15"/>
          <p:cNvSpPr txBox="1"/>
          <p:nvPr/>
        </p:nvSpPr>
        <p:spPr>
          <a:xfrm>
            <a:off x="3874053" y="4429178"/>
            <a:ext cx="2731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测量到的粒子对撞信息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9"/>
          <p:cNvSpPr txBox="1"/>
          <p:nvPr/>
        </p:nvSpPr>
        <p:spPr>
          <a:xfrm>
            <a:off x="8000457" y="4450147"/>
            <a:ext cx="2981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粒子衰变还是背景噪音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箭头连接符 19"/>
          <p:cNvCxnSpPr/>
          <p:nvPr/>
        </p:nvCxnSpPr>
        <p:spPr>
          <a:xfrm>
            <a:off x="6883895" y="2610281"/>
            <a:ext cx="7798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20"/>
          <p:cNvCxnSpPr/>
          <p:nvPr/>
        </p:nvCxnSpPr>
        <p:spPr>
          <a:xfrm>
            <a:off x="6883895" y="3617296"/>
            <a:ext cx="7798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21"/>
          <p:cNvCxnSpPr/>
          <p:nvPr/>
        </p:nvCxnSpPr>
        <p:spPr>
          <a:xfrm>
            <a:off x="6883895" y="4624311"/>
            <a:ext cx="7798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29"/>
          <p:cNvSpPr txBox="1"/>
          <p:nvPr/>
        </p:nvSpPr>
        <p:spPr>
          <a:xfrm>
            <a:off x="3800352" y="805152"/>
            <a:ext cx="16286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分类器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classifier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0"/>
          <p:cNvSpPr txBox="1"/>
          <p:nvPr/>
        </p:nvSpPr>
        <p:spPr>
          <a:xfrm>
            <a:off x="8131046" y="1406149"/>
            <a:ext cx="1748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标签（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label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1"/>
          <p:cNvSpPr txBox="1"/>
          <p:nvPr/>
        </p:nvSpPr>
        <p:spPr>
          <a:xfrm>
            <a:off x="2139468" y="2398628"/>
            <a:ext cx="124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欺诈检测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2"/>
          <p:cNvSpPr txBox="1"/>
          <p:nvPr/>
        </p:nvSpPr>
        <p:spPr>
          <a:xfrm>
            <a:off x="2135378" y="3370243"/>
            <a:ext cx="124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评论检测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3"/>
          <p:cNvSpPr txBox="1"/>
          <p:nvPr/>
        </p:nvSpPr>
        <p:spPr>
          <a:xfrm>
            <a:off x="2134624" y="4424256"/>
            <a:ext cx="124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粒子对撞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6602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回顾：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回归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Linear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Regression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6045091" y="1691183"/>
            <a:ext cx="2325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参数向量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模型参数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8484151" y="1691183"/>
            <a:ext cx="1473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特征提取器</a:t>
            </a:r>
            <a:endParaRPr lang="en-SG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2"/>
          <p:cNvSpPr txBox="1"/>
          <p:nvPr/>
        </p:nvSpPr>
        <p:spPr>
          <a:xfrm>
            <a:off x="9957593" y="1691183"/>
            <a:ext cx="126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特征向量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23"/>
              <p:cNvSpPr txBox="1"/>
              <p:nvPr/>
            </p:nvSpPr>
            <p:spPr>
              <a:xfrm>
                <a:off x="5465350" y="2589160"/>
                <a:ext cx="19458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（预测器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的集合）</a:t>
                </a:r>
                <a:endParaRPr lang="zh-CN" altLang="en-US" dirty="0"/>
              </a:p>
            </p:txBody>
          </p:sp>
        </mc:Choice>
        <mc:Fallback>
          <p:sp>
            <p:nvSpPr>
              <p:cNvPr id="7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350" y="2589160"/>
                <a:ext cx="1945885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28" t="-72" r="-511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186" y="1187672"/>
            <a:ext cx="1470787" cy="350550"/>
          </a:xfrm>
          <a:prstGeom prst="rect">
            <a:avLst/>
          </a:prstGeom>
        </p:spPr>
      </p:pic>
      <p:sp>
        <p:nvSpPr>
          <p:cNvPr id="9" name="文本框 7"/>
          <p:cNvSpPr txBox="1"/>
          <p:nvPr/>
        </p:nvSpPr>
        <p:spPr>
          <a:xfrm>
            <a:off x="781656" y="120092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模型向量表示：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293" y="1210947"/>
            <a:ext cx="1539373" cy="304826"/>
          </a:xfrm>
          <a:prstGeom prst="rect">
            <a:avLst/>
          </a:prstGeom>
        </p:spPr>
      </p:pic>
      <p:pic>
        <p:nvPicPr>
          <p:cNvPr id="11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631" y="1117482"/>
            <a:ext cx="2579294" cy="522000"/>
          </a:xfrm>
          <a:prstGeom prst="rect">
            <a:avLst/>
          </a:prstGeom>
        </p:spPr>
      </p:pic>
      <p:pic>
        <p:nvPicPr>
          <p:cNvPr id="12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9631" y="2442299"/>
            <a:ext cx="2514600" cy="663054"/>
          </a:xfrm>
          <a:prstGeom prst="rect">
            <a:avLst/>
          </a:prstGeom>
        </p:spPr>
      </p:pic>
      <p:sp>
        <p:nvSpPr>
          <p:cNvPr id="16" name="文本框 21"/>
          <p:cNvSpPr txBox="1"/>
          <p:nvPr/>
        </p:nvSpPr>
        <p:spPr>
          <a:xfrm>
            <a:off x="781656" y="254299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假设类：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6190" y="3602303"/>
            <a:ext cx="3917019" cy="594412"/>
          </a:xfrm>
          <a:prstGeom prst="rect">
            <a:avLst/>
          </a:prstGeom>
        </p:spPr>
      </p:pic>
      <p:sp>
        <p:nvSpPr>
          <p:cNvPr id="21" name="文本框 23"/>
          <p:cNvSpPr txBox="1"/>
          <p:nvPr/>
        </p:nvSpPr>
        <p:spPr>
          <a:xfrm>
            <a:off x="7207978" y="3714843"/>
            <a:ext cx="2985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平方损失（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squared loss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0155" y="4530283"/>
            <a:ext cx="6031689" cy="620485"/>
          </a:xfrm>
          <a:prstGeom prst="rect">
            <a:avLst/>
          </a:prstGeom>
        </p:spPr>
      </p:pic>
      <p:sp>
        <p:nvSpPr>
          <p:cNvPr id="23" name="文本框 25"/>
          <p:cNvSpPr txBox="1"/>
          <p:nvPr/>
        </p:nvSpPr>
        <p:spPr>
          <a:xfrm>
            <a:off x="9360912" y="4520486"/>
            <a:ext cx="2592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均方误差（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MSE, mean squared error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1"/>
          <p:cNvSpPr txBox="1"/>
          <p:nvPr/>
        </p:nvSpPr>
        <p:spPr>
          <a:xfrm>
            <a:off x="781656" y="356041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损失函数：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1"/>
          <p:cNvSpPr/>
          <p:nvPr/>
        </p:nvSpPr>
        <p:spPr>
          <a:xfrm>
            <a:off x="3152543" y="6146979"/>
            <a:ext cx="7601332" cy="400111"/>
          </a:xfrm>
          <a:prstGeom prst="rect">
            <a:avLst/>
          </a:prstGeom>
          <a:solidFill>
            <a:srgbClr val="F3E8B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高斯假设下的最大似然估计 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最小化平方误差</a:t>
            </a:r>
            <a:endParaRPr lang="en-US" altLang="zh-CN" sz="24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" name="Picture 8"/>
          <p:cNvPicPr>
            <a:picLocks noChangeAspect="1"/>
          </p:cNvPicPr>
          <p:nvPr/>
        </p:nvPicPr>
        <p:blipFill>
          <a:blip r:embed="rId8"/>
          <a:srcRect l="29175" t="67100"/>
          <a:stretch>
            <a:fillRect/>
          </a:stretch>
        </p:blipFill>
        <p:spPr>
          <a:xfrm>
            <a:off x="5167613" y="5347349"/>
            <a:ext cx="4562179" cy="663546"/>
          </a:xfrm>
          <a:prstGeom prst="rect">
            <a:avLst/>
          </a:prstGeom>
        </p:spPr>
      </p:pic>
      <p:pic>
        <p:nvPicPr>
          <p:cNvPr id="42" name="Picture 8"/>
          <p:cNvPicPr>
            <a:picLocks noChangeAspect="1"/>
          </p:cNvPicPr>
          <p:nvPr/>
        </p:nvPicPr>
        <p:blipFill>
          <a:blip r:embed="rId8"/>
          <a:srcRect r="68717" b="72814"/>
          <a:stretch>
            <a:fillRect/>
          </a:stretch>
        </p:blipFill>
        <p:spPr>
          <a:xfrm>
            <a:off x="3152543" y="5429735"/>
            <a:ext cx="2015070" cy="54831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6602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回顾：</a:t>
            </a: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回归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Linear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Regression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1"/>
          <a:srcRect t="15040"/>
          <a:stretch>
            <a:fillRect/>
          </a:stretch>
        </p:blipFill>
        <p:spPr>
          <a:xfrm>
            <a:off x="874866" y="1901535"/>
            <a:ext cx="10442268" cy="4355829"/>
          </a:xfrm>
          <a:prstGeom prst="rect">
            <a:avLst/>
          </a:prstGeom>
        </p:spPr>
      </p:pic>
      <p:pic>
        <p:nvPicPr>
          <p:cNvPr id="3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516" y="1431163"/>
            <a:ext cx="2961066" cy="573951"/>
          </a:xfrm>
          <a:prstGeom prst="rect">
            <a:avLst/>
          </a:prstGeom>
        </p:spPr>
      </p:pic>
      <p:sp>
        <p:nvSpPr>
          <p:cNvPr id="13" name="文本框 10"/>
          <p:cNvSpPr txBox="1"/>
          <p:nvPr/>
        </p:nvSpPr>
        <p:spPr>
          <a:xfrm>
            <a:off x="763971" y="1431163"/>
            <a:ext cx="1511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优化算法：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/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/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分类问题</a:t>
              </a:r>
              <a:endPara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/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/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逻辑回归</a:t>
              </a:r>
              <a:endPara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727455" y="3955765"/>
            <a:ext cx="3123326" cy="716782"/>
            <a:chOff x="1727455" y="4495365"/>
            <a:chExt cx="3123326" cy="716782"/>
          </a:xfrm>
        </p:grpSpPr>
        <p:sp>
          <p:nvSpPr>
            <p:cNvPr id="51" name="文本框 50"/>
            <p:cNvSpPr txBox="1"/>
            <p:nvPr/>
          </p:nvSpPr>
          <p:spPr>
            <a:xfrm>
              <a:off x="2570331" y="4706973"/>
              <a:ext cx="2280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优化算法</a:t>
              </a:r>
              <a:endPara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/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/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分类问题</a:t>
              </a:r>
              <a:endPara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/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/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2">
                      <a:lumMod val="9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逻辑回归</a:t>
              </a:r>
              <a:endParaRPr lang="zh-CN" altLang="en-US" sz="2000" b="1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727455" y="3955765"/>
            <a:ext cx="3907800" cy="716782"/>
            <a:chOff x="1727455" y="4495365"/>
            <a:chExt cx="3907800" cy="716782"/>
          </a:xfrm>
        </p:grpSpPr>
        <p:sp>
          <p:nvSpPr>
            <p:cNvPr id="51" name="文本框 50"/>
            <p:cNvSpPr txBox="1"/>
            <p:nvPr/>
          </p:nvSpPr>
          <p:spPr>
            <a:xfrm>
              <a:off x="2570330" y="4706973"/>
              <a:ext cx="30649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2">
                      <a:lumMod val="9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优化算法</a:t>
              </a:r>
              <a:endParaRPr lang="zh-CN" altLang="en-US" sz="2000" b="1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课程安排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94248" y="1409700"/>
            <a:ext cx="9753598" cy="4359377"/>
            <a:chOff x="628652" y="1710813"/>
            <a:chExt cx="7954909" cy="3829664"/>
          </a:xfrm>
        </p:grpSpPr>
        <p:sp>
          <p:nvSpPr>
            <p:cNvPr id="5" name="Rectangle 6"/>
            <p:cNvSpPr/>
            <p:nvPr/>
          </p:nvSpPr>
          <p:spPr>
            <a:xfrm>
              <a:off x="628652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假设类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9"/>
            <p:cNvSpPr/>
            <p:nvPr/>
          </p:nvSpPr>
          <p:spPr>
            <a:xfrm>
              <a:off x="3419735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损失函数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Rectangle 10"/>
            <p:cNvSpPr/>
            <p:nvPr/>
          </p:nvSpPr>
          <p:spPr>
            <a:xfrm>
              <a:off x="6255726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优化算法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Rectangle 12"/>
            <p:cNvSpPr/>
            <p:nvPr/>
          </p:nvSpPr>
          <p:spPr>
            <a:xfrm>
              <a:off x="628652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特征简单加权和</a:t>
              </a:r>
              <a:endPara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13"/>
            <p:cNvSpPr/>
            <p:nvPr/>
          </p:nvSpPr>
          <p:spPr>
            <a:xfrm>
              <a:off x="3419735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最大似然估计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14"/>
            <p:cNvSpPr/>
            <p:nvPr/>
          </p:nvSpPr>
          <p:spPr>
            <a:xfrm>
              <a:off x="6255726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梯度上升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15"/>
            <p:cNvSpPr/>
            <p:nvPr/>
          </p:nvSpPr>
          <p:spPr>
            <a:xfrm>
              <a:off x="628652" y="4783393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逻辑回归</a:t>
              </a:r>
              <a:endPara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17"/>
            <p:cNvSpPr/>
            <p:nvPr/>
          </p:nvSpPr>
          <p:spPr>
            <a:xfrm>
              <a:off x="3751250" y="4783393"/>
              <a:ext cx="1816538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对数似然估计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18"/>
            <p:cNvSpPr/>
            <p:nvPr/>
          </p:nvSpPr>
          <p:spPr>
            <a:xfrm>
              <a:off x="6112491" y="4783393"/>
              <a:ext cx="2471070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随机梯度下降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Down Arrow 19"/>
            <p:cNvSpPr/>
            <p:nvPr/>
          </p:nvSpPr>
          <p:spPr>
            <a:xfrm>
              <a:off x="1573468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19" name="Down Arrow 20"/>
            <p:cNvSpPr/>
            <p:nvPr/>
          </p:nvSpPr>
          <p:spPr>
            <a:xfrm>
              <a:off x="1573468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0" name="Down Arrow 21"/>
            <p:cNvSpPr/>
            <p:nvPr/>
          </p:nvSpPr>
          <p:spPr>
            <a:xfrm>
              <a:off x="4364551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1" name="Down Arrow 22"/>
            <p:cNvSpPr/>
            <p:nvPr/>
          </p:nvSpPr>
          <p:spPr>
            <a:xfrm>
              <a:off x="4364551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2" name="Down Arrow 23"/>
            <p:cNvSpPr/>
            <p:nvPr/>
          </p:nvSpPr>
          <p:spPr>
            <a:xfrm>
              <a:off x="7200542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3" name="Down Arrow 24"/>
            <p:cNvSpPr/>
            <p:nvPr/>
          </p:nvSpPr>
          <p:spPr>
            <a:xfrm>
              <a:off x="7200542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4" name="Plus 25"/>
            <p:cNvSpPr/>
            <p:nvPr/>
          </p:nvSpPr>
          <p:spPr>
            <a:xfrm>
              <a:off x="2942303" y="1892710"/>
              <a:ext cx="393290" cy="393290"/>
            </a:xfrm>
            <a:prstGeom prst="mathPlu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5" name="Plus 26"/>
            <p:cNvSpPr/>
            <p:nvPr/>
          </p:nvSpPr>
          <p:spPr>
            <a:xfrm>
              <a:off x="5719201" y="1892710"/>
              <a:ext cx="393290" cy="393290"/>
            </a:xfrm>
            <a:prstGeom prst="mathPlu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4652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二分类问题：贷款违约检测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59" name="object 3"/>
          <p:cNvGrpSpPr/>
          <p:nvPr/>
        </p:nvGrpSpPr>
        <p:grpSpPr>
          <a:xfrm>
            <a:off x="2301010" y="3066587"/>
            <a:ext cx="1635760" cy="1456690"/>
            <a:chOff x="1149469" y="3066587"/>
            <a:chExt cx="1635760" cy="1456690"/>
          </a:xfrm>
        </p:grpSpPr>
        <p:sp>
          <p:nvSpPr>
            <p:cNvPr id="60" name="object 4"/>
            <p:cNvSpPr/>
            <p:nvPr/>
          </p:nvSpPr>
          <p:spPr>
            <a:xfrm>
              <a:off x="1160264" y="3077382"/>
              <a:ext cx="1614170" cy="1435100"/>
            </a:xfrm>
            <a:custGeom>
              <a:avLst/>
              <a:gdLst/>
              <a:ahLst/>
              <a:cxnLst/>
              <a:rect l="l" t="t" r="r" b="b"/>
              <a:pathLst>
                <a:path w="1614170" h="1435100">
                  <a:moveTo>
                    <a:pt x="1613767" y="0"/>
                  </a:moveTo>
                  <a:lnTo>
                    <a:pt x="0" y="0"/>
                  </a:lnTo>
                  <a:lnTo>
                    <a:pt x="0" y="1434939"/>
                  </a:lnTo>
                  <a:lnTo>
                    <a:pt x="1613767" y="1434939"/>
                  </a:lnTo>
                  <a:lnTo>
                    <a:pt x="1613767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object 5"/>
            <p:cNvSpPr/>
            <p:nvPr/>
          </p:nvSpPr>
          <p:spPr>
            <a:xfrm>
              <a:off x="1160264" y="3077382"/>
              <a:ext cx="1614170" cy="1435100"/>
            </a:xfrm>
            <a:custGeom>
              <a:avLst/>
              <a:gdLst/>
              <a:ahLst/>
              <a:cxnLst/>
              <a:rect l="l" t="t" r="r" b="b"/>
              <a:pathLst>
                <a:path w="1614170" h="1435100">
                  <a:moveTo>
                    <a:pt x="0" y="1434939"/>
                  </a:moveTo>
                  <a:lnTo>
                    <a:pt x="1613782" y="1434939"/>
                  </a:lnTo>
                  <a:lnTo>
                    <a:pt x="1613782" y="0"/>
                  </a:lnTo>
                  <a:lnTo>
                    <a:pt x="0" y="0"/>
                  </a:lnTo>
                  <a:lnTo>
                    <a:pt x="0" y="1434939"/>
                  </a:lnTo>
                  <a:close/>
                </a:path>
              </a:pathLst>
            </a:custGeom>
            <a:ln w="21443">
              <a:solidFill>
                <a:srgbClr val="80005B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7" name="object 6"/>
          <p:cNvSpPr txBox="1"/>
          <p:nvPr/>
        </p:nvSpPr>
        <p:spPr>
          <a:xfrm>
            <a:off x="2582036" y="3395707"/>
            <a:ext cx="1072772" cy="74789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01000"/>
              </a:lnSpc>
              <a:spcBef>
                <a:spcPts val="75"/>
              </a:spcBef>
            </a:pPr>
            <a:r>
              <a:rPr lang="zh-CN" altLang="en-US" sz="2400" spc="-1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贷款人</a:t>
            </a:r>
            <a:endParaRPr lang="zh-CN" altLang="en-US" sz="2400" spc="-1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marR="5080" algn="ctr">
              <a:lnSpc>
                <a:spcPct val="101000"/>
              </a:lnSpc>
              <a:spcBef>
                <a:spcPts val="75"/>
              </a:spcBef>
            </a:pPr>
            <a:r>
              <a:rPr lang="zh-CN" altLang="en-US" sz="2400" spc="-1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信息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78" name="object 7"/>
          <p:cNvGrpSpPr/>
          <p:nvPr/>
        </p:nvGrpSpPr>
        <p:grpSpPr>
          <a:xfrm>
            <a:off x="4580411" y="3257401"/>
            <a:ext cx="2376170" cy="1085850"/>
            <a:chOff x="3428870" y="3257401"/>
            <a:chExt cx="2376170" cy="1085850"/>
          </a:xfrm>
        </p:grpSpPr>
        <p:sp>
          <p:nvSpPr>
            <p:cNvPr id="79" name="object 8"/>
            <p:cNvSpPr/>
            <p:nvPr/>
          </p:nvSpPr>
          <p:spPr>
            <a:xfrm>
              <a:off x="3439665" y="3268196"/>
              <a:ext cx="2354580" cy="1064260"/>
            </a:xfrm>
            <a:custGeom>
              <a:avLst/>
              <a:gdLst/>
              <a:ahLst/>
              <a:cxnLst/>
              <a:rect l="l" t="t" r="r" b="b"/>
              <a:pathLst>
                <a:path w="2354579" h="1064260">
                  <a:moveTo>
                    <a:pt x="2354061" y="0"/>
                  </a:moveTo>
                  <a:lnTo>
                    <a:pt x="0" y="0"/>
                  </a:lnTo>
                  <a:lnTo>
                    <a:pt x="0" y="1064048"/>
                  </a:lnTo>
                  <a:lnTo>
                    <a:pt x="2354061" y="1064048"/>
                  </a:lnTo>
                  <a:lnTo>
                    <a:pt x="2354061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object 9"/>
            <p:cNvSpPr/>
            <p:nvPr/>
          </p:nvSpPr>
          <p:spPr>
            <a:xfrm>
              <a:off x="3439665" y="3268196"/>
              <a:ext cx="2354580" cy="1064260"/>
            </a:xfrm>
            <a:custGeom>
              <a:avLst/>
              <a:gdLst/>
              <a:ahLst/>
              <a:cxnLst/>
              <a:rect l="l" t="t" r="r" b="b"/>
              <a:pathLst>
                <a:path w="2354579" h="1064260">
                  <a:moveTo>
                    <a:pt x="0" y="1064048"/>
                  </a:moveTo>
                  <a:lnTo>
                    <a:pt x="2354061" y="1064048"/>
                  </a:lnTo>
                  <a:lnTo>
                    <a:pt x="2354061" y="0"/>
                  </a:lnTo>
                  <a:lnTo>
                    <a:pt x="0" y="0"/>
                  </a:lnTo>
                  <a:lnTo>
                    <a:pt x="0" y="1064048"/>
                  </a:lnTo>
                  <a:close/>
                </a:path>
              </a:pathLst>
            </a:custGeom>
            <a:ln w="21443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1" name="object 10"/>
          <p:cNvSpPr txBox="1"/>
          <p:nvPr/>
        </p:nvSpPr>
        <p:spPr>
          <a:xfrm>
            <a:off x="5185500" y="3354763"/>
            <a:ext cx="1166032" cy="82150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07950" marR="5080" indent="-95885" algn="ctr">
              <a:lnSpc>
                <a:spcPts val="3200"/>
              </a:lnSpc>
              <a:spcBef>
                <a:spcPts val="24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分类器模型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82" name="object 11"/>
          <p:cNvGrpSpPr/>
          <p:nvPr/>
        </p:nvGrpSpPr>
        <p:grpSpPr>
          <a:xfrm>
            <a:off x="3888398" y="3566490"/>
            <a:ext cx="952500" cy="504825"/>
            <a:chOff x="2736857" y="3566490"/>
            <a:chExt cx="952500" cy="504825"/>
          </a:xfrm>
        </p:grpSpPr>
        <p:pic>
          <p:nvPicPr>
            <p:cNvPr id="83" name="object 1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36857" y="3566490"/>
              <a:ext cx="952111" cy="504361"/>
            </a:xfrm>
            <a:prstGeom prst="rect">
              <a:avLst/>
            </a:prstGeom>
          </p:spPr>
        </p:pic>
        <p:sp>
          <p:nvSpPr>
            <p:cNvPr id="84" name="object 13"/>
            <p:cNvSpPr/>
            <p:nvPr/>
          </p:nvSpPr>
          <p:spPr>
            <a:xfrm>
              <a:off x="2773851" y="3690344"/>
              <a:ext cx="666115" cy="217170"/>
            </a:xfrm>
            <a:custGeom>
              <a:avLst/>
              <a:gdLst/>
              <a:ahLst/>
              <a:cxnLst/>
              <a:rect l="l" t="t" r="r" b="b"/>
              <a:pathLst>
                <a:path w="666114" h="217170">
                  <a:moveTo>
                    <a:pt x="528584" y="132905"/>
                  </a:moveTo>
                  <a:lnTo>
                    <a:pt x="460631" y="171814"/>
                  </a:lnTo>
                  <a:lnTo>
                    <a:pt x="453427" y="178133"/>
                  </a:lnTo>
                  <a:lnTo>
                    <a:pt x="449344" y="186430"/>
                  </a:lnTo>
                  <a:lnTo>
                    <a:pt x="448668" y="195654"/>
                  </a:lnTo>
                  <a:lnTo>
                    <a:pt x="451686" y="204752"/>
                  </a:lnTo>
                  <a:lnTo>
                    <a:pt x="458004" y="211962"/>
                  </a:lnTo>
                  <a:lnTo>
                    <a:pt x="466304" y="216042"/>
                  </a:lnTo>
                  <a:lnTo>
                    <a:pt x="475528" y="216715"/>
                  </a:lnTo>
                  <a:lnTo>
                    <a:pt x="484619" y="213707"/>
                  </a:lnTo>
                  <a:lnTo>
                    <a:pt x="624492" y="133626"/>
                  </a:lnTo>
                  <a:lnTo>
                    <a:pt x="617863" y="133626"/>
                  </a:lnTo>
                  <a:lnTo>
                    <a:pt x="528584" y="132905"/>
                  </a:lnTo>
                  <a:close/>
                </a:path>
                <a:path w="666114" h="217170">
                  <a:moveTo>
                    <a:pt x="570158" y="109101"/>
                  </a:moveTo>
                  <a:lnTo>
                    <a:pt x="528584" y="132905"/>
                  </a:lnTo>
                  <a:lnTo>
                    <a:pt x="617863" y="133626"/>
                  </a:lnTo>
                  <a:lnTo>
                    <a:pt x="617890" y="130230"/>
                  </a:lnTo>
                  <a:lnTo>
                    <a:pt x="605722" y="130230"/>
                  </a:lnTo>
                  <a:lnTo>
                    <a:pt x="570158" y="109101"/>
                  </a:lnTo>
                  <a:close/>
                </a:path>
                <a:path w="666114" h="217170">
                  <a:moveTo>
                    <a:pt x="477280" y="0"/>
                  </a:moveTo>
                  <a:lnTo>
                    <a:pt x="468041" y="524"/>
                  </a:lnTo>
                  <a:lnTo>
                    <a:pt x="459678" y="4464"/>
                  </a:lnTo>
                  <a:lnTo>
                    <a:pt x="453256" y="11550"/>
                  </a:lnTo>
                  <a:lnTo>
                    <a:pt x="450086" y="20607"/>
                  </a:lnTo>
                  <a:lnTo>
                    <a:pt x="450613" y="29853"/>
                  </a:lnTo>
                  <a:lnTo>
                    <a:pt x="454562" y="38220"/>
                  </a:lnTo>
                  <a:lnTo>
                    <a:pt x="461660" y="44643"/>
                  </a:lnTo>
                  <a:lnTo>
                    <a:pt x="528982" y="84638"/>
                  </a:lnTo>
                  <a:lnTo>
                    <a:pt x="618244" y="85352"/>
                  </a:lnTo>
                  <a:lnTo>
                    <a:pt x="617903" y="128634"/>
                  </a:lnTo>
                  <a:lnTo>
                    <a:pt x="617863" y="133626"/>
                  </a:lnTo>
                  <a:lnTo>
                    <a:pt x="624492" y="133626"/>
                  </a:lnTo>
                  <a:lnTo>
                    <a:pt x="665932" y="109901"/>
                  </a:lnTo>
                  <a:lnTo>
                    <a:pt x="486328" y="3161"/>
                  </a:lnTo>
                  <a:lnTo>
                    <a:pt x="477280" y="0"/>
                  </a:lnTo>
                  <a:close/>
                </a:path>
                <a:path w="666114" h="217170">
                  <a:moveTo>
                    <a:pt x="380" y="80411"/>
                  </a:moveTo>
                  <a:lnTo>
                    <a:pt x="0" y="128634"/>
                  </a:lnTo>
                  <a:lnTo>
                    <a:pt x="528584" y="132905"/>
                  </a:lnTo>
                  <a:lnTo>
                    <a:pt x="570158" y="109101"/>
                  </a:lnTo>
                  <a:lnTo>
                    <a:pt x="528982" y="84638"/>
                  </a:lnTo>
                  <a:lnTo>
                    <a:pt x="380" y="80411"/>
                  </a:lnTo>
                  <a:close/>
                </a:path>
                <a:path w="666114" h="217170">
                  <a:moveTo>
                    <a:pt x="606062" y="88543"/>
                  </a:moveTo>
                  <a:lnTo>
                    <a:pt x="570158" y="109101"/>
                  </a:lnTo>
                  <a:lnTo>
                    <a:pt x="605722" y="130230"/>
                  </a:lnTo>
                  <a:lnTo>
                    <a:pt x="606062" y="88543"/>
                  </a:lnTo>
                  <a:close/>
                </a:path>
                <a:path w="666114" h="217170">
                  <a:moveTo>
                    <a:pt x="618219" y="88543"/>
                  </a:moveTo>
                  <a:lnTo>
                    <a:pt x="606062" y="88543"/>
                  </a:lnTo>
                  <a:lnTo>
                    <a:pt x="605735" y="128634"/>
                  </a:lnTo>
                  <a:lnTo>
                    <a:pt x="605722" y="130230"/>
                  </a:lnTo>
                  <a:lnTo>
                    <a:pt x="617890" y="130230"/>
                  </a:lnTo>
                  <a:lnTo>
                    <a:pt x="618219" y="88543"/>
                  </a:lnTo>
                  <a:close/>
                </a:path>
                <a:path w="666114" h="217170">
                  <a:moveTo>
                    <a:pt x="528982" y="84638"/>
                  </a:moveTo>
                  <a:lnTo>
                    <a:pt x="570158" y="109101"/>
                  </a:lnTo>
                  <a:lnTo>
                    <a:pt x="606062" y="88543"/>
                  </a:lnTo>
                  <a:lnTo>
                    <a:pt x="618219" y="88543"/>
                  </a:lnTo>
                  <a:lnTo>
                    <a:pt x="618244" y="85352"/>
                  </a:lnTo>
                  <a:lnTo>
                    <a:pt x="528982" y="84638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object 14"/>
              <p:cNvSpPr txBox="1"/>
              <p:nvPr/>
            </p:nvSpPr>
            <p:spPr>
              <a:xfrm>
                <a:off x="5934866" y="4650572"/>
                <a:ext cx="2021839" cy="688009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12700" marR="5080">
                  <a:lnSpc>
                    <a:spcPct val="101000"/>
                  </a:lnSpc>
                  <a:spcBef>
                    <a:spcPts val="75"/>
                  </a:spcBef>
                  <a:tabLst>
                    <a:tab pos="1417955" algn="l"/>
                  </a:tabLst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output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2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𝑦</m:t>
                    </m:r>
                  </m:oMath>
                </a14:m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2700" marR="5080">
                  <a:lnSpc>
                    <a:spcPct val="101000"/>
                  </a:lnSpc>
                  <a:spcBef>
                    <a:spcPts val="75"/>
                  </a:spcBef>
                  <a:tabLst>
                    <a:tab pos="1417955" algn="l"/>
                  </a:tabLst>
                </a:pPr>
                <a:r>
                  <a:rPr lang="zh-CN" altLang="en-US" sz="2200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预测类别</a:t>
                </a:r>
                <a:endParaRPr sz="2200" dirty="0">
                  <a:solidFill>
                    <a:srgbClr val="118CC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</p:txBody>
          </p:sp>
        </mc:Choice>
        <mc:Fallback>
          <p:sp>
            <p:nvSpPr>
              <p:cNvPr id="85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866" y="4650572"/>
                <a:ext cx="2021839" cy="688009"/>
              </a:xfrm>
              <a:prstGeom prst="rect">
                <a:avLst/>
              </a:prstGeom>
              <a:blipFill rotWithShape="1">
                <a:blip r:embed="rId2"/>
                <a:stretch>
                  <a:fillRect l="-8" t="-1729" r="8" b="-10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object 15"/>
          <p:cNvGrpSpPr/>
          <p:nvPr/>
        </p:nvGrpSpPr>
        <p:grpSpPr>
          <a:xfrm>
            <a:off x="7388159" y="2466673"/>
            <a:ext cx="3920612" cy="2504765"/>
            <a:chOff x="6360027" y="2429864"/>
            <a:chExt cx="3920612" cy="2504765"/>
          </a:xfrm>
        </p:grpSpPr>
        <p:pic>
          <p:nvPicPr>
            <p:cNvPr id="87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0027" y="2763628"/>
              <a:ext cx="1441033" cy="1111654"/>
            </a:xfrm>
            <a:prstGeom prst="rect">
              <a:avLst/>
            </a:prstGeom>
          </p:spPr>
        </p:pic>
        <p:sp>
          <p:nvSpPr>
            <p:cNvPr id="88" name="object 17"/>
            <p:cNvSpPr/>
            <p:nvPr/>
          </p:nvSpPr>
          <p:spPr>
            <a:xfrm>
              <a:off x="6396259" y="2998001"/>
              <a:ext cx="1155700" cy="822325"/>
            </a:xfrm>
            <a:custGeom>
              <a:avLst/>
              <a:gdLst/>
              <a:ahLst/>
              <a:cxnLst/>
              <a:rect l="l" t="t" r="r" b="b"/>
              <a:pathLst>
                <a:path w="1155700" h="822325">
                  <a:moveTo>
                    <a:pt x="1076865" y="55074"/>
                  </a:moveTo>
                  <a:lnTo>
                    <a:pt x="1029184" y="59129"/>
                  </a:lnTo>
                  <a:lnTo>
                    <a:pt x="0" y="782481"/>
                  </a:lnTo>
                  <a:lnTo>
                    <a:pt x="27739" y="821955"/>
                  </a:lnTo>
                  <a:lnTo>
                    <a:pt x="1056880" y="98635"/>
                  </a:lnTo>
                  <a:lnTo>
                    <a:pt x="1076865" y="55074"/>
                  </a:lnTo>
                  <a:close/>
                </a:path>
                <a:path w="1155700" h="822325">
                  <a:moveTo>
                    <a:pt x="1151605" y="7822"/>
                  </a:moveTo>
                  <a:lnTo>
                    <a:pt x="1102184" y="7822"/>
                  </a:lnTo>
                  <a:lnTo>
                    <a:pt x="1129924" y="47296"/>
                  </a:lnTo>
                  <a:lnTo>
                    <a:pt x="1056880" y="98635"/>
                  </a:lnTo>
                  <a:lnTo>
                    <a:pt x="1024214" y="169836"/>
                  </a:lnTo>
                  <a:lnTo>
                    <a:pt x="1022026" y="179150"/>
                  </a:lnTo>
                  <a:lnTo>
                    <a:pt x="1023539" y="188267"/>
                  </a:lnTo>
                  <a:lnTo>
                    <a:pt x="1028361" y="196158"/>
                  </a:lnTo>
                  <a:lnTo>
                    <a:pt x="1036103" y="201796"/>
                  </a:lnTo>
                  <a:lnTo>
                    <a:pt x="1045424" y="203991"/>
                  </a:lnTo>
                  <a:lnTo>
                    <a:pt x="1054553" y="202490"/>
                  </a:lnTo>
                  <a:lnTo>
                    <a:pt x="1062446" y="197670"/>
                  </a:lnTo>
                  <a:lnTo>
                    <a:pt x="1068063" y="189907"/>
                  </a:lnTo>
                  <a:lnTo>
                    <a:pt x="1151605" y="7822"/>
                  </a:lnTo>
                  <a:close/>
                </a:path>
                <a:path w="1155700" h="822325">
                  <a:moveTo>
                    <a:pt x="1108984" y="17498"/>
                  </a:moveTo>
                  <a:lnTo>
                    <a:pt x="1094104" y="17498"/>
                  </a:lnTo>
                  <a:lnTo>
                    <a:pt x="1118087" y="51568"/>
                  </a:lnTo>
                  <a:lnTo>
                    <a:pt x="1076865" y="55074"/>
                  </a:lnTo>
                  <a:lnTo>
                    <a:pt x="1056880" y="98635"/>
                  </a:lnTo>
                  <a:lnTo>
                    <a:pt x="1129924" y="47296"/>
                  </a:lnTo>
                  <a:lnTo>
                    <a:pt x="1109092" y="17652"/>
                  </a:lnTo>
                  <a:lnTo>
                    <a:pt x="1108984" y="17498"/>
                  </a:lnTo>
                  <a:close/>
                </a:path>
                <a:path w="1155700" h="822325">
                  <a:moveTo>
                    <a:pt x="1155194" y="0"/>
                  </a:moveTo>
                  <a:lnTo>
                    <a:pt x="947016" y="17652"/>
                  </a:lnTo>
                  <a:lnTo>
                    <a:pt x="924989" y="43745"/>
                  </a:lnTo>
                  <a:lnTo>
                    <a:pt x="927676" y="52941"/>
                  </a:lnTo>
                  <a:lnTo>
                    <a:pt x="933480" y="60143"/>
                  </a:lnTo>
                  <a:lnTo>
                    <a:pt x="941562" y="64654"/>
                  </a:lnTo>
                  <a:lnTo>
                    <a:pt x="951082" y="65772"/>
                  </a:lnTo>
                  <a:lnTo>
                    <a:pt x="1029184" y="59129"/>
                  </a:lnTo>
                  <a:lnTo>
                    <a:pt x="1102184" y="7822"/>
                  </a:lnTo>
                  <a:lnTo>
                    <a:pt x="1151605" y="7822"/>
                  </a:lnTo>
                  <a:lnTo>
                    <a:pt x="1155194" y="0"/>
                  </a:lnTo>
                  <a:close/>
                </a:path>
                <a:path w="1155700" h="822325">
                  <a:moveTo>
                    <a:pt x="1102184" y="7822"/>
                  </a:moveTo>
                  <a:lnTo>
                    <a:pt x="1029184" y="59129"/>
                  </a:lnTo>
                  <a:lnTo>
                    <a:pt x="1076865" y="55074"/>
                  </a:lnTo>
                  <a:lnTo>
                    <a:pt x="1094033" y="17652"/>
                  </a:lnTo>
                  <a:lnTo>
                    <a:pt x="1094104" y="17498"/>
                  </a:lnTo>
                  <a:lnTo>
                    <a:pt x="1108984" y="17498"/>
                  </a:lnTo>
                  <a:lnTo>
                    <a:pt x="1102184" y="7822"/>
                  </a:lnTo>
                  <a:close/>
                </a:path>
                <a:path w="1155700" h="822325">
                  <a:moveTo>
                    <a:pt x="1094104" y="17498"/>
                  </a:moveTo>
                  <a:lnTo>
                    <a:pt x="1076865" y="55074"/>
                  </a:lnTo>
                  <a:lnTo>
                    <a:pt x="1118087" y="51568"/>
                  </a:lnTo>
                  <a:lnTo>
                    <a:pt x="1094213" y="17652"/>
                  </a:lnTo>
                  <a:lnTo>
                    <a:pt x="1094104" y="17498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object 18"/>
            <p:cNvSpPr/>
            <p:nvPr/>
          </p:nvSpPr>
          <p:spPr>
            <a:xfrm>
              <a:off x="7601121" y="2596205"/>
              <a:ext cx="551180" cy="572770"/>
            </a:xfrm>
            <a:custGeom>
              <a:avLst/>
              <a:gdLst/>
              <a:ahLst/>
              <a:cxnLst/>
              <a:rect l="l" t="t" r="r" b="b"/>
              <a:pathLst>
                <a:path w="551179" h="572769">
                  <a:moveTo>
                    <a:pt x="550684" y="223520"/>
                  </a:moveTo>
                  <a:lnTo>
                    <a:pt x="326961" y="223520"/>
                  </a:lnTo>
                  <a:lnTo>
                    <a:pt x="326961" y="0"/>
                  </a:lnTo>
                  <a:lnTo>
                    <a:pt x="223723" y="0"/>
                  </a:lnTo>
                  <a:lnTo>
                    <a:pt x="223723" y="223520"/>
                  </a:lnTo>
                  <a:lnTo>
                    <a:pt x="0" y="223520"/>
                  </a:lnTo>
                  <a:lnTo>
                    <a:pt x="0" y="349250"/>
                  </a:lnTo>
                  <a:lnTo>
                    <a:pt x="223723" y="349250"/>
                  </a:lnTo>
                  <a:lnTo>
                    <a:pt x="223723" y="572770"/>
                  </a:lnTo>
                  <a:lnTo>
                    <a:pt x="326961" y="572770"/>
                  </a:lnTo>
                  <a:lnTo>
                    <a:pt x="326961" y="349250"/>
                  </a:lnTo>
                  <a:lnTo>
                    <a:pt x="550684" y="349250"/>
                  </a:lnTo>
                  <a:lnTo>
                    <a:pt x="550684" y="22352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object 21"/>
            <p:cNvSpPr/>
            <p:nvPr/>
          </p:nvSpPr>
          <p:spPr>
            <a:xfrm>
              <a:off x="6397340" y="3779762"/>
              <a:ext cx="1154430" cy="732790"/>
            </a:xfrm>
            <a:custGeom>
              <a:avLst/>
              <a:gdLst/>
              <a:ahLst/>
              <a:cxnLst/>
              <a:rect l="l" t="t" r="r" b="b"/>
              <a:pathLst>
                <a:path w="1154429" h="732789">
                  <a:moveTo>
                    <a:pt x="946707" y="678160"/>
                  </a:moveTo>
                  <a:lnTo>
                    <a:pt x="937258" y="679771"/>
                  </a:lnTo>
                  <a:lnTo>
                    <a:pt x="929440" y="684716"/>
                  </a:lnTo>
                  <a:lnTo>
                    <a:pt x="924054" y="692237"/>
                  </a:lnTo>
                  <a:lnTo>
                    <a:pt x="921901" y="701577"/>
                  </a:lnTo>
                  <a:lnTo>
                    <a:pt x="923511" y="711026"/>
                  </a:lnTo>
                  <a:lnTo>
                    <a:pt x="928450" y="718844"/>
                  </a:lnTo>
                  <a:lnTo>
                    <a:pt x="935956" y="724230"/>
                  </a:lnTo>
                  <a:lnTo>
                    <a:pt x="945266" y="726383"/>
                  </a:lnTo>
                  <a:lnTo>
                    <a:pt x="1154113" y="732611"/>
                  </a:lnTo>
                  <a:lnTo>
                    <a:pt x="1151538" y="727721"/>
                  </a:lnTo>
                  <a:lnTo>
                    <a:pt x="1100743" y="727721"/>
                  </a:lnTo>
                  <a:lnTo>
                    <a:pt x="1025053" y="680495"/>
                  </a:lnTo>
                  <a:lnTo>
                    <a:pt x="946707" y="678160"/>
                  </a:lnTo>
                  <a:close/>
                </a:path>
                <a:path w="1154429" h="732789">
                  <a:moveTo>
                    <a:pt x="1025053" y="680495"/>
                  </a:moveTo>
                  <a:lnTo>
                    <a:pt x="1100743" y="727721"/>
                  </a:lnTo>
                  <a:lnTo>
                    <a:pt x="1106491" y="718509"/>
                  </a:lnTo>
                  <a:lnTo>
                    <a:pt x="1092148" y="718509"/>
                  </a:lnTo>
                  <a:lnTo>
                    <a:pt x="1072882" y="681920"/>
                  </a:lnTo>
                  <a:lnTo>
                    <a:pt x="1025053" y="680495"/>
                  </a:lnTo>
                  <a:close/>
                </a:path>
                <a:path w="1154429" h="732789">
                  <a:moveTo>
                    <a:pt x="1033349" y="534951"/>
                  </a:moveTo>
                  <a:lnTo>
                    <a:pt x="1024163" y="537659"/>
                  </a:lnTo>
                  <a:lnTo>
                    <a:pt x="1016739" y="543719"/>
                  </a:lnTo>
                  <a:lnTo>
                    <a:pt x="1012364" y="551864"/>
                  </a:lnTo>
                  <a:lnTo>
                    <a:pt x="1011367" y="561050"/>
                  </a:lnTo>
                  <a:lnTo>
                    <a:pt x="1014075" y="570237"/>
                  </a:lnTo>
                  <a:lnTo>
                    <a:pt x="1050592" y="639587"/>
                  </a:lnTo>
                  <a:lnTo>
                    <a:pt x="1126270" y="686806"/>
                  </a:lnTo>
                  <a:lnTo>
                    <a:pt x="1100743" y="727721"/>
                  </a:lnTo>
                  <a:lnTo>
                    <a:pt x="1151538" y="727721"/>
                  </a:lnTo>
                  <a:lnTo>
                    <a:pt x="1056740" y="547747"/>
                  </a:lnTo>
                  <a:lnTo>
                    <a:pt x="1050680" y="540323"/>
                  </a:lnTo>
                  <a:lnTo>
                    <a:pt x="1042536" y="535948"/>
                  </a:lnTo>
                  <a:lnTo>
                    <a:pt x="1033349" y="534951"/>
                  </a:lnTo>
                  <a:close/>
                </a:path>
                <a:path w="1154429" h="732789">
                  <a:moveTo>
                    <a:pt x="1072882" y="681920"/>
                  </a:moveTo>
                  <a:lnTo>
                    <a:pt x="1092148" y="718509"/>
                  </a:lnTo>
                  <a:lnTo>
                    <a:pt x="1114227" y="683152"/>
                  </a:lnTo>
                  <a:lnTo>
                    <a:pt x="1072882" y="681920"/>
                  </a:lnTo>
                  <a:close/>
                </a:path>
                <a:path w="1154429" h="732789">
                  <a:moveTo>
                    <a:pt x="1050592" y="639587"/>
                  </a:moveTo>
                  <a:lnTo>
                    <a:pt x="1072882" y="681920"/>
                  </a:lnTo>
                  <a:lnTo>
                    <a:pt x="1114227" y="683152"/>
                  </a:lnTo>
                  <a:lnTo>
                    <a:pt x="1092148" y="718509"/>
                  </a:lnTo>
                  <a:lnTo>
                    <a:pt x="1106491" y="718509"/>
                  </a:lnTo>
                  <a:lnTo>
                    <a:pt x="1126270" y="686806"/>
                  </a:lnTo>
                  <a:lnTo>
                    <a:pt x="1050592" y="639587"/>
                  </a:lnTo>
                  <a:close/>
                </a:path>
                <a:path w="1154429" h="732789">
                  <a:moveTo>
                    <a:pt x="25526" y="0"/>
                  </a:moveTo>
                  <a:lnTo>
                    <a:pt x="0" y="40915"/>
                  </a:lnTo>
                  <a:lnTo>
                    <a:pt x="1025053" y="680495"/>
                  </a:lnTo>
                  <a:lnTo>
                    <a:pt x="1072882" y="681920"/>
                  </a:lnTo>
                  <a:lnTo>
                    <a:pt x="1050592" y="639587"/>
                  </a:lnTo>
                  <a:lnTo>
                    <a:pt x="25526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object 22"/>
            <p:cNvSpPr/>
            <p:nvPr/>
          </p:nvSpPr>
          <p:spPr>
            <a:xfrm>
              <a:off x="7652764" y="4565074"/>
              <a:ext cx="485775" cy="171450"/>
            </a:xfrm>
            <a:custGeom>
              <a:avLst/>
              <a:gdLst/>
              <a:ahLst/>
              <a:cxnLst/>
              <a:rect l="l" t="t" r="r" b="b"/>
              <a:pathLst>
                <a:path w="485775" h="171450">
                  <a:moveTo>
                    <a:pt x="485504" y="0"/>
                  </a:moveTo>
                  <a:lnTo>
                    <a:pt x="0" y="0"/>
                  </a:lnTo>
                  <a:lnTo>
                    <a:pt x="0" y="171122"/>
                  </a:lnTo>
                  <a:lnTo>
                    <a:pt x="485504" y="171122"/>
                  </a:lnTo>
                  <a:lnTo>
                    <a:pt x="485504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5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2653" y="4195518"/>
              <a:ext cx="785769" cy="739111"/>
            </a:xfrm>
            <a:prstGeom prst="rect">
              <a:avLst/>
            </a:prstGeom>
          </p:spPr>
        </p:pic>
        <p:pic>
          <p:nvPicPr>
            <p:cNvPr id="96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94870" y="2429864"/>
              <a:ext cx="785769" cy="73911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object 26"/>
              <p:cNvSpPr txBox="1"/>
              <p:nvPr/>
            </p:nvSpPr>
            <p:spPr>
              <a:xfrm>
                <a:off x="9288002" y="2531492"/>
                <a:ext cx="1258570" cy="354584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12700" algn="ctr">
                  <a:lnSpc>
                    <a:spcPct val="100000"/>
                  </a:lnSpc>
                  <a:spcBef>
                    <a:spcPts val="12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200" b="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200" b="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</m:acc>
                      <m:r>
                        <a:rPr lang="en-US" altLang="zh-CN" sz="22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=+</m:t>
                      </m:r>
                      <m:r>
                        <a:rPr lang="en-US" altLang="zh-CN" sz="22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1</m:t>
                      </m:r>
                    </m:oMath>
                  </m:oMathPara>
                </a14:m>
                <a:endParaRPr 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97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8002" y="2531492"/>
                <a:ext cx="1258570" cy="354584"/>
              </a:xfrm>
              <a:prstGeom prst="rect">
                <a:avLst/>
              </a:prstGeom>
              <a:blipFill rotWithShape="1">
                <a:blip r:embed="rId6"/>
                <a:stretch>
                  <a:fillRect l="-39" t="-108" r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object 27"/>
              <p:cNvSpPr txBox="1"/>
              <p:nvPr/>
            </p:nvSpPr>
            <p:spPr>
              <a:xfrm>
                <a:off x="9270152" y="4536513"/>
                <a:ext cx="1174750" cy="354584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2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200" b="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200" b="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</m:acc>
                      <m:r>
                        <a:rPr lang="en-US" altLang="zh-CN" sz="22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=−</m:t>
                      </m:r>
                      <m:r>
                        <a:rPr lang="en-US" altLang="zh-CN" sz="22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1</m:t>
                      </m:r>
                    </m:oMath>
                  </m:oMathPara>
                </a14:m>
                <a:endParaRPr 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98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152" y="4536513"/>
                <a:ext cx="1174750" cy="354584"/>
              </a:xfrm>
              <a:prstGeom prst="rect">
                <a:avLst/>
              </a:prstGeom>
              <a:blipFill rotWithShape="1">
                <a:blip r:embed="rId7"/>
                <a:stretch>
                  <a:fillRect l="-36" t="-21" r="36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object 28"/>
              <p:cNvSpPr txBox="1"/>
              <p:nvPr/>
            </p:nvSpPr>
            <p:spPr>
              <a:xfrm>
                <a:off x="2075345" y="4650572"/>
                <a:ext cx="4086196" cy="175689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en-US" sz="2200" spc="60" dirty="0" err="1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输入input</a:t>
                </a:r>
                <a:r>
                  <a:rPr lang="en-US" sz="22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:</a:t>
                </a:r>
                <a:r>
                  <a:rPr lang="zh-CN" altLang="en-US" sz="22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b="1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𝒙</m:t>
                    </m:r>
                  </m:oMath>
                </a14:m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zh-CN" altLang="en-US" sz="2200" spc="-55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如：</a:t>
                </a:r>
                <a:endParaRPr lang="en-US" altLang="zh-CN" sz="2200" spc="-55" dirty="0">
                  <a:solidFill>
                    <a:srgbClr val="118CC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zh-CN" altLang="en-US" sz="2200" spc="-55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“年收入</a:t>
                </a:r>
                <a:r>
                  <a:rPr lang="en-US" altLang="zh-CN" sz="2200" spc="-55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4.5</a:t>
                </a:r>
                <a:r>
                  <a:rPr lang="zh-CN" altLang="en-US" sz="2200" spc="-55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万 </a:t>
                </a:r>
                <a:endParaRPr lang="en-US" altLang="zh-CN" sz="2200" spc="-55" dirty="0">
                  <a:solidFill>
                    <a:srgbClr val="118CC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en-US" altLang="zh-CN" sz="2200" spc="-55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+ </a:t>
                </a:r>
                <a:r>
                  <a:rPr lang="zh-CN" altLang="en-US" sz="2200" spc="-55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贷款</a:t>
                </a:r>
                <a:r>
                  <a:rPr lang="en-US" altLang="zh-CN" sz="2200" spc="-55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4</a:t>
                </a:r>
                <a:r>
                  <a:rPr lang="zh-CN" altLang="en-US" sz="2200" spc="-55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万，</a:t>
                </a:r>
                <a:endParaRPr lang="en-US" altLang="zh-CN" sz="2200" spc="-55" dirty="0">
                  <a:solidFill>
                    <a:srgbClr val="118CC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zh-CN" altLang="en-US" sz="2200" spc="-55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利率</a:t>
                </a:r>
                <a:r>
                  <a:rPr lang="en-US" altLang="zh-CN" sz="2200" spc="-55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13.67%"</a:t>
                </a:r>
                <a:r>
                  <a:rPr lang="en-US" sz="2200" u="none" spc="-20" dirty="0">
                    <a:solidFill>
                      <a:srgbClr val="118CC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.</a:t>
                </a:r>
                <a:endParaRPr 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</p:txBody>
          </p:sp>
        </mc:Choice>
        <mc:Fallback>
          <p:sp>
            <p:nvSpPr>
              <p:cNvPr id="99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345" y="4650572"/>
                <a:ext cx="4086196" cy="1756891"/>
              </a:xfrm>
              <a:prstGeom prst="rect">
                <a:avLst/>
              </a:prstGeom>
              <a:blipFill rotWithShape="1">
                <a:blip r:embed="rId8"/>
                <a:stretch>
                  <a:fillRect l="-4" t="-641" r="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6"/>
          <p:cNvSpPr txBox="1"/>
          <p:nvPr/>
        </p:nvSpPr>
        <p:spPr>
          <a:xfrm>
            <a:off x="9333442" y="2905533"/>
            <a:ext cx="1072772" cy="36266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01000"/>
              </a:lnSpc>
              <a:spcBef>
                <a:spcPts val="75"/>
              </a:spcBef>
            </a:pP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会违约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" name="object 6"/>
          <p:cNvSpPr txBox="1"/>
          <p:nvPr/>
        </p:nvSpPr>
        <p:spPr>
          <a:xfrm>
            <a:off x="9160080" y="4967171"/>
            <a:ext cx="1362922" cy="36266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01000"/>
              </a:lnSpc>
              <a:spcBef>
                <a:spcPts val="75"/>
              </a:spcBef>
            </a:pP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不会违约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分类器：简单线性分类器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/>
              <p:nvPr/>
            </p:nvSpPr>
            <p:spPr>
              <a:xfrm>
                <a:off x="3038167" y="2581534"/>
                <a:ext cx="7505700" cy="3428365"/>
              </a:xfrm>
              <a:custGeom>
                <a:avLst/>
                <a:gdLst/>
                <a:ahLst/>
                <a:cxnLst/>
                <a:rect l="l" t="t" r="r" b="b"/>
                <a:pathLst>
                  <a:path w="7505700" h="3428365">
                    <a:moveTo>
                      <a:pt x="7505262" y="0"/>
                    </a:moveTo>
                    <a:lnTo>
                      <a:pt x="0" y="0"/>
                    </a:lnTo>
                    <a:lnTo>
                      <a:pt x="0" y="3427842"/>
                    </a:lnTo>
                    <a:lnTo>
                      <a:pt x="7505262" y="3427842"/>
                    </a:lnTo>
                    <a:lnTo>
                      <a:pt x="7505262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:r>
                  <a:rPr lang="zh-CN" altLang="en-US" sz="2800" b="1" spc="-7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简单线性分类器：</a:t>
                </a:r>
                <a:endParaRPr lang="en-SG" altLang="zh-CN" sz="2800" b="1" spc="-7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S</m:t>
                    </m:r>
                    <m:r>
                      <m:rPr>
                        <m:sty m:val="p"/>
                      </m:rPr>
                      <a:rPr lang="en-US" altLang="zh-CN" sz="2800" b="0" i="0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core</m:t>
                    </m:r>
                    <m:r>
                      <a:rPr lang="en-US" altLang="zh-CN" sz="2800" b="0" i="0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(</m:t>
                    </m:r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𝑥</m:t>
                    </m:r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)</m:t>
                    </m:r>
                  </m:oMath>
                </a14:m>
                <a:r>
                  <a:rPr lang="zh-CN" altLang="en-US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各特征的加权和</a:t>
                </a:r>
                <a:endParaRPr lang="en-SG" altLang="zh-CN" sz="2800" spc="-7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:r>
                  <a:rPr lang="en-US" altLang="zh-CN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spc="6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Score</m:t>
                    </m:r>
                    <m:d>
                      <m:dPr>
                        <m:ctrlPr>
                          <a:rPr lang="en-US" altLang="zh-CN" sz="2800" i="1" spc="6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800" i="1" spc="6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𝑥</m:t>
                        </m:r>
                      </m:e>
                    </m:d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&gt;</m:t>
                    </m:r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0</m:t>
                    </m:r>
                  </m:oMath>
                </a14:m>
                <a:r>
                  <a:rPr lang="en-US" altLang="zh-CN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endParaRPr lang="en-US" altLang="zh-CN" sz="2800" spc="-7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:r>
                  <a:rPr lang="en-US" altLang="zh-CN" sz="2800" b="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𝑦</m:t>
                        </m:r>
                      </m:e>
                    </m:acc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r>
                      <a:rPr lang="en-US" altLang="zh-CN" sz="2800" b="1" i="1" spc="60" smtClean="0">
                        <a:solidFill>
                          <a:srgbClr val="0099E8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+</m:t>
                    </m:r>
                    <m:r>
                      <a:rPr lang="en-US" altLang="zh-CN" sz="2800" b="1" i="1" spc="60" smtClean="0">
                        <a:solidFill>
                          <a:srgbClr val="0099E8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𝟏</m:t>
                    </m:r>
                  </m:oMath>
                </a14:m>
                <a:endParaRPr lang="en-US" sz="2800" b="1" dirty="0">
                  <a:solidFill>
                    <a:srgbClr val="118CC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Else:</a:t>
                </a:r>
                <a:endPara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:r>
                  <a:rPr lang="en-US" altLang="zh-CN" sz="2800" b="0" spc="6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𝑦</m:t>
                        </m:r>
                      </m:e>
                    </m:acc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r>
                      <a:rPr lang="en-US" altLang="zh-CN" sz="2800" b="1" i="1" spc="60" smtClean="0">
                        <a:solidFill>
                          <a:srgbClr val="FC5507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−</m:t>
                    </m:r>
                    <m:r>
                      <a:rPr lang="en-US" altLang="zh-CN" sz="2800" b="1" i="1" spc="60" smtClean="0">
                        <a:solidFill>
                          <a:srgbClr val="FC5507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𝟏</m:t>
                    </m:r>
                  </m:oMath>
                </a14:m>
                <a:endParaRPr 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3" name="objec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167" y="2581534"/>
                <a:ext cx="7505700" cy="3428365"/>
              </a:xfrm>
              <a:custGeom>
                <a:avLst/>
                <a:gdLst/>
                <a:ahLst/>
                <a:cxnLst/>
                <a:rect l="l" t="t" r="r" b="b"/>
                <a:pathLst>
                  <a:path w="7505700" h="3428365">
                    <a:moveTo>
                      <a:pt x="7505262" y="0"/>
                    </a:moveTo>
                    <a:lnTo>
                      <a:pt x="0" y="0"/>
                    </a:lnTo>
                    <a:lnTo>
                      <a:pt x="0" y="3427842"/>
                    </a:lnTo>
                    <a:lnTo>
                      <a:pt x="7505262" y="3427842"/>
                    </a:lnTo>
                    <a:lnTo>
                      <a:pt x="7505262" y="0"/>
                    </a:lnTo>
                    <a:close/>
                  </a:path>
                </a:pathLst>
              </a:custGeom>
              <a:blipFill rotWithShape="1">
                <a:blip r:embed="rId1"/>
                <a:stretch>
                  <a:fillRect l="-4" t="-897" r="13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object 20"/>
          <p:cNvGraphicFramePr>
            <a:graphicFrameLocks noGrp="1"/>
          </p:cNvGraphicFramePr>
          <p:nvPr/>
        </p:nvGraphicFramePr>
        <p:xfrm>
          <a:off x="3785798" y="1278789"/>
          <a:ext cx="4529454" cy="856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6460"/>
                <a:gridCol w="2372994"/>
              </a:tblGrid>
              <a:tr h="47117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lang="zh-CN" altLang="en-US" sz="2400" spc="45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特征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lang="zh-CN" altLang="en-US" sz="2400" spc="11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系数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6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…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6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…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</a:tr>
            </a:tbl>
          </a:graphicData>
        </a:graphic>
      </p:graphicFrame>
      <p:grpSp>
        <p:nvGrpSpPr>
          <p:cNvPr id="26" name="object 21"/>
          <p:cNvGrpSpPr/>
          <p:nvPr/>
        </p:nvGrpSpPr>
        <p:grpSpPr>
          <a:xfrm>
            <a:off x="678734" y="3510783"/>
            <a:ext cx="1635760" cy="1456690"/>
            <a:chOff x="412807" y="3592065"/>
            <a:chExt cx="1635760" cy="1456690"/>
          </a:xfrm>
        </p:grpSpPr>
        <p:sp>
          <p:nvSpPr>
            <p:cNvPr id="27" name="object 22"/>
            <p:cNvSpPr/>
            <p:nvPr/>
          </p:nvSpPr>
          <p:spPr>
            <a:xfrm>
              <a:off x="423602" y="3602860"/>
              <a:ext cx="1614170" cy="1435100"/>
            </a:xfrm>
            <a:custGeom>
              <a:avLst/>
              <a:gdLst/>
              <a:ahLst/>
              <a:cxnLst/>
              <a:rect l="l" t="t" r="r" b="b"/>
              <a:pathLst>
                <a:path w="1614170" h="1435100">
                  <a:moveTo>
                    <a:pt x="1613782" y="0"/>
                  </a:moveTo>
                  <a:lnTo>
                    <a:pt x="0" y="0"/>
                  </a:lnTo>
                  <a:lnTo>
                    <a:pt x="0" y="1434924"/>
                  </a:lnTo>
                  <a:lnTo>
                    <a:pt x="1613782" y="1434924"/>
                  </a:lnTo>
                  <a:lnTo>
                    <a:pt x="1613782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pPr marL="12700" marR="5080" algn="ctr">
                <a:lnSpc>
                  <a:spcPct val="101000"/>
                </a:lnSpc>
                <a:spcBef>
                  <a:spcPts val="75"/>
                </a:spcBef>
              </a:pPr>
              <a:endParaRPr lang="en-SG" altLang="zh-CN" sz="2400" spc="-1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marL="12700" marR="5080" algn="ctr">
                <a:lnSpc>
                  <a:spcPct val="101000"/>
                </a:lnSpc>
                <a:spcBef>
                  <a:spcPts val="75"/>
                </a:spcBef>
              </a:pPr>
              <a:r>
                <a:rPr lang="zh-CN" altLang="en-US" sz="2400" spc="-1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贷款人</a:t>
              </a:r>
              <a:endParaRPr lang="zh-CN" altLang="en-US" sz="2400" spc="-1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marL="12700" marR="5080" algn="ctr">
                <a:lnSpc>
                  <a:spcPct val="101000"/>
                </a:lnSpc>
                <a:spcBef>
                  <a:spcPts val="75"/>
                </a:spcBef>
              </a:pPr>
              <a:r>
                <a:rPr lang="zh-CN" altLang="en-US" sz="2400" spc="-1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信息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8" name="object 23"/>
            <p:cNvSpPr/>
            <p:nvPr/>
          </p:nvSpPr>
          <p:spPr>
            <a:xfrm>
              <a:off x="423602" y="3602860"/>
              <a:ext cx="1614170" cy="1435100"/>
            </a:xfrm>
            <a:custGeom>
              <a:avLst/>
              <a:gdLst/>
              <a:ahLst/>
              <a:cxnLst/>
              <a:rect l="l" t="t" r="r" b="b"/>
              <a:pathLst>
                <a:path w="1614170" h="1435100">
                  <a:moveTo>
                    <a:pt x="0" y="1434924"/>
                  </a:moveTo>
                  <a:lnTo>
                    <a:pt x="1613782" y="1434924"/>
                  </a:lnTo>
                  <a:lnTo>
                    <a:pt x="1613782" y="0"/>
                  </a:lnTo>
                  <a:lnTo>
                    <a:pt x="0" y="0"/>
                  </a:lnTo>
                  <a:lnTo>
                    <a:pt x="0" y="1434924"/>
                  </a:lnTo>
                  <a:close/>
                </a:path>
              </a:pathLst>
            </a:custGeom>
            <a:ln w="21443">
              <a:solidFill>
                <a:srgbClr val="80005B"/>
              </a:solidFill>
            </a:ln>
          </p:spPr>
          <p:txBody>
            <a:bodyPr wrap="square" lIns="0" tIns="0" rIns="0" bIns="0" rtlCol="0"/>
            <a:lstStyle/>
            <a:p>
              <a:endParaRPr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28"/>
              <p:cNvSpPr txBox="1"/>
              <p:nvPr/>
            </p:nvSpPr>
            <p:spPr>
              <a:xfrm>
                <a:off x="430444" y="5196597"/>
                <a:ext cx="2132938" cy="38215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输入input:</a:t>
                </a: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𝒙</m:t>
                    </m:r>
                  </m:oMath>
                </a14:m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</p:txBody>
          </p:sp>
        </mc:Choice>
        <mc:Fallback>
          <p:sp>
            <p:nvSpPr>
              <p:cNvPr id="33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44" y="5196597"/>
                <a:ext cx="2132938" cy="382156"/>
              </a:xfrm>
              <a:prstGeom prst="rect">
                <a:avLst/>
              </a:prstGeom>
              <a:blipFill rotWithShape="1">
                <a:blip r:embed="rId2"/>
                <a:stretch>
                  <a:fillRect l="-26" t="-3592" r="24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/>
          <p:nvPr/>
        </p:nvCxnSpPr>
        <p:spPr>
          <a:xfrm>
            <a:off x="2321834" y="4239128"/>
            <a:ext cx="726780" cy="0"/>
          </a:xfrm>
          <a:prstGeom prst="straightConnector1">
            <a:avLst/>
          </a:prstGeom>
          <a:ln w="63500">
            <a:solidFill>
              <a:srgbClr val="B00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5" idx="2"/>
          </p:cNvCxnSpPr>
          <p:nvPr/>
        </p:nvCxnSpPr>
        <p:spPr>
          <a:xfrm>
            <a:off x="6050525" y="2135404"/>
            <a:ext cx="0" cy="511793"/>
          </a:xfrm>
          <a:prstGeom prst="straightConnector1">
            <a:avLst/>
          </a:prstGeom>
          <a:ln w="63500">
            <a:solidFill>
              <a:srgbClr val="B00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分类器：简单线性分类器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30048" y="828293"/>
            <a:ext cx="7627905" cy="116955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一个简单的例子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假设每个特征的系数已知</a:t>
            </a:r>
            <a:endParaRPr lang="en-SG" altLang="zh-CN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aphicFrame>
        <p:nvGraphicFramePr>
          <p:cNvPr id="2" name="object 20"/>
          <p:cNvGraphicFramePr>
            <a:graphicFrameLocks noGrp="1"/>
          </p:cNvGraphicFramePr>
          <p:nvPr/>
        </p:nvGraphicFramePr>
        <p:xfrm>
          <a:off x="830048" y="2497593"/>
          <a:ext cx="4529454" cy="201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6460"/>
                <a:gridCol w="2372994"/>
              </a:tblGrid>
              <a:tr h="47117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lang="zh-CN" altLang="en-US" sz="2400" spc="45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特征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768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lang="zh-CN" altLang="en-US" sz="2400" spc="11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系数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SG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年收入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768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1.0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SG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贷款金额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768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-0.8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1778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SG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贷款利率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768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-3.3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1778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…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768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/>
                        </a:rPr>
                        <a:t>…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 marL="0" marR="0" marT="1778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28"/>
              <p:cNvSpPr txBox="1"/>
              <p:nvPr/>
            </p:nvSpPr>
            <p:spPr>
              <a:xfrm>
                <a:off x="6091261" y="2497593"/>
                <a:ext cx="3862832" cy="191077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en-US" sz="2400" spc="60" dirty="0" err="1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输入</a:t>
                </a:r>
                <a14:m>
                  <m:oMath xmlns:m="http://schemas.openxmlformats.org/officeDocument/2006/math">
                    <m:r>
                      <a:rPr lang="en-US" altLang="zh-CN" sz="2400" b="1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贷款人年收入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4.5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万</a:t>
                </a:r>
                <a:endParaRPr lang="en-SG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贷款金额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4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万</a:t>
                </a:r>
                <a:endParaRPr lang="en-SG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贷款利率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Lucida Sans Unicode" panose="020B0602030504020204"/>
                  </a:rPr>
                  <a:t>13.76%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</p:txBody>
          </p:sp>
        </mc:Choice>
        <mc:Fallback>
          <p:sp>
            <p:nvSpPr>
              <p:cNvPr id="3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261" y="2497593"/>
                <a:ext cx="3862832" cy="1910779"/>
              </a:xfrm>
              <a:prstGeom prst="rect">
                <a:avLst/>
              </a:prstGeom>
              <a:blipFill rotWithShape="1">
                <a:blip r:embed="rId1"/>
                <a:stretch>
                  <a:fillRect l="-9" t="-705" r="12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43260" y="5231158"/>
                <a:ext cx="691083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sz="2400" b="0" i="0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core</m:t>
                      </m:r>
                      <m:d>
                        <m:dPr>
                          <m:ctrlPr>
                            <a:rPr lang="en-US" altLang="zh-CN" sz="24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4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1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  <m:r>
                        <a:rPr lang="zh-CN" altLang="en-US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4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5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−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8</m:t>
                      </m:r>
                      <m:r>
                        <a:rPr lang="zh-CN" altLang="en-US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4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−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3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3</m:t>
                      </m:r>
                      <m:r>
                        <a:rPr lang="zh-CN" altLang="en-US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1376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&gt;</m:t>
                      </m:r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</m:oMath>
                  </m:oMathPara>
                </a14:m>
                <a:endParaRPr lang="en-SG" altLang="zh-CN" sz="2400" b="0" spc="6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4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4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</m:acc>
                      <m:r>
                        <a:rPr lang="en-US" altLang="zh-CN" sz="24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400" b="1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r>
                        <a:rPr lang="en-US" altLang="zh-CN" sz="2400" b="1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𝟏</m:t>
                      </m:r>
                    </m:oMath>
                  </m:oMathPara>
                </a14:m>
                <a:endParaRPr lang="en-SG" altLang="zh-CN" sz="2400" spc="-7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260" y="5231158"/>
                <a:ext cx="6910833" cy="830997"/>
              </a:xfrm>
              <a:prstGeom prst="rect">
                <a:avLst/>
              </a:prstGeom>
              <a:blipFill rotWithShape="1">
                <a:blip r:embed="rId2"/>
                <a:stretch>
                  <a:fillRect l="-5" t="-3" r="7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线性分类器：建模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86022" y="1088183"/>
                <a:ext cx="8843927" cy="2108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80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800" i="1" spc="6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</m:acc>
                      <m:r>
                        <a:rPr lang="en-US" altLang="zh-CN" sz="2800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sign</m:t>
                      </m:r>
                      <m:d>
                        <m:dPr>
                          <m:ctrlPr>
                            <a:rPr lang="en-US" altLang="zh-CN" sz="2800" i="1" spc="6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Score</m:t>
                          </m:r>
                          <m:d>
                            <m:dPr>
                              <m:ctrlPr>
                                <a:rPr lang="en-US" altLang="zh-CN" sz="2800" i="1" spc="6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pc="6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SG" altLang="zh-CN" sz="2800" b="0" spc="6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:endParaRPr lang="en-US" altLang="zh-CN" sz="2800" spc="60" dirty="0">
                  <a:solidFill>
                    <a:srgbClr val="B0007E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core</m:t>
                      </m:r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8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zh-CN" altLang="en-US" sz="2800" b="0" i="0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zh-CN" sz="2800" b="0" i="1" spc="6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pc="6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b="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 spc="6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zh-CN" sz="2800" i="1" spc="6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pc="6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b="0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 </m:t>
                      </m:r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…+</m:t>
                      </m:r>
                      <m:sSub>
                        <m:sSubPr>
                          <m:ctrlPr>
                            <a:rPr lang="en-US" altLang="zh-CN" sz="280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𝑑</m:t>
                          </m:r>
                        </m:sub>
                      </m:sSub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 spc="6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zh-CN" sz="2800" b="1" i="1" spc="6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pc="6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b="0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SG" altLang="zh-CN" sz="2800" spc="6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:r>
                  <a:rPr lang="zh-CN" altLang="en-US" sz="28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            </a:t>
                </a:r>
                <a:r>
                  <a:rPr lang="en-US" altLang="zh-CN" sz="28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80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8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800" i="1" spc="60" smtClean="0">
                                <a:solidFill>
                                  <a:srgbClr val="0099E8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i="1" spc="60">
                                <a:solidFill>
                                  <a:srgbClr val="0099E8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800" b="0" i="1" spc="60" smtClean="0">
                                <a:solidFill>
                                  <a:srgbClr val="0099E8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 i="1" spc="6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800" i="1" spc="6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i="1" spc="6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altLang="zh-CN" sz="2800" b="1" i="1" spc="6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spc="6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  <m:t>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800" b="0" i="1" spc="6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8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r>
                      <a:rPr lang="zh-CN" altLang="en-US" sz="28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 </m:t>
                    </m:r>
                    <m:sSup>
                      <m:sSupPr>
                        <m:ctrlPr>
                          <a:rPr lang="en-US" altLang="zh-CN" sz="2800" b="1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⊺</m:t>
                        </m:r>
                      </m:sup>
                    </m:sSup>
                    <m:r>
                      <a:rPr lang="en-US" altLang="zh-CN" sz="2800" b="1" i="1" spc="6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𝝓</m:t>
                    </m:r>
                    <m:d>
                      <m:dPr>
                        <m:ctrlP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𝒙</m:t>
                        </m:r>
                      </m:e>
                    </m:d>
                  </m:oMath>
                </a14:m>
                <a:endParaRPr lang="en-SG" altLang="zh-CN" sz="28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022" y="1088183"/>
                <a:ext cx="8843927" cy="2108526"/>
              </a:xfrm>
              <a:prstGeom prst="rect">
                <a:avLst/>
              </a:prstGeom>
              <a:blipFill rotWithShape="1">
                <a:blip r:embed="rId1"/>
                <a:stretch>
                  <a:fillRect l="-4" t="-20" r="7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86022" y="3429000"/>
                <a:ext cx="8843927" cy="3370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:r>
                  <a:rPr lang="zh-CN" altLang="en-US" sz="2400" spc="60" dirty="0">
                    <a:solidFill>
                      <a:srgbClr val="85B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特征提取器</a:t>
                </a:r>
                <a14:m>
                  <m:oMath xmlns:m="http://schemas.openxmlformats.org/officeDocument/2006/math">
                    <m:r>
                      <a:rPr lang="en-US" altLang="zh-CN" sz="2400" b="1" i="1" spc="60" smtClean="0">
                        <a:solidFill>
                          <a:srgbClr val="85BE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𝝓</m:t>
                    </m:r>
                  </m:oMath>
                </a14:m>
                <a:r>
                  <a:rPr lang="zh-CN" altLang="en-US" sz="2400" spc="60" dirty="0">
                    <a:solidFill>
                      <a:srgbClr val="85BE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：</a:t>
                </a:r>
                <a:endParaRPr lang="en-SG" altLang="zh-CN" sz="2400" spc="60" dirty="0">
                  <a:solidFill>
                    <a:srgbClr val="85B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:r>
                  <a:rPr lang="zh-CN" altLang="en-SG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特征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1=</a:t>
                </a:r>
                <a:r>
                  <a:rPr lang="en-US" altLang="zh-CN" sz="2400" spc="60" dirty="0"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bPr>
                      <m:e>
                        <m:r>
                          <a:rPr lang="en-US" altLang="zh-CN" sz="2400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𝜙</m:t>
                        </m:r>
                        <m:d>
                          <m:dPr>
                            <m:ctrlPr>
                              <a:rPr lang="en-US" altLang="zh-CN" sz="2400" b="0" i="1" spc="6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en-US" altLang="zh-CN" sz="2400" b="0" i="1" spc="6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(e.g.,</a:t>
                </a: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1)</a:t>
                </a:r>
                <a:endParaRPr lang="en-US" altLang="zh-CN" sz="2400" spc="6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:r>
                  <a:rPr lang="zh-CN" altLang="en-SG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特征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2=</a:t>
                </a:r>
                <a:r>
                  <a:rPr lang="en-US" altLang="zh-CN" sz="2400" spc="60" dirty="0"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bPr>
                      <m:e>
                        <m:r>
                          <a:rPr lang="en-US" altLang="zh-CN" sz="2400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𝜙</m:t>
                        </m:r>
                        <m:d>
                          <m:dPr>
                            <m:ctrlPr>
                              <a:rPr lang="en-US" altLang="zh-CN" sz="2400" b="0" i="1" spc="6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en-US" altLang="zh-CN" sz="2400" b="0" i="1" spc="6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(e.g.,</a:t>
                </a: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𝑥</m:t>
                    </m:r>
                    <m:r>
                      <a:rPr lang="en-US" altLang="zh-CN" sz="24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[</m:t>
                    </m:r>
                    <m:r>
                      <a:rPr lang="en-US" altLang="zh-CN" sz="24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1</m:t>
                    </m:r>
                    <m:r>
                      <a:rPr lang="en-US" altLang="zh-CN" sz="24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]</m:t>
                    </m:r>
                  </m:oMath>
                </a14:m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=</a:t>
                </a: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年收入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)</a:t>
                </a:r>
                <a:endParaRPr lang="en-US" altLang="zh-CN" sz="2400" spc="6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:r>
                  <a:rPr lang="zh-CN" altLang="en-SG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特征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3=</a:t>
                </a:r>
                <a:r>
                  <a:rPr lang="en-US" altLang="zh-CN" sz="2400" spc="60" dirty="0"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bPr>
                      <m:e>
                        <m:r>
                          <a:rPr lang="en-US" altLang="zh-CN" sz="2400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𝜙</m:t>
                        </m:r>
                        <m:d>
                          <m:dPr>
                            <m:ctrlPr>
                              <a:rPr lang="en-US" altLang="zh-CN" sz="2400" b="0" i="1" spc="6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en-US" altLang="zh-CN" sz="2400" b="0" i="1" spc="6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(e.g.,</a:t>
                </a: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𝑥</m:t>
                    </m:r>
                    <m:r>
                      <a:rPr lang="en-US" altLang="zh-CN" sz="24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[</m:t>
                    </m:r>
                    <m:r>
                      <a:rPr lang="en-US" altLang="zh-CN" sz="24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2</m:t>
                    </m:r>
                    <m:r>
                      <a:rPr lang="en-US" altLang="zh-CN" sz="24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]</m:t>
                    </m:r>
                  </m:oMath>
                </a14:m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=</a:t>
                </a: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贷款金额</a:t>
                </a:r>
                <a:endParaRPr lang="en-SG" altLang="zh-CN" sz="2400" spc="6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:r>
                  <a:rPr lang="en-SG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	</a:t>
                </a: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               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or</a:t>
                </a: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log</m:t>
                    </m:r>
                    <m:d>
                      <m:dPr>
                        <m:ctrlP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𝑥</m:t>
                        </m:r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[</m:t>
                        </m:r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2</m:t>
                        </m:r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]</m:t>
                        </m:r>
                      </m:e>
                    </m:d>
                  </m:oMath>
                </a14:m>
                <a:endParaRPr lang="en-US" altLang="zh-CN" sz="2400" spc="6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                        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or</a:t>
                </a: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log</m:t>
                    </m:r>
                    <m:d>
                      <m:dPr>
                        <m:ctrlP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𝑥</m:t>
                        </m:r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[</m:t>
                        </m:r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2</m:t>
                        </m:r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]/</m:t>
                        </m:r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𝑥</m:t>
                        </m:r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[</m:t>
                        </m:r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1</m:t>
                        </m:r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]</m:t>
                        </m:r>
                      </m:e>
                    </m:d>
                  </m:oMath>
                </a14:m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)</a:t>
                </a:r>
                <a:endParaRPr lang="en-SG" altLang="zh-CN" sz="2400" spc="6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:r>
                  <a:rPr lang="zh-CN" altLang="en-SG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特征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d=</a:t>
                </a:r>
                <a:r>
                  <a:rPr lang="en-US" altLang="zh-CN" sz="2400" spc="60" dirty="0"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bPr>
                      <m:e>
                        <m:r>
                          <a:rPr lang="en-US" altLang="zh-CN" sz="2400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𝜙</m:t>
                        </m:r>
                        <m:d>
                          <m:dPr>
                            <m:ctrlPr>
                              <a:rPr lang="en-US" altLang="zh-CN" sz="2400" b="0" i="1" spc="6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en-US" altLang="zh-CN" sz="2400" b="0" i="1" spc="6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(</a:t>
                </a: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其他关于</a:t>
                </a:r>
                <a14:m>
                  <m:oMath xmlns:m="http://schemas.openxmlformats.org/officeDocument/2006/math">
                    <m:r>
                      <a:rPr lang="en-US" altLang="zh-CN" sz="2400" b="1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𝒙</m:t>
                    </m:r>
                  </m:oMath>
                </a14:m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的函数</a:t>
                </a:r>
                <a:r>
                  <a:rPr lang="en-US" altLang="zh-CN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)</a:t>
                </a:r>
                <a:endParaRPr lang="en-US" altLang="zh-CN" sz="2400" spc="6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022" y="3429000"/>
                <a:ext cx="8843927" cy="3370153"/>
              </a:xfrm>
              <a:prstGeom prst="rect">
                <a:avLst/>
              </a:prstGeom>
              <a:blipFill rotWithShape="1">
                <a:blip r:embed="rId2"/>
                <a:stretch>
                  <a:fillRect l="-4" r="7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607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决策边界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30048" y="828293"/>
            <a:ext cx="7627905" cy="66178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假设只有两个特征具有非零系数</a:t>
            </a:r>
            <a:endParaRPr lang="en-SG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" name="object 3"/>
          <p:cNvGrpSpPr/>
          <p:nvPr/>
        </p:nvGrpSpPr>
        <p:grpSpPr>
          <a:xfrm>
            <a:off x="5933897" y="3360471"/>
            <a:ext cx="4023245" cy="3108268"/>
            <a:chOff x="2026634" y="2876852"/>
            <a:chExt cx="4436745" cy="3427729"/>
          </a:xfrm>
        </p:grpSpPr>
        <p:pic>
          <p:nvPicPr>
            <p:cNvPr id="3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114125" y="5800091"/>
              <a:ext cx="4348833" cy="504361"/>
            </a:xfrm>
            <a:prstGeom prst="rect">
              <a:avLst/>
            </a:prstGeom>
          </p:spPr>
        </p:pic>
        <p:sp>
          <p:nvSpPr>
            <p:cNvPr id="4" name="object 5"/>
            <p:cNvSpPr/>
            <p:nvPr/>
          </p:nvSpPr>
          <p:spPr>
            <a:xfrm>
              <a:off x="2149147" y="5927986"/>
              <a:ext cx="4060825" cy="217170"/>
            </a:xfrm>
            <a:custGeom>
              <a:avLst/>
              <a:gdLst/>
              <a:ahLst/>
              <a:cxnLst/>
              <a:rect l="l" t="t" r="r" b="b"/>
              <a:pathLst>
                <a:path w="4060825" h="217170">
                  <a:moveTo>
                    <a:pt x="3964580" y="108383"/>
                  </a:moveTo>
                  <a:lnTo>
                    <a:pt x="3855510" y="171942"/>
                  </a:lnTo>
                  <a:lnTo>
                    <a:pt x="3848340" y="178328"/>
                  </a:lnTo>
                  <a:lnTo>
                    <a:pt x="3844310" y="186668"/>
                  </a:lnTo>
                  <a:lnTo>
                    <a:pt x="3843706" y="195905"/>
                  </a:lnTo>
                  <a:lnTo>
                    <a:pt x="3846813" y="204983"/>
                  </a:lnTo>
                  <a:lnTo>
                    <a:pt x="3853169" y="212124"/>
                  </a:lnTo>
                  <a:lnTo>
                    <a:pt x="3861493" y="216138"/>
                  </a:lnTo>
                  <a:lnTo>
                    <a:pt x="3870725" y="216737"/>
                  </a:lnTo>
                  <a:lnTo>
                    <a:pt x="3879802" y="213629"/>
                  </a:lnTo>
                  <a:lnTo>
                    <a:pt x="4018902" y="132494"/>
                  </a:lnTo>
                  <a:lnTo>
                    <a:pt x="4012377" y="132494"/>
                  </a:lnTo>
                  <a:lnTo>
                    <a:pt x="4012377" y="129175"/>
                  </a:lnTo>
                  <a:lnTo>
                    <a:pt x="4000231" y="129175"/>
                  </a:lnTo>
                  <a:lnTo>
                    <a:pt x="3964580" y="108383"/>
                  </a:lnTo>
                  <a:close/>
                </a:path>
                <a:path w="4060825" h="217170">
                  <a:moveTo>
                    <a:pt x="3923194" y="84245"/>
                  </a:moveTo>
                  <a:lnTo>
                    <a:pt x="0" y="84245"/>
                  </a:lnTo>
                  <a:lnTo>
                    <a:pt x="0" y="132494"/>
                  </a:lnTo>
                  <a:lnTo>
                    <a:pt x="3923150" y="132494"/>
                  </a:lnTo>
                  <a:lnTo>
                    <a:pt x="3964492" y="108383"/>
                  </a:lnTo>
                  <a:lnTo>
                    <a:pt x="3923194" y="84245"/>
                  </a:lnTo>
                  <a:close/>
                </a:path>
                <a:path w="4060825" h="217170">
                  <a:moveTo>
                    <a:pt x="4018879" y="84245"/>
                  </a:moveTo>
                  <a:lnTo>
                    <a:pt x="4012377" y="84245"/>
                  </a:lnTo>
                  <a:lnTo>
                    <a:pt x="4012377" y="132494"/>
                  </a:lnTo>
                  <a:lnTo>
                    <a:pt x="4018902" y="132494"/>
                  </a:lnTo>
                  <a:lnTo>
                    <a:pt x="4060240" y="108383"/>
                  </a:lnTo>
                  <a:lnTo>
                    <a:pt x="4018879" y="84245"/>
                  </a:lnTo>
                  <a:close/>
                </a:path>
                <a:path w="4060825" h="217170">
                  <a:moveTo>
                    <a:pt x="4000231" y="87539"/>
                  </a:moveTo>
                  <a:lnTo>
                    <a:pt x="3964580" y="108383"/>
                  </a:lnTo>
                  <a:lnTo>
                    <a:pt x="4000231" y="129175"/>
                  </a:lnTo>
                  <a:lnTo>
                    <a:pt x="4000231" y="87539"/>
                  </a:lnTo>
                  <a:close/>
                </a:path>
                <a:path w="4060825" h="217170">
                  <a:moveTo>
                    <a:pt x="4012377" y="87539"/>
                  </a:moveTo>
                  <a:lnTo>
                    <a:pt x="4000231" y="87539"/>
                  </a:lnTo>
                  <a:lnTo>
                    <a:pt x="4000231" y="129175"/>
                  </a:lnTo>
                  <a:lnTo>
                    <a:pt x="4012377" y="129175"/>
                  </a:lnTo>
                  <a:lnTo>
                    <a:pt x="4012377" y="87539"/>
                  </a:lnTo>
                  <a:close/>
                </a:path>
                <a:path w="4060825" h="217170">
                  <a:moveTo>
                    <a:pt x="3870725" y="0"/>
                  </a:moveTo>
                  <a:lnTo>
                    <a:pt x="3861493" y="601"/>
                  </a:lnTo>
                  <a:lnTo>
                    <a:pt x="3853169" y="4619"/>
                  </a:lnTo>
                  <a:lnTo>
                    <a:pt x="3846813" y="11782"/>
                  </a:lnTo>
                  <a:lnTo>
                    <a:pt x="3843706" y="20859"/>
                  </a:lnTo>
                  <a:lnTo>
                    <a:pt x="3844310" y="30091"/>
                  </a:lnTo>
                  <a:lnTo>
                    <a:pt x="3848340" y="38415"/>
                  </a:lnTo>
                  <a:lnTo>
                    <a:pt x="3855510" y="44771"/>
                  </a:lnTo>
                  <a:lnTo>
                    <a:pt x="3964580" y="108383"/>
                  </a:lnTo>
                  <a:lnTo>
                    <a:pt x="4000231" y="87539"/>
                  </a:lnTo>
                  <a:lnTo>
                    <a:pt x="4012377" y="87539"/>
                  </a:lnTo>
                  <a:lnTo>
                    <a:pt x="4012377" y="84245"/>
                  </a:lnTo>
                  <a:lnTo>
                    <a:pt x="4018879" y="84245"/>
                  </a:lnTo>
                  <a:lnTo>
                    <a:pt x="3879802" y="3084"/>
                  </a:lnTo>
                  <a:lnTo>
                    <a:pt x="3870725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pic>
          <p:nvPicPr>
            <p:cNvPr id="5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634" y="2876852"/>
              <a:ext cx="504361" cy="3340109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169452" y="3108961"/>
              <a:ext cx="217170" cy="3056255"/>
            </a:xfrm>
            <a:custGeom>
              <a:avLst/>
              <a:gdLst/>
              <a:ahLst/>
              <a:cxnLst/>
              <a:rect l="l" t="t" r="r" b="b"/>
              <a:pathLst>
                <a:path w="217169" h="3056254">
                  <a:moveTo>
                    <a:pt x="108366" y="95721"/>
                  </a:moveTo>
                  <a:lnTo>
                    <a:pt x="84231" y="137088"/>
                  </a:lnTo>
                  <a:lnTo>
                    <a:pt x="84231" y="3056061"/>
                  </a:lnTo>
                  <a:lnTo>
                    <a:pt x="132480" y="3056061"/>
                  </a:lnTo>
                  <a:lnTo>
                    <a:pt x="132480" y="137088"/>
                  </a:lnTo>
                  <a:lnTo>
                    <a:pt x="108366" y="95721"/>
                  </a:lnTo>
                  <a:close/>
                </a:path>
                <a:path w="217169" h="3056254">
                  <a:moveTo>
                    <a:pt x="108358" y="0"/>
                  </a:moveTo>
                  <a:lnTo>
                    <a:pt x="3096" y="180437"/>
                  </a:lnTo>
                  <a:lnTo>
                    <a:pt x="0" y="189515"/>
                  </a:lnTo>
                  <a:lnTo>
                    <a:pt x="599" y="198746"/>
                  </a:lnTo>
                  <a:lnTo>
                    <a:pt x="4618" y="207071"/>
                  </a:lnTo>
                  <a:lnTo>
                    <a:pt x="11778" y="213427"/>
                  </a:lnTo>
                  <a:lnTo>
                    <a:pt x="20840" y="216533"/>
                  </a:lnTo>
                  <a:lnTo>
                    <a:pt x="30068" y="215929"/>
                  </a:lnTo>
                  <a:lnTo>
                    <a:pt x="38399" y="211900"/>
                  </a:lnTo>
                  <a:lnTo>
                    <a:pt x="44768" y="204729"/>
                  </a:lnTo>
                  <a:lnTo>
                    <a:pt x="84231" y="137088"/>
                  </a:lnTo>
                  <a:lnTo>
                    <a:pt x="84231" y="47862"/>
                  </a:lnTo>
                  <a:lnTo>
                    <a:pt x="136286" y="47862"/>
                  </a:lnTo>
                  <a:lnTo>
                    <a:pt x="108358" y="0"/>
                  </a:lnTo>
                  <a:close/>
                </a:path>
                <a:path w="217169" h="3056254">
                  <a:moveTo>
                    <a:pt x="136286" y="47862"/>
                  </a:moveTo>
                  <a:lnTo>
                    <a:pt x="132480" y="47862"/>
                  </a:lnTo>
                  <a:lnTo>
                    <a:pt x="132501" y="137088"/>
                  </a:lnTo>
                  <a:lnTo>
                    <a:pt x="171965" y="204729"/>
                  </a:lnTo>
                  <a:lnTo>
                    <a:pt x="178336" y="211900"/>
                  </a:lnTo>
                  <a:lnTo>
                    <a:pt x="186666" y="215929"/>
                  </a:lnTo>
                  <a:lnTo>
                    <a:pt x="195893" y="216533"/>
                  </a:lnTo>
                  <a:lnTo>
                    <a:pt x="204954" y="213427"/>
                  </a:lnTo>
                  <a:lnTo>
                    <a:pt x="212116" y="207071"/>
                  </a:lnTo>
                  <a:lnTo>
                    <a:pt x="216135" y="198746"/>
                  </a:lnTo>
                  <a:lnTo>
                    <a:pt x="216736" y="189515"/>
                  </a:lnTo>
                  <a:lnTo>
                    <a:pt x="213641" y="180437"/>
                  </a:lnTo>
                  <a:lnTo>
                    <a:pt x="136286" y="47862"/>
                  </a:lnTo>
                  <a:close/>
                </a:path>
                <a:path w="217169" h="3056254">
                  <a:moveTo>
                    <a:pt x="132480" y="47862"/>
                  </a:moveTo>
                  <a:lnTo>
                    <a:pt x="84231" y="47862"/>
                  </a:lnTo>
                  <a:lnTo>
                    <a:pt x="84231" y="137088"/>
                  </a:lnTo>
                  <a:lnTo>
                    <a:pt x="108366" y="95721"/>
                  </a:lnTo>
                  <a:lnTo>
                    <a:pt x="87530" y="60008"/>
                  </a:lnTo>
                  <a:lnTo>
                    <a:pt x="132480" y="60008"/>
                  </a:lnTo>
                  <a:lnTo>
                    <a:pt x="132480" y="47862"/>
                  </a:lnTo>
                  <a:close/>
                </a:path>
                <a:path w="217169" h="3056254">
                  <a:moveTo>
                    <a:pt x="132480" y="60008"/>
                  </a:moveTo>
                  <a:lnTo>
                    <a:pt x="129202" y="60008"/>
                  </a:lnTo>
                  <a:lnTo>
                    <a:pt x="108366" y="95721"/>
                  </a:lnTo>
                  <a:lnTo>
                    <a:pt x="132501" y="137088"/>
                  </a:lnTo>
                  <a:lnTo>
                    <a:pt x="132480" y="60008"/>
                  </a:lnTo>
                  <a:close/>
                </a:path>
                <a:path w="217169" h="3056254">
                  <a:moveTo>
                    <a:pt x="129202" y="60008"/>
                  </a:moveTo>
                  <a:lnTo>
                    <a:pt x="87530" y="60008"/>
                  </a:lnTo>
                  <a:lnTo>
                    <a:pt x="108366" y="95721"/>
                  </a:lnTo>
                  <a:lnTo>
                    <a:pt x="129202" y="60008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</p:grpSp>
      <p:sp>
        <p:nvSpPr>
          <p:cNvPr id="7" name="object 8"/>
          <p:cNvSpPr txBox="1"/>
          <p:nvPr/>
        </p:nvSpPr>
        <p:spPr>
          <a:xfrm>
            <a:off x="5622692" y="3597914"/>
            <a:ext cx="243721" cy="109479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430">
              <a:lnSpc>
                <a:spcPts val="1905"/>
              </a:lnSpc>
            </a:pPr>
            <a:r>
              <a:rPr lang="zh-CN" altLang="en-US" sz="2000" spc="9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年收入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5968332" y="4821336"/>
            <a:ext cx="133014" cy="1351244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22225">
              <a:spcBef>
                <a:spcPts val="110"/>
              </a:spcBef>
            </a:pPr>
            <a:r>
              <a:rPr sz="1360" spc="-45" dirty="0">
                <a:latin typeface="Arial" panose="020B0604020202020204"/>
                <a:cs typeface="Arial" panose="020B0604020202020204"/>
              </a:rPr>
              <a:t>3</a:t>
            </a:r>
            <a:endParaRPr sz="1360" dirty="0">
              <a:latin typeface="Arial" panose="020B0604020202020204"/>
              <a:cs typeface="Arial" panose="020B0604020202020204"/>
            </a:endParaRPr>
          </a:p>
          <a:p>
            <a:pPr marL="21590">
              <a:spcBef>
                <a:spcPts val="1305"/>
              </a:spcBef>
            </a:pPr>
            <a:r>
              <a:rPr sz="1360" spc="-45" dirty="0">
                <a:latin typeface="Arial" panose="020B0604020202020204"/>
                <a:cs typeface="Arial" panose="020B0604020202020204"/>
              </a:rPr>
              <a:t>2</a:t>
            </a:r>
            <a:endParaRPr sz="1360" dirty="0">
              <a:latin typeface="Arial" panose="020B0604020202020204"/>
              <a:cs typeface="Arial" panose="020B0604020202020204"/>
            </a:endParaRPr>
          </a:p>
          <a:p>
            <a:pPr marL="39370">
              <a:spcBef>
                <a:spcPts val="1270"/>
              </a:spcBef>
            </a:pPr>
            <a:r>
              <a:rPr sz="1360" spc="-73" dirty="0">
                <a:latin typeface="Arial" panose="020B0604020202020204"/>
                <a:cs typeface="Arial" panose="020B0604020202020204"/>
              </a:rPr>
              <a:t>1</a:t>
            </a:r>
            <a:endParaRPr sz="1360" dirty="0">
              <a:latin typeface="Arial" panose="020B0604020202020204"/>
              <a:cs typeface="Arial" panose="020B0604020202020204"/>
            </a:endParaRPr>
          </a:p>
          <a:p>
            <a:pPr marL="11430">
              <a:spcBef>
                <a:spcPts val="1310"/>
              </a:spcBef>
            </a:pPr>
            <a:r>
              <a:rPr sz="1360" spc="50" dirty="0">
                <a:latin typeface="Arial" panose="020B0604020202020204"/>
                <a:cs typeface="Arial" panose="020B0604020202020204"/>
              </a:rPr>
              <a:t>0</a:t>
            </a:r>
            <a:endParaRPr sz="136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5968332" y="4447985"/>
            <a:ext cx="127832" cy="223243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1430">
              <a:spcBef>
                <a:spcPts val="110"/>
              </a:spcBef>
            </a:pPr>
            <a:r>
              <a:rPr sz="1360" spc="14" dirty="0">
                <a:latin typeface="Arial" panose="020B0604020202020204"/>
                <a:cs typeface="Arial" panose="020B0604020202020204"/>
              </a:rPr>
              <a:t>4</a:t>
            </a:r>
            <a:endParaRPr sz="136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1"/>
          <p:cNvSpPr txBox="1"/>
          <p:nvPr/>
        </p:nvSpPr>
        <p:spPr>
          <a:xfrm rot="16200000">
            <a:off x="5928774" y="4079299"/>
            <a:ext cx="148561" cy="223243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1430">
              <a:spcBef>
                <a:spcPts val="110"/>
              </a:spcBef>
            </a:pPr>
            <a:r>
              <a:rPr sz="1360" spc="-426" dirty="0">
                <a:latin typeface="Arial" panose="020B0604020202020204"/>
                <a:cs typeface="Arial" panose="020B0604020202020204"/>
              </a:rPr>
              <a:t>…</a:t>
            </a:r>
            <a:endParaRPr sz="136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2062" y="5666274"/>
            <a:ext cx="187364" cy="187407"/>
          </a:xfrm>
          <a:prstGeom prst="rect">
            <a:avLst/>
          </a:prstGeom>
        </p:spPr>
      </p:pic>
      <p:pic>
        <p:nvPicPr>
          <p:cNvPr id="18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72903" y="4876216"/>
            <a:ext cx="187360" cy="187360"/>
          </a:xfrm>
          <a:prstGeom prst="rect">
            <a:avLst/>
          </a:prstGeom>
        </p:spPr>
      </p:pic>
      <p:pic>
        <p:nvPicPr>
          <p:cNvPr id="20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12249" y="6097869"/>
            <a:ext cx="187360" cy="187360"/>
          </a:xfrm>
          <a:prstGeom prst="rect">
            <a:avLst/>
          </a:prstGeom>
        </p:spPr>
      </p:pic>
      <p:pic>
        <p:nvPicPr>
          <p:cNvPr id="25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90931" y="5666273"/>
            <a:ext cx="187407" cy="187407"/>
          </a:xfrm>
          <a:prstGeom prst="rect">
            <a:avLst/>
          </a:prstGeom>
        </p:spPr>
      </p:pic>
      <p:pic>
        <p:nvPicPr>
          <p:cNvPr id="26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81806" y="5294275"/>
            <a:ext cx="187360" cy="187360"/>
          </a:xfrm>
          <a:prstGeom prst="rect">
            <a:avLst/>
          </a:prstGeom>
        </p:spPr>
      </p:pic>
      <p:pic>
        <p:nvPicPr>
          <p:cNvPr id="27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0931" y="5294275"/>
            <a:ext cx="187407" cy="187360"/>
          </a:xfrm>
          <a:prstGeom prst="rect">
            <a:avLst/>
          </a:prstGeom>
        </p:spPr>
      </p:pic>
      <p:pic>
        <p:nvPicPr>
          <p:cNvPr id="28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63444" y="4178141"/>
            <a:ext cx="187360" cy="187360"/>
          </a:xfrm>
          <a:prstGeom prst="rect">
            <a:avLst/>
          </a:prstGeom>
        </p:spPr>
      </p:pic>
      <p:pic>
        <p:nvPicPr>
          <p:cNvPr id="29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84706" y="4166100"/>
            <a:ext cx="187383" cy="187360"/>
          </a:xfrm>
          <a:prstGeom prst="rect">
            <a:avLst/>
          </a:prstGeom>
        </p:spPr>
      </p:pic>
      <p:pic>
        <p:nvPicPr>
          <p:cNvPr id="30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22562" y="4382598"/>
            <a:ext cx="187364" cy="187360"/>
          </a:xfrm>
          <a:prstGeom prst="rect">
            <a:avLst/>
          </a:prstGeom>
        </p:spPr>
      </p:pic>
      <p:pic>
        <p:nvPicPr>
          <p:cNvPr id="31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40721" y="4876028"/>
            <a:ext cx="187360" cy="187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" name="object 28"/>
              <p:cNvGraphicFramePr>
                <a:graphicFrameLocks noGrp="1"/>
              </p:cNvGraphicFramePr>
              <p:nvPr/>
            </p:nvGraphicFramePr>
            <p:xfrm>
              <a:off x="812234" y="1641606"/>
              <a:ext cx="3757162" cy="15350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11866"/>
                    <a:gridCol w="1164498"/>
                    <a:gridCol w="1080798"/>
                  </a:tblGrid>
                  <a:tr h="279848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特征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系数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7965" algn="ctr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值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</a:tr>
                  <a:tr h="30288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</a:pP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/>
                          </a:endParaRPr>
                        </a:p>
                      </a:txBody>
                      <a:tcPr marL="0" marR="0" marT="0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810" algn="ctr">
                            <a:lnSpc>
                              <a:spcPct val="100000"/>
                            </a:lnSpc>
                            <a:spcBef>
                              <a:spcPts val="165"/>
                            </a:spcBef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400" baseline="-17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9002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8925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3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0.0</a:t>
                          </a:r>
                          <a:endParaRPr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</a:tr>
                  <a:tr h="279848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lang="zh-CN" altLang="en-US" sz="2400" spc="4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贷款金额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F2E7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400" baseline="-8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ahoma" panose="020B060403050404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F2E7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5130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-2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1.0</a:t>
                          </a:r>
                          <a:endParaRPr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F2E7EC"/>
                        </a:solidFill>
                      </a:tcPr>
                    </a:tc>
                  </a:tr>
                  <a:tr h="279848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lang="zh-CN" altLang="en-US" sz="2400" spc="6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年收入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400" baseline="-8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ahoma" panose="020B060403050404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1178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24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-</a:t>
                          </a:r>
                          <a:r>
                            <a:rPr sz="2400" spc="-2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1.5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2" name="object 28"/>
              <p:cNvGraphicFramePr>
                <a:graphicFrameLocks noGrp="1"/>
              </p:cNvGraphicFramePr>
              <p:nvPr/>
            </p:nvGraphicFramePr>
            <p:xfrm>
              <a:off x="812234" y="1641606"/>
              <a:ext cx="3757162" cy="15350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11866"/>
                    <a:gridCol w="1164498"/>
                    <a:gridCol w="1080798"/>
                  </a:tblGrid>
                  <a:tr h="279848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特征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系数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7965" algn="ctr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值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</a:tr>
                  <a:tr h="38481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</a:pP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/>
                          </a:endParaRPr>
                        </a:p>
                      </a:txBody>
                      <a:tcPr marL="0" marR="0" marT="0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19002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1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8925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3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0.0</a:t>
                          </a:r>
                          <a:endParaRPr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</a:tr>
                  <a:tr h="382905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lang="zh-CN" altLang="en-US" sz="2400" spc="4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贷款金额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F2E7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1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05130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-2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1.0</a:t>
                          </a:r>
                          <a:endParaRPr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F2E7EC"/>
                        </a:solidFill>
                      </a:tcPr>
                    </a:tc>
                  </a:tr>
                  <a:tr h="382905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lang="zh-CN" altLang="en-US" sz="2400" spc="6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年收入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1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1178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24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-</a:t>
                          </a:r>
                          <a:r>
                            <a:rPr sz="2400" spc="-2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1.5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6" name="object 34"/>
          <p:cNvSpPr txBox="1"/>
          <p:nvPr/>
        </p:nvSpPr>
        <p:spPr>
          <a:xfrm>
            <a:off x="6218458" y="6261137"/>
            <a:ext cx="13243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50" dirty="0">
                <a:latin typeface="Arial" panose="020B0604020202020204"/>
                <a:cs typeface="Arial" panose="020B0604020202020204"/>
              </a:rPr>
              <a:t>0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5"/>
          <p:cNvSpPr txBox="1"/>
          <p:nvPr/>
        </p:nvSpPr>
        <p:spPr>
          <a:xfrm>
            <a:off x="6741096" y="6261137"/>
            <a:ext cx="10479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-77" dirty="0">
                <a:latin typeface="Arial" panose="020B0604020202020204"/>
                <a:cs typeface="Arial" panose="020B0604020202020204"/>
              </a:rPr>
              <a:t>1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6"/>
          <p:cNvSpPr txBox="1"/>
          <p:nvPr/>
        </p:nvSpPr>
        <p:spPr>
          <a:xfrm>
            <a:off x="7235623" y="6261137"/>
            <a:ext cx="12207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-45" dirty="0">
                <a:latin typeface="Arial" panose="020B0604020202020204"/>
                <a:cs typeface="Arial" panose="020B0604020202020204"/>
              </a:rPr>
              <a:t>2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7"/>
          <p:cNvSpPr txBox="1"/>
          <p:nvPr/>
        </p:nvSpPr>
        <p:spPr>
          <a:xfrm>
            <a:off x="7747651" y="6261137"/>
            <a:ext cx="1214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-45" dirty="0">
                <a:latin typeface="Arial" panose="020B0604020202020204"/>
                <a:cs typeface="Arial" panose="020B0604020202020204"/>
              </a:rPr>
              <a:t>3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38"/>
          <p:cNvSpPr txBox="1"/>
          <p:nvPr/>
        </p:nvSpPr>
        <p:spPr>
          <a:xfrm>
            <a:off x="8259150" y="6261137"/>
            <a:ext cx="12783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14" dirty="0">
                <a:latin typeface="Arial" panose="020B0604020202020204"/>
                <a:cs typeface="Arial" panose="020B0604020202020204"/>
              </a:rPr>
              <a:t>4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39"/>
          <p:cNvSpPr txBox="1"/>
          <p:nvPr/>
        </p:nvSpPr>
        <p:spPr>
          <a:xfrm>
            <a:off x="8781790" y="6261137"/>
            <a:ext cx="14856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-426" dirty="0">
                <a:latin typeface="Arial" panose="020B0604020202020204"/>
                <a:cs typeface="Arial" panose="020B0604020202020204"/>
              </a:rPr>
              <a:t>…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0"/>
          <p:cNvSpPr txBox="1"/>
          <p:nvPr/>
        </p:nvSpPr>
        <p:spPr>
          <a:xfrm>
            <a:off x="9512952" y="6374485"/>
            <a:ext cx="1220736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905"/>
              </a:lnSpc>
            </a:pPr>
            <a:r>
              <a:rPr lang="zh-CN" altLang="en-US" sz="2000" spc="63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贷款金额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5074650" y="2113918"/>
                <a:ext cx="6992191" cy="526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core</m:t>
                      </m:r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8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80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1</m:t>
                      </m:r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贷款金额</m:t>
                      </m:r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 </m:t>
                      </m:r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−</m:t>
                      </m:r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1</m:t>
                      </m:r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5</m:t>
                      </m:r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年收入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50" y="2113918"/>
                <a:ext cx="6992191" cy="526041"/>
              </a:xfrm>
              <a:prstGeom prst="rect">
                <a:avLst/>
              </a:prstGeom>
              <a:blipFill rotWithShape="1">
                <a:blip r:embed="rId14"/>
                <a:stretch>
                  <a:fillRect l="-5" t="-1" r="8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63494" y="4159091"/>
            <a:ext cx="187360" cy="187360"/>
          </a:xfrm>
          <a:prstGeom prst="rect">
            <a:avLst/>
          </a:prstGeom>
        </p:spPr>
      </p:pic>
      <p:cxnSp>
        <p:nvCxnSpPr>
          <p:cNvPr id="44" name="Straight Arrow Connector 43"/>
          <p:cNvCxnSpPr/>
          <p:nvPr/>
        </p:nvCxnSpPr>
        <p:spPr>
          <a:xfrm>
            <a:off x="8350854" y="4247120"/>
            <a:ext cx="726780" cy="0"/>
          </a:xfrm>
          <a:prstGeom prst="straightConnector1">
            <a:avLst/>
          </a:prstGeom>
          <a:ln w="63500">
            <a:solidFill>
              <a:srgbClr val="B00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bject 28"/>
          <p:cNvSpPr txBox="1"/>
          <p:nvPr/>
        </p:nvSpPr>
        <p:spPr>
          <a:xfrm>
            <a:off x="8781790" y="4042353"/>
            <a:ext cx="3285051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>
              <a:spcBef>
                <a:spcPts val="100"/>
              </a:spcBef>
              <a:tabLst>
                <a:tab pos="1184910" algn="l"/>
              </a:tabLst>
            </a:pPr>
            <a:r>
              <a:rPr lang="zh-CN" altLang="en-US" sz="2200" spc="-55" dirty="0">
                <a:solidFill>
                  <a:srgbClr val="118C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“年收入</a:t>
            </a:r>
            <a:r>
              <a:rPr lang="en-US" altLang="zh-CN" sz="2200" spc="-55" dirty="0">
                <a:solidFill>
                  <a:srgbClr val="118C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4.5</a:t>
            </a:r>
            <a:r>
              <a:rPr lang="zh-CN" altLang="en-US" sz="2200" spc="-55" dirty="0">
                <a:solidFill>
                  <a:srgbClr val="118C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万 </a:t>
            </a:r>
            <a:r>
              <a:rPr lang="en-US" altLang="zh-CN" sz="2200" spc="-55" dirty="0">
                <a:solidFill>
                  <a:srgbClr val="118C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+ </a:t>
            </a:r>
            <a:r>
              <a:rPr lang="zh-CN" altLang="en-US" sz="2200" spc="-55" dirty="0">
                <a:solidFill>
                  <a:srgbClr val="118C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贷款</a:t>
            </a:r>
            <a:r>
              <a:rPr lang="en-US" altLang="zh-CN" sz="2200" spc="-55" dirty="0">
                <a:solidFill>
                  <a:srgbClr val="118C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4</a:t>
            </a:r>
            <a:r>
              <a:rPr lang="zh-CN" altLang="en-US" sz="2200" spc="-55" dirty="0">
                <a:solidFill>
                  <a:srgbClr val="118C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万</a:t>
            </a:r>
            <a:r>
              <a:rPr lang="en-US" altLang="zh-CN" sz="2200" spc="-55" dirty="0">
                <a:solidFill>
                  <a:srgbClr val="118C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"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4569396" y="2409115"/>
            <a:ext cx="726780" cy="0"/>
          </a:xfrm>
          <a:prstGeom prst="straightConnector1">
            <a:avLst/>
          </a:prstGeom>
          <a:ln w="63500">
            <a:solidFill>
              <a:srgbClr val="B00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object 28"/>
          <p:cNvGraphicFramePr>
            <a:graphicFrameLocks noGrp="1"/>
          </p:cNvGraphicFramePr>
          <p:nvPr/>
        </p:nvGraphicFramePr>
        <p:xfrm>
          <a:off x="577106" y="4031466"/>
          <a:ext cx="4236771" cy="23028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4859"/>
                <a:gridCol w="1313148"/>
                <a:gridCol w="1218764"/>
              </a:tblGrid>
              <a:tr h="279848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贷款人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sz="2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201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贷款金额</a:t>
                      </a:r>
                      <a:endParaRPr sz="2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201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年收入</a:t>
                      </a:r>
                      <a:endParaRPr sz="2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201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</a:tr>
              <a:tr h="3028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900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38925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</a:tr>
              <a:tr h="279848">
                <a:tc>
                  <a:txBody>
                    <a:bodyPr/>
                    <a:lstStyle/>
                    <a:p>
                      <a:pPr marL="768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40513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  <a:tr h="279848">
                <a:tc>
                  <a:txBody>
                    <a:bodyPr/>
                    <a:lstStyle/>
                    <a:p>
                      <a:pPr marL="768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31178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</a:tr>
              <a:tr h="279848">
                <a:tc>
                  <a:txBody>
                    <a:bodyPr/>
                    <a:lstStyle/>
                    <a:p>
                      <a:pPr marL="768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31178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5.3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D8"/>
                    </a:solidFill>
                  </a:tcPr>
                </a:tc>
              </a:tr>
              <a:tr h="279848">
                <a:tc>
                  <a:txBody>
                    <a:bodyPr/>
                    <a:lstStyle/>
                    <a:p>
                      <a:pPr marL="7683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31178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727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</a:tr>
            </a:tbl>
          </a:graphicData>
        </a:graphic>
      </p:graphicFrame>
      <p:cxnSp>
        <p:nvCxnSpPr>
          <p:cNvPr id="48" name="Straight Arrow Connector 47"/>
          <p:cNvCxnSpPr/>
          <p:nvPr/>
        </p:nvCxnSpPr>
        <p:spPr>
          <a:xfrm>
            <a:off x="4813877" y="5197995"/>
            <a:ext cx="726780" cy="0"/>
          </a:xfrm>
          <a:prstGeom prst="straightConnector1">
            <a:avLst/>
          </a:prstGeom>
          <a:ln w="63500">
            <a:solidFill>
              <a:srgbClr val="B00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607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决策边界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object 3"/>
          <p:cNvGrpSpPr/>
          <p:nvPr/>
        </p:nvGrpSpPr>
        <p:grpSpPr>
          <a:xfrm>
            <a:off x="3085361" y="3297791"/>
            <a:ext cx="4023245" cy="3108268"/>
            <a:chOff x="2026634" y="2763204"/>
            <a:chExt cx="4436745" cy="3427729"/>
          </a:xfrm>
        </p:grpSpPr>
        <p:pic>
          <p:nvPicPr>
            <p:cNvPr id="3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114125" y="5686443"/>
              <a:ext cx="4348833" cy="504361"/>
            </a:xfrm>
            <a:prstGeom prst="rect">
              <a:avLst/>
            </a:prstGeom>
          </p:spPr>
        </p:pic>
        <p:sp>
          <p:nvSpPr>
            <p:cNvPr id="4" name="object 5"/>
            <p:cNvSpPr/>
            <p:nvPr/>
          </p:nvSpPr>
          <p:spPr>
            <a:xfrm>
              <a:off x="2149147" y="5814360"/>
              <a:ext cx="4060825" cy="217170"/>
            </a:xfrm>
            <a:custGeom>
              <a:avLst/>
              <a:gdLst/>
              <a:ahLst/>
              <a:cxnLst/>
              <a:rect l="l" t="t" r="r" b="b"/>
              <a:pathLst>
                <a:path w="4060825" h="217170">
                  <a:moveTo>
                    <a:pt x="3964532" y="108376"/>
                  </a:moveTo>
                  <a:lnTo>
                    <a:pt x="3855510" y="171967"/>
                  </a:lnTo>
                  <a:lnTo>
                    <a:pt x="3848340" y="178335"/>
                  </a:lnTo>
                  <a:lnTo>
                    <a:pt x="3844310" y="186665"/>
                  </a:lnTo>
                  <a:lnTo>
                    <a:pt x="3843706" y="195893"/>
                  </a:lnTo>
                  <a:lnTo>
                    <a:pt x="3846813" y="204956"/>
                  </a:lnTo>
                  <a:lnTo>
                    <a:pt x="3853169" y="212116"/>
                  </a:lnTo>
                  <a:lnTo>
                    <a:pt x="3861493" y="216135"/>
                  </a:lnTo>
                  <a:lnTo>
                    <a:pt x="3870725" y="216735"/>
                  </a:lnTo>
                  <a:lnTo>
                    <a:pt x="3879802" y="213638"/>
                  </a:lnTo>
                  <a:lnTo>
                    <a:pt x="4018882" y="132503"/>
                  </a:lnTo>
                  <a:lnTo>
                    <a:pt x="4012377" y="132503"/>
                  </a:lnTo>
                  <a:lnTo>
                    <a:pt x="4012377" y="129204"/>
                  </a:lnTo>
                  <a:lnTo>
                    <a:pt x="4000231" y="129204"/>
                  </a:lnTo>
                  <a:lnTo>
                    <a:pt x="3964532" y="108376"/>
                  </a:lnTo>
                  <a:close/>
                </a:path>
                <a:path w="4060825" h="217170">
                  <a:moveTo>
                    <a:pt x="3923187" y="84254"/>
                  </a:moveTo>
                  <a:lnTo>
                    <a:pt x="0" y="84254"/>
                  </a:lnTo>
                  <a:lnTo>
                    <a:pt x="0" y="132503"/>
                  </a:lnTo>
                  <a:lnTo>
                    <a:pt x="3923147" y="132503"/>
                  </a:lnTo>
                  <a:lnTo>
                    <a:pt x="3964499" y="108376"/>
                  </a:lnTo>
                  <a:lnTo>
                    <a:pt x="3923187" y="84254"/>
                  </a:lnTo>
                  <a:close/>
                </a:path>
                <a:path w="4060825" h="217170">
                  <a:moveTo>
                    <a:pt x="4018899" y="84254"/>
                  </a:moveTo>
                  <a:lnTo>
                    <a:pt x="4012377" y="84254"/>
                  </a:lnTo>
                  <a:lnTo>
                    <a:pt x="4012377" y="132503"/>
                  </a:lnTo>
                  <a:lnTo>
                    <a:pt x="4018882" y="132503"/>
                  </a:lnTo>
                  <a:lnTo>
                    <a:pt x="4060240" y="108376"/>
                  </a:lnTo>
                  <a:lnTo>
                    <a:pt x="4018899" y="84254"/>
                  </a:lnTo>
                  <a:close/>
                </a:path>
                <a:path w="4060825" h="217170">
                  <a:moveTo>
                    <a:pt x="4000231" y="87527"/>
                  </a:moveTo>
                  <a:lnTo>
                    <a:pt x="3964532" y="108376"/>
                  </a:lnTo>
                  <a:lnTo>
                    <a:pt x="4000231" y="129204"/>
                  </a:lnTo>
                  <a:lnTo>
                    <a:pt x="4000231" y="87527"/>
                  </a:lnTo>
                  <a:close/>
                </a:path>
                <a:path w="4060825" h="217170">
                  <a:moveTo>
                    <a:pt x="4012377" y="87527"/>
                  </a:moveTo>
                  <a:lnTo>
                    <a:pt x="4000231" y="87527"/>
                  </a:lnTo>
                  <a:lnTo>
                    <a:pt x="4000231" y="129204"/>
                  </a:lnTo>
                  <a:lnTo>
                    <a:pt x="4012377" y="129204"/>
                  </a:lnTo>
                  <a:lnTo>
                    <a:pt x="4012377" y="87527"/>
                  </a:lnTo>
                  <a:close/>
                </a:path>
                <a:path w="4060825" h="217170">
                  <a:moveTo>
                    <a:pt x="3870725" y="0"/>
                  </a:moveTo>
                  <a:lnTo>
                    <a:pt x="3861493" y="605"/>
                  </a:lnTo>
                  <a:lnTo>
                    <a:pt x="3853169" y="4626"/>
                  </a:lnTo>
                  <a:lnTo>
                    <a:pt x="3846813" y="11780"/>
                  </a:lnTo>
                  <a:lnTo>
                    <a:pt x="3843706" y="20841"/>
                  </a:lnTo>
                  <a:lnTo>
                    <a:pt x="3844310" y="30068"/>
                  </a:lnTo>
                  <a:lnTo>
                    <a:pt x="3848340" y="38399"/>
                  </a:lnTo>
                  <a:lnTo>
                    <a:pt x="3855510" y="44770"/>
                  </a:lnTo>
                  <a:lnTo>
                    <a:pt x="3964532" y="108376"/>
                  </a:lnTo>
                  <a:lnTo>
                    <a:pt x="4000231" y="87527"/>
                  </a:lnTo>
                  <a:lnTo>
                    <a:pt x="4012377" y="87527"/>
                  </a:lnTo>
                  <a:lnTo>
                    <a:pt x="4012377" y="84254"/>
                  </a:lnTo>
                  <a:lnTo>
                    <a:pt x="4018899" y="84254"/>
                  </a:lnTo>
                  <a:lnTo>
                    <a:pt x="3879802" y="3093"/>
                  </a:lnTo>
                  <a:lnTo>
                    <a:pt x="3870725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pic>
          <p:nvPicPr>
            <p:cNvPr id="5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634" y="2763204"/>
              <a:ext cx="504361" cy="3340109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169452" y="2995297"/>
              <a:ext cx="217170" cy="3056255"/>
            </a:xfrm>
            <a:custGeom>
              <a:avLst/>
              <a:gdLst/>
              <a:ahLst/>
              <a:cxnLst/>
              <a:rect l="l" t="t" r="r" b="b"/>
              <a:pathLst>
                <a:path w="217169" h="3056254">
                  <a:moveTo>
                    <a:pt x="108366" y="95772"/>
                  </a:moveTo>
                  <a:lnTo>
                    <a:pt x="84231" y="137140"/>
                  </a:lnTo>
                  <a:lnTo>
                    <a:pt x="84231" y="3056082"/>
                  </a:lnTo>
                  <a:lnTo>
                    <a:pt x="132480" y="3056082"/>
                  </a:lnTo>
                  <a:lnTo>
                    <a:pt x="132480" y="137140"/>
                  </a:lnTo>
                  <a:lnTo>
                    <a:pt x="108366" y="95772"/>
                  </a:lnTo>
                  <a:close/>
                </a:path>
                <a:path w="217169" h="3056254">
                  <a:moveTo>
                    <a:pt x="108358" y="0"/>
                  </a:moveTo>
                  <a:lnTo>
                    <a:pt x="3096" y="180489"/>
                  </a:lnTo>
                  <a:lnTo>
                    <a:pt x="0" y="189544"/>
                  </a:lnTo>
                  <a:lnTo>
                    <a:pt x="599" y="198778"/>
                  </a:lnTo>
                  <a:lnTo>
                    <a:pt x="4618" y="207115"/>
                  </a:lnTo>
                  <a:lnTo>
                    <a:pt x="11778" y="213478"/>
                  </a:lnTo>
                  <a:lnTo>
                    <a:pt x="20840" y="216563"/>
                  </a:lnTo>
                  <a:lnTo>
                    <a:pt x="30068" y="215962"/>
                  </a:lnTo>
                  <a:lnTo>
                    <a:pt x="38399" y="211944"/>
                  </a:lnTo>
                  <a:lnTo>
                    <a:pt x="44768" y="204781"/>
                  </a:lnTo>
                  <a:lnTo>
                    <a:pt x="84231" y="137140"/>
                  </a:lnTo>
                  <a:lnTo>
                    <a:pt x="84231" y="47862"/>
                  </a:lnTo>
                  <a:lnTo>
                    <a:pt x="136278" y="47862"/>
                  </a:lnTo>
                  <a:lnTo>
                    <a:pt x="108358" y="0"/>
                  </a:lnTo>
                  <a:close/>
                </a:path>
                <a:path w="217169" h="3056254">
                  <a:moveTo>
                    <a:pt x="136278" y="47862"/>
                  </a:moveTo>
                  <a:lnTo>
                    <a:pt x="132480" y="47862"/>
                  </a:lnTo>
                  <a:lnTo>
                    <a:pt x="132501" y="137140"/>
                  </a:lnTo>
                  <a:lnTo>
                    <a:pt x="171965" y="204781"/>
                  </a:lnTo>
                  <a:lnTo>
                    <a:pt x="178336" y="211944"/>
                  </a:lnTo>
                  <a:lnTo>
                    <a:pt x="186666" y="215962"/>
                  </a:lnTo>
                  <a:lnTo>
                    <a:pt x="195893" y="216563"/>
                  </a:lnTo>
                  <a:lnTo>
                    <a:pt x="204954" y="213478"/>
                  </a:lnTo>
                  <a:lnTo>
                    <a:pt x="212116" y="207115"/>
                  </a:lnTo>
                  <a:lnTo>
                    <a:pt x="216135" y="198778"/>
                  </a:lnTo>
                  <a:lnTo>
                    <a:pt x="216736" y="189544"/>
                  </a:lnTo>
                  <a:lnTo>
                    <a:pt x="213641" y="180489"/>
                  </a:lnTo>
                  <a:lnTo>
                    <a:pt x="136278" y="47862"/>
                  </a:lnTo>
                  <a:close/>
                </a:path>
                <a:path w="217169" h="3056254">
                  <a:moveTo>
                    <a:pt x="132480" y="47862"/>
                  </a:moveTo>
                  <a:lnTo>
                    <a:pt x="84231" y="47862"/>
                  </a:lnTo>
                  <a:lnTo>
                    <a:pt x="84231" y="137140"/>
                  </a:lnTo>
                  <a:lnTo>
                    <a:pt x="108366" y="95772"/>
                  </a:lnTo>
                  <a:lnTo>
                    <a:pt x="87530" y="60060"/>
                  </a:lnTo>
                  <a:lnTo>
                    <a:pt x="132480" y="60060"/>
                  </a:lnTo>
                  <a:lnTo>
                    <a:pt x="132480" y="47862"/>
                  </a:lnTo>
                  <a:close/>
                </a:path>
                <a:path w="217169" h="3056254">
                  <a:moveTo>
                    <a:pt x="132480" y="60060"/>
                  </a:moveTo>
                  <a:lnTo>
                    <a:pt x="129202" y="60060"/>
                  </a:lnTo>
                  <a:lnTo>
                    <a:pt x="108366" y="95772"/>
                  </a:lnTo>
                  <a:lnTo>
                    <a:pt x="132501" y="137140"/>
                  </a:lnTo>
                  <a:lnTo>
                    <a:pt x="132480" y="60060"/>
                  </a:lnTo>
                  <a:close/>
                </a:path>
                <a:path w="217169" h="3056254">
                  <a:moveTo>
                    <a:pt x="129202" y="60060"/>
                  </a:moveTo>
                  <a:lnTo>
                    <a:pt x="87530" y="60060"/>
                  </a:lnTo>
                  <a:lnTo>
                    <a:pt x="108366" y="95772"/>
                  </a:lnTo>
                  <a:lnTo>
                    <a:pt x="129202" y="6006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</p:grpSp>
      <p:sp>
        <p:nvSpPr>
          <p:cNvPr id="7" name="object 8"/>
          <p:cNvSpPr txBox="1"/>
          <p:nvPr/>
        </p:nvSpPr>
        <p:spPr>
          <a:xfrm>
            <a:off x="3119789" y="5874067"/>
            <a:ext cx="132438" cy="223243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1430">
              <a:spcBef>
                <a:spcPts val="110"/>
              </a:spcBef>
            </a:pPr>
            <a:r>
              <a:rPr sz="1360" spc="50" dirty="0">
                <a:latin typeface="Arial" panose="020B0604020202020204"/>
                <a:cs typeface="Arial" panose="020B0604020202020204"/>
              </a:rPr>
              <a:t>0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3147881" y="5500715"/>
            <a:ext cx="104799" cy="223243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1430">
              <a:spcBef>
                <a:spcPts val="110"/>
              </a:spcBef>
            </a:pPr>
            <a:r>
              <a:rPr sz="1360" spc="-77" dirty="0">
                <a:latin typeface="Arial" panose="020B0604020202020204"/>
                <a:cs typeface="Arial" panose="020B0604020202020204"/>
              </a:rPr>
              <a:t>1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3130380" y="5132030"/>
            <a:ext cx="122074" cy="223243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1430">
              <a:spcBef>
                <a:spcPts val="110"/>
              </a:spcBef>
            </a:pPr>
            <a:r>
              <a:rPr sz="1360" spc="-45" dirty="0">
                <a:latin typeface="Arial" panose="020B0604020202020204"/>
                <a:cs typeface="Arial" panose="020B0604020202020204"/>
              </a:rPr>
              <a:t>2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1"/>
          <p:cNvSpPr txBox="1"/>
          <p:nvPr/>
        </p:nvSpPr>
        <p:spPr>
          <a:xfrm>
            <a:off x="3130927" y="4758678"/>
            <a:ext cx="121498" cy="223243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1430">
              <a:spcBef>
                <a:spcPts val="110"/>
              </a:spcBef>
            </a:pPr>
            <a:r>
              <a:rPr sz="1360" spc="-45" dirty="0">
                <a:latin typeface="Arial" panose="020B0604020202020204"/>
                <a:cs typeface="Arial" panose="020B0604020202020204"/>
              </a:rPr>
              <a:t>3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3119788" y="4385326"/>
            <a:ext cx="127832" cy="223243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1430">
              <a:spcBef>
                <a:spcPts val="110"/>
              </a:spcBef>
            </a:pPr>
            <a:r>
              <a:rPr sz="1360" spc="14" dirty="0">
                <a:latin typeface="Arial" panose="020B0604020202020204"/>
                <a:cs typeface="Arial" panose="020B0604020202020204"/>
              </a:rPr>
              <a:t>4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3"/>
          <p:cNvSpPr txBox="1"/>
          <p:nvPr/>
        </p:nvSpPr>
        <p:spPr>
          <a:xfrm>
            <a:off x="3099279" y="4016641"/>
            <a:ext cx="148561" cy="223243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1430">
              <a:spcBef>
                <a:spcPts val="110"/>
              </a:spcBef>
            </a:pPr>
            <a:r>
              <a:rPr sz="1360" spc="-426" dirty="0">
                <a:latin typeface="Arial" panose="020B0604020202020204"/>
                <a:cs typeface="Arial" panose="020B0604020202020204"/>
              </a:rPr>
              <a:t>…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4"/>
          <p:cNvGrpSpPr/>
          <p:nvPr/>
        </p:nvGrpSpPr>
        <p:grpSpPr>
          <a:xfrm>
            <a:off x="3267370" y="3867150"/>
            <a:ext cx="3845893" cy="2375828"/>
            <a:chOff x="2227349" y="3391082"/>
            <a:chExt cx="4241165" cy="2620010"/>
          </a:xfrm>
        </p:grpSpPr>
        <p:pic>
          <p:nvPicPr>
            <p:cNvPr id="18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7760" y="5781966"/>
              <a:ext cx="206616" cy="206637"/>
            </a:xfrm>
            <a:prstGeom prst="rect">
              <a:avLst/>
            </a:prstGeom>
          </p:spPr>
        </p:pic>
        <p:pic>
          <p:nvPicPr>
            <p:cNvPr id="20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7349" y="3391082"/>
              <a:ext cx="4240755" cy="2619592"/>
            </a:xfrm>
            <a:prstGeom prst="rect">
              <a:avLst/>
            </a:prstGeom>
          </p:spPr>
        </p:pic>
        <p:sp>
          <p:nvSpPr>
            <p:cNvPr id="21" name="object 17"/>
            <p:cNvSpPr/>
            <p:nvPr/>
          </p:nvSpPr>
          <p:spPr>
            <a:xfrm>
              <a:off x="2277811" y="3441143"/>
              <a:ext cx="4124325" cy="2484120"/>
            </a:xfrm>
            <a:custGeom>
              <a:avLst/>
              <a:gdLst/>
              <a:ahLst/>
              <a:cxnLst/>
              <a:rect l="l" t="t" r="r" b="b"/>
              <a:pathLst>
                <a:path w="4124325" h="2484120">
                  <a:moveTo>
                    <a:pt x="0" y="2484068"/>
                  </a:moveTo>
                  <a:lnTo>
                    <a:pt x="4124263" y="0"/>
                  </a:lnTo>
                </a:path>
              </a:pathLst>
            </a:custGeom>
            <a:ln w="64331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19"/>
              <p:cNvSpPr txBox="1"/>
              <p:nvPr/>
            </p:nvSpPr>
            <p:spPr>
              <a:xfrm>
                <a:off x="5728223" y="5592349"/>
                <a:ext cx="2198303" cy="448331"/>
              </a:xfrm>
              <a:prstGeom prst="rect">
                <a:avLst/>
              </a:prstGeom>
              <a:solidFill>
                <a:srgbClr val="118CC4"/>
              </a:solidFill>
              <a:ln w="21443">
                <a:solidFill>
                  <a:srgbClr val="09658F"/>
                </a:solidFill>
              </a:ln>
            </p:spPr>
            <p:txBody>
              <a:bodyPr vert="horz" wrap="square" lIns="0" tIns="17275" rIns="0" bIns="0" rtlCol="0">
                <a:spAutoFit/>
              </a:bodyPr>
              <a:lstStyle/>
              <a:p>
                <a:pPr marL="69850">
                  <a:spcBef>
                    <a:spcPts val="11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sz="28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core</m:t>
                      </m:r>
                      <m:d>
                        <m:dPr>
                          <m:ctrlPr>
                            <a:rPr lang="ar-AE" altLang="zh-CN" sz="2800" b="0" i="1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ar-AE" altLang="zh-CN" sz="2800" b="1" i="1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&gt;</m:t>
                      </m:r>
                      <m:r>
                        <a:rPr lang="ar-AE" altLang="zh-CN" sz="2800" b="0" i="1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</m:oMath>
                  </m:oMathPara>
                </a14:m>
                <a:endParaRPr lang="ar-AE" sz="3200" dirty="0">
                  <a:solidFill>
                    <a:schemeClr val="bg1"/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2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223" y="5592349"/>
                <a:ext cx="2198303" cy="448331"/>
              </a:xfrm>
              <a:prstGeom prst="rect">
                <a:avLst/>
              </a:prstGeom>
              <a:blipFill rotWithShape="1">
                <a:blip r:embed="rId5"/>
                <a:stretch>
                  <a:fillRect l="-515" t="-2528" r="-470" b="-2283"/>
                </a:stretch>
              </a:blipFill>
              <a:ln w="21443">
                <a:solidFill>
                  <a:srgbClr val="09658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object 20"/>
          <p:cNvGrpSpPr/>
          <p:nvPr/>
        </p:nvGrpSpPr>
        <p:grpSpPr>
          <a:xfrm>
            <a:off x="3236170" y="4103440"/>
            <a:ext cx="2932069" cy="1731487"/>
            <a:chOff x="2192943" y="3651656"/>
            <a:chExt cx="3233420" cy="1909445"/>
          </a:xfrm>
        </p:grpSpPr>
        <p:pic>
          <p:nvPicPr>
            <p:cNvPr id="25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41593" y="4434754"/>
              <a:ext cx="206616" cy="206637"/>
            </a:xfrm>
            <a:prstGeom prst="rect">
              <a:avLst/>
            </a:prstGeom>
          </p:spPr>
        </p:pic>
        <p:pic>
          <p:nvPicPr>
            <p:cNvPr id="26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44218" y="3664944"/>
              <a:ext cx="206616" cy="206616"/>
            </a:xfrm>
            <a:prstGeom prst="rect">
              <a:avLst/>
            </a:prstGeom>
          </p:spPr>
        </p:pic>
        <p:pic>
          <p:nvPicPr>
            <p:cNvPr id="27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2943" y="3651656"/>
              <a:ext cx="206642" cy="206616"/>
            </a:xfrm>
            <a:prstGeom prst="rect">
              <a:avLst/>
            </a:prstGeom>
          </p:spPr>
        </p:pic>
        <p:pic>
          <p:nvPicPr>
            <p:cNvPr id="28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37468" y="3890389"/>
              <a:ext cx="206621" cy="206637"/>
            </a:xfrm>
            <a:prstGeom prst="rect">
              <a:avLst/>
            </a:prstGeom>
          </p:spPr>
        </p:pic>
        <p:pic>
          <p:nvPicPr>
            <p:cNvPr id="29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57493" y="4434554"/>
              <a:ext cx="206616" cy="206616"/>
            </a:xfrm>
            <a:prstGeom prst="rect">
              <a:avLst/>
            </a:prstGeom>
          </p:spPr>
        </p:pic>
        <p:sp>
          <p:nvSpPr>
            <p:cNvPr id="30" name="object 26"/>
            <p:cNvSpPr/>
            <p:nvPr/>
          </p:nvSpPr>
          <p:spPr>
            <a:xfrm>
              <a:off x="3457914" y="5316751"/>
              <a:ext cx="185420" cy="185420"/>
            </a:xfrm>
            <a:custGeom>
              <a:avLst/>
              <a:gdLst/>
              <a:ahLst/>
              <a:cxnLst/>
              <a:rect l="l" t="t" r="r" b="b"/>
              <a:pathLst>
                <a:path w="185420" h="185420">
                  <a:moveTo>
                    <a:pt x="92581" y="0"/>
                  </a:moveTo>
                  <a:lnTo>
                    <a:pt x="56546" y="7276"/>
                  </a:lnTo>
                  <a:lnTo>
                    <a:pt x="27118" y="27120"/>
                  </a:lnTo>
                  <a:lnTo>
                    <a:pt x="7276" y="56553"/>
                  </a:lnTo>
                  <a:lnTo>
                    <a:pt x="0" y="92596"/>
                  </a:lnTo>
                  <a:lnTo>
                    <a:pt x="7276" y="128633"/>
                  </a:lnTo>
                  <a:lnTo>
                    <a:pt x="27118" y="158067"/>
                  </a:lnTo>
                  <a:lnTo>
                    <a:pt x="56546" y="177914"/>
                  </a:lnTo>
                  <a:lnTo>
                    <a:pt x="92581" y="185193"/>
                  </a:lnTo>
                  <a:lnTo>
                    <a:pt x="128624" y="177914"/>
                  </a:lnTo>
                  <a:lnTo>
                    <a:pt x="158057" y="158067"/>
                  </a:lnTo>
                  <a:lnTo>
                    <a:pt x="177901" y="128633"/>
                  </a:lnTo>
                  <a:lnTo>
                    <a:pt x="185177" y="92596"/>
                  </a:lnTo>
                  <a:lnTo>
                    <a:pt x="177901" y="56553"/>
                  </a:lnTo>
                  <a:lnTo>
                    <a:pt x="158057" y="27120"/>
                  </a:lnTo>
                  <a:lnTo>
                    <a:pt x="128624" y="7276"/>
                  </a:lnTo>
                  <a:lnTo>
                    <a:pt x="92581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31" name="object 27"/>
            <p:cNvSpPr/>
            <p:nvPr/>
          </p:nvSpPr>
          <p:spPr>
            <a:xfrm>
              <a:off x="3457914" y="5316751"/>
              <a:ext cx="185420" cy="185420"/>
            </a:xfrm>
            <a:custGeom>
              <a:avLst/>
              <a:gdLst/>
              <a:ahLst/>
              <a:cxnLst/>
              <a:rect l="l" t="t" r="r" b="b"/>
              <a:pathLst>
                <a:path w="185420" h="185420">
                  <a:moveTo>
                    <a:pt x="0" y="92596"/>
                  </a:moveTo>
                  <a:lnTo>
                    <a:pt x="7276" y="56553"/>
                  </a:lnTo>
                  <a:lnTo>
                    <a:pt x="27118" y="27120"/>
                  </a:lnTo>
                  <a:lnTo>
                    <a:pt x="56546" y="7276"/>
                  </a:lnTo>
                  <a:lnTo>
                    <a:pt x="92581" y="0"/>
                  </a:lnTo>
                  <a:lnTo>
                    <a:pt x="128624" y="7276"/>
                  </a:lnTo>
                  <a:lnTo>
                    <a:pt x="158057" y="27120"/>
                  </a:lnTo>
                  <a:lnTo>
                    <a:pt x="177901" y="56553"/>
                  </a:lnTo>
                  <a:lnTo>
                    <a:pt x="185177" y="92596"/>
                  </a:lnTo>
                  <a:lnTo>
                    <a:pt x="177901" y="128633"/>
                  </a:lnTo>
                  <a:lnTo>
                    <a:pt x="158057" y="158067"/>
                  </a:lnTo>
                  <a:lnTo>
                    <a:pt x="128624" y="177914"/>
                  </a:lnTo>
                  <a:lnTo>
                    <a:pt x="92581" y="185193"/>
                  </a:lnTo>
                  <a:lnTo>
                    <a:pt x="56546" y="177914"/>
                  </a:lnTo>
                  <a:lnTo>
                    <a:pt x="27118" y="158067"/>
                  </a:lnTo>
                  <a:lnTo>
                    <a:pt x="7276" y="128633"/>
                  </a:lnTo>
                  <a:lnTo>
                    <a:pt x="0" y="92596"/>
                  </a:lnTo>
                  <a:close/>
                </a:path>
              </a:pathLst>
            </a:custGeom>
            <a:ln w="21443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pic>
          <p:nvPicPr>
            <p:cNvPr id="32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15642" y="5306029"/>
              <a:ext cx="206668" cy="206637"/>
            </a:xfrm>
            <a:prstGeom prst="rect">
              <a:avLst/>
            </a:prstGeom>
          </p:spPr>
        </p:pic>
        <p:pic>
          <p:nvPicPr>
            <p:cNvPr id="33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67246" y="4895751"/>
              <a:ext cx="206616" cy="206642"/>
            </a:xfrm>
            <a:prstGeom prst="rect">
              <a:avLst/>
            </a:prstGeom>
          </p:spPr>
        </p:pic>
        <p:pic>
          <p:nvPicPr>
            <p:cNvPr id="35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15642" y="4895751"/>
              <a:ext cx="206668" cy="206642"/>
            </a:xfrm>
            <a:prstGeom prst="rect">
              <a:avLst/>
            </a:prstGeom>
          </p:spPr>
        </p:pic>
        <p:sp>
          <p:nvSpPr>
            <p:cNvPr id="36" name="object 31"/>
            <p:cNvSpPr/>
            <p:nvPr/>
          </p:nvSpPr>
          <p:spPr>
            <a:xfrm>
              <a:off x="3412985" y="5258054"/>
              <a:ext cx="281305" cy="292100"/>
            </a:xfrm>
            <a:custGeom>
              <a:avLst/>
              <a:gdLst/>
              <a:ahLst/>
              <a:cxnLst/>
              <a:rect l="l" t="t" r="r" b="b"/>
              <a:pathLst>
                <a:path w="281304" h="292100">
                  <a:moveTo>
                    <a:pt x="280809" y="113030"/>
                  </a:moveTo>
                  <a:lnTo>
                    <a:pt x="166725" y="113030"/>
                  </a:lnTo>
                  <a:lnTo>
                    <a:pt x="166725" y="0"/>
                  </a:lnTo>
                  <a:lnTo>
                    <a:pt x="114084" y="0"/>
                  </a:lnTo>
                  <a:lnTo>
                    <a:pt x="114084" y="113030"/>
                  </a:lnTo>
                  <a:lnTo>
                    <a:pt x="0" y="113030"/>
                  </a:lnTo>
                  <a:lnTo>
                    <a:pt x="0" y="177800"/>
                  </a:lnTo>
                  <a:lnTo>
                    <a:pt x="114084" y="177800"/>
                  </a:lnTo>
                  <a:lnTo>
                    <a:pt x="114084" y="292100"/>
                  </a:lnTo>
                  <a:lnTo>
                    <a:pt x="166725" y="292100"/>
                  </a:lnTo>
                  <a:lnTo>
                    <a:pt x="166725" y="177800"/>
                  </a:lnTo>
                  <a:lnTo>
                    <a:pt x="280809" y="177800"/>
                  </a:lnTo>
                  <a:lnTo>
                    <a:pt x="280809" y="11303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37" name="object 32"/>
            <p:cNvSpPr/>
            <p:nvPr/>
          </p:nvSpPr>
          <p:spPr>
            <a:xfrm>
              <a:off x="3412985" y="5257447"/>
              <a:ext cx="281305" cy="292735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88"/>
                  </a:moveTo>
                  <a:lnTo>
                    <a:pt x="114088" y="114088"/>
                  </a:lnTo>
                  <a:lnTo>
                    <a:pt x="114088" y="0"/>
                  </a:lnTo>
                  <a:lnTo>
                    <a:pt x="166737" y="0"/>
                  </a:lnTo>
                  <a:lnTo>
                    <a:pt x="166737" y="114088"/>
                  </a:lnTo>
                  <a:lnTo>
                    <a:pt x="280811" y="114088"/>
                  </a:lnTo>
                  <a:lnTo>
                    <a:pt x="280811" y="178338"/>
                  </a:lnTo>
                  <a:lnTo>
                    <a:pt x="166737" y="178338"/>
                  </a:lnTo>
                  <a:lnTo>
                    <a:pt x="166737" y="292406"/>
                  </a:lnTo>
                  <a:lnTo>
                    <a:pt x="114088" y="292406"/>
                  </a:lnTo>
                  <a:lnTo>
                    <a:pt x="114088" y="178338"/>
                  </a:lnTo>
                  <a:lnTo>
                    <a:pt x="0" y="178338"/>
                  </a:lnTo>
                  <a:lnTo>
                    <a:pt x="0" y="11408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38" name="object 33"/>
            <p:cNvSpPr/>
            <p:nvPr/>
          </p:nvSpPr>
          <p:spPr>
            <a:xfrm>
              <a:off x="5134572" y="4849114"/>
              <a:ext cx="281305" cy="292100"/>
            </a:xfrm>
            <a:custGeom>
              <a:avLst/>
              <a:gdLst/>
              <a:ahLst/>
              <a:cxnLst/>
              <a:rect l="l" t="t" r="r" b="b"/>
              <a:pathLst>
                <a:path w="281304" h="292100">
                  <a:moveTo>
                    <a:pt x="280797" y="114300"/>
                  </a:moveTo>
                  <a:lnTo>
                    <a:pt x="166751" y="114300"/>
                  </a:lnTo>
                  <a:lnTo>
                    <a:pt x="166751" y="0"/>
                  </a:lnTo>
                  <a:lnTo>
                    <a:pt x="114109" y="0"/>
                  </a:lnTo>
                  <a:lnTo>
                    <a:pt x="114109" y="114300"/>
                  </a:lnTo>
                  <a:lnTo>
                    <a:pt x="0" y="114300"/>
                  </a:lnTo>
                  <a:lnTo>
                    <a:pt x="0" y="179070"/>
                  </a:lnTo>
                  <a:lnTo>
                    <a:pt x="114109" y="179070"/>
                  </a:lnTo>
                  <a:lnTo>
                    <a:pt x="114109" y="292100"/>
                  </a:lnTo>
                  <a:lnTo>
                    <a:pt x="166751" y="292100"/>
                  </a:lnTo>
                  <a:lnTo>
                    <a:pt x="166751" y="179070"/>
                  </a:lnTo>
                  <a:lnTo>
                    <a:pt x="280797" y="179070"/>
                  </a:lnTo>
                  <a:lnTo>
                    <a:pt x="280797" y="11430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39" name="object 34"/>
            <p:cNvSpPr/>
            <p:nvPr/>
          </p:nvSpPr>
          <p:spPr>
            <a:xfrm>
              <a:off x="5134583" y="4849321"/>
              <a:ext cx="281305" cy="292735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68"/>
                  </a:moveTo>
                  <a:lnTo>
                    <a:pt x="114098" y="114068"/>
                  </a:lnTo>
                  <a:lnTo>
                    <a:pt x="114098" y="0"/>
                  </a:lnTo>
                  <a:lnTo>
                    <a:pt x="166748" y="0"/>
                  </a:lnTo>
                  <a:lnTo>
                    <a:pt x="166748" y="114068"/>
                  </a:lnTo>
                  <a:lnTo>
                    <a:pt x="280795" y="114068"/>
                  </a:lnTo>
                  <a:lnTo>
                    <a:pt x="280795" y="178317"/>
                  </a:lnTo>
                  <a:lnTo>
                    <a:pt x="166748" y="178317"/>
                  </a:lnTo>
                  <a:lnTo>
                    <a:pt x="166748" y="292406"/>
                  </a:lnTo>
                  <a:lnTo>
                    <a:pt x="114098" y="292406"/>
                  </a:lnTo>
                  <a:lnTo>
                    <a:pt x="114098" y="178317"/>
                  </a:lnTo>
                  <a:lnTo>
                    <a:pt x="0" y="178317"/>
                  </a:lnTo>
                  <a:lnTo>
                    <a:pt x="0" y="11406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40" name="object 35"/>
            <p:cNvSpPr/>
            <p:nvPr/>
          </p:nvSpPr>
          <p:spPr>
            <a:xfrm>
              <a:off x="4483595" y="4861814"/>
              <a:ext cx="281305" cy="292100"/>
            </a:xfrm>
            <a:custGeom>
              <a:avLst/>
              <a:gdLst/>
              <a:ahLst/>
              <a:cxnLst/>
              <a:rect l="l" t="t" r="r" b="b"/>
              <a:pathLst>
                <a:path w="281304" h="292100">
                  <a:moveTo>
                    <a:pt x="280784" y="114300"/>
                  </a:moveTo>
                  <a:lnTo>
                    <a:pt x="166687" y="114300"/>
                  </a:lnTo>
                  <a:lnTo>
                    <a:pt x="166687" y="0"/>
                  </a:lnTo>
                  <a:lnTo>
                    <a:pt x="114046" y="0"/>
                  </a:lnTo>
                  <a:lnTo>
                    <a:pt x="114046" y="114300"/>
                  </a:lnTo>
                  <a:lnTo>
                    <a:pt x="0" y="114300"/>
                  </a:lnTo>
                  <a:lnTo>
                    <a:pt x="0" y="177800"/>
                  </a:lnTo>
                  <a:lnTo>
                    <a:pt x="114046" y="177800"/>
                  </a:lnTo>
                  <a:lnTo>
                    <a:pt x="114046" y="292100"/>
                  </a:lnTo>
                  <a:lnTo>
                    <a:pt x="166687" y="292100"/>
                  </a:lnTo>
                  <a:lnTo>
                    <a:pt x="166687" y="177800"/>
                  </a:lnTo>
                  <a:lnTo>
                    <a:pt x="280784" y="177800"/>
                  </a:lnTo>
                  <a:lnTo>
                    <a:pt x="280784" y="11430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41" name="object 36"/>
            <p:cNvSpPr/>
            <p:nvPr/>
          </p:nvSpPr>
          <p:spPr>
            <a:xfrm>
              <a:off x="4483596" y="4861585"/>
              <a:ext cx="281305" cy="292735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68"/>
                  </a:moveTo>
                  <a:lnTo>
                    <a:pt x="114047" y="114068"/>
                  </a:lnTo>
                  <a:lnTo>
                    <a:pt x="114047" y="0"/>
                  </a:lnTo>
                  <a:lnTo>
                    <a:pt x="166696" y="0"/>
                  </a:lnTo>
                  <a:lnTo>
                    <a:pt x="166696" y="114068"/>
                  </a:lnTo>
                  <a:lnTo>
                    <a:pt x="280795" y="114068"/>
                  </a:lnTo>
                  <a:lnTo>
                    <a:pt x="280795" y="178317"/>
                  </a:lnTo>
                  <a:lnTo>
                    <a:pt x="166696" y="178317"/>
                  </a:lnTo>
                  <a:lnTo>
                    <a:pt x="166696" y="292406"/>
                  </a:lnTo>
                  <a:lnTo>
                    <a:pt x="114047" y="292406"/>
                  </a:lnTo>
                  <a:lnTo>
                    <a:pt x="114047" y="178317"/>
                  </a:lnTo>
                  <a:lnTo>
                    <a:pt x="0" y="178317"/>
                  </a:lnTo>
                  <a:lnTo>
                    <a:pt x="0" y="11406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42" name="object 37"/>
            <p:cNvSpPr/>
            <p:nvPr/>
          </p:nvSpPr>
          <p:spPr>
            <a:xfrm>
              <a:off x="4471543" y="5258054"/>
              <a:ext cx="281305" cy="292100"/>
            </a:xfrm>
            <a:custGeom>
              <a:avLst/>
              <a:gdLst/>
              <a:ahLst/>
              <a:cxnLst/>
              <a:rect l="l" t="t" r="r" b="b"/>
              <a:pathLst>
                <a:path w="281304" h="292100">
                  <a:moveTo>
                    <a:pt x="280797" y="113030"/>
                  </a:moveTo>
                  <a:lnTo>
                    <a:pt x="166700" y="113030"/>
                  </a:lnTo>
                  <a:lnTo>
                    <a:pt x="166700" y="0"/>
                  </a:lnTo>
                  <a:lnTo>
                    <a:pt x="114046" y="0"/>
                  </a:lnTo>
                  <a:lnTo>
                    <a:pt x="114046" y="113030"/>
                  </a:lnTo>
                  <a:lnTo>
                    <a:pt x="0" y="113030"/>
                  </a:lnTo>
                  <a:lnTo>
                    <a:pt x="0" y="177800"/>
                  </a:lnTo>
                  <a:lnTo>
                    <a:pt x="114046" y="177800"/>
                  </a:lnTo>
                  <a:lnTo>
                    <a:pt x="114046" y="292100"/>
                  </a:lnTo>
                  <a:lnTo>
                    <a:pt x="166700" y="292100"/>
                  </a:lnTo>
                  <a:lnTo>
                    <a:pt x="166700" y="177800"/>
                  </a:lnTo>
                  <a:lnTo>
                    <a:pt x="280797" y="177800"/>
                  </a:lnTo>
                  <a:lnTo>
                    <a:pt x="280797" y="11303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43" name="object 38"/>
            <p:cNvSpPr/>
            <p:nvPr/>
          </p:nvSpPr>
          <p:spPr>
            <a:xfrm>
              <a:off x="4471553" y="5257447"/>
              <a:ext cx="281305" cy="292735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88"/>
                  </a:moveTo>
                  <a:lnTo>
                    <a:pt x="114047" y="114088"/>
                  </a:lnTo>
                  <a:lnTo>
                    <a:pt x="114047" y="0"/>
                  </a:lnTo>
                  <a:lnTo>
                    <a:pt x="166696" y="0"/>
                  </a:lnTo>
                  <a:lnTo>
                    <a:pt x="166696" y="114088"/>
                  </a:lnTo>
                  <a:lnTo>
                    <a:pt x="280795" y="114088"/>
                  </a:lnTo>
                  <a:lnTo>
                    <a:pt x="280795" y="178338"/>
                  </a:lnTo>
                  <a:lnTo>
                    <a:pt x="166696" y="178338"/>
                  </a:lnTo>
                  <a:lnTo>
                    <a:pt x="166696" y="292406"/>
                  </a:lnTo>
                  <a:lnTo>
                    <a:pt x="114047" y="292406"/>
                  </a:lnTo>
                  <a:lnTo>
                    <a:pt x="114047" y="178338"/>
                  </a:lnTo>
                  <a:lnTo>
                    <a:pt x="0" y="178338"/>
                  </a:lnTo>
                  <a:lnTo>
                    <a:pt x="0" y="11408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object 39"/>
              <p:cNvSpPr txBox="1"/>
              <p:nvPr/>
            </p:nvSpPr>
            <p:spPr>
              <a:xfrm>
                <a:off x="3529920" y="3560043"/>
                <a:ext cx="2198303" cy="445423"/>
              </a:xfrm>
              <a:prstGeom prst="rect">
                <a:avLst/>
              </a:prstGeom>
              <a:solidFill>
                <a:srgbClr val="FC5507"/>
              </a:solidFill>
              <a:ln w="21443">
                <a:solidFill>
                  <a:srgbClr val="B93C03"/>
                </a:solidFill>
              </a:ln>
            </p:spPr>
            <p:txBody>
              <a:bodyPr vert="horz" wrap="square" lIns="0" tIns="14395" rIns="0" bIns="0" rtlCol="0">
                <a:spAutoFit/>
              </a:bodyPr>
              <a:lstStyle/>
              <a:p>
                <a:pPr marL="69850">
                  <a:spcBef>
                    <a:spcPts val="11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sz="28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core</m:t>
                      </m:r>
                      <m:d>
                        <m:dPr>
                          <m:ctrlPr>
                            <a:rPr lang="ar-AE" altLang="zh-CN" sz="2800" b="0" i="1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ar-AE" altLang="zh-CN" sz="2800" b="1" i="1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  <m:r>
                        <a:rPr lang="ar-AE" altLang="zh-CN" sz="2800" b="0" i="1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&lt;</m:t>
                      </m:r>
                      <m:r>
                        <a:rPr lang="ar-AE" altLang="zh-CN" sz="2800" b="0" i="1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</m:oMath>
                  </m:oMathPara>
                </a14:m>
                <a:endParaRPr lang="ar-AE" sz="2800" dirty="0">
                  <a:solidFill>
                    <a:schemeClr val="bg1"/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44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920" y="3560043"/>
                <a:ext cx="2198303" cy="445423"/>
              </a:xfrm>
              <a:prstGeom prst="rect">
                <a:avLst/>
              </a:prstGeom>
              <a:blipFill rotWithShape="1">
                <a:blip r:embed="rId14"/>
                <a:stretch>
                  <a:fillRect l="-489" t="-2476" r="-467" b="-2307"/>
                </a:stretch>
              </a:blipFill>
              <a:ln w="21443">
                <a:solidFill>
                  <a:srgbClr val="B93C03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object 40"/>
          <p:cNvGrpSpPr/>
          <p:nvPr/>
        </p:nvGrpSpPr>
        <p:grpSpPr>
          <a:xfrm>
            <a:off x="3205636" y="4152990"/>
            <a:ext cx="1931872" cy="2105769"/>
            <a:chOff x="2159271" y="3706299"/>
            <a:chExt cx="2130425" cy="2322195"/>
          </a:xfrm>
        </p:grpSpPr>
        <p:sp>
          <p:nvSpPr>
            <p:cNvPr id="46" name="object 41"/>
            <p:cNvSpPr/>
            <p:nvPr/>
          </p:nvSpPr>
          <p:spPr>
            <a:xfrm>
              <a:off x="2812506" y="4493664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3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35" y="101463"/>
                  </a:lnTo>
                  <a:lnTo>
                    <a:pt x="26663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47" name="object 42"/>
            <p:cNvSpPr/>
            <p:nvPr/>
          </p:nvSpPr>
          <p:spPr>
            <a:xfrm>
              <a:off x="2812506" y="4493664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35" y="101463"/>
                  </a:lnTo>
                  <a:lnTo>
                    <a:pt x="26663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48" name="object 43"/>
            <p:cNvSpPr/>
            <p:nvPr/>
          </p:nvSpPr>
          <p:spPr>
            <a:xfrm>
              <a:off x="2163398" y="3710427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35" y="0"/>
                  </a:moveTo>
                  <a:lnTo>
                    <a:pt x="0" y="0"/>
                  </a:lnTo>
                  <a:lnTo>
                    <a:pt x="0" y="101483"/>
                  </a:lnTo>
                  <a:lnTo>
                    <a:pt x="266635" y="101483"/>
                  </a:lnTo>
                  <a:lnTo>
                    <a:pt x="26663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49" name="object 44"/>
            <p:cNvSpPr/>
            <p:nvPr/>
          </p:nvSpPr>
          <p:spPr>
            <a:xfrm>
              <a:off x="2163398" y="3710427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83"/>
                  </a:moveTo>
                  <a:lnTo>
                    <a:pt x="266635" y="101483"/>
                  </a:lnTo>
                  <a:lnTo>
                    <a:pt x="266635" y="0"/>
                  </a:lnTo>
                  <a:lnTo>
                    <a:pt x="0" y="0"/>
                  </a:lnTo>
                  <a:lnTo>
                    <a:pt x="0" y="10148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50" name="object 45"/>
            <p:cNvSpPr/>
            <p:nvPr/>
          </p:nvSpPr>
          <p:spPr>
            <a:xfrm>
              <a:off x="4018811" y="3722485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5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55" y="101463"/>
                  </a:lnTo>
                  <a:lnTo>
                    <a:pt x="26665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51" name="object 46"/>
            <p:cNvSpPr/>
            <p:nvPr/>
          </p:nvSpPr>
          <p:spPr>
            <a:xfrm>
              <a:off x="4018811" y="3722485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55" y="101463"/>
                  </a:lnTo>
                  <a:lnTo>
                    <a:pt x="26665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52" name="object 47"/>
            <p:cNvSpPr/>
            <p:nvPr/>
          </p:nvSpPr>
          <p:spPr>
            <a:xfrm>
              <a:off x="3291177" y="3941857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3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35" y="101463"/>
                  </a:lnTo>
                  <a:lnTo>
                    <a:pt x="26663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53" name="object 48"/>
            <p:cNvSpPr/>
            <p:nvPr/>
          </p:nvSpPr>
          <p:spPr>
            <a:xfrm>
              <a:off x="3291177" y="3941857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35" y="101463"/>
                  </a:lnTo>
                  <a:lnTo>
                    <a:pt x="26663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54" name="object 49"/>
            <p:cNvSpPr/>
            <p:nvPr/>
          </p:nvSpPr>
          <p:spPr>
            <a:xfrm>
              <a:off x="3327161" y="4492923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3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35" y="101463"/>
                  </a:lnTo>
                  <a:lnTo>
                    <a:pt x="26663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55" name="object 50"/>
            <p:cNvSpPr/>
            <p:nvPr/>
          </p:nvSpPr>
          <p:spPr>
            <a:xfrm>
              <a:off x="3327161" y="4492923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35" y="101463"/>
                  </a:lnTo>
                  <a:lnTo>
                    <a:pt x="26663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56" name="object 51"/>
            <p:cNvSpPr/>
            <p:nvPr/>
          </p:nvSpPr>
          <p:spPr>
            <a:xfrm>
              <a:off x="3966768" y="5724144"/>
              <a:ext cx="281305" cy="293370"/>
            </a:xfrm>
            <a:custGeom>
              <a:avLst/>
              <a:gdLst/>
              <a:ahLst/>
              <a:cxnLst/>
              <a:rect l="l" t="t" r="r" b="b"/>
              <a:pathLst>
                <a:path w="281304" h="293370">
                  <a:moveTo>
                    <a:pt x="280797" y="114300"/>
                  </a:moveTo>
                  <a:lnTo>
                    <a:pt x="166751" y="114300"/>
                  </a:lnTo>
                  <a:lnTo>
                    <a:pt x="166751" y="0"/>
                  </a:lnTo>
                  <a:lnTo>
                    <a:pt x="114046" y="0"/>
                  </a:lnTo>
                  <a:lnTo>
                    <a:pt x="114046" y="114300"/>
                  </a:lnTo>
                  <a:lnTo>
                    <a:pt x="0" y="114300"/>
                  </a:lnTo>
                  <a:lnTo>
                    <a:pt x="0" y="179070"/>
                  </a:lnTo>
                  <a:lnTo>
                    <a:pt x="114046" y="179070"/>
                  </a:lnTo>
                  <a:lnTo>
                    <a:pt x="114046" y="293370"/>
                  </a:lnTo>
                  <a:lnTo>
                    <a:pt x="166751" y="293370"/>
                  </a:lnTo>
                  <a:lnTo>
                    <a:pt x="166751" y="179070"/>
                  </a:lnTo>
                  <a:lnTo>
                    <a:pt x="280797" y="179070"/>
                  </a:lnTo>
                  <a:lnTo>
                    <a:pt x="280797" y="11430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57" name="object 52"/>
            <p:cNvSpPr/>
            <p:nvPr/>
          </p:nvSpPr>
          <p:spPr>
            <a:xfrm>
              <a:off x="3966779" y="5724718"/>
              <a:ext cx="281305" cy="292735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68"/>
                  </a:moveTo>
                  <a:lnTo>
                    <a:pt x="114047" y="114068"/>
                  </a:lnTo>
                  <a:lnTo>
                    <a:pt x="114047" y="0"/>
                  </a:lnTo>
                  <a:lnTo>
                    <a:pt x="166748" y="0"/>
                  </a:lnTo>
                  <a:lnTo>
                    <a:pt x="166748" y="114068"/>
                  </a:lnTo>
                  <a:lnTo>
                    <a:pt x="280795" y="114068"/>
                  </a:lnTo>
                  <a:lnTo>
                    <a:pt x="280795" y="178338"/>
                  </a:lnTo>
                  <a:lnTo>
                    <a:pt x="166748" y="178338"/>
                  </a:lnTo>
                  <a:lnTo>
                    <a:pt x="166748" y="292406"/>
                  </a:lnTo>
                  <a:lnTo>
                    <a:pt x="114047" y="292406"/>
                  </a:lnTo>
                  <a:lnTo>
                    <a:pt x="114047" y="178338"/>
                  </a:lnTo>
                  <a:lnTo>
                    <a:pt x="0" y="178338"/>
                  </a:lnTo>
                  <a:lnTo>
                    <a:pt x="0" y="11406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347126" y="3799876"/>
            <a:ext cx="4354357" cy="797350"/>
          </a:xfrm>
          <a:prstGeom prst="rect">
            <a:avLst/>
          </a:prstGeom>
        </p:spPr>
        <p:txBody>
          <a:bodyPr vert="horz" wrap="square" lIns="0" tIns="27639" rIns="0" bIns="0" rtlCol="0">
            <a:spAutoFit/>
          </a:bodyPr>
          <a:lstStyle/>
          <a:p>
            <a:pPr marL="11430" marR="4445">
              <a:lnSpc>
                <a:spcPts val="2900"/>
              </a:lnSpc>
              <a:spcBef>
                <a:spcPts val="22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决策边界：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1430" marR="4445">
              <a:lnSpc>
                <a:spcPts val="2900"/>
              </a:lnSpc>
              <a:spcBef>
                <a:spcPts val="22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将</a:t>
            </a:r>
            <a:r>
              <a:rPr lang="zh-CN" altLang="en-US" sz="2800" b="1" dirty="0">
                <a:solidFill>
                  <a:srgbClr val="009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altLang="zh-CN" sz="2800" b="1" dirty="0">
                <a:solidFill>
                  <a:srgbClr val="009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</a:t>
            </a:r>
            <a:r>
              <a:rPr lang="zh-CN" altLang="en-US" sz="2800" b="1" dirty="0">
                <a:solidFill>
                  <a:srgbClr val="009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和</a:t>
            </a:r>
            <a:r>
              <a:rPr lang="zh-CN" altLang="en-US" sz="2800" b="1" dirty="0">
                <a:solidFill>
                  <a:srgbClr val="FC55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altLang="zh-CN" sz="2800" b="1" dirty="0">
                <a:solidFill>
                  <a:srgbClr val="FC55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‑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区分开的线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867104" y="3432413"/>
            <a:ext cx="243656" cy="10748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430">
              <a:lnSpc>
                <a:spcPts val="1905"/>
              </a:lnSpc>
            </a:pPr>
            <a:r>
              <a:rPr lang="zh-CN" altLang="en-US" sz="2000" spc="91" dirty="0">
                <a:latin typeface="Arial" panose="020B0604020202020204"/>
                <a:cs typeface="Arial" panose="020B0604020202020204"/>
              </a:rPr>
              <a:t>年收入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64"/>
          <p:cNvSpPr txBox="1"/>
          <p:nvPr/>
        </p:nvSpPr>
        <p:spPr>
          <a:xfrm>
            <a:off x="3369922" y="6198479"/>
            <a:ext cx="13243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50" dirty="0">
                <a:latin typeface="Arial" panose="020B0604020202020204"/>
                <a:cs typeface="Arial" panose="020B0604020202020204"/>
              </a:rPr>
              <a:t>0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65"/>
          <p:cNvSpPr txBox="1"/>
          <p:nvPr/>
        </p:nvSpPr>
        <p:spPr>
          <a:xfrm>
            <a:off x="3892560" y="6198479"/>
            <a:ext cx="10479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-77" dirty="0">
                <a:latin typeface="Arial" panose="020B0604020202020204"/>
                <a:cs typeface="Arial" panose="020B0604020202020204"/>
              </a:rPr>
              <a:t>1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6"/>
          <p:cNvSpPr txBox="1"/>
          <p:nvPr/>
        </p:nvSpPr>
        <p:spPr>
          <a:xfrm>
            <a:off x="4387087" y="6198479"/>
            <a:ext cx="12207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-45" dirty="0">
                <a:latin typeface="Arial" panose="020B0604020202020204"/>
                <a:cs typeface="Arial" panose="020B0604020202020204"/>
              </a:rPr>
              <a:t>2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67"/>
          <p:cNvSpPr txBox="1"/>
          <p:nvPr/>
        </p:nvSpPr>
        <p:spPr>
          <a:xfrm>
            <a:off x="4899115" y="6198479"/>
            <a:ext cx="1214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-45" dirty="0">
                <a:latin typeface="Arial" panose="020B0604020202020204"/>
                <a:cs typeface="Arial" panose="020B0604020202020204"/>
              </a:rPr>
              <a:t>3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7" name="object 68"/>
          <p:cNvSpPr txBox="1"/>
          <p:nvPr/>
        </p:nvSpPr>
        <p:spPr>
          <a:xfrm>
            <a:off x="5410614" y="6198479"/>
            <a:ext cx="12783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14" dirty="0">
                <a:latin typeface="Arial" panose="020B0604020202020204"/>
                <a:cs typeface="Arial" panose="020B0604020202020204"/>
              </a:rPr>
              <a:t>4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8" name="object 69"/>
          <p:cNvSpPr txBox="1"/>
          <p:nvPr/>
        </p:nvSpPr>
        <p:spPr>
          <a:xfrm>
            <a:off x="5933254" y="6198479"/>
            <a:ext cx="14856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430"/>
              </a:lnSpc>
            </a:pPr>
            <a:r>
              <a:rPr sz="1360" spc="-426" dirty="0">
                <a:latin typeface="Arial" panose="020B0604020202020204"/>
                <a:cs typeface="Arial" panose="020B0604020202020204"/>
              </a:rPr>
              <a:t>…</a:t>
            </a:r>
            <a:endParaRPr sz="136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object 70"/>
          <p:cNvSpPr txBox="1"/>
          <p:nvPr/>
        </p:nvSpPr>
        <p:spPr>
          <a:xfrm>
            <a:off x="6378438" y="6289518"/>
            <a:ext cx="1220736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905"/>
              </a:lnSpc>
            </a:pPr>
            <a:r>
              <a:rPr lang="zh-CN" altLang="en-US" sz="2000" spc="63" dirty="0">
                <a:latin typeface="Arial" panose="020B0604020202020204"/>
                <a:cs typeface="Arial" panose="020B0604020202020204"/>
              </a:rPr>
              <a:t>贷款金额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0" name="object 28"/>
              <p:cNvGraphicFramePr>
                <a:graphicFrameLocks noGrp="1"/>
              </p:cNvGraphicFramePr>
              <p:nvPr/>
            </p:nvGraphicFramePr>
            <p:xfrm>
              <a:off x="812234" y="1641606"/>
              <a:ext cx="3757162" cy="15350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11866"/>
                    <a:gridCol w="1164498"/>
                    <a:gridCol w="1080798"/>
                  </a:tblGrid>
                  <a:tr h="279848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特征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系数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7965" algn="ctr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值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</a:tr>
                  <a:tr h="30288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</a:pPr>
                          <a:endParaRPr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/>
                          </a:endParaRPr>
                        </a:p>
                      </a:txBody>
                      <a:tcPr marL="0" marR="0" marT="0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810" algn="ctr">
                            <a:lnSpc>
                              <a:spcPct val="100000"/>
                            </a:lnSpc>
                            <a:spcBef>
                              <a:spcPts val="165"/>
                            </a:spcBef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400" baseline="-17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9002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8925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3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0.0</a:t>
                          </a:r>
                          <a:endParaRPr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</a:tr>
                  <a:tr h="279848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lang="zh-CN" altLang="en-US" sz="2400" spc="4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贷款金额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F2E7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400" baseline="-8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ahoma" panose="020B060403050404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F2E7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05130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-2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1.0</a:t>
                          </a:r>
                          <a:endParaRPr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F2E7EC"/>
                        </a:solidFill>
                      </a:tcPr>
                    </a:tc>
                  </a:tr>
                  <a:tr h="279848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lang="zh-CN" altLang="en-US" sz="2400" spc="6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年收入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4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400" baseline="-8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ahoma" panose="020B060403050404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1178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24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-</a:t>
                          </a:r>
                          <a:r>
                            <a:rPr sz="2400" spc="-2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1.5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60" name="object 28"/>
              <p:cNvGraphicFramePr>
                <a:graphicFrameLocks noGrp="1"/>
              </p:cNvGraphicFramePr>
              <p:nvPr/>
            </p:nvGraphicFramePr>
            <p:xfrm>
              <a:off x="812234" y="1641606"/>
              <a:ext cx="3757162" cy="15350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11866"/>
                    <a:gridCol w="1164498"/>
                    <a:gridCol w="1080798"/>
                  </a:tblGrid>
                  <a:tr h="279848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特征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系数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7965" algn="ctr">
                            <a:lnSpc>
                              <a:spcPct val="100000"/>
                            </a:lnSpc>
                            <a:spcBef>
                              <a:spcPts val="175"/>
                            </a:spcBef>
                          </a:pPr>
                          <a:r>
                            <a:rPr lang="zh-CN" altLang="en-US" sz="2400" b="1" spc="-10" dirty="0">
                              <a:solidFill>
                                <a:srgbClr val="FFFF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值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20154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381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B0007E"/>
                        </a:solidFill>
                      </a:tcPr>
                    </a:tc>
                  </a:tr>
                  <a:tr h="38481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</a:pPr>
                          <a:endParaRPr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/>
                          </a:endParaRPr>
                        </a:p>
                      </a:txBody>
                      <a:tcPr marL="0" marR="0" marT="0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19002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1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8925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3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0.0</a:t>
                          </a:r>
                          <a:endParaRPr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381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</a:tr>
                  <a:tr h="382905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lang="zh-CN" altLang="en-US" sz="2400" spc="4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贷款金额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F2E7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1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05130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-2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1.0</a:t>
                          </a:r>
                          <a:endParaRPr sz="240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F2E7EC"/>
                        </a:solidFill>
                      </a:tcPr>
                    </a:tc>
                  </a:tr>
                  <a:tr h="382905">
                    <a:tc>
                      <a:txBody>
                        <a:bodyPr/>
                        <a:lstStyle/>
                        <a:p>
                          <a:pPr marL="7683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lang="zh-CN" altLang="en-US" sz="2400" spc="6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年收入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1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11785">
                            <a:lnSpc>
                              <a:spcPct val="100000"/>
                            </a:lnSpc>
                            <a:spcBef>
                              <a:spcPts val="150"/>
                            </a:spcBef>
                          </a:pPr>
                          <a:r>
                            <a:rPr sz="2400" spc="24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-</a:t>
                          </a:r>
                          <a:r>
                            <a:rPr sz="2400" spc="-25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Arial" panose="020B0604020202020204"/>
                            </a:rPr>
                            <a:t>1.5</a:t>
                          </a:r>
                          <a:endParaRPr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Arial" panose="020B0604020202020204"/>
                          </a:endParaRPr>
                        </a:p>
                      </a:txBody>
                      <a:tcPr marL="0" marR="0" marT="17275" marB="0">
                        <a:lnL w="12700">
                          <a:solidFill>
                            <a:srgbClr val="FFFFFF"/>
                          </a:solidFill>
                          <a:prstDash val="solid"/>
                        </a:lnL>
                        <a:lnR w="12700">
                          <a:solidFill>
                            <a:srgbClr val="FFFFFF"/>
                          </a:solidFill>
                          <a:prstDash val="solid"/>
                        </a:lnR>
                        <a:lnT w="12700">
                          <a:solidFill>
                            <a:srgbClr val="FFFFFF"/>
                          </a:solidFill>
                          <a:prstDash val="solid"/>
                        </a:lnT>
                        <a:lnB w="12700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E4CBD8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5074650" y="2113918"/>
                <a:ext cx="6992191" cy="526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core</m:t>
                      </m:r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8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80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1</m:t>
                      </m:r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贷款金额</m:t>
                      </m:r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 </m:t>
                      </m:r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−</m:t>
                      </m:r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1</m:t>
                      </m:r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5</m:t>
                      </m:r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年收入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50" y="2113918"/>
                <a:ext cx="6992191" cy="526041"/>
              </a:xfrm>
              <a:prstGeom prst="rect">
                <a:avLst/>
              </a:prstGeom>
              <a:blipFill rotWithShape="1">
                <a:blip r:embed="rId16"/>
                <a:stretch>
                  <a:fillRect l="-5" t="-1" r="8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/>
          <p:nvPr/>
        </p:nvCxnSpPr>
        <p:spPr>
          <a:xfrm>
            <a:off x="4569396" y="2409115"/>
            <a:ext cx="726780" cy="0"/>
          </a:xfrm>
          <a:prstGeom prst="straightConnector1">
            <a:avLst/>
          </a:prstGeom>
          <a:ln w="63500">
            <a:solidFill>
              <a:srgbClr val="B00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/>
              <p:cNvSpPr txBox="1"/>
              <p:nvPr/>
            </p:nvSpPr>
            <p:spPr>
              <a:xfrm rot="19756152">
                <a:off x="1944784" y="4415086"/>
                <a:ext cx="6992191" cy="464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1</m:t>
                      </m:r>
                      <m:r>
                        <a:rPr lang="en-US" altLang="zh-CN" sz="24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4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  <m:r>
                        <a:rPr lang="zh-CN" altLang="en-US" sz="24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zh-CN" altLang="en-US" sz="24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贷款金额</m:t>
                      </m:r>
                      <m:r>
                        <a:rPr lang="zh-CN" altLang="en-US" sz="24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 </m:t>
                      </m:r>
                      <m:r>
                        <a:rPr lang="en-US" altLang="zh-CN" sz="24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−</m:t>
                      </m:r>
                      <m:r>
                        <a:rPr lang="en-US" altLang="zh-CN" sz="24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1</m:t>
                      </m:r>
                      <m:r>
                        <a:rPr lang="en-US" altLang="zh-CN" sz="24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4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5</m:t>
                      </m:r>
                      <m:r>
                        <a:rPr lang="zh-CN" altLang="en-US" sz="24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zh-CN" altLang="en-US" sz="24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年收入</m:t>
                      </m:r>
                      <m:r>
                        <a:rPr lang="en-US" altLang="zh-CN" sz="2400" b="1" i="1" spc="6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400" b="1" i="1" spc="6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56152">
                <a:off x="1944784" y="4415086"/>
                <a:ext cx="6992191" cy="464101"/>
              </a:xfrm>
              <a:prstGeom prst="rect">
                <a:avLst/>
              </a:prstGeom>
              <a:blipFill rotWithShape="1">
                <a:blip r:embed="rId17"/>
                <a:stretch>
                  <a:fillRect l="5325" t="-378029" r="5331" b="-3778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文本框 33"/>
          <p:cNvSpPr txBox="1"/>
          <p:nvPr/>
        </p:nvSpPr>
        <p:spPr>
          <a:xfrm>
            <a:off x="830048" y="828293"/>
            <a:ext cx="7627905" cy="66178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假设只有两个特征具有非零系数</a:t>
            </a:r>
            <a:endParaRPr lang="en-SG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607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决策边界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30048" y="828293"/>
            <a:ext cx="7627905" cy="66178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400" b="1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对于更多线性特征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3496438" y="2779566"/>
            <a:ext cx="5927477" cy="2991954"/>
            <a:chOff x="631919" y="2140896"/>
            <a:chExt cx="6536690" cy="3299460"/>
          </a:xfrm>
        </p:grpSpPr>
        <p:sp>
          <p:nvSpPr>
            <p:cNvPr id="3" name="object 3"/>
            <p:cNvSpPr/>
            <p:nvPr/>
          </p:nvSpPr>
          <p:spPr>
            <a:xfrm>
              <a:off x="1727995" y="5009376"/>
              <a:ext cx="485775" cy="171450"/>
            </a:xfrm>
            <a:custGeom>
              <a:avLst/>
              <a:gdLst/>
              <a:ahLst/>
              <a:cxnLst/>
              <a:rect l="l" t="t" r="r" b="b"/>
              <a:pathLst>
                <a:path w="485775" h="171450">
                  <a:moveTo>
                    <a:pt x="485504" y="0"/>
                  </a:moveTo>
                  <a:lnTo>
                    <a:pt x="0" y="0"/>
                  </a:lnTo>
                  <a:lnTo>
                    <a:pt x="0" y="171122"/>
                  </a:lnTo>
                  <a:lnTo>
                    <a:pt x="485504" y="171122"/>
                  </a:lnTo>
                  <a:lnTo>
                    <a:pt x="485504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727995" y="5009376"/>
              <a:ext cx="485775" cy="171450"/>
            </a:xfrm>
            <a:custGeom>
              <a:avLst/>
              <a:gdLst/>
              <a:ahLst/>
              <a:cxnLst/>
              <a:rect l="l" t="t" r="r" b="b"/>
              <a:pathLst>
                <a:path w="485775" h="171450">
                  <a:moveTo>
                    <a:pt x="0" y="171122"/>
                  </a:moveTo>
                  <a:lnTo>
                    <a:pt x="485504" y="171122"/>
                  </a:lnTo>
                  <a:lnTo>
                    <a:pt x="485504" y="0"/>
                  </a:lnTo>
                  <a:lnTo>
                    <a:pt x="0" y="0"/>
                  </a:lnTo>
                  <a:lnTo>
                    <a:pt x="0" y="171122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166110" y="4590241"/>
              <a:ext cx="485775" cy="171450"/>
            </a:xfrm>
            <a:custGeom>
              <a:avLst/>
              <a:gdLst/>
              <a:ahLst/>
              <a:cxnLst/>
              <a:rect l="l" t="t" r="r" b="b"/>
              <a:pathLst>
                <a:path w="485775" h="171450">
                  <a:moveTo>
                    <a:pt x="485504" y="0"/>
                  </a:moveTo>
                  <a:lnTo>
                    <a:pt x="0" y="0"/>
                  </a:lnTo>
                  <a:lnTo>
                    <a:pt x="0" y="171122"/>
                  </a:lnTo>
                  <a:lnTo>
                    <a:pt x="485504" y="171122"/>
                  </a:lnTo>
                  <a:lnTo>
                    <a:pt x="485504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166110" y="4590241"/>
              <a:ext cx="485775" cy="171450"/>
            </a:xfrm>
            <a:custGeom>
              <a:avLst/>
              <a:gdLst/>
              <a:ahLst/>
              <a:cxnLst/>
              <a:rect l="l" t="t" r="r" b="b"/>
              <a:pathLst>
                <a:path w="485775" h="171450">
                  <a:moveTo>
                    <a:pt x="0" y="171122"/>
                  </a:moveTo>
                  <a:lnTo>
                    <a:pt x="485504" y="171122"/>
                  </a:lnTo>
                  <a:lnTo>
                    <a:pt x="485504" y="0"/>
                  </a:lnTo>
                  <a:lnTo>
                    <a:pt x="0" y="0"/>
                  </a:lnTo>
                  <a:lnTo>
                    <a:pt x="0" y="171122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06207" y="3634372"/>
              <a:ext cx="485775" cy="171450"/>
            </a:xfrm>
            <a:custGeom>
              <a:avLst/>
              <a:gdLst/>
              <a:ahLst/>
              <a:cxnLst/>
              <a:rect l="l" t="t" r="r" b="b"/>
              <a:pathLst>
                <a:path w="485775" h="171450">
                  <a:moveTo>
                    <a:pt x="485504" y="0"/>
                  </a:moveTo>
                  <a:lnTo>
                    <a:pt x="0" y="0"/>
                  </a:lnTo>
                  <a:lnTo>
                    <a:pt x="0" y="171122"/>
                  </a:lnTo>
                  <a:lnTo>
                    <a:pt x="485504" y="171122"/>
                  </a:lnTo>
                  <a:lnTo>
                    <a:pt x="485504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606207" y="3634372"/>
              <a:ext cx="485775" cy="171450"/>
            </a:xfrm>
            <a:custGeom>
              <a:avLst/>
              <a:gdLst/>
              <a:ahLst/>
              <a:cxnLst/>
              <a:rect l="l" t="t" r="r" b="b"/>
              <a:pathLst>
                <a:path w="485775" h="171450">
                  <a:moveTo>
                    <a:pt x="0" y="171122"/>
                  </a:moveTo>
                  <a:lnTo>
                    <a:pt x="485504" y="171122"/>
                  </a:lnTo>
                  <a:lnTo>
                    <a:pt x="485504" y="0"/>
                  </a:lnTo>
                  <a:lnTo>
                    <a:pt x="0" y="0"/>
                  </a:lnTo>
                  <a:lnTo>
                    <a:pt x="0" y="171122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560485" y="4752666"/>
              <a:ext cx="485775" cy="171450"/>
            </a:xfrm>
            <a:custGeom>
              <a:avLst/>
              <a:gdLst/>
              <a:ahLst/>
              <a:cxnLst/>
              <a:rect l="l" t="t" r="r" b="b"/>
              <a:pathLst>
                <a:path w="485775" h="171450">
                  <a:moveTo>
                    <a:pt x="485504" y="0"/>
                  </a:moveTo>
                  <a:lnTo>
                    <a:pt x="0" y="0"/>
                  </a:lnTo>
                  <a:lnTo>
                    <a:pt x="0" y="171122"/>
                  </a:lnTo>
                  <a:lnTo>
                    <a:pt x="485504" y="171122"/>
                  </a:lnTo>
                  <a:lnTo>
                    <a:pt x="485504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560485" y="4752666"/>
              <a:ext cx="485775" cy="171450"/>
            </a:xfrm>
            <a:custGeom>
              <a:avLst/>
              <a:gdLst/>
              <a:ahLst/>
              <a:cxnLst/>
              <a:rect l="l" t="t" r="r" b="b"/>
              <a:pathLst>
                <a:path w="485775" h="171450">
                  <a:moveTo>
                    <a:pt x="0" y="171122"/>
                  </a:moveTo>
                  <a:lnTo>
                    <a:pt x="485504" y="171122"/>
                  </a:lnTo>
                  <a:lnTo>
                    <a:pt x="485504" y="0"/>
                  </a:lnTo>
                  <a:lnTo>
                    <a:pt x="0" y="0"/>
                  </a:lnTo>
                  <a:lnTo>
                    <a:pt x="0" y="171122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31919" y="2140896"/>
              <a:ext cx="6536115" cy="329893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3874" y="2171518"/>
              <a:ext cx="6445885" cy="3204845"/>
            </a:xfrm>
            <a:custGeom>
              <a:avLst/>
              <a:gdLst/>
              <a:ahLst/>
              <a:cxnLst/>
              <a:rect l="l" t="t" r="r" b="b"/>
              <a:pathLst>
                <a:path w="6445884" h="3204845">
                  <a:moveTo>
                    <a:pt x="1965862" y="0"/>
                  </a:moveTo>
                  <a:lnTo>
                    <a:pt x="14096" y="1298474"/>
                  </a:lnTo>
                  <a:lnTo>
                    <a:pt x="0" y="1302231"/>
                  </a:lnTo>
                  <a:lnTo>
                    <a:pt x="4298077" y="3204755"/>
                  </a:lnTo>
                  <a:lnTo>
                    <a:pt x="6445783" y="1764185"/>
                  </a:lnTo>
                  <a:lnTo>
                    <a:pt x="1965862" y="0"/>
                  </a:lnTo>
                  <a:close/>
                </a:path>
              </a:pathLst>
            </a:custGeom>
            <a:solidFill>
              <a:srgbClr val="85BD05">
                <a:alpha val="54119"/>
              </a:srgbClr>
            </a:solidFill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object 13"/>
            <p:cNvSpPr/>
            <p:nvPr/>
          </p:nvSpPr>
          <p:spPr>
            <a:xfrm>
              <a:off x="673874" y="2171518"/>
              <a:ext cx="6445885" cy="3204845"/>
            </a:xfrm>
            <a:custGeom>
              <a:avLst/>
              <a:gdLst/>
              <a:ahLst/>
              <a:cxnLst/>
              <a:rect l="l" t="t" r="r" b="b"/>
              <a:pathLst>
                <a:path w="6445884" h="3204845">
                  <a:moveTo>
                    <a:pt x="14096" y="1298474"/>
                  </a:moveTo>
                  <a:lnTo>
                    <a:pt x="1965862" y="0"/>
                  </a:lnTo>
                  <a:lnTo>
                    <a:pt x="6445783" y="1764185"/>
                  </a:lnTo>
                  <a:lnTo>
                    <a:pt x="4298077" y="3204755"/>
                  </a:lnTo>
                  <a:lnTo>
                    <a:pt x="0" y="1302231"/>
                  </a:lnTo>
                </a:path>
              </a:pathLst>
            </a:custGeom>
            <a:ln w="21443">
              <a:solidFill>
                <a:srgbClr val="85BD05"/>
              </a:solidFill>
            </a:ln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object 16"/>
          <p:cNvGrpSpPr/>
          <p:nvPr/>
        </p:nvGrpSpPr>
        <p:grpSpPr>
          <a:xfrm>
            <a:off x="3543108" y="2854237"/>
            <a:ext cx="5105784" cy="3378903"/>
            <a:chOff x="683385" y="2223240"/>
            <a:chExt cx="5630545" cy="3726179"/>
          </a:xfrm>
        </p:grpSpPr>
        <p:pic>
          <p:nvPicPr>
            <p:cNvPr id="20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385" y="2223240"/>
              <a:ext cx="355111" cy="3581997"/>
            </a:xfrm>
            <a:prstGeom prst="rect">
              <a:avLst/>
            </a:prstGeom>
          </p:spPr>
        </p:pic>
        <p:sp>
          <p:nvSpPr>
            <p:cNvPr id="21" name="object 18"/>
            <p:cNvSpPr/>
            <p:nvPr/>
          </p:nvSpPr>
          <p:spPr>
            <a:xfrm>
              <a:off x="788712" y="2388135"/>
              <a:ext cx="144780" cy="3362960"/>
            </a:xfrm>
            <a:custGeom>
              <a:avLst/>
              <a:gdLst/>
              <a:ahLst/>
              <a:cxnLst/>
              <a:rect l="l" t="t" r="r" b="b"/>
              <a:pathLst>
                <a:path w="144780" h="3362960">
                  <a:moveTo>
                    <a:pt x="72249" y="63853"/>
                  </a:moveTo>
                  <a:lnTo>
                    <a:pt x="56166" y="91425"/>
                  </a:lnTo>
                  <a:lnTo>
                    <a:pt x="56166" y="3362893"/>
                  </a:lnTo>
                  <a:lnTo>
                    <a:pt x="88332" y="3362893"/>
                  </a:lnTo>
                  <a:lnTo>
                    <a:pt x="88332" y="91425"/>
                  </a:lnTo>
                  <a:lnTo>
                    <a:pt x="72249" y="63853"/>
                  </a:lnTo>
                  <a:close/>
                </a:path>
                <a:path w="144780" h="3362960">
                  <a:moveTo>
                    <a:pt x="72249" y="0"/>
                  </a:moveTo>
                  <a:lnTo>
                    <a:pt x="2066" y="120326"/>
                  </a:lnTo>
                  <a:lnTo>
                    <a:pt x="0" y="126372"/>
                  </a:lnTo>
                  <a:lnTo>
                    <a:pt x="400" y="132530"/>
                  </a:lnTo>
                  <a:lnTo>
                    <a:pt x="3081" y="138079"/>
                  </a:lnTo>
                  <a:lnTo>
                    <a:pt x="7856" y="142302"/>
                  </a:lnTo>
                  <a:lnTo>
                    <a:pt x="13893" y="144368"/>
                  </a:lnTo>
                  <a:lnTo>
                    <a:pt x="20045" y="143974"/>
                  </a:lnTo>
                  <a:lnTo>
                    <a:pt x="25601" y="141303"/>
                  </a:lnTo>
                  <a:lnTo>
                    <a:pt x="29852" y="136537"/>
                  </a:lnTo>
                  <a:lnTo>
                    <a:pt x="56166" y="91425"/>
                  </a:lnTo>
                  <a:lnTo>
                    <a:pt x="56166" y="31908"/>
                  </a:lnTo>
                  <a:lnTo>
                    <a:pt x="90861" y="31908"/>
                  </a:lnTo>
                  <a:lnTo>
                    <a:pt x="72249" y="0"/>
                  </a:lnTo>
                  <a:close/>
                </a:path>
                <a:path w="144780" h="3362960">
                  <a:moveTo>
                    <a:pt x="90861" y="31908"/>
                  </a:moveTo>
                  <a:lnTo>
                    <a:pt x="88332" y="31908"/>
                  </a:lnTo>
                  <a:lnTo>
                    <a:pt x="88332" y="91425"/>
                  </a:lnTo>
                  <a:lnTo>
                    <a:pt x="114646" y="136537"/>
                  </a:lnTo>
                  <a:lnTo>
                    <a:pt x="118885" y="141303"/>
                  </a:lnTo>
                  <a:lnTo>
                    <a:pt x="124437" y="143974"/>
                  </a:lnTo>
                  <a:lnTo>
                    <a:pt x="130592" y="144368"/>
                  </a:lnTo>
                  <a:lnTo>
                    <a:pt x="136643" y="142302"/>
                  </a:lnTo>
                  <a:lnTo>
                    <a:pt x="141406" y="138079"/>
                  </a:lnTo>
                  <a:lnTo>
                    <a:pt x="144083" y="132530"/>
                  </a:lnTo>
                  <a:lnTo>
                    <a:pt x="144487" y="126372"/>
                  </a:lnTo>
                  <a:lnTo>
                    <a:pt x="142433" y="120326"/>
                  </a:lnTo>
                  <a:lnTo>
                    <a:pt x="90861" y="31908"/>
                  </a:lnTo>
                  <a:close/>
                </a:path>
                <a:path w="144780" h="3362960">
                  <a:moveTo>
                    <a:pt x="88332" y="31908"/>
                  </a:moveTo>
                  <a:lnTo>
                    <a:pt x="56166" y="31908"/>
                  </a:lnTo>
                  <a:lnTo>
                    <a:pt x="56166" y="91425"/>
                  </a:lnTo>
                  <a:lnTo>
                    <a:pt x="72249" y="63853"/>
                  </a:lnTo>
                  <a:lnTo>
                    <a:pt x="58359" y="40040"/>
                  </a:lnTo>
                  <a:lnTo>
                    <a:pt x="88332" y="40040"/>
                  </a:lnTo>
                  <a:lnTo>
                    <a:pt x="88332" y="31908"/>
                  </a:lnTo>
                  <a:close/>
                </a:path>
                <a:path w="144780" h="3362960">
                  <a:moveTo>
                    <a:pt x="88332" y="40040"/>
                  </a:moveTo>
                  <a:lnTo>
                    <a:pt x="86140" y="40040"/>
                  </a:lnTo>
                  <a:lnTo>
                    <a:pt x="72249" y="63853"/>
                  </a:lnTo>
                  <a:lnTo>
                    <a:pt x="88332" y="91425"/>
                  </a:lnTo>
                  <a:lnTo>
                    <a:pt x="88332" y="40040"/>
                  </a:lnTo>
                  <a:close/>
                </a:path>
                <a:path w="144780" h="3362960">
                  <a:moveTo>
                    <a:pt x="86140" y="40040"/>
                  </a:moveTo>
                  <a:lnTo>
                    <a:pt x="58359" y="40040"/>
                  </a:lnTo>
                  <a:lnTo>
                    <a:pt x="72249" y="63853"/>
                  </a:lnTo>
                  <a:lnTo>
                    <a:pt x="86140" y="4004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2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195" y="5589083"/>
              <a:ext cx="5496513" cy="360258"/>
            </a:xfrm>
            <a:prstGeom prst="rect">
              <a:avLst/>
            </a:prstGeom>
          </p:spPr>
        </p:pic>
        <p:sp>
          <p:nvSpPr>
            <p:cNvPr id="23" name="object 20"/>
            <p:cNvSpPr/>
            <p:nvPr/>
          </p:nvSpPr>
          <p:spPr>
            <a:xfrm>
              <a:off x="851209" y="5680734"/>
              <a:ext cx="5281295" cy="144780"/>
            </a:xfrm>
            <a:custGeom>
              <a:avLst/>
              <a:gdLst/>
              <a:ahLst/>
              <a:cxnLst/>
              <a:rect l="l" t="t" r="r" b="b"/>
              <a:pathLst>
                <a:path w="5281295" h="144779">
                  <a:moveTo>
                    <a:pt x="5217243" y="72265"/>
                  </a:moveTo>
                  <a:lnTo>
                    <a:pt x="5144494" y="114621"/>
                  </a:lnTo>
                  <a:lnTo>
                    <a:pt x="5139721" y="118874"/>
                  </a:lnTo>
                  <a:lnTo>
                    <a:pt x="5137032" y="124438"/>
                  </a:lnTo>
                  <a:lnTo>
                    <a:pt x="5136620" y="130601"/>
                  </a:lnTo>
                  <a:lnTo>
                    <a:pt x="5138679" y="136648"/>
                  </a:lnTo>
                  <a:lnTo>
                    <a:pt x="5142931" y="141414"/>
                  </a:lnTo>
                  <a:lnTo>
                    <a:pt x="5148496" y="144085"/>
                  </a:lnTo>
                  <a:lnTo>
                    <a:pt x="5154659" y="144479"/>
                  </a:lnTo>
                  <a:lnTo>
                    <a:pt x="5160706" y="142413"/>
                  </a:lnTo>
                  <a:lnTo>
                    <a:pt x="5253449" y="88322"/>
                  </a:lnTo>
                  <a:lnTo>
                    <a:pt x="5249118" y="88322"/>
                  </a:lnTo>
                  <a:lnTo>
                    <a:pt x="5249118" y="86109"/>
                  </a:lnTo>
                  <a:lnTo>
                    <a:pt x="5240992" y="86109"/>
                  </a:lnTo>
                  <a:lnTo>
                    <a:pt x="5217243" y="72265"/>
                  </a:lnTo>
                  <a:close/>
                </a:path>
                <a:path w="5281295" h="144779">
                  <a:moveTo>
                    <a:pt x="5189609" y="56156"/>
                  </a:moveTo>
                  <a:lnTo>
                    <a:pt x="0" y="56156"/>
                  </a:lnTo>
                  <a:lnTo>
                    <a:pt x="0" y="88322"/>
                  </a:lnTo>
                  <a:lnTo>
                    <a:pt x="5189609" y="88322"/>
                  </a:lnTo>
                  <a:lnTo>
                    <a:pt x="5217154" y="72265"/>
                  </a:lnTo>
                  <a:lnTo>
                    <a:pt x="5189609" y="56156"/>
                  </a:lnTo>
                  <a:close/>
                </a:path>
                <a:path w="5281295" h="144779">
                  <a:moveTo>
                    <a:pt x="5253381" y="56156"/>
                  </a:moveTo>
                  <a:lnTo>
                    <a:pt x="5249118" y="56156"/>
                  </a:lnTo>
                  <a:lnTo>
                    <a:pt x="5249118" y="88322"/>
                  </a:lnTo>
                  <a:lnTo>
                    <a:pt x="5253449" y="88322"/>
                  </a:lnTo>
                  <a:lnTo>
                    <a:pt x="5280981" y="72265"/>
                  </a:lnTo>
                  <a:lnTo>
                    <a:pt x="5253381" y="56156"/>
                  </a:lnTo>
                  <a:close/>
                </a:path>
                <a:path w="5281295" h="144779">
                  <a:moveTo>
                    <a:pt x="5240992" y="58369"/>
                  </a:moveTo>
                  <a:lnTo>
                    <a:pt x="5217243" y="72265"/>
                  </a:lnTo>
                  <a:lnTo>
                    <a:pt x="5240992" y="86109"/>
                  </a:lnTo>
                  <a:lnTo>
                    <a:pt x="5240992" y="58369"/>
                  </a:lnTo>
                  <a:close/>
                </a:path>
                <a:path w="5281295" h="144779">
                  <a:moveTo>
                    <a:pt x="5249118" y="58369"/>
                  </a:moveTo>
                  <a:lnTo>
                    <a:pt x="5240992" y="58369"/>
                  </a:lnTo>
                  <a:lnTo>
                    <a:pt x="5240992" y="86109"/>
                  </a:lnTo>
                  <a:lnTo>
                    <a:pt x="5249118" y="86109"/>
                  </a:lnTo>
                  <a:lnTo>
                    <a:pt x="5249118" y="58369"/>
                  </a:lnTo>
                  <a:close/>
                </a:path>
                <a:path w="5281295" h="144779">
                  <a:moveTo>
                    <a:pt x="5154659" y="0"/>
                  </a:moveTo>
                  <a:lnTo>
                    <a:pt x="5148496" y="394"/>
                  </a:lnTo>
                  <a:lnTo>
                    <a:pt x="5142931" y="3065"/>
                  </a:lnTo>
                  <a:lnTo>
                    <a:pt x="5138679" y="7830"/>
                  </a:lnTo>
                  <a:lnTo>
                    <a:pt x="5136620" y="13877"/>
                  </a:lnTo>
                  <a:lnTo>
                    <a:pt x="5137032" y="20040"/>
                  </a:lnTo>
                  <a:lnTo>
                    <a:pt x="5139721" y="25605"/>
                  </a:lnTo>
                  <a:lnTo>
                    <a:pt x="5144494" y="29858"/>
                  </a:lnTo>
                  <a:lnTo>
                    <a:pt x="5217243" y="72265"/>
                  </a:lnTo>
                  <a:lnTo>
                    <a:pt x="5240992" y="58369"/>
                  </a:lnTo>
                  <a:lnTo>
                    <a:pt x="5249118" y="58369"/>
                  </a:lnTo>
                  <a:lnTo>
                    <a:pt x="5249118" y="56156"/>
                  </a:lnTo>
                  <a:lnTo>
                    <a:pt x="5253381" y="56156"/>
                  </a:lnTo>
                  <a:lnTo>
                    <a:pt x="5160706" y="2066"/>
                  </a:lnTo>
                  <a:lnTo>
                    <a:pt x="5154659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object 21"/>
          <p:cNvSpPr txBox="1"/>
          <p:nvPr/>
        </p:nvSpPr>
        <p:spPr>
          <a:xfrm>
            <a:off x="6872195" y="6108831"/>
            <a:ext cx="1418241" cy="320568"/>
          </a:xfrm>
          <a:prstGeom prst="rect">
            <a:avLst/>
          </a:prstGeom>
        </p:spPr>
        <p:txBody>
          <a:bodyPr vert="horz" wrap="square" lIns="0" tIns="12668" rIns="0" bIns="0" rtlCol="0">
            <a:spAutoFit/>
          </a:bodyPr>
          <a:lstStyle/>
          <a:p>
            <a:pPr marL="11430">
              <a:spcBef>
                <a:spcPts val="100"/>
              </a:spcBef>
            </a:pPr>
            <a:r>
              <a:rPr lang="zh-CN" altLang="en-US" sz="2000" spc="-9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贷款金额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25" name="object 22"/>
          <p:cNvSpPr txBox="1"/>
          <p:nvPr/>
        </p:nvSpPr>
        <p:spPr>
          <a:xfrm>
            <a:off x="3227417" y="2842121"/>
            <a:ext cx="294953" cy="1356466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430">
              <a:lnSpc>
                <a:spcPts val="2325"/>
              </a:lnSpc>
            </a:pPr>
            <a:r>
              <a:rPr lang="zh-CN" altLang="en-US" sz="2000" spc="-9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年收入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23"/>
              <p:cNvSpPr txBox="1"/>
              <p:nvPr/>
            </p:nvSpPr>
            <p:spPr>
              <a:xfrm>
                <a:off x="8140797" y="6023964"/>
                <a:ext cx="627066" cy="383867"/>
              </a:xfrm>
              <a:prstGeom prst="rect">
                <a:avLst/>
              </a:prstGeom>
            </p:spPr>
            <p:txBody>
              <a:bodyPr vert="horz" wrap="square" lIns="0" tIns="14395" rIns="0" bIns="0" rtlCol="0">
                <a:spAutoFit/>
              </a:bodyPr>
              <a:lstStyle/>
              <a:p>
                <a:pPr marL="11430">
                  <a:spcBef>
                    <a:spcPts val="11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400" b="1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0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26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797" y="6023964"/>
                <a:ext cx="627066" cy="383867"/>
              </a:xfrm>
              <a:prstGeom prst="rect">
                <a:avLst/>
              </a:prstGeom>
              <a:blipFill rotWithShape="1">
                <a:blip r:embed="rId4"/>
                <a:stretch>
                  <a:fillRect l="-15" t="-92" r="67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object 24"/>
          <p:cNvGrpSpPr/>
          <p:nvPr/>
        </p:nvGrpSpPr>
        <p:grpSpPr>
          <a:xfrm>
            <a:off x="3645779" y="2975576"/>
            <a:ext cx="5875653" cy="3145696"/>
            <a:chOff x="796609" y="2357051"/>
            <a:chExt cx="6479540" cy="3469004"/>
          </a:xfrm>
        </p:grpSpPr>
        <p:pic>
          <p:nvPicPr>
            <p:cNvPr id="28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6609" y="2357051"/>
              <a:ext cx="5213453" cy="3468773"/>
            </a:xfrm>
            <a:prstGeom prst="rect">
              <a:avLst/>
            </a:prstGeom>
          </p:spPr>
        </p:pic>
        <p:sp>
          <p:nvSpPr>
            <p:cNvPr id="29" name="object 26"/>
            <p:cNvSpPr/>
            <p:nvPr/>
          </p:nvSpPr>
          <p:spPr>
            <a:xfrm>
              <a:off x="851208" y="2388239"/>
              <a:ext cx="5108575" cy="3367404"/>
            </a:xfrm>
            <a:custGeom>
              <a:avLst/>
              <a:gdLst/>
              <a:ahLst/>
              <a:cxnLst/>
              <a:rect l="l" t="t" r="r" b="b"/>
              <a:pathLst>
                <a:path w="5108575" h="3367404">
                  <a:moveTo>
                    <a:pt x="0" y="841666"/>
                  </a:moveTo>
                  <a:lnTo>
                    <a:pt x="841702" y="0"/>
                  </a:lnTo>
                  <a:lnTo>
                    <a:pt x="5108571" y="0"/>
                  </a:lnTo>
                  <a:lnTo>
                    <a:pt x="5108571" y="2525102"/>
                  </a:lnTo>
                  <a:lnTo>
                    <a:pt x="4266853" y="3366820"/>
                  </a:lnTo>
                  <a:lnTo>
                    <a:pt x="0" y="3366820"/>
                  </a:lnTo>
                  <a:lnTo>
                    <a:pt x="0" y="841666"/>
                  </a:lnTo>
                  <a:close/>
                </a:path>
                <a:path w="5108575" h="3367404">
                  <a:moveTo>
                    <a:pt x="0" y="841666"/>
                  </a:moveTo>
                  <a:lnTo>
                    <a:pt x="4266853" y="841666"/>
                  </a:lnTo>
                  <a:lnTo>
                    <a:pt x="5108571" y="0"/>
                  </a:lnTo>
                </a:path>
                <a:path w="5108575" h="3367404">
                  <a:moveTo>
                    <a:pt x="4266853" y="841666"/>
                  </a:moveTo>
                  <a:lnTo>
                    <a:pt x="4266853" y="3366820"/>
                  </a:lnTo>
                </a:path>
              </a:pathLst>
            </a:custGeom>
            <a:ln w="32165">
              <a:solidFill>
                <a:srgbClr val="B0007D"/>
              </a:solidFill>
            </a:ln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0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68244" y="3623101"/>
              <a:ext cx="2207869" cy="2192429"/>
            </a:xfrm>
            <a:prstGeom prst="rect">
              <a:avLst/>
            </a:prstGeom>
          </p:spPr>
        </p:pic>
        <p:sp>
          <p:nvSpPr>
            <p:cNvPr id="31" name="object 28"/>
            <p:cNvSpPr/>
            <p:nvPr/>
          </p:nvSpPr>
          <p:spPr>
            <a:xfrm>
              <a:off x="5106225" y="3784960"/>
              <a:ext cx="1990725" cy="1978025"/>
            </a:xfrm>
            <a:custGeom>
              <a:avLst/>
              <a:gdLst/>
              <a:ahLst/>
              <a:cxnLst/>
              <a:rect l="l" t="t" r="r" b="b"/>
              <a:pathLst>
                <a:path w="1990725" h="1978025">
                  <a:moveTo>
                    <a:pt x="1944818" y="45015"/>
                  </a:moveTo>
                  <a:lnTo>
                    <a:pt x="1913912" y="53032"/>
                  </a:lnTo>
                  <a:lnTo>
                    <a:pt x="0" y="1954658"/>
                  </a:lnTo>
                  <a:lnTo>
                    <a:pt x="22696" y="1977458"/>
                  </a:lnTo>
                  <a:lnTo>
                    <a:pt x="1936607" y="75833"/>
                  </a:lnTo>
                  <a:lnTo>
                    <a:pt x="1944818" y="45015"/>
                  </a:lnTo>
                  <a:close/>
                </a:path>
                <a:path w="1990725" h="1978025">
                  <a:moveTo>
                    <a:pt x="1987155" y="11116"/>
                  </a:moveTo>
                  <a:lnTo>
                    <a:pt x="1956100" y="11116"/>
                  </a:lnTo>
                  <a:lnTo>
                    <a:pt x="1978796" y="33915"/>
                  </a:lnTo>
                  <a:lnTo>
                    <a:pt x="1936607" y="75833"/>
                  </a:lnTo>
                  <a:lnTo>
                    <a:pt x="1923162" y="126296"/>
                  </a:lnTo>
                  <a:lnTo>
                    <a:pt x="1920978" y="134582"/>
                  </a:lnTo>
                  <a:lnTo>
                    <a:pt x="1920897" y="134891"/>
                  </a:lnTo>
                  <a:lnTo>
                    <a:pt x="1925992" y="143691"/>
                  </a:lnTo>
                  <a:lnTo>
                    <a:pt x="1943130" y="148272"/>
                  </a:lnTo>
                  <a:lnTo>
                    <a:pt x="1951982" y="143176"/>
                  </a:lnTo>
                  <a:lnTo>
                    <a:pt x="1954165" y="134891"/>
                  </a:lnTo>
                  <a:lnTo>
                    <a:pt x="1987155" y="11116"/>
                  </a:lnTo>
                  <a:close/>
                </a:path>
                <a:path w="1990725" h="1978025">
                  <a:moveTo>
                    <a:pt x="1963272" y="18321"/>
                  </a:moveTo>
                  <a:lnTo>
                    <a:pt x="1951931" y="18321"/>
                  </a:lnTo>
                  <a:lnTo>
                    <a:pt x="1971539" y="38084"/>
                  </a:lnTo>
                  <a:lnTo>
                    <a:pt x="1944818" y="45015"/>
                  </a:lnTo>
                  <a:lnTo>
                    <a:pt x="1936607" y="75833"/>
                  </a:lnTo>
                  <a:lnTo>
                    <a:pt x="1978796" y="33915"/>
                  </a:lnTo>
                  <a:lnTo>
                    <a:pt x="1963272" y="18321"/>
                  </a:lnTo>
                  <a:close/>
                </a:path>
                <a:path w="1990725" h="1978025">
                  <a:moveTo>
                    <a:pt x="1990118" y="0"/>
                  </a:moveTo>
                  <a:lnTo>
                    <a:pt x="1846735" y="37261"/>
                  </a:lnTo>
                  <a:lnTo>
                    <a:pt x="1841537" y="46010"/>
                  </a:lnTo>
                  <a:lnTo>
                    <a:pt x="1843802" y="54604"/>
                  </a:lnTo>
                  <a:lnTo>
                    <a:pt x="1846015" y="63199"/>
                  </a:lnTo>
                  <a:lnTo>
                    <a:pt x="1854815" y="68397"/>
                  </a:lnTo>
                  <a:lnTo>
                    <a:pt x="1913912" y="53032"/>
                  </a:lnTo>
                  <a:lnTo>
                    <a:pt x="1956100" y="11116"/>
                  </a:lnTo>
                  <a:lnTo>
                    <a:pt x="1987155" y="11116"/>
                  </a:lnTo>
                  <a:lnTo>
                    <a:pt x="1990118" y="0"/>
                  </a:lnTo>
                  <a:close/>
                </a:path>
                <a:path w="1990725" h="1978025">
                  <a:moveTo>
                    <a:pt x="1956100" y="11116"/>
                  </a:moveTo>
                  <a:lnTo>
                    <a:pt x="1913912" y="53032"/>
                  </a:lnTo>
                  <a:lnTo>
                    <a:pt x="1944818" y="45015"/>
                  </a:lnTo>
                  <a:lnTo>
                    <a:pt x="1951931" y="18321"/>
                  </a:lnTo>
                  <a:lnTo>
                    <a:pt x="1963272" y="18321"/>
                  </a:lnTo>
                  <a:lnTo>
                    <a:pt x="1956100" y="11116"/>
                  </a:lnTo>
                  <a:close/>
                </a:path>
                <a:path w="1990725" h="1978025">
                  <a:moveTo>
                    <a:pt x="1951931" y="18321"/>
                  </a:moveTo>
                  <a:lnTo>
                    <a:pt x="1944818" y="45015"/>
                  </a:lnTo>
                  <a:lnTo>
                    <a:pt x="1971539" y="38084"/>
                  </a:lnTo>
                  <a:lnTo>
                    <a:pt x="1951931" y="18321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63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object 29"/>
          <p:cNvSpPr txBox="1"/>
          <p:nvPr/>
        </p:nvSpPr>
        <p:spPr>
          <a:xfrm rot="18900000">
            <a:off x="8044131" y="5091005"/>
            <a:ext cx="1391158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lang="zh-CN" altLang="en-US" sz="2000" spc="54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贷款利率</a:t>
            </a:r>
            <a:endParaRPr sz="2000" baseline="1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object 32"/>
              <p:cNvSpPr txBox="1"/>
              <p:nvPr/>
            </p:nvSpPr>
            <p:spPr>
              <a:xfrm rot="16200000">
                <a:off x="2904173" y="2919785"/>
                <a:ext cx="808750" cy="383867"/>
              </a:xfrm>
              <a:prstGeom prst="rect">
                <a:avLst/>
              </a:prstGeom>
            </p:spPr>
            <p:txBody>
              <a:bodyPr vert="horz" wrap="square" lIns="0" tIns="14395" rIns="0" bIns="0" rtlCol="0">
                <a:spAutoFit/>
              </a:bodyPr>
              <a:lstStyle>
                <a:defPPr>
                  <a:defRPr lang="zh-CN"/>
                </a:defPPr>
                <a:lvl1pPr marL="11430">
                  <a:spcBef>
                    <a:spcPts val="115"/>
                  </a:spcBef>
                  <a:defRPr sz="2400" spc="-100">
                    <a:latin typeface="Verdana" panose="020B0604030504040204"/>
                    <a:cs typeface="Verdana" panose="020B0604030504040204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400" b="1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6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04173" y="2919785"/>
                <a:ext cx="808750" cy="383867"/>
              </a:xfrm>
              <a:prstGeom prst="rect">
                <a:avLst/>
              </a:prstGeom>
              <a:blipFill rotWithShape="1">
                <a:blip r:embed="rId7"/>
                <a:stretch>
                  <a:fillRect l="26264" t="-55431" r="26313" b="-55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bject 18"/>
          <p:cNvSpPr/>
          <p:nvPr/>
        </p:nvSpPr>
        <p:spPr>
          <a:xfrm>
            <a:off x="4999789" y="3134310"/>
            <a:ext cx="551180" cy="572770"/>
          </a:xfrm>
          <a:custGeom>
            <a:avLst/>
            <a:gdLst/>
            <a:ahLst/>
            <a:cxnLst/>
            <a:rect l="l" t="t" r="r" b="b"/>
            <a:pathLst>
              <a:path w="551179" h="572769">
                <a:moveTo>
                  <a:pt x="550684" y="223520"/>
                </a:moveTo>
                <a:lnTo>
                  <a:pt x="326961" y="223520"/>
                </a:lnTo>
                <a:lnTo>
                  <a:pt x="326961" y="0"/>
                </a:lnTo>
                <a:lnTo>
                  <a:pt x="223723" y="0"/>
                </a:lnTo>
                <a:lnTo>
                  <a:pt x="223723" y="223520"/>
                </a:lnTo>
                <a:lnTo>
                  <a:pt x="0" y="223520"/>
                </a:lnTo>
                <a:lnTo>
                  <a:pt x="0" y="349250"/>
                </a:lnTo>
                <a:lnTo>
                  <a:pt x="223723" y="349250"/>
                </a:lnTo>
                <a:lnTo>
                  <a:pt x="223723" y="572770"/>
                </a:lnTo>
                <a:lnTo>
                  <a:pt x="326961" y="572770"/>
                </a:lnTo>
                <a:lnTo>
                  <a:pt x="326961" y="349250"/>
                </a:lnTo>
                <a:lnTo>
                  <a:pt x="550684" y="349250"/>
                </a:lnTo>
                <a:lnTo>
                  <a:pt x="550684" y="223520"/>
                </a:lnTo>
                <a:close/>
              </a:path>
            </a:pathLst>
          </a:custGeom>
          <a:solidFill>
            <a:srgbClr val="118CC4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object 18"/>
          <p:cNvSpPr/>
          <p:nvPr/>
        </p:nvSpPr>
        <p:spPr>
          <a:xfrm>
            <a:off x="5452278" y="3851130"/>
            <a:ext cx="551180" cy="572770"/>
          </a:xfrm>
          <a:custGeom>
            <a:avLst/>
            <a:gdLst/>
            <a:ahLst/>
            <a:cxnLst/>
            <a:rect l="l" t="t" r="r" b="b"/>
            <a:pathLst>
              <a:path w="551179" h="572769">
                <a:moveTo>
                  <a:pt x="550684" y="223520"/>
                </a:moveTo>
                <a:lnTo>
                  <a:pt x="326961" y="223520"/>
                </a:lnTo>
                <a:lnTo>
                  <a:pt x="326961" y="0"/>
                </a:lnTo>
                <a:lnTo>
                  <a:pt x="223723" y="0"/>
                </a:lnTo>
                <a:lnTo>
                  <a:pt x="223723" y="223520"/>
                </a:lnTo>
                <a:lnTo>
                  <a:pt x="0" y="223520"/>
                </a:lnTo>
                <a:lnTo>
                  <a:pt x="0" y="349250"/>
                </a:lnTo>
                <a:lnTo>
                  <a:pt x="223723" y="349250"/>
                </a:lnTo>
                <a:lnTo>
                  <a:pt x="223723" y="572770"/>
                </a:lnTo>
                <a:lnTo>
                  <a:pt x="326961" y="572770"/>
                </a:lnTo>
                <a:lnTo>
                  <a:pt x="326961" y="349250"/>
                </a:lnTo>
                <a:lnTo>
                  <a:pt x="550684" y="349250"/>
                </a:lnTo>
                <a:lnTo>
                  <a:pt x="550684" y="223520"/>
                </a:lnTo>
                <a:close/>
              </a:path>
            </a:pathLst>
          </a:custGeom>
          <a:solidFill>
            <a:srgbClr val="118CC4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object 18"/>
          <p:cNvSpPr/>
          <p:nvPr/>
        </p:nvSpPr>
        <p:spPr>
          <a:xfrm>
            <a:off x="6418030" y="3084998"/>
            <a:ext cx="551180" cy="572770"/>
          </a:xfrm>
          <a:custGeom>
            <a:avLst/>
            <a:gdLst/>
            <a:ahLst/>
            <a:cxnLst/>
            <a:rect l="l" t="t" r="r" b="b"/>
            <a:pathLst>
              <a:path w="551179" h="572769">
                <a:moveTo>
                  <a:pt x="550684" y="223520"/>
                </a:moveTo>
                <a:lnTo>
                  <a:pt x="326961" y="223520"/>
                </a:lnTo>
                <a:lnTo>
                  <a:pt x="326961" y="0"/>
                </a:lnTo>
                <a:lnTo>
                  <a:pt x="223723" y="0"/>
                </a:lnTo>
                <a:lnTo>
                  <a:pt x="223723" y="223520"/>
                </a:lnTo>
                <a:lnTo>
                  <a:pt x="0" y="223520"/>
                </a:lnTo>
                <a:lnTo>
                  <a:pt x="0" y="349250"/>
                </a:lnTo>
                <a:lnTo>
                  <a:pt x="223723" y="349250"/>
                </a:lnTo>
                <a:lnTo>
                  <a:pt x="223723" y="572770"/>
                </a:lnTo>
                <a:lnTo>
                  <a:pt x="326961" y="572770"/>
                </a:lnTo>
                <a:lnTo>
                  <a:pt x="326961" y="349250"/>
                </a:lnTo>
                <a:lnTo>
                  <a:pt x="550684" y="349250"/>
                </a:lnTo>
                <a:lnTo>
                  <a:pt x="550684" y="223520"/>
                </a:lnTo>
                <a:close/>
              </a:path>
            </a:pathLst>
          </a:custGeom>
          <a:solidFill>
            <a:srgbClr val="118CC4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object 18"/>
          <p:cNvSpPr/>
          <p:nvPr/>
        </p:nvSpPr>
        <p:spPr>
          <a:xfrm>
            <a:off x="6805656" y="4117849"/>
            <a:ext cx="551180" cy="572770"/>
          </a:xfrm>
          <a:custGeom>
            <a:avLst/>
            <a:gdLst/>
            <a:ahLst/>
            <a:cxnLst/>
            <a:rect l="l" t="t" r="r" b="b"/>
            <a:pathLst>
              <a:path w="551179" h="572769">
                <a:moveTo>
                  <a:pt x="550684" y="223520"/>
                </a:moveTo>
                <a:lnTo>
                  <a:pt x="326961" y="223520"/>
                </a:lnTo>
                <a:lnTo>
                  <a:pt x="326961" y="0"/>
                </a:lnTo>
                <a:lnTo>
                  <a:pt x="223723" y="0"/>
                </a:lnTo>
                <a:lnTo>
                  <a:pt x="223723" y="223520"/>
                </a:lnTo>
                <a:lnTo>
                  <a:pt x="0" y="223520"/>
                </a:lnTo>
                <a:lnTo>
                  <a:pt x="0" y="349250"/>
                </a:lnTo>
                <a:lnTo>
                  <a:pt x="223723" y="349250"/>
                </a:lnTo>
                <a:lnTo>
                  <a:pt x="223723" y="572770"/>
                </a:lnTo>
                <a:lnTo>
                  <a:pt x="326961" y="572770"/>
                </a:lnTo>
                <a:lnTo>
                  <a:pt x="326961" y="349250"/>
                </a:lnTo>
                <a:lnTo>
                  <a:pt x="550684" y="349250"/>
                </a:lnTo>
                <a:lnTo>
                  <a:pt x="550684" y="223520"/>
                </a:lnTo>
                <a:close/>
              </a:path>
            </a:pathLst>
          </a:custGeom>
          <a:solidFill>
            <a:srgbClr val="118CC4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bject 18"/>
          <p:cNvSpPr/>
          <p:nvPr/>
        </p:nvSpPr>
        <p:spPr>
          <a:xfrm>
            <a:off x="7923423" y="3792323"/>
            <a:ext cx="551180" cy="572770"/>
          </a:xfrm>
          <a:custGeom>
            <a:avLst/>
            <a:gdLst/>
            <a:ahLst/>
            <a:cxnLst/>
            <a:rect l="l" t="t" r="r" b="b"/>
            <a:pathLst>
              <a:path w="551179" h="572769">
                <a:moveTo>
                  <a:pt x="550684" y="223520"/>
                </a:moveTo>
                <a:lnTo>
                  <a:pt x="326961" y="223520"/>
                </a:lnTo>
                <a:lnTo>
                  <a:pt x="326961" y="0"/>
                </a:lnTo>
                <a:lnTo>
                  <a:pt x="223723" y="0"/>
                </a:lnTo>
                <a:lnTo>
                  <a:pt x="223723" y="223520"/>
                </a:lnTo>
                <a:lnTo>
                  <a:pt x="0" y="223520"/>
                </a:lnTo>
                <a:lnTo>
                  <a:pt x="0" y="349250"/>
                </a:lnTo>
                <a:lnTo>
                  <a:pt x="223723" y="349250"/>
                </a:lnTo>
                <a:lnTo>
                  <a:pt x="223723" y="572770"/>
                </a:lnTo>
                <a:lnTo>
                  <a:pt x="326961" y="572770"/>
                </a:lnTo>
                <a:lnTo>
                  <a:pt x="326961" y="349250"/>
                </a:lnTo>
                <a:lnTo>
                  <a:pt x="550684" y="349250"/>
                </a:lnTo>
                <a:lnTo>
                  <a:pt x="550684" y="223520"/>
                </a:lnTo>
                <a:close/>
              </a:path>
            </a:pathLst>
          </a:custGeom>
          <a:solidFill>
            <a:srgbClr val="118CC4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object 23"/>
              <p:cNvSpPr txBox="1"/>
              <p:nvPr/>
            </p:nvSpPr>
            <p:spPr>
              <a:xfrm>
                <a:off x="9073245" y="4404234"/>
                <a:ext cx="627066" cy="383867"/>
              </a:xfrm>
              <a:prstGeom prst="rect">
                <a:avLst/>
              </a:prstGeom>
            </p:spPr>
            <p:txBody>
              <a:bodyPr vert="horz" wrap="square" lIns="0" tIns="14395" rIns="0" bIns="0" rtlCol="0">
                <a:spAutoFit/>
              </a:bodyPr>
              <a:lstStyle/>
              <a:p>
                <a:pPr marL="11430">
                  <a:spcBef>
                    <a:spcPts val="11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400" b="1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44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245" y="4404234"/>
                <a:ext cx="627066" cy="383867"/>
              </a:xfrm>
              <a:prstGeom prst="rect">
                <a:avLst/>
              </a:prstGeom>
              <a:blipFill rotWithShape="1">
                <a:blip r:embed="rId8"/>
                <a:stretch>
                  <a:fillRect l="-58" t="-133" r="8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926858" y="1807501"/>
                <a:ext cx="10325950" cy="526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core</m:t>
                      </m:r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8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</m:sub>
                      </m:sSub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贷款金额</m:t>
                      </m:r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2</m:t>
                          </m:r>
                        </m:sub>
                      </m:sSub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年收入</m:t>
                      </m:r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3</m:t>
                          </m:r>
                        </m:sub>
                      </m:sSub>
                      <m:r>
                        <a:rPr lang="zh-CN" altLang="en-US" sz="28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zh-CN" altLang="en-US" sz="2800" i="1" spc="6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贷款</m:t>
                      </m:r>
                      <m:r>
                        <a:rPr lang="zh-CN" altLang="en-US" sz="280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利率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858" y="1807501"/>
                <a:ext cx="10325950" cy="526041"/>
              </a:xfrm>
              <a:prstGeom prst="rect">
                <a:avLst/>
              </a:prstGeom>
              <a:blipFill rotWithShape="1">
                <a:blip r:embed="rId9"/>
                <a:stretch>
                  <a:fillRect l="-4" t="-55" r="6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bject 58"/>
          <p:cNvSpPr txBox="1"/>
          <p:nvPr/>
        </p:nvSpPr>
        <p:spPr>
          <a:xfrm>
            <a:off x="207021" y="4524459"/>
            <a:ext cx="3583438" cy="797350"/>
          </a:xfrm>
          <a:prstGeom prst="rect">
            <a:avLst/>
          </a:prstGeom>
        </p:spPr>
        <p:txBody>
          <a:bodyPr vert="horz" wrap="square" lIns="0" tIns="27639" rIns="0" bIns="0" rtlCol="0">
            <a:spAutoFit/>
          </a:bodyPr>
          <a:lstStyle/>
          <a:p>
            <a:pPr marL="11430" marR="4445">
              <a:lnSpc>
                <a:spcPts val="2900"/>
              </a:lnSpc>
              <a:spcBef>
                <a:spcPts val="22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决策边界：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1430" marR="4445">
              <a:lnSpc>
                <a:spcPts val="2900"/>
              </a:lnSpc>
              <a:spcBef>
                <a:spcPts val="22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将</a:t>
            </a:r>
            <a:r>
              <a:rPr lang="zh-CN" altLang="en-US" sz="2800" b="1" dirty="0">
                <a:solidFill>
                  <a:srgbClr val="009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altLang="zh-CN" sz="2800" b="1" dirty="0">
                <a:solidFill>
                  <a:srgbClr val="009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</a:t>
            </a:r>
            <a:r>
              <a:rPr lang="zh-CN" altLang="en-US" sz="2800" b="1" dirty="0">
                <a:solidFill>
                  <a:srgbClr val="009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和</a:t>
            </a:r>
            <a:r>
              <a:rPr lang="zh-CN" altLang="en-US" sz="2800" b="1" dirty="0">
                <a:solidFill>
                  <a:srgbClr val="FC55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altLang="zh-CN" sz="2800" b="1" dirty="0">
                <a:solidFill>
                  <a:srgbClr val="FC55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‑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区分开的面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607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决策边界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30048" y="828293"/>
            <a:ext cx="7627905" cy="66178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对于更一般的特征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…</a:t>
            </a:r>
            <a:endParaRPr lang="en-SG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731881" y="2765163"/>
            <a:ext cx="6069220" cy="2869990"/>
            <a:chOff x="3566050" y="3159621"/>
            <a:chExt cx="4400881" cy="2081073"/>
          </a:xfrm>
        </p:grpSpPr>
        <p:sp>
          <p:nvSpPr>
            <p:cNvPr id="2" name="object 4"/>
            <p:cNvSpPr/>
            <p:nvPr/>
          </p:nvSpPr>
          <p:spPr>
            <a:xfrm>
              <a:off x="4639073" y="4192554"/>
              <a:ext cx="241844" cy="92131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3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35" y="101463"/>
                  </a:lnTo>
                  <a:lnTo>
                    <a:pt x="26663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3" name="object 5"/>
            <p:cNvSpPr/>
            <p:nvPr/>
          </p:nvSpPr>
          <p:spPr>
            <a:xfrm>
              <a:off x="4639073" y="4192554"/>
              <a:ext cx="241844" cy="92131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83"/>
                  </a:moveTo>
                  <a:lnTo>
                    <a:pt x="266635" y="101483"/>
                  </a:lnTo>
                  <a:lnTo>
                    <a:pt x="266635" y="0"/>
                  </a:lnTo>
                  <a:lnTo>
                    <a:pt x="0" y="0"/>
                  </a:lnTo>
                  <a:lnTo>
                    <a:pt x="0" y="10148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4" name="object 6"/>
            <p:cNvSpPr/>
            <p:nvPr/>
          </p:nvSpPr>
          <p:spPr>
            <a:xfrm>
              <a:off x="4518172" y="3640274"/>
              <a:ext cx="241844" cy="92131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3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35" y="101463"/>
                  </a:lnTo>
                  <a:lnTo>
                    <a:pt x="26663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5" name="object 7"/>
            <p:cNvSpPr/>
            <p:nvPr/>
          </p:nvSpPr>
          <p:spPr>
            <a:xfrm>
              <a:off x="4518172" y="3640274"/>
              <a:ext cx="241844" cy="92131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35" y="101463"/>
                  </a:lnTo>
                  <a:lnTo>
                    <a:pt x="26663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6" name="object 8"/>
            <p:cNvSpPr/>
            <p:nvPr/>
          </p:nvSpPr>
          <p:spPr>
            <a:xfrm>
              <a:off x="5612018" y="3159621"/>
              <a:ext cx="241844" cy="92131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5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55" y="101463"/>
                  </a:lnTo>
                  <a:lnTo>
                    <a:pt x="26665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7" name="object 9"/>
            <p:cNvSpPr/>
            <p:nvPr/>
          </p:nvSpPr>
          <p:spPr>
            <a:xfrm>
              <a:off x="5612018" y="3159621"/>
              <a:ext cx="241844" cy="92131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55" y="101463"/>
                  </a:lnTo>
                  <a:lnTo>
                    <a:pt x="26665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8" name="object 10"/>
            <p:cNvSpPr/>
            <p:nvPr/>
          </p:nvSpPr>
          <p:spPr>
            <a:xfrm>
              <a:off x="4952213" y="3358547"/>
              <a:ext cx="241844" cy="92131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3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35" y="101463"/>
                  </a:lnTo>
                  <a:lnTo>
                    <a:pt x="26663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9" name="object 11"/>
            <p:cNvSpPr/>
            <p:nvPr/>
          </p:nvSpPr>
          <p:spPr>
            <a:xfrm>
              <a:off x="4952213" y="3358547"/>
              <a:ext cx="241844" cy="92131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83"/>
                  </a:moveTo>
                  <a:lnTo>
                    <a:pt x="266635" y="101483"/>
                  </a:lnTo>
                  <a:lnTo>
                    <a:pt x="266635" y="0"/>
                  </a:lnTo>
                  <a:lnTo>
                    <a:pt x="0" y="0"/>
                  </a:lnTo>
                  <a:lnTo>
                    <a:pt x="0" y="10148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10" name="object 12"/>
            <p:cNvSpPr/>
            <p:nvPr/>
          </p:nvSpPr>
          <p:spPr>
            <a:xfrm>
              <a:off x="4984881" y="3858251"/>
              <a:ext cx="241844" cy="92131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35" y="0"/>
                  </a:moveTo>
                  <a:lnTo>
                    <a:pt x="0" y="0"/>
                  </a:lnTo>
                  <a:lnTo>
                    <a:pt x="0" y="101483"/>
                  </a:lnTo>
                  <a:lnTo>
                    <a:pt x="266635" y="101483"/>
                  </a:lnTo>
                  <a:lnTo>
                    <a:pt x="26663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11" name="object 13"/>
            <p:cNvSpPr/>
            <p:nvPr/>
          </p:nvSpPr>
          <p:spPr>
            <a:xfrm>
              <a:off x="4984881" y="3858251"/>
              <a:ext cx="241844" cy="92131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83"/>
                  </a:moveTo>
                  <a:lnTo>
                    <a:pt x="266635" y="101483"/>
                  </a:lnTo>
                  <a:lnTo>
                    <a:pt x="266635" y="0"/>
                  </a:lnTo>
                  <a:lnTo>
                    <a:pt x="0" y="0"/>
                  </a:lnTo>
                  <a:lnTo>
                    <a:pt x="0" y="10148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pic>
          <p:nvPicPr>
            <p:cNvPr id="12" name="object 1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471428" y="3406387"/>
              <a:ext cx="2468787" cy="1484072"/>
            </a:xfrm>
            <a:prstGeom prst="rect">
              <a:avLst/>
            </a:prstGeom>
          </p:spPr>
        </p:pic>
        <p:sp>
          <p:nvSpPr>
            <p:cNvPr id="16" name="object 19"/>
            <p:cNvSpPr/>
            <p:nvPr/>
          </p:nvSpPr>
          <p:spPr>
            <a:xfrm>
              <a:off x="4518171" y="3450573"/>
              <a:ext cx="2360856" cy="1366418"/>
            </a:xfrm>
            <a:custGeom>
              <a:avLst/>
              <a:gdLst/>
              <a:ahLst/>
              <a:cxnLst/>
              <a:rect l="l" t="t" r="r" b="b"/>
              <a:pathLst>
                <a:path w="2603500" h="1506854">
                  <a:moveTo>
                    <a:pt x="0" y="1506528"/>
                  </a:moveTo>
                  <a:lnTo>
                    <a:pt x="2602887" y="0"/>
                  </a:lnTo>
                </a:path>
              </a:pathLst>
            </a:custGeom>
            <a:ln w="64331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18" name="object 20"/>
            <p:cNvSpPr/>
            <p:nvPr/>
          </p:nvSpPr>
          <p:spPr>
            <a:xfrm>
              <a:off x="5062670" y="4551501"/>
              <a:ext cx="255088" cy="264877"/>
            </a:xfrm>
            <a:custGeom>
              <a:avLst/>
              <a:gdLst/>
              <a:ahLst/>
              <a:cxnLst/>
              <a:rect l="l" t="t" r="r" b="b"/>
              <a:pathLst>
                <a:path w="281304" h="292100">
                  <a:moveTo>
                    <a:pt x="280797" y="114300"/>
                  </a:moveTo>
                  <a:lnTo>
                    <a:pt x="166751" y="114300"/>
                  </a:lnTo>
                  <a:lnTo>
                    <a:pt x="166751" y="0"/>
                  </a:lnTo>
                  <a:lnTo>
                    <a:pt x="114096" y="0"/>
                  </a:lnTo>
                  <a:lnTo>
                    <a:pt x="114096" y="114300"/>
                  </a:lnTo>
                  <a:lnTo>
                    <a:pt x="0" y="114300"/>
                  </a:lnTo>
                  <a:lnTo>
                    <a:pt x="0" y="177800"/>
                  </a:lnTo>
                  <a:lnTo>
                    <a:pt x="114096" y="177800"/>
                  </a:lnTo>
                  <a:lnTo>
                    <a:pt x="114096" y="292100"/>
                  </a:lnTo>
                  <a:lnTo>
                    <a:pt x="166751" y="292100"/>
                  </a:lnTo>
                  <a:lnTo>
                    <a:pt x="166751" y="177800"/>
                  </a:lnTo>
                  <a:lnTo>
                    <a:pt x="280797" y="177800"/>
                  </a:lnTo>
                  <a:lnTo>
                    <a:pt x="280797" y="11430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20" name="object 21"/>
            <p:cNvSpPr/>
            <p:nvPr/>
          </p:nvSpPr>
          <p:spPr>
            <a:xfrm>
              <a:off x="5062677" y="4551540"/>
              <a:ext cx="255088" cy="265452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68"/>
                  </a:moveTo>
                  <a:lnTo>
                    <a:pt x="114098" y="114068"/>
                  </a:lnTo>
                  <a:lnTo>
                    <a:pt x="114098" y="0"/>
                  </a:lnTo>
                  <a:lnTo>
                    <a:pt x="166748" y="0"/>
                  </a:lnTo>
                  <a:lnTo>
                    <a:pt x="166748" y="114068"/>
                  </a:lnTo>
                  <a:lnTo>
                    <a:pt x="280795" y="114068"/>
                  </a:lnTo>
                  <a:lnTo>
                    <a:pt x="280795" y="178317"/>
                  </a:lnTo>
                  <a:lnTo>
                    <a:pt x="166748" y="178317"/>
                  </a:lnTo>
                  <a:lnTo>
                    <a:pt x="166748" y="292406"/>
                  </a:lnTo>
                  <a:lnTo>
                    <a:pt x="114098" y="292406"/>
                  </a:lnTo>
                  <a:lnTo>
                    <a:pt x="114098" y="178317"/>
                  </a:lnTo>
                  <a:lnTo>
                    <a:pt x="0" y="178317"/>
                  </a:lnTo>
                  <a:lnTo>
                    <a:pt x="0" y="11406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21" name="object 22"/>
            <p:cNvSpPr/>
            <p:nvPr/>
          </p:nvSpPr>
          <p:spPr>
            <a:xfrm>
              <a:off x="6623840" y="4181825"/>
              <a:ext cx="255088" cy="264877"/>
            </a:xfrm>
            <a:custGeom>
              <a:avLst/>
              <a:gdLst/>
              <a:ahLst/>
              <a:cxnLst/>
              <a:rect l="l" t="t" r="r" b="b"/>
              <a:pathLst>
                <a:path w="281304" h="292100">
                  <a:moveTo>
                    <a:pt x="280797" y="113030"/>
                  </a:moveTo>
                  <a:lnTo>
                    <a:pt x="166751" y="113030"/>
                  </a:lnTo>
                  <a:lnTo>
                    <a:pt x="166751" y="0"/>
                  </a:lnTo>
                  <a:lnTo>
                    <a:pt x="114096" y="0"/>
                  </a:lnTo>
                  <a:lnTo>
                    <a:pt x="114096" y="113030"/>
                  </a:lnTo>
                  <a:lnTo>
                    <a:pt x="0" y="113030"/>
                  </a:lnTo>
                  <a:lnTo>
                    <a:pt x="0" y="177800"/>
                  </a:lnTo>
                  <a:lnTo>
                    <a:pt x="114096" y="177800"/>
                  </a:lnTo>
                  <a:lnTo>
                    <a:pt x="114096" y="292100"/>
                  </a:lnTo>
                  <a:lnTo>
                    <a:pt x="166751" y="292100"/>
                  </a:lnTo>
                  <a:lnTo>
                    <a:pt x="166751" y="177800"/>
                  </a:lnTo>
                  <a:lnTo>
                    <a:pt x="280797" y="177800"/>
                  </a:lnTo>
                  <a:lnTo>
                    <a:pt x="280797" y="11303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22" name="object 23"/>
            <p:cNvSpPr/>
            <p:nvPr/>
          </p:nvSpPr>
          <p:spPr>
            <a:xfrm>
              <a:off x="6623847" y="4181432"/>
              <a:ext cx="255088" cy="265452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68"/>
                  </a:moveTo>
                  <a:lnTo>
                    <a:pt x="114098" y="114068"/>
                  </a:lnTo>
                  <a:lnTo>
                    <a:pt x="114098" y="0"/>
                  </a:lnTo>
                  <a:lnTo>
                    <a:pt x="166748" y="0"/>
                  </a:lnTo>
                  <a:lnTo>
                    <a:pt x="166748" y="114068"/>
                  </a:lnTo>
                  <a:lnTo>
                    <a:pt x="280795" y="114068"/>
                  </a:lnTo>
                  <a:lnTo>
                    <a:pt x="280795" y="178343"/>
                  </a:lnTo>
                  <a:lnTo>
                    <a:pt x="166748" y="178343"/>
                  </a:lnTo>
                  <a:lnTo>
                    <a:pt x="166748" y="292411"/>
                  </a:lnTo>
                  <a:lnTo>
                    <a:pt x="114098" y="292411"/>
                  </a:lnTo>
                  <a:lnTo>
                    <a:pt x="114098" y="178343"/>
                  </a:lnTo>
                  <a:lnTo>
                    <a:pt x="0" y="178343"/>
                  </a:lnTo>
                  <a:lnTo>
                    <a:pt x="0" y="11406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23" name="object 24"/>
            <p:cNvSpPr/>
            <p:nvPr/>
          </p:nvSpPr>
          <p:spPr>
            <a:xfrm>
              <a:off x="6033477" y="4192190"/>
              <a:ext cx="255088" cy="266028"/>
            </a:xfrm>
            <a:custGeom>
              <a:avLst/>
              <a:gdLst/>
              <a:ahLst/>
              <a:cxnLst/>
              <a:rect l="l" t="t" r="r" b="b"/>
              <a:pathLst>
                <a:path w="281304" h="293370">
                  <a:moveTo>
                    <a:pt x="280847" y="114300"/>
                  </a:moveTo>
                  <a:lnTo>
                    <a:pt x="166751" y="114300"/>
                  </a:lnTo>
                  <a:lnTo>
                    <a:pt x="166751" y="0"/>
                  </a:lnTo>
                  <a:lnTo>
                    <a:pt x="114096" y="0"/>
                  </a:lnTo>
                  <a:lnTo>
                    <a:pt x="114096" y="114300"/>
                  </a:lnTo>
                  <a:lnTo>
                    <a:pt x="0" y="114300"/>
                  </a:lnTo>
                  <a:lnTo>
                    <a:pt x="0" y="179070"/>
                  </a:lnTo>
                  <a:lnTo>
                    <a:pt x="114096" y="179070"/>
                  </a:lnTo>
                  <a:lnTo>
                    <a:pt x="114096" y="293370"/>
                  </a:lnTo>
                  <a:lnTo>
                    <a:pt x="166751" y="293370"/>
                  </a:lnTo>
                  <a:lnTo>
                    <a:pt x="166751" y="179070"/>
                  </a:lnTo>
                  <a:lnTo>
                    <a:pt x="280847" y="179070"/>
                  </a:lnTo>
                  <a:lnTo>
                    <a:pt x="280847" y="11430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24" name="object 25"/>
            <p:cNvSpPr/>
            <p:nvPr/>
          </p:nvSpPr>
          <p:spPr>
            <a:xfrm>
              <a:off x="6033484" y="4192553"/>
              <a:ext cx="255088" cy="265452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88"/>
                  </a:moveTo>
                  <a:lnTo>
                    <a:pt x="114098" y="114088"/>
                  </a:lnTo>
                  <a:lnTo>
                    <a:pt x="114098" y="0"/>
                  </a:lnTo>
                  <a:lnTo>
                    <a:pt x="166748" y="0"/>
                  </a:lnTo>
                  <a:lnTo>
                    <a:pt x="166748" y="114088"/>
                  </a:lnTo>
                  <a:lnTo>
                    <a:pt x="280847" y="114088"/>
                  </a:lnTo>
                  <a:lnTo>
                    <a:pt x="280847" y="178338"/>
                  </a:lnTo>
                  <a:lnTo>
                    <a:pt x="166748" y="178338"/>
                  </a:lnTo>
                  <a:lnTo>
                    <a:pt x="166748" y="292406"/>
                  </a:lnTo>
                  <a:lnTo>
                    <a:pt x="114098" y="292406"/>
                  </a:lnTo>
                  <a:lnTo>
                    <a:pt x="114098" y="178338"/>
                  </a:lnTo>
                  <a:lnTo>
                    <a:pt x="0" y="178338"/>
                  </a:lnTo>
                  <a:lnTo>
                    <a:pt x="0" y="11408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25" name="object 26"/>
            <p:cNvSpPr/>
            <p:nvPr/>
          </p:nvSpPr>
          <p:spPr>
            <a:xfrm>
              <a:off x="6022605" y="4551501"/>
              <a:ext cx="255088" cy="264877"/>
            </a:xfrm>
            <a:custGeom>
              <a:avLst/>
              <a:gdLst/>
              <a:ahLst/>
              <a:cxnLst/>
              <a:rect l="l" t="t" r="r" b="b"/>
              <a:pathLst>
                <a:path w="281304" h="292100">
                  <a:moveTo>
                    <a:pt x="280746" y="114300"/>
                  </a:moveTo>
                  <a:lnTo>
                    <a:pt x="166700" y="114300"/>
                  </a:lnTo>
                  <a:lnTo>
                    <a:pt x="166700" y="0"/>
                  </a:lnTo>
                  <a:lnTo>
                    <a:pt x="114046" y="0"/>
                  </a:lnTo>
                  <a:lnTo>
                    <a:pt x="114046" y="114300"/>
                  </a:lnTo>
                  <a:lnTo>
                    <a:pt x="0" y="114300"/>
                  </a:lnTo>
                  <a:lnTo>
                    <a:pt x="0" y="177800"/>
                  </a:lnTo>
                  <a:lnTo>
                    <a:pt x="114046" y="177800"/>
                  </a:lnTo>
                  <a:lnTo>
                    <a:pt x="114046" y="292100"/>
                  </a:lnTo>
                  <a:lnTo>
                    <a:pt x="166700" y="292100"/>
                  </a:lnTo>
                  <a:lnTo>
                    <a:pt x="166700" y="177800"/>
                  </a:lnTo>
                  <a:lnTo>
                    <a:pt x="280746" y="177800"/>
                  </a:lnTo>
                  <a:lnTo>
                    <a:pt x="280746" y="11430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26" name="object 27"/>
            <p:cNvSpPr/>
            <p:nvPr/>
          </p:nvSpPr>
          <p:spPr>
            <a:xfrm>
              <a:off x="6022610" y="4551540"/>
              <a:ext cx="255088" cy="265452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68"/>
                  </a:moveTo>
                  <a:lnTo>
                    <a:pt x="114047" y="114068"/>
                  </a:lnTo>
                  <a:lnTo>
                    <a:pt x="114047" y="0"/>
                  </a:lnTo>
                  <a:lnTo>
                    <a:pt x="166696" y="0"/>
                  </a:lnTo>
                  <a:lnTo>
                    <a:pt x="166696" y="114068"/>
                  </a:lnTo>
                  <a:lnTo>
                    <a:pt x="280744" y="114068"/>
                  </a:lnTo>
                  <a:lnTo>
                    <a:pt x="280744" y="178317"/>
                  </a:lnTo>
                  <a:lnTo>
                    <a:pt x="166696" y="178317"/>
                  </a:lnTo>
                  <a:lnTo>
                    <a:pt x="166696" y="292406"/>
                  </a:lnTo>
                  <a:lnTo>
                    <a:pt x="114047" y="292406"/>
                  </a:lnTo>
                  <a:lnTo>
                    <a:pt x="114047" y="178317"/>
                  </a:lnTo>
                  <a:lnTo>
                    <a:pt x="0" y="178317"/>
                  </a:lnTo>
                  <a:lnTo>
                    <a:pt x="0" y="11406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27" name="object 28"/>
            <p:cNvSpPr/>
            <p:nvPr/>
          </p:nvSpPr>
          <p:spPr>
            <a:xfrm>
              <a:off x="5564829" y="4975303"/>
              <a:ext cx="255088" cy="264877"/>
            </a:xfrm>
            <a:custGeom>
              <a:avLst/>
              <a:gdLst/>
              <a:ahLst/>
              <a:cxnLst/>
              <a:rect l="l" t="t" r="r" b="b"/>
              <a:pathLst>
                <a:path w="281304" h="292100">
                  <a:moveTo>
                    <a:pt x="280847" y="114300"/>
                  </a:moveTo>
                  <a:lnTo>
                    <a:pt x="166751" y="114300"/>
                  </a:lnTo>
                  <a:lnTo>
                    <a:pt x="166751" y="0"/>
                  </a:lnTo>
                  <a:lnTo>
                    <a:pt x="114096" y="0"/>
                  </a:lnTo>
                  <a:lnTo>
                    <a:pt x="114096" y="114300"/>
                  </a:lnTo>
                  <a:lnTo>
                    <a:pt x="0" y="114300"/>
                  </a:lnTo>
                  <a:lnTo>
                    <a:pt x="0" y="177800"/>
                  </a:lnTo>
                  <a:lnTo>
                    <a:pt x="114096" y="177800"/>
                  </a:lnTo>
                  <a:lnTo>
                    <a:pt x="114096" y="292100"/>
                  </a:lnTo>
                  <a:lnTo>
                    <a:pt x="166751" y="292100"/>
                  </a:lnTo>
                  <a:lnTo>
                    <a:pt x="166751" y="177800"/>
                  </a:lnTo>
                  <a:lnTo>
                    <a:pt x="280847" y="177800"/>
                  </a:lnTo>
                  <a:lnTo>
                    <a:pt x="280847" y="11430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sp>
          <p:nvSpPr>
            <p:cNvPr id="28" name="object 29"/>
            <p:cNvSpPr/>
            <p:nvPr/>
          </p:nvSpPr>
          <p:spPr>
            <a:xfrm>
              <a:off x="5564835" y="4975242"/>
              <a:ext cx="255088" cy="265452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88"/>
                  </a:moveTo>
                  <a:lnTo>
                    <a:pt x="114098" y="114088"/>
                  </a:lnTo>
                  <a:lnTo>
                    <a:pt x="114098" y="0"/>
                  </a:lnTo>
                  <a:lnTo>
                    <a:pt x="166748" y="0"/>
                  </a:lnTo>
                  <a:lnTo>
                    <a:pt x="166748" y="114088"/>
                  </a:lnTo>
                  <a:lnTo>
                    <a:pt x="280847" y="114088"/>
                  </a:lnTo>
                  <a:lnTo>
                    <a:pt x="280847" y="178338"/>
                  </a:lnTo>
                  <a:lnTo>
                    <a:pt x="166748" y="178338"/>
                  </a:lnTo>
                  <a:lnTo>
                    <a:pt x="166748" y="292406"/>
                  </a:lnTo>
                  <a:lnTo>
                    <a:pt x="114098" y="292406"/>
                  </a:lnTo>
                  <a:lnTo>
                    <a:pt x="114098" y="178338"/>
                  </a:lnTo>
                  <a:lnTo>
                    <a:pt x="0" y="178338"/>
                  </a:lnTo>
                  <a:lnTo>
                    <a:pt x="0" y="11408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  <p:pic>
          <p:nvPicPr>
            <p:cNvPr id="29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6050" y="3775071"/>
              <a:ext cx="4400881" cy="812039"/>
            </a:xfrm>
            <a:prstGeom prst="rect">
              <a:avLst/>
            </a:prstGeom>
          </p:spPr>
        </p:pic>
        <p:sp>
          <p:nvSpPr>
            <p:cNvPr id="30" name="object 31"/>
            <p:cNvSpPr/>
            <p:nvPr/>
          </p:nvSpPr>
          <p:spPr>
            <a:xfrm>
              <a:off x="3619043" y="3826696"/>
              <a:ext cx="4315761" cy="681769"/>
            </a:xfrm>
            <a:custGeom>
              <a:avLst/>
              <a:gdLst/>
              <a:ahLst/>
              <a:cxnLst/>
              <a:rect l="l" t="t" r="r" b="b"/>
              <a:pathLst>
                <a:path w="4759325" h="751839">
                  <a:moveTo>
                    <a:pt x="0" y="108417"/>
                  </a:moveTo>
                  <a:lnTo>
                    <a:pt x="39679" y="146631"/>
                  </a:lnTo>
                  <a:lnTo>
                    <a:pt x="79353" y="184727"/>
                  </a:lnTo>
                  <a:lnTo>
                    <a:pt x="119019" y="222586"/>
                  </a:lnTo>
                  <a:lnTo>
                    <a:pt x="158671" y="260088"/>
                  </a:lnTo>
                  <a:lnTo>
                    <a:pt x="198306" y="297115"/>
                  </a:lnTo>
                  <a:lnTo>
                    <a:pt x="237918" y="333547"/>
                  </a:lnTo>
                  <a:lnTo>
                    <a:pt x="277503" y="369267"/>
                  </a:lnTo>
                  <a:lnTo>
                    <a:pt x="317057" y="404155"/>
                  </a:lnTo>
                  <a:lnTo>
                    <a:pt x="356576" y="438093"/>
                  </a:lnTo>
                  <a:lnTo>
                    <a:pt x="396054" y="470962"/>
                  </a:lnTo>
                  <a:lnTo>
                    <a:pt x="435488" y="502642"/>
                  </a:lnTo>
                  <a:lnTo>
                    <a:pt x="474873" y="533016"/>
                  </a:lnTo>
                  <a:lnTo>
                    <a:pt x="514205" y="561963"/>
                  </a:lnTo>
                  <a:lnTo>
                    <a:pt x="553479" y="589367"/>
                  </a:lnTo>
                  <a:lnTo>
                    <a:pt x="592690" y="615107"/>
                  </a:lnTo>
                  <a:lnTo>
                    <a:pt x="631835" y="639065"/>
                  </a:lnTo>
                  <a:lnTo>
                    <a:pt x="670908" y="661122"/>
                  </a:lnTo>
                  <a:lnTo>
                    <a:pt x="709906" y="681159"/>
                  </a:lnTo>
                  <a:lnTo>
                    <a:pt x="748824" y="699058"/>
                  </a:lnTo>
                  <a:lnTo>
                    <a:pt x="787657" y="714700"/>
                  </a:lnTo>
                  <a:lnTo>
                    <a:pt x="826401" y="727965"/>
                  </a:lnTo>
                  <a:lnTo>
                    <a:pt x="865052" y="738736"/>
                  </a:lnTo>
                  <a:lnTo>
                    <a:pt x="903605" y="746892"/>
                  </a:lnTo>
                  <a:lnTo>
                    <a:pt x="948220" y="751642"/>
                  </a:lnTo>
                  <a:lnTo>
                    <a:pt x="993436" y="750628"/>
                  </a:lnTo>
                  <a:lnTo>
                    <a:pt x="1039132" y="744444"/>
                  </a:lnTo>
                  <a:lnTo>
                    <a:pt x="1085185" y="733682"/>
                  </a:lnTo>
                  <a:lnTo>
                    <a:pt x="1131473" y="718931"/>
                  </a:lnTo>
                  <a:lnTo>
                    <a:pt x="1177874" y="700786"/>
                  </a:lnTo>
                  <a:lnTo>
                    <a:pt x="1224266" y="679837"/>
                  </a:lnTo>
                  <a:lnTo>
                    <a:pt x="1270528" y="656676"/>
                  </a:lnTo>
                  <a:lnTo>
                    <a:pt x="1316537" y="631895"/>
                  </a:lnTo>
                  <a:lnTo>
                    <a:pt x="1362170" y="606085"/>
                  </a:lnTo>
                  <a:lnTo>
                    <a:pt x="1407308" y="579839"/>
                  </a:lnTo>
                  <a:lnTo>
                    <a:pt x="1451826" y="553749"/>
                  </a:lnTo>
                  <a:lnTo>
                    <a:pt x="1495603" y="528406"/>
                  </a:lnTo>
                  <a:lnTo>
                    <a:pt x="1538518" y="504401"/>
                  </a:lnTo>
                  <a:lnTo>
                    <a:pt x="1580448" y="482327"/>
                  </a:lnTo>
                  <a:lnTo>
                    <a:pt x="1621271" y="462776"/>
                  </a:lnTo>
                  <a:lnTo>
                    <a:pt x="1660865" y="446339"/>
                  </a:lnTo>
                  <a:lnTo>
                    <a:pt x="1699109" y="433608"/>
                  </a:lnTo>
                  <a:lnTo>
                    <a:pt x="1771055" y="421630"/>
                  </a:lnTo>
                  <a:lnTo>
                    <a:pt x="1812588" y="424655"/>
                  </a:lnTo>
                  <a:lnTo>
                    <a:pt x="1851523" y="435204"/>
                  </a:lnTo>
                  <a:lnTo>
                    <a:pt x="1888134" y="452094"/>
                  </a:lnTo>
                  <a:lnTo>
                    <a:pt x="1922695" y="474143"/>
                  </a:lnTo>
                  <a:lnTo>
                    <a:pt x="1955479" y="500168"/>
                  </a:lnTo>
                  <a:lnTo>
                    <a:pt x="1986760" y="528988"/>
                  </a:lnTo>
                  <a:lnTo>
                    <a:pt x="2016812" y="559419"/>
                  </a:lnTo>
                  <a:lnTo>
                    <a:pt x="2045907" y="590280"/>
                  </a:lnTo>
                  <a:lnTo>
                    <a:pt x="2074319" y="620388"/>
                  </a:lnTo>
                  <a:lnTo>
                    <a:pt x="2102322" y="648561"/>
                  </a:lnTo>
                  <a:lnTo>
                    <a:pt x="2158195" y="694371"/>
                  </a:lnTo>
                  <a:lnTo>
                    <a:pt x="2215713" y="718251"/>
                  </a:lnTo>
                  <a:lnTo>
                    <a:pt x="2245772" y="719012"/>
                  </a:lnTo>
                  <a:lnTo>
                    <a:pt x="2277064" y="710743"/>
                  </a:lnTo>
                  <a:lnTo>
                    <a:pt x="2316681" y="681772"/>
                  </a:lnTo>
                  <a:lnTo>
                    <a:pt x="2348379" y="634132"/>
                  </a:lnTo>
                  <a:lnTo>
                    <a:pt x="2374984" y="571742"/>
                  </a:lnTo>
                  <a:lnTo>
                    <a:pt x="2399324" y="498525"/>
                  </a:lnTo>
                  <a:lnTo>
                    <a:pt x="2411529" y="459081"/>
                  </a:lnTo>
                  <a:lnTo>
                    <a:pt x="2424228" y="418400"/>
                  </a:lnTo>
                  <a:lnTo>
                    <a:pt x="2437775" y="376972"/>
                  </a:lnTo>
                  <a:lnTo>
                    <a:pt x="2452523" y="335288"/>
                  </a:lnTo>
                  <a:lnTo>
                    <a:pt x="2468825" y="293838"/>
                  </a:lnTo>
                  <a:lnTo>
                    <a:pt x="2487036" y="253111"/>
                  </a:lnTo>
                  <a:lnTo>
                    <a:pt x="2507508" y="213598"/>
                  </a:lnTo>
                  <a:lnTo>
                    <a:pt x="2530595" y="175788"/>
                  </a:lnTo>
                  <a:lnTo>
                    <a:pt x="2556650" y="140173"/>
                  </a:lnTo>
                  <a:lnTo>
                    <a:pt x="2586028" y="107242"/>
                  </a:lnTo>
                  <a:lnTo>
                    <a:pt x="2619081" y="77485"/>
                  </a:lnTo>
                  <a:lnTo>
                    <a:pt x="2656163" y="51392"/>
                  </a:lnTo>
                  <a:lnTo>
                    <a:pt x="2697627" y="29453"/>
                  </a:lnTo>
                  <a:lnTo>
                    <a:pt x="2743826" y="12159"/>
                  </a:lnTo>
                  <a:lnTo>
                    <a:pt x="2795115" y="0"/>
                  </a:lnTo>
                  <a:lnTo>
                    <a:pt x="3276462" y="12801"/>
                  </a:lnTo>
                  <a:lnTo>
                    <a:pt x="3932136" y="111429"/>
                  </a:lnTo>
                  <a:lnTo>
                    <a:pt x="4510255" y="223609"/>
                  </a:lnTo>
                  <a:lnTo>
                    <a:pt x="4758935" y="277064"/>
                  </a:lnTo>
                </a:path>
              </a:pathLst>
            </a:custGeom>
            <a:ln w="64331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630"/>
            </a:p>
          </p:txBody>
        </p:sp>
      </p:grpSp>
      <p:sp>
        <p:nvSpPr>
          <p:cNvPr id="33" name="object 58"/>
          <p:cNvSpPr txBox="1"/>
          <p:nvPr/>
        </p:nvSpPr>
        <p:spPr>
          <a:xfrm>
            <a:off x="7799441" y="4276799"/>
            <a:ext cx="3861266" cy="1169247"/>
          </a:xfrm>
          <a:prstGeom prst="rect">
            <a:avLst/>
          </a:prstGeom>
        </p:spPr>
        <p:txBody>
          <a:bodyPr vert="horz" wrap="square" lIns="0" tIns="27639" rIns="0" bIns="0" rtlCol="0">
            <a:spAutoFit/>
          </a:bodyPr>
          <a:lstStyle/>
          <a:p>
            <a:pPr marL="11430" marR="4445">
              <a:lnSpc>
                <a:spcPts val="2900"/>
              </a:lnSpc>
              <a:spcBef>
                <a:spcPts val="22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决策边界：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1430" marR="4445">
              <a:lnSpc>
                <a:spcPts val="2900"/>
              </a:lnSpc>
              <a:spcBef>
                <a:spcPts val="22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将</a:t>
            </a:r>
            <a:r>
              <a:rPr lang="zh-CN" altLang="en-US" sz="2800" b="1" dirty="0">
                <a:solidFill>
                  <a:srgbClr val="009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altLang="zh-CN" sz="2800" b="1" dirty="0">
                <a:solidFill>
                  <a:srgbClr val="009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</a:t>
            </a:r>
            <a:r>
              <a:rPr lang="zh-CN" altLang="en-US" sz="2800" b="1" dirty="0">
                <a:solidFill>
                  <a:srgbClr val="0099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和</a:t>
            </a:r>
            <a:r>
              <a:rPr lang="zh-CN" altLang="en-US" sz="2800" b="1" dirty="0">
                <a:solidFill>
                  <a:srgbClr val="FC55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altLang="zh-CN" sz="2800" b="1" dirty="0">
                <a:solidFill>
                  <a:srgbClr val="FC55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‑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区分开的曲面（更为复杂的形状）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/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/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2">
                      <a:lumMod val="9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分类问题</a:t>
              </a:r>
              <a:endParaRPr lang="zh-CN" altLang="en-US" sz="2000" b="1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/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/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逻辑回归</a:t>
              </a:r>
              <a:endPara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727455" y="3955765"/>
            <a:ext cx="3123326" cy="716782"/>
            <a:chOff x="1727455" y="4495365"/>
            <a:chExt cx="3123326" cy="716782"/>
          </a:xfrm>
        </p:grpSpPr>
        <p:sp>
          <p:nvSpPr>
            <p:cNvPr id="51" name="文本框 50"/>
            <p:cNvSpPr txBox="1"/>
            <p:nvPr/>
          </p:nvSpPr>
          <p:spPr>
            <a:xfrm>
              <a:off x="2570331" y="4706973"/>
              <a:ext cx="2280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优化算法</a:t>
              </a:r>
              <a:endPara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对预测有多确定呢？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object 25"/>
          <p:cNvSpPr txBox="1"/>
          <p:nvPr/>
        </p:nvSpPr>
        <p:spPr>
          <a:xfrm>
            <a:off x="7030640" y="4396690"/>
            <a:ext cx="1537970" cy="3257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zh-CN" altLang="en-US" sz="2000" spc="1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不那么确定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9"/>
          <p:cNvSpPr/>
          <p:nvPr/>
        </p:nvSpPr>
        <p:spPr>
          <a:xfrm>
            <a:off x="6086905" y="2961262"/>
            <a:ext cx="0" cy="2099945"/>
          </a:xfrm>
          <a:custGeom>
            <a:avLst/>
            <a:gdLst/>
            <a:ahLst/>
            <a:cxnLst/>
            <a:rect l="l" t="t" r="r" b="b"/>
            <a:pathLst>
              <a:path h="2099945">
                <a:moveTo>
                  <a:pt x="0" y="0"/>
                </a:moveTo>
                <a:lnTo>
                  <a:pt x="0" y="2099637"/>
                </a:lnTo>
              </a:path>
            </a:pathLst>
          </a:custGeom>
          <a:ln w="8041">
            <a:solidFill>
              <a:srgbClr val="5B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25"/>
          <p:cNvSpPr txBox="1"/>
          <p:nvPr/>
        </p:nvSpPr>
        <p:spPr>
          <a:xfrm>
            <a:off x="3335581" y="4396690"/>
            <a:ext cx="1537970" cy="3257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zh-CN" altLang="en-US" sz="2000" spc="1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很确定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cxnSp>
        <p:nvCxnSpPr>
          <p:cNvPr id="2" name="Straight Arrow Connector 1"/>
          <p:cNvCxnSpPr/>
          <p:nvPr/>
        </p:nvCxnSpPr>
        <p:spPr>
          <a:xfrm>
            <a:off x="4196492" y="3864931"/>
            <a:ext cx="0" cy="511168"/>
          </a:xfrm>
          <a:prstGeom prst="straightConnector1">
            <a:avLst/>
          </a:prstGeom>
          <a:ln w="63500">
            <a:solidFill>
              <a:srgbClr val="B00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22"/>
          <p:cNvSpPr/>
          <p:nvPr/>
        </p:nvSpPr>
        <p:spPr>
          <a:xfrm>
            <a:off x="2321834" y="3088444"/>
            <a:ext cx="3550852" cy="776487"/>
          </a:xfrm>
          <a:custGeom>
            <a:avLst/>
            <a:gdLst/>
            <a:ahLst/>
            <a:cxnLst/>
            <a:rect l="l" t="t" r="r" b="b"/>
            <a:pathLst>
              <a:path w="1614170" h="1435100">
                <a:moveTo>
                  <a:pt x="1613782" y="0"/>
                </a:moveTo>
                <a:lnTo>
                  <a:pt x="0" y="0"/>
                </a:lnTo>
                <a:lnTo>
                  <a:pt x="0" y="1434924"/>
                </a:lnTo>
                <a:lnTo>
                  <a:pt x="1613782" y="1434924"/>
                </a:lnTo>
                <a:lnTo>
                  <a:pt x="1613782" y="0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pPr marL="12700" marR="5080" algn="ctr">
              <a:lnSpc>
                <a:spcPct val="103000"/>
              </a:lnSpc>
              <a:spcBef>
                <a:spcPts val="20"/>
              </a:spcBef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年收入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万，利率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13.67%"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object 22"/>
          <p:cNvSpPr/>
          <p:nvPr/>
        </p:nvSpPr>
        <p:spPr>
          <a:xfrm>
            <a:off x="6319314" y="3094040"/>
            <a:ext cx="3550852" cy="776487"/>
          </a:xfrm>
          <a:custGeom>
            <a:avLst/>
            <a:gdLst/>
            <a:ahLst/>
            <a:cxnLst/>
            <a:rect l="l" t="t" r="r" b="b"/>
            <a:pathLst>
              <a:path w="1614170" h="1435100">
                <a:moveTo>
                  <a:pt x="1613782" y="0"/>
                </a:moveTo>
                <a:lnTo>
                  <a:pt x="0" y="0"/>
                </a:lnTo>
                <a:lnTo>
                  <a:pt x="0" y="1434924"/>
                </a:lnTo>
                <a:lnTo>
                  <a:pt x="1613782" y="1434924"/>
                </a:lnTo>
                <a:lnTo>
                  <a:pt x="1613782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txBody>
          <a:bodyPr wrap="square" lIns="0" tIns="0" rIns="0" bIns="0" rtlCol="0"/>
          <a:lstStyle/>
          <a:p>
            <a:pPr marL="12700" marR="5080" algn="ctr">
              <a:lnSpc>
                <a:spcPct val="103000"/>
              </a:lnSpc>
              <a:spcBef>
                <a:spcPts val="20"/>
              </a:spcBef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““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年收入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2.8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万，利率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object 22"/>
          <p:cNvSpPr/>
          <p:nvPr/>
        </p:nvSpPr>
        <p:spPr>
          <a:xfrm>
            <a:off x="3014658" y="4376099"/>
            <a:ext cx="2363669" cy="484058"/>
          </a:xfrm>
          <a:custGeom>
            <a:avLst/>
            <a:gdLst/>
            <a:ahLst/>
            <a:cxnLst/>
            <a:rect l="l" t="t" r="r" b="b"/>
            <a:pathLst>
              <a:path w="1614170" h="1435100">
                <a:moveTo>
                  <a:pt x="1613782" y="0"/>
                </a:moveTo>
                <a:lnTo>
                  <a:pt x="0" y="0"/>
                </a:lnTo>
                <a:lnTo>
                  <a:pt x="0" y="1434924"/>
                </a:lnTo>
                <a:lnTo>
                  <a:pt x="1613782" y="1434924"/>
                </a:lnTo>
                <a:lnTo>
                  <a:pt x="1613782" y="0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 anchor="ctr"/>
          <a:lstStyle/>
          <a:p>
            <a:pPr marL="12700" marR="5080" algn="ctr">
              <a:lnSpc>
                <a:spcPct val="103000"/>
              </a:lnSpc>
              <a:spcBef>
                <a:spcPts val="20"/>
              </a:spcBef>
            </a:pPr>
            <a:r>
              <a:rPr lang="zh-CN" altLang="en-SG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很确定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b="1" dirty="0">
                <a:solidFill>
                  <a:srgbClr val="0099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endParaRPr lang="zh-CN" altLang="en-US" sz="2400" b="1" dirty="0">
              <a:solidFill>
                <a:srgbClr val="0099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object 22"/>
          <p:cNvSpPr/>
          <p:nvPr/>
        </p:nvSpPr>
        <p:spPr>
          <a:xfrm>
            <a:off x="6912905" y="4376099"/>
            <a:ext cx="2363669" cy="484058"/>
          </a:xfrm>
          <a:custGeom>
            <a:avLst/>
            <a:gdLst/>
            <a:ahLst/>
            <a:cxnLst/>
            <a:rect l="l" t="t" r="r" b="b"/>
            <a:pathLst>
              <a:path w="1614170" h="1435100">
                <a:moveTo>
                  <a:pt x="1613782" y="0"/>
                </a:moveTo>
                <a:lnTo>
                  <a:pt x="0" y="0"/>
                </a:lnTo>
                <a:lnTo>
                  <a:pt x="0" y="1434924"/>
                </a:lnTo>
                <a:lnTo>
                  <a:pt x="1613782" y="1434924"/>
                </a:lnTo>
                <a:lnTo>
                  <a:pt x="1613782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txBody>
          <a:bodyPr wrap="square" lIns="0" tIns="0" rIns="0" bIns="0" rtlCol="0" anchor="ctr"/>
          <a:lstStyle/>
          <a:p>
            <a:pPr marL="12700" marR="5080" algn="ctr">
              <a:lnSpc>
                <a:spcPct val="103000"/>
              </a:lnSpc>
              <a:spcBef>
                <a:spcPts val="2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</a:t>
            </a:r>
            <a:endParaRPr lang="zh-CN" altLang="en-US" sz="2400" b="1" dirty="0">
              <a:solidFill>
                <a:srgbClr val="0099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8094739" y="3864931"/>
            <a:ext cx="0" cy="511168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830048" y="828293"/>
            <a:ext cx="9288002" cy="116955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400" b="1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一个简单分类器可以获得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+1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或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-1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的预测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但对于这个预测到底有多确定呢？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在分类中使用概率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0048" y="828293"/>
            <a:ext cx="7627905" cy="661784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在分类中使用概率</a:t>
            </a:r>
            <a:endParaRPr lang="en-SG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9" name="object 27"/>
          <p:cNvSpPr txBox="1"/>
          <p:nvPr/>
        </p:nvSpPr>
        <p:spPr>
          <a:xfrm>
            <a:off x="2878882" y="3997979"/>
            <a:ext cx="12369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P(y=+1|</a:t>
            </a:r>
            <a:r>
              <a:rPr sz="20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x</a:t>
            </a:r>
            <a:r>
              <a:rPr sz="20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5" name="object 33"/>
          <p:cNvSpPr txBox="1"/>
          <p:nvPr/>
        </p:nvSpPr>
        <p:spPr>
          <a:xfrm>
            <a:off x="5473591" y="3997979"/>
            <a:ext cx="20675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42010" algn="l"/>
              </a:tabLst>
            </a:pPr>
            <a:r>
              <a:rPr sz="20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P(y=+1|</a:t>
            </a:r>
            <a:r>
              <a:rPr sz="20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x</a:t>
            </a:r>
            <a:r>
              <a:rPr sz="20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6" name="object 34"/>
          <p:cNvSpPr txBox="1"/>
          <p:nvPr/>
        </p:nvSpPr>
        <p:spPr>
          <a:xfrm>
            <a:off x="8759422" y="3997979"/>
            <a:ext cx="1003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8" name="object 40"/>
          <p:cNvSpPr txBox="1"/>
          <p:nvPr/>
        </p:nvSpPr>
        <p:spPr>
          <a:xfrm>
            <a:off x="7497205" y="4028859"/>
            <a:ext cx="1261110" cy="32956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98145" marR="5080" indent="-386080">
              <a:lnSpc>
                <a:spcPct val="103000"/>
              </a:lnSpc>
              <a:spcBef>
                <a:spcPts val="20"/>
              </a:spcBef>
            </a:pPr>
            <a:r>
              <a:rPr lang="zh-CN" altLang="en-US" sz="1000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“年收入</a:t>
            </a:r>
            <a:r>
              <a:rPr lang="en-US" altLang="zh-CN" sz="1000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7.5</a:t>
            </a:r>
            <a:r>
              <a:rPr lang="zh-CN" altLang="en-US" sz="1000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万 </a:t>
            </a:r>
            <a:r>
              <a:rPr lang="en-US" altLang="zh-CN" sz="1000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+ </a:t>
            </a:r>
            <a:r>
              <a:rPr lang="zh-CN" altLang="en-US" sz="1000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贷款</a:t>
            </a:r>
            <a:r>
              <a:rPr lang="en-US" altLang="zh-CN" sz="1000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2.8</a:t>
            </a:r>
            <a:r>
              <a:rPr lang="zh-CN" altLang="en-US" sz="1000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万</a:t>
            </a:r>
            <a:r>
              <a:rPr lang="zh-CN" altLang="en-US" sz="1000" i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zh-CN" altLang="en-US" sz="1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0" name="object 42"/>
          <p:cNvSpPr/>
          <p:nvPr/>
        </p:nvSpPr>
        <p:spPr>
          <a:xfrm>
            <a:off x="2340435" y="4998515"/>
            <a:ext cx="7548333" cy="1670561"/>
          </a:xfrm>
          <a:custGeom>
            <a:avLst/>
            <a:gdLst/>
            <a:ahLst/>
            <a:cxnLst/>
            <a:rect l="l" t="t" r="r" b="b"/>
            <a:pathLst>
              <a:path w="6570345" h="1715134">
                <a:moveTo>
                  <a:pt x="6570289" y="0"/>
                </a:moveTo>
                <a:lnTo>
                  <a:pt x="0" y="0"/>
                </a:lnTo>
                <a:lnTo>
                  <a:pt x="0" y="1714948"/>
                </a:lnTo>
                <a:lnTo>
                  <a:pt x="6570289" y="1714948"/>
                </a:lnTo>
                <a:lnTo>
                  <a:pt x="6570289" y="0"/>
                </a:lnTo>
                <a:close/>
              </a:path>
            </a:pathLst>
          </a:custGeom>
          <a:solidFill>
            <a:srgbClr val="85BD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44"/>
          <p:cNvSpPr txBox="1"/>
          <p:nvPr/>
        </p:nvSpPr>
        <p:spPr>
          <a:xfrm>
            <a:off x="2891582" y="5018872"/>
            <a:ext cx="62407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0"/>
              </a:spcBef>
              <a:tabLst>
                <a:tab pos="3430270" algn="l"/>
              </a:tabLst>
            </a:pPr>
            <a:r>
              <a:rPr lang="zh-CN" altLang="en-US" sz="2400" spc="2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许多分类器提供了一定程度的确定性：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6" name="object 48"/>
          <p:cNvSpPr/>
          <p:nvPr/>
        </p:nvSpPr>
        <p:spPr>
          <a:xfrm>
            <a:off x="3272421" y="5435094"/>
            <a:ext cx="1633220" cy="389890"/>
          </a:xfrm>
          <a:custGeom>
            <a:avLst/>
            <a:gdLst/>
            <a:ahLst/>
            <a:cxnLst/>
            <a:rect l="l" t="t" r="r" b="b"/>
            <a:pathLst>
              <a:path w="1633220" h="389889">
                <a:moveTo>
                  <a:pt x="1632824" y="0"/>
                </a:moveTo>
                <a:lnTo>
                  <a:pt x="0" y="0"/>
                </a:lnTo>
                <a:lnTo>
                  <a:pt x="0" y="389770"/>
                </a:lnTo>
                <a:lnTo>
                  <a:pt x="1632824" y="389770"/>
                </a:lnTo>
                <a:lnTo>
                  <a:pt x="1632824" y="0"/>
                </a:lnTo>
                <a:close/>
              </a:path>
            </a:pathLst>
          </a:custGeom>
          <a:solidFill>
            <a:srgbClr val="118C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53"/>
          <p:cNvSpPr txBox="1"/>
          <p:nvPr/>
        </p:nvSpPr>
        <p:spPr>
          <a:xfrm>
            <a:off x="3349626" y="5439014"/>
            <a:ext cx="1314148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3766185" algn="l"/>
              </a:tabLst>
            </a:pPr>
            <a:r>
              <a:rPr lang="zh-CN" altLang="en-US" sz="2000" spc="9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输出类别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8" name="object 6"/>
          <p:cNvSpPr txBox="1"/>
          <p:nvPr/>
        </p:nvSpPr>
        <p:spPr>
          <a:xfrm>
            <a:off x="7017188" y="4428751"/>
            <a:ext cx="1398270" cy="3257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1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= 0.55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8" name="object 48"/>
          <p:cNvSpPr/>
          <p:nvPr/>
        </p:nvSpPr>
        <p:spPr>
          <a:xfrm>
            <a:off x="7055827" y="5429900"/>
            <a:ext cx="1911100" cy="389890"/>
          </a:xfrm>
          <a:custGeom>
            <a:avLst/>
            <a:gdLst/>
            <a:ahLst/>
            <a:cxnLst/>
            <a:rect l="l" t="t" r="r" b="b"/>
            <a:pathLst>
              <a:path w="1633220" h="389889">
                <a:moveTo>
                  <a:pt x="1632824" y="0"/>
                </a:moveTo>
                <a:lnTo>
                  <a:pt x="0" y="0"/>
                </a:lnTo>
                <a:lnTo>
                  <a:pt x="0" y="389770"/>
                </a:lnTo>
                <a:lnTo>
                  <a:pt x="1632824" y="389770"/>
                </a:lnTo>
                <a:lnTo>
                  <a:pt x="1632824" y="0"/>
                </a:lnTo>
                <a:close/>
              </a:path>
            </a:pathLst>
          </a:custGeom>
          <a:solidFill>
            <a:srgbClr val="118C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53"/>
          <p:cNvSpPr txBox="1"/>
          <p:nvPr/>
        </p:nvSpPr>
        <p:spPr>
          <a:xfrm>
            <a:off x="7204529" y="5439014"/>
            <a:ext cx="1314148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3766185" algn="l"/>
              </a:tabLst>
            </a:pPr>
            <a:r>
              <a:rPr lang="zh-CN" altLang="en-US" sz="2000" spc="9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输入特征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120" name="直接箭头连接符 119"/>
          <p:cNvCxnSpPr/>
          <p:nvPr/>
        </p:nvCxnSpPr>
        <p:spPr>
          <a:xfrm>
            <a:off x="4905641" y="5634583"/>
            <a:ext cx="695059" cy="185207"/>
          </a:xfrm>
          <a:prstGeom prst="straightConnector1">
            <a:avLst/>
          </a:prstGeom>
          <a:ln w="57150" cap="flat" cmpd="sng" algn="ctr">
            <a:solidFill>
              <a:srgbClr val="118CC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7" name="object 49"/>
          <p:cNvSpPr/>
          <p:nvPr/>
        </p:nvSpPr>
        <p:spPr>
          <a:xfrm>
            <a:off x="3272421" y="5435094"/>
            <a:ext cx="1633220" cy="389890"/>
          </a:xfrm>
          <a:custGeom>
            <a:avLst/>
            <a:gdLst/>
            <a:ahLst/>
            <a:cxnLst/>
            <a:rect l="l" t="t" r="r" b="b"/>
            <a:pathLst>
              <a:path w="1633220" h="389889">
                <a:moveTo>
                  <a:pt x="0" y="389770"/>
                </a:moveTo>
                <a:lnTo>
                  <a:pt x="1632824" y="389770"/>
                </a:lnTo>
                <a:lnTo>
                  <a:pt x="1632824" y="0"/>
                </a:lnTo>
                <a:lnTo>
                  <a:pt x="0" y="0"/>
                </a:lnTo>
                <a:lnTo>
                  <a:pt x="0" y="389770"/>
                </a:lnTo>
                <a:close/>
              </a:path>
            </a:pathLst>
          </a:custGeom>
          <a:ln w="21443">
            <a:solidFill>
              <a:srgbClr val="09658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52"/>
          <p:cNvSpPr/>
          <p:nvPr/>
        </p:nvSpPr>
        <p:spPr>
          <a:xfrm>
            <a:off x="7039067" y="5435094"/>
            <a:ext cx="1927860" cy="389890"/>
          </a:xfrm>
          <a:custGeom>
            <a:avLst/>
            <a:gdLst/>
            <a:ahLst/>
            <a:cxnLst/>
            <a:rect l="l" t="t" r="r" b="b"/>
            <a:pathLst>
              <a:path w="1927859" h="389889">
                <a:moveTo>
                  <a:pt x="0" y="389770"/>
                </a:moveTo>
                <a:lnTo>
                  <a:pt x="1927763" y="389770"/>
                </a:lnTo>
                <a:lnTo>
                  <a:pt x="1927763" y="0"/>
                </a:lnTo>
                <a:lnTo>
                  <a:pt x="0" y="0"/>
                </a:lnTo>
                <a:lnTo>
                  <a:pt x="0" y="389770"/>
                </a:lnTo>
                <a:close/>
              </a:path>
            </a:pathLst>
          </a:custGeom>
          <a:ln w="21443">
            <a:solidFill>
              <a:srgbClr val="09658F"/>
            </a:solidFill>
          </a:ln>
        </p:spPr>
        <p:txBody>
          <a:bodyPr wrap="square" lIns="0" tIns="0" rIns="0" bIns="0" rtlCol="0"/>
          <a:lstStyle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object 45"/>
              <p:cNvSpPr txBox="1"/>
              <p:nvPr/>
            </p:nvSpPr>
            <p:spPr>
              <a:xfrm>
                <a:off x="5352450" y="5823160"/>
                <a:ext cx="1287780" cy="71025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algn="ctr">
                  <a:lnSpc>
                    <a:spcPct val="103000"/>
                  </a:lnSpc>
                  <a:spcBef>
                    <a:spcPts val="2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44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P</m:t>
                      </m:r>
                      <m:d>
                        <m:dPr>
                          <m:ctrlPr>
                            <a:rPr lang="en-US" altLang="zh-CN" sz="4400" b="0" i="1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4400" b="0" i="0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y</m:t>
                          </m:r>
                        </m:e>
                        <m:e>
                          <m:r>
                            <a:rPr lang="en-US" altLang="zh-CN" sz="4400" b="1" i="1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SG" altLang="zh-CN" sz="4400" b="0" i="0" spc="6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3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450" y="5823160"/>
                <a:ext cx="1287780" cy="710259"/>
              </a:xfrm>
              <a:prstGeom prst="rect">
                <a:avLst/>
              </a:prstGeom>
              <a:blipFill rotWithShape="1">
                <a:blip r:embed="rId1"/>
                <a:stretch>
                  <a:fillRect l="-3" t="-30" r="-23962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25"/>
          <p:cNvSpPr txBox="1"/>
          <p:nvPr/>
        </p:nvSpPr>
        <p:spPr>
          <a:xfrm>
            <a:off x="7049242" y="2930777"/>
            <a:ext cx="1537970" cy="3257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zh-CN" altLang="en-US" sz="2000" spc="1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不那么确定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29"/>
          <p:cNvSpPr/>
          <p:nvPr/>
        </p:nvSpPr>
        <p:spPr>
          <a:xfrm>
            <a:off x="6105507" y="1495349"/>
            <a:ext cx="0" cy="2099945"/>
          </a:xfrm>
          <a:custGeom>
            <a:avLst/>
            <a:gdLst/>
            <a:ahLst/>
            <a:cxnLst/>
            <a:rect l="l" t="t" r="r" b="b"/>
            <a:pathLst>
              <a:path h="2099945">
                <a:moveTo>
                  <a:pt x="0" y="0"/>
                </a:moveTo>
                <a:lnTo>
                  <a:pt x="0" y="2099637"/>
                </a:lnTo>
              </a:path>
            </a:pathLst>
          </a:custGeom>
          <a:ln w="8041">
            <a:solidFill>
              <a:srgbClr val="5B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25"/>
          <p:cNvSpPr txBox="1"/>
          <p:nvPr/>
        </p:nvSpPr>
        <p:spPr>
          <a:xfrm>
            <a:off x="3354183" y="2930777"/>
            <a:ext cx="1537970" cy="3257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zh-CN" altLang="en-US" sz="2000" spc="1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很确定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215094" y="2399018"/>
            <a:ext cx="0" cy="511168"/>
          </a:xfrm>
          <a:prstGeom prst="straightConnector1">
            <a:avLst/>
          </a:prstGeom>
          <a:ln w="63500">
            <a:solidFill>
              <a:srgbClr val="B00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22"/>
              <p:cNvSpPr/>
              <p:nvPr/>
            </p:nvSpPr>
            <p:spPr>
              <a:xfrm>
                <a:off x="2340436" y="1622531"/>
                <a:ext cx="3550852" cy="776487"/>
              </a:xfrm>
              <a:custGeom>
                <a:avLst/>
                <a:gdLst/>
                <a:ahLst/>
                <a:cxnLst/>
                <a:rect l="l" t="t" r="r" b="b"/>
                <a:pathLst>
                  <a:path w="1614170" h="1435100">
                    <a:moveTo>
                      <a:pt x="1613782" y="0"/>
                    </a:moveTo>
                    <a:lnTo>
                      <a:pt x="0" y="0"/>
                    </a:lnTo>
                    <a:lnTo>
                      <a:pt x="0" y="1434924"/>
                    </a:lnTo>
                    <a:lnTo>
                      <a:pt x="1613782" y="1434924"/>
                    </a:lnTo>
                    <a:lnTo>
                      <a:pt x="1613782" y="0"/>
                    </a:lnTo>
                    <a:close/>
                  </a:path>
                </a:pathLst>
              </a:custGeom>
              <a:solidFill>
                <a:srgbClr val="B0007E"/>
              </a:solidFill>
            </p:spPr>
            <p:txBody>
              <a:bodyPr wrap="square" lIns="0" tIns="0" rIns="0" bIns="0" rtlCol="0"/>
              <a:lstStyle/>
              <a:p>
                <a:pPr marL="12700" marR="5080" algn="ctr">
                  <a:lnSpc>
                    <a:spcPct val="103000"/>
                  </a:lnSpc>
                  <a:spcBef>
                    <a:spcPts val="20"/>
                  </a:spcBef>
                </a:pPr>
                <a14:m>
                  <m:oMath xmlns:m="http://schemas.openxmlformats.org/officeDocument/2006/math">
                    <m:r>
                      <a:rPr lang="en-US" altLang="zh-CN" sz="2400" b="1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𝒙</m:t>
                    </m:r>
                    <m:r>
                      <a:rPr lang="en-US" altLang="zh-CN" sz="2400" b="0" i="0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“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年收入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4.5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 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贷款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万，利率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13.67%"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9" name="objec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436" y="1622531"/>
                <a:ext cx="3550852" cy="776487"/>
              </a:xfrm>
              <a:custGeom>
                <a:avLst/>
                <a:gdLst/>
                <a:ahLst/>
                <a:cxnLst/>
                <a:rect l="l" t="t" r="r" b="b"/>
                <a:pathLst>
                  <a:path w="1614170" h="1435100">
                    <a:moveTo>
                      <a:pt x="1613782" y="0"/>
                    </a:moveTo>
                    <a:lnTo>
                      <a:pt x="0" y="0"/>
                    </a:lnTo>
                    <a:lnTo>
                      <a:pt x="0" y="1434924"/>
                    </a:lnTo>
                    <a:lnTo>
                      <a:pt x="1613782" y="1434924"/>
                    </a:lnTo>
                    <a:lnTo>
                      <a:pt x="1613782" y="0"/>
                    </a:lnTo>
                    <a:close/>
                  </a:path>
                </a:pathLst>
              </a:custGeom>
              <a:blipFill rotWithShape="1">
                <a:blip r:embed="rId2"/>
                <a:stretch>
                  <a:fillRect l="-13" t="-2222" r="29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22"/>
              <p:cNvSpPr/>
              <p:nvPr/>
            </p:nvSpPr>
            <p:spPr>
              <a:xfrm>
                <a:off x="6337916" y="1628127"/>
                <a:ext cx="3550852" cy="776487"/>
              </a:xfrm>
              <a:custGeom>
                <a:avLst/>
                <a:gdLst/>
                <a:ahLst/>
                <a:cxnLst/>
                <a:rect l="l" t="t" r="r" b="b"/>
                <a:pathLst>
                  <a:path w="1614170" h="1435100">
                    <a:moveTo>
                      <a:pt x="1613782" y="0"/>
                    </a:moveTo>
                    <a:lnTo>
                      <a:pt x="0" y="0"/>
                    </a:lnTo>
                    <a:lnTo>
                      <a:pt x="0" y="1434924"/>
                    </a:lnTo>
                    <a:lnTo>
                      <a:pt x="1613782" y="1434924"/>
                    </a:lnTo>
                    <a:lnTo>
                      <a:pt x="1613782" y="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</p:spPr>
            <p:txBody>
              <a:bodyPr wrap="square" lIns="0" tIns="0" rIns="0" bIns="0" rtlCol="0"/>
              <a:lstStyle/>
              <a:p>
                <a:pPr marL="12700" marR="5080" algn="ctr">
                  <a:lnSpc>
                    <a:spcPct val="103000"/>
                  </a:lnSpc>
                  <a:spcBef>
                    <a:spcPts val="20"/>
                  </a:spcBef>
                </a:pPr>
                <a14:m>
                  <m:oMath xmlns:m="http://schemas.openxmlformats.org/officeDocument/2006/math">
                    <m:r>
                      <a:rPr lang="en-US" altLang="zh-CN" sz="2400" b="1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𝒙</m:t>
                    </m:r>
                    <m:r>
                      <a:rPr lang="en-US" altLang="zh-CN" sz="2400" b="0" i="0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年收入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7.5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 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贷款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2.8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万，利率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20%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0" name="objec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916" y="1628127"/>
                <a:ext cx="3550852" cy="776487"/>
              </a:xfrm>
              <a:custGeom>
                <a:avLst/>
                <a:gdLst/>
                <a:ahLst/>
                <a:cxnLst/>
                <a:rect l="l" t="t" r="r" b="b"/>
                <a:pathLst>
                  <a:path w="1614170" h="1435100">
                    <a:moveTo>
                      <a:pt x="1613782" y="0"/>
                    </a:moveTo>
                    <a:lnTo>
                      <a:pt x="0" y="0"/>
                    </a:lnTo>
                    <a:lnTo>
                      <a:pt x="0" y="1434924"/>
                    </a:lnTo>
                    <a:lnTo>
                      <a:pt x="1613782" y="1434924"/>
                    </a:lnTo>
                    <a:lnTo>
                      <a:pt x="1613782" y="0"/>
                    </a:lnTo>
                    <a:close/>
                  </a:path>
                </a:pathLst>
              </a:custGeom>
              <a:blipFill rotWithShape="1">
                <a:blip r:embed="rId3"/>
                <a:stretch>
                  <a:fillRect l="-17" t="-2288" r="33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22"/>
          <p:cNvSpPr/>
          <p:nvPr/>
        </p:nvSpPr>
        <p:spPr>
          <a:xfrm>
            <a:off x="3033260" y="2910186"/>
            <a:ext cx="2363669" cy="484058"/>
          </a:xfrm>
          <a:custGeom>
            <a:avLst/>
            <a:gdLst/>
            <a:ahLst/>
            <a:cxnLst/>
            <a:rect l="l" t="t" r="r" b="b"/>
            <a:pathLst>
              <a:path w="1614170" h="1435100">
                <a:moveTo>
                  <a:pt x="1613782" y="0"/>
                </a:moveTo>
                <a:lnTo>
                  <a:pt x="0" y="0"/>
                </a:lnTo>
                <a:lnTo>
                  <a:pt x="0" y="1434924"/>
                </a:lnTo>
                <a:lnTo>
                  <a:pt x="1613782" y="1434924"/>
                </a:lnTo>
                <a:lnTo>
                  <a:pt x="1613782" y="0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 anchor="ctr"/>
          <a:lstStyle/>
          <a:p>
            <a:pPr marL="12700" marR="5080" algn="ctr">
              <a:lnSpc>
                <a:spcPct val="103000"/>
              </a:lnSpc>
              <a:spcBef>
                <a:spcPts val="20"/>
              </a:spcBef>
            </a:pPr>
            <a:r>
              <a:rPr lang="zh-CN" altLang="en-SG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很确定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b="1" dirty="0">
                <a:solidFill>
                  <a:srgbClr val="0099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endParaRPr lang="zh-CN" altLang="en-US" sz="2400" b="1" dirty="0">
              <a:solidFill>
                <a:srgbClr val="0099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bject 22"/>
          <p:cNvSpPr/>
          <p:nvPr/>
        </p:nvSpPr>
        <p:spPr>
          <a:xfrm>
            <a:off x="6931507" y="2910186"/>
            <a:ext cx="2363669" cy="484058"/>
          </a:xfrm>
          <a:custGeom>
            <a:avLst/>
            <a:gdLst/>
            <a:ahLst/>
            <a:cxnLst/>
            <a:rect l="l" t="t" r="r" b="b"/>
            <a:pathLst>
              <a:path w="1614170" h="1435100">
                <a:moveTo>
                  <a:pt x="1613782" y="0"/>
                </a:moveTo>
                <a:lnTo>
                  <a:pt x="0" y="0"/>
                </a:lnTo>
                <a:lnTo>
                  <a:pt x="0" y="1434924"/>
                </a:lnTo>
                <a:lnTo>
                  <a:pt x="1613782" y="1434924"/>
                </a:lnTo>
                <a:lnTo>
                  <a:pt x="1613782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txBody>
          <a:bodyPr wrap="square" lIns="0" tIns="0" rIns="0" bIns="0" rtlCol="0" anchor="ctr"/>
          <a:lstStyle/>
          <a:p>
            <a:pPr marL="12700" marR="5080" algn="ctr">
              <a:lnSpc>
                <a:spcPct val="103000"/>
              </a:lnSpc>
              <a:spcBef>
                <a:spcPts val="2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</a:t>
            </a:r>
            <a:endParaRPr lang="zh-CN" altLang="en-US" sz="2400" b="1" dirty="0">
              <a:solidFill>
                <a:srgbClr val="0099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8113341" y="2399018"/>
            <a:ext cx="0" cy="511168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22"/>
              <p:cNvSpPr/>
              <p:nvPr/>
            </p:nvSpPr>
            <p:spPr>
              <a:xfrm>
                <a:off x="2340435" y="3719215"/>
                <a:ext cx="3550853" cy="1086464"/>
              </a:xfrm>
              <a:custGeom>
                <a:avLst/>
                <a:gdLst/>
                <a:ahLst/>
                <a:cxnLst/>
                <a:rect l="l" t="t" r="r" b="b"/>
                <a:pathLst>
                  <a:path w="1614170" h="1435100">
                    <a:moveTo>
                      <a:pt x="1613782" y="0"/>
                    </a:moveTo>
                    <a:lnTo>
                      <a:pt x="0" y="0"/>
                    </a:lnTo>
                    <a:lnTo>
                      <a:pt x="0" y="1434924"/>
                    </a:lnTo>
                    <a:lnTo>
                      <a:pt x="1613782" y="1434924"/>
                    </a:lnTo>
                    <a:lnTo>
                      <a:pt x="1613782" y="0"/>
                    </a:lnTo>
                    <a:close/>
                  </a:path>
                </a:pathLst>
              </a:custGeom>
              <a:solidFill>
                <a:srgbClr val="B0007E"/>
              </a:solidFill>
            </p:spPr>
            <p:txBody>
              <a:bodyPr wrap="square" lIns="0" tIns="0" rIns="0" bIns="0" rtlCol="0" anchor="ctr"/>
              <a:lstStyle/>
              <a:p>
                <a:pPr marL="12700" marR="5080" algn="ctr">
                  <a:lnSpc>
                    <a:spcPct val="103000"/>
                  </a:lnSpc>
                  <a:spcBef>
                    <a:spcPts val="2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P</m:t>
                      </m:r>
                      <m:d>
                        <m:dPr>
                          <m:ctrlPr>
                            <a:rPr lang="en-US" altLang="zh-CN" sz="2400" b="0" i="1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y</m:t>
                          </m:r>
                          <m:r>
                            <a:rPr lang="en-US" altLang="zh-CN" sz="2400" b="0" i="0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=+</m:t>
                          </m:r>
                          <m:r>
                            <a:rPr lang="en-US" altLang="zh-CN" sz="2400" b="0" i="0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</m:e>
                        <m:e>
                          <m:r>
                            <a:rPr lang="en-US" altLang="zh-CN" sz="2400" b="1" i="1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SG" altLang="zh-CN" sz="2400" b="0" i="0" spc="6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12700" marR="5080" algn="ctr">
                  <a:lnSpc>
                    <a:spcPct val="103000"/>
                  </a:lnSpc>
                  <a:spcBef>
                    <a:spcPts val="2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4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  <m:r>
                        <a:rPr lang="en-US" altLang="zh-CN" sz="24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4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99</m:t>
                      </m:r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8" name="objec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435" y="3719215"/>
                <a:ext cx="3550853" cy="1086464"/>
              </a:xfrm>
              <a:custGeom>
                <a:avLst/>
                <a:gdLst/>
                <a:ahLst/>
                <a:cxnLst/>
                <a:rect l="l" t="t" r="r" b="b"/>
                <a:pathLst>
                  <a:path w="1614170" h="1435100">
                    <a:moveTo>
                      <a:pt x="1613782" y="0"/>
                    </a:moveTo>
                    <a:lnTo>
                      <a:pt x="0" y="0"/>
                    </a:lnTo>
                    <a:lnTo>
                      <a:pt x="0" y="1434924"/>
                    </a:lnTo>
                    <a:lnTo>
                      <a:pt x="1613782" y="1434924"/>
                    </a:lnTo>
                    <a:lnTo>
                      <a:pt x="1613782" y="0"/>
                    </a:lnTo>
                    <a:close/>
                  </a:path>
                </a:pathLst>
              </a:custGeom>
              <a:blipFill rotWithShape="1">
                <a:blip r:embed="rId4"/>
                <a:stretch>
                  <a:fillRect l="-13" t="-2" r="29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22"/>
              <p:cNvSpPr/>
              <p:nvPr/>
            </p:nvSpPr>
            <p:spPr>
              <a:xfrm>
                <a:off x="6343408" y="3719215"/>
                <a:ext cx="3550853" cy="1086464"/>
              </a:xfrm>
              <a:custGeom>
                <a:avLst/>
                <a:gdLst/>
                <a:ahLst/>
                <a:cxnLst/>
                <a:rect l="l" t="t" r="r" b="b"/>
                <a:pathLst>
                  <a:path w="1614170" h="1435100">
                    <a:moveTo>
                      <a:pt x="1613782" y="0"/>
                    </a:moveTo>
                    <a:lnTo>
                      <a:pt x="0" y="0"/>
                    </a:lnTo>
                    <a:lnTo>
                      <a:pt x="0" y="1434924"/>
                    </a:lnTo>
                    <a:lnTo>
                      <a:pt x="1613782" y="1434924"/>
                    </a:lnTo>
                    <a:lnTo>
                      <a:pt x="1613782" y="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wrap="square" lIns="0" tIns="0" rIns="0" bIns="0" rtlCol="0" anchor="ctr"/>
              <a:lstStyle/>
              <a:p>
                <a:pPr marL="12700" marR="5080" algn="ctr">
                  <a:lnSpc>
                    <a:spcPct val="103000"/>
                  </a:lnSpc>
                  <a:spcBef>
                    <a:spcPts val="2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P</m:t>
                      </m:r>
                      <m:d>
                        <m:dPr>
                          <m:ctrlPr>
                            <a:rPr lang="en-US" altLang="zh-CN" sz="2400" b="0" i="1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y</m:t>
                          </m:r>
                          <m:r>
                            <a:rPr lang="en-US" altLang="zh-CN" sz="2400" b="0" i="0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=+</m:t>
                          </m:r>
                          <m:r>
                            <a:rPr lang="en-US" altLang="zh-CN" sz="2400" b="0" i="0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</m:e>
                        <m:e>
                          <m:r>
                            <a:rPr lang="en-US" altLang="zh-CN" sz="2400" b="1" i="1" spc="6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SG" altLang="zh-CN" sz="2400" b="0" i="0" spc="6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12700" marR="5080" algn="ctr">
                  <a:lnSpc>
                    <a:spcPct val="103000"/>
                  </a:lnSpc>
                  <a:spcBef>
                    <a:spcPts val="2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4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  <m:r>
                        <a:rPr lang="en-US" altLang="zh-CN" sz="24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400" b="0" i="0" spc="6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55</m:t>
                      </m:r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0" name="objec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408" y="3719215"/>
                <a:ext cx="3550853" cy="1086464"/>
              </a:xfrm>
              <a:custGeom>
                <a:avLst/>
                <a:gdLst/>
                <a:ahLst/>
                <a:cxnLst/>
                <a:rect l="l" t="t" r="r" b="b"/>
                <a:pathLst>
                  <a:path w="1614170" h="1435100">
                    <a:moveTo>
                      <a:pt x="1613782" y="0"/>
                    </a:moveTo>
                    <a:lnTo>
                      <a:pt x="0" y="0"/>
                    </a:lnTo>
                    <a:lnTo>
                      <a:pt x="0" y="1434924"/>
                    </a:lnTo>
                    <a:lnTo>
                      <a:pt x="1613782" y="1434924"/>
                    </a:lnTo>
                    <a:lnTo>
                      <a:pt x="1613782" y="0"/>
                    </a:lnTo>
                    <a:close/>
                  </a:path>
                </a:pathLst>
              </a:custGeom>
              <a:blipFill rotWithShape="1">
                <a:blip r:embed="rId5"/>
                <a:stretch>
                  <a:fillRect l="-136" t="-469" r="-98" b="-409"/>
                </a:stretch>
              </a:blip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>
            <a:off x="4225182" y="3394244"/>
            <a:ext cx="0" cy="324971"/>
          </a:xfrm>
          <a:prstGeom prst="straightConnector1">
            <a:avLst/>
          </a:prstGeom>
          <a:ln w="63500">
            <a:solidFill>
              <a:srgbClr val="B00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8113341" y="3388623"/>
            <a:ext cx="0" cy="324971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122"/>
          <p:cNvCxnSpPr/>
          <p:nvPr/>
        </p:nvCxnSpPr>
        <p:spPr>
          <a:xfrm flipH="1">
            <a:off x="6356679" y="5634583"/>
            <a:ext cx="695059" cy="185207"/>
          </a:xfrm>
          <a:prstGeom prst="straightConnector1">
            <a:avLst/>
          </a:prstGeom>
          <a:ln w="57150" cap="flat" cmpd="sng" algn="ctr">
            <a:solidFill>
              <a:srgbClr val="118CC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目标：从训练数据中学习条件概率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object 3"/>
          <p:cNvGraphicFramePr>
            <a:graphicFrameLocks noGrp="1"/>
          </p:cNvGraphicFramePr>
          <p:nvPr/>
        </p:nvGraphicFramePr>
        <p:xfrm>
          <a:off x="1701619" y="1594431"/>
          <a:ext cx="8439151" cy="2264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1178"/>
                <a:gridCol w="2591588"/>
                <a:gridCol w="2596385"/>
              </a:tblGrid>
              <a:tr h="319405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贷款金额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5240" marB="0">
                    <a:lnL w="12700">
                      <a:solidFill>
                        <a:srgbClr val="B0007E"/>
                      </a:solidFill>
                      <a:prstDash val="solid"/>
                    </a:lnL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年收入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5240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</a:rPr>
                        <a:t>y = </a:t>
                      </a: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是否违约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8415" marB="0">
                    <a:lnR w="12700">
                      <a:solidFill>
                        <a:srgbClr val="B0007E"/>
                      </a:solidFill>
                      <a:prstDash val="solid"/>
                    </a:lnR>
                    <a:solidFill>
                      <a:srgbClr val="B0007E"/>
                    </a:solidFill>
                  </a:tcPr>
                </a:tc>
              </a:tr>
              <a:tr h="3410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317.96k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635k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445" marB="0">
                    <a:lnR w="12700">
                      <a:solidFill>
                        <a:srgbClr val="B0007E"/>
                      </a:solidFill>
                      <a:prstDash val="solid"/>
                    </a:lnR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866.1k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305k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3335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136.08k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T w="12700">
                      <a:solidFill>
                        <a:srgbClr val="B0007E"/>
                      </a:solidFill>
                      <a:prstDash val="solid"/>
                    </a:lnT>
                    <a:lnB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T w="12700">
                      <a:solidFill>
                        <a:srgbClr val="B0007E"/>
                      </a:solidFill>
                      <a:prstDash val="solid"/>
                    </a:lnT>
                    <a:lnB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2065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95.21k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100k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0795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</a:tbl>
          </a:graphicData>
        </a:graphic>
      </p:graphicFrame>
      <p:sp>
        <p:nvSpPr>
          <p:cNvPr id="8" name="object 6"/>
          <p:cNvSpPr/>
          <p:nvPr/>
        </p:nvSpPr>
        <p:spPr>
          <a:xfrm>
            <a:off x="3600450" y="3971087"/>
            <a:ext cx="5010150" cy="1072395"/>
          </a:xfrm>
          <a:custGeom>
            <a:avLst/>
            <a:gdLst/>
            <a:ahLst/>
            <a:cxnLst/>
            <a:rect l="l" t="t" r="r" b="b"/>
            <a:pathLst>
              <a:path w="3879850" h="842645">
                <a:moveTo>
                  <a:pt x="3210771" y="0"/>
                </a:moveTo>
                <a:lnTo>
                  <a:pt x="668649" y="0"/>
                </a:lnTo>
                <a:lnTo>
                  <a:pt x="668649" y="421296"/>
                </a:lnTo>
                <a:lnTo>
                  <a:pt x="0" y="421296"/>
                </a:lnTo>
                <a:lnTo>
                  <a:pt x="1939728" y="842587"/>
                </a:lnTo>
                <a:lnTo>
                  <a:pt x="3879411" y="421296"/>
                </a:lnTo>
                <a:lnTo>
                  <a:pt x="3210771" y="421296"/>
                </a:lnTo>
                <a:lnTo>
                  <a:pt x="3210771" y="0"/>
                </a:lnTo>
                <a:close/>
              </a:path>
            </a:pathLst>
          </a:custGeom>
          <a:solidFill>
            <a:srgbClr val="118C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8"/>
          <p:cNvSpPr txBox="1"/>
          <p:nvPr/>
        </p:nvSpPr>
        <p:spPr>
          <a:xfrm>
            <a:off x="4700516" y="3988706"/>
            <a:ext cx="2914920" cy="7668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lang="zh-CN" altLang="en-US" sz="2400" spc="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在训练数据上学习</a:t>
            </a:r>
            <a:endParaRPr lang="en-SG" altLang="zh-CN" sz="2400" spc="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lang="zh-CN" altLang="en-US" sz="2400" spc="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（拟合训练数据分布）</a:t>
            </a:r>
            <a:endParaRPr lang="en-US" altLang="zh-CN" sz="2400" spc="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0" name="object 13"/>
          <p:cNvSpPr txBox="1"/>
          <p:nvPr/>
        </p:nvSpPr>
        <p:spPr>
          <a:xfrm>
            <a:off x="6409613" y="5384927"/>
            <a:ext cx="14414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B0007E"/>
                </a:solidFill>
                <a:latin typeface="Cambria Math" panose="02040503050406030204"/>
                <a:cs typeface="Cambria Math" panose="02040503050406030204"/>
              </a:rPr>
              <a:t>⌃</a:t>
            </a:r>
            <a:endParaRPr sz="165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17"/>
          <p:cNvSpPr txBox="1"/>
          <p:nvPr/>
        </p:nvSpPr>
        <p:spPr>
          <a:xfrm>
            <a:off x="8086922" y="5308344"/>
            <a:ext cx="26200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2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可以用于预测 </a:t>
            </a:r>
            <a:r>
              <a:rPr sz="2000" spc="-5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ŷ</a:t>
            </a:r>
            <a:endParaRPr sz="2000" dirty="0">
              <a:latin typeface="Courier New" panose="02070309020205020404"/>
              <a:cs typeface="Courier New" panose="020703090202050204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1"/>
              <p:cNvSpPr txBox="1"/>
              <p:nvPr/>
            </p:nvSpPr>
            <p:spPr>
              <a:xfrm>
                <a:off x="830048" y="828293"/>
                <a:ext cx="7627905" cy="132286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训练数据</a:t>
                </a:r>
                <a:r>
                  <a:rPr lang="en-US" altLang="zh-CN" sz="2800" b="1" dirty="0">
                    <a:solidFill>
                      <a:srgbClr val="2B272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:</a:t>
                </a:r>
                <a:r>
                  <a:rPr lang="zh-CN" altLang="en-US" sz="2800" b="1" spc="150" dirty="0">
                    <a:solidFill>
                      <a:srgbClr val="2B272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1" spc="15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cs typeface="Arial" panose="020B0604020202020204"/>
                      </a:rPr>
                      <m:t>𝑵</m:t>
                    </m:r>
                  </m:oMath>
                </a14:m>
                <a:r>
                  <a:rPr lang="zh-CN" altLang="en-US" sz="2800" b="1" spc="70" dirty="0">
                    <a:solidFill>
                      <a:srgbClr val="B000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个 </a:t>
                </a:r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观测值</a:t>
                </a:r>
                <a14:m>
                  <m:oMath xmlns:m="http://schemas.openxmlformats.org/officeDocument/2006/math">
                    <m:r>
                      <a:rPr lang="en-US" altLang="zh-CN" sz="2800" b="1" i="0" spc="15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cs typeface="Arial" panose="020B0604020202020204"/>
                      </a:rPr>
                      <m:t>{</m:t>
                    </m:r>
                    <m:d>
                      <m:dPr>
                        <m:ctrlPr>
                          <a:rPr lang="ar-AE" altLang="zh-CN" sz="2800" b="1" i="1" spc="15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ar-AE" altLang="zh-CN" sz="2800" b="1" i="1" spc="15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cs typeface="Arial" panose="020B0604020202020204"/>
                          </a:rPr>
                          <m:t>𝒙</m:t>
                        </m:r>
                        <m:r>
                          <a:rPr lang="ar-AE" altLang="zh-CN" sz="2800" b="1" i="1" spc="15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cs typeface="Arial" panose="020B0604020202020204"/>
                          </a:rPr>
                          <m:t>,</m:t>
                        </m:r>
                        <m:r>
                          <a:rPr lang="ar-AE" altLang="zh-CN" sz="2800" b="1" i="1" spc="15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cs typeface="Arial" panose="020B0604020202020204"/>
                          </a:rPr>
                          <m:t>𝒚</m:t>
                        </m:r>
                      </m:e>
                    </m:d>
                    <m:r>
                      <a:rPr lang="ar-AE" altLang="zh-CN" sz="2800" b="1" i="1" spc="15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cs typeface="Arial" panose="020B0604020202020204"/>
                      </a:rPr>
                      <m:t>}</m:t>
                    </m:r>
                  </m:oMath>
                </a14:m>
                <a:endParaRPr lang="ar-AE" sz="28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endParaRPr lang="en-SG" altLang="zh-CN" sz="2800" b="1" dirty="0">
                  <a:sym typeface="+mn-lt"/>
                </a:endParaRPr>
              </a:p>
            </p:txBody>
          </p:sp>
        </mc:Choice>
        <mc:Fallback>
          <p:sp>
            <p:nvSpPr>
              <p:cNvPr id="25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7627905" cy="1322863"/>
              </a:xfrm>
              <a:prstGeom prst="rect">
                <a:avLst/>
              </a:prstGeom>
              <a:blipFill rotWithShape="1">
                <a:blip r:embed="rId1"/>
                <a:stretch>
                  <a:fillRect l="-1" t="-19" r="5" b="-25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bject 42"/>
          <p:cNvSpPr/>
          <p:nvPr/>
        </p:nvSpPr>
        <p:spPr>
          <a:xfrm>
            <a:off x="2340435" y="5155728"/>
            <a:ext cx="7548333" cy="1513348"/>
          </a:xfrm>
          <a:custGeom>
            <a:avLst/>
            <a:gdLst/>
            <a:ahLst/>
            <a:cxnLst/>
            <a:rect l="l" t="t" r="r" b="b"/>
            <a:pathLst>
              <a:path w="6570345" h="1715134">
                <a:moveTo>
                  <a:pt x="6570289" y="0"/>
                </a:moveTo>
                <a:lnTo>
                  <a:pt x="0" y="0"/>
                </a:lnTo>
                <a:lnTo>
                  <a:pt x="0" y="1714948"/>
                </a:lnTo>
                <a:lnTo>
                  <a:pt x="6570289" y="1714948"/>
                </a:lnTo>
                <a:lnTo>
                  <a:pt x="6570289" y="0"/>
                </a:lnTo>
                <a:close/>
              </a:path>
            </a:pathLst>
          </a:custGeom>
          <a:solidFill>
            <a:srgbClr val="85BD05"/>
          </a:solidFill>
        </p:spPr>
        <p:txBody>
          <a:bodyPr wrap="square" lIns="0" tIns="0" rIns="0" bIns="0" rtlCol="0"/>
          <a:lstStyle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45"/>
              <p:cNvSpPr txBox="1"/>
              <p:nvPr/>
            </p:nvSpPr>
            <p:spPr>
              <a:xfrm>
                <a:off x="4476751" y="5244971"/>
                <a:ext cx="3610171" cy="137774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algn="ctr">
                  <a:lnSpc>
                    <a:spcPct val="103000"/>
                  </a:lnSpc>
                  <a:spcBef>
                    <a:spcPts val="20"/>
                  </a:spcBef>
                </a:pPr>
                <a:r>
                  <a:rPr lang="zh-CN" altLang="en-US" sz="2800" b="0" spc="6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通过寻找最优参数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800" b="0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2800" b="0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𝑤</m:t>
                        </m:r>
                      </m:e>
                    </m:acc>
                  </m:oMath>
                </a14:m>
                <a:r>
                  <a:rPr lang="zh-CN" altLang="en-US" sz="2800" b="0" i="0" spc="6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endParaRPr lang="en-SG" altLang="zh-CN" sz="2800" b="0" i="0" spc="6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2700" marR="5080" algn="ctr">
                  <a:lnSpc>
                    <a:spcPct val="103000"/>
                  </a:lnSpc>
                  <a:spcBef>
                    <a:spcPts val="20"/>
                  </a:spcBef>
                </a:pPr>
                <a:r>
                  <a:rPr lang="zh-CN" altLang="en-US" sz="2800" b="0" i="0" spc="6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确定最佳模型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800" i="1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2800" b="0" i="1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𝑃</m:t>
                        </m:r>
                      </m:e>
                    </m:acc>
                  </m:oMath>
                </a14:m>
                <a:r>
                  <a:rPr lang="zh-CN" altLang="en-US" sz="2800" b="0" i="0" spc="6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endParaRPr lang="en-SG" altLang="zh-CN" sz="2800" b="0" i="0" spc="6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2700" marR="5080" algn="ctr">
                  <a:lnSpc>
                    <a:spcPct val="103000"/>
                  </a:lnSpc>
                  <a:spcBef>
                    <a:spcPts val="20"/>
                  </a:spcBef>
                </a:pPr>
                <a:r>
                  <a:rPr lang="zh-CN" altLang="en-US" sz="2800" b="0" i="0" spc="6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可用来预测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80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y</m:t>
                        </m:r>
                      </m:e>
                    </m:acc>
                  </m:oMath>
                </a14:m>
                <a:endParaRPr lang="en-SG" altLang="zh-CN" sz="2800" b="0" i="0" spc="6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8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1" y="5244971"/>
                <a:ext cx="3610171" cy="1377749"/>
              </a:xfrm>
              <a:prstGeom prst="rect">
                <a:avLst/>
              </a:prstGeom>
              <a:blipFill rotWithShape="1">
                <a:blip r:embed="rId2"/>
                <a:stretch>
                  <a:fillRect t="-590" r="5" b="-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421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使用概率估计做预测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/>
              <p:nvPr/>
            </p:nvSpPr>
            <p:spPr>
              <a:xfrm>
                <a:off x="3038167" y="2581534"/>
                <a:ext cx="7505700" cy="3428365"/>
              </a:xfrm>
              <a:custGeom>
                <a:avLst/>
                <a:gdLst/>
                <a:ahLst/>
                <a:cxnLst/>
                <a:rect l="l" t="t" r="r" b="b"/>
                <a:pathLst>
                  <a:path w="7505700" h="3428365">
                    <a:moveTo>
                      <a:pt x="7505262" y="0"/>
                    </a:moveTo>
                    <a:lnTo>
                      <a:pt x="0" y="0"/>
                    </a:lnTo>
                    <a:lnTo>
                      <a:pt x="0" y="3427842"/>
                    </a:lnTo>
                    <a:lnTo>
                      <a:pt x="7505262" y="3427842"/>
                    </a:lnTo>
                    <a:lnTo>
                      <a:pt x="7505262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:r>
                  <a:rPr lang="zh-CN" altLang="en-US" sz="2800" b="1" spc="-7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使用概率估计做预测：</a:t>
                </a:r>
                <a:endParaRPr lang="en-SG" altLang="zh-CN" sz="2800" b="1" spc="-7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800" i="1" spc="6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2800" i="1" spc="6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𝑃</m:t>
                        </m:r>
                      </m:e>
                    </m:acc>
                    <m:r>
                      <a:rPr lang="en-US" altLang="zh-CN" sz="28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y</m:t>
                    </m:r>
                    <m:r>
                      <a:rPr lang="en-US" altLang="zh-CN" sz="28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28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x</m:t>
                    </m:r>
                    <m:r>
                      <a:rPr lang="en-US" altLang="zh-CN" sz="28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)</m:t>
                    </m:r>
                  </m:oMath>
                </a14:m>
                <a:r>
                  <a:rPr lang="zh-CN" altLang="en-US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对类别概率的估计</a:t>
                </a:r>
                <a:endParaRPr lang="en-SG" altLang="zh-CN" sz="2800" spc="-7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:r>
                  <a:rPr lang="en-US" altLang="zh-CN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800" i="1" spc="6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2800" i="1" spc="6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US" altLang="zh-CN" sz="2800" i="1" spc="6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spc="6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y</m:t>
                        </m:r>
                        <m: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=+</m:t>
                        </m:r>
                        <m: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1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altLang="zh-CN" sz="2800" spc="6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x</m:t>
                        </m:r>
                      </m:e>
                    </m:d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&gt;</m:t>
                    </m:r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0</m:t>
                    </m:r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.</m:t>
                    </m:r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5</m:t>
                    </m:r>
                  </m:oMath>
                </a14:m>
                <a:r>
                  <a:rPr lang="en-US" altLang="zh-CN" sz="28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endParaRPr lang="en-US" altLang="zh-CN" sz="2800" spc="-7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:r>
                  <a:rPr lang="en-US" altLang="zh-CN" sz="2800" b="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𝑦</m:t>
                        </m:r>
                      </m:e>
                    </m:acc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r>
                      <a:rPr lang="en-US" altLang="zh-CN" sz="2800" b="1" i="1" spc="60" smtClean="0">
                        <a:solidFill>
                          <a:srgbClr val="0099E8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+</m:t>
                    </m:r>
                    <m:r>
                      <a:rPr lang="en-US" altLang="zh-CN" sz="2800" b="1" i="1" spc="60" smtClean="0">
                        <a:solidFill>
                          <a:srgbClr val="0099E8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𝟏</m:t>
                    </m:r>
                  </m:oMath>
                </a14:m>
                <a:endParaRPr lang="en-US" sz="2800" b="1" dirty="0">
                  <a:solidFill>
                    <a:srgbClr val="118CC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Else:</a:t>
                </a:r>
                <a:endPara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:r>
                  <a:rPr lang="en-US" altLang="zh-CN" sz="2800" b="0" spc="6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𝑦</m:t>
                        </m:r>
                      </m:e>
                    </m:acc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r>
                      <a:rPr lang="en-US" altLang="zh-CN" sz="2800" b="1" i="1" spc="60" smtClean="0">
                        <a:solidFill>
                          <a:srgbClr val="FC5507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−</m:t>
                    </m:r>
                    <m:r>
                      <a:rPr lang="en-US" altLang="zh-CN" sz="2800" b="1" i="1" spc="60" smtClean="0">
                        <a:solidFill>
                          <a:srgbClr val="FC5507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𝟏</m:t>
                    </m:r>
                  </m:oMath>
                </a14:m>
                <a:endParaRPr 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3" name="objec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167" y="2581534"/>
                <a:ext cx="7505700" cy="3428365"/>
              </a:xfrm>
              <a:custGeom>
                <a:avLst/>
                <a:gdLst/>
                <a:ahLst/>
                <a:cxnLst/>
                <a:rect l="l" t="t" r="r" b="b"/>
                <a:pathLst>
                  <a:path w="7505700" h="3428365">
                    <a:moveTo>
                      <a:pt x="7505262" y="0"/>
                    </a:moveTo>
                    <a:lnTo>
                      <a:pt x="0" y="0"/>
                    </a:lnTo>
                    <a:lnTo>
                      <a:pt x="0" y="3427842"/>
                    </a:lnTo>
                    <a:lnTo>
                      <a:pt x="7505262" y="3427842"/>
                    </a:lnTo>
                    <a:lnTo>
                      <a:pt x="7505262" y="0"/>
                    </a:lnTo>
                    <a:close/>
                  </a:path>
                </a:pathLst>
              </a:custGeom>
              <a:blipFill rotWithShape="1">
                <a:blip r:embed="rId1"/>
                <a:stretch>
                  <a:fillRect l="-4" t="-897" r="13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object 21"/>
          <p:cNvGrpSpPr/>
          <p:nvPr/>
        </p:nvGrpSpPr>
        <p:grpSpPr>
          <a:xfrm>
            <a:off x="678734" y="3510783"/>
            <a:ext cx="1635760" cy="1456690"/>
            <a:chOff x="412807" y="3592065"/>
            <a:chExt cx="1635760" cy="1456690"/>
          </a:xfrm>
        </p:grpSpPr>
        <p:sp>
          <p:nvSpPr>
            <p:cNvPr id="27" name="object 22"/>
            <p:cNvSpPr/>
            <p:nvPr/>
          </p:nvSpPr>
          <p:spPr>
            <a:xfrm>
              <a:off x="423602" y="3602860"/>
              <a:ext cx="1614170" cy="1435100"/>
            </a:xfrm>
            <a:custGeom>
              <a:avLst/>
              <a:gdLst/>
              <a:ahLst/>
              <a:cxnLst/>
              <a:rect l="l" t="t" r="r" b="b"/>
              <a:pathLst>
                <a:path w="1614170" h="1435100">
                  <a:moveTo>
                    <a:pt x="1613782" y="0"/>
                  </a:moveTo>
                  <a:lnTo>
                    <a:pt x="0" y="0"/>
                  </a:lnTo>
                  <a:lnTo>
                    <a:pt x="0" y="1434924"/>
                  </a:lnTo>
                  <a:lnTo>
                    <a:pt x="1613782" y="1434924"/>
                  </a:lnTo>
                  <a:lnTo>
                    <a:pt x="1613782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pPr marL="12700" marR="5080" algn="ctr">
                <a:lnSpc>
                  <a:spcPct val="101000"/>
                </a:lnSpc>
                <a:spcBef>
                  <a:spcPts val="75"/>
                </a:spcBef>
              </a:pPr>
              <a:endParaRPr lang="en-SG" altLang="zh-CN" sz="2400" spc="-1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marL="12700" marR="5080" algn="ctr">
                <a:lnSpc>
                  <a:spcPct val="101000"/>
                </a:lnSpc>
                <a:spcBef>
                  <a:spcPts val="75"/>
                </a:spcBef>
              </a:pPr>
              <a:r>
                <a:rPr lang="zh-CN" altLang="en-US" sz="2400" spc="-1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贷款人</a:t>
              </a:r>
              <a:endParaRPr lang="zh-CN" altLang="en-US" sz="2400" spc="-1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marL="12700" marR="5080" algn="ctr">
                <a:lnSpc>
                  <a:spcPct val="101000"/>
                </a:lnSpc>
                <a:spcBef>
                  <a:spcPts val="75"/>
                </a:spcBef>
              </a:pPr>
              <a:r>
                <a:rPr lang="zh-CN" altLang="en-US" sz="2400" spc="-1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信息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8" name="object 23"/>
            <p:cNvSpPr/>
            <p:nvPr/>
          </p:nvSpPr>
          <p:spPr>
            <a:xfrm>
              <a:off x="423602" y="3602860"/>
              <a:ext cx="1614170" cy="1435100"/>
            </a:xfrm>
            <a:custGeom>
              <a:avLst/>
              <a:gdLst/>
              <a:ahLst/>
              <a:cxnLst/>
              <a:rect l="l" t="t" r="r" b="b"/>
              <a:pathLst>
                <a:path w="1614170" h="1435100">
                  <a:moveTo>
                    <a:pt x="0" y="1434924"/>
                  </a:moveTo>
                  <a:lnTo>
                    <a:pt x="1613782" y="1434924"/>
                  </a:lnTo>
                  <a:lnTo>
                    <a:pt x="1613782" y="0"/>
                  </a:lnTo>
                  <a:lnTo>
                    <a:pt x="0" y="0"/>
                  </a:lnTo>
                  <a:lnTo>
                    <a:pt x="0" y="1434924"/>
                  </a:lnTo>
                  <a:close/>
                </a:path>
              </a:pathLst>
            </a:custGeom>
            <a:ln w="21443">
              <a:solidFill>
                <a:srgbClr val="80005B"/>
              </a:solidFill>
            </a:ln>
          </p:spPr>
          <p:txBody>
            <a:bodyPr wrap="square" lIns="0" tIns="0" rIns="0" bIns="0" rtlCol="0"/>
            <a:lstStyle/>
            <a:p>
              <a:endParaRPr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28"/>
              <p:cNvSpPr txBox="1"/>
              <p:nvPr/>
            </p:nvSpPr>
            <p:spPr>
              <a:xfrm>
                <a:off x="430444" y="5196597"/>
                <a:ext cx="2132938" cy="38215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输入input:</a:t>
                </a:r>
                <a:r>
                  <a:rPr lang="zh-CN" altLang="en-US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𝒙</m:t>
                    </m:r>
                  </m:oMath>
                </a14:m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</p:txBody>
          </p:sp>
        </mc:Choice>
        <mc:Fallback>
          <p:sp>
            <p:nvSpPr>
              <p:cNvPr id="33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44" y="5196597"/>
                <a:ext cx="2132938" cy="382156"/>
              </a:xfrm>
              <a:prstGeom prst="rect">
                <a:avLst/>
              </a:prstGeom>
              <a:blipFill rotWithShape="1">
                <a:blip r:embed="rId2"/>
                <a:stretch>
                  <a:fillRect l="-26" t="-3592" r="24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/>
          <p:nvPr/>
        </p:nvCxnSpPr>
        <p:spPr>
          <a:xfrm>
            <a:off x="2321834" y="4239128"/>
            <a:ext cx="726780" cy="0"/>
          </a:xfrm>
          <a:prstGeom prst="straightConnector1">
            <a:avLst/>
          </a:prstGeom>
          <a:ln w="63500">
            <a:solidFill>
              <a:srgbClr val="B00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30048" y="828293"/>
                <a:ext cx="7627905" cy="175375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en-US" sz="2800" b="1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使用概率估计做预测可以提升可解释性</a:t>
                </a:r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SG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ar-AE" sz="2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预</a:t>
                </a:r>
                <a:r>
                  <a:rPr lang="ar-AE" sz="2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测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40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24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sz="2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，并提供有多确定</a:t>
                </a:r>
                <a:endParaRPr lang="ar-AE" sz="26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endParaRPr lang="en-SG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7627905" cy="1753750"/>
              </a:xfrm>
              <a:prstGeom prst="rect">
                <a:avLst/>
              </a:prstGeom>
              <a:blipFill rotWithShape="1">
                <a:blip r:embed="rId3"/>
                <a:stretch>
                  <a:fillRect l="-1" t="-14" r="5" b="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决策边界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6" name="object 57"/>
          <p:cNvSpPr/>
          <p:nvPr/>
        </p:nvSpPr>
        <p:spPr>
          <a:xfrm>
            <a:off x="7625565" y="1323819"/>
            <a:ext cx="457354" cy="4735717"/>
          </a:xfrm>
          <a:custGeom>
            <a:avLst/>
            <a:gdLst/>
            <a:ahLst/>
            <a:cxnLst/>
            <a:rect l="l" t="t" r="r" b="b"/>
            <a:pathLst>
              <a:path w="443229" h="5010784">
                <a:moveTo>
                  <a:pt x="0" y="0"/>
                </a:moveTo>
                <a:lnTo>
                  <a:pt x="69957" y="1881"/>
                </a:lnTo>
                <a:lnTo>
                  <a:pt x="130719" y="7119"/>
                </a:lnTo>
                <a:lnTo>
                  <a:pt x="178639" y="15107"/>
                </a:lnTo>
                <a:lnTo>
                  <a:pt x="221353" y="36900"/>
                </a:lnTo>
                <a:lnTo>
                  <a:pt x="221353" y="2468490"/>
                </a:lnTo>
                <a:lnTo>
                  <a:pt x="232640" y="2480148"/>
                </a:lnTo>
                <a:lnTo>
                  <a:pt x="264070" y="2490265"/>
                </a:lnTo>
                <a:lnTo>
                  <a:pt x="311997" y="2498238"/>
                </a:lnTo>
                <a:lnTo>
                  <a:pt x="372775" y="2503463"/>
                </a:lnTo>
                <a:lnTo>
                  <a:pt x="442757" y="2505339"/>
                </a:lnTo>
                <a:lnTo>
                  <a:pt x="372775" y="2507221"/>
                </a:lnTo>
                <a:lnTo>
                  <a:pt x="311997" y="2512462"/>
                </a:lnTo>
                <a:lnTo>
                  <a:pt x="264070" y="2520458"/>
                </a:lnTo>
                <a:lnTo>
                  <a:pt x="232640" y="2530602"/>
                </a:lnTo>
                <a:lnTo>
                  <a:pt x="221353" y="2542291"/>
                </a:lnTo>
                <a:lnTo>
                  <a:pt x="221353" y="4973829"/>
                </a:lnTo>
                <a:lnTo>
                  <a:pt x="210066" y="4985493"/>
                </a:lnTo>
                <a:lnTo>
                  <a:pt x="178639" y="4995623"/>
                </a:lnTo>
                <a:lnTo>
                  <a:pt x="130719" y="5003611"/>
                </a:lnTo>
                <a:lnTo>
                  <a:pt x="69957" y="5008849"/>
                </a:lnTo>
                <a:lnTo>
                  <a:pt x="0" y="5010730"/>
                </a:lnTo>
              </a:path>
            </a:pathLst>
          </a:custGeom>
          <a:ln w="21443">
            <a:solidFill>
              <a:srgbClr val="B0007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3" name="Group 122"/>
          <p:cNvGrpSpPr/>
          <p:nvPr/>
        </p:nvGrpSpPr>
        <p:grpSpPr>
          <a:xfrm>
            <a:off x="1341813" y="2824153"/>
            <a:ext cx="5059422" cy="3235383"/>
            <a:chOff x="1341813" y="3319453"/>
            <a:chExt cx="5059422" cy="3235383"/>
          </a:xfrm>
        </p:grpSpPr>
        <p:grpSp>
          <p:nvGrpSpPr>
            <p:cNvPr id="2" name="object 3"/>
            <p:cNvGrpSpPr/>
            <p:nvPr/>
          </p:nvGrpSpPr>
          <p:grpSpPr>
            <a:xfrm>
              <a:off x="1560070" y="3319453"/>
              <a:ext cx="4023245" cy="3108268"/>
              <a:chOff x="2026634" y="2763204"/>
              <a:chExt cx="4436745" cy="3427729"/>
            </a:xfrm>
          </p:grpSpPr>
          <p:pic>
            <p:nvPicPr>
              <p:cNvPr id="3" name="object 4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114125" y="5686443"/>
                <a:ext cx="4348833" cy="504361"/>
              </a:xfrm>
              <a:prstGeom prst="rect">
                <a:avLst/>
              </a:prstGeom>
            </p:spPr>
          </p:pic>
          <p:sp>
            <p:nvSpPr>
              <p:cNvPr id="4" name="object 5"/>
              <p:cNvSpPr/>
              <p:nvPr/>
            </p:nvSpPr>
            <p:spPr>
              <a:xfrm>
                <a:off x="2149147" y="5814360"/>
                <a:ext cx="4060825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4060825" h="217170">
                    <a:moveTo>
                      <a:pt x="3964532" y="108376"/>
                    </a:moveTo>
                    <a:lnTo>
                      <a:pt x="3855510" y="171967"/>
                    </a:lnTo>
                    <a:lnTo>
                      <a:pt x="3848340" y="178335"/>
                    </a:lnTo>
                    <a:lnTo>
                      <a:pt x="3844310" y="186665"/>
                    </a:lnTo>
                    <a:lnTo>
                      <a:pt x="3843706" y="195893"/>
                    </a:lnTo>
                    <a:lnTo>
                      <a:pt x="3846813" y="204956"/>
                    </a:lnTo>
                    <a:lnTo>
                      <a:pt x="3853169" y="212116"/>
                    </a:lnTo>
                    <a:lnTo>
                      <a:pt x="3861493" y="216135"/>
                    </a:lnTo>
                    <a:lnTo>
                      <a:pt x="3870725" y="216735"/>
                    </a:lnTo>
                    <a:lnTo>
                      <a:pt x="3879802" y="213638"/>
                    </a:lnTo>
                    <a:lnTo>
                      <a:pt x="4018882" y="132503"/>
                    </a:lnTo>
                    <a:lnTo>
                      <a:pt x="4012377" y="132503"/>
                    </a:lnTo>
                    <a:lnTo>
                      <a:pt x="4012377" y="129204"/>
                    </a:lnTo>
                    <a:lnTo>
                      <a:pt x="4000231" y="129204"/>
                    </a:lnTo>
                    <a:lnTo>
                      <a:pt x="3964532" y="108376"/>
                    </a:lnTo>
                    <a:close/>
                  </a:path>
                  <a:path w="4060825" h="217170">
                    <a:moveTo>
                      <a:pt x="3923187" y="84254"/>
                    </a:moveTo>
                    <a:lnTo>
                      <a:pt x="0" y="84254"/>
                    </a:lnTo>
                    <a:lnTo>
                      <a:pt x="0" y="132503"/>
                    </a:lnTo>
                    <a:lnTo>
                      <a:pt x="3923147" y="132503"/>
                    </a:lnTo>
                    <a:lnTo>
                      <a:pt x="3964499" y="108376"/>
                    </a:lnTo>
                    <a:lnTo>
                      <a:pt x="3923187" y="84254"/>
                    </a:lnTo>
                    <a:close/>
                  </a:path>
                  <a:path w="4060825" h="217170">
                    <a:moveTo>
                      <a:pt x="4018899" y="84254"/>
                    </a:moveTo>
                    <a:lnTo>
                      <a:pt x="4012377" y="84254"/>
                    </a:lnTo>
                    <a:lnTo>
                      <a:pt x="4012377" y="132503"/>
                    </a:lnTo>
                    <a:lnTo>
                      <a:pt x="4018882" y="132503"/>
                    </a:lnTo>
                    <a:lnTo>
                      <a:pt x="4060240" y="108376"/>
                    </a:lnTo>
                    <a:lnTo>
                      <a:pt x="4018899" y="84254"/>
                    </a:lnTo>
                    <a:close/>
                  </a:path>
                  <a:path w="4060825" h="217170">
                    <a:moveTo>
                      <a:pt x="4000231" y="87527"/>
                    </a:moveTo>
                    <a:lnTo>
                      <a:pt x="3964532" y="108376"/>
                    </a:lnTo>
                    <a:lnTo>
                      <a:pt x="4000231" y="129204"/>
                    </a:lnTo>
                    <a:lnTo>
                      <a:pt x="4000231" y="87527"/>
                    </a:lnTo>
                    <a:close/>
                  </a:path>
                  <a:path w="4060825" h="217170">
                    <a:moveTo>
                      <a:pt x="4012377" y="87527"/>
                    </a:moveTo>
                    <a:lnTo>
                      <a:pt x="4000231" y="87527"/>
                    </a:lnTo>
                    <a:lnTo>
                      <a:pt x="4000231" y="129204"/>
                    </a:lnTo>
                    <a:lnTo>
                      <a:pt x="4012377" y="129204"/>
                    </a:lnTo>
                    <a:lnTo>
                      <a:pt x="4012377" y="87527"/>
                    </a:lnTo>
                    <a:close/>
                  </a:path>
                  <a:path w="4060825" h="217170">
                    <a:moveTo>
                      <a:pt x="3870725" y="0"/>
                    </a:moveTo>
                    <a:lnTo>
                      <a:pt x="3861493" y="605"/>
                    </a:lnTo>
                    <a:lnTo>
                      <a:pt x="3853169" y="4626"/>
                    </a:lnTo>
                    <a:lnTo>
                      <a:pt x="3846813" y="11780"/>
                    </a:lnTo>
                    <a:lnTo>
                      <a:pt x="3843706" y="20841"/>
                    </a:lnTo>
                    <a:lnTo>
                      <a:pt x="3844310" y="30068"/>
                    </a:lnTo>
                    <a:lnTo>
                      <a:pt x="3848340" y="38399"/>
                    </a:lnTo>
                    <a:lnTo>
                      <a:pt x="3855510" y="44770"/>
                    </a:lnTo>
                    <a:lnTo>
                      <a:pt x="3964532" y="108376"/>
                    </a:lnTo>
                    <a:lnTo>
                      <a:pt x="4000231" y="87527"/>
                    </a:lnTo>
                    <a:lnTo>
                      <a:pt x="4012377" y="87527"/>
                    </a:lnTo>
                    <a:lnTo>
                      <a:pt x="4012377" y="84254"/>
                    </a:lnTo>
                    <a:lnTo>
                      <a:pt x="4018899" y="84254"/>
                    </a:lnTo>
                    <a:lnTo>
                      <a:pt x="3879802" y="3093"/>
                    </a:lnTo>
                    <a:lnTo>
                      <a:pt x="3870725" y="0"/>
                    </a:lnTo>
                    <a:close/>
                  </a:path>
                </a:pathLst>
              </a:custGeom>
              <a:solidFill>
                <a:srgbClr val="B0007E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pic>
            <p:nvPicPr>
              <p:cNvPr id="5" name="object 6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026634" y="2763204"/>
                <a:ext cx="504361" cy="3340109"/>
              </a:xfrm>
              <a:prstGeom prst="rect">
                <a:avLst/>
              </a:prstGeom>
            </p:spPr>
          </p:pic>
          <p:sp>
            <p:nvSpPr>
              <p:cNvPr id="6" name="object 7"/>
              <p:cNvSpPr/>
              <p:nvPr/>
            </p:nvSpPr>
            <p:spPr>
              <a:xfrm>
                <a:off x="2169452" y="2995297"/>
                <a:ext cx="217170" cy="3056255"/>
              </a:xfrm>
              <a:custGeom>
                <a:avLst/>
                <a:gdLst/>
                <a:ahLst/>
                <a:cxnLst/>
                <a:rect l="l" t="t" r="r" b="b"/>
                <a:pathLst>
                  <a:path w="217169" h="3056254">
                    <a:moveTo>
                      <a:pt x="108366" y="95772"/>
                    </a:moveTo>
                    <a:lnTo>
                      <a:pt x="84231" y="137140"/>
                    </a:lnTo>
                    <a:lnTo>
                      <a:pt x="84231" y="3056082"/>
                    </a:lnTo>
                    <a:lnTo>
                      <a:pt x="132480" y="3056082"/>
                    </a:lnTo>
                    <a:lnTo>
                      <a:pt x="132480" y="137140"/>
                    </a:lnTo>
                    <a:lnTo>
                      <a:pt x="108366" y="95772"/>
                    </a:lnTo>
                    <a:close/>
                  </a:path>
                  <a:path w="217169" h="3056254">
                    <a:moveTo>
                      <a:pt x="108358" y="0"/>
                    </a:moveTo>
                    <a:lnTo>
                      <a:pt x="3096" y="180489"/>
                    </a:lnTo>
                    <a:lnTo>
                      <a:pt x="0" y="189544"/>
                    </a:lnTo>
                    <a:lnTo>
                      <a:pt x="599" y="198778"/>
                    </a:lnTo>
                    <a:lnTo>
                      <a:pt x="4618" y="207115"/>
                    </a:lnTo>
                    <a:lnTo>
                      <a:pt x="11778" y="213478"/>
                    </a:lnTo>
                    <a:lnTo>
                      <a:pt x="20840" y="216563"/>
                    </a:lnTo>
                    <a:lnTo>
                      <a:pt x="30068" y="215962"/>
                    </a:lnTo>
                    <a:lnTo>
                      <a:pt x="38399" y="211944"/>
                    </a:lnTo>
                    <a:lnTo>
                      <a:pt x="44768" y="204781"/>
                    </a:lnTo>
                    <a:lnTo>
                      <a:pt x="84231" y="137140"/>
                    </a:lnTo>
                    <a:lnTo>
                      <a:pt x="84231" y="47862"/>
                    </a:lnTo>
                    <a:lnTo>
                      <a:pt x="136278" y="47862"/>
                    </a:lnTo>
                    <a:lnTo>
                      <a:pt x="108358" y="0"/>
                    </a:lnTo>
                    <a:close/>
                  </a:path>
                  <a:path w="217169" h="3056254">
                    <a:moveTo>
                      <a:pt x="136278" y="47862"/>
                    </a:moveTo>
                    <a:lnTo>
                      <a:pt x="132480" y="47862"/>
                    </a:lnTo>
                    <a:lnTo>
                      <a:pt x="132501" y="137140"/>
                    </a:lnTo>
                    <a:lnTo>
                      <a:pt x="171965" y="204781"/>
                    </a:lnTo>
                    <a:lnTo>
                      <a:pt x="178336" y="211944"/>
                    </a:lnTo>
                    <a:lnTo>
                      <a:pt x="186666" y="215962"/>
                    </a:lnTo>
                    <a:lnTo>
                      <a:pt x="195893" y="216563"/>
                    </a:lnTo>
                    <a:lnTo>
                      <a:pt x="204954" y="213478"/>
                    </a:lnTo>
                    <a:lnTo>
                      <a:pt x="212116" y="207115"/>
                    </a:lnTo>
                    <a:lnTo>
                      <a:pt x="216135" y="198778"/>
                    </a:lnTo>
                    <a:lnTo>
                      <a:pt x="216736" y="189544"/>
                    </a:lnTo>
                    <a:lnTo>
                      <a:pt x="213641" y="180489"/>
                    </a:lnTo>
                    <a:lnTo>
                      <a:pt x="136278" y="47862"/>
                    </a:lnTo>
                    <a:close/>
                  </a:path>
                  <a:path w="217169" h="3056254">
                    <a:moveTo>
                      <a:pt x="132480" y="47862"/>
                    </a:moveTo>
                    <a:lnTo>
                      <a:pt x="84231" y="47862"/>
                    </a:lnTo>
                    <a:lnTo>
                      <a:pt x="84231" y="137140"/>
                    </a:lnTo>
                    <a:lnTo>
                      <a:pt x="108366" y="95772"/>
                    </a:lnTo>
                    <a:lnTo>
                      <a:pt x="87530" y="60060"/>
                    </a:lnTo>
                    <a:lnTo>
                      <a:pt x="132480" y="60060"/>
                    </a:lnTo>
                    <a:lnTo>
                      <a:pt x="132480" y="47862"/>
                    </a:lnTo>
                    <a:close/>
                  </a:path>
                  <a:path w="217169" h="3056254">
                    <a:moveTo>
                      <a:pt x="132480" y="60060"/>
                    </a:moveTo>
                    <a:lnTo>
                      <a:pt x="129202" y="60060"/>
                    </a:lnTo>
                    <a:lnTo>
                      <a:pt x="108366" y="95772"/>
                    </a:lnTo>
                    <a:lnTo>
                      <a:pt x="132501" y="137140"/>
                    </a:lnTo>
                    <a:lnTo>
                      <a:pt x="132480" y="60060"/>
                    </a:lnTo>
                    <a:close/>
                  </a:path>
                  <a:path w="217169" h="3056254">
                    <a:moveTo>
                      <a:pt x="129202" y="60060"/>
                    </a:moveTo>
                    <a:lnTo>
                      <a:pt x="87530" y="60060"/>
                    </a:lnTo>
                    <a:lnTo>
                      <a:pt x="108366" y="95772"/>
                    </a:lnTo>
                    <a:lnTo>
                      <a:pt x="129202" y="60060"/>
                    </a:lnTo>
                    <a:close/>
                  </a:path>
                </a:pathLst>
              </a:custGeom>
              <a:solidFill>
                <a:srgbClr val="B0007E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</p:grpSp>
        <p:sp>
          <p:nvSpPr>
            <p:cNvPr id="7" name="object 8"/>
            <p:cNvSpPr txBox="1"/>
            <p:nvPr/>
          </p:nvSpPr>
          <p:spPr>
            <a:xfrm>
              <a:off x="1594498" y="5895729"/>
              <a:ext cx="132438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50" dirty="0">
                  <a:latin typeface="Arial" panose="020B0604020202020204"/>
                  <a:cs typeface="Arial" panose="020B0604020202020204"/>
                </a:rPr>
                <a:t>0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" name="object 9"/>
            <p:cNvSpPr txBox="1"/>
            <p:nvPr/>
          </p:nvSpPr>
          <p:spPr>
            <a:xfrm>
              <a:off x="1622590" y="5522377"/>
              <a:ext cx="104799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-77" dirty="0">
                  <a:latin typeface="Arial" panose="020B0604020202020204"/>
                  <a:cs typeface="Arial" panose="020B0604020202020204"/>
                </a:rPr>
                <a:t>1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" name="object 10"/>
            <p:cNvSpPr txBox="1"/>
            <p:nvPr/>
          </p:nvSpPr>
          <p:spPr>
            <a:xfrm>
              <a:off x="1605089" y="5153692"/>
              <a:ext cx="122074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-45" dirty="0">
                  <a:latin typeface="Arial" panose="020B0604020202020204"/>
                  <a:cs typeface="Arial" panose="020B0604020202020204"/>
                </a:rPr>
                <a:t>2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" name="object 11"/>
            <p:cNvSpPr txBox="1"/>
            <p:nvPr/>
          </p:nvSpPr>
          <p:spPr>
            <a:xfrm>
              <a:off x="1605636" y="4780340"/>
              <a:ext cx="121498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-45" dirty="0">
                  <a:latin typeface="Arial" panose="020B0604020202020204"/>
                  <a:cs typeface="Arial" panose="020B0604020202020204"/>
                </a:rPr>
                <a:t>3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" name="object 12"/>
            <p:cNvSpPr txBox="1"/>
            <p:nvPr/>
          </p:nvSpPr>
          <p:spPr>
            <a:xfrm>
              <a:off x="1594497" y="4406988"/>
              <a:ext cx="127832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14" dirty="0">
                  <a:latin typeface="Arial" panose="020B0604020202020204"/>
                  <a:cs typeface="Arial" panose="020B0604020202020204"/>
                </a:rPr>
                <a:t>4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" name="object 13"/>
            <p:cNvSpPr txBox="1"/>
            <p:nvPr/>
          </p:nvSpPr>
          <p:spPr>
            <a:xfrm>
              <a:off x="1573988" y="4038303"/>
              <a:ext cx="148561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-426" dirty="0">
                  <a:latin typeface="Arial" panose="020B0604020202020204"/>
                  <a:cs typeface="Arial" panose="020B0604020202020204"/>
                </a:rPr>
                <a:t>…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6" name="object 14"/>
            <p:cNvGrpSpPr/>
            <p:nvPr/>
          </p:nvGrpSpPr>
          <p:grpSpPr>
            <a:xfrm>
              <a:off x="1742079" y="3888812"/>
              <a:ext cx="3845893" cy="2375828"/>
              <a:chOff x="2227349" y="3391082"/>
              <a:chExt cx="4241165" cy="2620010"/>
            </a:xfrm>
          </p:grpSpPr>
          <p:pic>
            <p:nvPicPr>
              <p:cNvPr id="18" name="object 1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987760" y="5781966"/>
                <a:ext cx="206616" cy="206637"/>
              </a:xfrm>
              <a:prstGeom prst="rect">
                <a:avLst/>
              </a:prstGeom>
            </p:spPr>
          </p:pic>
          <p:pic>
            <p:nvPicPr>
              <p:cNvPr id="20" name="object 16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227349" y="3391082"/>
                <a:ext cx="4240755" cy="2619592"/>
              </a:xfrm>
              <a:prstGeom prst="rect">
                <a:avLst/>
              </a:prstGeom>
            </p:spPr>
          </p:pic>
          <p:sp>
            <p:nvSpPr>
              <p:cNvPr id="21" name="object 17"/>
              <p:cNvSpPr/>
              <p:nvPr/>
            </p:nvSpPr>
            <p:spPr>
              <a:xfrm>
                <a:off x="2277811" y="3441143"/>
                <a:ext cx="4124325" cy="2484120"/>
              </a:xfrm>
              <a:custGeom>
                <a:avLst/>
                <a:gdLst/>
                <a:ahLst/>
                <a:cxnLst/>
                <a:rect l="l" t="t" r="r" b="b"/>
                <a:pathLst>
                  <a:path w="4124325" h="2484120">
                    <a:moveTo>
                      <a:pt x="0" y="2484068"/>
                    </a:moveTo>
                    <a:lnTo>
                      <a:pt x="4124263" y="0"/>
                    </a:lnTo>
                  </a:path>
                </a:pathLst>
              </a:custGeom>
              <a:ln w="64331">
                <a:solidFill>
                  <a:srgbClr val="5D5555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object 19"/>
                <p:cNvSpPr txBox="1"/>
                <p:nvPr/>
              </p:nvSpPr>
              <p:spPr>
                <a:xfrm>
                  <a:off x="4202932" y="5614011"/>
                  <a:ext cx="2198303" cy="448331"/>
                </a:xfrm>
                <a:prstGeom prst="rect">
                  <a:avLst/>
                </a:prstGeom>
                <a:solidFill>
                  <a:srgbClr val="118CC4"/>
                </a:solidFill>
                <a:ln w="21443">
                  <a:solidFill>
                    <a:srgbClr val="09658F"/>
                  </a:solidFill>
                </a:ln>
              </p:spPr>
              <p:txBody>
                <a:bodyPr vert="horz" wrap="square" lIns="0" tIns="17275" rIns="0" bIns="0" rtlCol="0">
                  <a:spAutoFit/>
                </a:bodyPr>
                <a:lstStyle/>
                <a:p>
                  <a:pPr marL="69850">
                    <a:spcBef>
                      <a:spcPts val="115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2800" b="0" i="0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core</m:t>
                        </m:r>
                        <m:d>
                          <m:dPr>
                            <m:ctrlPr>
                              <a:rPr lang="ar-AE" altLang="zh-CN" sz="2800" b="0" i="1" spc="6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ar-AE" altLang="zh-CN" sz="2800" b="1" i="1" spc="6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&gt;</m:t>
                        </m:r>
                        <m:r>
                          <a:rPr lang="ar-AE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0</m:t>
                        </m:r>
                      </m:oMath>
                    </m:oMathPara>
                  </a14:m>
                  <a:endParaRPr lang="ar-AE" sz="3200" dirty="0">
                    <a:solidFill>
                      <a:schemeClr val="bg1"/>
                    </a:solidFill>
                    <a:latin typeface="Arial" panose="020B0604020202020204"/>
                    <a:cs typeface="Arial" panose="020B0604020202020204"/>
                  </a:endParaRPr>
                </a:p>
              </p:txBody>
            </p:sp>
          </mc:Choice>
          <mc:Fallback>
            <p:sp>
              <p:nvSpPr>
                <p:cNvPr id="22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2932" y="5614011"/>
                  <a:ext cx="2198303" cy="448331"/>
                </a:xfrm>
                <a:prstGeom prst="rect">
                  <a:avLst/>
                </a:prstGeom>
                <a:blipFill rotWithShape="1">
                  <a:blip r:embed="rId5"/>
                </a:blipFill>
                <a:ln w="21443">
                  <a:solidFill>
                    <a:srgbClr val="09658F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" name="object 20"/>
            <p:cNvGrpSpPr/>
            <p:nvPr/>
          </p:nvGrpSpPr>
          <p:grpSpPr>
            <a:xfrm>
              <a:off x="1710879" y="4125102"/>
              <a:ext cx="2932069" cy="1731487"/>
              <a:chOff x="2192943" y="3651656"/>
              <a:chExt cx="3233420" cy="1909445"/>
            </a:xfrm>
          </p:grpSpPr>
          <p:pic>
            <p:nvPicPr>
              <p:cNvPr id="24" name="object 21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841593" y="4434754"/>
                <a:ext cx="206616" cy="206637"/>
              </a:xfrm>
              <a:prstGeom prst="rect">
                <a:avLst/>
              </a:prstGeom>
            </p:spPr>
          </p:pic>
          <p:pic>
            <p:nvPicPr>
              <p:cNvPr id="25" name="object 22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044218" y="3664944"/>
                <a:ext cx="206616" cy="206616"/>
              </a:xfrm>
              <a:prstGeom prst="rect">
                <a:avLst/>
              </a:prstGeom>
            </p:spPr>
          </p:pic>
          <p:pic>
            <p:nvPicPr>
              <p:cNvPr id="26" name="object 23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192943" y="3651656"/>
                <a:ext cx="206642" cy="206616"/>
              </a:xfrm>
              <a:prstGeom prst="rect">
                <a:avLst/>
              </a:prstGeom>
            </p:spPr>
          </p:pic>
          <p:pic>
            <p:nvPicPr>
              <p:cNvPr id="27" name="object 24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3337468" y="3890389"/>
                <a:ext cx="206621" cy="206637"/>
              </a:xfrm>
              <a:prstGeom prst="rect">
                <a:avLst/>
              </a:prstGeom>
            </p:spPr>
          </p:pic>
          <p:pic>
            <p:nvPicPr>
              <p:cNvPr id="28" name="object 25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3357493" y="4434554"/>
                <a:ext cx="206616" cy="206616"/>
              </a:xfrm>
              <a:prstGeom prst="rect">
                <a:avLst/>
              </a:prstGeom>
            </p:spPr>
          </p:pic>
          <p:sp>
            <p:nvSpPr>
              <p:cNvPr id="29" name="object 26"/>
              <p:cNvSpPr/>
              <p:nvPr/>
            </p:nvSpPr>
            <p:spPr>
              <a:xfrm>
                <a:off x="3457914" y="5316751"/>
                <a:ext cx="185420" cy="185420"/>
              </a:xfrm>
              <a:custGeom>
                <a:avLst/>
                <a:gdLst/>
                <a:ahLst/>
                <a:cxnLst/>
                <a:rect l="l" t="t" r="r" b="b"/>
                <a:pathLst>
                  <a:path w="185420" h="185420">
                    <a:moveTo>
                      <a:pt x="92581" y="0"/>
                    </a:moveTo>
                    <a:lnTo>
                      <a:pt x="56546" y="7276"/>
                    </a:lnTo>
                    <a:lnTo>
                      <a:pt x="27118" y="27120"/>
                    </a:lnTo>
                    <a:lnTo>
                      <a:pt x="7276" y="56553"/>
                    </a:lnTo>
                    <a:lnTo>
                      <a:pt x="0" y="92596"/>
                    </a:lnTo>
                    <a:lnTo>
                      <a:pt x="7276" y="128633"/>
                    </a:lnTo>
                    <a:lnTo>
                      <a:pt x="27118" y="158067"/>
                    </a:lnTo>
                    <a:lnTo>
                      <a:pt x="56546" y="177914"/>
                    </a:lnTo>
                    <a:lnTo>
                      <a:pt x="92581" y="185193"/>
                    </a:lnTo>
                    <a:lnTo>
                      <a:pt x="128624" y="177914"/>
                    </a:lnTo>
                    <a:lnTo>
                      <a:pt x="158057" y="158067"/>
                    </a:lnTo>
                    <a:lnTo>
                      <a:pt x="177901" y="128633"/>
                    </a:lnTo>
                    <a:lnTo>
                      <a:pt x="185177" y="92596"/>
                    </a:lnTo>
                    <a:lnTo>
                      <a:pt x="177901" y="56553"/>
                    </a:lnTo>
                    <a:lnTo>
                      <a:pt x="158057" y="27120"/>
                    </a:lnTo>
                    <a:lnTo>
                      <a:pt x="128624" y="7276"/>
                    </a:lnTo>
                    <a:lnTo>
                      <a:pt x="92581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30" name="object 27"/>
              <p:cNvSpPr/>
              <p:nvPr/>
            </p:nvSpPr>
            <p:spPr>
              <a:xfrm>
                <a:off x="3457914" y="5316751"/>
                <a:ext cx="185420" cy="185420"/>
              </a:xfrm>
              <a:custGeom>
                <a:avLst/>
                <a:gdLst/>
                <a:ahLst/>
                <a:cxnLst/>
                <a:rect l="l" t="t" r="r" b="b"/>
                <a:pathLst>
                  <a:path w="185420" h="185420">
                    <a:moveTo>
                      <a:pt x="0" y="92596"/>
                    </a:moveTo>
                    <a:lnTo>
                      <a:pt x="7276" y="56553"/>
                    </a:lnTo>
                    <a:lnTo>
                      <a:pt x="27118" y="27120"/>
                    </a:lnTo>
                    <a:lnTo>
                      <a:pt x="56546" y="7276"/>
                    </a:lnTo>
                    <a:lnTo>
                      <a:pt x="92581" y="0"/>
                    </a:lnTo>
                    <a:lnTo>
                      <a:pt x="128624" y="7276"/>
                    </a:lnTo>
                    <a:lnTo>
                      <a:pt x="158057" y="27120"/>
                    </a:lnTo>
                    <a:lnTo>
                      <a:pt x="177901" y="56553"/>
                    </a:lnTo>
                    <a:lnTo>
                      <a:pt x="185177" y="92596"/>
                    </a:lnTo>
                    <a:lnTo>
                      <a:pt x="177901" y="128633"/>
                    </a:lnTo>
                    <a:lnTo>
                      <a:pt x="158057" y="158067"/>
                    </a:lnTo>
                    <a:lnTo>
                      <a:pt x="128624" y="177914"/>
                    </a:lnTo>
                    <a:lnTo>
                      <a:pt x="92581" y="185193"/>
                    </a:lnTo>
                    <a:lnTo>
                      <a:pt x="56546" y="177914"/>
                    </a:lnTo>
                    <a:lnTo>
                      <a:pt x="27118" y="158067"/>
                    </a:lnTo>
                    <a:lnTo>
                      <a:pt x="7276" y="128633"/>
                    </a:lnTo>
                    <a:lnTo>
                      <a:pt x="0" y="92596"/>
                    </a:lnTo>
                    <a:close/>
                  </a:path>
                </a:pathLst>
              </a:custGeom>
              <a:ln w="21443">
                <a:solidFill>
                  <a:srgbClr val="608A03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pic>
            <p:nvPicPr>
              <p:cNvPr id="31" name="object 28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4515642" y="5306029"/>
                <a:ext cx="206668" cy="206637"/>
              </a:xfrm>
              <a:prstGeom prst="rect">
                <a:avLst/>
              </a:prstGeom>
            </p:spPr>
          </p:pic>
          <p:pic>
            <p:nvPicPr>
              <p:cNvPr id="32" name="object 29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5167246" y="4895751"/>
                <a:ext cx="206616" cy="206642"/>
              </a:xfrm>
              <a:prstGeom prst="rect">
                <a:avLst/>
              </a:prstGeom>
            </p:spPr>
          </p:pic>
          <p:pic>
            <p:nvPicPr>
              <p:cNvPr id="33" name="object 30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4515642" y="4895751"/>
                <a:ext cx="206668" cy="206642"/>
              </a:xfrm>
              <a:prstGeom prst="rect">
                <a:avLst/>
              </a:prstGeom>
            </p:spPr>
          </p:pic>
          <p:sp>
            <p:nvSpPr>
              <p:cNvPr id="34" name="object 31"/>
              <p:cNvSpPr/>
              <p:nvPr/>
            </p:nvSpPr>
            <p:spPr>
              <a:xfrm>
                <a:off x="3412985" y="5258054"/>
                <a:ext cx="28130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100">
                    <a:moveTo>
                      <a:pt x="280809" y="113030"/>
                    </a:moveTo>
                    <a:lnTo>
                      <a:pt x="166725" y="113030"/>
                    </a:lnTo>
                    <a:lnTo>
                      <a:pt x="166725" y="0"/>
                    </a:lnTo>
                    <a:lnTo>
                      <a:pt x="114084" y="0"/>
                    </a:lnTo>
                    <a:lnTo>
                      <a:pt x="114084" y="113030"/>
                    </a:lnTo>
                    <a:lnTo>
                      <a:pt x="0" y="113030"/>
                    </a:lnTo>
                    <a:lnTo>
                      <a:pt x="0" y="177800"/>
                    </a:lnTo>
                    <a:lnTo>
                      <a:pt x="114084" y="177800"/>
                    </a:lnTo>
                    <a:lnTo>
                      <a:pt x="114084" y="292100"/>
                    </a:lnTo>
                    <a:lnTo>
                      <a:pt x="166725" y="292100"/>
                    </a:lnTo>
                    <a:lnTo>
                      <a:pt x="166725" y="177800"/>
                    </a:lnTo>
                    <a:lnTo>
                      <a:pt x="280809" y="177800"/>
                    </a:lnTo>
                    <a:lnTo>
                      <a:pt x="280809" y="113030"/>
                    </a:lnTo>
                    <a:close/>
                  </a:path>
                </a:pathLst>
              </a:custGeom>
              <a:solidFill>
                <a:srgbClr val="118CC4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35" name="object 32"/>
              <p:cNvSpPr/>
              <p:nvPr/>
            </p:nvSpPr>
            <p:spPr>
              <a:xfrm>
                <a:off x="3412985" y="5257447"/>
                <a:ext cx="28130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735">
                    <a:moveTo>
                      <a:pt x="0" y="114088"/>
                    </a:moveTo>
                    <a:lnTo>
                      <a:pt x="114088" y="114088"/>
                    </a:lnTo>
                    <a:lnTo>
                      <a:pt x="114088" y="0"/>
                    </a:lnTo>
                    <a:lnTo>
                      <a:pt x="166737" y="0"/>
                    </a:lnTo>
                    <a:lnTo>
                      <a:pt x="166737" y="114088"/>
                    </a:lnTo>
                    <a:lnTo>
                      <a:pt x="280811" y="114088"/>
                    </a:lnTo>
                    <a:lnTo>
                      <a:pt x="280811" y="178338"/>
                    </a:lnTo>
                    <a:lnTo>
                      <a:pt x="166737" y="178338"/>
                    </a:lnTo>
                    <a:lnTo>
                      <a:pt x="166737" y="292406"/>
                    </a:lnTo>
                    <a:lnTo>
                      <a:pt x="114088" y="292406"/>
                    </a:lnTo>
                    <a:lnTo>
                      <a:pt x="114088" y="178338"/>
                    </a:lnTo>
                    <a:lnTo>
                      <a:pt x="0" y="178338"/>
                    </a:lnTo>
                    <a:lnTo>
                      <a:pt x="0" y="114088"/>
                    </a:lnTo>
                    <a:close/>
                  </a:path>
                </a:pathLst>
              </a:custGeom>
              <a:ln w="21443">
                <a:solidFill>
                  <a:srgbClr val="09658F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36" name="object 33"/>
              <p:cNvSpPr/>
              <p:nvPr/>
            </p:nvSpPr>
            <p:spPr>
              <a:xfrm>
                <a:off x="5134572" y="4849114"/>
                <a:ext cx="28130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100">
                    <a:moveTo>
                      <a:pt x="280797" y="114300"/>
                    </a:moveTo>
                    <a:lnTo>
                      <a:pt x="166751" y="114300"/>
                    </a:lnTo>
                    <a:lnTo>
                      <a:pt x="166751" y="0"/>
                    </a:lnTo>
                    <a:lnTo>
                      <a:pt x="114109" y="0"/>
                    </a:lnTo>
                    <a:lnTo>
                      <a:pt x="114109" y="114300"/>
                    </a:lnTo>
                    <a:lnTo>
                      <a:pt x="0" y="114300"/>
                    </a:lnTo>
                    <a:lnTo>
                      <a:pt x="0" y="179070"/>
                    </a:lnTo>
                    <a:lnTo>
                      <a:pt x="114109" y="179070"/>
                    </a:lnTo>
                    <a:lnTo>
                      <a:pt x="114109" y="292100"/>
                    </a:lnTo>
                    <a:lnTo>
                      <a:pt x="166751" y="292100"/>
                    </a:lnTo>
                    <a:lnTo>
                      <a:pt x="166751" y="179070"/>
                    </a:lnTo>
                    <a:lnTo>
                      <a:pt x="280797" y="179070"/>
                    </a:lnTo>
                    <a:lnTo>
                      <a:pt x="280797" y="114300"/>
                    </a:lnTo>
                    <a:close/>
                  </a:path>
                </a:pathLst>
              </a:custGeom>
              <a:solidFill>
                <a:srgbClr val="118CC4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37" name="object 34"/>
              <p:cNvSpPr/>
              <p:nvPr/>
            </p:nvSpPr>
            <p:spPr>
              <a:xfrm>
                <a:off x="5134583" y="4849321"/>
                <a:ext cx="28130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735">
                    <a:moveTo>
                      <a:pt x="0" y="114068"/>
                    </a:moveTo>
                    <a:lnTo>
                      <a:pt x="114098" y="114068"/>
                    </a:lnTo>
                    <a:lnTo>
                      <a:pt x="114098" y="0"/>
                    </a:lnTo>
                    <a:lnTo>
                      <a:pt x="166748" y="0"/>
                    </a:lnTo>
                    <a:lnTo>
                      <a:pt x="166748" y="114068"/>
                    </a:lnTo>
                    <a:lnTo>
                      <a:pt x="280795" y="114068"/>
                    </a:lnTo>
                    <a:lnTo>
                      <a:pt x="280795" y="178317"/>
                    </a:lnTo>
                    <a:lnTo>
                      <a:pt x="166748" y="178317"/>
                    </a:lnTo>
                    <a:lnTo>
                      <a:pt x="166748" y="292406"/>
                    </a:lnTo>
                    <a:lnTo>
                      <a:pt x="114098" y="292406"/>
                    </a:lnTo>
                    <a:lnTo>
                      <a:pt x="114098" y="178317"/>
                    </a:lnTo>
                    <a:lnTo>
                      <a:pt x="0" y="178317"/>
                    </a:lnTo>
                    <a:lnTo>
                      <a:pt x="0" y="114068"/>
                    </a:lnTo>
                    <a:close/>
                  </a:path>
                </a:pathLst>
              </a:custGeom>
              <a:ln w="21443">
                <a:solidFill>
                  <a:srgbClr val="09658F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38" name="object 35"/>
              <p:cNvSpPr/>
              <p:nvPr/>
            </p:nvSpPr>
            <p:spPr>
              <a:xfrm>
                <a:off x="4483595" y="4861814"/>
                <a:ext cx="28130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100">
                    <a:moveTo>
                      <a:pt x="280784" y="114300"/>
                    </a:moveTo>
                    <a:lnTo>
                      <a:pt x="166687" y="114300"/>
                    </a:lnTo>
                    <a:lnTo>
                      <a:pt x="166687" y="0"/>
                    </a:lnTo>
                    <a:lnTo>
                      <a:pt x="114046" y="0"/>
                    </a:lnTo>
                    <a:lnTo>
                      <a:pt x="114046" y="114300"/>
                    </a:lnTo>
                    <a:lnTo>
                      <a:pt x="0" y="114300"/>
                    </a:lnTo>
                    <a:lnTo>
                      <a:pt x="0" y="177800"/>
                    </a:lnTo>
                    <a:lnTo>
                      <a:pt x="114046" y="177800"/>
                    </a:lnTo>
                    <a:lnTo>
                      <a:pt x="114046" y="292100"/>
                    </a:lnTo>
                    <a:lnTo>
                      <a:pt x="166687" y="292100"/>
                    </a:lnTo>
                    <a:lnTo>
                      <a:pt x="166687" y="177800"/>
                    </a:lnTo>
                    <a:lnTo>
                      <a:pt x="280784" y="177800"/>
                    </a:lnTo>
                    <a:lnTo>
                      <a:pt x="280784" y="114300"/>
                    </a:lnTo>
                    <a:close/>
                  </a:path>
                </a:pathLst>
              </a:custGeom>
              <a:solidFill>
                <a:srgbClr val="118CC4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39" name="object 36"/>
              <p:cNvSpPr/>
              <p:nvPr/>
            </p:nvSpPr>
            <p:spPr>
              <a:xfrm>
                <a:off x="4483596" y="4861585"/>
                <a:ext cx="28130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735">
                    <a:moveTo>
                      <a:pt x="0" y="114068"/>
                    </a:moveTo>
                    <a:lnTo>
                      <a:pt x="114047" y="114068"/>
                    </a:lnTo>
                    <a:lnTo>
                      <a:pt x="114047" y="0"/>
                    </a:lnTo>
                    <a:lnTo>
                      <a:pt x="166696" y="0"/>
                    </a:lnTo>
                    <a:lnTo>
                      <a:pt x="166696" y="114068"/>
                    </a:lnTo>
                    <a:lnTo>
                      <a:pt x="280795" y="114068"/>
                    </a:lnTo>
                    <a:lnTo>
                      <a:pt x="280795" y="178317"/>
                    </a:lnTo>
                    <a:lnTo>
                      <a:pt x="166696" y="178317"/>
                    </a:lnTo>
                    <a:lnTo>
                      <a:pt x="166696" y="292406"/>
                    </a:lnTo>
                    <a:lnTo>
                      <a:pt x="114047" y="292406"/>
                    </a:lnTo>
                    <a:lnTo>
                      <a:pt x="114047" y="178317"/>
                    </a:lnTo>
                    <a:lnTo>
                      <a:pt x="0" y="178317"/>
                    </a:lnTo>
                    <a:lnTo>
                      <a:pt x="0" y="114068"/>
                    </a:lnTo>
                    <a:close/>
                  </a:path>
                </a:pathLst>
              </a:custGeom>
              <a:ln w="21443">
                <a:solidFill>
                  <a:srgbClr val="09658F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40" name="object 37"/>
              <p:cNvSpPr/>
              <p:nvPr/>
            </p:nvSpPr>
            <p:spPr>
              <a:xfrm>
                <a:off x="4471543" y="5258054"/>
                <a:ext cx="28130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100">
                    <a:moveTo>
                      <a:pt x="280797" y="113030"/>
                    </a:moveTo>
                    <a:lnTo>
                      <a:pt x="166700" y="113030"/>
                    </a:lnTo>
                    <a:lnTo>
                      <a:pt x="166700" y="0"/>
                    </a:lnTo>
                    <a:lnTo>
                      <a:pt x="114046" y="0"/>
                    </a:lnTo>
                    <a:lnTo>
                      <a:pt x="114046" y="113030"/>
                    </a:lnTo>
                    <a:lnTo>
                      <a:pt x="0" y="113030"/>
                    </a:lnTo>
                    <a:lnTo>
                      <a:pt x="0" y="177800"/>
                    </a:lnTo>
                    <a:lnTo>
                      <a:pt x="114046" y="177800"/>
                    </a:lnTo>
                    <a:lnTo>
                      <a:pt x="114046" y="292100"/>
                    </a:lnTo>
                    <a:lnTo>
                      <a:pt x="166700" y="292100"/>
                    </a:lnTo>
                    <a:lnTo>
                      <a:pt x="166700" y="177800"/>
                    </a:lnTo>
                    <a:lnTo>
                      <a:pt x="280797" y="177800"/>
                    </a:lnTo>
                    <a:lnTo>
                      <a:pt x="280797" y="113030"/>
                    </a:lnTo>
                    <a:close/>
                  </a:path>
                </a:pathLst>
              </a:custGeom>
              <a:solidFill>
                <a:srgbClr val="118CC4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41" name="object 38"/>
              <p:cNvSpPr/>
              <p:nvPr/>
            </p:nvSpPr>
            <p:spPr>
              <a:xfrm>
                <a:off x="4471553" y="5257447"/>
                <a:ext cx="28130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735">
                    <a:moveTo>
                      <a:pt x="0" y="114088"/>
                    </a:moveTo>
                    <a:lnTo>
                      <a:pt x="114047" y="114088"/>
                    </a:lnTo>
                    <a:lnTo>
                      <a:pt x="114047" y="0"/>
                    </a:lnTo>
                    <a:lnTo>
                      <a:pt x="166696" y="0"/>
                    </a:lnTo>
                    <a:lnTo>
                      <a:pt x="166696" y="114088"/>
                    </a:lnTo>
                    <a:lnTo>
                      <a:pt x="280795" y="114088"/>
                    </a:lnTo>
                    <a:lnTo>
                      <a:pt x="280795" y="178338"/>
                    </a:lnTo>
                    <a:lnTo>
                      <a:pt x="166696" y="178338"/>
                    </a:lnTo>
                    <a:lnTo>
                      <a:pt x="166696" y="292406"/>
                    </a:lnTo>
                    <a:lnTo>
                      <a:pt x="114047" y="292406"/>
                    </a:lnTo>
                    <a:lnTo>
                      <a:pt x="114047" y="178338"/>
                    </a:lnTo>
                    <a:lnTo>
                      <a:pt x="0" y="178338"/>
                    </a:lnTo>
                    <a:lnTo>
                      <a:pt x="0" y="114088"/>
                    </a:lnTo>
                    <a:close/>
                  </a:path>
                </a:pathLst>
              </a:custGeom>
              <a:ln w="21443">
                <a:solidFill>
                  <a:srgbClr val="09658F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object 39"/>
                <p:cNvSpPr txBox="1"/>
                <p:nvPr/>
              </p:nvSpPr>
              <p:spPr>
                <a:xfrm>
                  <a:off x="2004629" y="3581705"/>
                  <a:ext cx="2198303" cy="445423"/>
                </a:xfrm>
                <a:prstGeom prst="rect">
                  <a:avLst/>
                </a:prstGeom>
                <a:solidFill>
                  <a:srgbClr val="FC5507"/>
                </a:solidFill>
                <a:ln w="21443">
                  <a:solidFill>
                    <a:srgbClr val="B93C03"/>
                  </a:solidFill>
                </a:ln>
              </p:spPr>
              <p:txBody>
                <a:bodyPr vert="horz" wrap="square" lIns="0" tIns="14395" rIns="0" bIns="0" rtlCol="0">
                  <a:spAutoFit/>
                </a:bodyPr>
                <a:lstStyle/>
                <a:p>
                  <a:pPr marL="69850">
                    <a:spcBef>
                      <a:spcPts val="115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2800" b="0" i="0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core</m:t>
                        </m:r>
                        <m:d>
                          <m:dPr>
                            <m:ctrlPr>
                              <a:rPr lang="ar-AE" altLang="zh-CN" sz="2800" b="0" i="1" spc="6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ar-AE" altLang="zh-CN" sz="2800" b="1" i="1" spc="6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𝒙</m:t>
                            </m:r>
                          </m:e>
                        </m:d>
                        <m:r>
                          <a:rPr lang="ar-AE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&lt;</m:t>
                        </m:r>
                        <m:r>
                          <a:rPr lang="ar-AE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0</m:t>
                        </m:r>
                      </m:oMath>
                    </m:oMathPara>
                  </a14:m>
                  <a:endParaRPr lang="ar-AE" sz="2800" dirty="0">
                    <a:solidFill>
                      <a:schemeClr val="bg1"/>
                    </a:solidFill>
                    <a:latin typeface="Arial" panose="020B0604020202020204"/>
                    <a:cs typeface="Arial" panose="020B0604020202020204"/>
                  </a:endParaRPr>
                </a:p>
              </p:txBody>
            </p:sp>
          </mc:Choice>
          <mc:Fallback>
            <p:sp>
              <p:nvSpPr>
                <p:cNvPr id="42" name="object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4629" y="3581705"/>
                  <a:ext cx="2198303" cy="445423"/>
                </a:xfrm>
                <a:prstGeom prst="rect">
                  <a:avLst/>
                </a:prstGeom>
                <a:blipFill rotWithShape="1">
                  <a:blip r:embed="rId14"/>
                </a:blipFill>
                <a:ln w="21443">
                  <a:solidFill>
                    <a:srgbClr val="B93C03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3" name="object 40"/>
            <p:cNvGrpSpPr/>
            <p:nvPr/>
          </p:nvGrpSpPr>
          <p:grpSpPr>
            <a:xfrm>
              <a:off x="1680345" y="4174652"/>
              <a:ext cx="1931872" cy="2105769"/>
              <a:chOff x="2159271" y="3706299"/>
              <a:chExt cx="2130425" cy="2322195"/>
            </a:xfrm>
          </p:grpSpPr>
          <p:sp>
            <p:nvSpPr>
              <p:cNvPr id="44" name="object 41"/>
              <p:cNvSpPr/>
              <p:nvPr/>
            </p:nvSpPr>
            <p:spPr>
              <a:xfrm>
                <a:off x="2812506" y="4493664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266635" y="0"/>
                    </a:moveTo>
                    <a:lnTo>
                      <a:pt x="0" y="0"/>
                    </a:lnTo>
                    <a:lnTo>
                      <a:pt x="0" y="101463"/>
                    </a:lnTo>
                    <a:lnTo>
                      <a:pt x="266635" y="101463"/>
                    </a:lnTo>
                    <a:lnTo>
                      <a:pt x="26663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45" name="object 42"/>
              <p:cNvSpPr/>
              <p:nvPr/>
            </p:nvSpPr>
            <p:spPr>
              <a:xfrm>
                <a:off x="2812506" y="4493664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0" y="101463"/>
                    </a:moveTo>
                    <a:lnTo>
                      <a:pt x="266635" y="101463"/>
                    </a:lnTo>
                    <a:lnTo>
                      <a:pt x="266635" y="0"/>
                    </a:lnTo>
                    <a:lnTo>
                      <a:pt x="0" y="0"/>
                    </a:lnTo>
                    <a:lnTo>
                      <a:pt x="0" y="101463"/>
                    </a:lnTo>
                    <a:close/>
                  </a:path>
                </a:pathLst>
              </a:custGeom>
              <a:ln w="80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46" name="object 43"/>
              <p:cNvSpPr/>
              <p:nvPr/>
            </p:nvSpPr>
            <p:spPr>
              <a:xfrm>
                <a:off x="2163398" y="3710427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266635" y="0"/>
                    </a:moveTo>
                    <a:lnTo>
                      <a:pt x="0" y="0"/>
                    </a:lnTo>
                    <a:lnTo>
                      <a:pt x="0" y="101483"/>
                    </a:lnTo>
                    <a:lnTo>
                      <a:pt x="266635" y="101483"/>
                    </a:lnTo>
                    <a:lnTo>
                      <a:pt x="26663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47" name="object 44"/>
              <p:cNvSpPr/>
              <p:nvPr/>
            </p:nvSpPr>
            <p:spPr>
              <a:xfrm>
                <a:off x="2163398" y="3710427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0" y="101483"/>
                    </a:moveTo>
                    <a:lnTo>
                      <a:pt x="266635" y="101483"/>
                    </a:lnTo>
                    <a:lnTo>
                      <a:pt x="266635" y="0"/>
                    </a:lnTo>
                    <a:lnTo>
                      <a:pt x="0" y="0"/>
                    </a:lnTo>
                    <a:lnTo>
                      <a:pt x="0" y="101483"/>
                    </a:lnTo>
                    <a:close/>
                  </a:path>
                </a:pathLst>
              </a:custGeom>
              <a:ln w="80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48" name="object 45"/>
              <p:cNvSpPr/>
              <p:nvPr/>
            </p:nvSpPr>
            <p:spPr>
              <a:xfrm>
                <a:off x="4018811" y="3722485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266655" y="0"/>
                    </a:moveTo>
                    <a:lnTo>
                      <a:pt x="0" y="0"/>
                    </a:lnTo>
                    <a:lnTo>
                      <a:pt x="0" y="101463"/>
                    </a:lnTo>
                    <a:lnTo>
                      <a:pt x="266655" y="101463"/>
                    </a:lnTo>
                    <a:lnTo>
                      <a:pt x="26665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49" name="object 46"/>
              <p:cNvSpPr/>
              <p:nvPr/>
            </p:nvSpPr>
            <p:spPr>
              <a:xfrm>
                <a:off x="4018811" y="3722485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0" y="101463"/>
                    </a:moveTo>
                    <a:lnTo>
                      <a:pt x="266655" y="101463"/>
                    </a:lnTo>
                    <a:lnTo>
                      <a:pt x="266655" y="0"/>
                    </a:lnTo>
                    <a:lnTo>
                      <a:pt x="0" y="0"/>
                    </a:lnTo>
                    <a:lnTo>
                      <a:pt x="0" y="101463"/>
                    </a:lnTo>
                    <a:close/>
                  </a:path>
                </a:pathLst>
              </a:custGeom>
              <a:ln w="80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50" name="object 47"/>
              <p:cNvSpPr/>
              <p:nvPr/>
            </p:nvSpPr>
            <p:spPr>
              <a:xfrm>
                <a:off x="3291177" y="3941857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266635" y="0"/>
                    </a:moveTo>
                    <a:lnTo>
                      <a:pt x="0" y="0"/>
                    </a:lnTo>
                    <a:lnTo>
                      <a:pt x="0" y="101463"/>
                    </a:lnTo>
                    <a:lnTo>
                      <a:pt x="266635" y="101463"/>
                    </a:lnTo>
                    <a:lnTo>
                      <a:pt x="26663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51" name="object 48"/>
              <p:cNvSpPr/>
              <p:nvPr/>
            </p:nvSpPr>
            <p:spPr>
              <a:xfrm>
                <a:off x="3291177" y="3941857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0" y="101463"/>
                    </a:moveTo>
                    <a:lnTo>
                      <a:pt x="266635" y="101463"/>
                    </a:lnTo>
                    <a:lnTo>
                      <a:pt x="266635" y="0"/>
                    </a:lnTo>
                    <a:lnTo>
                      <a:pt x="0" y="0"/>
                    </a:lnTo>
                    <a:lnTo>
                      <a:pt x="0" y="101463"/>
                    </a:lnTo>
                    <a:close/>
                  </a:path>
                </a:pathLst>
              </a:custGeom>
              <a:ln w="80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52" name="object 49"/>
              <p:cNvSpPr/>
              <p:nvPr/>
            </p:nvSpPr>
            <p:spPr>
              <a:xfrm>
                <a:off x="3327161" y="4492923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266635" y="0"/>
                    </a:moveTo>
                    <a:lnTo>
                      <a:pt x="0" y="0"/>
                    </a:lnTo>
                    <a:lnTo>
                      <a:pt x="0" y="101463"/>
                    </a:lnTo>
                    <a:lnTo>
                      <a:pt x="266635" y="101463"/>
                    </a:lnTo>
                    <a:lnTo>
                      <a:pt x="26663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53" name="object 50"/>
              <p:cNvSpPr/>
              <p:nvPr/>
            </p:nvSpPr>
            <p:spPr>
              <a:xfrm>
                <a:off x="3327161" y="4492923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0" y="101463"/>
                    </a:moveTo>
                    <a:lnTo>
                      <a:pt x="266635" y="101463"/>
                    </a:lnTo>
                    <a:lnTo>
                      <a:pt x="266635" y="0"/>
                    </a:lnTo>
                    <a:lnTo>
                      <a:pt x="0" y="0"/>
                    </a:lnTo>
                    <a:lnTo>
                      <a:pt x="0" y="101463"/>
                    </a:lnTo>
                    <a:close/>
                  </a:path>
                </a:pathLst>
              </a:custGeom>
              <a:ln w="80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54" name="object 51"/>
              <p:cNvSpPr/>
              <p:nvPr/>
            </p:nvSpPr>
            <p:spPr>
              <a:xfrm>
                <a:off x="3966768" y="5724144"/>
                <a:ext cx="281305" cy="293370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3370">
                    <a:moveTo>
                      <a:pt x="280797" y="114300"/>
                    </a:moveTo>
                    <a:lnTo>
                      <a:pt x="166751" y="114300"/>
                    </a:lnTo>
                    <a:lnTo>
                      <a:pt x="166751" y="0"/>
                    </a:lnTo>
                    <a:lnTo>
                      <a:pt x="114046" y="0"/>
                    </a:lnTo>
                    <a:lnTo>
                      <a:pt x="114046" y="114300"/>
                    </a:lnTo>
                    <a:lnTo>
                      <a:pt x="0" y="114300"/>
                    </a:lnTo>
                    <a:lnTo>
                      <a:pt x="0" y="179070"/>
                    </a:lnTo>
                    <a:lnTo>
                      <a:pt x="114046" y="179070"/>
                    </a:lnTo>
                    <a:lnTo>
                      <a:pt x="114046" y="293370"/>
                    </a:lnTo>
                    <a:lnTo>
                      <a:pt x="166751" y="293370"/>
                    </a:lnTo>
                    <a:lnTo>
                      <a:pt x="166751" y="179070"/>
                    </a:lnTo>
                    <a:lnTo>
                      <a:pt x="280797" y="179070"/>
                    </a:lnTo>
                    <a:lnTo>
                      <a:pt x="280797" y="114300"/>
                    </a:lnTo>
                    <a:close/>
                  </a:path>
                </a:pathLst>
              </a:custGeom>
              <a:solidFill>
                <a:srgbClr val="118CC4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55" name="object 52"/>
              <p:cNvSpPr/>
              <p:nvPr/>
            </p:nvSpPr>
            <p:spPr>
              <a:xfrm>
                <a:off x="3966779" y="5724718"/>
                <a:ext cx="28130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735">
                    <a:moveTo>
                      <a:pt x="0" y="114068"/>
                    </a:moveTo>
                    <a:lnTo>
                      <a:pt x="114047" y="114068"/>
                    </a:lnTo>
                    <a:lnTo>
                      <a:pt x="114047" y="0"/>
                    </a:lnTo>
                    <a:lnTo>
                      <a:pt x="166748" y="0"/>
                    </a:lnTo>
                    <a:lnTo>
                      <a:pt x="166748" y="114068"/>
                    </a:lnTo>
                    <a:lnTo>
                      <a:pt x="280795" y="114068"/>
                    </a:lnTo>
                    <a:lnTo>
                      <a:pt x="280795" y="178338"/>
                    </a:lnTo>
                    <a:lnTo>
                      <a:pt x="166748" y="178338"/>
                    </a:lnTo>
                    <a:lnTo>
                      <a:pt x="166748" y="292406"/>
                    </a:lnTo>
                    <a:lnTo>
                      <a:pt x="114047" y="292406"/>
                    </a:lnTo>
                    <a:lnTo>
                      <a:pt x="114047" y="178338"/>
                    </a:lnTo>
                    <a:lnTo>
                      <a:pt x="0" y="178338"/>
                    </a:lnTo>
                    <a:lnTo>
                      <a:pt x="0" y="114068"/>
                    </a:lnTo>
                    <a:close/>
                  </a:path>
                </a:pathLst>
              </a:custGeom>
              <a:ln w="21443">
                <a:solidFill>
                  <a:srgbClr val="09658F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</p:grpSp>
        <p:sp>
          <p:nvSpPr>
            <p:cNvPr id="56" name="object 62"/>
            <p:cNvSpPr txBox="1"/>
            <p:nvPr/>
          </p:nvSpPr>
          <p:spPr>
            <a:xfrm>
              <a:off x="1341813" y="3454075"/>
              <a:ext cx="243656" cy="107489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1430">
                <a:lnSpc>
                  <a:spcPts val="1905"/>
                </a:lnSpc>
              </a:pPr>
              <a:r>
                <a:rPr lang="zh-CN" altLang="en-US" sz="2000" spc="91" dirty="0">
                  <a:latin typeface="Arial" panose="020B0604020202020204"/>
                  <a:cs typeface="Arial" panose="020B0604020202020204"/>
                </a:rPr>
                <a:t>年收入</a:t>
              </a:r>
              <a:endParaRPr sz="20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7" name="object 64"/>
            <p:cNvSpPr txBox="1"/>
            <p:nvPr/>
          </p:nvSpPr>
          <p:spPr>
            <a:xfrm>
              <a:off x="1844631" y="6220141"/>
              <a:ext cx="132438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50" dirty="0">
                  <a:latin typeface="Arial" panose="020B0604020202020204"/>
                  <a:cs typeface="Arial" panose="020B0604020202020204"/>
                </a:rPr>
                <a:t>0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8" name="object 65"/>
            <p:cNvSpPr txBox="1"/>
            <p:nvPr/>
          </p:nvSpPr>
          <p:spPr>
            <a:xfrm>
              <a:off x="2367269" y="6220141"/>
              <a:ext cx="104799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-77" dirty="0">
                  <a:latin typeface="Arial" panose="020B0604020202020204"/>
                  <a:cs typeface="Arial" panose="020B0604020202020204"/>
                </a:rPr>
                <a:t>1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9" name="object 66"/>
            <p:cNvSpPr txBox="1"/>
            <p:nvPr/>
          </p:nvSpPr>
          <p:spPr>
            <a:xfrm>
              <a:off x="2861796" y="6220141"/>
              <a:ext cx="122074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-45" dirty="0">
                  <a:latin typeface="Arial" panose="020B0604020202020204"/>
                  <a:cs typeface="Arial" panose="020B0604020202020204"/>
                </a:rPr>
                <a:t>2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0" name="object 67"/>
            <p:cNvSpPr txBox="1"/>
            <p:nvPr/>
          </p:nvSpPr>
          <p:spPr>
            <a:xfrm>
              <a:off x="3373824" y="6220141"/>
              <a:ext cx="121498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-45" dirty="0">
                  <a:latin typeface="Arial" panose="020B0604020202020204"/>
                  <a:cs typeface="Arial" panose="020B0604020202020204"/>
                </a:rPr>
                <a:t>3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object 68"/>
            <p:cNvSpPr txBox="1"/>
            <p:nvPr/>
          </p:nvSpPr>
          <p:spPr>
            <a:xfrm>
              <a:off x="3885323" y="6220141"/>
              <a:ext cx="127832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14" dirty="0">
                  <a:latin typeface="Arial" panose="020B0604020202020204"/>
                  <a:cs typeface="Arial" panose="020B0604020202020204"/>
                </a:rPr>
                <a:t>4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object 69"/>
            <p:cNvSpPr txBox="1"/>
            <p:nvPr/>
          </p:nvSpPr>
          <p:spPr>
            <a:xfrm>
              <a:off x="4407963" y="6220141"/>
              <a:ext cx="148561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-426" dirty="0">
                  <a:latin typeface="Arial" panose="020B0604020202020204"/>
                  <a:cs typeface="Arial" panose="020B0604020202020204"/>
                </a:rPr>
                <a:t>…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object 70"/>
            <p:cNvSpPr txBox="1"/>
            <p:nvPr/>
          </p:nvSpPr>
          <p:spPr>
            <a:xfrm>
              <a:off x="4853147" y="6311180"/>
              <a:ext cx="1220736" cy="24365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905"/>
                </a:lnSpc>
              </a:pPr>
              <a:r>
                <a:rPr lang="zh-CN" altLang="en-US" sz="2000" spc="63" dirty="0">
                  <a:latin typeface="Arial" panose="020B0604020202020204"/>
                  <a:cs typeface="Arial" panose="020B0604020202020204"/>
                </a:rPr>
                <a:t>贷款金额</a:t>
              </a:r>
              <a:endParaRPr sz="2000" dirty="0">
                <a:latin typeface="Arial" panose="020B0604020202020204"/>
                <a:cs typeface="Arial" panose="020B0604020202020204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Box 123"/>
              <p:cNvSpPr txBox="1"/>
              <p:nvPr/>
            </p:nvSpPr>
            <p:spPr>
              <a:xfrm>
                <a:off x="830048" y="1279773"/>
                <a:ext cx="6824062" cy="1075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core</m:t>
                      </m:r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8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zh-CN" altLang="en-US" sz="2800" b="0" i="0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zh-CN" sz="2800" b="0" i="1" spc="6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pc="6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b="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 </m:t>
                      </m:r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…+</m:t>
                      </m:r>
                      <m:sSub>
                        <m:sSubPr>
                          <m:ctrlPr>
                            <a:rPr lang="en-US" altLang="zh-CN" sz="280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𝑑</m:t>
                          </m:r>
                        </m:sub>
                      </m:sSub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 spc="6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zh-CN" sz="2800" b="1" i="1" spc="6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pc="6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b="0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SG" altLang="zh-CN" sz="2800" spc="6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:r>
                  <a:rPr lang="zh-CN" altLang="en-US" sz="28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            </a:t>
                </a:r>
                <a:r>
                  <a:rPr lang="en-US" altLang="zh-CN" sz="28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80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800" b="0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800" i="1" spc="60" smtClean="0">
                                <a:solidFill>
                                  <a:srgbClr val="0099E8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i="1" spc="60">
                                <a:solidFill>
                                  <a:srgbClr val="0099E8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800" b="0" i="1" spc="60" smtClean="0">
                                <a:solidFill>
                                  <a:srgbClr val="0099E8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 i="1" spc="6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800" i="1" spc="6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i="1" spc="6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altLang="zh-CN" sz="2800" b="1" i="1" spc="6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spc="6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  <m:t>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800" b="0" i="1" spc="6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8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r>
                      <a:rPr lang="zh-CN" altLang="en-US" sz="2800" b="0" i="1" spc="6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 </m:t>
                    </m:r>
                    <m:sSup>
                      <m:sSupPr>
                        <m:ctrlPr>
                          <a:rPr lang="en-US" altLang="zh-CN" sz="2800" b="1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⊺</m:t>
                        </m:r>
                      </m:sup>
                    </m:sSup>
                    <m:r>
                      <a:rPr lang="en-US" altLang="zh-CN" sz="2800" b="1" i="1" spc="6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𝝓</m:t>
                    </m:r>
                    <m:d>
                      <m:dPr>
                        <m:ctrlP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𝒙</m:t>
                        </m:r>
                      </m:e>
                    </m:d>
                  </m:oMath>
                </a14:m>
                <a:endParaRPr lang="en-SG" altLang="zh-CN" sz="28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1279773"/>
                <a:ext cx="6824062" cy="1075872"/>
              </a:xfrm>
              <a:prstGeom prst="rect">
                <a:avLst/>
              </a:prstGeom>
              <a:blipFill rotWithShape="1">
                <a:blip r:embed="rId15"/>
                <a:stretch>
                  <a:fillRect l="-2" t="-23" r="7" b="-1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object 28"/>
              <p:cNvSpPr txBox="1"/>
              <p:nvPr/>
            </p:nvSpPr>
            <p:spPr>
              <a:xfrm>
                <a:off x="8428568" y="3162322"/>
                <a:ext cx="3230032" cy="77418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:r>
                  <a:rPr lang="en-SG" sz="2400" spc="6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如何将</a:t>
                </a:r>
                <a:r>
                  <a:rPr lang="en-US" altLang="zh-CN" sz="2400" spc="60" dirty="0">
                    <a:solidFill>
                      <a:srgbClr val="B0007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S</m:t>
                    </m:r>
                    <m:r>
                      <m:rPr>
                        <m:sty m:val="p"/>
                      </m:rPr>
                      <a:rPr lang="en-US" altLang="zh-CN" sz="24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core</m:t>
                    </m:r>
                    <m:d>
                      <m:dPr>
                        <m:ctrlPr>
                          <a:rPr lang="en-US" altLang="zh-CN" sz="24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400" b="1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SG" sz="2400" b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与</a:t>
                </a:r>
                <a:endParaRPr lang="en-SG" altLang="zh-CN" sz="2400" b="0" spc="60" dirty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81915">
                  <a:spcBef>
                    <a:spcPts val="100"/>
                  </a:spcBef>
                  <a:tabLst>
                    <a:tab pos="1184910" algn="l"/>
                  </a:tabLst>
                </a:pP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400" i="1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2400" i="1" spc="6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𝑃</m:t>
                        </m:r>
                      </m:e>
                    </m:acc>
                    <m:r>
                      <a:rPr lang="en-US" altLang="zh-CN" sz="24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y</m:t>
                    </m:r>
                    <m:r>
                      <a:rPr lang="en-US" altLang="zh-CN" sz="24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24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x</m:t>
                    </m:r>
                    <m:r>
                      <a:rPr lang="en-US" altLang="zh-CN" sz="24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)</m:t>
                    </m:r>
                  </m:oMath>
                </a14:m>
                <a:r>
                  <a:rPr lang="zh-CN" altLang="en-US" sz="2400" spc="-7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关联起来呢？</a:t>
                </a:r>
                <a:r>
                  <a:rPr lang="zh-CN" altLang="en-US" sz="2400" spc="-7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Lucida Sans Unicode" panose="020B0602030504020204"/>
                </a:endParaRPr>
              </a:p>
            </p:txBody>
          </p:sp>
        </mc:Choice>
        <mc:Fallback>
          <p:sp>
            <p:nvSpPr>
              <p:cNvPr id="125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568" y="3162322"/>
                <a:ext cx="3230032" cy="774186"/>
              </a:xfrm>
              <a:prstGeom prst="rect">
                <a:avLst/>
              </a:prstGeom>
              <a:blipFill rotWithShape="1">
                <a:blip r:embed="rId16"/>
                <a:stretch>
                  <a:fillRect l="-7" t="-1725" b="-2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4706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如何理解</a:t>
            </a:r>
            <a:r>
              <a:rPr lang="en-SG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Score(𝒙)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52698" y="1626902"/>
            <a:ext cx="5718175" cy="217170"/>
          </a:xfrm>
          <a:custGeom>
            <a:avLst/>
            <a:gdLst/>
            <a:ahLst/>
            <a:cxnLst/>
            <a:rect l="l" t="t" r="r" b="b"/>
            <a:pathLst>
              <a:path w="5718175" h="217169">
                <a:moveTo>
                  <a:pt x="189532" y="0"/>
                </a:moveTo>
                <a:lnTo>
                  <a:pt x="180463" y="3077"/>
                </a:lnTo>
                <a:lnTo>
                  <a:pt x="0" y="108382"/>
                </a:lnTo>
                <a:lnTo>
                  <a:pt x="180463" y="213674"/>
                </a:lnTo>
                <a:lnTo>
                  <a:pt x="189532" y="216758"/>
                </a:lnTo>
                <a:lnTo>
                  <a:pt x="198758" y="216157"/>
                </a:lnTo>
                <a:lnTo>
                  <a:pt x="207084" y="212139"/>
                </a:lnTo>
                <a:lnTo>
                  <a:pt x="213452" y="204976"/>
                </a:lnTo>
                <a:lnTo>
                  <a:pt x="216549" y="195899"/>
                </a:lnTo>
                <a:lnTo>
                  <a:pt x="215949" y="186667"/>
                </a:lnTo>
                <a:lnTo>
                  <a:pt x="211930" y="178343"/>
                </a:lnTo>
                <a:lnTo>
                  <a:pt x="204770" y="171987"/>
                </a:lnTo>
                <a:lnTo>
                  <a:pt x="137071" y="132487"/>
                </a:lnTo>
                <a:lnTo>
                  <a:pt x="47815" y="132487"/>
                </a:lnTo>
                <a:lnTo>
                  <a:pt x="47815" y="84238"/>
                </a:lnTo>
                <a:lnTo>
                  <a:pt x="137162" y="84238"/>
                </a:lnTo>
                <a:lnTo>
                  <a:pt x="204770" y="44815"/>
                </a:lnTo>
                <a:lnTo>
                  <a:pt x="211930" y="38430"/>
                </a:lnTo>
                <a:lnTo>
                  <a:pt x="215949" y="30090"/>
                </a:lnTo>
                <a:lnTo>
                  <a:pt x="216549" y="20853"/>
                </a:lnTo>
                <a:lnTo>
                  <a:pt x="213452" y="11775"/>
                </a:lnTo>
                <a:lnTo>
                  <a:pt x="207084" y="4633"/>
                </a:lnTo>
                <a:lnTo>
                  <a:pt x="198758" y="613"/>
                </a:lnTo>
                <a:lnTo>
                  <a:pt x="189532" y="0"/>
                </a:lnTo>
                <a:close/>
              </a:path>
              <a:path w="5718175" h="217169">
                <a:moveTo>
                  <a:pt x="5622144" y="108382"/>
                </a:moveTo>
                <a:lnTo>
                  <a:pt x="5513151" y="171987"/>
                </a:lnTo>
                <a:lnTo>
                  <a:pt x="5505980" y="178343"/>
                </a:lnTo>
                <a:lnTo>
                  <a:pt x="5501951" y="186667"/>
                </a:lnTo>
                <a:lnTo>
                  <a:pt x="5501347" y="195899"/>
                </a:lnTo>
                <a:lnTo>
                  <a:pt x="5504453" y="204976"/>
                </a:lnTo>
                <a:lnTo>
                  <a:pt x="5510809" y="212139"/>
                </a:lnTo>
                <a:lnTo>
                  <a:pt x="5519134" y="216157"/>
                </a:lnTo>
                <a:lnTo>
                  <a:pt x="5528366" y="216758"/>
                </a:lnTo>
                <a:lnTo>
                  <a:pt x="5537443" y="213674"/>
                </a:lnTo>
                <a:lnTo>
                  <a:pt x="5676603" y="132487"/>
                </a:lnTo>
                <a:lnTo>
                  <a:pt x="5670059" y="132487"/>
                </a:lnTo>
                <a:lnTo>
                  <a:pt x="5670059" y="129219"/>
                </a:lnTo>
                <a:lnTo>
                  <a:pt x="5657872" y="129219"/>
                </a:lnTo>
                <a:lnTo>
                  <a:pt x="5622144" y="108382"/>
                </a:lnTo>
                <a:close/>
              </a:path>
              <a:path w="5718175" h="217169">
                <a:moveTo>
                  <a:pt x="137162" y="84238"/>
                </a:moveTo>
                <a:lnTo>
                  <a:pt x="47815" y="84238"/>
                </a:lnTo>
                <a:lnTo>
                  <a:pt x="47815" y="132487"/>
                </a:lnTo>
                <a:lnTo>
                  <a:pt x="137071" y="132487"/>
                </a:lnTo>
                <a:lnTo>
                  <a:pt x="131470" y="129219"/>
                </a:lnTo>
                <a:lnTo>
                  <a:pt x="60023" y="129219"/>
                </a:lnTo>
                <a:lnTo>
                  <a:pt x="60023" y="87532"/>
                </a:lnTo>
                <a:lnTo>
                  <a:pt x="131514" y="87532"/>
                </a:lnTo>
                <a:lnTo>
                  <a:pt x="137162" y="84238"/>
                </a:lnTo>
                <a:close/>
              </a:path>
              <a:path w="5718175" h="217169">
                <a:moveTo>
                  <a:pt x="5580746" y="84238"/>
                </a:moveTo>
                <a:lnTo>
                  <a:pt x="137162" y="84238"/>
                </a:lnTo>
                <a:lnTo>
                  <a:pt x="95758" y="108382"/>
                </a:lnTo>
                <a:lnTo>
                  <a:pt x="137071" y="132487"/>
                </a:lnTo>
                <a:lnTo>
                  <a:pt x="5580837" y="132487"/>
                </a:lnTo>
                <a:lnTo>
                  <a:pt x="5622144" y="108382"/>
                </a:lnTo>
                <a:lnTo>
                  <a:pt x="5580746" y="84238"/>
                </a:lnTo>
                <a:close/>
              </a:path>
              <a:path w="5718175" h="217169">
                <a:moveTo>
                  <a:pt x="5676559" y="84238"/>
                </a:moveTo>
                <a:lnTo>
                  <a:pt x="5670059" y="84238"/>
                </a:lnTo>
                <a:lnTo>
                  <a:pt x="5670059" y="132487"/>
                </a:lnTo>
                <a:lnTo>
                  <a:pt x="5676603" y="132487"/>
                </a:lnTo>
                <a:lnTo>
                  <a:pt x="5717921" y="108382"/>
                </a:lnTo>
                <a:lnTo>
                  <a:pt x="5676559" y="84238"/>
                </a:lnTo>
                <a:close/>
              </a:path>
              <a:path w="5718175" h="217169">
                <a:moveTo>
                  <a:pt x="60023" y="87532"/>
                </a:moveTo>
                <a:lnTo>
                  <a:pt x="60023" y="129219"/>
                </a:lnTo>
                <a:lnTo>
                  <a:pt x="95758" y="108382"/>
                </a:lnTo>
                <a:lnTo>
                  <a:pt x="60023" y="87532"/>
                </a:lnTo>
                <a:close/>
              </a:path>
              <a:path w="5718175" h="217169">
                <a:moveTo>
                  <a:pt x="95758" y="108382"/>
                </a:moveTo>
                <a:lnTo>
                  <a:pt x="60023" y="129219"/>
                </a:lnTo>
                <a:lnTo>
                  <a:pt x="131470" y="129219"/>
                </a:lnTo>
                <a:lnTo>
                  <a:pt x="95758" y="108382"/>
                </a:lnTo>
                <a:close/>
              </a:path>
              <a:path w="5718175" h="217169">
                <a:moveTo>
                  <a:pt x="5657872" y="87532"/>
                </a:moveTo>
                <a:lnTo>
                  <a:pt x="5622144" y="108382"/>
                </a:lnTo>
                <a:lnTo>
                  <a:pt x="5657872" y="129219"/>
                </a:lnTo>
                <a:lnTo>
                  <a:pt x="5657872" y="87532"/>
                </a:lnTo>
                <a:close/>
              </a:path>
              <a:path w="5718175" h="217169">
                <a:moveTo>
                  <a:pt x="5670059" y="87532"/>
                </a:moveTo>
                <a:lnTo>
                  <a:pt x="5657872" y="87532"/>
                </a:lnTo>
                <a:lnTo>
                  <a:pt x="5657872" y="129219"/>
                </a:lnTo>
                <a:lnTo>
                  <a:pt x="5670059" y="129219"/>
                </a:lnTo>
                <a:lnTo>
                  <a:pt x="5670059" y="87532"/>
                </a:lnTo>
                <a:close/>
              </a:path>
              <a:path w="5718175" h="217169">
                <a:moveTo>
                  <a:pt x="131514" y="87532"/>
                </a:moveTo>
                <a:lnTo>
                  <a:pt x="60023" y="87532"/>
                </a:lnTo>
                <a:lnTo>
                  <a:pt x="95758" y="108382"/>
                </a:lnTo>
                <a:lnTo>
                  <a:pt x="131514" y="87532"/>
                </a:lnTo>
                <a:close/>
              </a:path>
              <a:path w="5718175" h="217169">
                <a:moveTo>
                  <a:pt x="5528366" y="0"/>
                </a:moveTo>
                <a:lnTo>
                  <a:pt x="5519134" y="613"/>
                </a:lnTo>
                <a:lnTo>
                  <a:pt x="5510809" y="4633"/>
                </a:lnTo>
                <a:lnTo>
                  <a:pt x="5504453" y="11775"/>
                </a:lnTo>
                <a:lnTo>
                  <a:pt x="5501347" y="20853"/>
                </a:lnTo>
                <a:lnTo>
                  <a:pt x="5501951" y="30090"/>
                </a:lnTo>
                <a:lnTo>
                  <a:pt x="5505980" y="38430"/>
                </a:lnTo>
                <a:lnTo>
                  <a:pt x="5513151" y="44815"/>
                </a:lnTo>
                <a:lnTo>
                  <a:pt x="5622144" y="108382"/>
                </a:lnTo>
                <a:lnTo>
                  <a:pt x="5657872" y="87532"/>
                </a:lnTo>
                <a:lnTo>
                  <a:pt x="5670059" y="87532"/>
                </a:lnTo>
                <a:lnTo>
                  <a:pt x="5670059" y="84238"/>
                </a:lnTo>
                <a:lnTo>
                  <a:pt x="5676559" y="84238"/>
                </a:lnTo>
                <a:lnTo>
                  <a:pt x="5537443" y="3077"/>
                </a:lnTo>
                <a:lnTo>
                  <a:pt x="5528366" y="0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3"/>
          <p:cNvSpPr txBox="1"/>
          <p:nvPr/>
        </p:nvSpPr>
        <p:spPr>
          <a:xfrm>
            <a:off x="7667315" y="3663103"/>
            <a:ext cx="1686428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非常确定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2" name="object 17"/>
          <p:cNvSpPr txBox="1"/>
          <p:nvPr/>
        </p:nvSpPr>
        <p:spPr>
          <a:xfrm>
            <a:off x="2154284" y="3663103"/>
            <a:ext cx="1686428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非常确定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3" name="object 28"/>
          <p:cNvSpPr txBox="1"/>
          <p:nvPr/>
        </p:nvSpPr>
        <p:spPr>
          <a:xfrm>
            <a:off x="4307905" y="3631144"/>
            <a:ext cx="3105204" cy="423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algn="ctr">
              <a:lnSpc>
                <a:spcPts val="3220"/>
              </a:lnSpc>
              <a:spcBef>
                <a:spcPts val="100"/>
              </a:spcBef>
            </a:pPr>
            <a:r>
              <a:rPr lang="zh-CN" altLang="en-US" sz="2800" spc="125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不太确定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123117" y="1032452"/>
                <a:ext cx="34397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core</m:t>
                      </m:r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8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 </m:t>
                      </m:r>
                      <m:sSup>
                        <m:sSupPr>
                          <m:ctrlPr>
                            <a:rPr lang="en-US" altLang="zh-CN" sz="2800" b="1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pPr>
                        <m:e>
                          <m:r>
                            <a:rPr lang="en-US" altLang="zh-CN" sz="28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800" b="1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⊺</m:t>
                          </m:r>
                        </m:sup>
                      </m:sSup>
                      <m:r>
                        <a:rPr lang="en-US" altLang="zh-CN" sz="2800" b="1" i="1" spc="6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𝝓</m:t>
                      </m:r>
                      <m:d>
                        <m:dPr>
                          <m:ctrlPr>
                            <a:rPr lang="en-US" altLang="zh-CN" sz="28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8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SG" altLang="zh-CN" sz="28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117" y="1032452"/>
                <a:ext cx="3439734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2" t="-110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2701929" y="1771460"/>
                <a:ext cx="10648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−∞</m:t>
                      </m:r>
                    </m:oMath>
                  </m:oMathPara>
                </a14:m>
                <a:endParaRPr lang="en-SG" altLang="zh-CN" sz="2800" b="1" spc="60" dirty="0">
                  <a:solidFill>
                    <a:schemeClr val="tx1"/>
                  </a:solidFill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929" y="1771460"/>
                <a:ext cx="1064812" cy="523220"/>
              </a:xfrm>
              <a:prstGeom prst="rect">
                <a:avLst/>
              </a:prstGeom>
              <a:blipFill rotWithShape="1">
                <a:blip r:embed="rId2"/>
                <a:stretch>
                  <a:fillRect t="-85" r="52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8288931" y="1735487"/>
                <a:ext cx="10648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spc="6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+</m:t>
                      </m:r>
                      <m:r>
                        <a:rPr lang="en-US" altLang="zh-CN" sz="2800" b="1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∞</m:t>
                      </m:r>
                    </m:oMath>
                  </m:oMathPara>
                </a14:m>
                <a:endParaRPr lang="en-SG" altLang="zh-CN" sz="2800" b="1" spc="60" dirty="0">
                  <a:solidFill>
                    <a:schemeClr val="tx1"/>
                  </a:solidFill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931" y="1735487"/>
                <a:ext cx="1064812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26" t="-6" r="18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5522188" y="1735487"/>
                <a:ext cx="10648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𝟎</m:t>
                      </m:r>
                      <m:r>
                        <a:rPr lang="en-US" altLang="zh-CN" sz="2800" b="1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.</m:t>
                      </m:r>
                      <m:r>
                        <a:rPr lang="en-US" altLang="zh-CN" sz="2800" b="1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𝟎</m:t>
                      </m:r>
                    </m:oMath>
                  </m:oMathPara>
                </a14:m>
                <a:endParaRPr lang="en-SG" altLang="zh-CN" sz="2800" b="1" spc="60" dirty="0">
                  <a:solidFill>
                    <a:schemeClr val="tx1"/>
                  </a:solidFill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188" y="1735487"/>
                <a:ext cx="1064812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1" t="-6" r="1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6513772" y="2027962"/>
                <a:ext cx="16864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</m:acc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800" b="1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r>
                        <a:rPr lang="en-US" altLang="zh-CN" sz="2800" b="1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𝟏</m:t>
                      </m:r>
                    </m:oMath>
                  </m:oMathPara>
                </a14:m>
                <a:endParaRPr lang="en-US" sz="2800" b="1" dirty="0">
                  <a:solidFill>
                    <a:srgbClr val="0099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772" y="2027962"/>
                <a:ext cx="1686428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34" t="-78" r="26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3558722" y="2027962"/>
                <a:ext cx="16864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</m:acc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800" b="1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−</m:t>
                      </m:r>
                      <m:r>
                        <a:rPr lang="en-US" altLang="zh-CN" sz="2800" b="1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𝟏</m:t>
                      </m:r>
                    </m:oMath>
                  </m:oMathPara>
                </a14:m>
                <a:endParaRPr lang="en-US" sz="2800" b="1" dirty="0">
                  <a:solidFill>
                    <a:srgbClr val="0099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722" y="2027962"/>
                <a:ext cx="1686428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11" t="-78" r="3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/>
          <p:cNvCxnSpPr/>
          <p:nvPr/>
        </p:nvCxnSpPr>
        <p:spPr>
          <a:xfrm>
            <a:off x="3166342" y="2332780"/>
            <a:ext cx="0" cy="1285706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5947717" y="2296807"/>
            <a:ext cx="0" cy="1285706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8689153" y="2296807"/>
            <a:ext cx="0" cy="1285706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2320018" y="4002582"/>
                <a:ext cx="16864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</m:acc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800" b="1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−</m:t>
                      </m:r>
                      <m:r>
                        <a:rPr lang="en-US" altLang="zh-CN" sz="2800" b="1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𝟏</m:t>
                      </m:r>
                    </m:oMath>
                  </m:oMathPara>
                </a14:m>
                <a:endParaRPr lang="en-US" sz="2800" b="1" dirty="0">
                  <a:solidFill>
                    <a:srgbClr val="0099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018" y="4002582"/>
                <a:ext cx="1686428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22" t="-34" r="14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7845939" y="4002582"/>
                <a:ext cx="16864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</m:acc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800" b="1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r>
                        <a:rPr lang="en-US" altLang="zh-CN" sz="2800" b="1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𝟏</m:t>
                      </m:r>
                    </m:oMath>
                  </m:oMathPara>
                </a14:m>
                <a:endParaRPr lang="en-US" sz="2800" b="1" dirty="0">
                  <a:solidFill>
                    <a:srgbClr val="0099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939" y="4002582"/>
                <a:ext cx="1686428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30" t="-34" r="23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4581831" y="4002582"/>
                <a:ext cx="27840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860"/>
                  </a:spcBef>
                </a:pP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2800" b="0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2800" b="0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𝑦</m:t>
                        </m:r>
                      </m:e>
                    </m:acc>
                    <m:r>
                      <a:rPr lang="en-US" altLang="zh-CN" sz="2800" b="0" i="1" spc="60" smtClean="0">
                        <a:solidFill>
                          <a:srgbClr val="0099E8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r>
                      <a:rPr lang="en-US" altLang="zh-CN" sz="2800" b="1" i="1" spc="60" smtClean="0">
                        <a:solidFill>
                          <a:srgbClr val="0099E8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−</m:t>
                    </m:r>
                    <m:r>
                      <a:rPr lang="en-US" altLang="zh-CN" sz="2800" b="1" i="1" spc="60" smtClean="0">
                        <a:solidFill>
                          <a:srgbClr val="0099E8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𝟏</m:t>
                    </m:r>
                  </m:oMath>
                </a14:m>
                <a:r>
                  <a:rPr lang="en-US" sz="2800" dirty="0">
                    <a:solidFill>
                      <a:srgbClr val="0099E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或</a:t>
                </a:r>
                <a:r>
                  <a:rPr lang="en-US" altLang="zh-CN" sz="2800" b="0" spc="60" dirty="0">
                    <a:solidFill>
                      <a:srgbClr val="0099E8"/>
                    </a:solidFill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pc="60" smtClean="0">
                        <a:solidFill>
                          <a:srgbClr val="0099E8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+</m:t>
                    </m:r>
                    <m:r>
                      <a:rPr lang="en-US" altLang="zh-CN" sz="2800" b="1" i="1" spc="60" smtClean="0">
                        <a:solidFill>
                          <a:srgbClr val="0099E8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𝟏</m:t>
                    </m:r>
                  </m:oMath>
                </a14:m>
                <a:endParaRPr lang="en-US" sz="2800" b="1" dirty="0">
                  <a:solidFill>
                    <a:srgbClr val="0099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831" y="4002582"/>
                <a:ext cx="2784025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11" t="-34" r="18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/>
          <p:cNvCxnSpPr/>
          <p:nvPr/>
        </p:nvCxnSpPr>
        <p:spPr>
          <a:xfrm>
            <a:off x="3168695" y="4477313"/>
            <a:ext cx="0" cy="1285706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5950070" y="4441340"/>
            <a:ext cx="0" cy="1285706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8691506" y="4441340"/>
            <a:ext cx="0" cy="1285706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/>
              <p:cNvSpPr txBox="1"/>
              <p:nvPr/>
            </p:nvSpPr>
            <p:spPr>
              <a:xfrm>
                <a:off x="1805417" y="5825548"/>
                <a:ext cx="2502488" cy="96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800" i="1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800" i="1" spc="6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y</m:t>
                          </m:r>
                          <m: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=+</m:t>
                          </m:r>
                          <m: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zh-CN" sz="2800" b="0" i="0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x</m:t>
                          </m:r>
                        </m:e>
                      </m:d>
                      <m: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</m:oMath>
                  </m:oMathPara>
                </a14:m>
                <a:endParaRPr lang="en-SG" altLang="zh-CN" sz="28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417" y="5825548"/>
                <a:ext cx="2502488" cy="965649"/>
              </a:xfrm>
              <a:prstGeom prst="rect">
                <a:avLst/>
              </a:prstGeom>
              <a:blipFill rotWithShape="1">
                <a:blip r:embed="rId8"/>
                <a:stretch>
                  <a:fillRect l="-4" t="-6" r="3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/>
              <p:cNvSpPr txBox="1"/>
              <p:nvPr/>
            </p:nvSpPr>
            <p:spPr>
              <a:xfrm>
                <a:off x="4672882" y="5825548"/>
                <a:ext cx="2918983" cy="96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800" i="1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800" i="1" spc="6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y</m:t>
                          </m:r>
                          <m: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=+</m:t>
                          </m:r>
                          <m: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zh-CN" sz="2800" b="0" i="0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x</m:t>
                          </m:r>
                        </m:e>
                      </m:d>
                      <m: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0</m:t>
                      </m:r>
                      <m: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.</m:t>
                      </m:r>
                      <m: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5</m:t>
                      </m:r>
                    </m:oMath>
                  </m:oMathPara>
                </a14:m>
                <a:endParaRPr lang="en-SG" altLang="zh-CN" sz="28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882" y="5825548"/>
                <a:ext cx="2918983" cy="965649"/>
              </a:xfrm>
              <a:prstGeom prst="rect">
                <a:avLst/>
              </a:prstGeom>
              <a:blipFill rotWithShape="1">
                <a:blip r:embed="rId9"/>
                <a:stretch>
                  <a:fillRect l="-19" t="-6" r="15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/>
              <p:cNvSpPr txBox="1"/>
              <p:nvPr/>
            </p:nvSpPr>
            <p:spPr>
              <a:xfrm>
                <a:off x="7511648" y="5825548"/>
                <a:ext cx="2737252" cy="96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800" i="1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800" i="1" spc="6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y</m:t>
                          </m:r>
                          <m: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=+</m:t>
                          </m:r>
                          <m: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zh-CN" sz="2800" b="0" i="0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x</m:t>
                          </m:r>
                        </m:e>
                      </m:d>
                      <m: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1</m:t>
                      </m:r>
                    </m:oMath>
                  </m:oMathPara>
                </a14:m>
                <a:endParaRPr lang="en-SG" altLang="zh-CN" sz="28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648" y="5825548"/>
                <a:ext cx="2737252" cy="965649"/>
              </a:xfrm>
              <a:prstGeom prst="rect">
                <a:avLst/>
              </a:prstGeom>
              <a:blipFill rotWithShape="1">
                <a:blip r:embed="rId10"/>
                <a:stretch>
                  <a:fillRect l="-9" t="-6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什么不直接使用回归来构建分类器？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73" name="object 2"/>
          <p:cNvGrpSpPr/>
          <p:nvPr/>
        </p:nvGrpSpPr>
        <p:grpSpPr>
          <a:xfrm>
            <a:off x="3876133" y="2696723"/>
            <a:ext cx="6721475" cy="540385"/>
            <a:chOff x="2181030" y="2696723"/>
            <a:chExt cx="6721475" cy="540385"/>
          </a:xfrm>
        </p:grpSpPr>
        <p:pic>
          <p:nvPicPr>
            <p:cNvPr id="74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181030" y="2696723"/>
              <a:ext cx="6721391" cy="540387"/>
            </a:xfrm>
            <a:prstGeom prst="rect">
              <a:avLst/>
            </a:prstGeom>
          </p:spPr>
        </p:pic>
        <p:sp>
          <p:nvSpPr>
            <p:cNvPr id="75" name="object 4"/>
            <p:cNvSpPr/>
            <p:nvPr/>
          </p:nvSpPr>
          <p:spPr>
            <a:xfrm>
              <a:off x="2433170" y="2824766"/>
              <a:ext cx="6220460" cy="249554"/>
            </a:xfrm>
            <a:custGeom>
              <a:avLst/>
              <a:gdLst/>
              <a:ahLst/>
              <a:cxnLst/>
              <a:rect l="l" t="t" r="r" b="b"/>
              <a:pathLst>
                <a:path w="6220459" h="249555">
                  <a:moveTo>
                    <a:pt x="6082984" y="165022"/>
                  </a:moveTo>
                  <a:lnTo>
                    <a:pt x="6015120" y="204114"/>
                  </a:lnTo>
                  <a:lnTo>
                    <a:pt x="6007933" y="210440"/>
                  </a:lnTo>
                  <a:lnTo>
                    <a:pt x="6003862" y="218750"/>
                  </a:lnTo>
                  <a:lnTo>
                    <a:pt x="6003208" y="227975"/>
                  </a:lnTo>
                  <a:lnTo>
                    <a:pt x="6006268" y="237052"/>
                  </a:lnTo>
                  <a:lnTo>
                    <a:pt x="6012587" y="244262"/>
                  </a:lnTo>
                  <a:lnTo>
                    <a:pt x="6020884" y="248336"/>
                  </a:lnTo>
                  <a:lnTo>
                    <a:pt x="6030108" y="248994"/>
                  </a:lnTo>
                  <a:lnTo>
                    <a:pt x="6039206" y="245955"/>
                  </a:lnTo>
                  <a:lnTo>
                    <a:pt x="6178777" y="165515"/>
                  </a:lnTo>
                  <a:lnTo>
                    <a:pt x="6172296" y="165515"/>
                  </a:lnTo>
                  <a:lnTo>
                    <a:pt x="6082984" y="165022"/>
                  </a:lnTo>
                  <a:close/>
                </a:path>
                <a:path w="6220459" h="249555">
                  <a:moveTo>
                    <a:pt x="190135" y="0"/>
                  </a:moveTo>
                  <a:lnTo>
                    <a:pt x="181055" y="3038"/>
                  </a:lnTo>
                  <a:lnTo>
                    <a:pt x="0" y="107307"/>
                  </a:lnTo>
                  <a:lnTo>
                    <a:pt x="179887" y="213584"/>
                  </a:lnTo>
                  <a:lnTo>
                    <a:pt x="188931" y="216737"/>
                  </a:lnTo>
                  <a:lnTo>
                    <a:pt x="198160" y="216189"/>
                  </a:lnTo>
                  <a:lnTo>
                    <a:pt x="206511" y="212216"/>
                  </a:lnTo>
                  <a:lnTo>
                    <a:pt x="212917" y="205092"/>
                  </a:lnTo>
                  <a:lnTo>
                    <a:pt x="216063" y="196043"/>
                  </a:lnTo>
                  <a:lnTo>
                    <a:pt x="215514" y="186815"/>
                  </a:lnTo>
                  <a:lnTo>
                    <a:pt x="211547" y="178466"/>
                  </a:lnTo>
                  <a:lnTo>
                    <a:pt x="204436" y="172051"/>
                  </a:lnTo>
                  <a:lnTo>
                    <a:pt x="136961" y="132194"/>
                  </a:lnTo>
                  <a:lnTo>
                    <a:pt x="47826" y="131702"/>
                  </a:lnTo>
                  <a:lnTo>
                    <a:pt x="47907" y="116799"/>
                  </a:lnTo>
                  <a:lnTo>
                    <a:pt x="47959" y="107307"/>
                  </a:lnTo>
                  <a:lnTo>
                    <a:pt x="48071" y="86824"/>
                  </a:lnTo>
                  <a:lnTo>
                    <a:pt x="48089" y="83479"/>
                  </a:lnTo>
                  <a:lnTo>
                    <a:pt x="138100" y="83479"/>
                  </a:lnTo>
                  <a:lnTo>
                    <a:pt x="205120" y="44880"/>
                  </a:lnTo>
                  <a:lnTo>
                    <a:pt x="212317" y="38531"/>
                  </a:lnTo>
                  <a:lnTo>
                    <a:pt x="216382" y="30219"/>
                  </a:lnTo>
                  <a:lnTo>
                    <a:pt x="217031" y="20989"/>
                  </a:lnTo>
                  <a:lnTo>
                    <a:pt x="213983" y="11890"/>
                  </a:lnTo>
                  <a:lnTo>
                    <a:pt x="207662" y="4710"/>
                  </a:lnTo>
                  <a:lnTo>
                    <a:pt x="199358" y="652"/>
                  </a:lnTo>
                  <a:lnTo>
                    <a:pt x="190135" y="0"/>
                  </a:lnTo>
                  <a:close/>
                </a:path>
                <a:path w="6220459" h="249555">
                  <a:moveTo>
                    <a:pt x="6124467" y="141126"/>
                  </a:moveTo>
                  <a:lnTo>
                    <a:pt x="6082984" y="165022"/>
                  </a:lnTo>
                  <a:lnTo>
                    <a:pt x="6172296" y="165515"/>
                  </a:lnTo>
                  <a:lnTo>
                    <a:pt x="6172314" y="162170"/>
                  </a:lnTo>
                  <a:lnTo>
                    <a:pt x="6160099" y="162170"/>
                  </a:lnTo>
                  <a:lnTo>
                    <a:pt x="6124467" y="141126"/>
                  </a:lnTo>
                  <a:close/>
                </a:path>
                <a:path w="6220459" h="249555">
                  <a:moveTo>
                    <a:pt x="6031289" y="32257"/>
                  </a:moveTo>
                  <a:lnTo>
                    <a:pt x="6022062" y="32805"/>
                  </a:lnTo>
                  <a:lnTo>
                    <a:pt x="6013712" y="36778"/>
                  </a:lnTo>
                  <a:lnTo>
                    <a:pt x="6007297" y="43902"/>
                  </a:lnTo>
                  <a:lnTo>
                    <a:pt x="6004166" y="52929"/>
                  </a:lnTo>
                  <a:lnTo>
                    <a:pt x="6004711" y="62159"/>
                  </a:lnTo>
                  <a:lnTo>
                    <a:pt x="6008673" y="70521"/>
                  </a:lnTo>
                  <a:lnTo>
                    <a:pt x="6015789" y="76943"/>
                  </a:lnTo>
                  <a:lnTo>
                    <a:pt x="6083275" y="116799"/>
                  </a:lnTo>
                  <a:lnTo>
                    <a:pt x="6172553" y="117292"/>
                  </a:lnTo>
                  <a:lnTo>
                    <a:pt x="6172536" y="120483"/>
                  </a:lnTo>
                  <a:lnTo>
                    <a:pt x="6172426" y="141126"/>
                  </a:lnTo>
                  <a:lnTo>
                    <a:pt x="6172314" y="162170"/>
                  </a:lnTo>
                  <a:lnTo>
                    <a:pt x="6172296" y="165515"/>
                  </a:lnTo>
                  <a:lnTo>
                    <a:pt x="6178777" y="165515"/>
                  </a:lnTo>
                  <a:lnTo>
                    <a:pt x="6220210" y="141635"/>
                  </a:lnTo>
                  <a:lnTo>
                    <a:pt x="6040338" y="35410"/>
                  </a:lnTo>
                  <a:lnTo>
                    <a:pt x="6031289" y="32257"/>
                  </a:lnTo>
                  <a:close/>
                </a:path>
                <a:path w="6220459" h="249555">
                  <a:moveTo>
                    <a:pt x="137246" y="83971"/>
                  </a:moveTo>
                  <a:lnTo>
                    <a:pt x="95766" y="107861"/>
                  </a:lnTo>
                  <a:lnTo>
                    <a:pt x="136961" y="132194"/>
                  </a:lnTo>
                  <a:lnTo>
                    <a:pt x="6082984" y="165022"/>
                  </a:lnTo>
                  <a:lnTo>
                    <a:pt x="6124467" y="141126"/>
                  </a:lnTo>
                  <a:lnTo>
                    <a:pt x="6083275" y="116799"/>
                  </a:lnTo>
                  <a:lnTo>
                    <a:pt x="137246" y="83971"/>
                  </a:lnTo>
                  <a:close/>
                </a:path>
                <a:path w="6220459" h="249555">
                  <a:moveTo>
                    <a:pt x="6160304" y="120483"/>
                  </a:moveTo>
                  <a:lnTo>
                    <a:pt x="6124467" y="141126"/>
                  </a:lnTo>
                  <a:lnTo>
                    <a:pt x="6160099" y="162170"/>
                  </a:lnTo>
                  <a:lnTo>
                    <a:pt x="6160202" y="141126"/>
                  </a:lnTo>
                  <a:lnTo>
                    <a:pt x="6160304" y="120483"/>
                  </a:lnTo>
                  <a:close/>
                </a:path>
                <a:path w="6220459" h="249555">
                  <a:moveTo>
                    <a:pt x="6172536" y="120483"/>
                  </a:moveTo>
                  <a:lnTo>
                    <a:pt x="6160304" y="120483"/>
                  </a:lnTo>
                  <a:lnTo>
                    <a:pt x="6160202" y="141126"/>
                  </a:lnTo>
                  <a:lnTo>
                    <a:pt x="6160099" y="162170"/>
                  </a:lnTo>
                  <a:lnTo>
                    <a:pt x="6172314" y="162170"/>
                  </a:lnTo>
                  <a:lnTo>
                    <a:pt x="6172426" y="141126"/>
                  </a:lnTo>
                  <a:lnTo>
                    <a:pt x="6172536" y="120483"/>
                  </a:lnTo>
                  <a:close/>
                </a:path>
                <a:path w="6220459" h="249555">
                  <a:moveTo>
                    <a:pt x="6083275" y="116799"/>
                  </a:moveTo>
                  <a:lnTo>
                    <a:pt x="6124467" y="141126"/>
                  </a:lnTo>
                  <a:lnTo>
                    <a:pt x="6160304" y="120483"/>
                  </a:lnTo>
                  <a:lnTo>
                    <a:pt x="6172536" y="120483"/>
                  </a:lnTo>
                  <a:lnTo>
                    <a:pt x="6172553" y="117292"/>
                  </a:lnTo>
                  <a:lnTo>
                    <a:pt x="6083275" y="116799"/>
                  </a:lnTo>
                  <a:close/>
                </a:path>
                <a:path w="6220459" h="249555">
                  <a:moveTo>
                    <a:pt x="48089" y="83479"/>
                  </a:moveTo>
                  <a:lnTo>
                    <a:pt x="48071" y="86824"/>
                  </a:lnTo>
                  <a:lnTo>
                    <a:pt x="47959" y="107307"/>
                  </a:lnTo>
                  <a:lnTo>
                    <a:pt x="47907" y="116799"/>
                  </a:lnTo>
                  <a:lnTo>
                    <a:pt x="47826" y="131702"/>
                  </a:lnTo>
                  <a:lnTo>
                    <a:pt x="136961" y="132194"/>
                  </a:lnTo>
                  <a:lnTo>
                    <a:pt x="130726" y="128511"/>
                  </a:lnTo>
                  <a:lnTo>
                    <a:pt x="59910" y="128511"/>
                  </a:lnTo>
                  <a:lnTo>
                    <a:pt x="60034" y="107307"/>
                  </a:lnTo>
                  <a:lnTo>
                    <a:pt x="60152" y="86824"/>
                  </a:lnTo>
                  <a:lnTo>
                    <a:pt x="132292" y="86824"/>
                  </a:lnTo>
                  <a:lnTo>
                    <a:pt x="137246" y="83971"/>
                  </a:lnTo>
                  <a:lnTo>
                    <a:pt x="48089" y="83479"/>
                  </a:lnTo>
                  <a:close/>
                </a:path>
                <a:path w="6220459" h="249555">
                  <a:moveTo>
                    <a:pt x="60152" y="86824"/>
                  </a:moveTo>
                  <a:lnTo>
                    <a:pt x="60034" y="107307"/>
                  </a:lnTo>
                  <a:lnTo>
                    <a:pt x="59910" y="128511"/>
                  </a:lnTo>
                  <a:lnTo>
                    <a:pt x="95766" y="107861"/>
                  </a:lnTo>
                  <a:lnTo>
                    <a:pt x="60152" y="86824"/>
                  </a:lnTo>
                  <a:close/>
                </a:path>
                <a:path w="6220459" h="249555">
                  <a:moveTo>
                    <a:pt x="95766" y="107861"/>
                  </a:moveTo>
                  <a:lnTo>
                    <a:pt x="59910" y="128511"/>
                  </a:lnTo>
                  <a:lnTo>
                    <a:pt x="130726" y="128511"/>
                  </a:lnTo>
                  <a:lnTo>
                    <a:pt x="95766" y="107861"/>
                  </a:lnTo>
                  <a:close/>
                </a:path>
                <a:path w="6220459" h="249555">
                  <a:moveTo>
                    <a:pt x="132292" y="86824"/>
                  </a:moveTo>
                  <a:lnTo>
                    <a:pt x="60152" y="86824"/>
                  </a:lnTo>
                  <a:lnTo>
                    <a:pt x="95766" y="107861"/>
                  </a:lnTo>
                  <a:lnTo>
                    <a:pt x="132292" y="86824"/>
                  </a:lnTo>
                  <a:close/>
                </a:path>
                <a:path w="6220459" h="249555">
                  <a:moveTo>
                    <a:pt x="138100" y="83479"/>
                  </a:moveTo>
                  <a:lnTo>
                    <a:pt x="48089" y="83479"/>
                  </a:lnTo>
                  <a:lnTo>
                    <a:pt x="137246" y="83971"/>
                  </a:lnTo>
                  <a:lnTo>
                    <a:pt x="138100" y="83479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5"/>
          <p:cNvSpPr txBox="1"/>
          <p:nvPr/>
        </p:nvSpPr>
        <p:spPr>
          <a:xfrm>
            <a:off x="4095159" y="2817806"/>
            <a:ext cx="718185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50" spc="630" dirty="0">
                <a:latin typeface="Arial" panose="020B0604020202020204"/>
                <a:cs typeface="Arial" panose="020B0604020202020204"/>
              </a:rPr>
              <a:t>-</a:t>
            </a:r>
            <a:r>
              <a:rPr sz="4050" spc="-50" dirty="0">
                <a:latin typeface="Calibri" panose="020F0502020204030204"/>
                <a:cs typeface="Calibri" panose="020F0502020204030204"/>
              </a:rPr>
              <a:t>∞</a:t>
            </a:r>
            <a:endParaRPr sz="40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7" name="object 6"/>
          <p:cNvSpPr txBox="1"/>
          <p:nvPr/>
        </p:nvSpPr>
        <p:spPr>
          <a:xfrm>
            <a:off x="9502117" y="2853831"/>
            <a:ext cx="818515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50" spc="185" dirty="0">
                <a:latin typeface="Arial" panose="020B0604020202020204"/>
                <a:cs typeface="Arial" panose="020B0604020202020204"/>
              </a:rPr>
              <a:t>+</a:t>
            </a:r>
            <a:r>
              <a:rPr sz="4050" spc="185" dirty="0">
                <a:latin typeface="Calibri" panose="020F0502020204030204"/>
                <a:cs typeface="Calibri" panose="020F0502020204030204"/>
              </a:rPr>
              <a:t>∞</a:t>
            </a:r>
            <a:endParaRPr sz="405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3" name="object 12"/>
          <p:cNvSpPr txBox="1"/>
          <p:nvPr/>
        </p:nvSpPr>
        <p:spPr>
          <a:xfrm>
            <a:off x="6852125" y="2910443"/>
            <a:ext cx="603250" cy="488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000" spc="100" dirty="0">
                <a:latin typeface="Arial" panose="020B0604020202020204"/>
                <a:cs typeface="Arial" panose="020B0604020202020204"/>
              </a:rPr>
              <a:t>0.0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7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3262" y="5038402"/>
            <a:ext cx="5033323" cy="509508"/>
          </a:xfrm>
          <a:prstGeom prst="rect">
            <a:avLst/>
          </a:prstGeom>
        </p:spPr>
      </p:pic>
      <p:sp>
        <p:nvSpPr>
          <p:cNvPr id="88" name="object 17"/>
          <p:cNvSpPr/>
          <p:nvPr/>
        </p:nvSpPr>
        <p:spPr>
          <a:xfrm>
            <a:off x="4906590" y="5165533"/>
            <a:ext cx="4531360" cy="224154"/>
          </a:xfrm>
          <a:custGeom>
            <a:avLst/>
            <a:gdLst/>
            <a:ahLst/>
            <a:cxnLst/>
            <a:rect l="l" t="t" r="r" b="b"/>
            <a:pathLst>
              <a:path w="4531359" h="224154">
                <a:moveTo>
                  <a:pt x="189349" y="6909"/>
                </a:moveTo>
                <a:lnTo>
                  <a:pt x="180288" y="10024"/>
                </a:lnTo>
                <a:lnTo>
                  <a:pt x="0" y="115580"/>
                </a:lnTo>
                <a:lnTo>
                  <a:pt x="180628" y="220569"/>
                </a:lnTo>
                <a:lnTo>
                  <a:pt x="189703" y="223646"/>
                </a:lnTo>
                <a:lnTo>
                  <a:pt x="198935" y="223027"/>
                </a:lnTo>
                <a:lnTo>
                  <a:pt x="207261" y="218992"/>
                </a:lnTo>
                <a:lnTo>
                  <a:pt x="213617" y="211820"/>
                </a:lnTo>
                <a:lnTo>
                  <a:pt x="216696" y="202743"/>
                </a:lnTo>
                <a:lnTo>
                  <a:pt x="216077" y="193511"/>
                </a:lnTo>
                <a:lnTo>
                  <a:pt x="212042" y="185187"/>
                </a:lnTo>
                <a:lnTo>
                  <a:pt x="204873" y="178831"/>
                </a:lnTo>
                <a:lnTo>
                  <a:pt x="137390" y="139614"/>
                </a:lnTo>
                <a:lnTo>
                  <a:pt x="47883" y="139614"/>
                </a:lnTo>
                <a:lnTo>
                  <a:pt x="47806" y="91391"/>
                </a:lnTo>
                <a:lnTo>
                  <a:pt x="137063" y="91243"/>
                </a:lnTo>
                <a:lnTo>
                  <a:pt x="204673" y="51660"/>
                </a:lnTo>
                <a:lnTo>
                  <a:pt x="216410" y="27697"/>
                </a:lnTo>
                <a:lnTo>
                  <a:pt x="213298" y="18619"/>
                </a:lnTo>
                <a:lnTo>
                  <a:pt x="206915" y="11486"/>
                </a:lnTo>
                <a:lnTo>
                  <a:pt x="198578" y="7489"/>
                </a:lnTo>
                <a:lnTo>
                  <a:pt x="189349" y="6909"/>
                </a:lnTo>
                <a:close/>
              </a:path>
              <a:path w="4531359" h="224154">
                <a:moveTo>
                  <a:pt x="4489755" y="84031"/>
                </a:moveTo>
                <a:lnTo>
                  <a:pt x="4483245" y="84031"/>
                </a:lnTo>
                <a:lnTo>
                  <a:pt x="4483348" y="132255"/>
                </a:lnTo>
                <a:lnTo>
                  <a:pt x="4394046" y="132403"/>
                </a:lnTo>
                <a:lnTo>
                  <a:pt x="4326430" y="171986"/>
                </a:lnTo>
                <a:lnTo>
                  <a:pt x="4319297" y="178371"/>
                </a:lnTo>
                <a:lnTo>
                  <a:pt x="4315300" y="186705"/>
                </a:lnTo>
                <a:lnTo>
                  <a:pt x="4314720" y="195927"/>
                </a:lnTo>
                <a:lnTo>
                  <a:pt x="4317835" y="204975"/>
                </a:lnTo>
                <a:lnTo>
                  <a:pt x="4324198" y="212138"/>
                </a:lnTo>
                <a:lnTo>
                  <a:pt x="4332535" y="216150"/>
                </a:lnTo>
                <a:lnTo>
                  <a:pt x="4341769" y="216736"/>
                </a:lnTo>
                <a:lnTo>
                  <a:pt x="4350824" y="213621"/>
                </a:lnTo>
                <a:lnTo>
                  <a:pt x="4531108" y="108066"/>
                </a:lnTo>
                <a:lnTo>
                  <a:pt x="4489755" y="84031"/>
                </a:lnTo>
                <a:close/>
              </a:path>
              <a:path w="4531359" h="224154">
                <a:moveTo>
                  <a:pt x="137063" y="91243"/>
                </a:moveTo>
                <a:lnTo>
                  <a:pt x="47806" y="91391"/>
                </a:lnTo>
                <a:lnTo>
                  <a:pt x="47883" y="139614"/>
                </a:lnTo>
                <a:lnTo>
                  <a:pt x="137135" y="139466"/>
                </a:lnTo>
                <a:lnTo>
                  <a:pt x="131722" y="136320"/>
                </a:lnTo>
                <a:lnTo>
                  <a:pt x="60070" y="136320"/>
                </a:lnTo>
                <a:lnTo>
                  <a:pt x="59988" y="94633"/>
                </a:lnTo>
                <a:lnTo>
                  <a:pt x="131272" y="94633"/>
                </a:lnTo>
                <a:lnTo>
                  <a:pt x="137063" y="91243"/>
                </a:lnTo>
                <a:close/>
              </a:path>
              <a:path w="4531359" h="224154">
                <a:moveTo>
                  <a:pt x="137135" y="139466"/>
                </a:moveTo>
                <a:lnTo>
                  <a:pt x="47883" y="139614"/>
                </a:lnTo>
                <a:lnTo>
                  <a:pt x="137390" y="139614"/>
                </a:lnTo>
                <a:lnTo>
                  <a:pt x="137135" y="139466"/>
                </a:lnTo>
                <a:close/>
              </a:path>
              <a:path w="4531359" h="224154">
                <a:moveTo>
                  <a:pt x="4394046" y="84179"/>
                </a:moveTo>
                <a:lnTo>
                  <a:pt x="137063" y="91243"/>
                </a:lnTo>
                <a:lnTo>
                  <a:pt x="95763" y="115423"/>
                </a:lnTo>
                <a:lnTo>
                  <a:pt x="137135" y="139466"/>
                </a:lnTo>
                <a:lnTo>
                  <a:pt x="4394046" y="132403"/>
                </a:lnTo>
                <a:lnTo>
                  <a:pt x="4435383" y="108204"/>
                </a:lnTo>
                <a:lnTo>
                  <a:pt x="4394046" y="84179"/>
                </a:lnTo>
                <a:close/>
              </a:path>
              <a:path w="4531359" h="224154">
                <a:moveTo>
                  <a:pt x="59988" y="94633"/>
                </a:moveTo>
                <a:lnTo>
                  <a:pt x="60070" y="136320"/>
                </a:lnTo>
                <a:lnTo>
                  <a:pt x="95763" y="115423"/>
                </a:lnTo>
                <a:lnTo>
                  <a:pt x="59988" y="94633"/>
                </a:lnTo>
                <a:close/>
              </a:path>
              <a:path w="4531359" h="224154">
                <a:moveTo>
                  <a:pt x="95763" y="115423"/>
                </a:moveTo>
                <a:lnTo>
                  <a:pt x="60070" y="136320"/>
                </a:lnTo>
                <a:lnTo>
                  <a:pt x="131722" y="136320"/>
                </a:lnTo>
                <a:lnTo>
                  <a:pt x="95763" y="115423"/>
                </a:lnTo>
                <a:close/>
              </a:path>
              <a:path w="4531359" h="224154">
                <a:moveTo>
                  <a:pt x="4435383" y="108204"/>
                </a:moveTo>
                <a:lnTo>
                  <a:pt x="4394046" y="132403"/>
                </a:lnTo>
                <a:lnTo>
                  <a:pt x="4483348" y="132255"/>
                </a:lnTo>
                <a:lnTo>
                  <a:pt x="4483341" y="128961"/>
                </a:lnTo>
                <a:lnTo>
                  <a:pt x="4471099" y="128961"/>
                </a:lnTo>
                <a:lnTo>
                  <a:pt x="4435383" y="108204"/>
                </a:lnTo>
                <a:close/>
              </a:path>
              <a:path w="4531359" h="224154">
                <a:moveTo>
                  <a:pt x="4471048" y="87325"/>
                </a:moveTo>
                <a:lnTo>
                  <a:pt x="4435383" y="108204"/>
                </a:lnTo>
                <a:lnTo>
                  <a:pt x="4471099" y="128961"/>
                </a:lnTo>
                <a:lnTo>
                  <a:pt x="4471048" y="87325"/>
                </a:lnTo>
                <a:close/>
              </a:path>
              <a:path w="4531359" h="224154">
                <a:moveTo>
                  <a:pt x="4483252" y="87325"/>
                </a:moveTo>
                <a:lnTo>
                  <a:pt x="4471048" y="87325"/>
                </a:lnTo>
                <a:lnTo>
                  <a:pt x="4471099" y="128961"/>
                </a:lnTo>
                <a:lnTo>
                  <a:pt x="4483341" y="128961"/>
                </a:lnTo>
                <a:lnTo>
                  <a:pt x="4483252" y="87325"/>
                </a:lnTo>
                <a:close/>
              </a:path>
              <a:path w="4531359" h="224154">
                <a:moveTo>
                  <a:pt x="131272" y="94633"/>
                </a:moveTo>
                <a:lnTo>
                  <a:pt x="59988" y="94633"/>
                </a:lnTo>
                <a:lnTo>
                  <a:pt x="95763" y="115423"/>
                </a:lnTo>
                <a:lnTo>
                  <a:pt x="131272" y="94633"/>
                </a:lnTo>
                <a:close/>
              </a:path>
              <a:path w="4531359" h="224154">
                <a:moveTo>
                  <a:pt x="4483245" y="84031"/>
                </a:moveTo>
                <a:lnTo>
                  <a:pt x="4394046" y="84179"/>
                </a:lnTo>
                <a:lnTo>
                  <a:pt x="4435383" y="108204"/>
                </a:lnTo>
                <a:lnTo>
                  <a:pt x="4471048" y="87325"/>
                </a:lnTo>
                <a:lnTo>
                  <a:pt x="4483252" y="87325"/>
                </a:lnTo>
                <a:lnTo>
                  <a:pt x="4483245" y="84031"/>
                </a:lnTo>
                <a:close/>
              </a:path>
              <a:path w="4531359" h="224154">
                <a:moveTo>
                  <a:pt x="4341387" y="0"/>
                </a:moveTo>
                <a:lnTo>
                  <a:pt x="4332155" y="619"/>
                </a:lnTo>
                <a:lnTo>
                  <a:pt x="4323831" y="4654"/>
                </a:lnTo>
                <a:lnTo>
                  <a:pt x="4317475" y="11825"/>
                </a:lnTo>
                <a:lnTo>
                  <a:pt x="4314398" y="20894"/>
                </a:lnTo>
                <a:lnTo>
                  <a:pt x="4315017" y="30108"/>
                </a:lnTo>
                <a:lnTo>
                  <a:pt x="4319052" y="38415"/>
                </a:lnTo>
                <a:lnTo>
                  <a:pt x="4326224" y="44763"/>
                </a:lnTo>
                <a:lnTo>
                  <a:pt x="4394046" y="84179"/>
                </a:lnTo>
                <a:lnTo>
                  <a:pt x="4489755" y="84031"/>
                </a:lnTo>
                <a:lnTo>
                  <a:pt x="4350464" y="3076"/>
                </a:lnTo>
                <a:lnTo>
                  <a:pt x="4341387" y="0"/>
                </a:lnTo>
                <a:close/>
              </a:path>
            </a:pathLst>
          </a:custGeom>
          <a:solidFill>
            <a:srgbClr val="118C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18"/>
          <p:cNvSpPr txBox="1"/>
          <p:nvPr/>
        </p:nvSpPr>
        <p:spPr>
          <a:xfrm>
            <a:off x="4601494" y="4776326"/>
            <a:ext cx="603250" cy="488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000" spc="100" dirty="0">
                <a:latin typeface="Arial" panose="020B0604020202020204"/>
                <a:cs typeface="Arial" panose="020B0604020202020204"/>
              </a:rPr>
              <a:t>0.0</a:t>
            </a:r>
            <a:endParaRPr sz="3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0" name="object 19"/>
          <p:cNvSpPr txBox="1"/>
          <p:nvPr/>
        </p:nvSpPr>
        <p:spPr>
          <a:xfrm>
            <a:off x="9163398" y="4771180"/>
            <a:ext cx="541655" cy="488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000" spc="-25" dirty="0">
                <a:latin typeface="Arial" panose="020B0604020202020204"/>
                <a:cs typeface="Arial" panose="020B0604020202020204"/>
              </a:rPr>
              <a:t>1.0</a:t>
            </a:r>
            <a:endParaRPr sz="3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3" name="object 22"/>
          <p:cNvSpPr/>
          <p:nvPr/>
        </p:nvSpPr>
        <p:spPr>
          <a:xfrm>
            <a:off x="2344781" y="1212451"/>
            <a:ext cx="4218940" cy="1054651"/>
          </a:xfrm>
          <a:custGeom>
            <a:avLst/>
            <a:gdLst/>
            <a:ahLst/>
            <a:cxnLst/>
            <a:rect l="l" t="t" r="r" b="b"/>
            <a:pathLst>
              <a:path w="4218940" h="745489">
                <a:moveTo>
                  <a:pt x="4218944" y="0"/>
                </a:moveTo>
                <a:lnTo>
                  <a:pt x="0" y="0"/>
                </a:lnTo>
                <a:lnTo>
                  <a:pt x="0" y="459072"/>
                </a:lnTo>
                <a:lnTo>
                  <a:pt x="703147" y="459072"/>
                </a:lnTo>
                <a:lnTo>
                  <a:pt x="1664244" y="745323"/>
                </a:lnTo>
                <a:lnTo>
                  <a:pt x="1757885" y="459072"/>
                </a:lnTo>
                <a:lnTo>
                  <a:pt x="4218944" y="459072"/>
                </a:lnTo>
                <a:lnTo>
                  <a:pt x="4218944" y="0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6" name="object 25"/>
          <p:cNvGrpSpPr/>
          <p:nvPr/>
        </p:nvGrpSpPr>
        <p:grpSpPr>
          <a:xfrm>
            <a:off x="2978884" y="5694896"/>
            <a:ext cx="5680710" cy="798195"/>
            <a:chOff x="1283781" y="5694896"/>
            <a:chExt cx="5680710" cy="798195"/>
          </a:xfrm>
        </p:grpSpPr>
        <p:sp>
          <p:nvSpPr>
            <p:cNvPr id="97" name="object 26"/>
            <p:cNvSpPr/>
            <p:nvPr/>
          </p:nvSpPr>
          <p:spPr>
            <a:xfrm>
              <a:off x="1283781" y="5694896"/>
              <a:ext cx="5680710" cy="798195"/>
            </a:xfrm>
            <a:custGeom>
              <a:avLst/>
              <a:gdLst/>
              <a:ahLst/>
              <a:cxnLst/>
              <a:rect l="l" t="t" r="r" b="b"/>
              <a:pathLst>
                <a:path w="5680709" h="798195">
                  <a:moveTo>
                    <a:pt x="2799567" y="0"/>
                  </a:moveTo>
                  <a:lnTo>
                    <a:pt x="946702" y="338848"/>
                  </a:lnTo>
                  <a:lnTo>
                    <a:pt x="0" y="338848"/>
                  </a:lnTo>
                  <a:lnTo>
                    <a:pt x="0" y="797920"/>
                  </a:lnTo>
                  <a:lnTo>
                    <a:pt x="5680142" y="797920"/>
                  </a:lnTo>
                  <a:lnTo>
                    <a:pt x="5680142" y="338848"/>
                  </a:lnTo>
                  <a:lnTo>
                    <a:pt x="2366727" y="338848"/>
                  </a:lnTo>
                  <a:lnTo>
                    <a:pt x="2799567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27"/>
            <p:cNvSpPr/>
            <p:nvPr/>
          </p:nvSpPr>
          <p:spPr>
            <a:xfrm>
              <a:off x="1283781" y="5694896"/>
              <a:ext cx="5680710" cy="798195"/>
            </a:xfrm>
            <a:custGeom>
              <a:avLst/>
              <a:gdLst/>
              <a:ahLst/>
              <a:cxnLst/>
              <a:rect l="l" t="t" r="r" b="b"/>
              <a:pathLst>
                <a:path w="5680709" h="798195">
                  <a:moveTo>
                    <a:pt x="0" y="338848"/>
                  </a:moveTo>
                  <a:lnTo>
                    <a:pt x="946702" y="338848"/>
                  </a:lnTo>
                  <a:lnTo>
                    <a:pt x="2799567" y="0"/>
                  </a:lnTo>
                  <a:lnTo>
                    <a:pt x="2366727" y="338848"/>
                  </a:lnTo>
                  <a:lnTo>
                    <a:pt x="5680142" y="338848"/>
                  </a:lnTo>
                  <a:lnTo>
                    <a:pt x="5680142" y="415377"/>
                  </a:lnTo>
                  <a:lnTo>
                    <a:pt x="5680142" y="530145"/>
                  </a:lnTo>
                  <a:lnTo>
                    <a:pt x="5680142" y="797920"/>
                  </a:lnTo>
                  <a:lnTo>
                    <a:pt x="2366727" y="797920"/>
                  </a:lnTo>
                  <a:lnTo>
                    <a:pt x="946702" y="797920"/>
                  </a:lnTo>
                  <a:lnTo>
                    <a:pt x="0" y="797920"/>
                  </a:lnTo>
                  <a:lnTo>
                    <a:pt x="0" y="530145"/>
                  </a:lnTo>
                  <a:lnTo>
                    <a:pt x="0" y="415377"/>
                  </a:lnTo>
                  <a:lnTo>
                    <a:pt x="0" y="33884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28"/>
          <p:cNvSpPr txBox="1"/>
          <p:nvPr/>
        </p:nvSpPr>
        <p:spPr>
          <a:xfrm>
            <a:off x="3043376" y="6089699"/>
            <a:ext cx="52451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但概率处于 </a:t>
            </a:r>
            <a:r>
              <a:rPr lang="en-US" altLang="zh-CN"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  </a:t>
            </a:r>
            <a:r>
              <a:rPr lang="zh-CN" altLang="en-US"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到  </a:t>
            </a:r>
            <a:r>
              <a:rPr lang="en-US" altLang="zh-CN"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  </a:t>
            </a:r>
            <a:r>
              <a:rPr lang="zh-CN" altLang="en-US"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之间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00" name="object 29"/>
          <p:cNvGrpSpPr/>
          <p:nvPr/>
        </p:nvGrpSpPr>
        <p:grpSpPr>
          <a:xfrm>
            <a:off x="1183826" y="3497086"/>
            <a:ext cx="2774710" cy="1814830"/>
            <a:chOff x="645673" y="3533147"/>
            <a:chExt cx="1582420" cy="1814830"/>
          </a:xfrm>
        </p:grpSpPr>
        <p:sp>
          <p:nvSpPr>
            <p:cNvPr id="101" name="object 30"/>
            <p:cNvSpPr/>
            <p:nvPr/>
          </p:nvSpPr>
          <p:spPr>
            <a:xfrm>
              <a:off x="656468" y="3543942"/>
              <a:ext cx="1560830" cy="1793239"/>
            </a:xfrm>
            <a:custGeom>
              <a:avLst/>
              <a:gdLst/>
              <a:ahLst/>
              <a:cxnLst/>
              <a:rect l="l" t="t" r="r" b="b"/>
              <a:pathLst>
                <a:path w="1560830" h="1793239">
                  <a:moveTo>
                    <a:pt x="1560428" y="0"/>
                  </a:moveTo>
                  <a:lnTo>
                    <a:pt x="0" y="0"/>
                  </a:lnTo>
                  <a:lnTo>
                    <a:pt x="0" y="1792908"/>
                  </a:lnTo>
                  <a:lnTo>
                    <a:pt x="1560428" y="1792908"/>
                  </a:lnTo>
                  <a:lnTo>
                    <a:pt x="1560428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31"/>
            <p:cNvSpPr/>
            <p:nvPr/>
          </p:nvSpPr>
          <p:spPr>
            <a:xfrm>
              <a:off x="656468" y="3543942"/>
              <a:ext cx="1560830" cy="1793239"/>
            </a:xfrm>
            <a:custGeom>
              <a:avLst/>
              <a:gdLst/>
              <a:ahLst/>
              <a:cxnLst/>
              <a:rect l="l" t="t" r="r" b="b"/>
              <a:pathLst>
                <a:path w="1560830" h="1793239">
                  <a:moveTo>
                    <a:pt x="0" y="1792908"/>
                  </a:moveTo>
                  <a:lnTo>
                    <a:pt x="1560428" y="1792908"/>
                  </a:lnTo>
                  <a:lnTo>
                    <a:pt x="1560428" y="0"/>
                  </a:lnTo>
                  <a:lnTo>
                    <a:pt x="0" y="0"/>
                  </a:lnTo>
                  <a:lnTo>
                    <a:pt x="0" y="1792908"/>
                  </a:lnTo>
                  <a:close/>
                </a:path>
              </a:pathLst>
            </a:custGeom>
            <a:ln w="21443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32"/>
          <p:cNvSpPr txBox="1"/>
          <p:nvPr/>
        </p:nvSpPr>
        <p:spPr>
          <a:xfrm>
            <a:off x="1242314" y="3735967"/>
            <a:ext cx="2576902" cy="132087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58750" marR="119380" indent="-124460" algn="ctr">
              <a:lnSpc>
                <a:spcPts val="3200"/>
              </a:lnSpc>
              <a:spcBef>
                <a:spcPts val="240"/>
              </a:spcBef>
            </a:pPr>
            <a:r>
              <a:rPr lang="zh-CN" altLang="en-US" sz="2800" spc="14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我们如何将</a:t>
            </a:r>
            <a:endParaRPr lang="en-US" altLang="zh-CN" sz="2800" spc="14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58750" marR="119380" indent="-124460" algn="ctr">
              <a:lnSpc>
                <a:spcPts val="3200"/>
              </a:lnSpc>
              <a:spcBef>
                <a:spcPts val="240"/>
              </a:spcBef>
            </a:pPr>
            <a:r>
              <a:rPr lang="en-US" altLang="zh-CN" sz="2800" spc="55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-</a:t>
            </a:r>
            <a:r>
              <a:rPr lang="en-US" sz="2800" b="1" spc="9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∞</a:t>
            </a:r>
            <a:r>
              <a:rPr lang="en-US" sz="2800" spc="9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,</a:t>
            </a:r>
            <a:r>
              <a:rPr lang="en-US" sz="2800" spc="9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</a:t>
            </a:r>
            <a:r>
              <a:rPr lang="en-US" sz="2800" b="1" spc="9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∞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zh-CN" altLang="en-US" sz="2800" spc="-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映射到</a:t>
            </a:r>
            <a:r>
              <a:rPr sz="2800" spc="-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sz="2800" spc="-17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0</a:t>
            </a:r>
            <a:r>
              <a:rPr sz="2800" spc="-17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,</a:t>
            </a:r>
            <a:r>
              <a:rPr lang="zh-CN" altLang="en-US" sz="2800" spc="-17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sz="2800" spc="-17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 panose="020B0602030504020204"/>
              </a:rPr>
              <a:t>1</a:t>
            </a:r>
            <a:r>
              <a:rPr sz="2800" spc="-17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?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968807" y="2217826"/>
                <a:ext cx="86482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core</m:t>
                      </m:r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8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r>
                        <a:rPr lang="zh-CN" altLang="en-US" sz="2800" b="0" i="0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 </m:t>
                      </m:r>
                      <m:sSub>
                        <m:sSubPr>
                          <m:ctrlPr>
                            <a:rPr lang="en-US" altLang="zh-CN" sz="280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zh-CN" sz="2800" b="0" i="1" spc="6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pc="6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b="0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 </m:t>
                      </m:r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…+</m:t>
                      </m:r>
                      <m:sSub>
                        <m:sSubPr>
                          <m:ctrlPr>
                            <a:rPr lang="en-US" altLang="zh-CN" sz="280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𝑑</m:t>
                          </m:r>
                        </m:sub>
                      </m:sSub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 spc="6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zh-CN" sz="2800" b="1" i="1" spc="6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pc="6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b="0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𝑑</m:t>
                          </m:r>
                        </m:sub>
                      </m:sSub>
                      <m:r>
                        <a:rPr lang="en-US" altLang="zh-CN" sz="2800" b="0" i="0" spc="6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pPr>
                        <m:e>
                          <m:r>
                            <a:rPr lang="en-US" altLang="zh-CN" sz="28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800" b="1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⊺</m:t>
                          </m:r>
                        </m:sup>
                      </m:sSup>
                      <m:r>
                        <a:rPr lang="en-US" altLang="zh-CN" sz="2800" b="1" i="1" spc="6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𝝓</m:t>
                      </m:r>
                      <m:d>
                        <m:dPr>
                          <m:ctrlPr>
                            <a:rPr lang="en-US" altLang="zh-CN" sz="28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8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SG" altLang="zh-CN" sz="28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07" y="2217826"/>
                <a:ext cx="8648201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2" t="-78" r="4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68984" y="1281819"/>
                <a:ext cx="38891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 xmlns:m="http://schemas.openxmlformats.org/officeDocument/2006/math">
                    <m:r>
                      <a:rPr lang="en-US" altLang="zh-CN" sz="2800" b="1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−∞&lt;</m:t>
                    </m:r>
                    <m:r>
                      <a:rPr lang="zh-CN" altLang="en-US" sz="2800" b="1" i="0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 </m:t>
                    </m:r>
                  </m:oMath>
                </a14:m>
                <a:r>
                  <a:rPr lang="zh-CN" altLang="en-US" sz="2800" spc="6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S</m:t>
                    </m:r>
                    <m:r>
                      <m:rPr>
                        <m:sty m:val="p"/>
                      </m:rPr>
                      <a:rPr lang="en-US" altLang="zh-CN" sz="2800" b="0" i="0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core</m:t>
                    </m:r>
                    <m:d>
                      <m:dPr>
                        <m:ctrlP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800" b="1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𝒙</m:t>
                        </m:r>
                      </m:e>
                    </m:d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&lt;</m:t>
                    </m:r>
                    <m:r>
                      <a:rPr lang="zh-CN" altLang="en-US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 </m:t>
                    </m:r>
                    <m:r>
                      <a:rPr lang="en-US" altLang="zh-CN" sz="2800" b="0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+</m:t>
                    </m:r>
                    <m:r>
                      <a:rPr lang="en-US" altLang="zh-CN" sz="2800" b="1" i="1" spc="6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∞</m:t>
                    </m:r>
                  </m:oMath>
                </a14:m>
                <a:endParaRPr lang="en-SG" altLang="zh-CN" sz="2800" b="1" spc="60" dirty="0">
                  <a:solidFill>
                    <a:schemeClr val="bg1"/>
                  </a:solidFill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984" y="1281819"/>
                <a:ext cx="3889150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11" t="-74" r="5" b="-717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>
            <a:stCxn id="76" idx="2"/>
            <a:endCxn id="89" idx="0"/>
          </p:cNvCxnSpPr>
          <p:nvPr/>
        </p:nvCxnSpPr>
        <p:spPr>
          <a:xfrm>
            <a:off x="4454252" y="3461061"/>
            <a:ext cx="448867" cy="1315265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83" idx="2"/>
          </p:cNvCxnSpPr>
          <p:nvPr/>
        </p:nvCxnSpPr>
        <p:spPr>
          <a:xfrm>
            <a:off x="7153750" y="3399393"/>
            <a:ext cx="0" cy="1311927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7" idx="2"/>
            <a:endCxn id="90" idx="0"/>
          </p:cNvCxnSpPr>
          <p:nvPr/>
        </p:nvCxnSpPr>
        <p:spPr>
          <a:xfrm flipH="1">
            <a:off x="9434226" y="3497086"/>
            <a:ext cx="477149" cy="1274094"/>
          </a:xfrm>
          <a:prstGeom prst="straightConnector1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bject 18"/>
          <p:cNvSpPr txBox="1"/>
          <p:nvPr/>
        </p:nvSpPr>
        <p:spPr>
          <a:xfrm>
            <a:off x="6852125" y="4757517"/>
            <a:ext cx="603250" cy="488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000" spc="100" dirty="0">
                <a:latin typeface="Arial" panose="020B0604020202020204"/>
                <a:cs typeface="Arial" panose="020B0604020202020204"/>
              </a:rPr>
              <a:t>0.</a:t>
            </a:r>
            <a:r>
              <a:rPr lang="en-US" altLang="zh-CN" sz="3000" spc="100" dirty="0">
                <a:latin typeface="Arial" panose="020B0604020202020204"/>
                <a:cs typeface="Arial" panose="020B0604020202020204"/>
              </a:rPr>
              <a:t>5</a:t>
            </a:r>
            <a:endParaRPr sz="3000" dirty="0">
              <a:latin typeface="Arial" panose="020B0604020202020204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833415" y="5308155"/>
                <a:ext cx="2918983" cy="534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800" i="1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accPr>
                        <m:e>
                          <m:r>
                            <a:rPr lang="en-US" altLang="zh-CN" sz="2800" i="1" spc="6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y</m:t>
                          </m:r>
                          <m: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=+</m:t>
                          </m:r>
                          <m:r>
                            <a:rPr lang="en-US" altLang="zh-CN" sz="2800" b="0" i="0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zh-CN" sz="2800" b="0" i="0" spc="60" smtClean="0">
                              <a:solidFill>
                                <a:srgbClr val="B0007E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x</m:t>
                          </m:r>
                        </m:e>
                      </m:d>
                    </m:oMath>
                  </m:oMathPara>
                </a14:m>
                <a:endParaRPr lang="en-SG" altLang="zh-CN" sz="28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415" y="5308155"/>
                <a:ext cx="2918983" cy="534762"/>
              </a:xfrm>
              <a:prstGeom prst="rect">
                <a:avLst/>
              </a:prstGeom>
              <a:blipFill rotWithShape="1">
                <a:blip r:embed="rId5"/>
                <a:stretch>
                  <a:fillRect l="-10" t="-36" r="7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逻辑回归：逻辑函数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30048" y="967322"/>
            <a:ext cx="7627905" cy="67383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400" b="1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逻辑函数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(Logistic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sigmoid, logit)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5497" y="3781208"/>
          <a:ext cx="5485763" cy="2109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7989"/>
                <a:gridCol w="755650"/>
                <a:gridCol w="695325"/>
                <a:gridCol w="825500"/>
                <a:gridCol w="723264"/>
                <a:gridCol w="788035"/>
              </a:tblGrid>
              <a:tr h="488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Score</a:t>
                      </a:r>
                      <a:endParaRPr sz="2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-∞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+∞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</a:tr>
              <a:tr h="162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endParaRPr sz="2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igmoid</a:t>
                      </a:r>
                      <a:endParaRPr lang="en-US" sz="2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(Score)</a:t>
                      </a:r>
                      <a:endParaRPr sz="2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0.12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0.88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053220" y="3550626"/>
            <a:ext cx="4134788" cy="29240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705190" y="1945578"/>
                <a:ext cx="6772141" cy="1142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3600" b="1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𝒔</m:t>
                      </m:r>
                      <m:r>
                        <a:rPr lang="en-US" altLang="zh-CN" sz="3600" b="1" i="0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𝐢𝐠𝐦𝐨𝐢𝐝</m:t>
                      </m:r>
                      <m:r>
                        <a:rPr lang="en-US" altLang="zh-CN" sz="3600" b="1" i="0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(</m:t>
                      </m:r>
                      <m:r>
                        <a:rPr lang="en-US" altLang="zh-CN" sz="3600" b="1" i="1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𝐒</m:t>
                      </m:r>
                      <m:r>
                        <a:rPr lang="en-US" altLang="zh-CN" sz="3600" b="1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𝐜𝐨𝐫𝐞</m:t>
                      </m:r>
                      <m:r>
                        <a:rPr lang="en-US" altLang="zh-CN" sz="3600" b="1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)=</m:t>
                      </m:r>
                      <m:f>
                        <m:fPr>
                          <m:ctrlPr>
                            <a:rPr lang="en-US" altLang="zh-CN" sz="36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fPr>
                        <m:num>
                          <m:r>
                            <a:rPr lang="en-US" altLang="zh-CN" sz="36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36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𝟏</m:t>
                          </m:r>
                          <m:r>
                            <a:rPr lang="en-US" altLang="zh-CN" sz="36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600" b="1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sSupPr>
                            <m:e>
                              <m:r>
                                <a:rPr lang="en-US" altLang="zh-CN" sz="3600" b="1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3600" b="1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−</m:t>
                              </m:r>
                              <m:r>
                                <a:rPr lang="en-US" altLang="zh-CN" sz="3600" b="1" i="1" spc="60" smtClean="0">
                                  <a:solidFill>
                                    <a:srgbClr val="B0007E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𝐒</m:t>
                              </m:r>
                              <m:r>
                                <a:rPr lang="en-US" altLang="zh-CN" sz="3600" b="1" i="0" spc="60" smtClean="0">
                                  <a:solidFill>
                                    <a:srgbClr val="B0007E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𝐜𝐨𝐫𝐞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SG" altLang="zh-CN" sz="36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90" y="1945578"/>
                <a:ext cx="6772141" cy="1142364"/>
              </a:xfrm>
              <a:prstGeom prst="rect">
                <a:avLst/>
              </a:prstGeom>
              <a:blipFill rotWithShape="1">
                <a:blip r:embed="rId2"/>
                <a:stretch>
                  <a:fillRect l="-1" t="-50" r="9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8"/>
          <p:cNvSpPr>
            <a:spLocks noChangeAspect="1" noChangeArrowheads="1" noTextEdit="1"/>
          </p:cNvSpPr>
          <p:nvPr/>
        </p:nvSpPr>
        <p:spPr bwMode="auto">
          <a:xfrm>
            <a:off x="0" y="-238"/>
            <a:ext cx="12182522" cy="76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逻辑回归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83867" y="2940566"/>
            <a:ext cx="4669457" cy="3133990"/>
          </a:xfrm>
          <a:prstGeom prst="rect">
            <a:avLst/>
          </a:prstGeom>
        </p:spPr>
      </p:pic>
      <p:graphicFrame>
        <p:nvGraphicFramePr>
          <p:cNvPr id="11" name="object 9"/>
          <p:cNvGraphicFramePr>
            <a:graphicFrameLocks noGrp="1"/>
          </p:cNvGraphicFramePr>
          <p:nvPr/>
        </p:nvGraphicFramePr>
        <p:xfrm>
          <a:off x="6893491" y="2728106"/>
          <a:ext cx="4042410" cy="3346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1205"/>
                <a:gridCol w="2021205"/>
              </a:tblGrid>
              <a:tr h="669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Score(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Lucida Sans Unicode" panose="020B0602030504020204"/>
                          <a:cs typeface="Lucida Sans Unicode" panose="020B0602030504020204"/>
                        </a:rPr>
                        <a:t>x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)</a:t>
                      </a:r>
                      <a:endParaRPr sz="24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P(y=+1|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Lucida Sans Unicode" panose="020B0602030504020204"/>
                          <a:cs typeface="Lucida Sans Unicode" panose="020B0602030504020204"/>
                        </a:rPr>
                        <a:t>x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,</a:t>
                      </a:r>
                      <a:r>
                        <a:rPr sz="2400" spc="-10" dirty="0">
                          <a:solidFill>
                            <a:srgbClr val="118CC4"/>
                          </a:solidFill>
                          <a:latin typeface="Lucida Sans Unicode" panose="020B0602030504020204"/>
                          <a:cs typeface="Lucida Sans Unicode" panose="020B0602030504020204"/>
                        </a:rPr>
                        <a:t>w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)</a:t>
                      </a:r>
                      <a:endParaRPr sz="24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4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400" spc="-25" dirty="0">
                          <a:latin typeface="Calibri" panose="020F0502020204030204"/>
                          <a:cs typeface="Calibri" panose="020F0502020204030204"/>
                        </a:rPr>
                        <a:t>0.5</a:t>
                      </a:r>
                      <a:endParaRPr sz="24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r>
                        <a:rPr sz="2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400" spc="-20" dirty="0">
                          <a:latin typeface="Calibri" panose="020F0502020204030204"/>
                          <a:cs typeface="Calibri" panose="020F0502020204030204"/>
                        </a:rPr>
                        <a:t>0.12</a:t>
                      </a:r>
                      <a:endParaRPr sz="24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20" dirty="0">
                          <a:latin typeface="Calibri" panose="020F0502020204030204"/>
                          <a:cs typeface="Calibri" panose="020F0502020204030204"/>
                        </a:rPr>
                        <a:t>0.88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400" spc="-20" dirty="0">
                          <a:latin typeface="Calibri" panose="020F0502020204030204"/>
                          <a:cs typeface="Calibri" panose="020F0502020204030204"/>
                        </a:rPr>
                        <a:t>0.98</a:t>
                      </a:r>
                      <a:endParaRPr sz="24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757561" y="1100288"/>
                <a:ext cx="8667399" cy="8373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3200" i="1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accPr>
                      <m:e>
                        <m:r>
                          <a:rPr lang="en-US" altLang="zh-CN" sz="3200" i="1" spc="6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𝑃</m:t>
                        </m:r>
                      </m:e>
                    </m:acc>
                    <m:d>
                      <m:dPr>
                        <m:ctrlPr>
                          <a:rPr lang="en-US" altLang="zh-CN" sz="3200" b="0" i="1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200" b="0" i="0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y</m:t>
                        </m:r>
                        <m:r>
                          <a:rPr lang="en-US" altLang="zh-CN" sz="3200" b="0" i="0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=+</m:t>
                        </m:r>
                        <m:r>
                          <a:rPr lang="en-US" altLang="zh-CN" sz="3200" b="0" i="0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1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altLang="zh-CN" sz="3200" b="0" i="0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x</m:t>
                        </m:r>
                      </m:e>
                    </m:d>
                    <m:r>
                      <a:rPr lang="en-US" altLang="zh-CN" sz="32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</m:oMath>
                </a14:m>
                <a:r>
                  <a:rPr lang="en-US" altLang="zh-CN" sz="3200" spc="60" dirty="0">
                    <a:solidFill>
                      <a:srgbClr val="B0007E"/>
                    </a:solidFill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pc="60" smtClean="0">
                        <a:solidFill>
                          <a:srgbClr val="85BE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sigmoid</m:t>
                    </m:r>
                    <m:d>
                      <m:dPr>
                        <m:ctrlPr>
                          <a:rPr lang="en-US" altLang="zh-CN" sz="3200" b="0" i="1" spc="60" smtClean="0">
                            <a:solidFill>
                              <a:srgbClr val="85BE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200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3200" b="0" i="0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core</m:t>
                        </m:r>
                        <m:d>
                          <m:dPr>
                            <m:ctrlPr>
                              <a:rPr lang="en-US" altLang="zh-CN" sz="32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en-US" altLang="zh-CN" sz="3200" b="1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altLang="zh-CN" sz="3200" b="0" i="1" spc="6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f>
                      <m:fPr>
                        <m:ctrlPr>
                          <a:rPr lang="en-US" altLang="zh-CN" sz="3200" b="1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fPr>
                      <m:num>
                        <m:r>
                          <a:rPr lang="en-US" altLang="zh-CN" sz="3200" b="1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𝟏</m:t>
                        </m:r>
                        <m:r>
                          <a:rPr lang="en-US" altLang="zh-CN" sz="3200" b="1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pPr>
                          <m:e>
                            <m:r>
                              <a:rPr lang="en-US" altLang="zh-CN" sz="3200" b="1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b="1" i="1" spc="6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spc="60" smtClean="0">
                                    <a:solidFill>
                                      <a:srgbClr val="0099E8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3200" b="1" i="1" spc="6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  <m:t>⊺</m:t>
                                </m:r>
                              </m:sup>
                            </m:sSup>
                            <m:r>
                              <a:rPr lang="en-US" altLang="zh-CN" sz="3200" b="1" i="1" spc="6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𝝓</m:t>
                            </m:r>
                            <m:d>
                              <m:dPr>
                                <m:ctrlPr>
                                  <a:rPr lang="en-US" altLang="zh-CN" sz="3200" b="1" i="1" spc="6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1" i="1" spc="6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  <m:t>𝒙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en-SG" altLang="zh-CN" sz="32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561" y="1100288"/>
                <a:ext cx="8667399" cy="837345"/>
              </a:xfrm>
              <a:prstGeom prst="rect">
                <a:avLst/>
              </a:prstGeom>
              <a:blipFill rotWithShape="1">
                <a:blip r:embed="rId2"/>
                <a:stretch>
                  <a:fillRect l="-6" t="-56" r="2" b="-7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295650" y="6074556"/>
                <a:ext cx="1581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pPr>
                        <m:e>
                          <m: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b="1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⊺</m:t>
                          </m:r>
                        </m:sup>
                      </m:sSup>
                      <m:r>
                        <a:rPr lang="en-US" altLang="zh-CN" sz="2400" b="1" i="1" spc="6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𝝓</m:t>
                      </m:r>
                      <m:d>
                        <m:dPr>
                          <m:ctrlPr>
                            <a:rPr lang="en-US" altLang="zh-CN" sz="24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4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650" y="6074556"/>
                <a:ext cx="1581150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32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 rot="16200000">
                <a:off x="-317672" y="4371644"/>
                <a:ext cx="2957176" cy="822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fPr>
                        <m:num>
                          <m:r>
                            <a:rPr lang="en-US" altLang="zh-CN" sz="24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𝟏</m:t>
                          </m:r>
                          <m:r>
                            <a:rPr lang="en-US" altLang="zh-CN" sz="24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b="1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2400" b="1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1" i="1" spc="6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pc="60" smtClean="0">
                                      <a:solidFill>
                                        <a:srgbClr val="0099E8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400" b="1" i="1" spc="6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/>
                                    </a:rPr>
                                    <m:t>⊺</m:t>
                                  </m:r>
                                </m:sup>
                              </m:sSup>
                              <m:r>
                                <a:rPr lang="en-US" altLang="zh-CN" sz="2400" b="1" i="1" spc="6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  <m:t>𝝓</m:t>
                              </m:r>
                              <m:d>
                                <m:dPr>
                                  <m:ctrlPr>
                                    <a:rPr lang="en-US" altLang="zh-CN" sz="2400" b="1" i="1" spc="6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pc="6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/>
                                    </a:rPr>
                                    <m:t>𝒙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SG" altLang="zh-CN" sz="24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17672" y="4371644"/>
                <a:ext cx="2957176" cy="822405"/>
              </a:xfrm>
              <a:prstGeom prst="rect">
                <a:avLst/>
              </a:prstGeom>
              <a:blipFill rotWithShape="1">
                <a:blip r:embed="rId4"/>
                <a:stretch>
                  <a:fillRect l="36081" t="-129831" r="36111" b="-129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逻辑回归：线性决策边界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84517" y="2007116"/>
            <a:ext cx="4669457" cy="31339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8496300" y="5141106"/>
                <a:ext cx="1581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pPr>
                        <m:e>
                          <m: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b="1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⊺</m:t>
                          </m:r>
                        </m:sup>
                      </m:sSup>
                      <m:r>
                        <a:rPr lang="en-US" altLang="zh-CN" sz="2400" b="1" i="1" spc="6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𝝓</m:t>
                      </m:r>
                      <m:d>
                        <m:dPr>
                          <m:ctrlPr>
                            <a:rPr lang="en-US" altLang="zh-CN" sz="24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4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1106"/>
                <a:ext cx="1581150" cy="461665"/>
              </a:xfrm>
              <a:prstGeom prst="rect">
                <a:avLst/>
              </a:prstGeom>
              <a:blipFill rotWithShape="1">
                <a:blip r:embed="rId2"/>
                <a:stretch>
                  <a:fillRect t="-32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 rot="16200000">
                <a:off x="4882978" y="3438194"/>
                <a:ext cx="2957176" cy="822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fPr>
                        <m:num>
                          <m:r>
                            <a:rPr lang="en-US" altLang="zh-CN" sz="24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𝟏</m:t>
                          </m:r>
                          <m:r>
                            <a:rPr lang="en-US" altLang="zh-CN" sz="24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b="1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2400" b="1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1" i="1" spc="6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pc="60" smtClean="0">
                                      <a:solidFill>
                                        <a:srgbClr val="0099E8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400" b="1" i="1" spc="6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/>
                                    </a:rPr>
                                    <m:t>⊺</m:t>
                                  </m:r>
                                </m:sup>
                              </m:sSup>
                              <m:r>
                                <a:rPr lang="en-US" altLang="zh-CN" sz="2400" b="1" i="1" spc="6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  <m:t>𝝓</m:t>
                              </m:r>
                              <m:d>
                                <m:dPr>
                                  <m:ctrlPr>
                                    <a:rPr lang="en-US" altLang="zh-CN" sz="2400" b="1" i="1" spc="6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pc="6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/>
                                    </a:rPr>
                                    <m:t>𝒙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SG" altLang="zh-CN" sz="24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882978" y="3438194"/>
                <a:ext cx="2957176" cy="822405"/>
              </a:xfrm>
              <a:prstGeom prst="rect">
                <a:avLst/>
              </a:prstGeom>
              <a:blipFill rotWithShape="1">
                <a:blip r:embed="rId3"/>
                <a:stretch>
                  <a:fillRect l="36081" t="-129831" r="36111" b="-129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348571" y="2136555"/>
            <a:ext cx="5059422" cy="3235383"/>
            <a:chOff x="1341813" y="3319453"/>
            <a:chExt cx="5059422" cy="3235383"/>
          </a:xfrm>
        </p:grpSpPr>
        <p:grpSp>
          <p:nvGrpSpPr>
            <p:cNvPr id="44" name="object 3"/>
            <p:cNvGrpSpPr/>
            <p:nvPr/>
          </p:nvGrpSpPr>
          <p:grpSpPr>
            <a:xfrm>
              <a:off x="1560070" y="3319453"/>
              <a:ext cx="4023245" cy="3108268"/>
              <a:chOff x="2026634" y="2763204"/>
              <a:chExt cx="4436745" cy="3427729"/>
            </a:xfrm>
          </p:grpSpPr>
          <p:pic>
            <p:nvPicPr>
              <p:cNvPr id="98" name="object 4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114125" y="5686443"/>
                <a:ext cx="4348833" cy="504361"/>
              </a:xfrm>
              <a:prstGeom prst="rect">
                <a:avLst/>
              </a:prstGeom>
            </p:spPr>
          </p:pic>
          <p:sp>
            <p:nvSpPr>
              <p:cNvPr id="99" name="object 5"/>
              <p:cNvSpPr/>
              <p:nvPr/>
            </p:nvSpPr>
            <p:spPr>
              <a:xfrm>
                <a:off x="2149147" y="5814360"/>
                <a:ext cx="4060825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4060825" h="217170">
                    <a:moveTo>
                      <a:pt x="3964532" y="108376"/>
                    </a:moveTo>
                    <a:lnTo>
                      <a:pt x="3855510" y="171967"/>
                    </a:lnTo>
                    <a:lnTo>
                      <a:pt x="3848340" y="178335"/>
                    </a:lnTo>
                    <a:lnTo>
                      <a:pt x="3844310" y="186665"/>
                    </a:lnTo>
                    <a:lnTo>
                      <a:pt x="3843706" y="195893"/>
                    </a:lnTo>
                    <a:lnTo>
                      <a:pt x="3846813" y="204956"/>
                    </a:lnTo>
                    <a:lnTo>
                      <a:pt x="3853169" y="212116"/>
                    </a:lnTo>
                    <a:lnTo>
                      <a:pt x="3861493" y="216135"/>
                    </a:lnTo>
                    <a:lnTo>
                      <a:pt x="3870725" y="216735"/>
                    </a:lnTo>
                    <a:lnTo>
                      <a:pt x="3879802" y="213638"/>
                    </a:lnTo>
                    <a:lnTo>
                      <a:pt x="4018882" y="132503"/>
                    </a:lnTo>
                    <a:lnTo>
                      <a:pt x="4012377" y="132503"/>
                    </a:lnTo>
                    <a:lnTo>
                      <a:pt x="4012377" y="129204"/>
                    </a:lnTo>
                    <a:lnTo>
                      <a:pt x="4000231" y="129204"/>
                    </a:lnTo>
                    <a:lnTo>
                      <a:pt x="3964532" y="108376"/>
                    </a:lnTo>
                    <a:close/>
                  </a:path>
                  <a:path w="4060825" h="217170">
                    <a:moveTo>
                      <a:pt x="3923187" y="84254"/>
                    </a:moveTo>
                    <a:lnTo>
                      <a:pt x="0" y="84254"/>
                    </a:lnTo>
                    <a:lnTo>
                      <a:pt x="0" y="132503"/>
                    </a:lnTo>
                    <a:lnTo>
                      <a:pt x="3923147" y="132503"/>
                    </a:lnTo>
                    <a:lnTo>
                      <a:pt x="3964499" y="108376"/>
                    </a:lnTo>
                    <a:lnTo>
                      <a:pt x="3923187" y="84254"/>
                    </a:lnTo>
                    <a:close/>
                  </a:path>
                  <a:path w="4060825" h="217170">
                    <a:moveTo>
                      <a:pt x="4018899" y="84254"/>
                    </a:moveTo>
                    <a:lnTo>
                      <a:pt x="4012377" y="84254"/>
                    </a:lnTo>
                    <a:lnTo>
                      <a:pt x="4012377" y="132503"/>
                    </a:lnTo>
                    <a:lnTo>
                      <a:pt x="4018882" y="132503"/>
                    </a:lnTo>
                    <a:lnTo>
                      <a:pt x="4060240" y="108376"/>
                    </a:lnTo>
                    <a:lnTo>
                      <a:pt x="4018899" y="84254"/>
                    </a:lnTo>
                    <a:close/>
                  </a:path>
                  <a:path w="4060825" h="217170">
                    <a:moveTo>
                      <a:pt x="4000231" y="87527"/>
                    </a:moveTo>
                    <a:lnTo>
                      <a:pt x="3964532" y="108376"/>
                    </a:lnTo>
                    <a:lnTo>
                      <a:pt x="4000231" y="129204"/>
                    </a:lnTo>
                    <a:lnTo>
                      <a:pt x="4000231" y="87527"/>
                    </a:lnTo>
                    <a:close/>
                  </a:path>
                  <a:path w="4060825" h="217170">
                    <a:moveTo>
                      <a:pt x="4012377" y="87527"/>
                    </a:moveTo>
                    <a:lnTo>
                      <a:pt x="4000231" y="87527"/>
                    </a:lnTo>
                    <a:lnTo>
                      <a:pt x="4000231" y="129204"/>
                    </a:lnTo>
                    <a:lnTo>
                      <a:pt x="4012377" y="129204"/>
                    </a:lnTo>
                    <a:lnTo>
                      <a:pt x="4012377" y="87527"/>
                    </a:lnTo>
                    <a:close/>
                  </a:path>
                  <a:path w="4060825" h="217170">
                    <a:moveTo>
                      <a:pt x="3870725" y="0"/>
                    </a:moveTo>
                    <a:lnTo>
                      <a:pt x="3861493" y="605"/>
                    </a:lnTo>
                    <a:lnTo>
                      <a:pt x="3853169" y="4626"/>
                    </a:lnTo>
                    <a:lnTo>
                      <a:pt x="3846813" y="11780"/>
                    </a:lnTo>
                    <a:lnTo>
                      <a:pt x="3843706" y="20841"/>
                    </a:lnTo>
                    <a:lnTo>
                      <a:pt x="3844310" y="30068"/>
                    </a:lnTo>
                    <a:lnTo>
                      <a:pt x="3848340" y="38399"/>
                    </a:lnTo>
                    <a:lnTo>
                      <a:pt x="3855510" y="44770"/>
                    </a:lnTo>
                    <a:lnTo>
                      <a:pt x="3964532" y="108376"/>
                    </a:lnTo>
                    <a:lnTo>
                      <a:pt x="4000231" y="87527"/>
                    </a:lnTo>
                    <a:lnTo>
                      <a:pt x="4012377" y="87527"/>
                    </a:lnTo>
                    <a:lnTo>
                      <a:pt x="4012377" y="84254"/>
                    </a:lnTo>
                    <a:lnTo>
                      <a:pt x="4018899" y="84254"/>
                    </a:lnTo>
                    <a:lnTo>
                      <a:pt x="3879802" y="3093"/>
                    </a:lnTo>
                    <a:lnTo>
                      <a:pt x="3870725" y="0"/>
                    </a:lnTo>
                    <a:close/>
                  </a:path>
                </a:pathLst>
              </a:custGeom>
              <a:solidFill>
                <a:srgbClr val="B0007E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pic>
            <p:nvPicPr>
              <p:cNvPr id="100" name="object 6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026634" y="2763204"/>
                <a:ext cx="504361" cy="3340109"/>
              </a:xfrm>
              <a:prstGeom prst="rect">
                <a:avLst/>
              </a:prstGeom>
            </p:spPr>
          </p:pic>
          <p:sp>
            <p:nvSpPr>
              <p:cNvPr id="101" name="object 7"/>
              <p:cNvSpPr/>
              <p:nvPr/>
            </p:nvSpPr>
            <p:spPr>
              <a:xfrm>
                <a:off x="2169452" y="2995297"/>
                <a:ext cx="217170" cy="3056255"/>
              </a:xfrm>
              <a:custGeom>
                <a:avLst/>
                <a:gdLst/>
                <a:ahLst/>
                <a:cxnLst/>
                <a:rect l="l" t="t" r="r" b="b"/>
                <a:pathLst>
                  <a:path w="217169" h="3056254">
                    <a:moveTo>
                      <a:pt x="108366" y="95772"/>
                    </a:moveTo>
                    <a:lnTo>
                      <a:pt x="84231" y="137140"/>
                    </a:lnTo>
                    <a:lnTo>
                      <a:pt x="84231" y="3056082"/>
                    </a:lnTo>
                    <a:lnTo>
                      <a:pt x="132480" y="3056082"/>
                    </a:lnTo>
                    <a:lnTo>
                      <a:pt x="132480" y="137140"/>
                    </a:lnTo>
                    <a:lnTo>
                      <a:pt x="108366" y="95772"/>
                    </a:lnTo>
                    <a:close/>
                  </a:path>
                  <a:path w="217169" h="3056254">
                    <a:moveTo>
                      <a:pt x="108358" y="0"/>
                    </a:moveTo>
                    <a:lnTo>
                      <a:pt x="3096" y="180489"/>
                    </a:lnTo>
                    <a:lnTo>
                      <a:pt x="0" y="189544"/>
                    </a:lnTo>
                    <a:lnTo>
                      <a:pt x="599" y="198778"/>
                    </a:lnTo>
                    <a:lnTo>
                      <a:pt x="4618" y="207115"/>
                    </a:lnTo>
                    <a:lnTo>
                      <a:pt x="11778" y="213478"/>
                    </a:lnTo>
                    <a:lnTo>
                      <a:pt x="20840" y="216563"/>
                    </a:lnTo>
                    <a:lnTo>
                      <a:pt x="30068" y="215962"/>
                    </a:lnTo>
                    <a:lnTo>
                      <a:pt x="38399" y="211944"/>
                    </a:lnTo>
                    <a:lnTo>
                      <a:pt x="44768" y="204781"/>
                    </a:lnTo>
                    <a:lnTo>
                      <a:pt x="84231" y="137140"/>
                    </a:lnTo>
                    <a:lnTo>
                      <a:pt x="84231" y="47862"/>
                    </a:lnTo>
                    <a:lnTo>
                      <a:pt x="136278" y="47862"/>
                    </a:lnTo>
                    <a:lnTo>
                      <a:pt x="108358" y="0"/>
                    </a:lnTo>
                    <a:close/>
                  </a:path>
                  <a:path w="217169" h="3056254">
                    <a:moveTo>
                      <a:pt x="136278" y="47862"/>
                    </a:moveTo>
                    <a:lnTo>
                      <a:pt x="132480" y="47862"/>
                    </a:lnTo>
                    <a:lnTo>
                      <a:pt x="132501" y="137140"/>
                    </a:lnTo>
                    <a:lnTo>
                      <a:pt x="171965" y="204781"/>
                    </a:lnTo>
                    <a:lnTo>
                      <a:pt x="178336" y="211944"/>
                    </a:lnTo>
                    <a:lnTo>
                      <a:pt x="186666" y="215962"/>
                    </a:lnTo>
                    <a:lnTo>
                      <a:pt x="195893" y="216563"/>
                    </a:lnTo>
                    <a:lnTo>
                      <a:pt x="204954" y="213478"/>
                    </a:lnTo>
                    <a:lnTo>
                      <a:pt x="212116" y="207115"/>
                    </a:lnTo>
                    <a:lnTo>
                      <a:pt x="216135" y="198778"/>
                    </a:lnTo>
                    <a:lnTo>
                      <a:pt x="216736" y="189544"/>
                    </a:lnTo>
                    <a:lnTo>
                      <a:pt x="213641" y="180489"/>
                    </a:lnTo>
                    <a:lnTo>
                      <a:pt x="136278" y="47862"/>
                    </a:lnTo>
                    <a:close/>
                  </a:path>
                  <a:path w="217169" h="3056254">
                    <a:moveTo>
                      <a:pt x="132480" y="47862"/>
                    </a:moveTo>
                    <a:lnTo>
                      <a:pt x="84231" y="47862"/>
                    </a:lnTo>
                    <a:lnTo>
                      <a:pt x="84231" y="137140"/>
                    </a:lnTo>
                    <a:lnTo>
                      <a:pt x="108366" y="95772"/>
                    </a:lnTo>
                    <a:lnTo>
                      <a:pt x="87530" y="60060"/>
                    </a:lnTo>
                    <a:lnTo>
                      <a:pt x="132480" y="60060"/>
                    </a:lnTo>
                    <a:lnTo>
                      <a:pt x="132480" y="47862"/>
                    </a:lnTo>
                    <a:close/>
                  </a:path>
                  <a:path w="217169" h="3056254">
                    <a:moveTo>
                      <a:pt x="132480" y="60060"/>
                    </a:moveTo>
                    <a:lnTo>
                      <a:pt x="129202" y="60060"/>
                    </a:lnTo>
                    <a:lnTo>
                      <a:pt x="108366" y="95772"/>
                    </a:lnTo>
                    <a:lnTo>
                      <a:pt x="132501" y="137140"/>
                    </a:lnTo>
                    <a:lnTo>
                      <a:pt x="132480" y="60060"/>
                    </a:lnTo>
                    <a:close/>
                  </a:path>
                  <a:path w="217169" h="3056254">
                    <a:moveTo>
                      <a:pt x="129202" y="60060"/>
                    </a:moveTo>
                    <a:lnTo>
                      <a:pt x="87530" y="60060"/>
                    </a:lnTo>
                    <a:lnTo>
                      <a:pt x="108366" y="95772"/>
                    </a:lnTo>
                    <a:lnTo>
                      <a:pt x="129202" y="60060"/>
                    </a:lnTo>
                    <a:close/>
                  </a:path>
                </a:pathLst>
              </a:custGeom>
              <a:solidFill>
                <a:srgbClr val="B0007E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</p:grpSp>
        <p:sp>
          <p:nvSpPr>
            <p:cNvPr id="45" name="object 8"/>
            <p:cNvSpPr txBox="1"/>
            <p:nvPr/>
          </p:nvSpPr>
          <p:spPr>
            <a:xfrm>
              <a:off x="1594498" y="5895729"/>
              <a:ext cx="132438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50" dirty="0">
                  <a:latin typeface="Arial" panose="020B0604020202020204"/>
                  <a:cs typeface="Arial" panose="020B0604020202020204"/>
                </a:rPr>
                <a:t>0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6" name="object 9"/>
            <p:cNvSpPr txBox="1"/>
            <p:nvPr/>
          </p:nvSpPr>
          <p:spPr>
            <a:xfrm>
              <a:off x="1622590" y="5522377"/>
              <a:ext cx="104799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-77" dirty="0">
                  <a:latin typeface="Arial" panose="020B0604020202020204"/>
                  <a:cs typeface="Arial" panose="020B0604020202020204"/>
                </a:rPr>
                <a:t>1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7" name="object 10"/>
            <p:cNvSpPr txBox="1"/>
            <p:nvPr/>
          </p:nvSpPr>
          <p:spPr>
            <a:xfrm>
              <a:off x="1605089" y="5153692"/>
              <a:ext cx="122074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-45" dirty="0">
                  <a:latin typeface="Arial" panose="020B0604020202020204"/>
                  <a:cs typeface="Arial" panose="020B0604020202020204"/>
                </a:rPr>
                <a:t>2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" name="object 11"/>
            <p:cNvSpPr txBox="1"/>
            <p:nvPr/>
          </p:nvSpPr>
          <p:spPr>
            <a:xfrm>
              <a:off x="1605636" y="4780340"/>
              <a:ext cx="121498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-45" dirty="0">
                  <a:latin typeface="Arial" panose="020B0604020202020204"/>
                  <a:cs typeface="Arial" panose="020B0604020202020204"/>
                </a:rPr>
                <a:t>3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9" name="object 12"/>
            <p:cNvSpPr txBox="1"/>
            <p:nvPr/>
          </p:nvSpPr>
          <p:spPr>
            <a:xfrm>
              <a:off x="1594497" y="4406988"/>
              <a:ext cx="127832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14" dirty="0">
                  <a:latin typeface="Arial" panose="020B0604020202020204"/>
                  <a:cs typeface="Arial" panose="020B0604020202020204"/>
                </a:rPr>
                <a:t>4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" name="object 13"/>
            <p:cNvSpPr txBox="1"/>
            <p:nvPr/>
          </p:nvSpPr>
          <p:spPr>
            <a:xfrm>
              <a:off x="1573988" y="4038303"/>
              <a:ext cx="148561" cy="223243"/>
            </a:xfrm>
            <a:prstGeom prst="rect">
              <a:avLst/>
            </a:prstGeom>
          </p:spPr>
          <p:txBody>
            <a:bodyPr vert="horz" wrap="square" lIns="0" tIns="13820" rIns="0" bIns="0" rtlCol="0">
              <a:spAutoFit/>
            </a:bodyPr>
            <a:lstStyle/>
            <a:p>
              <a:pPr marL="11430">
                <a:spcBef>
                  <a:spcPts val="110"/>
                </a:spcBef>
              </a:pPr>
              <a:r>
                <a:rPr sz="1360" spc="-426" dirty="0">
                  <a:latin typeface="Arial" panose="020B0604020202020204"/>
                  <a:cs typeface="Arial" panose="020B0604020202020204"/>
                </a:rPr>
                <a:t>…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51" name="object 14"/>
            <p:cNvGrpSpPr/>
            <p:nvPr/>
          </p:nvGrpSpPr>
          <p:grpSpPr>
            <a:xfrm>
              <a:off x="1742079" y="3888812"/>
              <a:ext cx="3845893" cy="2375828"/>
              <a:chOff x="2227349" y="3391082"/>
              <a:chExt cx="4241165" cy="2620010"/>
            </a:xfrm>
          </p:grpSpPr>
          <p:pic>
            <p:nvPicPr>
              <p:cNvPr id="95" name="object 15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987760" y="5781966"/>
                <a:ext cx="206616" cy="206637"/>
              </a:xfrm>
              <a:prstGeom prst="rect">
                <a:avLst/>
              </a:prstGeom>
            </p:spPr>
          </p:pic>
          <p:pic>
            <p:nvPicPr>
              <p:cNvPr id="96" name="object 16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27349" y="3391082"/>
                <a:ext cx="4240755" cy="2619592"/>
              </a:xfrm>
              <a:prstGeom prst="rect">
                <a:avLst/>
              </a:prstGeom>
            </p:spPr>
          </p:pic>
          <p:sp>
            <p:nvSpPr>
              <p:cNvPr id="97" name="object 17"/>
              <p:cNvSpPr/>
              <p:nvPr/>
            </p:nvSpPr>
            <p:spPr>
              <a:xfrm>
                <a:off x="2277811" y="3441143"/>
                <a:ext cx="4124325" cy="2484120"/>
              </a:xfrm>
              <a:custGeom>
                <a:avLst/>
                <a:gdLst/>
                <a:ahLst/>
                <a:cxnLst/>
                <a:rect l="l" t="t" r="r" b="b"/>
                <a:pathLst>
                  <a:path w="4124325" h="2484120">
                    <a:moveTo>
                      <a:pt x="0" y="2484068"/>
                    </a:moveTo>
                    <a:lnTo>
                      <a:pt x="4124263" y="0"/>
                    </a:lnTo>
                  </a:path>
                </a:pathLst>
              </a:custGeom>
              <a:ln w="64331">
                <a:solidFill>
                  <a:srgbClr val="5D5555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object 19"/>
                <p:cNvSpPr txBox="1"/>
                <p:nvPr/>
              </p:nvSpPr>
              <p:spPr>
                <a:xfrm>
                  <a:off x="4202932" y="5614011"/>
                  <a:ext cx="2198303" cy="448331"/>
                </a:xfrm>
                <a:prstGeom prst="rect">
                  <a:avLst/>
                </a:prstGeom>
                <a:solidFill>
                  <a:srgbClr val="118CC4"/>
                </a:solidFill>
                <a:ln w="21443">
                  <a:solidFill>
                    <a:srgbClr val="09658F"/>
                  </a:solidFill>
                </a:ln>
              </p:spPr>
              <p:txBody>
                <a:bodyPr vert="horz" wrap="square" lIns="0" tIns="17275" rIns="0" bIns="0" rtlCol="0">
                  <a:spAutoFit/>
                </a:bodyPr>
                <a:lstStyle/>
                <a:p>
                  <a:pPr marL="69850">
                    <a:spcBef>
                      <a:spcPts val="115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2800" b="0" i="0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core</m:t>
                        </m:r>
                        <m:d>
                          <m:dPr>
                            <m:ctrlPr>
                              <a:rPr lang="ar-AE" altLang="zh-CN" sz="2800" b="0" i="1" spc="6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ar-AE" altLang="zh-CN" sz="2800" b="1" i="1" spc="6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&gt;</m:t>
                        </m:r>
                        <m:r>
                          <a:rPr lang="ar-AE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0</m:t>
                        </m:r>
                      </m:oMath>
                    </m:oMathPara>
                  </a14:m>
                  <a:endParaRPr lang="ar-AE" sz="3200" dirty="0">
                    <a:solidFill>
                      <a:schemeClr val="bg1"/>
                    </a:solidFill>
                    <a:latin typeface="Arial" panose="020B0604020202020204"/>
                    <a:cs typeface="Arial" panose="020B0604020202020204"/>
                  </a:endParaRPr>
                </a:p>
              </p:txBody>
            </p:sp>
          </mc:Choice>
          <mc:Fallback>
            <p:sp>
              <p:nvSpPr>
                <p:cNvPr id="52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2932" y="5614011"/>
                  <a:ext cx="2198303" cy="448331"/>
                </a:xfrm>
                <a:prstGeom prst="rect">
                  <a:avLst/>
                </a:prstGeom>
                <a:blipFill rotWithShape="1">
                  <a:blip r:embed="rId8"/>
                </a:blipFill>
                <a:ln w="21443">
                  <a:solidFill>
                    <a:srgbClr val="09658F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" name="object 20"/>
            <p:cNvGrpSpPr/>
            <p:nvPr/>
          </p:nvGrpSpPr>
          <p:grpSpPr>
            <a:xfrm>
              <a:off x="1710879" y="4125102"/>
              <a:ext cx="2932069" cy="1731487"/>
              <a:chOff x="2192943" y="3651656"/>
              <a:chExt cx="3233420" cy="1909445"/>
            </a:xfrm>
          </p:grpSpPr>
          <p:pic>
            <p:nvPicPr>
              <p:cNvPr id="77" name="object 21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2841593" y="4434754"/>
                <a:ext cx="206616" cy="206637"/>
              </a:xfrm>
              <a:prstGeom prst="rect">
                <a:avLst/>
              </a:prstGeom>
            </p:spPr>
          </p:pic>
          <p:pic>
            <p:nvPicPr>
              <p:cNvPr id="78" name="object 22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044218" y="3664944"/>
                <a:ext cx="206616" cy="206616"/>
              </a:xfrm>
              <a:prstGeom prst="rect">
                <a:avLst/>
              </a:prstGeom>
            </p:spPr>
          </p:pic>
          <p:pic>
            <p:nvPicPr>
              <p:cNvPr id="79" name="object 23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2192943" y="3651656"/>
                <a:ext cx="206642" cy="206616"/>
              </a:xfrm>
              <a:prstGeom prst="rect">
                <a:avLst/>
              </a:prstGeom>
            </p:spPr>
          </p:pic>
          <p:pic>
            <p:nvPicPr>
              <p:cNvPr id="80" name="object 24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337468" y="3890389"/>
                <a:ext cx="206621" cy="206637"/>
              </a:xfrm>
              <a:prstGeom prst="rect">
                <a:avLst/>
              </a:prstGeom>
            </p:spPr>
          </p:pic>
          <p:pic>
            <p:nvPicPr>
              <p:cNvPr id="81" name="object 25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3357493" y="4434554"/>
                <a:ext cx="206616" cy="206616"/>
              </a:xfrm>
              <a:prstGeom prst="rect">
                <a:avLst/>
              </a:prstGeom>
            </p:spPr>
          </p:pic>
          <p:sp>
            <p:nvSpPr>
              <p:cNvPr id="82" name="object 26"/>
              <p:cNvSpPr/>
              <p:nvPr/>
            </p:nvSpPr>
            <p:spPr>
              <a:xfrm>
                <a:off x="3457914" y="5316751"/>
                <a:ext cx="185420" cy="185420"/>
              </a:xfrm>
              <a:custGeom>
                <a:avLst/>
                <a:gdLst/>
                <a:ahLst/>
                <a:cxnLst/>
                <a:rect l="l" t="t" r="r" b="b"/>
                <a:pathLst>
                  <a:path w="185420" h="185420">
                    <a:moveTo>
                      <a:pt x="92581" y="0"/>
                    </a:moveTo>
                    <a:lnTo>
                      <a:pt x="56546" y="7276"/>
                    </a:lnTo>
                    <a:lnTo>
                      <a:pt x="27118" y="27120"/>
                    </a:lnTo>
                    <a:lnTo>
                      <a:pt x="7276" y="56553"/>
                    </a:lnTo>
                    <a:lnTo>
                      <a:pt x="0" y="92596"/>
                    </a:lnTo>
                    <a:lnTo>
                      <a:pt x="7276" y="128633"/>
                    </a:lnTo>
                    <a:lnTo>
                      <a:pt x="27118" y="158067"/>
                    </a:lnTo>
                    <a:lnTo>
                      <a:pt x="56546" y="177914"/>
                    </a:lnTo>
                    <a:lnTo>
                      <a:pt x="92581" y="185193"/>
                    </a:lnTo>
                    <a:lnTo>
                      <a:pt x="128624" y="177914"/>
                    </a:lnTo>
                    <a:lnTo>
                      <a:pt x="158057" y="158067"/>
                    </a:lnTo>
                    <a:lnTo>
                      <a:pt x="177901" y="128633"/>
                    </a:lnTo>
                    <a:lnTo>
                      <a:pt x="185177" y="92596"/>
                    </a:lnTo>
                    <a:lnTo>
                      <a:pt x="177901" y="56553"/>
                    </a:lnTo>
                    <a:lnTo>
                      <a:pt x="158057" y="27120"/>
                    </a:lnTo>
                    <a:lnTo>
                      <a:pt x="128624" y="7276"/>
                    </a:lnTo>
                    <a:lnTo>
                      <a:pt x="92581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83" name="object 27"/>
              <p:cNvSpPr/>
              <p:nvPr/>
            </p:nvSpPr>
            <p:spPr>
              <a:xfrm>
                <a:off x="3457914" y="5316751"/>
                <a:ext cx="185420" cy="185420"/>
              </a:xfrm>
              <a:custGeom>
                <a:avLst/>
                <a:gdLst/>
                <a:ahLst/>
                <a:cxnLst/>
                <a:rect l="l" t="t" r="r" b="b"/>
                <a:pathLst>
                  <a:path w="185420" h="185420">
                    <a:moveTo>
                      <a:pt x="0" y="92596"/>
                    </a:moveTo>
                    <a:lnTo>
                      <a:pt x="7276" y="56553"/>
                    </a:lnTo>
                    <a:lnTo>
                      <a:pt x="27118" y="27120"/>
                    </a:lnTo>
                    <a:lnTo>
                      <a:pt x="56546" y="7276"/>
                    </a:lnTo>
                    <a:lnTo>
                      <a:pt x="92581" y="0"/>
                    </a:lnTo>
                    <a:lnTo>
                      <a:pt x="128624" y="7276"/>
                    </a:lnTo>
                    <a:lnTo>
                      <a:pt x="158057" y="27120"/>
                    </a:lnTo>
                    <a:lnTo>
                      <a:pt x="177901" y="56553"/>
                    </a:lnTo>
                    <a:lnTo>
                      <a:pt x="185177" y="92596"/>
                    </a:lnTo>
                    <a:lnTo>
                      <a:pt x="177901" y="128633"/>
                    </a:lnTo>
                    <a:lnTo>
                      <a:pt x="158057" y="158067"/>
                    </a:lnTo>
                    <a:lnTo>
                      <a:pt x="128624" y="177914"/>
                    </a:lnTo>
                    <a:lnTo>
                      <a:pt x="92581" y="185193"/>
                    </a:lnTo>
                    <a:lnTo>
                      <a:pt x="56546" y="177914"/>
                    </a:lnTo>
                    <a:lnTo>
                      <a:pt x="27118" y="158067"/>
                    </a:lnTo>
                    <a:lnTo>
                      <a:pt x="7276" y="128633"/>
                    </a:lnTo>
                    <a:lnTo>
                      <a:pt x="0" y="92596"/>
                    </a:lnTo>
                    <a:close/>
                  </a:path>
                </a:pathLst>
              </a:custGeom>
              <a:ln w="21443">
                <a:solidFill>
                  <a:srgbClr val="608A03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pic>
            <p:nvPicPr>
              <p:cNvPr id="84" name="object 28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4515642" y="5306029"/>
                <a:ext cx="206668" cy="206637"/>
              </a:xfrm>
              <a:prstGeom prst="rect">
                <a:avLst/>
              </a:prstGeom>
            </p:spPr>
          </p:pic>
          <p:pic>
            <p:nvPicPr>
              <p:cNvPr id="85" name="object 29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5167246" y="4895751"/>
                <a:ext cx="206616" cy="206642"/>
              </a:xfrm>
              <a:prstGeom prst="rect">
                <a:avLst/>
              </a:prstGeom>
            </p:spPr>
          </p:pic>
          <p:pic>
            <p:nvPicPr>
              <p:cNvPr id="86" name="object 30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4515642" y="4895751"/>
                <a:ext cx="206668" cy="206642"/>
              </a:xfrm>
              <a:prstGeom prst="rect">
                <a:avLst/>
              </a:prstGeom>
            </p:spPr>
          </p:pic>
          <p:sp>
            <p:nvSpPr>
              <p:cNvPr id="87" name="object 31"/>
              <p:cNvSpPr/>
              <p:nvPr/>
            </p:nvSpPr>
            <p:spPr>
              <a:xfrm>
                <a:off x="3412985" y="5258054"/>
                <a:ext cx="28130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100">
                    <a:moveTo>
                      <a:pt x="280809" y="113030"/>
                    </a:moveTo>
                    <a:lnTo>
                      <a:pt x="166725" y="113030"/>
                    </a:lnTo>
                    <a:lnTo>
                      <a:pt x="166725" y="0"/>
                    </a:lnTo>
                    <a:lnTo>
                      <a:pt x="114084" y="0"/>
                    </a:lnTo>
                    <a:lnTo>
                      <a:pt x="114084" y="113030"/>
                    </a:lnTo>
                    <a:lnTo>
                      <a:pt x="0" y="113030"/>
                    </a:lnTo>
                    <a:lnTo>
                      <a:pt x="0" y="177800"/>
                    </a:lnTo>
                    <a:lnTo>
                      <a:pt x="114084" y="177800"/>
                    </a:lnTo>
                    <a:lnTo>
                      <a:pt x="114084" y="292100"/>
                    </a:lnTo>
                    <a:lnTo>
                      <a:pt x="166725" y="292100"/>
                    </a:lnTo>
                    <a:lnTo>
                      <a:pt x="166725" y="177800"/>
                    </a:lnTo>
                    <a:lnTo>
                      <a:pt x="280809" y="177800"/>
                    </a:lnTo>
                    <a:lnTo>
                      <a:pt x="280809" y="113030"/>
                    </a:lnTo>
                    <a:close/>
                  </a:path>
                </a:pathLst>
              </a:custGeom>
              <a:solidFill>
                <a:srgbClr val="118CC4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88" name="object 32"/>
              <p:cNvSpPr/>
              <p:nvPr/>
            </p:nvSpPr>
            <p:spPr>
              <a:xfrm>
                <a:off x="3412985" y="5257447"/>
                <a:ext cx="28130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735">
                    <a:moveTo>
                      <a:pt x="0" y="114088"/>
                    </a:moveTo>
                    <a:lnTo>
                      <a:pt x="114088" y="114088"/>
                    </a:lnTo>
                    <a:lnTo>
                      <a:pt x="114088" y="0"/>
                    </a:lnTo>
                    <a:lnTo>
                      <a:pt x="166737" y="0"/>
                    </a:lnTo>
                    <a:lnTo>
                      <a:pt x="166737" y="114088"/>
                    </a:lnTo>
                    <a:lnTo>
                      <a:pt x="280811" y="114088"/>
                    </a:lnTo>
                    <a:lnTo>
                      <a:pt x="280811" y="178338"/>
                    </a:lnTo>
                    <a:lnTo>
                      <a:pt x="166737" y="178338"/>
                    </a:lnTo>
                    <a:lnTo>
                      <a:pt x="166737" y="292406"/>
                    </a:lnTo>
                    <a:lnTo>
                      <a:pt x="114088" y="292406"/>
                    </a:lnTo>
                    <a:lnTo>
                      <a:pt x="114088" y="178338"/>
                    </a:lnTo>
                    <a:lnTo>
                      <a:pt x="0" y="178338"/>
                    </a:lnTo>
                    <a:lnTo>
                      <a:pt x="0" y="114088"/>
                    </a:lnTo>
                    <a:close/>
                  </a:path>
                </a:pathLst>
              </a:custGeom>
              <a:ln w="21443">
                <a:solidFill>
                  <a:srgbClr val="09658F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89" name="object 33"/>
              <p:cNvSpPr/>
              <p:nvPr/>
            </p:nvSpPr>
            <p:spPr>
              <a:xfrm>
                <a:off x="5134572" y="4849114"/>
                <a:ext cx="28130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100">
                    <a:moveTo>
                      <a:pt x="280797" y="114300"/>
                    </a:moveTo>
                    <a:lnTo>
                      <a:pt x="166751" y="114300"/>
                    </a:lnTo>
                    <a:lnTo>
                      <a:pt x="166751" y="0"/>
                    </a:lnTo>
                    <a:lnTo>
                      <a:pt x="114109" y="0"/>
                    </a:lnTo>
                    <a:lnTo>
                      <a:pt x="114109" y="114300"/>
                    </a:lnTo>
                    <a:lnTo>
                      <a:pt x="0" y="114300"/>
                    </a:lnTo>
                    <a:lnTo>
                      <a:pt x="0" y="179070"/>
                    </a:lnTo>
                    <a:lnTo>
                      <a:pt x="114109" y="179070"/>
                    </a:lnTo>
                    <a:lnTo>
                      <a:pt x="114109" y="292100"/>
                    </a:lnTo>
                    <a:lnTo>
                      <a:pt x="166751" y="292100"/>
                    </a:lnTo>
                    <a:lnTo>
                      <a:pt x="166751" y="179070"/>
                    </a:lnTo>
                    <a:lnTo>
                      <a:pt x="280797" y="179070"/>
                    </a:lnTo>
                    <a:lnTo>
                      <a:pt x="280797" y="114300"/>
                    </a:lnTo>
                    <a:close/>
                  </a:path>
                </a:pathLst>
              </a:custGeom>
              <a:solidFill>
                <a:srgbClr val="118CC4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90" name="object 34"/>
              <p:cNvSpPr/>
              <p:nvPr/>
            </p:nvSpPr>
            <p:spPr>
              <a:xfrm>
                <a:off x="5134583" y="4849321"/>
                <a:ext cx="28130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735">
                    <a:moveTo>
                      <a:pt x="0" y="114068"/>
                    </a:moveTo>
                    <a:lnTo>
                      <a:pt x="114098" y="114068"/>
                    </a:lnTo>
                    <a:lnTo>
                      <a:pt x="114098" y="0"/>
                    </a:lnTo>
                    <a:lnTo>
                      <a:pt x="166748" y="0"/>
                    </a:lnTo>
                    <a:lnTo>
                      <a:pt x="166748" y="114068"/>
                    </a:lnTo>
                    <a:lnTo>
                      <a:pt x="280795" y="114068"/>
                    </a:lnTo>
                    <a:lnTo>
                      <a:pt x="280795" y="178317"/>
                    </a:lnTo>
                    <a:lnTo>
                      <a:pt x="166748" y="178317"/>
                    </a:lnTo>
                    <a:lnTo>
                      <a:pt x="166748" y="292406"/>
                    </a:lnTo>
                    <a:lnTo>
                      <a:pt x="114098" y="292406"/>
                    </a:lnTo>
                    <a:lnTo>
                      <a:pt x="114098" y="178317"/>
                    </a:lnTo>
                    <a:lnTo>
                      <a:pt x="0" y="178317"/>
                    </a:lnTo>
                    <a:lnTo>
                      <a:pt x="0" y="114068"/>
                    </a:lnTo>
                    <a:close/>
                  </a:path>
                </a:pathLst>
              </a:custGeom>
              <a:ln w="21443">
                <a:solidFill>
                  <a:srgbClr val="09658F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91" name="object 35"/>
              <p:cNvSpPr/>
              <p:nvPr/>
            </p:nvSpPr>
            <p:spPr>
              <a:xfrm>
                <a:off x="4483595" y="4861814"/>
                <a:ext cx="28130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100">
                    <a:moveTo>
                      <a:pt x="280784" y="114300"/>
                    </a:moveTo>
                    <a:lnTo>
                      <a:pt x="166687" y="114300"/>
                    </a:lnTo>
                    <a:lnTo>
                      <a:pt x="166687" y="0"/>
                    </a:lnTo>
                    <a:lnTo>
                      <a:pt x="114046" y="0"/>
                    </a:lnTo>
                    <a:lnTo>
                      <a:pt x="114046" y="114300"/>
                    </a:lnTo>
                    <a:lnTo>
                      <a:pt x="0" y="114300"/>
                    </a:lnTo>
                    <a:lnTo>
                      <a:pt x="0" y="177800"/>
                    </a:lnTo>
                    <a:lnTo>
                      <a:pt x="114046" y="177800"/>
                    </a:lnTo>
                    <a:lnTo>
                      <a:pt x="114046" y="292100"/>
                    </a:lnTo>
                    <a:lnTo>
                      <a:pt x="166687" y="292100"/>
                    </a:lnTo>
                    <a:lnTo>
                      <a:pt x="166687" y="177800"/>
                    </a:lnTo>
                    <a:lnTo>
                      <a:pt x="280784" y="177800"/>
                    </a:lnTo>
                    <a:lnTo>
                      <a:pt x="280784" y="114300"/>
                    </a:lnTo>
                    <a:close/>
                  </a:path>
                </a:pathLst>
              </a:custGeom>
              <a:solidFill>
                <a:srgbClr val="118CC4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92" name="object 36"/>
              <p:cNvSpPr/>
              <p:nvPr/>
            </p:nvSpPr>
            <p:spPr>
              <a:xfrm>
                <a:off x="4483596" y="4861585"/>
                <a:ext cx="28130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735">
                    <a:moveTo>
                      <a:pt x="0" y="114068"/>
                    </a:moveTo>
                    <a:lnTo>
                      <a:pt x="114047" y="114068"/>
                    </a:lnTo>
                    <a:lnTo>
                      <a:pt x="114047" y="0"/>
                    </a:lnTo>
                    <a:lnTo>
                      <a:pt x="166696" y="0"/>
                    </a:lnTo>
                    <a:lnTo>
                      <a:pt x="166696" y="114068"/>
                    </a:lnTo>
                    <a:lnTo>
                      <a:pt x="280795" y="114068"/>
                    </a:lnTo>
                    <a:lnTo>
                      <a:pt x="280795" y="178317"/>
                    </a:lnTo>
                    <a:lnTo>
                      <a:pt x="166696" y="178317"/>
                    </a:lnTo>
                    <a:lnTo>
                      <a:pt x="166696" y="292406"/>
                    </a:lnTo>
                    <a:lnTo>
                      <a:pt x="114047" y="292406"/>
                    </a:lnTo>
                    <a:lnTo>
                      <a:pt x="114047" y="178317"/>
                    </a:lnTo>
                    <a:lnTo>
                      <a:pt x="0" y="178317"/>
                    </a:lnTo>
                    <a:lnTo>
                      <a:pt x="0" y="114068"/>
                    </a:lnTo>
                    <a:close/>
                  </a:path>
                </a:pathLst>
              </a:custGeom>
              <a:ln w="21443">
                <a:solidFill>
                  <a:srgbClr val="09658F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93" name="object 37"/>
              <p:cNvSpPr/>
              <p:nvPr/>
            </p:nvSpPr>
            <p:spPr>
              <a:xfrm>
                <a:off x="4471543" y="5258054"/>
                <a:ext cx="281305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100">
                    <a:moveTo>
                      <a:pt x="280797" y="113030"/>
                    </a:moveTo>
                    <a:lnTo>
                      <a:pt x="166700" y="113030"/>
                    </a:lnTo>
                    <a:lnTo>
                      <a:pt x="166700" y="0"/>
                    </a:lnTo>
                    <a:lnTo>
                      <a:pt x="114046" y="0"/>
                    </a:lnTo>
                    <a:lnTo>
                      <a:pt x="114046" y="113030"/>
                    </a:lnTo>
                    <a:lnTo>
                      <a:pt x="0" y="113030"/>
                    </a:lnTo>
                    <a:lnTo>
                      <a:pt x="0" y="177800"/>
                    </a:lnTo>
                    <a:lnTo>
                      <a:pt x="114046" y="177800"/>
                    </a:lnTo>
                    <a:lnTo>
                      <a:pt x="114046" y="292100"/>
                    </a:lnTo>
                    <a:lnTo>
                      <a:pt x="166700" y="292100"/>
                    </a:lnTo>
                    <a:lnTo>
                      <a:pt x="166700" y="177800"/>
                    </a:lnTo>
                    <a:lnTo>
                      <a:pt x="280797" y="177800"/>
                    </a:lnTo>
                    <a:lnTo>
                      <a:pt x="280797" y="113030"/>
                    </a:lnTo>
                    <a:close/>
                  </a:path>
                </a:pathLst>
              </a:custGeom>
              <a:solidFill>
                <a:srgbClr val="118CC4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94" name="object 38"/>
              <p:cNvSpPr/>
              <p:nvPr/>
            </p:nvSpPr>
            <p:spPr>
              <a:xfrm>
                <a:off x="4471553" y="5257447"/>
                <a:ext cx="28130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735">
                    <a:moveTo>
                      <a:pt x="0" y="114088"/>
                    </a:moveTo>
                    <a:lnTo>
                      <a:pt x="114047" y="114088"/>
                    </a:lnTo>
                    <a:lnTo>
                      <a:pt x="114047" y="0"/>
                    </a:lnTo>
                    <a:lnTo>
                      <a:pt x="166696" y="0"/>
                    </a:lnTo>
                    <a:lnTo>
                      <a:pt x="166696" y="114088"/>
                    </a:lnTo>
                    <a:lnTo>
                      <a:pt x="280795" y="114088"/>
                    </a:lnTo>
                    <a:lnTo>
                      <a:pt x="280795" y="178338"/>
                    </a:lnTo>
                    <a:lnTo>
                      <a:pt x="166696" y="178338"/>
                    </a:lnTo>
                    <a:lnTo>
                      <a:pt x="166696" y="292406"/>
                    </a:lnTo>
                    <a:lnTo>
                      <a:pt x="114047" y="292406"/>
                    </a:lnTo>
                    <a:lnTo>
                      <a:pt x="114047" y="178338"/>
                    </a:lnTo>
                    <a:lnTo>
                      <a:pt x="0" y="178338"/>
                    </a:lnTo>
                    <a:lnTo>
                      <a:pt x="0" y="114088"/>
                    </a:lnTo>
                    <a:close/>
                  </a:path>
                </a:pathLst>
              </a:custGeom>
              <a:ln w="21443">
                <a:solidFill>
                  <a:srgbClr val="09658F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object 39"/>
                <p:cNvSpPr txBox="1"/>
                <p:nvPr/>
              </p:nvSpPr>
              <p:spPr>
                <a:xfrm>
                  <a:off x="2004629" y="3581705"/>
                  <a:ext cx="2198303" cy="445423"/>
                </a:xfrm>
                <a:prstGeom prst="rect">
                  <a:avLst/>
                </a:prstGeom>
                <a:solidFill>
                  <a:srgbClr val="FC5507"/>
                </a:solidFill>
                <a:ln w="21443">
                  <a:solidFill>
                    <a:srgbClr val="B93C03"/>
                  </a:solidFill>
                </a:ln>
              </p:spPr>
              <p:txBody>
                <a:bodyPr vert="horz" wrap="square" lIns="0" tIns="14395" rIns="0" bIns="0" rtlCol="0">
                  <a:spAutoFit/>
                </a:bodyPr>
                <a:lstStyle/>
                <a:p>
                  <a:pPr marL="69850">
                    <a:spcBef>
                      <a:spcPts val="115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2800" b="0" i="0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core</m:t>
                        </m:r>
                        <m:d>
                          <m:dPr>
                            <m:ctrlPr>
                              <a:rPr lang="ar-AE" altLang="zh-CN" sz="2800" b="0" i="1" spc="6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ar-AE" altLang="zh-CN" sz="2800" b="1" i="1" spc="6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𝒙</m:t>
                            </m:r>
                          </m:e>
                        </m:d>
                        <m:r>
                          <a:rPr lang="ar-AE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&lt;</m:t>
                        </m:r>
                        <m:r>
                          <a:rPr lang="ar-AE" altLang="zh-CN" sz="2800" b="0" i="1" spc="6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0</m:t>
                        </m:r>
                      </m:oMath>
                    </m:oMathPara>
                  </a14:m>
                  <a:endParaRPr lang="ar-AE" sz="2800" dirty="0">
                    <a:solidFill>
                      <a:schemeClr val="bg1"/>
                    </a:solidFill>
                    <a:latin typeface="Arial" panose="020B0604020202020204"/>
                    <a:cs typeface="Arial" panose="020B0604020202020204"/>
                  </a:endParaRPr>
                </a:p>
              </p:txBody>
            </p:sp>
          </mc:Choice>
          <mc:Fallback>
            <p:sp>
              <p:nvSpPr>
                <p:cNvPr id="54" name="object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4629" y="3581705"/>
                  <a:ext cx="2198303" cy="445423"/>
                </a:xfrm>
                <a:prstGeom prst="rect">
                  <a:avLst/>
                </a:prstGeom>
                <a:blipFill rotWithShape="1">
                  <a:blip r:embed="rId17"/>
                </a:blipFill>
                <a:ln w="21443">
                  <a:solidFill>
                    <a:srgbClr val="B93C03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" name="object 40"/>
            <p:cNvGrpSpPr/>
            <p:nvPr/>
          </p:nvGrpSpPr>
          <p:grpSpPr>
            <a:xfrm>
              <a:off x="1680345" y="4174652"/>
              <a:ext cx="1931872" cy="2105769"/>
              <a:chOff x="2159271" y="3706299"/>
              <a:chExt cx="2130425" cy="2322195"/>
            </a:xfrm>
          </p:grpSpPr>
          <p:sp>
            <p:nvSpPr>
              <p:cNvPr id="65" name="object 41"/>
              <p:cNvSpPr/>
              <p:nvPr/>
            </p:nvSpPr>
            <p:spPr>
              <a:xfrm>
                <a:off x="2812506" y="4493664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266635" y="0"/>
                    </a:moveTo>
                    <a:lnTo>
                      <a:pt x="0" y="0"/>
                    </a:lnTo>
                    <a:lnTo>
                      <a:pt x="0" y="101463"/>
                    </a:lnTo>
                    <a:lnTo>
                      <a:pt x="266635" y="101463"/>
                    </a:lnTo>
                    <a:lnTo>
                      <a:pt x="26663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66" name="object 42"/>
              <p:cNvSpPr/>
              <p:nvPr/>
            </p:nvSpPr>
            <p:spPr>
              <a:xfrm>
                <a:off x="2812506" y="4493664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0" y="101463"/>
                    </a:moveTo>
                    <a:lnTo>
                      <a:pt x="266635" y="101463"/>
                    </a:lnTo>
                    <a:lnTo>
                      <a:pt x="266635" y="0"/>
                    </a:lnTo>
                    <a:lnTo>
                      <a:pt x="0" y="0"/>
                    </a:lnTo>
                    <a:lnTo>
                      <a:pt x="0" y="101463"/>
                    </a:lnTo>
                    <a:close/>
                  </a:path>
                </a:pathLst>
              </a:custGeom>
              <a:ln w="80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67" name="object 43"/>
              <p:cNvSpPr/>
              <p:nvPr/>
            </p:nvSpPr>
            <p:spPr>
              <a:xfrm>
                <a:off x="2163398" y="3710427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266635" y="0"/>
                    </a:moveTo>
                    <a:lnTo>
                      <a:pt x="0" y="0"/>
                    </a:lnTo>
                    <a:lnTo>
                      <a:pt x="0" y="101483"/>
                    </a:lnTo>
                    <a:lnTo>
                      <a:pt x="266635" y="101483"/>
                    </a:lnTo>
                    <a:lnTo>
                      <a:pt x="26663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68" name="object 44"/>
              <p:cNvSpPr/>
              <p:nvPr/>
            </p:nvSpPr>
            <p:spPr>
              <a:xfrm>
                <a:off x="2163398" y="3710427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0" y="101483"/>
                    </a:moveTo>
                    <a:lnTo>
                      <a:pt x="266635" y="101483"/>
                    </a:lnTo>
                    <a:lnTo>
                      <a:pt x="266635" y="0"/>
                    </a:lnTo>
                    <a:lnTo>
                      <a:pt x="0" y="0"/>
                    </a:lnTo>
                    <a:lnTo>
                      <a:pt x="0" y="101483"/>
                    </a:lnTo>
                    <a:close/>
                  </a:path>
                </a:pathLst>
              </a:custGeom>
              <a:ln w="80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69" name="object 45"/>
              <p:cNvSpPr/>
              <p:nvPr/>
            </p:nvSpPr>
            <p:spPr>
              <a:xfrm>
                <a:off x="4018811" y="3722485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266655" y="0"/>
                    </a:moveTo>
                    <a:lnTo>
                      <a:pt x="0" y="0"/>
                    </a:lnTo>
                    <a:lnTo>
                      <a:pt x="0" y="101463"/>
                    </a:lnTo>
                    <a:lnTo>
                      <a:pt x="266655" y="101463"/>
                    </a:lnTo>
                    <a:lnTo>
                      <a:pt x="26665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70" name="object 46"/>
              <p:cNvSpPr/>
              <p:nvPr/>
            </p:nvSpPr>
            <p:spPr>
              <a:xfrm>
                <a:off x="4018811" y="3722485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0" y="101463"/>
                    </a:moveTo>
                    <a:lnTo>
                      <a:pt x="266655" y="101463"/>
                    </a:lnTo>
                    <a:lnTo>
                      <a:pt x="266655" y="0"/>
                    </a:lnTo>
                    <a:lnTo>
                      <a:pt x="0" y="0"/>
                    </a:lnTo>
                    <a:lnTo>
                      <a:pt x="0" y="101463"/>
                    </a:lnTo>
                    <a:close/>
                  </a:path>
                </a:pathLst>
              </a:custGeom>
              <a:ln w="80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71" name="object 47"/>
              <p:cNvSpPr/>
              <p:nvPr/>
            </p:nvSpPr>
            <p:spPr>
              <a:xfrm>
                <a:off x="3291177" y="3941857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266635" y="0"/>
                    </a:moveTo>
                    <a:lnTo>
                      <a:pt x="0" y="0"/>
                    </a:lnTo>
                    <a:lnTo>
                      <a:pt x="0" y="101463"/>
                    </a:lnTo>
                    <a:lnTo>
                      <a:pt x="266635" y="101463"/>
                    </a:lnTo>
                    <a:lnTo>
                      <a:pt x="26663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72" name="object 48"/>
              <p:cNvSpPr/>
              <p:nvPr/>
            </p:nvSpPr>
            <p:spPr>
              <a:xfrm>
                <a:off x="3291177" y="3941857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0" y="101463"/>
                    </a:moveTo>
                    <a:lnTo>
                      <a:pt x="266635" y="101463"/>
                    </a:lnTo>
                    <a:lnTo>
                      <a:pt x="266635" y="0"/>
                    </a:lnTo>
                    <a:lnTo>
                      <a:pt x="0" y="0"/>
                    </a:lnTo>
                    <a:lnTo>
                      <a:pt x="0" y="101463"/>
                    </a:lnTo>
                    <a:close/>
                  </a:path>
                </a:pathLst>
              </a:custGeom>
              <a:ln w="80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73" name="object 49"/>
              <p:cNvSpPr/>
              <p:nvPr/>
            </p:nvSpPr>
            <p:spPr>
              <a:xfrm>
                <a:off x="3327161" y="4492923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266635" y="0"/>
                    </a:moveTo>
                    <a:lnTo>
                      <a:pt x="0" y="0"/>
                    </a:lnTo>
                    <a:lnTo>
                      <a:pt x="0" y="101463"/>
                    </a:lnTo>
                    <a:lnTo>
                      <a:pt x="266635" y="101463"/>
                    </a:lnTo>
                    <a:lnTo>
                      <a:pt x="26663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74" name="object 50"/>
              <p:cNvSpPr/>
              <p:nvPr/>
            </p:nvSpPr>
            <p:spPr>
              <a:xfrm>
                <a:off x="3327161" y="4492923"/>
                <a:ext cx="2667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1600">
                    <a:moveTo>
                      <a:pt x="0" y="101463"/>
                    </a:moveTo>
                    <a:lnTo>
                      <a:pt x="266635" y="101463"/>
                    </a:lnTo>
                    <a:lnTo>
                      <a:pt x="266635" y="0"/>
                    </a:lnTo>
                    <a:lnTo>
                      <a:pt x="0" y="0"/>
                    </a:lnTo>
                    <a:lnTo>
                      <a:pt x="0" y="101463"/>
                    </a:lnTo>
                    <a:close/>
                  </a:path>
                </a:pathLst>
              </a:custGeom>
              <a:ln w="80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75" name="object 51"/>
              <p:cNvSpPr/>
              <p:nvPr/>
            </p:nvSpPr>
            <p:spPr>
              <a:xfrm>
                <a:off x="3966768" y="5724144"/>
                <a:ext cx="281305" cy="293370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3370">
                    <a:moveTo>
                      <a:pt x="280797" y="114300"/>
                    </a:moveTo>
                    <a:lnTo>
                      <a:pt x="166751" y="114300"/>
                    </a:lnTo>
                    <a:lnTo>
                      <a:pt x="166751" y="0"/>
                    </a:lnTo>
                    <a:lnTo>
                      <a:pt x="114046" y="0"/>
                    </a:lnTo>
                    <a:lnTo>
                      <a:pt x="114046" y="114300"/>
                    </a:lnTo>
                    <a:lnTo>
                      <a:pt x="0" y="114300"/>
                    </a:lnTo>
                    <a:lnTo>
                      <a:pt x="0" y="179070"/>
                    </a:lnTo>
                    <a:lnTo>
                      <a:pt x="114046" y="179070"/>
                    </a:lnTo>
                    <a:lnTo>
                      <a:pt x="114046" y="293370"/>
                    </a:lnTo>
                    <a:lnTo>
                      <a:pt x="166751" y="293370"/>
                    </a:lnTo>
                    <a:lnTo>
                      <a:pt x="166751" y="179070"/>
                    </a:lnTo>
                    <a:lnTo>
                      <a:pt x="280797" y="179070"/>
                    </a:lnTo>
                    <a:lnTo>
                      <a:pt x="280797" y="114300"/>
                    </a:lnTo>
                    <a:close/>
                  </a:path>
                </a:pathLst>
              </a:custGeom>
              <a:solidFill>
                <a:srgbClr val="118CC4"/>
              </a:solidFill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  <p:sp>
            <p:nvSpPr>
              <p:cNvPr id="76" name="object 52"/>
              <p:cNvSpPr/>
              <p:nvPr/>
            </p:nvSpPr>
            <p:spPr>
              <a:xfrm>
                <a:off x="3966779" y="5724718"/>
                <a:ext cx="281305" cy="29273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292735">
                    <a:moveTo>
                      <a:pt x="0" y="114068"/>
                    </a:moveTo>
                    <a:lnTo>
                      <a:pt x="114047" y="114068"/>
                    </a:lnTo>
                    <a:lnTo>
                      <a:pt x="114047" y="0"/>
                    </a:lnTo>
                    <a:lnTo>
                      <a:pt x="166748" y="0"/>
                    </a:lnTo>
                    <a:lnTo>
                      <a:pt x="166748" y="114068"/>
                    </a:lnTo>
                    <a:lnTo>
                      <a:pt x="280795" y="114068"/>
                    </a:lnTo>
                    <a:lnTo>
                      <a:pt x="280795" y="178338"/>
                    </a:lnTo>
                    <a:lnTo>
                      <a:pt x="166748" y="178338"/>
                    </a:lnTo>
                    <a:lnTo>
                      <a:pt x="166748" y="292406"/>
                    </a:lnTo>
                    <a:lnTo>
                      <a:pt x="114047" y="292406"/>
                    </a:lnTo>
                    <a:lnTo>
                      <a:pt x="114047" y="178338"/>
                    </a:lnTo>
                    <a:lnTo>
                      <a:pt x="0" y="178338"/>
                    </a:lnTo>
                    <a:lnTo>
                      <a:pt x="0" y="114068"/>
                    </a:lnTo>
                    <a:close/>
                  </a:path>
                </a:pathLst>
              </a:custGeom>
              <a:ln w="21443">
                <a:solidFill>
                  <a:srgbClr val="09658F"/>
                </a:solidFill>
              </a:ln>
            </p:spPr>
            <p:txBody>
              <a:bodyPr wrap="square" lIns="0" tIns="0" rIns="0" bIns="0" rtlCol="0"/>
              <a:lstStyle/>
              <a:p>
                <a:endParaRPr sz="1630"/>
              </a:p>
            </p:txBody>
          </p:sp>
        </p:grpSp>
        <p:sp>
          <p:nvSpPr>
            <p:cNvPr id="56" name="object 62"/>
            <p:cNvSpPr txBox="1"/>
            <p:nvPr/>
          </p:nvSpPr>
          <p:spPr>
            <a:xfrm>
              <a:off x="1341813" y="3454075"/>
              <a:ext cx="243656" cy="107489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1430">
                <a:lnSpc>
                  <a:spcPts val="1905"/>
                </a:lnSpc>
              </a:pPr>
              <a:r>
                <a:rPr lang="zh-CN" altLang="en-US" sz="2000" spc="91" dirty="0">
                  <a:latin typeface="Arial" panose="020B0604020202020204"/>
                  <a:cs typeface="Arial" panose="020B0604020202020204"/>
                </a:rPr>
                <a:t>年收入</a:t>
              </a:r>
              <a:endParaRPr sz="20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7" name="object 64"/>
            <p:cNvSpPr txBox="1"/>
            <p:nvPr/>
          </p:nvSpPr>
          <p:spPr>
            <a:xfrm>
              <a:off x="1844631" y="6220141"/>
              <a:ext cx="132438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50" dirty="0">
                  <a:latin typeface="Arial" panose="020B0604020202020204"/>
                  <a:cs typeface="Arial" panose="020B0604020202020204"/>
                </a:rPr>
                <a:t>0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8" name="object 65"/>
            <p:cNvSpPr txBox="1"/>
            <p:nvPr/>
          </p:nvSpPr>
          <p:spPr>
            <a:xfrm>
              <a:off x="2367269" y="6220141"/>
              <a:ext cx="104799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-77" dirty="0">
                  <a:latin typeface="Arial" panose="020B0604020202020204"/>
                  <a:cs typeface="Arial" panose="020B0604020202020204"/>
                </a:rPr>
                <a:t>1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9" name="object 66"/>
            <p:cNvSpPr txBox="1"/>
            <p:nvPr/>
          </p:nvSpPr>
          <p:spPr>
            <a:xfrm>
              <a:off x="2861796" y="6220141"/>
              <a:ext cx="122074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-45" dirty="0">
                  <a:latin typeface="Arial" panose="020B0604020202020204"/>
                  <a:cs typeface="Arial" panose="020B0604020202020204"/>
                </a:rPr>
                <a:t>2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0" name="object 67"/>
            <p:cNvSpPr txBox="1"/>
            <p:nvPr/>
          </p:nvSpPr>
          <p:spPr>
            <a:xfrm>
              <a:off x="3373824" y="6220141"/>
              <a:ext cx="121498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-45" dirty="0">
                  <a:latin typeface="Arial" panose="020B0604020202020204"/>
                  <a:cs typeface="Arial" panose="020B0604020202020204"/>
                </a:rPr>
                <a:t>3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2" name="object 68"/>
            <p:cNvSpPr txBox="1"/>
            <p:nvPr/>
          </p:nvSpPr>
          <p:spPr>
            <a:xfrm>
              <a:off x="3885323" y="6220141"/>
              <a:ext cx="127832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14" dirty="0">
                  <a:latin typeface="Arial" panose="020B0604020202020204"/>
                  <a:cs typeface="Arial" panose="020B0604020202020204"/>
                </a:rPr>
                <a:t>4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3" name="object 69"/>
            <p:cNvSpPr txBox="1"/>
            <p:nvPr/>
          </p:nvSpPr>
          <p:spPr>
            <a:xfrm>
              <a:off x="4407963" y="6220141"/>
              <a:ext cx="148561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430"/>
                </a:lnSpc>
              </a:pPr>
              <a:r>
                <a:rPr sz="1360" spc="-426" dirty="0">
                  <a:latin typeface="Arial" panose="020B0604020202020204"/>
                  <a:cs typeface="Arial" panose="020B0604020202020204"/>
                </a:rPr>
                <a:t>…</a:t>
              </a:r>
              <a:endParaRPr sz="136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4" name="object 70"/>
            <p:cNvSpPr txBox="1"/>
            <p:nvPr/>
          </p:nvSpPr>
          <p:spPr>
            <a:xfrm>
              <a:off x="4853147" y="6311180"/>
              <a:ext cx="1220736" cy="24365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1430">
                <a:lnSpc>
                  <a:spcPts val="1905"/>
                </a:lnSpc>
              </a:pPr>
              <a:r>
                <a:rPr lang="zh-CN" altLang="en-US" sz="2000" spc="63" dirty="0">
                  <a:latin typeface="Arial" panose="020B0604020202020204"/>
                  <a:cs typeface="Arial" panose="020B0604020202020204"/>
                </a:rPr>
                <a:t>贷款金额</a:t>
              </a:r>
              <a:endParaRPr sz="2000" dirty="0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逻辑回归：模型参数的影响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30048" y="967322"/>
            <a:ext cx="7627905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400" b="1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逻辑回归模型系数的影响</a:t>
            </a:r>
            <a:endParaRPr lang="en-SG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7" name="object 23"/>
          <p:cNvSpPr txBox="1"/>
          <p:nvPr/>
        </p:nvSpPr>
        <p:spPr>
          <a:xfrm>
            <a:off x="1621434" y="5538682"/>
            <a:ext cx="2123572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55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#</a:t>
            </a:r>
            <a:r>
              <a:rPr lang="zh-CN" altLang="en-US" sz="1600" spc="7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贷款金额 </a:t>
            </a:r>
            <a:r>
              <a:rPr sz="1500" spc="245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-</a:t>
            </a:r>
            <a:r>
              <a:rPr sz="1500" spc="1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sz="1500" spc="65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#</a:t>
            </a:r>
            <a:r>
              <a:rPr lang="zh-CN" altLang="en-US" sz="16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Tahoma" panose="020B0604030504040204"/>
              </a:rPr>
              <a:t>年收入</a:t>
            </a:r>
            <a:endParaRPr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907" y="3828014"/>
            <a:ext cx="10324186" cy="1593968"/>
          </a:xfrm>
          <a:prstGeom prst="rect">
            <a:avLst/>
          </a:prstGeom>
        </p:spPr>
      </p:pic>
      <p:sp>
        <p:nvSpPr>
          <p:cNvPr id="41" name="object 23"/>
          <p:cNvSpPr txBox="1"/>
          <p:nvPr/>
        </p:nvSpPr>
        <p:spPr>
          <a:xfrm>
            <a:off x="5399364" y="5538682"/>
            <a:ext cx="2067334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00000"/>
              </a:lnSpc>
              <a:spcBef>
                <a:spcPts val="120"/>
              </a:spcBef>
              <a:defRPr sz="1500" spc="55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贷款金额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年收入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23"/>
          <p:cNvSpPr txBox="1"/>
          <p:nvPr/>
        </p:nvSpPr>
        <p:spPr>
          <a:xfrm>
            <a:off x="9063404" y="5538682"/>
            <a:ext cx="2123571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00000"/>
              </a:lnSpc>
              <a:spcBef>
                <a:spcPts val="120"/>
              </a:spcBef>
              <a:defRPr sz="1500" spc="55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贷款金额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年收入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object 5"/>
              <p:cNvGraphicFramePr>
                <a:graphicFrameLocks noGrp="1"/>
              </p:cNvGraphicFramePr>
              <p:nvPr/>
            </p:nvGraphicFramePr>
            <p:xfrm>
              <a:off x="1311739" y="2532052"/>
              <a:ext cx="2570938" cy="107314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5469"/>
                    <a:gridCol w="1285469"/>
                  </a:tblGrid>
                  <a:tr h="334010">
                    <a:tc>
                      <a:txBody>
                        <a:bodyPr/>
                        <a:lstStyle/>
                        <a:p>
                          <a:pPr marR="219710" algn="ctr">
                            <a:lnSpc>
                              <a:spcPct val="100000"/>
                            </a:lnSpc>
                            <a:spcBef>
                              <a:spcPts val="185"/>
                            </a:spcBef>
                            <a:tabLst>
                              <a:tab pos="100520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0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E7EE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R="219710" algn="ctr">
                            <a:lnSpc>
                              <a:spcPct val="100000"/>
                            </a:lnSpc>
                            <a:spcBef>
                              <a:spcPts val="185"/>
                            </a:spcBef>
                            <a:tabLst>
                              <a:tab pos="1005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-2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EF5"/>
                        </a:solidFill>
                      </a:tcPr>
                    </a:tc>
                  </a:tr>
                  <a:tr h="334010">
                    <a:tc>
                      <a:txBody>
                        <a:bodyPr/>
                        <a:lstStyle/>
                        <a:p>
                          <a:pPr marR="151765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25920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0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51765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259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+1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4010">
                    <a:tc>
                      <a:txBody>
                        <a:bodyPr/>
                        <a:lstStyle/>
                        <a:p>
                          <a:pPr marR="172720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14173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000" b="0" i="1" spc="60" smtClean="0">
                                        <a:solidFill>
                                          <a:srgbClr val="0099E8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E7EE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R="172720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141730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-1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E7EEF5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0" name="object 5"/>
              <p:cNvGraphicFramePr>
                <a:graphicFrameLocks noGrp="1"/>
              </p:cNvGraphicFramePr>
              <p:nvPr/>
            </p:nvGraphicFramePr>
            <p:xfrm>
              <a:off x="1311739" y="2532052"/>
              <a:ext cx="2570938" cy="107314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5469"/>
                    <a:gridCol w="1285469"/>
                  </a:tblGrid>
                  <a:tr h="3340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R="219710" algn="ctr">
                            <a:lnSpc>
                              <a:spcPct val="100000"/>
                            </a:lnSpc>
                            <a:spcBef>
                              <a:spcPts val="185"/>
                            </a:spcBef>
                            <a:tabLst>
                              <a:tab pos="1005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-2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7EEF5"/>
                        </a:solidFill>
                      </a:tcPr>
                    </a:tc>
                  </a:tr>
                  <a:tr h="3695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R="151765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259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+1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95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R="172720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141730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-1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E7EEF5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928286" y="1672374"/>
                <a:ext cx="10325950" cy="526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sz="2800" b="0" i="0" spc="60" smtClean="0">
                          <a:solidFill>
                            <a:srgbClr val="B0007E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core</m:t>
                      </m:r>
                      <m:d>
                        <m:dPr>
                          <m:ctrl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8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</m:sub>
                      </m:sSub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贷款金额</m:t>
                      </m:r>
                      <m:r>
                        <a:rPr lang="en-US" altLang="zh-CN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800" i="1" spc="6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2</m:t>
                          </m:r>
                        </m:sub>
                      </m:sSub>
                      <m:r>
                        <a:rPr lang="zh-CN" altLang="en-US" sz="2800" b="0" i="1" spc="6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∗</m:t>
                      </m:r>
                      <m:r>
                        <a:rPr lang="zh-CN" altLang="en-US" sz="2800" i="1" spc="6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年收入</m:t>
                      </m:r>
                      <m:r>
                        <a:rPr lang="en-US" altLang="zh-CN" sz="2800" b="0" i="0" spc="6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pPr>
                        <m:e>
                          <m:r>
                            <a:rPr lang="en-US" altLang="zh-CN" sz="28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800" b="1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⊺</m:t>
                          </m:r>
                        </m:sup>
                      </m:sSup>
                      <m:r>
                        <a:rPr lang="en-US" altLang="zh-CN" sz="2800" b="1" i="1" spc="6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𝝓</m:t>
                      </m:r>
                      <m:d>
                        <m:dPr>
                          <m:ctrlPr>
                            <a:rPr lang="en-US" altLang="zh-CN" sz="28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28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86" y="1672374"/>
                <a:ext cx="10325950" cy="526041"/>
              </a:xfrm>
              <a:prstGeom prst="rect">
                <a:avLst/>
              </a:prstGeom>
              <a:blipFill rotWithShape="1">
                <a:blip r:embed="rId3"/>
                <a:stretch>
                  <a:fillRect l="-5" t="-80" r="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object 5"/>
              <p:cNvGraphicFramePr>
                <a:graphicFrameLocks noGrp="1"/>
              </p:cNvGraphicFramePr>
              <p:nvPr/>
            </p:nvGraphicFramePr>
            <p:xfrm>
              <a:off x="5031152" y="2532052"/>
              <a:ext cx="2570938" cy="107314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5469"/>
                    <a:gridCol w="1285469"/>
                  </a:tblGrid>
                  <a:tr h="334010">
                    <a:tc>
                      <a:txBody>
                        <a:bodyPr/>
                        <a:lstStyle/>
                        <a:p>
                          <a:pPr marR="219710" algn="ctr">
                            <a:lnSpc>
                              <a:spcPct val="100000"/>
                            </a:lnSpc>
                            <a:spcBef>
                              <a:spcPts val="185"/>
                            </a:spcBef>
                            <a:tabLst>
                              <a:tab pos="100520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CN" sz="2000" i="1" spc="60" smtClean="0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CN" sz="2000" b="0" i="1" spc="60" smtClean="0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altLang="zh-CN" sz="2000" b="0" i="1" spc="60" smtClean="0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2000" kern="1200" spc="65" dirty="0">
                            <a:solidFill>
                              <a:srgbClr val="B0007E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F2E7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R="219710" algn="ctr">
                            <a:lnSpc>
                              <a:spcPct val="100000"/>
                            </a:lnSpc>
                            <a:spcBef>
                              <a:spcPts val="185"/>
                            </a:spcBef>
                            <a:tabLst>
                              <a:tab pos="1005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0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E7ED"/>
                        </a:solidFill>
                      </a:tcPr>
                    </a:tc>
                  </a:tr>
                  <a:tr h="334010">
                    <a:tc>
                      <a:txBody>
                        <a:bodyPr/>
                        <a:lstStyle/>
                        <a:p>
                          <a:pPr marR="151765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25920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CN" sz="2000" i="1" spc="60" smtClean="0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CN" sz="2000" b="0" i="1" spc="60" smtClean="0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altLang="zh-CN" sz="2000" b="0" i="1" spc="60" smtClean="0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2000" kern="1200" spc="65" dirty="0">
                            <a:solidFill>
                              <a:srgbClr val="B0007E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51765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259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+1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4010">
                    <a:tc>
                      <a:txBody>
                        <a:bodyPr/>
                        <a:lstStyle/>
                        <a:p>
                          <a:pPr marR="172720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14173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CN" sz="2000" i="1" spc="60" smtClean="0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CN" sz="2000" b="0" i="1" spc="60" smtClean="0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altLang="zh-CN" sz="2000" b="0" i="1" spc="60" smtClean="0">
                                        <a:solidFill>
                                          <a:srgbClr val="B0007E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2000" kern="1200" spc="65" dirty="0">
                            <a:solidFill>
                              <a:srgbClr val="B0007E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F2E7E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R="172720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141730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-1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F2E7ED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object 5"/>
              <p:cNvGraphicFramePr>
                <a:graphicFrameLocks noGrp="1"/>
              </p:cNvGraphicFramePr>
              <p:nvPr/>
            </p:nvGraphicFramePr>
            <p:xfrm>
              <a:off x="5031152" y="2532052"/>
              <a:ext cx="2570938" cy="107314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5469"/>
                    <a:gridCol w="1285469"/>
                  </a:tblGrid>
                  <a:tr h="36385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R="219710" algn="ctr">
                            <a:lnSpc>
                              <a:spcPct val="100000"/>
                            </a:lnSpc>
                            <a:spcBef>
                              <a:spcPts val="185"/>
                            </a:spcBef>
                            <a:tabLst>
                              <a:tab pos="1005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0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E7ED"/>
                        </a:solidFill>
                      </a:tcPr>
                    </a:tc>
                  </a:tr>
                  <a:tr h="40513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R="151765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259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+1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0513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R="172720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141730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-1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F2E7ED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object 5"/>
              <p:cNvGraphicFramePr>
                <a:graphicFrameLocks noGrp="1"/>
              </p:cNvGraphicFramePr>
              <p:nvPr/>
            </p:nvGraphicFramePr>
            <p:xfrm>
              <a:off x="8683298" y="2532052"/>
              <a:ext cx="2570938" cy="107314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5469"/>
                    <a:gridCol w="1285469"/>
                  </a:tblGrid>
                  <a:tr h="334010">
                    <a:tc>
                      <a:txBody>
                        <a:bodyPr/>
                        <a:lstStyle/>
                        <a:p>
                          <a:pPr marR="219710" algn="ctr">
                            <a:lnSpc>
                              <a:spcPct val="100000"/>
                            </a:lnSpc>
                            <a:spcBef>
                              <a:spcPts val="185"/>
                            </a:spcBef>
                            <a:tabLst>
                              <a:tab pos="100520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CN" sz="2000" i="1" spc="60" smtClean="0">
                                        <a:solidFill>
                                          <a:srgbClr val="85BE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CN" sz="2000" b="0" i="1" spc="60" smtClean="0">
                                        <a:solidFill>
                                          <a:srgbClr val="85BE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altLang="zh-CN" sz="2000" b="0" i="1" spc="60" smtClean="0">
                                        <a:solidFill>
                                          <a:srgbClr val="85BE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2000" kern="1200" spc="65" dirty="0">
                            <a:solidFill>
                              <a:srgbClr val="85BE00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EDF5E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R="219710" algn="ctr">
                            <a:lnSpc>
                              <a:spcPct val="100000"/>
                            </a:lnSpc>
                            <a:spcBef>
                              <a:spcPts val="185"/>
                            </a:spcBef>
                            <a:tabLst>
                              <a:tab pos="1005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0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F5E7"/>
                        </a:solidFill>
                      </a:tcPr>
                    </a:tc>
                  </a:tr>
                  <a:tr h="334010">
                    <a:tc>
                      <a:txBody>
                        <a:bodyPr/>
                        <a:lstStyle/>
                        <a:p>
                          <a:pPr marR="151765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25920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CN" sz="2000" i="1" spc="60" smtClean="0">
                                        <a:solidFill>
                                          <a:srgbClr val="85BE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CN" sz="2000" b="0" i="1" spc="60" smtClean="0">
                                        <a:solidFill>
                                          <a:srgbClr val="85BE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altLang="zh-CN" sz="2000" b="0" i="1" spc="60" smtClean="0">
                                        <a:solidFill>
                                          <a:srgbClr val="85BE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2000" kern="1200" spc="65" dirty="0">
                            <a:solidFill>
                              <a:srgbClr val="85BE00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51765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259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+3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34010">
                    <a:tc>
                      <a:txBody>
                        <a:bodyPr/>
                        <a:lstStyle/>
                        <a:p>
                          <a:pPr marR="172720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14173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CN" sz="2000" i="1" spc="60" smtClean="0">
                                        <a:solidFill>
                                          <a:srgbClr val="85BE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CN" sz="2000" b="0" i="1" spc="60" smtClean="0">
                                        <a:solidFill>
                                          <a:srgbClr val="85BE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altLang="zh-CN" sz="2000" b="0" i="1" spc="60" smtClean="0">
                                        <a:solidFill>
                                          <a:srgbClr val="85BE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2000" kern="1200" spc="65" dirty="0">
                            <a:solidFill>
                              <a:srgbClr val="85BE00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EDF5E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R="172720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141730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-3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EDF5E7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object 5"/>
              <p:cNvGraphicFramePr>
                <a:graphicFrameLocks noGrp="1"/>
              </p:cNvGraphicFramePr>
              <p:nvPr/>
            </p:nvGraphicFramePr>
            <p:xfrm>
              <a:off x="8683298" y="2532052"/>
              <a:ext cx="2570938" cy="107314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5469"/>
                    <a:gridCol w="1285469"/>
                  </a:tblGrid>
                  <a:tr h="36385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R="219710" algn="ctr">
                            <a:lnSpc>
                              <a:spcPct val="100000"/>
                            </a:lnSpc>
                            <a:spcBef>
                              <a:spcPts val="185"/>
                            </a:spcBef>
                            <a:tabLst>
                              <a:tab pos="1005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0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23495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F5E7"/>
                        </a:solidFill>
                      </a:tcPr>
                    </a:tc>
                  </a:tr>
                  <a:tr h="40513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R="151765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259205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+3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0513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>
                          <a:solidFill>
                            <a:srgbClr val="118CC4"/>
                          </a:solidFill>
                          <a:prstDash val="soli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R="172720" algn="ctr">
                            <a:lnSpc>
                              <a:spcPct val="100000"/>
                            </a:lnSpc>
                            <a:spcBef>
                              <a:spcPts val="510"/>
                            </a:spcBef>
                            <a:tabLst>
                              <a:tab pos="1141730" algn="l"/>
                            </a:tabLst>
                          </a:pPr>
                          <a:r>
                            <a:rPr lang="en-US" altLang="zh-CN" sz="2000" kern="1200" spc="65" dirty="0">
                              <a:solidFill>
                                <a:schemeClr val="tx1"/>
                              </a:solidFill>
                              <a:latin typeface="Lucida Sans Unicode" panose="020B0602030504020204"/>
                              <a:ea typeface="+mn-ea"/>
                              <a:cs typeface="Lucida Sans Unicode" panose="020B0602030504020204"/>
                            </a:rPr>
                            <a:t>-3</a:t>
                          </a:r>
                          <a:endParaRPr sz="2000" kern="1200" spc="65" dirty="0">
                            <a:solidFill>
                              <a:schemeClr val="tx1"/>
                            </a:solidFill>
                            <a:latin typeface="Lucida Sans Unicode" panose="020B0602030504020204"/>
                            <a:ea typeface="+mn-ea"/>
                            <a:cs typeface="Lucida Sans Unicode" panose="020B0602030504020204"/>
                          </a:endParaRPr>
                        </a:p>
                      </a:txBody>
                      <a:tcPr marL="0" marR="0" marT="64769" marB="0">
                        <a:lnL w="12700">
                          <a:solidFill>
                            <a:srgbClr val="118CC4"/>
                          </a:solidFill>
                          <a:prstDash val="solid"/>
                        </a:lnL>
                        <a:lnR w="12700">
                          <a:solidFill>
                            <a:srgbClr val="118CC4"/>
                          </a:solidFill>
                          <a:prstDash val="solid"/>
                        </a:lnR>
                        <a:lnT w="12700" cap="flat" cmpd="sng" algn="ctr">
                          <a:solidFill>
                            <a:srgbClr val="118CC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>
                          <a:solidFill>
                            <a:srgbClr val="118CC4"/>
                          </a:solidFill>
                          <a:prstDash val="solid"/>
                        </a:lnB>
                        <a:solidFill>
                          <a:srgbClr val="EDF5E7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逻辑回归：与回归模型的不同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object 3"/>
          <p:cNvSpPr txBox="1"/>
          <p:nvPr/>
        </p:nvSpPr>
        <p:spPr>
          <a:xfrm>
            <a:off x="863400" y="1367424"/>
            <a:ext cx="633285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025" marR="43180" indent="-288925">
              <a:spcBef>
                <a:spcPts val="100"/>
              </a:spcBef>
              <a:buClr>
                <a:srgbClr val="5D5555"/>
              </a:buClr>
              <a:buChar char="•"/>
              <a:tabLst>
                <a:tab pos="327025" algn="l"/>
              </a:tabLst>
            </a:pPr>
            <a:r>
              <a:rPr lang="zh-CN" altLang="en-US" sz="2800" b="1" dirty="0">
                <a:solidFill>
                  <a:srgbClr val="2B27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具有高斯误差的线性回归</a:t>
            </a:r>
            <a:endParaRPr lang="en-US" altLang="zh-CN" sz="2800" b="1" dirty="0">
              <a:solidFill>
                <a:srgbClr val="2B27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3" name="object 4"/>
          <p:cNvGrpSpPr/>
          <p:nvPr/>
        </p:nvGrpSpPr>
        <p:grpSpPr>
          <a:xfrm>
            <a:off x="6809929" y="1800784"/>
            <a:ext cx="3530600" cy="1673225"/>
            <a:chOff x="6581329" y="1800784"/>
            <a:chExt cx="3530600" cy="1673225"/>
          </a:xfrm>
        </p:grpSpPr>
        <p:pic>
          <p:nvPicPr>
            <p:cNvPr id="4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581329" y="3113153"/>
              <a:ext cx="3530531" cy="360258"/>
            </a:xfrm>
            <a:prstGeom prst="rect">
              <a:avLst/>
            </a:prstGeom>
          </p:spPr>
        </p:pic>
        <p:sp>
          <p:nvSpPr>
            <p:cNvPr id="5" name="object 6"/>
            <p:cNvSpPr/>
            <p:nvPr/>
          </p:nvSpPr>
          <p:spPr>
            <a:xfrm>
              <a:off x="6617097" y="3204651"/>
              <a:ext cx="3315335" cy="144780"/>
            </a:xfrm>
            <a:custGeom>
              <a:avLst/>
              <a:gdLst/>
              <a:ahLst/>
              <a:cxnLst/>
              <a:rect l="l" t="t" r="r" b="b"/>
              <a:pathLst>
                <a:path w="3315334" h="144779">
                  <a:moveTo>
                    <a:pt x="3251109" y="72239"/>
                  </a:moveTo>
                  <a:lnTo>
                    <a:pt x="3178405" y="114621"/>
                  </a:lnTo>
                  <a:lnTo>
                    <a:pt x="3173639" y="118874"/>
                  </a:lnTo>
                  <a:lnTo>
                    <a:pt x="3170968" y="124438"/>
                  </a:lnTo>
                  <a:lnTo>
                    <a:pt x="3170574" y="130601"/>
                  </a:lnTo>
                  <a:lnTo>
                    <a:pt x="3172641" y="136648"/>
                  </a:lnTo>
                  <a:lnTo>
                    <a:pt x="3176885" y="141414"/>
                  </a:lnTo>
                  <a:lnTo>
                    <a:pt x="3182432" y="144085"/>
                  </a:lnTo>
                  <a:lnTo>
                    <a:pt x="3188577" y="144479"/>
                  </a:lnTo>
                  <a:lnTo>
                    <a:pt x="3194616" y="142413"/>
                  </a:lnTo>
                  <a:lnTo>
                    <a:pt x="3287331" y="88322"/>
                  </a:lnTo>
                  <a:lnTo>
                    <a:pt x="3283034" y="88322"/>
                  </a:lnTo>
                  <a:lnTo>
                    <a:pt x="3283034" y="86109"/>
                  </a:lnTo>
                  <a:lnTo>
                    <a:pt x="3274902" y="86109"/>
                  </a:lnTo>
                  <a:lnTo>
                    <a:pt x="3251109" y="72239"/>
                  </a:lnTo>
                  <a:close/>
                </a:path>
                <a:path w="3315334" h="144779">
                  <a:moveTo>
                    <a:pt x="3223519" y="56156"/>
                  </a:moveTo>
                  <a:lnTo>
                    <a:pt x="0" y="56156"/>
                  </a:lnTo>
                  <a:lnTo>
                    <a:pt x="0" y="88322"/>
                  </a:lnTo>
                  <a:lnTo>
                    <a:pt x="3223519" y="88322"/>
                  </a:lnTo>
                  <a:lnTo>
                    <a:pt x="3251109" y="72239"/>
                  </a:lnTo>
                  <a:lnTo>
                    <a:pt x="3223519" y="56156"/>
                  </a:lnTo>
                  <a:close/>
                </a:path>
                <a:path w="3315334" h="144779">
                  <a:moveTo>
                    <a:pt x="3287399" y="56156"/>
                  </a:moveTo>
                  <a:lnTo>
                    <a:pt x="3283034" y="56156"/>
                  </a:lnTo>
                  <a:lnTo>
                    <a:pt x="3283034" y="88322"/>
                  </a:lnTo>
                  <a:lnTo>
                    <a:pt x="3287331" y="88322"/>
                  </a:lnTo>
                  <a:lnTo>
                    <a:pt x="3314898" y="72239"/>
                  </a:lnTo>
                  <a:lnTo>
                    <a:pt x="3287399" y="56156"/>
                  </a:lnTo>
                  <a:close/>
                </a:path>
                <a:path w="3315334" h="144779">
                  <a:moveTo>
                    <a:pt x="3274902" y="58369"/>
                  </a:moveTo>
                  <a:lnTo>
                    <a:pt x="3251109" y="72239"/>
                  </a:lnTo>
                  <a:lnTo>
                    <a:pt x="3274902" y="86109"/>
                  </a:lnTo>
                  <a:lnTo>
                    <a:pt x="3274902" y="58369"/>
                  </a:lnTo>
                  <a:close/>
                </a:path>
                <a:path w="3315334" h="144779">
                  <a:moveTo>
                    <a:pt x="3283034" y="58369"/>
                  </a:moveTo>
                  <a:lnTo>
                    <a:pt x="3274902" y="58369"/>
                  </a:lnTo>
                  <a:lnTo>
                    <a:pt x="3274902" y="86109"/>
                  </a:lnTo>
                  <a:lnTo>
                    <a:pt x="3283034" y="86109"/>
                  </a:lnTo>
                  <a:lnTo>
                    <a:pt x="3283034" y="58369"/>
                  </a:lnTo>
                  <a:close/>
                </a:path>
                <a:path w="3315334" h="144779">
                  <a:moveTo>
                    <a:pt x="3188577" y="0"/>
                  </a:moveTo>
                  <a:lnTo>
                    <a:pt x="3182432" y="394"/>
                  </a:lnTo>
                  <a:lnTo>
                    <a:pt x="3176885" y="3065"/>
                  </a:lnTo>
                  <a:lnTo>
                    <a:pt x="3172641" y="7830"/>
                  </a:lnTo>
                  <a:lnTo>
                    <a:pt x="3170574" y="13877"/>
                  </a:lnTo>
                  <a:lnTo>
                    <a:pt x="3170968" y="20040"/>
                  </a:lnTo>
                  <a:lnTo>
                    <a:pt x="3173639" y="25605"/>
                  </a:lnTo>
                  <a:lnTo>
                    <a:pt x="3178405" y="29858"/>
                  </a:lnTo>
                  <a:lnTo>
                    <a:pt x="3251109" y="72239"/>
                  </a:lnTo>
                  <a:lnTo>
                    <a:pt x="3274902" y="58369"/>
                  </a:lnTo>
                  <a:lnTo>
                    <a:pt x="3283034" y="58369"/>
                  </a:lnTo>
                  <a:lnTo>
                    <a:pt x="3283034" y="56156"/>
                  </a:lnTo>
                  <a:lnTo>
                    <a:pt x="3287399" y="56156"/>
                  </a:lnTo>
                  <a:lnTo>
                    <a:pt x="3194616" y="2066"/>
                  </a:lnTo>
                  <a:lnTo>
                    <a:pt x="3188577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26724" y="1800784"/>
              <a:ext cx="108077" cy="1513085"/>
            </a:xfrm>
            <a:prstGeom prst="rect">
              <a:avLst/>
            </a:prstGeom>
          </p:spPr>
        </p:pic>
        <p:sp>
          <p:nvSpPr>
            <p:cNvPr id="7" name="object 8"/>
            <p:cNvSpPr/>
            <p:nvPr/>
          </p:nvSpPr>
          <p:spPr>
            <a:xfrm>
              <a:off x="8579064" y="1821524"/>
              <a:ext cx="3810" cy="1424305"/>
            </a:xfrm>
            <a:custGeom>
              <a:avLst/>
              <a:gdLst/>
              <a:ahLst/>
              <a:cxnLst/>
              <a:rect l="l" t="t" r="r" b="b"/>
              <a:pathLst>
                <a:path w="3809" h="1424305">
                  <a:moveTo>
                    <a:pt x="0" y="0"/>
                  </a:moveTo>
                  <a:lnTo>
                    <a:pt x="3396" y="1424152"/>
                  </a:lnTo>
                </a:path>
              </a:pathLst>
            </a:custGeom>
            <a:ln w="3216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9"/>
          <p:cNvSpPr txBox="1"/>
          <p:nvPr/>
        </p:nvSpPr>
        <p:spPr>
          <a:xfrm>
            <a:off x="8818694" y="2294173"/>
            <a:ext cx="30670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5" dirty="0">
                <a:latin typeface="Lucida Sans Unicode" panose="020B0602030504020204"/>
                <a:cs typeface="Lucida Sans Unicode" panose="020B0602030504020204"/>
              </a:rPr>
              <a:t>2σ</a:t>
            </a:r>
            <a:endParaRPr sz="16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9" name="object 10"/>
          <p:cNvGrpSpPr/>
          <p:nvPr/>
        </p:nvGrpSpPr>
        <p:grpSpPr>
          <a:xfrm>
            <a:off x="7185627" y="1893422"/>
            <a:ext cx="3273425" cy="1415415"/>
            <a:chOff x="6957027" y="1893422"/>
            <a:chExt cx="3273425" cy="1415415"/>
          </a:xfrm>
        </p:grpSpPr>
        <p:pic>
          <p:nvPicPr>
            <p:cNvPr id="10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7027" y="1893422"/>
              <a:ext cx="3273204" cy="1415300"/>
            </a:xfrm>
            <a:prstGeom prst="rect">
              <a:avLst/>
            </a:prstGeom>
          </p:spPr>
        </p:pic>
        <p:sp>
          <p:nvSpPr>
            <p:cNvPr id="11" name="object 12"/>
            <p:cNvSpPr/>
            <p:nvPr/>
          </p:nvSpPr>
          <p:spPr>
            <a:xfrm>
              <a:off x="6993825" y="1937682"/>
              <a:ext cx="3177540" cy="1291590"/>
            </a:xfrm>
            <a:custGeom>
              <a:avLst/>
              <a:gdLst/>
              <a:ahLst/>
              <a:cxnLst/>
              <a:rect l="l" t="t" r="r" b="b"/>
              <a:pathLst>
                <a:path w="3177540" h="1291589">
                  <a:moveTo>
                    <a:pt x="0" y="1287975"/>
                  </a:moveTo>
                  <a:lnTo>
                    <a:pt x="37668" y="1289027"/>
                  </a:lnTo>
                  <a:lnTo>
                    <a:pt x="80300" y="1289785"/>
                  </a:lnTo>
                  <a:lnTo>
                    <a:pt x="126975" y="1290047"/>
                  </a:lnTo>
                  <a:lnTo>
                    <a:pt x="176776" y="1289610"/>
                  </a:lnTo>
                  <a:lnTo>
                    <a:pt x="228782" y="1288273"/>
                  </a:lnTo>
                  <a:lnTo>
                    <a:pt x="282075" y="1285832"/>
                  </a:lnTo>
                  <a:lnTo>
                    <a:pt x="335736" y="1282087"/>
                  </a:lnTo>
                  <a:lnTo>
                    <a:pt x="388846" y="1276835"/>
                  </a:lnTo>
                  <a:lnTo>
                    <a:pt x="440485" y="1269874"/>
                  </a:lnTo>
                  <a:lnTo>
                    <a:pt x="489735" y="1261002"/>
                  </a:lnTo>
                  <a:lnTo>
                    <a:pt x="535677" y="1250016"/>
                  </a:lnTo>
                  <a:lnTo>
                    <a:pt x="577391" y="1236715"/>
                  </a:lnTo>
                  <a:lnTo>
                    <a:pt x="622329" y="1218990"/>
                  </a:lnTo>
                  <a:lnTo>
                    <a:pt x="663353" y="1200237"/>
                  </a:lnTo>
                  <a:lnTo>
                    <a:pt x="701232" y="1179841"/>
                  </a:lnTo>
                  <a:lnTo>
                    <a:pt x="736734" y="1157190"/>
                  </a:lnTo>
                  <a:lnTo>
                    <a:pt x="770631" y="1131668"/>
                  </a:lnTo>
                  <a:lnTo>
                    <a:pt x="803690" y="1102661"/>
                  </a:lnTo>
                  <a:lnTo>
                    <a:pt x="836682" y="1069555"/>
                  </a:lnTo>
                  <a:lnTo>
                    <a:pt x="870377" y="1031736"/>
                  </a:lnTo>
                  <a:lnTo>
                    <a:pt x="905543" y="988590"/>
                  </a:lnTo>
                  <a:lnTo>
                    <a:pt x="942950" y="939502"/>
                  </a:lnTo>
                  <a:lnTo>
                    <a:pt x="966205" y="906329"/>
                  </a:lnTo>
                  <a:lnTo>
                    <a:pt x="990267" y="868723"/>
                  </a:lnTo>
                  <a:lnTo>
                    <a:pt x="1014997" y="827301"/>
                  </a:lnTo>
                  <a:lnTo>
                    <a:pt x="1040253" y="782678"/>
                  </a:lnTo>
                  <a:lnTo>
                    <a:pt x="1065896" y="735469"/>
                  </a:lnTo>
                  <a:lnTo>
                    <a:pt x="1091787" y="686290"/>
                  </a:lnTo>
                  <a:lnTo>
                    <a:pt x="1117786" y="635755"/>
                  </a:lnTo>
                  <a:lnTo>
                    <a:pt x="1143752" y="584482"/>
                  </a:lnTo>
                  <a:lnTo>
                    <a:pt x="1169547" y="533084"/>
                  </a:lnTo>
                  <a:lnTo>
                    <a:pt x="1195029" y="482179"/>
                  </a:lnTo>
                  <a:lnTo>
                    <a:pt x="1220060" y="432380"/>
                  </a:lnTo>
                  <a:lnTo>
                    <a:pt x="1244498" y="384303"/>
                  </a:lnTo>
                  <a:lnTo>
                    <a:pt x="1268206" y="338564"/>
                  </a:lnTo>
                  <a:lnTo>
                    <a:pt x="1291042" y="295779"/>
                  </a:lnTo>
                  <a:lnTo>
                    <a:pt x="1312867" y="256562"/>
                  </a:lnTo>
                  <a:lnTo>
                    <a:pt x="1333541" y="221530"/>
                  </a:lnTo>
                  <a:lnTo>
                    <a:pt x="1401813" y="122823"/>
                  </a:lnTo>
                  <a:lnTo>
                    <a:pt x="1443768" y="72337"/>
                  </a:lnTo>
                  <a:lnTo>
                    <a:pt x="1480597" y="37325"/>
                  </a:lnTo>
                  <a:lnTo>
                    <a:pt x="1514106" y="15273"/>
                  </a:lnTo>
                  <a:lnTo>
                    <a:pt x="1578394" y="0"/>
                  </a:lnTo>
                  <a:lnTo>
                    <a:pt x="1610051" y="1609"/>
                  </a:lnTo>
                  <a:lnTo>
                    <a:pt x="1671476" y="26864"/>
                  </a:lnTo>
                  <a:lnTo>
                    <a:pt x="1705423" y="56394"/>
                  </a:lnTo>
                  <a:lnTo>
                    <a:pt x="1744310" y="101115"/>
                  </a:lnTo>
                  <a:lnTo>
                    <a:pt x="1790226" y="163969"/>
                  </a:lnTo>
                  <a:lnTo>
                    <a:pt x="1831060" y="229342"/>
                  </a:lnTo>
                  <a:lnTo>
                    <a:pt x="1853619" y="269030"/>
                  </a:lnTo>
                  <a:lnTo>
                    <a:pt x="1877340" y="312465"/>
                  </a:lnTo>
                  <a:lnTo>
                    <a:pt x="1902022" y="358956"/>
                  </a:lnTo>
                  <a:lnTo>
                    <a:pt x="1927465" y="407813"/>
                  </a:lnTo>
                  <a:lnTo>
                    <a:pt x="1953468" y="458345"/>
                  </a:lnTo>
                  <a:lnTo>
                    <a:pt x="1979831" y="509862"/>
                  </a:lnTo>
                  <a:lnTo>
                    <a:pt x="2006355" y="561672"/>
                  </a:lnTo>
                  <a:lnTo>
                    <a:pt x="2032837" y="613085"/>
                  </a:lnTo>
                  <a:lnTo>
                    <a:pt x="2059079" y="663410"/>
                  </a:lnTo>
                  <a:lnTo>
                    <a:pt x="2084880" y="711958"/>
                  </a:lnTo>
                  <a:lnTo>
                    <a:pt x="2110039" y="758036"/>
                  </a:lnTo>
                  <a:lnTo>
                    <a:pt x="2134357" y="800955"/>
                  </a:lnTo>
                  <a:lnTo>
                    <a:pt x="2157632" y="840024"/>
                  </a:lnTo>
                  <a:lnTo>
                    <a:pt x="2179666" y="874552"/>
                  </a:lnTo>
                  <a:lnTo>
                    <a:pt x="2216177" y="928071"/>
                  </a:lnTo>
                  <a:lnTo>
                    <a:pt x="2250212" y="975236"/>
                  </a:lnTo>
                  <a:lnTo>
                    <a:pt x="2282419" y="1016780"/>
                  </a:lnTo>
                  <a:lnTo>
                    <a:pt x="2313444" y="1053433"/>
                  </a:lnTo>
                  <a:lnTo>
                    <a:pt x="2343935" y="1085925"/>
                  </a:lnTo>
                  <a:lnTo>
                    <a:pt x="2374537" y="1114988"/>
                  </a:lnTo>
                  <a:lnTo>
                    <a:pt x="2405897" y="1141351"/>
                  </a:lnTo>
                  <a:lnTo>
                    <a:pt x="2438664" y="1165746"/>
                  </a:lnTo>
                  <a:lnTo>
                    <a:pt x="2473482" y="1188904"/>
                  </a:lnTo>
                  <a:lnTo>
                    <a:pt x="2521088" y="1214870"/>
                  </a:lnTo>
                  <a:lnTo>
                    <a:pt x="2570738" y="1234946"/>
                  </a:lnTo>
                  <a:lnTo>
                    <a:pt x="2621838" y="1250204"/>
                  </a:lnTo>
                  <a:lnTo>
                    <a:pt x="2673789" y="1261718"/>
                  </a:lnTo>
                  <a:lnTo>
                    <a:pt x="2725997" y="1270561"/>
                  </a:lnTo>
                  <a:lnTo>
                    <a:pt x="2777866" y="1277806"/>
                  </a:lnTo>
                  <a:lnTo>
                    <a:pt x="2828800" y="1284526"/>
                  </a:lnTo>
                  <a:lnTo>
                    <a:pt x="2932730" y="1291257"/>
                  </a:lnTo>
                  <a:lnTo>
                    <a:pt x="3047020" y="1290509"/>
                  </a:lnTo>
                  <a:lnTo>
                    <a:pt x="3139317" y="1286770"/>
                  </a:lnTo>
                  <a:lnTo>
                    <a:pt x="3177272" y="1284526"/>
                  </a:lnTo>
                </a:path>
              </a:pathLst>
            </a:custGeom>
            <a:ln w="48248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3"/>
          <p:cNvSpPr txBox="1"/>
          <p:nvPr/>
        </p:nvSpPr>
        <p:spPr>
          <a:xfrm>
            <a:off x="9870284" y="3175949"/>
            <a:ext cx="240029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y</a:t>
            </a:r>
            <a:endParaRPr sz="3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" name="object 15"/>
          <p:cNvGrpSpPr/>
          <p:nvPr/>
        </p:nvGrpSpPr>
        <p:grpSpPr>
          <a:xfrm>
            <a:off x="6969472" y="5562926"/>
            <a:ext cx="3535679" cy="355600"/>
            <a:chOff x="6740872" y="5562926"/>
            <a:chExt cx="3535679" cy="355600"/>
          </a:xfrm>
        </p:grpSpPr>
        <p:pic>
          <p:nvPicPr>
            <p:cNvPr id="20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0872" y="5562926"/>
              <a:ext cx="3535678" cy="355111"/>
            </a:xfrm>
            <a:prstGeom prst="rect">
              <a:avLst/>
            </a:prstGeom>
          </p:spPr>
        </p:pic>
        <p:sp>
          <p:nvSpPr>
            <p:cNvPr id="21" name="object 17"/>
            <p:cNvSpPr/>
            <p:nvPr/>
          </p:nvSpPr>
          <p:spPr>
            <a:xfrm>
              <a:off x="6779574" y="5651231"/>
              <a:ext cx="3315335" cy="144780"/>
            </a:xfrm>
            <a:custGeom>
              <a:avLst/>
              <a:gdLst/>
              <a:ahLst/>
              <a:cxnLst/>
              <a:rect l="l" t="t" r="r" b="b"/>
              <a:pathLst>
                <a:path w="3315334" h="144779">
                  <a:moveTo>
                    <a:pt x="3251087" y="72238"/>
                  </a:moveTo>
                  <a:lnTo>
                    <a:pt x="3178405" y="114638"/>
                  </a:lnTo>
                  <a:lnTo>
                    <a:pt x="3173639" y="118888"/>
                  </a:lnTo>
                  <a:lnTo>
                    <a:pt x="3170968" y="124443"/>
                  </a:lnTo>
                  <a:lnTo>
                    <a:pt x="3170574" y="130593"/>
                  </a:lnTo>
                  <a:lnTo>
                    <a:pt x="3172641" y="136629"/>
                  </a:lnTo>
                  <a:lnTo>
                    <a:pt x="3176885" y="141403"/>
                  </a:lnTo>
                  <a:lnTo>
                    <a:pt x="3182432" y="144084"/>
                  </a:lnTo>
                  <a:lnTo>
                    <a:pt x="3188577" y="144485"/>
                  </a:lnTo>
                  <a:lnTo>
                    <a:pt x="3194616" y="142419"/>
                  </a:lnTo>
                  <a:lnTo>
                    <a:pt x="3287369" y="88318"/>
                  </a:lnTo>
                  <a:lnTo>
                    <a:pt x="3283034" y="88318"/>
                  </a:lnTo>
                  <a:lnTo>
                    <a:pt x="3283034" y="86131"/>
                  </a:lnTo>
                  <a:lnTo>
                    <a:pt x="3274902" y="86131"/>
                  </a:lnTo>
                  <a:lnTo>
                    <a:pt x="3251087" y="72238"/>
                  </a:lnTo>
                  <a:close/>
                </a:path>
                <a:path w="3315334" h="144779">
                  <a:moveTo>
                    <a:pt x="3223513" y="56152"/>
                  </a:moveTo>
                  <a:lnTo>
                    <a:pt x="0" y="56152"/>
                  </a:lnTo>
                  <a:lnTo>
                    <a:pt x="0" y="88318"/>
                  </a:lnTo>
                  <a:lnTo>
                    <a:pt x="3223522" y="88318"/>
                  </a:lnTo>
                  <a:lnTo>
                    <a:pt x="3251087" y="72238"/>
                  </a:lnTo>
                  <a:lnTo>
                    <a:pt x="3223513" y="56152"/>
                  </a:lnTo>
                  <a:close/>
                </a:path>
                <a:path w="3315334" h="144779">
                  <a:moveTo>
                    <a:pt x="3287367" y="56152"/>
                  </a:moveTo>
                  <a:lnTo>
                    <a:pt x="3283034" y="56152"/>
                  </a:lnTo>
                  <a:lnTo>
                    <a:pt x="3283034" y="88318"/>
                  </a:lnTo>
                  <a:lnTo>
                    <a:pt x="3287369" y="88318"/>
                  </a:lnTo>
                  <a:lnTo>
                    <a:pt x="3314938" y="72238"/>
                  </a:lnTo>
                  <a:lnTo>
                    <a:pt x="3287367" y="56152"/>
                  </a:lnTo>
                  <a:close/>
                </a:path>
                <a:path w="3315334" h="144779">
                  <a:moveTo>
                    <a:pt x="3274902" y="58345"/>
                  </a:moveTo>
                  <a:lnTo>
                    <a:pt x="3251087" y="72238"/>
                  </a:lnTo>
                  <a:lnTo>
                    <a:pt x="3274902" y="86131"/>
                  </a:lnTo>
                  <a:lnTo>
                    <a:pt x="3274902" y="58345"/>
                  </a:lnTo>
                  <a:close/>
                </a:path>
                <a:path w="3315334" h="144779">
                  <a:moveTo>
                    <a:pt x="3283034" y="58345"/>
                  </a:moveTo>
                  <a:lnTo>
                    <a:pt x="3274902" y="58345"/>
                  </a:lnTo>
                  <a:lnTo>
                    <a:pt x="3274902" y="86131"/>
                  </a:lnTo>
                  <a:lnTo>
                    <a:pt x="3283034" y="86131"/>
                  </a:lnTo>
                  <a:lnTo>
                    <a:pt x="3283034" y="58345"/>
                  </a:lnTo>
                  <a:close/>
                </a:path>
                <a:path w="3315334" h="144779">
                  <a:moveTo>
                    <a:pt x="3188577" y="0"/>
                  </a:moveTo>
                  <a:lnTo>
                    <a:pt x="3182432" y="403"/>
                  </a:lnTo>
                  <a:lnTo>
                    <a:pt x="3176885" y="3081"/>
                  </a:lnTo>
                  <a:lnTo>
                    <a:pt x="3172641" y="7847"/>
                  </a:lnTo>
                  <a:lnTo>
                    <a:pt x="3170574" y="13895"/>
                  </a:lnTo>
                  <a:lnTo>
                    <a:pt x="3170968" y="20049"/>
                  </a:lnTo>
                  <a:lnTo>
                    <a:pt x="3173639" y="25599"/>
                  </a:lnTo>
                  <a:lnTo>
                    <a:pt x="3178405" y="29838"/>
                  </a:lnTo>
                  <a:lnTo>
                    <a:pt x="3251087" y="72238"/>
                  </a:lnTo>
                  <a:lnTo>
                    <a:pt x="3274902" y="58345"/>
                  </a:lnTo>
                  <a:lnTo>
                    <a:pt x="3283034" y="58345"/>
                  </a:lnTo>
                  <a:lnTo>
                    <a:pt x="3283034" y="56152"/>
                  </a:lnTo>
                  <a:lnTo>
                    <a:pt x="3287367" y="56152"/>
                  </a:lnTo>
                  <a:lnTo>
                    <a:pt x="3194616" y="2057"/>
                  </a:lnTo>
                  <a:lnTo>
                    <a:pt x="3188577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18"/>
          <p:cNvSpPr txBox="1"/>
          <p:nvPr/>
        </p:nvSpPr>
        <p:spPr>
          <a:xfrm>
            <a:off x="7577366" y="5713199"/>
            <a:ext cx="313055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365" dirty="0">
                <a:latin typeface="Arial" panose="020B0604020202020204"/>
                <a:cs typeface="Arial" panose="020B0604020202020204"/>
              </a:rPr>
              <a:t>-</a:t>
            </a:r>
            <a:r>
              <a:rPr sz="2400" spc="-160" dirty="0">
                <a:latin typeface="Arial" panose="020B0604020202020204"/>
                <a:cs typeface="Arial" panose="020B0604020202020204"/>
              </a:rPr>
              <a:t>1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19"/>
          <p:cNvSpPr txBox="1"/>
          <p:nvPr/>
        </p:nvSpPr>
        <p:spPr>
          <a:xfrm>
            <a:off x="9182368" y="5718346"/>
            <a:ext cx="372110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25" dirty="0">
                <a:latin typeface="Arial" panose="020B0604020202020204"/>
                <a:cs typeface="Arial" panose="020B0604020202020204"/>
              </a:rPr>
              <a:t>+1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0"/>
          <p:cNvSpPr txBox="1"/>
          <p:nvPr/>
        </p:nvSpPr>
        <p:spPr>
          <a:xfrm>
            <a:off x="10024874" y="5615415"/>
            <a:ext cx="240029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-5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y</a:t>
            </a:r>
            <a:endParaRPr sz="3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5" name="object 21"/>
          <p:cNvGrpSpPr/>
          <p:nvPr/>
        </p:nvGrpSpPr>
        <p:grpSpPr>
          <a:xfrm>
            <a:off x="7545885" y="4070427"/>
            <a:ext cx="2151380" cy="1708785"/>
            <a:chOff x="7317285" y="4070427"/>
            <a:chExt cx="2151380" cy="1708785"/>
          </a:xfrm>
        </p:grpSpPr>
        <p:pic>
          <p:nvPicPr>
            <p:cNvPr id="26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7285" y="4621108"/>
              <a:ext cx="504361" cy="1137387"/>
            </a:xfrm>
            <a:prstGeom prst="rect">
              <a:avLst/>
            </a:prstGeom>
          </p:spPr>
        </p:pic>
        <p:sp>
          <p:nvSpPr>
            <p:cNvPr id="27" name="object 23"/>
            <p:cNvSpPr/>
            <p:nvPr/>
          </p:nvSpPr>
          <p:spPr>
            <a:xfrm>
              <a:off x="7460171" y="4856758"/>
              <a:ext cx="217170" cy="851535"/>
            </a:xfrm>
            <a:custGeom>
              <a:avLst/>
              <a:gdLst/>
              <a:ahLst/>
              <a:cxnLst/>
              <a:rect l="l" t="t" r="r" b="b"/>
              <a:pathLst>
                <a:path w="217170" h="851535">
                  <a:moveTo>
                    <a:pt x="108700" y="95763"/>
                  </a:moveTo>
                  <a:lnTo>
                    <a:pt x="84420" y="137032"/>
                  </a:lnTo>
                  <a:lnTo>
                    <a:pt x="81813" y="850791"/>
                  </a:lnTo>
                  <a:lnTo>
                    <a:pt x="130087" y="850971"/>
                  </a:lnTo>
                  <a:lnTo>
                    <a:pt x="132695" y="137249"/>
                  </a:lnTo>
                  <a:lnTo>
                    <a:pt x="132696" y="137032"/>
                  </a:lnTo>
                  <a:lnTo>
                    <a:pt x="108700" y="95763"/>
                  </a:lnTo>
                  <a:close/>
                </a:path>
                <a:path w="217170" h="851535">
                  <a:moveTo>
                    <a:pt x="136683" y="47785"/>
                  </a:moveTo>
                  <a:lnTo>
                    <a:pt x="84746" y="47785"/>
                  </a:lnTo>
                  <a:lnTo>
                    <a:pt x="133021" y="47965"/>
                  </a:lnTo>
                  <a:lnTo>
                    <a:pt x="132846" y="95763"/>
                  </a:lnTo>
                  <a:lnTo>
                    <a:pt x="132569" y="137032"/>
                  </a:lnTo>
                  <a:lnTo>
                    <a:pt x="171877" y="204997"/>
                  </a:lnTo>
                  <a:lnTo>
                    <a:pt x="195789" y="216865"/>
                  </a:lnTo>
                  <a:lnTo>
                    <a:pt x="204867" y="213803"/>
                  </a:lnTo>
                  <a:lnTo>
                    <a:pt x="212046" y="207458"/>
                  </a:lnTo>
                  <a:lnTo>
                    <a:pt x="216099" y="199145"/>
                  </a:lnTo>
                  <a:lnTo>
                    <a:pt x="216736" y="189923"/>
                  </a:lnTo>
                  <a:lnTo>
                    <a:pt x="213667" y="180854"/>
                  </a:lnTo>
                  <a:lnTo>
                    <a:pt x="136787" y="47965"/>
                  </a:lnTo>
                  <a:lnTo>
                    <a:pt x="136683" y="47785"/>
                  </a:lnTo>
                  <a:close/>
                </a:path>
                <a:path w="217170" h="851535">
                  <a:moveTo>
                    <a:pt x="109038" y="0"/>
                  </a:moveTo>
                  <a:lnTo>
                    <a:pt x="3122" y="180088"/>
                  </a:lnTo>
                  <a:lnTo>
                    <a:pt x="0" y="189140"/>
                  </a:lnTo>
                  <a:lnTo>
                    <a:pt x="568" y="198366"/>
                  </a:lnTo>
                  <a:lnTo>
                    <a:pt x="4562" y="206706"/>
                  </a:lnTo>
                  <a:lnTo>
                    <a:pt x="11717" y="213097"/>
                  </a:lnTo>
                  <a:lnTo>
                    <a:pt x="20771" y="216230"/>
                  </a:lnTo>
                  <a:lnTo>
                    <a:pt x="29987" y="215663"/>
                  </a:lnTo>
                  <a:lnTo>
                    <a:pt x="84420" y="137032"/>
                  </a:lnTo>
                  <a:lnTo>
                    <a:pt x="84701" y="60111"/>
                  </a:lnTo>
                  <a:lnTo>
                    <a:pt x="84746" y="47785"/>
                  </a:lnTo>
                  <a:lnTo>
                    <a:pt x="136683" y="47785"/>
                  </a:lnTo>
                  <a:lnTo>
                    <a:pt x="109038" y="0"/>
                  </a:lnTo>
                  <a:close/>
                </a:path>
                <a:path w="217170" h="851535">
                  <a:moveTo>
                    <a:pt x="84746" y="47785"/>
                  </a:moveTo>
                  <a:lnTo>
                    <a:pt x="84420" y="137032"/>
                  </a:lnTo>
                  <a:lnTo>
                    <a:pt x="108700" y="95763"/>
                  </a:lnTo>
                  <a:lnTo>
                    <a:pt x="88081" y="60111"/>
                  </a:lnTo>
                  <a:lnTo>
                    <a:pt x="87989" y="59952"/>
                  </a:lnTo>
                  <a:lnTo>
                    <a:pt x="132977" y="59952"/>
                  </a:lnTo>
                  <a:lnTo>
                    <a:pt x="133021" y="47965"/>
                  </a:lnTo>
                  <a:lnTo>
                    <a:pt x="84746" y="47785"/>
                  </a:lnTo>
                  <a:close/>
                </a:path>
                <a:path w="217170" h="851535">
                  <a:moveTo>
                    <a:pt x="132977" y="59952"/>
                  </a:moveTo>
                  <a:lnTo>
                    <a:pt x="87989" y="59952"/>
                  </a:lnTo>
                  <a:lnTo>
                    <a:pt x="129676" y="60111"/>
                  </a:lnTo>
                  <a:lnTo>
                    <a:pt x="108700" y="95763"/>
                  </a:lnTo>
                  <a:lnTo>
                    <a:pt x="132569" y="137032"/>
                  </a:lnTo>
                  <a:lnTo>
                    <a:pt x="132846" y="95763"/>
                  </a:lnTo>
                  <a:lnTo>
                    <a:pt x="132977" y="60111"/>
                  </a:lnTo>
                  <a:lnTo>
                    <a:pt x="132977" y="59952"/>
                  </a:lnTo>
                  <a:close/>
                </a:path>
                <a:path w="217170" h="851535">
                  <a:moveTo>
                    <a:pt x="87989" y="59952"/>
                  </a:moveTo>
                  <a:lnTo>
                    <a:pt x="108700" y="95763"/>
                  </a:lnTo>
                  <a:lnTo>
                    <a:pt x="129676" y="60111"/>
                  </a:lnTo>
                  <a:lnTo>
                    <a:pt x="87989" y="59952"/>
                  </a:lnTo>
                  <a:close/>
                </a:path>
              </a:pathLst>
            </a:custGeom>
            <a:solidFill>
              <a:srgbClr val="5183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69327" y="4070427"/>
              <a:ext cx="499215" cy="1708653"/>
            </a:xfrm>
            <a:prstGeom prst="rect">
              <a:avLst/>
            </a:prstGeom>
          </p:spPr>
        </p:pic>
        <p:sp>
          <p:nvSpPr>
            <p:cNvPr id="29" name="object 25"/>
            <p:cNvSpPr/>
            <p:nvPr/>
          </p:nvSpPr>
          <p:spPr>
            <a:xfrm>
              <a:off x="9109810" y="4304873"/>
              <a:ext cx="217170" cy="1418590"/>
            </a:xfrm>
            <a:custGeom>
              <a:avLst/>
              <a:gdLst/>
              <a:ahLst/>
              <a:cxnLst/>
              <a:rect l="l" t="t" r="r" b="b"/>
              <a:pathLst>
                <a:path w="217170" h="1418589">
                  <a:moveTo>
                    <a:pt x="108359" y="95763"/>
                  </a:moveTo>
                  <a:lnTo>
                    <a:pt x="84241" y="137124"/>
                  </a:lnTo>
                  <a:lnTo>
                    <a:pt x="84241" y="1418594"/>
                  </a:lnTo>
                  <a:lnTo>
                    <a:pt x="132490" y="1418594"/>
                  </a:lnTo>
                  <a:lnTo>
                    <a:pt x="132490" y="137124"/>
                  </a:lnTo>
                  <a:lnTo>
                    <a:pt x="108359" y="95763"/>
                  </a:lnTo>
                  <a:close/>
                </a:path>
                <a:path w="217170" h="1418589">
                  <a:moveTo>
                    <a:pt x="108404" y="0"/>
                  </a:moveTo>
                  <a:lnTo>
                    <a:pt x="3106" y="180468"/>
                  </a:lnTo>
                  <a:lnTo>
                    <a:pt x="0" y="189530"/>
                  </a:lnTo>
                  <a:lnTo>
                    <a:pt x="603" y="198758"/>
                  </a:lnTo>
                  <a:lnTo>
                    <a:pt x="4633" y="207089"/>
                  </a:lnTo>
                  <a:lnTo>
                    <a:pt x="11804" y="213458"/>
                  </a:lnTo>
                  <a:lnTo>
                    <a:pt x="20852" y="216551"/>
                  </a:lnTo>
                  <a:lnTo>
                    <a:pt x="30074" y="215947"/>
                  </a:lnTo>
                  <a:lnTo>
                    <a:pt x="38408" y="211927"/>
                  </a:lnTo>
                  <a:lnTo>
                    <a:pt x="44793" y="204776"/>
                  </a:lnTo>
                  <a:lnTo>
                    <a:pt x="84241" y="137124"/>
                  </a:lnTo>
                  <a:lnTo>
                    <a:pt x="84241" y="47862"/>
                  </a:lnTo>
                  <a:lnTo>
                    <a:pt x="136317" y="47862"/>
                  </a:lnTo>
                  <a:lnTo>
                    <a:pt x="108404" y="0"/>
                  </a:lnTo>
                  <a:close/>
                </a:path>
                <a:path w="217170" h="1418589">
                  <a:moveTo>
                    <a:pt x="136317" y="47862"/>
                  </a:moveTo>
                  <a:lnTo>
                    <a:pt x="132490" y="47862"/>
                  </a:lnTo>
                  <a:lnTo>
                    <a:pt x="132492" y="137124"/>
                  </a:lnTo>
                  <a:lnTo>
                    <a:pt x="171964" y="204776"/>
                  </a:lnTo>
                  <a:lnTo>
                    <a:pt x="178349" y="211927"/>
                  </a:lnTo>
                  <a:lnTo>
                    <a:pt x="186683" y="215947"/>
                  </a:lnTo>
                  <a:lnTo>
                    <a:pt x="195905" y="216551"/>
                  </a:lnTo>
                  <a:lnTo>
                    <a:pt x="204954" y="213458"/>
                  </a:lnTo>
                  <a:lnTo>
                    <a:pt x="212117" y="207089"/>
                  </a:lnTo>
                  <a:lnTo>
                    <a:pt x="216134" y="198758"/>
                  </a:lnTo>
                  <a:lnTo>
                    <a:pt x="216736" y="189530"/>
                  </a:lnTo>
                  <a:lnTo>
                    <a:pt x="213651" y="180468"/>
                  </a:lnTo>
                  <a:lnTo>
                    <a:pt x="136317" y="47862"/>
                  </a:lnTo>
                  <a:close/>
                </a:path>
                <a:path w="217170" h="1418589">
                  <a:moveTo>
                    <a:pt x="132490" y="47862"/>
                  </a:moveTo>
                  <a:lnTo>
                    <a:pt x="84241" y="47862"/>
                  </a:lnTo>
                  <a:lnTo>
                    <a:pt x="84241" y="137124"/>
                  </a:lnTo>
                  <a:lnTo>
                    <a:pt x="108359" y="95763"/>
                  </a:lnTo>
                  <a:lnTo>
                    <a:pt x="87509" y="60029"/>
                  </a:lnTo>
                  <a:lnTo>
                    <a:pt x="132490" y="60029"/>
                  </a:lnTo>
                  <a:lnTo>
                    <a:pt x="132490" y="47862"/>
                  </a:lnTo>
                  <a:close/>
                </a:path>
                <a:path w="217170" h="1418589">
                  <a:moveTo>
                    <a:pt x="132490" y="60029"/>
                  </a:moveTo>
                  <a:lnTo>
                    <a:pt x="129196" y="60029"/>
                  </a:lnTo>
                  <a:lnTo>
                    <a:pt x="108359" y="95763"/>
                  </a:lnTo>
                  <a:lnTo>
                    <a:pt x="132492" y="137124"/>
                  </a:lnTo>
                  <a:lnTo>
                    <a:pt x="132490" y="60029"/>
                  </a:lnTo>
                  <a:close/>
                </a:path>
                <a:path w="217170" h="1418589">
                  <a:moveTo>
                    <a:pt x="129196" y="60029"/>
                  </a:moveTo>
                  <a:lnTo>
                    <a:pt x="87509" y="60029"/>
                  </a:lnTo>
                  <a:lnTo>
                    <a:pt x="108359" y="95763"/>
                  </a:lnTo>
                  <a:lnTo>
                    <a:pt x="129196" y="60029"/>
                  </a:lnTo>
                  <a:close/>
                </a:path>
              </a:pathLst>
            </a:custGeom>
            <a:solidFill>
              <a:srgbClr val="5183BB"/>
            </a:solidFill>
          </p:spPr>
          <p:txBody>
            <a:bodyPr wrap="square" lIns="0" tIns="0" rIns="0" bIns="0" rtlCol="0"/>
            <a:lstStyle/>
            <a:p/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bject 26"/>
              <p:cNvSpPr txBox="1"/>
              <p:nvPr/>
            </p:nvSpPr>
            <p:spPr>
              <a:xfrm>
                <a:off x="886749" y="4147403"/>
                <a:ext cx="4335780" cy="163249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27025" indent="-288925">
                  <a:lnSpc>
                    <a:spcPct val="100000"/>
                  </a:lnSpc>
                  <a:spcBef>
                    <a:spcPts val="100"/>
                  </a:spcBef>
                  <a:buClr>
                    <a:srgbClr val="5D5555"/>
                  </a:buClr>
                  <a:buChar char="•"/>
                  <a:tabLst>
                    <a:tab pos="327025" algn="l"/>
                  </a:tabLst>
                </a:pPr>
                <a:r>
                  <a:rPr lang="zh-CN" altLang="en-US" sz="2800" b="1" dirty="0">
                    <a:solidFill>
                      <a:srgbClr val="2B272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逻辑回归</a:t>
                </a:r>
                <a:endParaRPr sz="28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2366645">
                  <a:lnSpc>
                    <a:spcPts val="3250"/>
                  </a:lnSpc>
                  <a:spcBef>
                    <a:spcPts val="105"/>
                  </a:spcBef>
                  <a:tabLst>
                    <a:tab pos="3188335" algn="l"/>
                    <a:tab pos="4174490" algn="l"/>
                  </a:tabLst>
                </a:pPr>
                <a:r>
                  <a:rPr sz="3000" u="heavy" dirty="0">
                    <a:uFill>
                      <a:solidFill>
                        <a:srgbClr val="000000"/>
                      </a:solidFill>
                    </a:uFill>
                    <a:latin typeface="Arial" panose="020B0604020202020204"/>
                    <a:cs typeface="Arial" panose="020B0604020202020204"/>
                  </a:rPr>
                  <a:t>	</a:t>
                </a:r>
                <a:r>
                  <a:rPr sz="3000" u="heavy" spc="-50" dirty="0">
                    <a:uFill>
                      <a:solidFill>
                        <a:srgbClr val="000000"/>
                      </a:solidFill>
                    </a:uFill>
                    <a:latin typeface="Arial" panose="020B0604020202020204"/>
                    <a:cs typeface="Arial" panose="020B0604020202020204"/>
                  </a:rPr>
                  <a:t>1</a:t>
                </a:r>
                <a:r>
                  <a:rPr sz="3000" u="heavy" dirty="0">
                    <a:uFill>
                      <a:solidFill>
                        <a:srgbClr val="000000"/>
                      </a:solidFill>
                    </a:uFill>
                    <a:latin typeface="Arial" panose="020B0604020202020204"/>
                    <a:cs typeface="Arial" panose="020B0604020202020204"/>
                  </a:rPr>
                  <a:t>	</a:t>
                </a:r>
                <a:r>
                  <a:rPr sz="500" u="heavy" spc="-50" dirty="0">
                    <a:uFill>
                      <a:solidFill>
                        <a:srgbClr val="000000"/>
                      </a:solidFill>
                    </a:uFill>
                    <a:latin typeface="Calibri" panose="020F0502020204030204"/>
                    <a:cs typeface="Calibri" panose="020F0502020204030204"/>
                  </a:rPr>
                  <a:t>.</a:t>
                </a:r>
                <a:r>
                  <a:rPr sz="500" u="heavy" spc="500" dirty="0">
                    <a:uFill>
                      <a:solidFill>
                        <a:srgbClr val="000000"/>
                      </a:solidFill>
                    </a:uFill>
                    <a:latin typeface="Calibri" panose="020F0502020204030204"/>
                    <a:cs typeface="Calibri" panose="020F0502020204030204"/>
                  </a:rPr>
                  <a:t> </a:t>
                </a:r>
                <a:endParaRPr sz="500" dirty="0">
                  <a:latin typeface="Calibri" panose="020F0502020204030204"/>
                  <a:cs typeface="Calibri" panose="020F0502020204030204"/>
                </a:endParaRPr>
              </a:p>
              <a:p>
                <a:pPr marL="2393315">
                  <a:lnSpc>
                    <a:spcPts val="2585"/>
                  </a:lnSpc>
                </a:pPr>
                <a:r>
                  <a:rPr sz="3975" baseline="-16000" dirty="0">
                    <a:latin typeface="Arial" panose="020B0604020202020204"/>
                    <a:cs typeface="Arial" panose="020B0604020202020204"/>
                  </a:rPr>
                  <a:t>1</a:t>
                </a:r>
                <a:r>
                  <a:rPr sz="3975" spc="-89" baseline="-16000" dirty="0">
                    <a:latin typeface="Arial" panose="020B0604020202020204"/>
                    <a:cs typeface="Arial" panose="020B0604020202020204"/>
                  </a:rPr>
                  <a:t> </a:t>
                </a:r>
                <a:r>
                  <a:rPr sz="3975" spc="434" baseline="-16000" dirty="0">
                    <a:latin typeface="Arial" panose="020B0604020202020204"/>
                    <a:cs typeface="Arial" panose="020B0604020202020204"/>
                  </a:rPr>
                  <a:t>+</a:t>
                </a:r>
                <a:r>
                  <a:rPr sz="3975" spc="-52" baseline="-16000" dirty="0">
                    <a:latin typeface="Arial" panose="020B0604020202020204"/>
                    <a:cs typeface="Arial" panose="020B0604020202020204"/>
                  </a:rPr>
                  <a:t> </a:t>
                </a:r>
                <a:r>
                  <a:rPr sz="3975" spc="217" baseline="-16000" dirty="0">
                    <a:latin typeface="Arial" panose="020B0604020202020204"/>
                    <a:cs typeface="Arial" panose="020B0604020202020204"/>
                  </a:rPr>
                  <a:t>e</a:t>
                </a:r>
                <a:r>
                  <a:rPr sz="2700" spc="217" baseline="2000" dirty="0">
                    <a:latin typeface="Tahoma" panose="020B0604030504040204"/>
                    <a:cs typeface="Tahoma" panose="020B0604030504040204"/>
                  </a:rPr>
                  <a:t>-</a:t>
                </a:r>
                <a:r>
                  <a:rPr lang="zh-CN" altLang="en-US" sz="2700" spc="-202" baseline="2000" dirty="0">
                    <a:latin typeface="Tahoma" panose="020B0604030504040204"/>
                    <a:cs typeface="Tahoma" panose="020B060403050404020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000" b="1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000" b="1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⊺</m:t>
                        </m:r>
                      </m:sup>
                    </m:sSup>
                    <m:r>
                      <a:rPr lang="en-US" altLang="zh-CN" sz="2000" b="1" i="1" spc="6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𝝓</m:t>
                    </m:r>
                    <m:d>
                      <m:dPr>
                        <m:ctrlPr>
                          <a:rPr lang="en-US" altLang="zh-CN" sz="20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0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𝒙</m:t>
                        </m:r>
                      </m:e>
                    </m:d>
                  </m:oMath>
                </a14:m>
                <a:endParaRPr sz="1850" dirty="0">
                  <a:latin typeface="Arial" panose="020B0604020202020204"/>
                  <a:cs typeface="Arial" panose="020B0604020202020204"/>
                </a:endParaRPr>
              </a:p>
              <a:p>
                <a:pPr marL="143510">
                  <a:lnSpc>
                    <a:spcPts val="3355"/>
                  </a:lnSpc>
                </a:pPr>
                <a:r>
                  <a:rPr sz="2400" spc="-60" dirty="0">
                    <a:latin typeface="Arial" panose="020B0604020202020204"/>
                    <a:cs typeface="Arial" panose="020B0604020202020204"/>
                  </a:rPr>
                  <a:t>P(y|</a:t>
                </a:r>
                <a:r>
                  <a:rPr sz="2400" spc="-60" dirty="0">
                    <a:latin typeface="Lucida Sans Unicode" panose="020B0602030504020204"/>
                    <a:cs typeface="Lucida Sans Unicode" panose="020B0602030504020204"/>
                  </a:rPr>
                  <a:t>x</a:t>
                </a:r>
                <a:r>
                  <a:rPr sz="2400" spc="-60" dirty="0">
                    <a:latin typeface="Arial" panose="020B0604020202020204"/>
                    <a:cs typeface="Arial" panose="020B0604020202020204"/>
                  </a:rPr>
                  <a:t>,</a:t>
                </a:r>
                <a:r>
                  <a:rPr sz="2400" spc="-60" dirty="0">
                    <a:solidFill>
                      <a:srgbClr val="118CC4"/>
                    </a:solidFill>
                    <a:latin typeface="Lucida Sans Unicode" panose="020B0602030504020204"/>
                    <a:cs typeface="Lucida Sans Unicode" panose="020B0602030504020204"/>
                  </a:rPr>
                  <a:t>w</a:t>
                </a:r>
                <a:r>
                  <a:rPr sz="2400" spc="-60" dirty="0">
                    <a:latin typeface="Arial" panose="020B0604020202020204"/>
                    <a:cs typeface="Arial" panose="020B0604020202020204"/>
                  </a:rPr>
                  <a:t>)</a:t>
                </a:r>
                <a:r>
                  <a:rPr sz="2400" spc="-80" dirty="0">
                    <a:latin typeface="Arial" panose="020B0604020202020204"/>
                    <a:cs typeface="Arial" panose="020B0604020202020204"/>
                  </a:rPr>
                  <a:t> </a:t>
                </a:r>
                <a:r>
                  <a:rPr sz="2400" spc="265" dirty="0">
                    <a:latin typeface="Arial" panose="020B0604020202020204"/>
                    <a:cs typeface="Arial" panose="020B0604020202020204"/>
                  </a:rPr>
                  <a:t>=</a:t>
                </a:r>
                <a:endParaRPr sz="2400" dirty="0">
                  <a:latin typeface="Arial" panose="020B0604020202020204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30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749" y="4147403"/>
                <a:ext cx="4335780" cy="1632498"/>
              </a:xfrm>
              <a:prstGeom prst="rect">
                <a:avLst/>
              </a:prstGeom>
              <a:blipFill rotWithShape="1">
                <a:blip r:embed="rId7"/>
                <a:stretch>
                  <a:fillRect l="-7" t="-1102" r="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object 27"/>
          <p:cNvGrpSpPr/>
          <p:nvPr/>
        </p:nvGrpSpPr>
        <p:grpSpPr>
          <a:xfrm>
            <a:off x="2944871" y="4615961"/>
            <a:ext cx="2372360" cy="1971675"/>
            <a:chOff x="2716271" y="4615961"/>
            <a:chExt cx="2372360" cy="1971675"/>
          </a:xfrm>
        </p:grpSpPr>
        <p:pic>
          <p:nvPicPr>
            <p:cNvPr id="32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16271" y="4615961"/>
              <a:ext cx="427163" cy="1971127"/>
            </a:xfrm>
            <a:prstGeom prst="rect">
              <a:avLst/>
            </a:prstGeom>
          </p:spPr>
        </p:pic>
        <p:sp>
          <p:nvSpPr>
            <p:cNvPr id="33" name="object 29"/>
            <p:cNvSpPr/>
            <p:nvPr/>
          </p:nvSpPr>
          <p:spPr>
            <a:xfrm>
              <a:off x="2762791" y="4645430"/>
              <a:ext cx="344805" cy="1876425"/>
            </a:xfrm>
            <a:custGeom>
              <a:avLst/>
              <a:gdLst/>
              <a:ahLst/>
              <a:cxnLst/>
              <a:rect l="l" t="t" r="r" b="b"/>
              <a:pathLst>
                <a:path w="344805" h="1876425">
                  <a:moveTo>
                    <a:pt x="344659" y="1876395"/>
                  </a:moveTo>
                  <a:lnTo>
                    <a:pt x="277582" y="1874137"/>
                  </a:lnTo>
                  <a:lnTo>
                    <a:pt x="222804" y="1867979"/>
                  </a:lnTo>
                  <a:lnTo>
                    <a:pt x="185870" y="1858847"/>
                  </a:lnTo>
                  <a:lnTo>
                    <a:pt x="172327" y="1847667"/>
                  </a:lnTo>
                  <a:lnTo>
                    <a:pt x="172327" y="966907"/>
                  </a:lnTo>
                  <a:lnTo>
                    <a:pt x="158784" y="955729"/>
                  </a:lnTo>
                  <a:lnTo>
                    <a:pt x="121852" y="946603"/>
                  </a:lnTo>
                  <a:lnTo>
                    <a:pt x="67075" y="940450"/>
                  </a:lnTo>
                  <a:lnTo>
                    <a:pt x="0" y="938195"/>
                  </a:lnTo>
                  <a:lnTo>
                    <a:pt x="67075" y="935936"/>
                  </a:lnTo>
                  <a:lnTo>
                    <a:pt x="121852" y="929779"/>
                  </a:lnTo>
                  <a:lnTo>
                    <a:pt x="158784" y="920647"/>
                  </a:lnTo>
                  <a:lnTo>
                    <a:pt x="172327" y="909467"/>
                  </a:lnTo>
                  <a:lnTo>
                    <a:pt x="172327" y="28707"/>
                  </a:lnTo>
                  <a:lnTo>
                    <a:pt x="185870" y="17530"/>
                  </a:lnTo>
                  <a:lnTo>
                    <a:pt x="222804" y="8405"/>
                  </a:lnTo>
                  <a:lnTo>
                    <a:pt x="277582" y="2254"/>
                  </a:lnTo>
                  <a:lnTo>
                    <a:pt x="344659" y="0"/>
                  </a:lnTo>
                </a:path>
              </a:pathLst>
            </a:custGeom>
            <a:ln w="21443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0"/>
            <p:cNvSpPr/>
            <p:nvPr/>
          </p:nvSpPr>
          <p:spPr>
            <a:xfrm>
              <a:off x="3158334" y="5865219"/>
              <a:ext cx="879475" cy="21590"/>
            </a:xfrm>
            <a:custGeom>
              <a:avLst/>
              <a:gdLst/>
              <a:ahLst/>
              <a:cxnLst/>
              <a:rect l="l" t="t" r="r" b="b"/>
              <a:pathLst>
                <a:path w="879475" h="21589">
                  <a:moveTo>
                    <a:pt x="879215" y="0"/>
                  </a:moveTo>
                  <a:lnTo>
                    <a:pt x="0" y="0"/>
                  </a:lnTo>
                  <a:lnTo>
                    <a:pt x="0" y="21450"/>
                  </a:lnTo>
                  <a:lnTo>
                    <a:pt x="879215" y="21450"/>
                  </a:lnTo>
                  <a:lnTo>
                    <a:pt x="879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1"/>
            <p:cNvSpPr/>
            <p:nvPr/>
          </p:nvSpPr>
          <p:spPr>
            <a:xfrm>
              <a:off x="4037544" y="5865219"/>
              <a:ext cx="278765" cy="21590"/>
            </a:xfrm>
            <a:custGeom>
              <a:avLst/>
              <a:gdLst/>
              <a:ahLst/>
              <a:cxnLst/>
              <a:rect l="l" t="t" r="r" b="b"/>
              <a:pathLst>
                <a:path w="278764" h="21589">
                  <a:moveTo>
                    <a:pt x="278758" y="0"/>
                  </a:moveTo>
                  <a:lnTo>
                    <a:pt x="0" y="0"/>
                  </a:lnTo>
                  <a:lnTo>
                    <a:pt x="0" y="21450"/>
                  </a:lnTo>
                  <a:lnTo>
                    <a:pt x="278758" y="21450"/>
                  </a:lnTo>
                  <a:lnTo>
                    <a:pt x="278758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2"/>
            <p:cNvSpPr/>
            <p:nvPr/>
          </p:nvSpPr>
          <p:spPr>
            <a:xfrm>
              <a:off x="4316272" y="5865228"/>
              <a:ext cx="772160" cy="21590"/>
            </a:xfrm>
            <a:custGeom>
              <a:avLst/>
              <a:gdLst/>
              <a:ahLst/>
              <a:cxnLst/>
              <a:rect l="l" t="t" r="r" b="b"/>
              <a:pathLst>
                <a:path w="772160" h="21589">
                  <a:moveTo>
                    <a:pt x="771982" y="0"/>
                  </a:moveTo>
                  <a:lnTo>
                    <a:pt x="385991" y="0"/>
                  </a:lnTo>
                  <a:lnTo>
                    <a:pt x="0" y="0"/>
                  </a:lnTo>
                  <a:lnTo>
                    <a:pt x="0" y="21450"/>
                  </a:lnTo>
                  <a:lnTo>
                    <a:pt x="385991" y="21450"/>
                  </a:lnTo>
                  <a:lnTo>
                    <a:pt x="771982" y="21450"/>
                  </a:lnTo>
                  <a:lnTo>
                    <a:pt x="7719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3"/>
          <p:cNvSpPr txBox="1"/>
          <p:nvPr/>
        </p:nvSpPr>
        <p:spPr>
          <a:xfrm>
            <a:off x="5286786" y="5790398"/>
            <a:ext cx="36195" cy="774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300" spc="-50" dirty="0">
                <a:latin typeface="Calibri" panose="020F0502020204030204"/>
                <a:cs typeface="Calibri" panose="020F0502020204030204"/>
              </a:rPr>
              <a:t>.</a:t>
            </a:r>
            <a:endParaRPr sz="300"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bject 34"/>
              <p:cNvSpPr txBox="1"/>
              <p:nvPr/>
            </p:nvSpPr>
            <p:spPr>
              <a:xfrm>
                <a:off x="3375152" y="5862314"/>
                <a:ext cx="2170947" cy="41998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3975" baseline="-17000" dirty="0">
                    <a:latin typeface="Arial" panose="020B0604020202020204"/>
                    <a:cs typeface="Arial" panose="020B0604020202020204"/>
                  </a:rPr>
                  <a:t>1</a:t>
                </a:r>
                <a:r>
                  <a:rPr sz="3975" spc="-82" baseline="-17000" dirty="0">
                    <a:latin typeface="Arial" panose="020B0604020202020204"/>
                    <a:cs typeface="Arial" panose="020B0604020202020204"/>
                  </a:rPr>
                  <a:t> </a:t>
                </a:r>
                <a:r>
                  <a:rPr sz="3975" spc="434" baseline="-17000" dirty="0">
                    <a:latin typeface="Arial" panose="020B0604020202020204"/>
                    <a:cs typeface="Arial" panose="020B0604020202020204"/>
                  </a:rPr>
                  <a:t>+</a:t>
                </a:r>
                <a:r>
                  <a:rPr sz="3975" spc="-52" baseline="-17000" dirty="0">
                    <a:latin typeface="Arial" panose="020B0604020202020204"/>
                    <a:cs typeface="Arial" panose="020B0604020202020204"/>
                  </a:rPr>
                  <a:t> </a:t>
                </a:r>
                <a:r>
                  <a:rPr sz="3975" spc="217" baseline="-17000" dirty="0">
                    <a:latin typeface="Arial" panose="020B0604020202020204"/>
                    <a:cs typeface="Arial" panose="020B0604020202020204"/>
                  </a:rPr>
                  <a:t>e</a:t>
                </a:r>
                <a:r>
                  <a:rPr sz="2700" spc="217" baseline="2000" dirty="0">
                    <a:latin typeface="Tahoma" panose="020B0604030504040204"/>
                    <a:cs typeface="Tahoma" panose="020B0604030504040204"/>
                  </a:rPr>
                  <a:t>-</a:t>
                </a:r>
                <a:r>
                  <a:rPr sz="2700" spc="-209" baseline="2000" dirty="0">
                    <a:latin typeface="Tahoma" panose="020B0604030504040204"/>
                    <a:cs typeface="Tahoma" panose="020B060403050404020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000" b="1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000" b="1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⊺</m:t>
                        </m:r>
                      </m:sup>
                    </m:sSup>
                    <m:r>
                      <a:rPr lang="en-US" altLang="zh-CN" sz="2000" b="1" i="1" spc="6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𝝓</m:t>
                    </m:r>
                    <m:d>
                      <m:dPr>
                        <m:ctrlPr>
                          <a:rPr lang="en-US" altLang="zh-CN" sz="20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0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𝒙</m:t>
                        </m:r>
                      </m:e>
                    </m:d>
                  </m:oMath>
                </a14:m>
                <a:endParaRPr sz="1850" dirty="0">
                  <a:latin typeface="Arial" panose="020B0604020202020204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38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152" y="5862314"/>
                <a:ext cx="2170947" cy="419987"/>
              </a:xfrm>
              <a:prstGeom prst="rect">
                <a:avLst/>
              </a:prstGeom>
              <a:blipFill rotWithShape="1">
                <a:blip r:embed="rId9"/>
                <a:stretch>
                  <a:fillRect l="-6" t="-150" b="-108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object 35"/>
              <p:cNvSpPr txBox="1"/>
              <p:nvPr/>
            </p:nvSpPr>
            <p:spPr>
              <a:xfrm>
                <a:off x="3860816" y="5388831"/>
                <a:ext cx="1367363" cy="41998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3975" spc="217" baseline="-17000" dirty="0">
                    <a:latin typeface="Arial" panose="020B0604020202020204"/>
                    <a:cs typeface="Arial" panose="020B0604020202020204"/>
                  </a:rPr>
                  <a:t>e</a:t>
                </a:r>
                <a:r>
                  <a:rPr sz="2700" spc="217" baseline="2000" dirty="0">
                    <a:latin typeface="Tahoma" panose="020B0604030504040204"/>
                    <a:cs typeface="Tahoma" panose="020B0604030504040204"/>
                  </a:rPr>
                  <a:t>-</a:t>
                </a:r>
                <a:r>
                  <a:rPr sz="2700" spc="-135" baseline="2000" dirty="0">
                    <a:latin typeface="Tahoma" panose="020B0604030504040204"/>
                    <a:cs typeface="Tahoma" panose="020B060403050404020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000" b="1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000" b="1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⊺</m:t>
                        </m:r>
                      </m:sup>
                    </m:sSup>
                    <m:r>
                      <a:rPr lang="en-US" altLang="zh-CN" sz="2000" b="1" i="1" spc="6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𝝓</m:t>
                    </m:r>
                    <m:d>
                      <m:dPr>
                        <m:ctrlPr>
                          <a:rPr lang="en-US" altLang="zh-CN" sz="20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0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𝒙</m:t>
                        </m:r>
                      </m:e>
                    </m:d>
                  </m:oMath>
                </a14:m>
                <a:endParaRPr sz="1850" dirty="0">
                  <a:latin typeface="Arial" panose="020B0604020202020204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39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816" y="5388831"/>
                <a:ext cx="1367363" cy="419987"/>
              </a:xfrm>
              <a:prstGeom prst="rect">
                <a:avLst/>
              </a:prstGeom>
              <a:blipFill rotWithShape="1">
                <a:blip r:embed="rId10"/>
                <a:stretch>
                  <a:fillRect l="-1" t="-53" r="16" b="-10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bject 36"/>
          <p:cNvSpPr txBox="1"/>
          <p:nvPr/>
        </p:nvSpPr>
        <p:spPr>
          <a:xfrm>
            <a:off x="5547202" y="4649578"/>
            <a:ext cx="1134110" cy="488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000" dirty="0">
                <a:latin typeface="Arial" panose="020B0604020202020204"/>
                <a:cs typeface="Arial" panose="020B0604020202020204"/>
              </a:rPr>
              <a:t>y</a:t>
            </a:r>
            <a:r>
              <a:rPr sz="30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315" dirty="0">
                <a:latin typeface="Arial" panose="020B0604020202020204"/>
                <a:cs typeface="Arial" panose="020B0604020202020204"/>
              </a:rPr>
              <a:t>=</a:t>
            </a:r>
            <a:r>
              <a:rPr sz="30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25" dirty="0">
                <a:latin typeface="Arial" panose="020B0604020202020204"/>
                <a:cs typeface="Arial" panose="020B0604020202020204"/>
              </a:rPr>
              <a:t>+1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37"/>
          <p:cNvSpPr txBox="1"/>
          <p:nvPr/>
        </p:nvSpPr>
        <p:spPr>
          <a:xfrm>
            <a:off x="5546898" y="5758495"/>
            <a:ext cx="1059180" cy="488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000" dirty="0">
                <a:latin typeface="Arial" panose="020B0604020202020204"/>
                <a:cs typeface="Arial" panose="020B0604020202020204"/>
              </a:rPr>
              <a:t>y</a:t>
            </a:r>
            <a:r>
              <a:rPr sz="30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315" dirty="0">
                <a:latin typeface="Arial" panose="020B0604020202020204"/>
                <a:cs typeface="Arial" panose="020B0604020202020204"/>
              </a:rPr>
              <a:t>=</a:t>
            </a:r>
            <a:r>
              <a:rPr sz="30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490" dirty="0">
                <a:latin typeface="Arial" panose="020B0604020202020204"/>
                <a:cs typeface="Arial" panose="020B0604020202020204"/>
              </a:rPr>
              <a:t>-</a:t>
            </a:r>
            <a:r>
              <a:rPr sz="3000" spc="-180" dirty="0">
                <a:latin typeface="Arial" panose="020B0604020202020204"/>
                <a:cs typeface="Arial" panose="020B0604020202020204"/>
              </a:rPr>
              <a:t>1</a:t>
            </a:r>
            <a:endParaRPr sz="3000" dirty="0">
              <a:latin typeface="Arial" panose="020B0604020202020204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8017217" y="3344538"/>
                <a:ext cx="18530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SG" spc="80" dirty="0" smtClean="0">
                          <a:latin typeface="Arial" panose="020B0604020202020204"/>
                          <a:cs typeface="Arial" panose="020B0604020202020204"/>
                        </a:rPr>
                        <m:t>µ</m:t>
                      </m:r>
                      <m:r>
                        <a:rPr lang="en-US" altLang="zh-CN" b="1" i="1" spc="80" dirty="0" smtClean="0">
                          <a:latin typeface="Cambria Math" panose="02040503050406030204" pitchFamily="18" charset="0"/>
                          <a:cs typeface="Arial" panose="020B0604020202020204"/>
                        </a:rPr>
                        <m:t>=</m:t>
                      </m:r>
                      <m:r>
                        <a:rPr lang="zh-CN" altLang="en-US" b="1" i="1" spc="80" dirty="0" smtClean="0">
                          <a:latin typeface="Cambria Math" panose="02040503050406030204" pitchFamily="18" charset="0"/>
                          <a:cs typeface="Arial" panose="020B0604020202020204"/>
                        </a:rPr>
                        <m:t> </m:t>
                      </m:r>
                      <m:sSup>
                        <m:sSupPr>
                          <m:ctrlPr>
                            <a:rPr lang="en-US" altLang="zh-CN" sz="1800" b="1" i="1" spc="6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pPr>
                        <m:e>
                          <m:r>
                            <a:rPr lang="en-US" altLang="zh-CN" sz="18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800" b="1" i="1" spc="6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⊺</m:t>
                          </m:r>
                        </m:sup>
                      </m:sSup>
                      <m:r>
                        <a:rPr lang="en-US" altLang="zh-CN" sz="1800" b="1" i="1" spc="6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/>
                        </a:rPr>
                        <m:t>𝝓</m:t>
                      </m:r>
                      <m:d>
                        <m:dPr>
                          <m:ctrlPr>
                            <a:rPr lang="en-US" altLang="zh-CN" sz="18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</m:ctrlPr>
                        </m:dPr>
                        <m:e>
                          <m:r>
                            <a:rPr lang="en-US" altLang="zh-CN" sz="1800" b="1" i="1" spc="6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217" y="3344538"/>
                <a:ext cx="1853067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8" t="-170" r="26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695175" y="1926893"/>
                <a:ext cx="6124352" cy="1430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95300" marR="43180" lvl="1">
                  <a:spcBef>
                    <a:spcPts val="100"/>
                  </a:spcBef>
                  <a:buClr>
                    <a:srgbClr val="5D5555"/>
                  </a:buClr>
                  <a:tabLst>
                    <a:tab pos="327025" algn="l"/>
                  </a:tabLst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𝒚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=</m:t>
                    </m:r>
                    <m:sSup>
                      <m:sSupPr>
                        <m:ctrlPr>
                          <a:rPr lang="en-US" altLang="zh-CN" sz="2800" b="1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⊺</m:t>
                        </m:r>
                      </m:sup>
                    </m:sSup>
                    <m:r>
                      <a:rPr lang="en-US" altLang="zh-CN" sz="2800" b="1" i="1" spc="6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𝝓</m:t>
                    </m:r>
                    <m:d>
                      <m:dPr>
                        <m:ctrlP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𝒙</m:t>
                        </m:r>
                      </m:e>
                    </m:d>
                    <m:r>
                      <a:rPr lang="en-US" altLang="zh-CN" sz="2800" b="1" i="1" spc="6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+</m:t>
                    </m:r>
                  </m:oMath>
                </a14:m>
                <a:r>
                  <a:rPr lang="en-SG" altLang="zh-CN" sz="2800" b="1" dirty="0">
                    <a:solidFill>
                      <a:srgbClr val="2B2728"/>
                    </a:solidFill>
                    <a:ea typeface="Cambria Math" panose="02040503050406030204" pitchFamily="18" charset="0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SG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𝝐</m:t>
                    </m:r>
                  </m:oMath>
                </a14:m>
                <a:r>
                  <a:rPr lang="en-US" altLang="zh-CN" sz="2800" b="1" dirty="0">
                    <a:solidFill>
                      <a:srgbClr val="2B2728"/>
                    </a:solidFill>
                    <a:latin typeface="Arial" panose="020B0604020202020204"/>
                    <a:cs typeface="Arial" panose="020B0604020202020204"/>
                  </a:rPr>
                  <a:t>,</a:t>
                </a:r>
                <a:r>
                  <a:rPr lang="zh-CN" altLang="en-US" sz="2800" b="1" dirty="0">
                    <a:solidFill>
                      <a:srgbClr val="2B2728"/>
                    </a:solidFill>
                    <a:latin typeface="Arial" panose="020B0604020202020204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SG" altLang="zh-CN" sz="28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𝝐</m:t>
                    </m:r>
                    <m:r>
                      <a:rPr lang="en-US" altLang="zh-CN" sz="28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~</m:t>
                    </m:r>
                    <m:r>
                      <a:rPr lang="en-US" altLang="zh-CN" sz="28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𝑵</m:t>
                    </m:r>
                    <m:r>
                      <a:rPr lang="en-US" altLang="zh-CN" sz="28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(</m:t>
                    </m:r>
                    <m:r>
                      <a:rPr lang="en-US" altLang="zh-CN" sz="28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𝟎</m:t>
                    </m:r>
                    <m:r>
                      <a:rPr lang="en-US" altLang="zh-CN" sz="28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,</m:t>
                    </m:r>
                    <m:sSup>
                      <m:sSupPr>
                        <m:ctrlPr>
                          <a:rPr lang="en-US" altLang="zh-CN" sz="2800" b="1" i="1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𝟐</m:t>
                        </m:r>
                      </m:sup>
                    </m:sSup>
                    <m:r>
                      <a:rPr lang="en-US" altLang="zh-CN" sz="2800" b="1" i="1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)</m:t>
                    </m:r>
                  </m:oMath>
                </a14:m>
                <a:r>
                  <a:rPr lang="zh-CN" altLang="en-US" sz="2800" b="1" dirty="0">
                    <a:solidFill>
                      <a:srgbClr val="2B2728"/>
                    </a:solidFill>
                    <a:latin typeface="Arial" panose="020B0604020202020204"/>
                    <a:cs typeface="Arial" panose="020B0604020202020204"/>
                  </a:rPr>
                  <a:t> </a:t>
                </a:r>
                <a:endParaRPr lang="en-SG" altLang="zh-CN" sz="2800" b="1" dirty="0">
                  <a:solidFill>
                    <a:srgbClr val="2B2728"/>
                  </a:solidFill>
                  <a:latin typeface="Arial" panose="020B0604020202020204"/>
                  <a:cs typeface="Arial" panose="020B0604020202020204"/>
                </a:endParaRPr>
              </a:p>
              <a:p>
                <a:pPr marL="495300" marR="43180" lvl="1">
                  <a:spcBef>
                    <a:spcPts val="100"/>
                  </a:spcBef>
                  <a:buClr>
                    <a:srgbClr val="5D5555"/>
                  </a:buClr>
                  <a:tabLst>
                    <a:tab pos="327025" algn="l"/>
                  </a:tabLst>
                </a:pPr>
                <a:endParaRPr lang="en-SG" altLang="zh-CN" sz="2800" b="1" dirty="0">
                  <a:solidFill>
                    <a:srgbClr val="2B2728"/>
                  </a:solidFill>
                  <a:latin typeface="Arial" panose="020B0604020202020204"/>
                  <a:cs typeface="Arial" panose="020B0604020202020204"/>
                </a:endParaRPr>
              </a:p>
              <a:p>
                <a:pPr marL="495300" marR="43180" lvl="1">
                  <a:spcBef>
                    <a:spcPts val="100"/>
                  </a:spcBef>
                  <a:buClr>
                    <a:srgbClr val="5D5555"/>
                  </a:buClr>
                  <a:tabLst>
                    <a:tab pos="327025" algn="l"/>
                  </a:tabLst>
                </a:pPr>
                <a:r>
                  <a:rPr lang="en-US" altLang="zh-CN" sz="2800" b="1" dirty="0">
                    <a:solidFill>
                      <a:srgbClr val="2B2728"/>
                    </a:solidFill>
                    <a:latin typeface="Arial" panose="020B0604020202020204"/>
                    <a:cs typeface="Arial" panose="020B0604020202020204"/>
                    <a:sym typeface="Wingdings" panose="05000000000000000000" pitchFamily="2" charset="2"/>
                  </a:rPr>
                  <a:t></a:t>
                </a:r>
                <a:r>
                  <a:rPr lang="zh-CN" altLang="en-US" sz="2800" b="1" dirty="0">
                    <a:solidFill>
                      <a:srgbClr val="2B2728"/>
                    </a:solidFill>
                    <a:latin typeface="Arial" panose="020B0604020202020204"/>
                    <a:cs typeface="Arial" panose="020B0604020202020204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𝐩</m:t>
                    </m:r>
                    <m:r>
                      <a:rPr lang="en-US" altLang="zh-CN" sz="2800" b="1" i="0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𝒚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|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𝒙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𝒘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)=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𝑵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𝒚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; </m:t>
                    </m:r>
                    <m:sSup>
                      <m:sSupPr>
                        <m:ctrlPr>
                          <a:rPr lang="en-US" altLang="zh-CN" sz="2800" b="1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⊺</m:t>
                        </m:r>
                      </m:sup>
                    </m:sSup>
                    <m:r>
                      <a:rPr lang="en-US" altLang="zh-CN" sz="2800" b="1" i="1" spc="6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𝝓</m:t>
                    </m:r>
                    <m:d>
                      <m:dPr>
                        <m:ctrlP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𝒙</m:t>
                        </m:r>
                      </m:e>
                    </m:d>
                    <m:r>
                      <a:rPr lang="en-US" altLang="zh-CN" sz="2800" b="1" i="1" spc="6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,</m:t>
                    </m:r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𝟐</m:t>
                        </m:r>
                      </m:sup>
                    </m:sSup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)</m:t>
                    </m:r>
                  </m:oMath>
                </a14:m>
                <a:r>
                  <a:rPr lang="en-SG" altLang="zh-CN" sz="2800" b="1" dirty="0">
                    <a:solidFill>
                      <a:srgbClr val="2B2728"/>
                    </a:solidFill>
                    <a:ea typeface="Cambria Math" panose="02040503050406030204" pitchFamily="18" charset="0"/>
                    <a:cs typeface="Arial" panose="020B0604020202020204"/>
                  </a:rPr>
                  <a:t> </a:t>
                </a:r>
                <a:endParaRPr lang="en-SG" altLang="zh-CN" sz="2800" b="1" dirty="0">
                  <a:solidFill>
                    <a:srgbClr val="2B2728"/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75" y="1926893"/>
                <a:ext cx="6124352" cy="1430135"/>
              </a:xfrm>
              <a:prstGeom prst="rect">
                <a:avLst/>
              </a:prstGeom>
              <a:blipFill rotWithShape="1">
                <a:blip r:embed="rId12"/>
                <a:stretch>
                  <a:fillRect l="-8" t="-21" r="4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/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/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2">
                      <a:lumMod val="9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分类问题</a:t>
              </a:r>
              <a:endParaRPr lang="zh-CN" altLang="en-US" sz="2000" b="1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/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/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2">
                      <a:lumMod val="9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逻辑回归</a:t>
              </a:r>
              <a:endParaRPr lang="zh-CN" altLang="en-US" sz="2000" b="1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727455" y="3955765"/>
            <a:ext cx="3123326" cy="716782"/>
            <a:chOff x="1727455" y="4495365"/>
            <a:chExt cx="3123326" cy="716782"/>
          </a:xfrm>
        </p:grpSpPr>
        <p:sp>
          <p:nvSpPr>
            <p:cNvPr id="51" name="文本框 50"/>
            <p:cNvSpPr txBox="1"/>
            <p:nvPr/>
          </p:nvSpPr>
          <p:spPr>
            <a:xfrm>
              <a:off x="2570331" y="4706973"/>
              <a:ext cx="2280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优化算法</a:t>
              </a:r>
              <a:endPara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课程安排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94248" y="1409700"/>
            <a:ext cx="9753598" cy="4359377"/>
            <a:chOff x="628652" y="1710813"/>
            <a:chExt cx="7954909" cy="3829664"/>
          </a:xfrm>
        </p:grpSpPr>
        <p:sp>
          <p:nvSpPr>
            <p:cNvPr id="5" name="Rectangle 6"/>
            <p:cNvSpPr/>
            <p:nvPr/>
          </p:nvSpPr>
          <p:spPr>
            <a:xfrm>
              <a:off x="628652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假设类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9"/>
            <p:cNvSpPr/>
            <p:nvPr/>
          </p:nvSpPr>
          <p:spPr>
            <a:xfrm>
              <a:off x="3419735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损失函数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Rectangle 10"/>
            <p:cNvSpPr/>
            <p:nvPr/>
          </p:nvSpPr>
          <p:spPr>
            <a:xfrm>
              <a:off x="6255726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优化算法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Rectangle 12"/>
            <p:cNvSpPr/>
            <p:nvPr/>
          </p:nvSpPr>
          <p:spPr>
            <a:xfrm>
              <a:off x="628652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特征简单加权和</a:t>
              </a:r>
              <a:endPara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13"/>
            <p:cNvSpPr/>
            <p:nvPr/>
          </p:nvSpPr>
          <p:spPr>
            <a:xfrm>
              <a:off x="3419735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最大似然估计</a:t>
              </a:r>
              <a:endPara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14"/>
            <p:cNvSpPr/>
            <p:nvPr/>
          </p:nvSpPr>
          <p:spPr>
            <a:xfrm>
              <a:off x="6255726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梯度上升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15"/>
            <p:cNvSpPr/>
            <p:nvPr/>
          </p:nvSpPr>
          <p:spPr>
            <a:xfrm>
              <a:off x="628652" y="4783393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逻辑回归</a:t>
              </a:r>
              <a:endPara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17"/>
            <p:cNvSpPr/>
            <p:nvPr/>
          </p:nvSpPr>
          <p:spPr>
            <a:xfrm>
              <a:off x="3751250" y="4783393"/>
              <a:ext cx="1816538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对数似然估计</a:t>
              </a:r>
              <a:endPara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18"/>
            <p:cNvSpPr/>
            <p:nvPr/>
          </p:nvSpPr>
          <p:spPr>
            <a:xfrm>
              <a:off x="6112491" y="4783393"/>
              <a:ext cx="2471070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随机梯度下降</a:t>
              </a:r>
              <a:endPara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Down Arrow 19"/>
            <p:cNvSpPr/>
            <p:nvPr/>
          </p:nvSpPr>
          <p:spPr>
            <a:xfrm>
              <a:off x="1573468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19" name="Down Arrow 20"/>
            <p:cNvSpPr/>
            <p:nvPr/>
          </p:nvSpPr>
          <p:spPr>
            <a:xfrm>
              <a:off x="1573468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0" name="Down Arrow 21"/>
            <p:cNvSpPr/>
            <p:nvPr/>
          </p:nvSpPr>
          <p:spPr>
            <a:xfrm>
              <a:off x="4364551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1" name="Down Arrow 22"/>
            <p:cNvSpPr/>
            <p:nvPr/>
          </p:nvSpPr>
          <p:spPr>
            <a:xfrm>
              <a:off x="4364551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2" name="Down Arrow 23"/>
            <p:cNvSpPr/>
            <p:nvPr/>
          </p:nvSpPr>
          <p:spPr>
            <a:xfrm>
              <a:off x="7200542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3" name="Down Arrow 24"/>
            <p:cNvSpPr/>
            <p:nvPr/>
          </p:nvSpPr>
          <p:spPr>
            <a:xfrm>
              <a:off x="7200542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4" name="Plus 25"/>
            <p:cNvSpPr/>
            <p:nvPr/>
          </p:nvSpPr>
          <p:spPr>
            <a:xfrm>
              <a:off x="2942303" y="1892710"/>
              <a:ext cx="393290" cy="393290"/>
            </a:xfrm>
            <a:prstGeom prst="mathPlu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5" name="Plus 26"/>
            <p:cNvSpPr/>
            <p:nvPr/>
          </p:nvSpPr>
          <p:spPr>
            <a:xfrm>
              <a:off x="5719201" y="1892710"/>
              <a:ext cx="393290" cy="393290"/>
            </a:xfrm>
            <a:prstGeom prst="mathPlu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回顾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Wingdings" panose="05000000000000000000" pitchFamily="2" charset="2"/>
              </a:rPr>
              <a:t>：（高斯）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线性回归模型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7" name="object 45"/>
          <p:cNvGrpSpPr/>
          <p:nvPr/>
        </p:nvGrpSpPr>
        <p:grpSpPr>
          <a:xfrm>
            <a:off x="9679945" y="1453435"/>
            <a:ext cx="2105025" cy="1060450"/>
            <a:chOff x="8387767" y="1229517"/>
            <a:chExt cx="2105025" cy="1060450"/>
          </a:xfrm>
        </p:grpSpPr>
        <p:pic>
          <p:nvPicPr>
            <p:cNvPr id="88" name="object 4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87767" y="2006646"/>
              <a:ext cx="2104938" cy="283060"/>
            </a:xfrm>
            <a:prstGeom prst="rect">
              <a:avLst/>
            </a:prstGeom>
          </p:spPr>
        </p:pic>
        <p:sp>
          <p:nvSpPr>
            <p:cNvPr id="89" name="object 47"/>
            <p:cNvSpPr/>
            <p:nvPr/>
          </p:nvSpPr>
          <p:spPr>
            <a:xfrm>
              <a:off x="8423279" y="2075506"/>
              <a:ext cx="1982470" cy="112395"/>
            </a:xfrm>
            <a:custGeom>
              <a:avLst/>
              <a:gdLst/>
              <a:ahLst/>
              <a:cxnLst/>
              <a:rect l="l" t="t" r="r" b="b"/>
              <a:pathLst>
                <a:path w="1982470" h="112394">
                  <a:moveTo>
                    <a:pt x="1934569" y="55994"/>
                  </a:moveTo>
                  <a:lnTo>
                    <a:pt x="1874269" y="91145"/>
                  </a:lnTo>
                  <a:lnTo>
                    <a:pt x="1872314" y="98556"/>
                  </a:lnTo>
                  <a:lnTo>
                    <a:pt x="1875710" y="104269"/>
                  </a:lnTo>
                  <a:lnTo>
                    <a:pt x="1879056" y="110033"/>
                  </a:lnTo>
                  <a:lnTo>
                    <a:pt x="1886415" y="111988"/>
                  </a:lnTo>
                  <a:lnTo>
                    <a:pt x="1961696" y="68075"/>
                  </a:lnTo>
                  <a:lnTo>
                    <a:pt x="1958482" y="68075"/>
                  </a:lnTo>
                  <a:lnTo>
                    <a:pt x="1958482" y="66390"/>
                  </a:lnTo>
                  <a:lnTo>
                    <a:pt x="1952394" y="66390"/>
                  </a:lnTo>
                  <a:lnTo>
                    <a:pt x="1934569" y="55994"/>
                  </a:lnTo>
                  <a:close/>
                </a:path>
                <a:path w="1982470" h="112394">
                  <a:moveTo>
                    <a:pt x="1913919" y="43951"/>
                  </a:moveTo>
                  <a:lnTo>
                    <a:pt x="0" y="43951"/>
                  </a:lnTo>
                  <a:lnTo>
                    <a:pt x="0" y="68075"/>
                  </a:lnTo>
                  <a:lnTo>
                    <a:pt x="1913853" y="68075"/>
                  </a:lnTo>
                  <a:lnTo>
                    <a:pt x="1934569" y="55994"/>
                  </a:lnTo>
                  <a:lnTo>
                    <a:pt x="1913919" y="43951"/>
                  </a:lnTo>
                  <a:close/>
                </a:path>
                <a:path w="1982470" h="112394">
                  <a:moveTo>
                    <a:pt x="1961762" y="43951"/>
                  </a:moveTo>
                  <a:lnTo>
                    <a:pt x="1958482" y="43951"/>
                  </a:lnTo>
                  <a:lnTo>
                    <a:pt x="1958482" y="68075"/>
                  </a:lnTo>
                  <a:lnTo>
                    <a:pt x="1961696" y="68075"/>
                  </a:lnTo>
                  <a:lnTo>
                    <a:pt x="1982398" y="55994"/>
                  </a:lnTo>
                  <a:lnTo>
                    <a:pt x="1961762" y="43951"/>
                  </a:lnTo>
                  <a:close/>
                </a:path>
                <a:path w="1982470" h="112394">
                  <a:moveTo>
                    <a:pt x="1952394" y="45598"/>
                  </a:moveTo>
                  <a:lnTo>
                    <a:pt x="1934569" y="55994"/>
                  </a:lnTo>
                  <a:lnTo>
                    <a:pt x="1952394" y="66390"/>
                  </a:lnTo>
                  <a:lnTo>
                    <a:pt x="1952394" y="45598"/>
                  </a:lnTo>
                  <a:close/>
                </a:path>
                <a:path w="1982470" h="112394">
                  <a:moveTo>
                    <a:pt x="1958482" y="45598"/>
                  </a:moveTo>
                  <a:lnTo>
                    <a:pt x="1952394" y="45598"/>
                  </a:lnTo>
                  <a:lnTo>
                    <a:pt x="1952394" y="66390"/>
                  </a:lnTo>
                  <a:lnTo>
                    <a:pt x="1958482" y="66390"/>
                  </a:lnTo>
                  <a:lnTo>
                    <a:pt x="1958482" y="45598"/>
                  </a:lnTo>
                  <a:close/>
                </a:path>
                <a:path w="1982470" h="112394">
                  <a:moveTo>
                    <a:pt x="1886415" y="0"/>
                  </a:moveTo>
                  <a:lnTo>
                    <a:pt x="1879056" y="1955"/>
                  </a:lnTo>
                  <a:lnTo>
                    <a:pt x="1875710" y="7719"/>
                  </a:lnTo>
                  <a:lnTo>
                    <a:pt x="1872314" y="13432"/>
                  </a:lnTo>
                  <a:lnTo>
                    <a:pt x="1874269" y="20843"/>
                  </a:lnTo>
                  <a:lnTo>
                    <a:pt x="1934569" y="55994"/>
                  </a:lnTo>
                  <a:lnTo>
                    <a:pt x="1952394" y="45598"/>
                  </a:lnTo>
                  <a:lnTo>
                    <a:pt x="1958482" y="45598"/>
                  </a:lnTo>
                  <a:lnTo>
                    <a:pt x="1958482" y="43951"/>
                  </a:lnTo>
                  <a:lnTo>
                    <a:pt x="1961762" y="43951"/>
                  </a:lnTo>
                  <a:lnTo>
                    <a:pt x="1886415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4474" y="1594922"/>
              <a:ext cx="823447" cy="288206"/>
            </a:xfrm>
            <a:prstGeom prst="rect">
              <a:avLst/>
            </a:prstGeom>
          </p:spPr>
        </p:pic>
        <p:sp>
          <p:nvSpPr>
            <p:cNvPr id="91" name="object 49"/>
            <p:cNvSpPr/>
            <p:nvPr/>
          </p:nvSpPr>
          <p:spPr>
            <a:xfrm>
              <a:off x="9116346" y="1664606"/>
              <a:ext cx="535940" cy="112395"/>
            </a:xfrm>
            <a:custGeom>
              <a:avLst/>
              <a:gdLst/>
              <a:ahLst/>
              <a:cxnLst/>
              <a:rect l="l" t="t" r="r" b="b"/>
              <a:pathLst>
                <a:path w="535940" h="112394">
                  <a:moveTo>
                    <a:pt x="95949" y="0"/>
                  </a:moveTo>
                  <a:lnTo>
                    <a:pt x="90237" y="3396"/>
                  </a:lnTo>
                  <a:lnTo>
                    <a:pt x="0" y="56013"/>
                  </a:lnTo>
                  <a:lnTo>
                    <a:pt x="95949" y="111988"/>
                  </a:lnTo>
                  <a:lnTo>
                    <a:pt x="103360" y="110033"/>
                  </a:lnTo>
                  <a:lnTo>
                    <a:pt x="106706" y="104320"/>
                  </a:lnTo>
                  <a:lnTo>
                    <a:pt x="110051" y="98556"/>
                  </a:lnTo>
                  <a:lnTo>
                    <a:pt x="108095" y="91196"/>
                  </a:lnTo>
                  <a:lnTo>
                    <a:pt x="102383" y="87800"/>
                  </a:lnTo>
                  <a:lnTo>
                    <a:pt x="68539" y="68075"/>
                  </a:lnTo>
                  <a:lnTo>
                    <a:pt x="23918" y="68075"/>
                  </a:lnTo>
                  <a:lnTo>
                    <a:pt x="23918" y="43951"/>
                  </a:lnTo>
                  <a:lnTo>
                    <a:pt x="68504" y="43951"/>
                  </a:lnTo>
                  <a:lnTo>
                    <a:pt x="108095" y="20843"/>
                  </a:lnTo>
                  <a:lnTo>
                    <a:pt x="110051" y="13483"/>
                  </a:lnTo>
                  <a:lnTo>
                    <a:pt x="103360" y="1955"/>
                  </a:lnTo>
                  <a:lnTo>
                    <a:pt x="95949" y="0"/>
                  </a:lnTo>
                  <a:close/>
                </a:path>
                <a:path w="535940" h="112394">
                  <a:moveTo>
                    <a:pt x="487602" y="56013"/>
                  </a:moveTo>
                  <a:lnTo>
                    <a:pt x="427336" y="91196"/>
                  </a:lnTo>
                  <a:lnTo>
                    <a:pt x="425380" y="98556"/>
                  </a:lnTo>
                  <a:lnTo>
                    <a:pt x="432122" y="110033"/>
                  </a:lnTo>
                  <a:lnTo>
                    <a:pt x="439481" y="111988"/>
                  </a:lnTo>
                  <a:lnTo>
                    <a:pt x="514762" y="68075"/>
                  </a:lnTo>
                  <a:lnTo>
                    <a:pt x="511533" y="68075"/>
                  </a:lnTo>
                  <a:lnTo>
                    <a:pt x="511533" y="66441"/>
                  </a:lnTo>
                  <a:lnTo>
                    <a:pt x="505460" y="66441"/>
                  </a:lnTo>
                  <a:lnTo>
                    <a:pt x="487602" y="56013"/>
                  </a:lnTo>
                  <a:close/>
                </a:path>
                <a:path w="535940" h="112394">
                  <a:moveTo>
                    <a:pt x="68504" y="43951"/>
                  </a:moveTo>
                  <a:lnTo>
                    <a:pt x="23918" y="43951"/>
                  </a:lnTo>
                  <a:lnTo>
                    <a:pt x="23918" y="68075"/>
                  </a:lnTo>
                  <a:lnTo>
                    <a:pt x="68539" y="68075"/>
                  </a:lnTo>
                  <a:lnTo>
                    <a:pt x="65735" y="66441"/>
                  </a:lnTo>
                  <a:lnTo>
                    <a:pt x="29971" y="66441"/>
                  </a:lnTo>
                  <a:lnTo>
                    <a:pt x="29971" y="45598"/>
                  </a:lnTo>
                  <a:lnTo>
                    <a:pt x="65682" y="45598"/>
                  </a:lnTo>
                  <a:lnTo>
                    <a:pt x="68504" y="43951"/>
                  </a:lnTo>
                  <a:close/>
                </a:path>
                <a:path w="535940" h="112394">
                  <a:moveTo>
                    <a:pt x="466944" y="43951"/>
                  </a:moveTo>
                  <a:lnTo>
                    <a:pt x="68504" y="43951"/>
                  </a:lnTo>
                  <a:lnTo>
                    <a:pt x="47842" y="56013"/>
                  </a:lnTo>
                  <a:lnTo>
                    <a:pt x="68539" y="68075"/>
                  </a:lnTo>
                  <a:lnTo>
                    <a:pt x="466919" y="68075"/>
                  </a:lnTo>
                  <a:lnTo>
                    <a:pt x="487602" y="56013"/>
                  </a:lnTo>
                  <a:lnTo>
                    <a:pt x="466944" y="43951"/>
                  </a:lnTo>
                  <a:close/>
                </a:path>
                <a:path w="535940" h="112394">
                  <a:moveTo>
                    <a:pt x="514808" y="43951"/>
                  </a:moveTo>
                  <a:lnTo>
                    <a:pt x="511533" y="43951"/>
                  </a:lnTo>
                  <a:lnTo>
                    <a:pt x="511533" y="68075"/>
                  </a:lnTo>
                  <a:lnTo>
                    <a:pt x="514762" y="68075"/>
                  </a:lnTo>
                  <a:lnTo>
                    <a:pt x="535431" y="56013"/>
                  </a:lnTo>
                  <a:lnTo>
                    <a:pt x="514808" y="43951"/>
                  </a:lnTo>
                  <a:close/>
                </a:path>
                <a:path w="535940" h="112394">
                  <a:moveTo>
                    <a:pt x="29971" y="45598"/>
                  </a:moveTo>
                  <a:lnTo>
                    <a:pt x="29971" y="66441"/>
                  </a:lnTo>
                  <a:lnTo>
                    <a:pt x="47837" y="56013"/>
                  </a:lnTo>
                  <a:lnTo>
                    <a:pt x="29971" y="45598"/>
                  </a:lnTo>
                  <a:close/>
                </a:path>
                <a:path w="535940" h="112394">
                  <a:moveTo>
                    <a:pt x="47842" y="56013"/>
                  </a:moveTo>
                  <a:lnTo>
                    <a:pt x="29971" y="66441"/>
                  </a:lnTo>
                  <a:lnTo>
                    <a:pt x="65735" y="66441"/>
                  </a:lnTo>
                  <a:lnTo>
                    <a:pt x="47842" y="56013"/>
                  </a:lnTo>
                  <a:close/>
                </a:path>
                <a:path w="535940" h="112394">
                  <a:moveTo>
                    <a:pt x="505460" y="45598"/>
                  </a:moveTo>
                  <a:lnTo>
                    <a:pt x="487602" y="56013"/>
                  </a:lnTo>
                  <a:lnTo>
                    <a:pt x="505460" y="66441"/>
                  </a:lnTo>
                  <a:lnTo>
                    <a:pt x="505460" y="45598"/>
                  </a:lnTo>
                  <a:close/>
                </a:path>
                <a:path w="535940" h="112394">
                  <a:moveTo>
                    <a:pt x="511533" y="45598"/>
                  </a:moveTo>
                  <a:lnTo>
                    <a:pt x="505460" y="45598"/>
                  </a:lnTo>
                  <a:lnTo>
                    <a:pt x="505460" y="66441"/>
                  </a:lnTo>
                  <a:lnTo>
                    <a:pt x="511533" y="66441"/>
                  </a:lnTo>
                  <a:lnTo>
                    <a:pt x="511533" y="45598"/>
                  </a:lnTo>
                  <a:close/>
                </a:path>
                <a:path w="535940" h="112394">
                  <a:moveTo>
                    <a:pt x="65682" y="45598"/>
                  </a:moveTo>
                  <a:lnTo>
                    <a:pt x="29971" y="45598"/>
                  </a:lnTo>
                  <a:lnTo>
                    <a:pt x="47842" y="56013"/>
                  </a:lnTo>
                  <a:lnTo>
                    <a:pt x="65682" y="45598"/>
                  </a:lnTo>
                  <a:close/>
                </a:path>
                <a:path w="535940" h="112394">
                  <a:moveTo>
                    <a:pt x="439481" y="0"/>
                  </a:moveTo>
                  <a:lnTo>
                    <a:pt x="432122" y="1955"/>
                  </a:lnTo>
                  <a:lnTo>
                    <a:pt x="428777" y="7719"/>
                  </a:lnTo>
                  <a:lnTo>
                    <a:pt x="425380" y="13483"/>
                  </a:lnTo>
                  <a:lnTo>
                    <a:pt x="427336" y="20843"/>
                  </a:lnTo>
                  <a:lnTo>
                    <a:pt x="487602" y="56013"/>
                  </a:lnTo>
                  <a:lnTo>
                    <a:pt x="505460" y="45598"/>
                  </a:lnTo>
                  <a:lnTo>
                    <a:pt x="511533" y="45598"/>
                  </a:lnTo>
                  <a:lnTo>
                    <a:pt x="511533" y="43951"/>
                  </a:lnTo>
                  <a:lnTo>
                    <a:pt x="514808" y="43951"/>
                  </a:lnTo>
                  <a:lnTo>
                    <a:pt x="43948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9879" y="1229517"/>
              <a:ext cx="97784" cy="946964"/>
            </a:xfrm>
            <a:prstGeom prst="rect">
              <a:avLst/>
            </a:prstGeom>
          </p:spPr>
        </p:pic>
      </p:grpSp>
      <p:sp>
        <p:nvSpPr>
          <p:cNvPr id="93" name="object 51"/>
          <p:cNvSpPr txBox="1"/>
          <p:nvPr/>
        </p:nvSpPr>
        <p:spPr>
          <a:xfrm>
            <a:off x="10635341" y="2356832"/>
            <a:ext cx="104139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latin typeface="Tahoma" panose="020B0604030504040204"/>
                <a:cs typeface="Tahoma" panose="020B0604030504040204"/>
              </a:rPr>
              <a:t>µ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4" name="object 52"/>
          <p:cNvSpPr txBox="1"/>
          <p:nvPr/>
        </p:nvSpPr>
        <p:spPr>
          <a:xfrm>
            <a:off x="10681077" y="1780419"/>
            <a:ext cx="194945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25" dirty="0">
                <a:latin typeface="Lucida Sans Unicode" panose="020B0602030504020204"/>
                <a:cs typeface="Lucida Sans Unicode" panose="020B0602030504020204"/>
              </a:rPr>
              <a:t>2σ</a:t>
            </a:r>
            <a:endParaRPr sz="100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95" name="object 53"/>
          <p:cNvGrpSpPr/>
          <p:nvPr/>
        </p:nvGrpSpPr>
        <p:grpSpPr>
          <a:xfrm>
            <a:off x="9679945" y="1459334"/>
            <a:ext cx="2002155" cy="930910"/>
            <a:chOff x="8387767" y="1235416"/>
            <a:chExt cx="2002155" cy="930910"/>
          </a:xfrm>
        </p:grpSpPr>
        <p:pic>
          <p:nvPicPr>
            <p:cNvPr id="96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7767" y="1235416"/>
              <a:ext cx="2002007" cy="930772"/>
            </a:xfrm>
            <a:prstGeom prst="rect">
              <a:avLst/>
            </a:prstGeom>
          </p:spPr>
        </p:pic>
        <p:sp>
          <p:nvSpPr>
            <p:cNvPr id="97" name="object 55"/>
            <p:cNvSpPr/>
            <p:nvPr/>
          </p:nvSpPr>
          <p:spPr>
            <a:xfrm>
              <a:off x="8423279" y="1318038"/>
              <a:ext cx="1930400" cy="784860"/>
            </a:xfrm>
            <a:custGeom>
              <a:avLst/>
              <a:gdLst/>
              <a:ahLst/>
              <a:cxnLst/>
              <a:rect l="l" t="t" r="r" b="b"/>
              <a:pathLst>
                <a:path w="1930400" h="784860">
                  <a:moveTo>
                    <a:pt x="0" y="782326"/>
                  </a:moveTo>
                  <a:lnTo>
                    <a:pt x="41107" y="783329"/>
                  </a:lnTo>
                  <a:lnTo>
                    <a:pt x="89901" y="783545"/>
                  </a:lnTo>
                  <a:lnTo>
                    <a:pt x="143567" y="782355"/>
                  </a:lnTo>
                  <a:lnTo>
                    <a:pt x="199291" y="779142"/>
                  </a:lnTo>
                  <a:lnTo>
                    <a:pt x="254261" y="773288"/>
                  </a:lnTo>
                  <a:lnTo>
                    <a:pt x="305664" y="764177"/>
                  </a:lnTo>
                  <a:lnTo>
                    <a:pt x="350685" y="751190"/>
                  </a:lnTo>
                  <a:lnTo>
                    <a:pt x="394830" y="732927"/>
                  </a:lnTo>
                  <a:lnTo>
                    <a:pt x="433238" y="712240"/>
                  </a:lnTo>
                  <a:lnTo>
                    <a:pt x="468072" y="687398"/>
                  </a:lnTo>
                  <a:lnTo>
                    <a:pt x="501494" y="656672"/>
                  </a:lnTo>
                  <a:lnTo>
                    <a:pt x="535669" y="618332"/>
                  </a:lnTo>
                  <a:lnTo>
                    <a:pt x="572759" y="570649"/>
                  </a:lnTo>
                  <a:lnTo>
                    <a:pt x="597065" y="534780"/>
                  </a:lnTo>
                  <a:lnTo>
                    <a:pt x="622616" y="491885"/>
                  </a:lnTo>
                  <a:lnTo>
                    <a:pt x="648994" y="443802"/>
                  </a:lnTo>
                  <a:lnTo>
                    <a:pt x="675781" y="392366"/>
                  </a:lnTo>
                  <a:lnTo>
                    <a:pt x="702561" y="339414"/>
                  </a:lnTo>
                  <a:lnTo>
                    <a:pt x="728917" y="286784"/>
                  </a:lnTo>
                  <a:lnTo>
                    <a:pt x="754430" y="236312"/>
                  </a:lnTo>
                  <a:lnTo>
                    <a:pt x="778685" y="189834"/>
                  </a:lnTo>
                  <a:lnTo>
                    <a:pt x="801264" y="149187"/>
                  </a:lnTo>
                  <a:lnTo>
                    <a:pt x="821749" y="116209"/>
                  </a:lnTo>
                  <a:lnTo>
                    <a:pt x="864649" y="58021"/>
                  </a:lnTo>
                  <a:lnTo>
                    <a:pt x="899314" y="22689"/>
                  </a:lnTo>
                  <a:lnTo>
                    <a:pt x="958698" y="0"/>
                  </a:lnTo>
                  <a:lnTo>
                    <a:pt x="987183" y="2808"/>
                  </a:lnTo>
                  <a:lnTo>
                    <a:pt x="1047240" y="46579"/>
                  </a:lnTo>
                  <a:lnTo>
                    <a:pt x="1087362" y="99585"/>
                  </a:lnTo>
                  <a:lnTo>
                    <a:pt x="1128706" y="168527"/>
                  </a:lnTo>
                  <a:lnTo>
                    <a:pt x="1152242" y="212270"/>
                  </a:lnTo>
                  <a:lnTo>
                    <a:pt x="1177022" y="259905"/>
                  </a:lnTo>
                  <a:lnTo>
                    <a:pt x="1202548" y="309712"/>
                  </a:lnTo>
                  <a:lnTo>
                    <a:pt x="1228324" y="359975"/>
                  </a:lnTo>
                  <a:lnTo>
                    <a:pt x="1253849" y="408976"/>
                  </a:lnTo>
                  <a:lnTo>
                    <a:pt x="1278628" y="454997"/>
                  </a:lnTo>
                  <a:lnTo>
                    <a:pt x="1302160" y="496319"/>
                  </a:lnTo>
                  <a:lnTo>
                    <a:pt x="1323949" y="531226"/>
                  </a:lnTo>
                  <a:lnTo>
                    <a:pt x="1362763" y="586943"/>
                  </a:lnTo>
                  <a:lnTo>
                    <a:pt x="1397725" y="631311"/>
                  </a:lnTo>
                  <a:lnTo>
                    <a:pt x="1431124" y="666915"/>
                  </a:lnTo>
                  <a:lnTo>
                    <a:pt x="1465246" y="696337"/>
                  </a:lnTo>
                  <a:lnTo>
                    <a:pt x="1502380" y="722163"/>
                  </a:lnTo>
                  <a:lnTo>
                    <a:pt x="1543227" y="743206"/>
                  </a:lnTo>
                  <a:lnTo>
                    <a:pt x="1586236" y="757749"/>
                  </a:lnTo>
                  <a:lnTo>
                    <a:pt x="1630405" y="767582"/>
                  </a:lnTo>
                  <a:lnTo>
                    <a:pt x="1674736" y="774492"/>
                  </a:lnTo>
                  <a:lnTo>
                    <a:pt x="1718226" y="780268"/>
                  </a:lnTo>
                  <a:lnTo>
                    <a:pt x="1781372" y="784349"/>
                  </a:lnTo>
                  <a:lnTo>
                    <a:pt x="1850795" y="783896"/>
                  </a:lnTo>
                  <a:lnTo>
                    <a:pt x="1906853" y="781628"/>
                  </a:lnTo>
                  <a:lnTo>
                    <a:pt x="1929904" y="780268"/>
                  </a:lnTo>
                </a:path>
              </a:pathLst>
            </a:custGeom>
            <a:ln w="2412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56"/>
          <p:cNvSpPr txBox="1"/>
          <p:nvPr/>
        </p:nvSpPr>
        <p:spPr>
          <a:xfrm>
            <a:off x="11538046" y="2350828"/>
            <a:ext cx="9969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50" dirty="0">
                <a:latin typeface="Tahoma" panose="020B0604030504040204"/>
                <a:cs typeface="Tahoma" panose="020B0604030504040204"/>
              </a:rPr>
              <a:t>x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9" name="object 57"/>
          <p:cNvSpPr txBox="1"/>
          <p:nvPr/>
        </p:nvSpPr>
        <p:spPr>
          <a:xfrm>
            <a:off x="8433239" y="1290639"/>
            <a:ext cx="12065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50" dirty="0">
                <a:latin typeface="Lucida Sans Unicode" panose="020B0602030504020204"/>
                <a:cs typeface="Lucida Sans Unicode" panose="020B0602030504020204"/>
              </a:rPr>
              <a:t>2</a:t>
            </a:r>
            <a:endParaRPr sz="11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00" name="object 58"/>
          <p:cNvSpPr txBox="1"/>
          <p:nvPr/>
        </p:nvSpPr>
        <p:spPr>
          <a:xfrm>
            <a:off x="7824766" y="1293212"/>
            <a:ext cx="793750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i="1" spc="-20" dirty="0">
                <a:latin typeface="Arial" panose="020B0604020202020204"/>
                <a:cs typeface="Arial" panose="020B0604020202020204"/>
              </a:rPr>
              <a:t>N</a:t>
            </a:r>
            <a:r>
              <a:rPr sz="1650" spc="-20" dirty="0">
                <a:latin typeface="Lucida Sans Unicode" panose="020B0602030504020204"/>
                <a:cs typeface="Lucida Sans Unicode" panose="020B0602030504020204"/>
              </a:rPr>
              <a:t>(µ,</a:t>
            </a:r>
            <a:r>
              <a:rPr sz="1650" spc="-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650" dirty="0">
                <a:latin typeface="Lucida Sans Unicode" panose="020B0602030504020204"/>
                <a:cs typeface="Lucida Sans Unicode" panose="020B0602030504020204"/>
              </a:rPr>
              <a:t>σ</a:t>
            </a:r>
            <a:r>
              <a:rPr sz="1650" spc="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50" dirty="0">
                <a:latin typeface="Lucida Sans Unicode" panose="020B0602030504020204"/>
                <a:cs typeface="Lucida Sans Unicode" panose="020B0602030504020204"/>
              </a:rPr>
              <a:t>)</a:t>
            </a:r>
            <a:endParaRPr sz="1650" dirty="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01" name="object 59"/>
          <p:cNvGrpSpPr/>
          <p:nvPr/>
        </p:nvGrpSpPr>
        <p:grpSpPr>
          <a:xfrm>
            <a:off x="7971292" y="1535780"/>
            <a:ext cx="581559" cy="231594"/>
            <a:chOff x="6679114" y="1311862"/>
            <a:chExt cx="581559" cy="231594"/>
          </a:xfrm>
        </p:grpSpPr>
        <p:pic>
          <p:nvPicPr>
            <p:cNvPr id="102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9114" y="1311862"/>
              <a:ext cx="581559" cy="231594"/>
            </a:xfrm>
            <a:prstGeom prst="rect">
              <a:avLst/>
            </a:prstGeom>
          </p:spPr>
        </p:pic>
        <p:sp>
          <p:nvSpPr>
            <p:cNvPr id="103" name="object 61"/>
            <p:cNvSpPr/>
            <p:nvPr/>
          </p:nvSpPr>
          <p:spPr>
            <a:xfrm>
              <a:off x="6733461" y="1332242"/>
              <a:ext cx="476884" cy="142240"/>
            </a:xfrm>
            <a:custGeom>
              <a:avLst/>
              <a:gdLst/>
              <a:ahLst/>
              <a:cxnLst/>
              <a:rect l="l" t="t" r="r" b="b"/>
              <a:pathLst>
                <a:path w="476884" h="142240">
                  <a:moveTo>
                    <a:pt x="476879" y="0"/>
                  </a:moveTo>
                  <a:lnTo>
                    <a:pt x="472760" y="27641"/>
                  </a:lnTo>
                  <a:lnTo>
                    <a:pt x="461529" y="50217"/>
                  </a:lnTo>
                  <a:lnTo>
                    <a:pt x="444875" y="65439"/>
                  </a:lnTo>
                  <a:lnTo>
                    <a:pt x="424487" y="71022"/>
                  </a:lnTo>
                  <a:lnTo>
                    <a:pt x="290882" y="71022"/>
                  </a:lnTo>
                  <a:lnTo>
                    <a:pt x="270464" y="76604"/>
                  </a:lnTo>
                  <a:lnTo>
                    <a:pt x="253795" y="91827"/>
                  </a:lnTo>
                  <a:lnTo>
                    <a:pt x="242559" y="114402"/>
                  </a:lnTo>
                  <a:lnTo>
                    <a:pt x="238439" y="142044"/>
                  </a:lnTo>
                  <a:lnTo>
                    <a:pt x="234320" y="114402"/>
                  </a:lnTo>
                  <a:lnTo>
                    <a:pt x="223089" y="91827"/>
                  </a:lnTo>
                  <a:lnTo>
                    <a:pt x="206436" y="76604"/>
                  </a:lnTo>
                  <a:lnTo>
                    <a:pt x="186047" y="71022"/>
                  </a:lnTo>
                  <a:lnTo>
                    <a:pt x="52443" y="71022"/>
                  </a:lnTo>
                  <a:lnTo>
                    <a:pt x="32025" y="65439"/>
                  </a:lnTo>
                  <a:lnTo>
                    <a:pt x="15356" y="50217"/>
                  </a:lnTo>
                  <a:lnTo>
                    <a:pt x="4119" y="27641"/>
                  </a:lnTo>
                  <a:lnTo>
                    <a:pt x="0" y="0"/>
                  </a:lnTo>
                </a:path>
              </a:pathLst>
            </a:custGeom>
            <a:ln w="32165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62"/>
          <p:cNvSpPr txBox="1"/>
          <p:nvPr/>
        </p:nvSpPr>
        <p:spPr>
          <a:xfrm>
            <a:off x="7922380" y="1750191"/>
            <a:ext cx="637540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zh-CN" altLang="en-US" sz="2000" spc="-20" dirty="0">
                <a:latin typeface="Tahoma" panose="020B0604030504040204"/>
                <a:cs typeface="Tahoma" panose="020B0604030504040204"/>
              </a:rPr>
              <a:t>参数</a:t>
            </a:r>
            <a:endParaRPr sz="200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119" name="图片 1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4028" y="1199871"/>
            <a:ext cx="1655346" cy="44177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07117" y="1818840"/>
            <a:ext cx="5824904" cy="3982703"/>
            <a:chOff x="1377671" y="2622406"/>
            <a:chExt cx="5824904" cy="3982703"/>
          </a:xfrm>
        </p:grpSpPr>
        <p:grpSp>
          <p:nvGrpSpPr>
            <p:cNvPr id="44" name="object 3"/>
            <p:cNvGrpSpPr/>
            <p:nvPr/>
          </p:nvGrpSpPr>
          <p:grpSpPr>
            <a:xfrm>
              <a:off x="1572030" y="2622406"/>
              <a:ext cx="5630545" cy="3721100"/>
              <a:chOff x="1151721" y="2089006"/>
              <a:chExt cx="5630545" cy="3721100"/>
            </a:xfrm>
          </p:grpSpPr>
          <p:pic>
            <p:nvPicPr>
              <p:cNvPr id="45" name="object 4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51721" y="2089006"/>
                <a:ext cx="360258" cy="3576850"/>
              </a:xfrm>
              <a:prstGeom prst="rect">
                <a:avLst/>
              </a:prstGeom>
            </p:spPr>
          </p:pic>
          <p:sp>
            <p:nvSpPr>
              <p:cNvPr id="46" name="object 5"/>
              <p:cNvSpPr/>
              <p:nvPr/>
            </p:nvSpPr>
            <p:spPr>
              <a:xfrm>
                <a:off x="1258015" y="2251107"/>
                <a:ext cx="144780" cy="3362960"/>
              </a:xfrm>
              <a:custGeom>
                <a:avLst/>
                <a:gdLst/>
                <a:ahLst/>
                <a:cxnLst/>
                <a:rect l="l" t="t" r="r" b="b"/>
                <a:pathLst>
                  <a:path w="144780" h="3362960">
                    <a:moveTo>
                      <a:pt x="72247" y="63855"/>
                    </a:moveTo>
                    <a:lnTo>
                      <a:pt x="56161" y="91429"/>
                    </a:lnTo>
                    <a:lnTo>
                      <a:pt x="56161" y="3362893"/>
                    </a:lnTo>
                    <a:lnTo>
                      <a:pt x="88327" y="3362893"/>
                    </a:lnTo>
                    <a:lnTo>
                      <a:pt x="88327" y="91429"/>
                    </a:lnTo>
                    <a:lnTo>
                      <a:pt x="72247" y="63855"/>
                    </a:lnTo>
                    <a:close/>
                  </a:path>
                  <a:path w="144780" h="3362960">
                    <a:moveTo>
                      <a:pt x="72244" y="0"/>
                    </a:moveTo>
                    <a:lnTo>
                      <a:pt x="2066" y="120326"/>
                    </a:lnTo>
                    <a:lnTo>
                      <a:pt x="0" y="126372"/>
                    </a:lnTo>
                    <a:lnTo>
                      <a:pt x="400" y="132530"/>
                    </a:lnTo>
                    <a:lnTo>
                      <a:pt x="3081" y="138079"/>
                    </a:lnTo>
                    <a:lnTo>
                      <a:pt x="7856" y="142302"/>
                    </a:lnTo>
                    <a:lnTo>
                      <a:pt x="13904" y="144390"/>
                    </a:lnTo>
                    <a:lnTo>
                      <a:pt x="20057" y="143993"/>
                    </a:lnTo>
                    <a:lnTo>
                      <a:pt x="25608" y="141310"/>
                    </a:lnTo>
                    <a:lnTo>
                      <a:pt x="29847" y="136537"/>
                    </a:lnTo>
                    <a:lnTo>
                      <a:pt x="56161" y="91429"/>
                    </a:lnTo>
                    <a:lnTo>
                      <a:pt x="56161" y="31908"/>
                    </a:lnTo>
                    <a:lnTo>
                      <a:pt x="90856" y="31908"/>
                    </a:lnTo>
                    <a:lnTo>
                      <a:pt x="72244" y="0"/>
                    </a:lnTo>
                    <a:close/>
                  </a:path>
                  <a:path w="144780" h="3362960">
                    <a:moveTo>
                      <a:pt x="90856" y="31908"/>
                    </a:moveTo>
                    <a:lnTo>
                      <a:pt x="88327" y="31908"/>
                    </a:lnTo>
                    <a:lnTo>
                      <a:pt x="88332" y="91429"/>
                    </a:lnTo>
                    <a:lnTo>
                      <a:pt x="114646" y="136537"/>
                    </a:lnTo>
                    <a:lnTo>
                      <a:pt x="118897" y="141310"/>
                    </a:lnTo>
                    <a:lnTo>
                      <a:pt x="124451" y="143993"/>
                    </a:lnTo>
                    <a:lnTo>
                      <a:pt x="130601" y="144390"/>
                    </a:lnTo>
                    <a:lnTo>
                      <a:pt x="136638" y="142302"/>
                    </a:lnTo>
                    <a:lnTo>
                      <a:pt x="141412" y="138079"/>
                    </a:lnTo>
                    <a:lnTo>
                      <a:pt x="144093" y="132530"/>
                    </a:lnTo>
                    <a:lnTo>
                      <a:pt x="144494" y="126372"/>
                    </a:lnTo>
                    <a:lnTo>
                      <a:pt x="142428" y="120326"/>
                    </a:lnTo>
                    <a:lnTo>
                      <a:pt x="90856" y="31908"/>
                    </a:lnTo>
                    <a:close/>
                  </a:path>
                  <a:path w="144780" h="3362960">
                    <a:moveTo>
                      <a:pt x="88327" y="31908"/>
                    </a:moveTo>
                    <a:lnTo>
                      <a:pt x="56161" y="31908"/>
                    </a:lnTo>
                    <a:lnTo>
                      <a:pt x="56161" y="91429"/>
                    </a:lnTo>
                    <a:lnTo>
                      <a:pt x="72247" y="63855"/>
                    </a:lnTo>
                    <a:lnTo>
                      <a:pt x="58354" y="40040"/>
                    </a:lnTo>
                    <a:lnTo>
                      <a:pt x="88327" y="40040"/>
                    </a:lnTo>
                    <a:lnTo>
                      <a:pt x="88327" y="31908"/>
                    </a:lnTo>
                    <a:close/>
                  </a:path>
                  <a:path w="144780" h="3362960">
                    <a:moveTo>
                      <a:pt x="88327" y="40040"/>
                    </a:moveTo>
                    <a:lnTo>
                      <a:pt x="86140" y="40040"/>
                    </a:lnTo>
                    <a:lnTo>
                      <a:pt x="72247" y="63855"/>
                    </a:lnTo>
                    <a:lnTo>
                      <a:pt x="88332" y="91429"/>
                    </a:lnTo>
                    <a:lnTo>
                      <a:pt x="88327" y="40040"/>
                    </a:lnTo>
                    <a:close/>
                  </a:path>
                  <a:path w="144780" h="3362960">
                    <a:moveTo>
                      <a:pt x="86140" y="40040"/>
                    </a:moveTo>
                    <a:lnTo>
                      <a:pt x="58354" y="40040"/>
                    </a:lnTo>
                    <a:lnTo>
                      <a:pt x="72247" y="63855"/>
                    </a:lnTo>
                    <a:lnTo>
                      <a:pt x="86140" y="40040"/>
                    </a:lnTo>
                    <a:close/>
                  </a:path>
                </a:pathLst>
              </a:custGeom>
              <a:solidFill>
                <a:srgbClr val="B0007E"/>
              </a:solidFill>
            </p:spPr>
            <p:txBody>
              <a:bodyPr wrap="square" lIns="0" tIns="0" rIns="0" bIns="0" rtlCol="0"/>
              <a:lstStyle/>
              <a:p/>
            </p:txBody>
          </p:sp>
          <p:pic>
            <p:nvPicPr>
              <p:cNvPr id="47" name="object 6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285531" y="5454848"/>
                <a:ext cx="5496513" cy="355111"/>
              </a:xfrm>
              <a:prstGeom prst="rect">
                <a:avLst/>
              </a:prstGeom>
            </p:spPr>
          </p:pic>
          <p:sp>
            <p:nvSpPr>
              <p:cNvPr id="48" name="object 7"/>
              <p:cNvSpPr/>
              <p:nvPr/>
            </p:nvSpPr>
            <p:spPr>
              <a:xfrm>
                <a:off x="1320512" y="5543706"/>
                <a:ext cx="5281295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5281295" h="144779">
                    <a:moveTo>
                      <a:pt x="5217191" y="72249"/>
                    </a:moveTo>
                    <a:lnTo>
                      <a:pt x="5144504" y="114646"/>
                    </a:lnTo>
                    <a:lnTo>
                      <a:pt x="5139731" y="118894"/>
                    </a:lnTo>
                    <a:lnTo>
                      <a:pt x="5137042" y="124444"/>
                    </a:lnTo>
                    <a:lnTo>
                      <a:pt x="5136630" y="130593"/>
                    </a:lnTo>
                    <a:lnTo>
                      <a:pt x="5138689" y="136638"/>
                    </a:lnTo>
                    <a:lnTo>
                      <a:pt x="5142934" y="141415"/>
                    </a:lnTo>
                    <a:lnTo>
                      <a:pt x="5148487" y="144097"/>
                    </a:lnTo>
                    <a:lnTo>
                      <a:pt x="5154647" y="144497"/>
                    </a:lnTo>
                    <a:lnTo>
                      <a:pt x="5160716" y="142428"/>
                    </a:lnTo>
                    <a:lnTo>
                      <a:pt x="5253427" y="88332"/>
                    </a:lnTo>
                    <a:lnTo>
                      <a:pt x="5249118" y="88332"/>
                    </a:lnTo>
                    <a:lnTo>
                      <a:pt x="5249118" y="86140"/>
                    </a:lnTo>
                    <a:lnTo>
                      <a:pt x="5241002" y="86140"/>
                    </a:lnTo>
                    <a:lnTo>
                      <a:pt x="5217191" y="72249"/>
                    </a:lnTo>
                    <a:close/>
                  </a:path>
                  <a:path w="5281295" h="144779">
                    <a:moveTo>
                      <a:pt x="5189621" y="56166"/>
                    </a:moveTo>
                    <a:lnTo>
                      <a:pt x="0" y="56166"/>
                    </a:lnTo>
                    <a:lnTo>
                      <a:pt x="0" y="88332"/>
                    </a:lnTo>
                    <a:lnTo>
                      <a:pt x="5189613" y="88332"/>
                    </a:lnTo>
                    <a:lnTo>
                      <a:pt x="5217182" y="72249"/>
                    </a:lnTo>
                    <a:lnTo>
                      <a:pt x="5189621" y="56166"/>
                    </a:lnTo>
                    <a:close/>
                  </a:path>
                  <a:path w="5281295" h="144779">
                    <a:moveTo>
                      <a:pt x="5253429" y="56166"/>
                    </a:moveTo>
                    <a:lnTo>
                      <a:pt x="5249118" y="56166"/>
                    </a:lnTo>
                    <a:lnTo>
                      <a:pt x="5249118" y="88332"/>
                    </a:lnTo>
                    <a:lnTo>
                      <a:pt x="5253427" y="88332"/>
                    </a:lnTo>
                    <a:lnTo>
                      <a:pt x="5280991" y="72249"/>
                    </a:lnTo>
                    <a:lnTo>
                      <a:pt x="5253429" y="56166"/>
                    </a:lnTo>
                    <a:close/>
                  </a:path>
                  <a:path w="5281295" h="144779">
                    <a:moveTo>
                      <a:pt x="5241002" y="58354"/>
                    </a:moveTo>
                    <a:lnTo>
                      <a:pt x="5217191" y="72249"/>
                    </a:lnTo>
                    <a:lnTo>
                      <a:pt x="5241002" y="86140"/>
                    </a:lnTo>
                    <a:lnTo>
                      <a:pt x="5241002" y="58354"/>
                    </a:lnTo>
                    <a:close/>
                  </a:path>
                  <a:path w="5281295" h="144779">
                    <a:moveTo>
                      <a:pt x="5249118" y="58354"/>
                    </a:moveTo>
                    <a:lnTo>
                      <a:pt x="5241002" y="58354"/>
                    </a:lnTo>
                    <a:lnTo>
                      <a:pt x="5241002" y="86140"/>
                    </a:lnTo>
                    <a:lnTo>
                      <a:pt x="5249118" y="86140"/>
                    </a:lnTo>
                    <a:lnTo>
                      <a:pt x="5249118" y="58354"/>
                    </a:lnTo>
                    <a:close/>
                  </a:path>
                  <a:path w="5281295" h="144779">
                    <a:moveTo>
                      <a:pt x="5154647" y="0"/>
                    </a:moveTo>
                    <a:lnTo>
                      <a:pt x="5148487" y="400"/>
                    </a:lnTo>
                    <a:lnTo>
                      <a:pt x="5142934" y="3081"/>
                    </a:lnTo>
                    <a:lnTo>
                      <a:pt x="5138689" y="7856"/>
                    </a:lnTo>
                    <a:lnTo>
                      <a:pt x="5136630" y="13892"/>
                    </a:lnTo>
                    <a:lnTo>
                      <a:pt x="5137042" y="20042"/>
                    </a:lnTo>
                    <a:lnTo>
                      <a:pt x="5139731" y="25597"/>
                    </a:lnTo>
                    <a:lnTo>
                      <a:pt x="5144504" y="29847"/>
                    </a:lnTo>
                    <a:lnTo>
                      <a:pt x="5217191" y="72249"/>
                    </a:lnTo>
                    <a:lnTo>
                      <a:pt x="5241002" y="58354"/>
                    </a:lnTo>
                    <a:lnTo>
                      <a:pt x="5249118" y="58354"/>
                    </a:lnTo>
                    <a:lnTo>
                      <a:pt x="5249118" y="56166"/>
                    </a:lnTo>
                    <a:lnTo>
                      <a:pt x="5253429" y="56166"/>
                    </a:lnTo>
                    <a:lnTo>
                      <a:pt x="5160716" y="2066"/>
                    </a:lnTo>
                    <a:lnTo>
                      <a:pt x="5154647" y="0"/>
                    </a:lnTo>
                    <a:close/>
                  </a:path>
                </a:pathLst>
              </a:custGeom>
              <a:solidFill>
                <a:srgbClr val="B0007E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51" name="object 10"/>
            <p:cNvSpPr txBox="1"/>
            <p:nvPr/>
          </p:nvSpPr>
          <p:spPr>
            <a:xfrm>
              <a:off x="6881789" y="6013289"/>
              <a:ext cx="257175" cy="591820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5"/>
                </a:spcBef>
              </a:pPr>
              <a:r>
                <a:rPr sz="3700" spc="-50" dirty="0">
                  <a:latin typeface="Arial" panose="020B0604020202020204"/>
                  <a:cs typeface="Arial" panose="020B0604020202020204"/>
                </a:rPr>
                <a:t>x</a:t>
              </a:r>
              <a:endParaRPr sz="370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53" name="object 12"/>
            <p:cNvGrpSpPr/>
            <p:nvPr/>
          </p:nvGrpSpPr>
          <p:grpSpPr>
            <a:xfrm>
              <a:off x="1695547" y="3270855"/>
              <a:ext cx="5095240" cy="2810510"/>
              <a:chOff x="1275238" y="2737455"/>
              <a:chExt cx="5095240" cy="2810510"/>
            </a:xfrm>
          </p:grpSpPr>
          <p:pic>
            <p:nvPicPr>
              <p:cNvPr id="54" name="object 13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738427" y="4353487"/>
                <a:ext cx="195568" cy="200715"/>
              </a:xfrm>
              <a:prstGeom prst="rect">
                <a:avLst/>
              </a:prstGeom>
            </p:spPr>
          </p:pic>
          <p:pic>
            <p:nvPicPr>
              <p:cNvPr id="55" name="object 14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774616" y="4372080"/>
                <a:ext cx="125001" cy="125001"/>
              </a:xfrm>
              <a:prstGeom prst="rect">
                <a:avLst/>
              </a:prstGeom>
            </p:spPr>
          </p:pic>
          <p:pic>
            <p:nvPicPr>
              <p:cNvPr id="56" name="object 15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5140295" y="2737455"/>
                <a:ext cx="200715" cy="200715"/>
              </a:xfrm>
              <a:prstGeom prst="rect">
                <a:avLst/>
              </a:prstGeom>
            </p:spPr>
          </p:pic>
          <p:pic>
            <p:nvPicPr>
              <p:cNvPr id="57" name="object 16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5178270" y="2755977"/>
                <a:ext cx="125022" cy="125022"/>
              </a:xfrm>
              <a:prstGeom prst="rect">
                <a:avLst/>
              </a:prstGeom>
            </p:spPr>
          </p:pic>
          <p:pic>
            <p:nvPicPr>
              <p:cNvPr id="58" name="object 17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5346157" y="3313884"/>
                <a:ext cx="195568" cy="200715"/>
              </a:xfrm>
              <a:prstGeom prst="rect">
                <a:avLst/>
              </a:prstGeom>
            </p:spPr>
          </p:pic>
          <p:pic>
            <p:nvPicPr>
              <p:cNvPr id="59" name="object 18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5380993" y="3333008"/>
                <a:ext cx="125022" cy="125022"/>
              </a:xfrm>
              <a:prstGeom prst="rect">
                <a:avLst/>
              </a:prstGeom>
            </p:spPr>
          </p:pic>
          <p:pic>
            <p:nvPicPr>
              <p:cNvPr id="60" name="object 19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4533002" y="3200645"/>
                <a:ext cx="195568" cy="195568"/>
              </a:xfrm>
              <a:prstGeom prst="rect">
                <a:avLst/>
              </a:prstGeom>
            </p:spPr>
          </p:pic>
          <p:pic>
            <p:nvPicPr>
              <p:cNvPr id="62" name="object 20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4568096" y="3216078"/>
                <a:ext cx="125022" cy="124971"/>
              </a:xfrm>
              <a:prstGeom prst="rect">
                <a:avLst/>
              </a:prstGeom>
            </p:spPr>
          </p:pic>
          <p:pic>
            <p:nvPicPr>
              <p:cNvPr id="63" name="object 21"/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3210340" y="3720462"/>
                <a:ext cx="195568" cy="195568"/>
              </a:xfrm>
              <a:prstGeom prst="rect">
                <a:avLst/>
              </a:prstGeom>
            </p:spPr>
          </p:pic>
          <p:pic>
            <p:nvPicPr>
              <p:cNvPr id="64" name="object 22"/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3244475" y="3736559"/>
                <a:ext cx="125007" cy="125007"/>
              </a:xfrm>
              <a:prstGeom prst="rect">
                <a:avLst/>
              </a:prstGeom>
            </p:spPr>
          </p:pic>
          <p:pic>
            <p:nvPicPr>
              <p:cNvPr id="65" name="object 23"/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4697692" y="3432255"/>
                <a:ext cx="195568" cy="200715"/>
              </a:xfrm>
              <a:prstGeom prst="rect">
                <a:avLst/>
              </a:prstGeom>
            </p:spPr>
          </p:pic>
          <p:pic>
            <p:nvPicPr>
              <p:cNvPr id="66" name="object 24"/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4733815" y="3449989"/>
                <a:ext cx="125022" cy="125017"/>
              </a:xfrm>
              <a:prstGeom prst="rect">
                <a:avLst/>
              </a:prstGeom>
            </p:spPr>
          </p:pic>
          <p:pic>
            <p:nvPicPr>
              <p:cNvPr id="67" name="object 25"/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3894831" y="3936617"/>
                <a:ext cx="195568" cy="200715"/>
              </a:xfrm>
              <a:prstGeom prst="rect">
                <a:avLst/>
              </a:prstGeom>
            </p:spPr>
          </p:pic>
          <p:pic>
            <p:nvPicPr>
              <p:cNvPr id="68" name="object 26"/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3930644" y="3954906"/>
                <a:ext cx="125022" cy="125007"/>
              </a:xfrm>
              <a:prstGeom prst="rect">
                <a:avLst/>
              </a:prstGeom>
            </p:spPr>
          </p:pic>
          <p:pic>
            <p:nvPicPr>
              <p:cNvPr id="69" name="object 27"/>
              <p:cNvPicPr/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3616917" y="4054987"/>
                <a:ext cx="195568" cy="195568"/>
              </a:xfrm>
              <a:prstGeom prst="rect">
                <a:avLst/>
              </a:prstGeom>
            </p:spPr>
          </p:pic>
          <p:pic>
            <p:nvPicPr>
              <p:cNvPr id="70" name="object 28"/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3653003" y="4071872"/>
                <a:ext cx="125007" cy="125001"/>
              </a:xfrm>
              <a:prstGeom prst="rect">
                <a:avLst/>
              </a:prstGeom>
            </p:spPr>
          </p:pic>
          <p:pic>
            <p:nvPicPr>
              <p:cNvPr id="71" name="object 29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6097553" y="4219677"/>
                <a:ext cx="195568" cy="195568"/>
              </a:xfrm>
              <a:prstGeom prst="rect">
                <a:avLst/>
              </a:prstGeom>
            </p:spPr>
          </p:pic>
          <p:pic>
            <p:nvPicPr>
              <p:cNvPr id="72" name="object 30"/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6133830" y="4235614"/>
                <a:ext cx="124971" cy="125001"/>
              </a:xfrm>
              <a:prstGeom prst="rect">
                <a:avLst/>
              </a:prstGeom>
            </p:spPr>
          </p:pic>
          <p:pic>
            <p:nvPicPr>
              <p:cNvPr id="73" name="object 31"/>
              <p:cNvPicPr/>
              <p:nvPr/>
            </p:nvPicPr>
            <p:blipFill>
              <a:blip r:embed="rId27" cstate="print"/>
              <a:stretch>
                <a:fillRect/>
              </a:stretch>
            </p:blipFill>
            <p:spPr>
              <a:xfrm>
                <a:off x="3256659" y="4111599"/>
                <a:ext cx="195568" cy="195568"/>
              </a:xfrm>
              <a:prstGeom prst="rect">
                <a:avLst/>
              </a:prstGeom>
            </p:spPr>
          </p:pic>
          <p:pic>
            <p:nvPicPr>
              <p:cNvPr id="74" name="object 32"/>
              <p:cNvPicPr/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3292205" y="4127413"/>
                <a:ext cx="125001" cy="125027"/>
              </a:xfrm>
              <a:prstGeom prst="rect">
                <a:avLst/>
              </a:prstGeom>
            </p:spPr>
          </p:pic>
          <p:pic>
            <p:nvPicPr>
              <p:cNvPr id="75" name="object 33"/>
              <p:cNvPicPr/>
              <p:nvPr/>
            </p:nvPicPr>
            <p:blipFill>
              <a:blip r:embed="rId29" cstate="print"/>
              <a:stretch>
                <a:fillRect/>
              </a:stretch>
            </p:blipFill>
            <p:spPr>
              <a:xfrm>
                <a:off x="1933996" y="4631401"/>
                <a:ext cx="195568" cy="195568"/>
              </a:xfrm>
              <a:prstGeom prst="rect">
                <a:avLst/>
              </a:prstGeom>
            </p:spPr>
          </p:pic>
          <p:pic>
            <p:nvPicPr>
              <p:cNvPr id="76" name="object 34"/>
              <p:cNvPicPr/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>
                <a:off x="1968554" y="4647920"/>
                <a:ext cx="125007" cy="125027"/>
              </a:xfrm>
              <a:prstGeom prst="rect">
                <a:avLst/>
              </a:prstGeom>
            </p:spPr>
          </p:pic>
          <p:pic>
            <p:nvPicPr>
              <p:cNvPr id="77" name="object 35"/>
              <p:cNvPicPr/>
              <p:nvPr/>
            </p:nvPicPr>
            <p:blipFill>
              <a:blip r:embed="rId31" cstate="print"/>
              <a:stretch>
                <a:fillRect/>
              </a:stretch>
            </p:blipFill>
            <p:spPr>
              <a:xfrm>
                <a:off x="3421348" y="4343194"/>
                <a:ext cx="195568" cy="200715"/>
              </a:xfrm>
              <a:prstGeom prst="rect">
                <a:avLst/>
              </a:prstGeom>
            </p:spPr>
          </p:pic>
          <p:pic>
            <p:nvPicPr>
              <p:cNvPr id="78" name="object 36"/>
              <p:cNvPicPr/>
              <p:nvPr/>
            </p:nvPicPr>
            <p:blipFill>
              <a:blip r:embed="rId32" cstate="print"/>
              <a:stretch>
                <a:fillRect/>
              </a:stretch>
            </p:blipFill>
            <p:spPr>
              <a:xfrm>
                <a:off x="3457918" y="4361365"/>
                <a:ext cx="125001" cy="125001"/>
              </a:xfrm>
              <a:prstGeom prst="rect">
                <a:avLst/>
              </a:prstGeom>
            </p:spPr>
          </p:pic>
          <p:pic>
            <p:nvPicPr>
              <p:cNvPr id="79" name="object 37"/>
              <p:cNvPicPr/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2618487" y="4847556"/>
                <a:ext cx="195568" cy="200715"/>
              </a:xfrm>
              <a:prstGeom prst="rect">
                <a:avLst/>
              </a:prstGeom>
            </p:spPr>
          </p:pic>
          <p:pic>
            <p:nvPicPr>
              <p:cNvPr id="80" name="object 38"/>
              <p:cNvPicPr/>
              <p:nvPr/>
            </p:nvPicPr>
            <p:blipFill>
              <a:blip r:embed="rId34" cstate="print"/>
              <a:stretch>
                <a:fillRect/>
              </a:stretch>
            </p:blipFill>
            <p:spPr>
              <a:xfrm>
                <a:off x="2654753" y="4866267"/>
                <a:ext cx="125007" cy="125007"/>
              </a:xfrm>
              <a:prstGeom prst="rect">
                <a:avLst/>
              </a:prstGeom>
            </p:spPr>
          </p:pic>
          <p:pic>
            <p:nvPicPr>
              <p:cNvPr id="81" name="object 39"/>
              <p:cNvPicPr/>
              <p:nvPr/>
            </p:nvPicPr>
            <p:blipFill>
              <a:blip r:embed="rId35" cstate="print"/>
              <a:stretch>
                <a:fillRect/>
              </a:stretch>
            </p:blipFill>
            <p:spPr>
              <a:xfrm>
                <a:off x="2397185" y="4404953"/>
                <a:ext cx="200715" cy="195568"/>
              </a:xfrm>
              <a:prstGeom prst="rect">
                <a:avLst/>
              </a:prstGeom>
            </p:spPr>
          </p:pic>
          <p:pic>
            <p:nvPicPr>
              <p:cNvPr id="82" name="object 40"/>
              <p:cNvPicPr/>
              <p:nvPr/>
            </p:nvPicPr>
            <p:blipFill>
              <a:blip r:embed="rId36" cstate="print"/>
              <a:stretch>
                <a:fillRect/>
              </a:stretch>
            </p:blipFill>
            <p:spPr>
              <a:xfrm>
                <a:off x="2435562" y="4419845"/>
                <a:ext cx="125007" cy="125001"/>
              </a:xfrm>
              <a:prstGeom prst="rect">
                <a:avLst/>
              </a:prstGeom>
            </p:spPr>
          </p:pic>
          <p:pic>
            <p:nvPicPr>
              <p:cNvPr id="83" name="object 41"/>
              <p:cNvPicPr/>
              <p:nvPr/>
            </p:nvPicPr>
            <p:blipFill>
              <a:blip r:embed="rId37" cstate="print"/>
              <a:stretch>
                <a:fillRect/>
              </a:stretch>
            </p:blipFill>
            <p:spPr>
              <a:xfrm>
                <a:off x="1275238" y="3077143"/>
                <a:ext cx="5095082" cy="2470343"/>
              </a:xfrm>
              <a:prstGeom prst="rect">
                <a:avLst/>
              </a:prstGeom>
            </p:spPr>
          </p:pic>
          <p:sp>
            <p:nvSpPr>
              <p:cNvPr id="84" name="object 42"/>
              <p:cNvSpPr/>
              <p:nvPr/>
            </p:nvSpPr>
            <p:spPr>
              <a:xfrm>
                <a:off x="1320512" y="3111867"/>
                <a:ext cx="4998720" cy="2366010"/>
              </a:xfrm>
              <a:custGeom>
                <a:avLst/>
                <a:gdLst/>
                <a:ahLst/>
                <a:cxnLst/>
                <a:rect l="l" t="t" r="r" b="b"/>
                <a:pathLst>
                  <a:path w="4998720" h="2366010">
                    <a:moveTo>
                      <a:pt x="0" y="2365672"/>
                    </a:moveTo>
                    <a:lnTo>
                      <a:pt x="41062" y="2332403"/>
                    </a:lnTo>
                    <a:lnTo>
                      <a:pt x="82124" y="2299143"/>
                    </a:lnTo>
                    <a:lnTo>
                      <a:pt x="123184" y="2265902"/>
                    </a:lnTo>
                    <a:lnTo>
                      <a:pt x="164241" y="2232688"/>
                    </a:lnTo>
                    <a:lnTo>
                      <a:pt x="205295" y="2199511"/>
                    </a:lnTo>
                    <a:lnTo>
                      <a:pt x="246346" y="2166381"/>
                    </a:lnTo>
                    <a:lnTo>
                      <a:pt x="287391" y="2133305"/>
                    </a:lnTo>
                    <a:lnTo>
                      <a:pt x="328430" y="2100295"/>
                    </a:lnTo>
                    <a:lnTo>
                      <a:pt x="369463" y="2067358"/>
                    </a:lnTo>
                    <a:lnTo>
                      <a:pt x="410488" y="2034505"/>
                    </a:lnTo>
                    <a:lnTo>
                      <a:pt x="451505" y="2001743"/>
                    </a:lnTo>
                    <a:lnTo>
                      <a:pt x="492513" y="1969084"/>
                    </a:lnTo>
                    <a:lnTo>
                      <a:pt x="533512" y="1936535"/>
                    </a:lnTo>
                    <a:lnTo>
                      <a:pt x="574499" y="1904105"/>
                    </a:lnTo>
                    <a:lnTo>
                      <a:pt x="615475" y="1871806"/>
                    </a:lnTo>
                    <a:lnTo>
                      <a:pt x="656439" y="1839644"/>
                    </a:lnTo>
                    <a:lnTo>
                      <a:pt x="697390" y="1807630"/>
                    </a:lnTo>
                    <a:lnTo>
                      <a:pt x="738327" y="1775773"/>
                    </a:lnTo>
                    <a:lnTo>
                      <a:pt x="779249" y="1744082"/>
                    </a:lnTo>
                    <a:lnTo>
                      <a:pt x="820155" y="1712567"/>
                    </a:lnTo>
                    <a:lnTo>
                      <a:pt x="861045" y="1681236"/>
                    </a:lnTo>
                    <a:lnTo>
                      <a:pt x="901918" y="1650098"/>
                    </a:lnTo>
                    <a:lnTo>
                      <a:pt x="942773" y="1619164"/>
                    </a:lnTo>
                    <a:lnTo>
                      <a:pt x="983609" y="1588442"/>
                    </a:lnTo>
                    <a:lnTo>
                      <a:pt x="1024426" y="1557941"/>
                    </a:lnTo>
                    <a:lnTo>
                      <a:pt x="1065222" y="1527671"/>
                    </a:lnTo>
                    <a:lnTo>
                      <a:pt x="1105997" y="1497641"/>
                    </a:lnTo>
                    <a:lnTo>
                      <a:pt x="1146749" y="1467860"/>
                    </a:lnTo>
                    <a:lnTo>
                      <a:pt x="1187479" y="1438337"/>
                    </a:lnTo>
                    <a:lnTo>
                      <a:pt x="1228185" y="1409082"/>
                    </a:lnTo>
                    <a:lnTo>
                      <a:pt x="1268867" y="1380103"/>
                    </a:lnTo>
                    <a:lnTo>
                      <a:pt x="1309523" y="1351411"/>
                    </a:lnTo>
                    <a:lnTo>
                      <a:pt x="1350153" y="1323013"/>
                    </a:lnTo>
                    <a:lnTo>
                      <a:pt x="1390756" y="1294921"/>
                    </a:lnTo>
                    <a:lnTo>
                      <a:pt x="1431331" y="1267141"/>
                    </a:lnTo>
                    <a:lnTo>
                      <a:pt x="1471878" y="1239685"/>
                    </a:lnTo>
                    <a:lnTo>
                      <a:pt x="1512395" y="1212561"/>
                    </a:lnTo>
                    <a:lnTo>
                      <a:pt x="1552882" y="1185778"/>
                    </a:lnTo>
                    <a:lnTo>
                      <a:pt x="1593338" y="1159346"/>
                    </a:lnTo>
                    <a:lnTo>
                      <a:pt x="1633762" y="1133273"/>
                    </a:lnTo>
                    <a:lnTo>
                      <a:pt x="1674154" y="1107570"/>
                    </a:lnTo>
                    <a:lnTo>
                      <a:pt x="1714512" y="1082244"/>
                    </a:lnTo>
                    <a:lnTo>
                      <a:pt x="1754835" y="1057306"/>
                    </a:lnTo>
                    <a:lnTo>
                      <a:pt x="1795124" y="1032765"/>
                    </a:lnTo>
                    <a:lnTo>
                      <a:pt x="1835376" y="1008630"/>
                    </a:lnTo>
                    <a:lnTo>
                      <a:pt x="1875592" y="984910"/>
                    </a:lnTo>
                    <a:lnTo>
                      <a:pt x="1923136" y="957382"/>
                    </a:lnTo>
                    <a:lnTo>
                      <a:pt x="1970929" y="930260"/>
                    </a:lnTo>
                    <a:lnTo>
                      <a:pt x="2018948" y="903542"/>
                    </a:lnTo>
                    <a:lnTo>
                      <a:pt x="2067170" y="877228"/>
                    </a:lnTo>
                    <a:lnTo>
                      <a:pt x="2115570" y="851316"/>
                    </a:lnTo>
                    <a:lnTo>
                      <a:pt x="2164125" y="825806"/>
                    </a:lnTo>
                    <a:lnTo>
                      <a:pt x="2212812" y="800696"/>
                    </a:lnTo>
                    <a:lnTo>
                      <a:pt x="2261606" y="775986"/>
                    </a:lnTo>
                    <a:lnTo>
                      <a:pt x="2310483" y="751675"/>
                    </a:lnTo>
                    <a:lnTo>
                      <a:pt x="2359421" y="727761"/>
                    </a:lnTo>
                    <a:lnTo>
                      <a:pt x="2408395" y="704243"/>
                    </a:lnTo>
                    <a:lnTo>
                      <a:pt x="2457381" y="681122"/>
                    </a:lnTo>
                    <a:lnTo>
                      <a:pt x="2506356" y="658395"/>
                    </a:lnTo>
                    <a:lnTo>
                      <a:pt x="2555297" y="636061"/>
                    </a:lnTo>
                    <a:lnTo>
                      <a:pt x="2604179" y="614121"/>
                    </a:lnTo>
                    <a:lnTo>
                      <a:pt x="2652979" y="592571"/>
                    </a:lnTo>
                    <a:lnTo>
                      <a:pt x="2701672" y="571413"/>
                    </a:lnTo>
                    <a:lnTo>
                      <a:pt x="2750236" y="550644"/>
                    </a:lnTo>
                    <a:lnTo>
                      <a:pt x="2798647" y="530264"/>
                    </a:lnTo>
                    <a:lnTo>
                      <a:pt x="2846880" y="510272"/>
                    </a:lnTo>
                    <a:lnTo>
                      <a:pt x="2894913" y="490666"/>
                    </a:lnTo>
                    <a:lnTo>
                      <a:pt x="2942721" y="471447"/>
                    </a:lnTo>
                    <a:lnTo>
                      <a:pt x="2990281" y="452611"/>
                    </a:lnTo>
                    <a:lnTo>
                      <a:pt x="3037568" y="434160"/>
                    </a:lnTo>
                    <a:lnTo>
                      <a:pt x="3084560" y="416092"/>
                    </a:lnTo>
                    <a:lnTo>
                      <a:pt x="3131233" y="398405"/>
                    </a:lnTo>
                    <a:lnTo>
                      <a:pt x="3177563" y="381099"/>
                    </a:lnTo>
                    <a:lnTo>
                      <a:pt x="3223525" y="364173"/>
                    </a:lnTo>
                    <a:lnTo>
                      <a:pt x="3269097" y="347626"/>
                    </a:lnTo>
                    <a:lnTo>
                      <a:pt x="3314255" y="331457"/>
                    </a:lnTo>
                    <a:lnTo>
                      <a:pt x="3358975" y="315664"/>
                    </a:lnTo>
                    <a:lnTo>
                      <a:pt x="3403233" y="300248"/>
                    </a:lnTo>
                    <a:lnTo>
                      <a:pt x="3447005" y="285206"/>
                    </a:lnTo>
                    <a:lnTo>
                      <a:pt x="3490269" y="270538"/>
                    </a:lnTo>
                    <a:lnTo>
                      <a:pt x="3532999" y="256243"/>
                    </a:lnTo>
                    <a:lnTo>
                      <a:pt x="3575173" y="242320"/>
                    </a:lnTo>
                    <a:lnTo>
                      <a:pt x="3616767" y="228768"/>
                    </a:lnTo>
                    <a:lnTo>
                      <a:pt x="3657757" y="215586"/>
                    </a:lnTo>
                    <a:lnTo>
                      <a:pt x="3698118" y="202773"/>
                    </a:lnTo>
                    <a:lnTo>
                      <a:pt x="4120892" y="101850"/>
                    </a:lnTo>
                    <a:lnTo>
                      <a:pt x="4543535" y="39840"/>
                    </a:lnTo>
                    <a:lnTo>
                      <a:pt x="4868591" y="8603"/>
                    </a:lnTo>
                    <a:lnTo>
                      <a:pt x="4998600" y="0"/>
                    </a:lnTo>
                  </a:path>
                </a:pathLst>
              </a:custGeom>
              <a:ln w="32165">
                <a:solidFill>
                  <a:srgbClr val="85BD05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2" name="object 10"/>
            <p:cNvSpPr txBox="1"/>
            <p:nvPr/>
          </p:nvSpPr>
          <p:spPr>
            <a:xfrm>
              <a:off x="1377671" y="2805804"/>
              <a:ext cx="257175" cy="584134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5"/>
                </a:spcBef>
              </a:pPr>
              <a:r>
                <a:rPr lang="en-US" altLang="zh-CN" sz="3700" spc="-50" dirty="0">
                  <a:latin typeface="Arial" panose="020B0604020202020204"/>
                  <a:cs typeface="Arial" panose="020B0604020202020204"/>
                </a:rPr>
                <a:t>y</a:t>
              </a:r>
              <a:endParaRPr sz="3700" dirty="0">
                <a:latin typeface="Arial" panose="020B0604020202020204"/>
                <a:cs typeface="Arial" panose="020B0604020202020204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6823265" y="3027087"/>
                <a:ext cx="6332855" cy="356854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27025" marR="43180" indent="-288925">
                  <a:spcBef>
                    <a:spcPts val="100"/>
                  </a:spcBef>
                  <a:buClr>
                    <a:srgbClr val="5D5555"/>
                  </a:buClr>
                  <a:buChar char="•"/>
                  <a:tabLst>
                    <a:tab pos="327025" algn="l"/>
                  </a:tabLst>
                </a:pPr>
                <a14:m>
                  <m:oMath xmlns:m="http://schemas.openxmlformats.org/officeDocument/2006/math">
                    <m:r>
                      <a:rPr lang="en-SG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𝝐</m:t>
                    </m:r>
                  </m:oMath>
                </a14:m>
                <a:r>
                  <a:rPr lang="zh-CN" altLang="en-SG" sz="2800" b="1" dirty="0">
                    <a:solidFill>
                      <a:srgbClr val="2B272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：</a:t>
                </a:r>
                <a:endParaRPr lang="en-SG" altLang="zh-CN" sz="2800" b="1" dirty="0">
                  <a:solidFill>
                    <a:srgbClr val="2B272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784225" marR="43180" lvl="1" indent="-288925">
                  <a:spcBef>
                    <a:spcPts val="100"/>
                  </a:spcBef>
                  <a:buClr>
                    <a:srgbClr val="5D5555"/>
                  </a:buClr>
                  <a:buChar char="•"/>
                  <a:tabLst>
                    <a:tab pos="327025" algn="l"/>
                  </a:tabLst>
                </a:pPr>
                <a:r>
                  <a:rPr lang="zh-CN" altLang="en-US" sz="2800" b="1" dirty="0">
                    <a:solidFill>
                      <a:srgbClr val="2B272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基础假设：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𝐄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zh-CN" altLang="en-US" sz="2800" b="1" i="1" smtClean="0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𝝐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𝟎</m:t>
                    </m:r>
                  </m:oMath>
                </a14:m>
                <a:endParaRPr lang="en-SG" altLang="zh-CN" sz="2800" b="1" dirty="0">
                  <a:solidFill>
                    <a:srgbClr val="2B272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784225" marR="43180" lvl="1" indent="-288925">
                  <a:spcBef>
                    <a:spcPts val="100"/>
                  </a:spcBef>
                  <a:buClr>
                    <a:srgbClr val="5D5555"/>
                  </a:buClr>
                  <a:buChar char="•"/>
                  <a:tabLst>
                    <a:tab pos="327025" algn="l"/>
                  </a:tabLst>
                </a:pPr>
                <a:r>
                  <a:rPr lang="zh-CN" altLang="en-US" sz="2800" b="1" dirty="0">
                    <a:solidFill>
                      <a:srgbClr val="2B272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进一步假设：</a:t>
                </a:r>
                <a:r>
                  <a:rPr lang="en-SG" altLang="zh-CN" sz="2800" b="1" dirty="0">
                    <a:solidFill>
                      <a:srgbClr val="2B272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SG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𝝐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~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𝑵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𝟎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,</m:t>
                    </m:r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 smtClean="0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𝟐</m:t>
                        </m:r>
                      </m:sup>
                    </m:sSup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)</m:t>
                    </m:r>
                  </m:oMath>
                </a14:m>
                <a:endParaRPr lang="en-SG" altLang="zh-CN" sz="2800" b="1" dirty="0">
                  <a:solidFill>
                    <a:srgbClr val="2B272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784225" marR="43180" lvl="1" indent="-288925">
                  <a:spcBef>
                    <a:spcPts val="100"/>
                  </a:spcBef>
                  <a:buClr>
                    <a:srgbClr val="5D5555"/>
                  </a:buClr>
                  <a:buChar char="•"/>
                  <a:tabLst>
                    <a:tab pos="327025" algn="l"/>
                  </a:tabLst>
                </a:pPr>
                <a:endParaRPr lang="zh-CN" altLang="en-US" sz="2800" b="1" dirty="0">
                  <a:solidFill>
                    <a:srgbClr val="2B272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327025" marR="43180" indent="-288925">
                  <a:spcBef>
                    <a:spcPts val="100"/>
                  </a:spcBef>
                  <a:buClr>
                    <a:srgbClr val="5D5555"/>
                  </a:buClr>
                  <a:buChar char="•"/>
                  <a:tabLst>
                    <a:tab pos="327025" algn="l"/>
                  </a:tabLst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cs typeface="Arial" panose="020B0604020202020204"/>
                      </a:rPr>
                      <m:t>𝒚</m:t>
                    </m:r>
                  </m:oMath>
                </a14:m>
                <a:r>
                  <a:rPr lang="en-US" altLang="zh-CN" sz="2800" b="1" dirty="0">
                    <a:solidFill>
                      <a:srgbClr val="2B272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:</a:t>
                </a:r>
                <a:endParaRPr lang="en-US" altLang="zh-CN" sz="2800" b="1" dirty="0">
                  <a:solidFill>
                    <a:srgbClr val="2B272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784225" marR="43180" lvl="1" indent="-288925">
                  <a:spcBef>
                    <a:spcPts val="100"/>
                  </a:spcBef>
                  <a:buClr>
                    <a:srgbClr val="5D5555"/>
                  </a:buClr>
                  <a:buChar char="•"/>
                  <a:tabLst>
                    <a:tab pos="327025" algn="l"/>
                  </a:tabLst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𝒚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=</m:t>
                    </m:r>
                    <m:sSup>
                      <m:sSupPr>
                        <m:ctrlPr>
                          <a:rPr lang="en-US" altLang="zh-CN" sz="2800" b="1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⊺</m:t>
                        </m:r>
                      </m:sup>
                    </m:sSup>
                    <m:r>
                      <a:rPr lang="en-US" altLang="zh-CN" sz="2800" b="1" i="1" spc="6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𝝓</m:t>
                    </m:r>
                    <m:d>
                      <m:dPr>
                        <m:ctrlP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𝒙</m:t>
                        </m:r>
                      </m:e>
                    </m:d>
                    <m:r>
                      <a:rPr lang="en-US" altLang="zh-CN" sz="2800" b="1" i="1" spc="6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+</m:t>
                    </m:r>
                  </m:oMath>
                </a14:m>
                <a:r>
                  <a:rPr lang="en-SG" altLang="zh-CN" sz="2800" b="1" dirty="0">
                    <a:solidFill>
                      <a:srgbClr val="2B272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a:rPr lang="en-SG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𝝐</m:t>
                    </m:r>
                  </m:oMath>
                </a14:m>
                <a:endParaRPr lang="en-SG" altLang="zh-CN" sz="2800" b="1" dirty="0">
                  <a:solidFill>
                    <a:srgbClr val="2B272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784225" marR="43180" lvl="1" indent="-288925">
                  <a:spcBef>
                    <a:spcPts val="100"/>
                  </a:spcBef>
                  <a:buClr>
                    <a:srgbClr val="5D5555"/>
                  </a:buClr>
                  <a:buFontTx/>
                  <a:buChar char="•"/>
                  <a:tabLst>
                    <a:tab pos="327025" algn="l"/>
                  </a:tabLst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𝒚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|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𝒙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𝒘</m:t>
                    </m:r>
                    <m:r>
                      <a:rPr lang="zh-CN" altLang="en-US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 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~</m:t>
                    </m:r>
                    <m:r>
                      <a:rPr lang="zh-CN" altLang="en-US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 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𝑵</m:t>
                    </m:r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(</m:t>
                    </m:r>
                    <m:sSup>
                      <m:sSupPr>
                        <m:ctrlPr>
                          <a:rPr lang="en-US" altLang="zh-CN" sz="2800" b="1" i="1" spc="6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pc="6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⊺</m:t>
                        </m:r>
                      </m:sup>
                    </m:sSup>
                    <m:r>
                      <a:rPr lang="en-US" altLang="zh-CN" sz="2800" b="1" i="1" spc="6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𝝓</m:t>
                    </m:r>
                    <m:d>
                      <m:dPr>
                        <m:ctrlP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𝒙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,</m:t>
                    </m:r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 smtClean="0">
                            <a:solidFill>
                              <a:srgbClr val="2B27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𝟐</m:t>
                        </m:r>
                      </m:sup>
                    </m:sSup>
                    <m:r>
                      <a:rPr lang="en-US" altLang="zh-CN" sz="2800" b="1" i="1" smtClean="0">
                        <a:solidFill>
                          <a:srgbClr val="2B272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)</m:t>
                    </m:r>
                  </m:oMath>
                </a14:m>
                <a:endParaRPr lang="en-SG" altLang="zh-CN" sz="2800" b="1" dirty="0">
                  <a:solidFill>
                    <a:srgbClr val="2B272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784225" marR="43180" lvl="1" indent="-288925">
                  <a:spcBef>
                    <a:spcPts val="100"/>
                  </a:spcBef>
                  <a:buClr>
                    <a:srgbClr val="5D5555"/>
                  </a:buClr>
                  <a:buChar char="•"/>
                  <a:tabLst>
                    <a:tab pos="327025" algn="l"/>
                  </a:tabLst>
                </a:pPr>
                <a:endParaRPr lang="zh-CN" altLang="en-US" sz="2800" b="1" dirty="0">
                  <a:solidFill>
                    <a:srgbClr val="2B272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265" y="3027087"/>
                <a:ext cx="6332855" cy="3568541"/>
              </a:xfrm>
              <a:prstGeom prst="rect">
                <a:avLst/>
              </a:prstGeom>
              <a:blipFill rotWithShape="1">
                <a:blip r:embed="rId38"/>
                <a:stretch>
                  <a:fillRect l="-3" t="-517" r="3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回顾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Wingdings" panose="05000000000000000000" pitchFamily="2" charset="2"/>
              </a:rPr>
              <a:t>：最大似然估计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78624" y="922264"/>
                <a:ext cx="52692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Maximum likelihood estimate w.r.t.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2400" dirty="0"/>
                  <a:t>:</a:t>
                </a:r>
                <a:endParaRPr lang="en-US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24" y="922264"/>
                <a:ext cx="5269283" cy="461665"/>
              </a:xfrm>
              <a:prstGeom prst="rect">
                <a:avLst/>
              </a:prstGeom>
              <a:blipFill rotWithShape="1">
                <a:blip r:embed="rId1"/>
                <a:stretch>
                  <a:fillRect l="-3" t="-53" r="4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7"/>
              <p:cNvSpPr txBox="1"/>
              <p:nvPr/>
            </p:nvSpPr>
            <p:spPr>
              <a:xfrm>
                <a:off x="578624" y="2596733"/>
                <a:ext cx="55865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Maximize log-likelihood estimate</a:t>
                </a:r>
                <a:r>
                  <a:rPr lang="zh-CN" altLang="en-US" sz="2400" dirty="0"/>
                  <a:t> </a:t>
                </a:r>
                <a:r>
                  <a:rPr lang="en-US" altLang="zh-CN" sz="2400" dirty="0" err="1"/>
                  <a:t>w.r.t.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2400" dirty="0"/>
                  <a:t>:</a:t>
                </a:r>
                <a:endParaRPr lang="en-US" sz="2400" dirty="0"/>
              </a:p>
            </p:txBody>
          </p:sp>
        </mc:Choice>
        <mc:Fallback>
          <p:sp>
            <p:nvSpPr>
              <p:cNvPr id="6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24" y="2596733"/>
                <a:ext cx="5586556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2" t="-47" r="11" b="-68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921" y="3115502"/>
            <a:ext cx="7897081" cy="2472630"/>
          </a:xfrm>
          <a:prstGeom prst="rect">
            <a:avLst/>
          </a:prstGeom>
        </p:spPr>
      </p:pic>
      <p:sp>
        <p:nvSpPr>
          <p:cNvPr id="8" name="TextBox 13"/>
          <p:cNvSpPr txBox="1"/>
          <p:nvPr/>
        </p:nvSpPr>
        <p:spPr>
          <a:xfrm>
            <a:off x="5847907" y="949629"/>
            <a:ext cx="27970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最大似然估计</a:t>
            </a:r>
            <a:endParaRPr 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4"/>
          <p:cNvSpPr txBox="1"/>
          <p:nvPr/>
        </p:nvSpPr>
        <p:spPr>
          <a:xfrm>
            <a:off x="6165180" y="2596733"/>
            <a:ext cx="21007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对数似然</a:t>
            </a:r>
            <a:endParaRPr 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"/>
          <p:cNvSpPr/>
          <p:nvPr/>
        </p:nvSpPr>
        <p:spPr>
          <a:xfrm>
            <a:off x="2535242" y="5935736"/>
            <a:ext cx="7601332" cy="400111"/>
          </a:xfrm>
          <a:prstGeom prst="rect">
            <a:avLst/>
          </a:prstGeom>
          <a:solidFill>
            <a:srgbClr val="F3E8B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高斯假设下的最大似然估计 </a:t>
            </a:r>
            <a:r>
              <a:rPr lang="en-US" altLang="zh-CN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最小化平方误差</a:t>
            </a:r>
            <a:endParaRPr lang="en-US" altLang="zh-CN" sz="28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056" y="1528671"/>
            <a:ext cx="5586556" cy="79001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逻辑回归：需要寻找最佳参数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object 3"/>
          <p:cNvSpPr txBox="1"/>
          <p:nvPr/>
        </p:nvSpPr>
        <p:spPr>
          <a:xfrm>
            <a:off x="1534723" y="2319309"/>
            <a:ext cx="157480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spc="-5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x</a:t>
            </a:r>
            <a:r>
              <a:rPr sz="1450" b="1" spc="-5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[1]</a:t>
            </a:r>
            <a:r>
              <a:rPr sz="1450" b="1" spc="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50" b="1" spc="1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450" b="1" spc="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50" b="1" spc="6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#awesome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4"/>
          <p:cNvSpPr txBox="1"/>
          <p:nvPr/>
        </p:nvSpPr>
        <p:spPr>
          <a:xfrm>
            <a:off x="3317343" y="2319309"/>
            <a:ext cx="121412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x</a:t>
            </a:r>
            <a:r>
              <a:rPr sz="14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[2]</a:t>
            </a:r>
            <a:r>
              <a:rPr sz="145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50" b="1" spc="1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45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50" b="1" spc="6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#awful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5"/>
          <p:cNvSpPr txBox="1"/>
          <p:nvPr/>
        </p:nvSpPr>
        <p:spPr>
          <a:xfrm>
            <a:off x="4879750" y="2319309"/>
            <a:ext cx="908050" cy="426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65"/>
              </a:lnSpc>
            </a:pPr>
            <a:r>
              <a:rPr sz="14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1450" b="1" spc="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50" b="1" spc="1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</a:t>
            </a:r>
            <a:endParaRPr sz="14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5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sentiment</a:t>
            </a:r>
            <a:endParaRPr sz="145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6" name="object 3"/>
          <p:cNvGraphicFramePr>
            <a:graphicFrameLocks noGrp="1"/>
          </p:cNvGraphicFramePr>
          <p:nvPr/>
        </p:nvGraphicFramePr>
        <p:xfrm>
          <a:off x="1871685" y="2319309"/>
          <a:ext cx="8439151" cy="2264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1178"/>
                <a:gridCol w="2591588"/>
                <a:gridCol w="2596385"/>
              </a:tblGrid>
              <a:tr h="319405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贷款金额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5240" marB="0">
                    <a:lnL w="12700">
                      <a:solidFill>
                        <a:srgbClr val="B0007E"/>
                      </a:solidFill>
                      <a:prstDash val="solid"/>
                    </a:lnL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年收入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5240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</a:rPr>
                        <a:t>y = </a:t>
                      </a: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是否违约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8415" marB="0">
                    <a:lnR w="12700">
                      <a:solidFill>
                        <a:srgbClr val="B0007E"/>
                      </a:solidFill>
                      <a:prstDash val="solid"/>
                    </a:lnR>
                    <a:solidFill>
                      <a:srgbClr val="B0007E"/>
                    </a:solidFill>
                  </a:tcPr>
                </a:tc>
              </a:tr>
              <a:tr h="3410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317.96k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635k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445" marB="0">
                    <a:lnR w="12700">
                      <a:solidFill>
                        <a:srgbClr val="B0007E"/>
                      </a:solidFill>
                      <a:prstDash val="solid"/>
                    </a:lnR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866.1k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305k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3335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136.08k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T w="12700">
                      <a:solidFill>
                        <a:srgbClr val="B0007E"/>
                      </a:solidFill>
                      <a:prstDash val="solid"/>
                    </a:lnT>
                    <a:lnB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T w="12700">
                      <a:solidFill>
                        <a:srgbClr val="B0007E"/>
                      </a:solidFill>
                      <a:prstDash val="solid"/>
                    </a:lnT>
                    <a:lnB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2065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95.21k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100k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0795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逻辑回归：需要寻找最佳参数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object 5"/>
          <p:cNvGrpSpPr/>
          <p:nvPr/>
        </p:nvGrpSpPr>
        <p:grpSpPr>
          <a:xfrm>
            <a:off x="6056521" y="1836825"/>
            <a:ext cx="97790" cy="1960880"/>
            <a:chOff x="5150588" y="1836825"/>
            <a:chExt cx="97790" cy="1960880"/>
          </a:xfrm>
        </p:grpSpPr>
        <p:pic>
          <p:nvPicPr>
            <p:cNvPr id="5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150588" y="1836825"/>
              <a:ext cx="97784" cy="1960834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5199480" y="1857550"/>
              <a:ext cx="0" cy="1878964"/>
            </a:xfrm>
            <a:custGeom>
              <a:avLst/>
              <a:gdLst/>
              <a:ahLst/>
              <a:cxnLst/>
              <a:rect l="l" t="t" r="r" b="b"/>
              <a:pathLst>
                <a:path h="1878964">
                  <a:moveTo>
                    <a:pt x="0" y="0"/>
                  </a:moveTo>
                  <a:lnTo>
                    <a:pt x="0" y="1878484"/>
                  </a:lnTo>
                </a:path>
              </a:pathLst>
            </a:custGeom>
            <a:ln w="21443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8"/>
          <p:cNvSpPr txBox="1"/>
          <p:nvPr/>
        </p:nvSpPr>
        <p:spPr>
          <a:xfrm>
            <a:off x="1880513" y="4255382"/>
            <a:ext cx="3630929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125"/>
              </a:spcBef>
            </a:pPr>
            <a:r>
              <a:rPr sz="2400" dirty="0">
                <a:latin typeface="Arial" panose="020B0604020202020204"/>
                <a:cs typeface="Arial" panose="020B0604020202020204"/>
              </a:rPr>
              <a:t>P(</a:t>
            </a:r>
            <a:r>
              <a:rPr sz="2400" dirty="0">
                <a:solidFill>
                  <a:srgbClr val="B0007E"/>
                </a:solidFill>
                <a:latin typeface="Arial" panose="020B0604020202020204"/>
                <a:cs typeface="Arial" panose="020B0604020202020204"/>
              </a:rPr>
              <a:t>y=+1</a:t>
            </a:r>
            <a:r>
              <a:rPr sz="2400" dirty="0">
                <a:latin typeface="Arial" panose="020B0604020202020204"/>
                <a:cs typeface="Arial" panose="020B0604020202020204"/>
              </a:rPr>
              <a:t>|</a:t>
            </a:r>
            <a:r>
              <a:rPr sz="2400" dirty="0">
                <a:latin typeface="Verdana" panose="020B0604030504040204"/>
                <a:cs typeface="Verdana" panose="020B0604030504040204"/>
              </a:rPr>
              <a:t>x</a:t>
            </a:r>
            <a:r>
              <a:rPr sz="2400" dirty="0">
                <a:latin typeface="Arial" panose="020B0604020202020204"/>
                <a:cs typeface="Arial" panose="020B0604020202020204"/>
              </a:rPr>
              <a:t>,</a:t>
            </a:r>
            <a:r>
              <a:rPr sz="2400" dirty="0">
                <a:solidFill>
                  <a:srgbClr val="118CC4"/>
                </a:solidFill>
                <a:latin typeface="Verdana" panose="020B0604030504040204"/>
                <a:cs typeface="Verdana" panose="020B0604030504040204"/>
              </a:rPr>
              <a:t>w</a:t>
            </a:r>
            <a:r>
              <a:rPr sz="2400" dirty="0">
                <a:latin typeface="Arial" panose="020B0604020202020204"/>
                <a:cs typeface="Arial" panose="020B0604020202020204"/>
              </a:rPr>
              <a:t>)</a:t>
            </a:r>
            <a:r>
              <a:rPr sz="240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290" dirty="0">
                <a:latin typeface="Arial" panose="020B0604020202020204"/>
                <a:cs typeface="Arial" panose="020B0604020202020204"/>
              </a:rPr>
              <a:t>=</a:t>
            </a:r>
            <a:r>
              <a:rPr sz="2400" spc="-13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spc="105" dirty="0">
                <a:latin typeface="Arial" panose="020B0604020202020204"/>
                <a:cs typeface="Arial" panose="020B0604020202020204"/>
              </a:rPr>
              <a:t>1</a:t>
            </a:r>
            <a:r>
              <a:rPr sz="2400" spc="105" dirty="0">
                <a:latin typeface="Arial" panose="020B0604020202020204"/>
                <a:cs typeface="Arial" panose="020B0604020202020204"/>
              </a:rPr>
              <a:t>.0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object 9"/>
          <p:cNvGrpSpPr/>
          <p:nvPr/>
        </p:nvGrpSpPr>
        <p:grpSpPr>
          <a:xfrm>
            <a:off x="1193034" y="3807953"/>
            <a:ext cx="4709160" cy="530225"/>
            <a:chOff x="287101" y="3807953"/>
            <a:chExt cx="4709160" cy="530225"/>
          </a:xfrm>
        </p:grpSpPr>
        <p:pic>
          <p:nvPicPr>
            <p:cNvPr id="9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101" y="3807953"/>
              <a:ext cx="4709091" cy="530094"/>
            </a:xfrm>
            <a:prstGeom prst="rect">
              <a:avLst/>
            </a:prstGeom>
          </p:spPr>
        </p:pic>
        <p:sp>
          <p:nvSpPr>
            <p:cNvPr id="10" name="object 11"/>
            <p:cNvSpPr/>
            <p:nvPr/>
          </p:nvSpPr>
          <p:spPr>
            <a:xfrm>
              <a:off x="333682" y="3826964"/>
              <a:ext cx="4616450" cy="447675"/>
            </a:xfrm>
            <a:custGeom>
              <a:avLst/>
              <a:gdLst/>
              <a:ahLst/>
              <a:cxnLst/>
              <a:rect l="l" t="t" r="r" b="b"/>
              <a:pathLst>
                <a:path w="4616450" h="447675">
                  <a:moveTo>
                    <a:pt x="4615882" y="0"/>
                  </a:moveTo>
                  <a:lnTo>
                    <a:pt x="4613983" y="70670"/>
                  </a:lnTo>
                  <a:lnTo>
                    <a:pt x="4608695" y="132049"/>
                  </a:lnTo>
                  <a:lnTo>
                    <a:pt x="4600630" y="180453"/>
                  </a:lnTo>
                  <a:lnTo>
                    <a:pt x="4578621" y="223596"/>
                  </a:lnTo>
                  <a:lnTo>
                    <a:pt x="2345215" y="223596"/>
                  </a:lnTo>
                  <a:lnTo>
                    <a:pt x="2333433" y="234994"/>
                  </a:lnTo>
                  <a:lnTo>
                    <a:pt x="2323202" y="266734"/>
                  </a:lnTo>
                  <a:lnTo>
                    <a:pt x="2315134" y="315133"/>
                  </a:lnTo>
                  <a:lnTo>
                    <a:pt x="2309843" y="376512"/>
                  </a:lnTo>
                  <a:lnTo>
                    <a:pt x="2307943" y="447188"/>
                  </a:lnTo>
                  <a:lnTo>
                    <a:pt x="2306043" y="376512"/>
                  </a:lnTo>
                  <a:lnTo>
                    <a:pt x="2300753" y="315133"/>
                  </a:lnTo>
                  <a:lnTo>
                    <a:pt x="2292685" y="266734"/>
                  </a:lnTo>
                  <a:lnTo>
                    <a:pt x="2282453" y="234994"/>
                  </a:lnTo>
                  <a:lnTo>
                    <a:pt x="2270672" y="223596"/>
                  </a:lnTo>
                  <a:lnTo>
                    <a:pt x="37271" y="223596"/>
                  </a:lnTo>
                  <a:lnTo>
                    <a:pt x="25489" y="212197"/>
                  </a:lnTo>
                  <a:lnTo>
                    <a:pt x="15258" y="180453"/>
                  </a:lnTo>
                  <a:lnTo>
                    <a:pt x="7190" y="132049"/>
                  </a:lnTo>
                  <a:lnTo>
                    <a:pt x="1899" y="70670"/>
                  </a:lnTo>
                  <a:lnTo>
                    <a:pt x="0" y="0"/>
                  </a:lnTo>
                </a:path>
              </a:pathLst>
            </a:custGeom>
            <a:ln w="21443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2"/>
          <p:cNvGrpSpPr/>
          <p:nvPr/>
        </p:nvGrpSpPr>
        <p:grpSpPr>
          <a:xfrm>
            <a:off x="6298409" y="3807953"/>
            <a:ext cx="4709160" cy="530225"/>
            <a:chOff x="5392476" y="3807953"/>
            <a:chExt cx="4709160" cy="530225"/>
          </a:xfrm>
        </p:grpSpPr>
        <p:pic>
          <p:nvPicPr>
            <p:cNvPr id="12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2476" y="3807953"/>
              <a:ext cx="4709091" cy="530094"/>
            </a:xfrm>
            <a:prstGeom prst="rect">
              <a:avLst/>
            </a:prstGeom>
          </p:spPr>
        </p:pic>
        <p:sp>
          <p:nvSpPr>
            <p:cNvPr id="16" name="object 14"/>
            <p:cNvSpPr/>
            <p:nvPr/>
          </p:nvSpPr>
          <p:spPr>
            <a:xfrm>
              <a:off x="5440442" y="3826964"/>
              <a:ext cx="4616450" cy="447675"/>
            </a:xfrm>
            <a:custGeom>
              <a:avLst/>
              <a:gdLst/>
              <a:ahLst/>
              <a:cxnLst/>
              <a:rect l="l" t="t" r="r" b="b"/>
              <a:pathLst>
                <a:path w="4616450" h="447675">
                  <a:moveTo>
                    <a:pt x="4615887" y="0"/>
                  </a:moveTo>
                  <a:lnTo>
                    <a:pt x="4613988" y="70670"/>
                  </a:lnTo>
                  <a:lnTo>
                    <a:pt x="4608700" y="132049"/>
                  </a:lnTo>
                  <a:lnTo>
                    <a:pt x="4600635" y="180453"/>
                  </a:lnTo>
                  <a:lnTo>
                    <a:pt x="4578626" y="223596"/>
                  </a:lnTo>
                  <a:lnTo>
                    <a:pt x="2345230" y="223596"/>
                  </a:lnTo>
                  <a:lnTo>
                    <a:pt x="2333450" y="234994"/>
                  </a:lnTo>
                  <a:lnTo>
                    <a:pt x="2323221" y="266734"/>
                  </a:lnTo>
                  <a:lnTo>
                    <a:pt x="2315156" y="315133"/>
                  </a:lnTo>
                  <a:lnTo>
                    <a:pt x="2309868" y="376512"/>
                  </a:lnTo>
                  <a:lnTo>
                    <a:pt x="2307969" y="447188"/>
                  </a:lnTo>
                  <a:lnTo>
                    <a:pt x="2306065" y="376512"/>
                  </a:lnTo>
                  <a:lnTo>
                    <a:pt x="2300767" y="315133"/>
                  </a:lnTo>
                  <a:lnTo>
                    <a:pt x="2292695" y="266734"/>
                  </a:lnTo>
                  <a:lnTo>
                    <a:pt x="2282468" y="234994"/>
                  </a:lnTo>
                  <a:lnTo>
                    <a:pt x="2270708" y="223596"/>
                  </a:lnTo>
                  <a:lnTo>
                    <a:pt x="37261" y="223596"/>
                  </a:lnTo>
                  <a:lnTo>
                    <a:pt x="25480" y="212197"/>
                  </a:lnTo>
                  <a:lnTo>
                    <a:pt x="15251" y="180453"/>
                  </a:lnTo>
                  <a:lnTo>
                    <a:pt x="7187" y="132049"/>
                  </a:lnTo>
                  <a:lnTo>
                    <a:pt x="1898" y="70670"/>
                  </a:lnTo>
                  <a:lnTo>
                    <a:pt x="0" y="0"/>
                  </a:lnTo>
                </a:path>
              </a:pathLst>
            </a:custGeom>
            <a:ln w="21443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5"/>
          <p:cNvSpPr txBox="1"/>
          <p:nvPr/>
        </p:nvSpPr>
        <p:spPr>
          <a:xfrm>
            <a:off x="6826056" y="4255382"/>
            <a:ext cx="3571875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125"/>
              </a:spcBef>
            </a:pPr>
            <a:r>
              <a:rPr sz="2400" dirty="0">
                <a:latin typeface="Arial" panose="020B0604020202020204"/>
                <a:cs typeface="Arial" panose="020B0604020202020204"/>
              </a:rPr>
              <a:t>P(</a:t>
            </a:r>
            <a:r>
              <a:rPr sz="2400" dirty="0">
                <a:solidFill>
                  <a:srgbClr val="B0007E"/>
                </a:solidFill>
                <a:latin typeface="Arial" panose="020B0604020202020204"/>
                <a:cs typeface="Arial" panose="020B0604020202020204"/>
              </a:rPr>
              <a:t>y=</a:t>
            </a:r>
            <a:r>
              <a:rPr lang="en-US" altLang="zh-CN" sz="2400" dirty="0">
                <a:solidFill>
                  <a:srgbClr val="B0007E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400" dirty="0">
                <a:solidFill>
                  <a:srgbClr val="B0007E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latin typeface="Arial" panose="020B0604020202020204"/>
                <a:cs typeface="Arial" panose="020B0604020202020204"/>
              </a:rPr>
              <a:t>|</a:t>
            </a:r>
            <a:r>
              <a:rPr sz="2400" dirty="0">
                <a:latin typeface="Verdana" panose="020B0604030504040204"/>
                <a:cs typeface="Verdana" panose="020B0604030504040204"/>
              </a:rPr>
              <a:t>x</a:t>
            </a:r>
            <a:r>
              <a:rPr sz="2400" dirty="0">
                <a:latin typeface="Arial" panose="020B0604020202020204"/>
                <a:cs typeface="Arial" panose="020B0604020202020204"/>
              </a:rPr>
              <a:t>,</a:t>
            </a:r>
            <a:r>
              <a:rPr sz="2400" dirty="0">
                <a:solidFill>
                  <a:srgbClr val="118CC4"/>
                </a:solidFill>
                <a:latin typeface="Verdana" panose="020B0604030504040204"/>
                <a:cs typeface="Verdana" panose="020B0604030504040204"/>
              </a:rPr>
              <a:t>w</a:t>
            </a:r>
            <a:r>
              <a:rPr sz="2400" dirty="0">
                <a:latin typeface="Arial" panose="020B0604020202020204"/>
                <a:cs typeface="Arial" panose="020B0604020202020204"/>
              </a:rPr>
              <a:t>)</a:t>
            </a:r>
            <a:r>
              <a:rPr sz="240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290" dirty="0">
                <a:latin typeface="Arial" panose="020B0604020202020204"/>
                <a:cs typeface="Arial" panose="020B0604020202020204"/>
              </a:rPr>
              <a:t>=</a:t>
            </a:r>
            <a:r>
              <a:rPr sz="2400" spc="-13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altLang="zh-CN" sz="2400" spc="-25" dirty="0">
                <a:latin typeface="Arial" panose="020B0604020202020204"/>
                <a:cs typeface="Arial" panose="020B0604020202020204"/>
              </a:rPr>
              <a:t>1</a:t>
            </a:r>
            <a:r>
              <a:rPr sz="2400" spc="-25" dirty="0">
                <a:latin typeface="Arial" panose="020B0604020202020204"/>
                <a:cs typeface="Arial" panose="020B0604020202020204"/>
              </a:rPr>
              <a:t>.0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16"/>
          <p:cNvSpPr txBox="1"/>
          <p:nvPr/>
        </p:nvSpPr>
        <p:spPr>
          <a:xfrm>
            <a:off x="2580591" y="5859742"/>
            <a:ext cx="352482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dirty="0">
                <a:latin typeface="Arial" panose="020B0604020202020204"/>
                <a:cs typeface="Arial" panose="020B0604020202020204"/>
              </a:rPr>
              <a:t>我们希望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spc="38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ŵ</a:t>
            </a:r>
            <a:r>
              <a:rPr lang="en-US" sz="240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2400" spc="114" dirty="0">
                <a:latin typeface="Arial" panose="020B0604020202020204"/>
                <a:cs typeface="Arial" panose="020B0604020202020204"/>
              </a:rPr>
              <a:t>满足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3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56228" y="4504801"/>
            <a:ext cx="3983428" cy="1368981"/>
          </a:xfrm>
          <a:prstGeom prst="rect">
            <a:avLst/>
          </a:prstGeom>
        </p:spPr>
      </p:pic>
      <p:sp>
        <p:nvSpPr>
          <p:cNvPr id="24" name="object 19"/>
          <p:cNvSpPr/>
          <p:nvPr/>
        </p:nvSpPr>
        <p:spPr>
          <a:xfrm>
            <a:off x="4491636" y="4740070"/>
            <a:ext cx="3696335" cy="1083310"/>
          </a:xfrm>
          <a:custGeom>
            <a:avLst/>
            <a:gdLst/>
            <a:ahLst/>
            <a:cxnLst/>
            <a:rect l="l" t="t" r="r" b="b"/>
            <a:pathLst>
              <a:path w="3696334" h="1083310">
                <a:moveTo>
                  <a:pt x="3622711" y="61329"/>
                </a:moveTo>
                <a:lnTo>
                  <a:pt x="3597400" y="65595"/>
                </a:lnTo>
                <a:lnTo>
                  <a:pt x="3593062" y="70806"/>
                </a:lnTo>
                <a:lnTo>
                  <a:pt x="3573351" y="93600"/>
                </a:lnTo>
                <a:lnTo>
                  <a:pt x="3525797" y="142070"/>
                </a:lnTo>
                <a:lnTo>
                  <a:pt x="3496410" y="167242"/>
                </a:lnTo>
                <a:lnTo>
                  <a:pt x="3462340" y="192671"/>
                </a:lnTo>
                <a:lnTo>
                  <a:pt x="3422814" y="218064"/>
                </a:lnTo>
                <a:lnTo>
                  <a:pt x="3377010" y="243071"/>
                </a:lnTo>
                <a:lnTo>
                  <a:pt x="3323898" y="267538"/>
                </a:lnTo>
                <a:lnTo>
                  <a:pt x="3263477" y="290759"/>
                </a:lnTo>
                <a:lnTo>
                  <a:pt x="3194616" y="312570"/>
                </a:lnTo>
                <a:lnTo>
                  <a:pt x="3156841" y="322822"/>
                </a:lnTo>
                <a:lnTo>
                  <a:pt x="3116595" y="332595"/>
                </a:lnTo>
                <a:lnTo>
                  <a:pt x="3072952" y="342085"/>
                </a:lnTo>
                <a:lnTo>
                  <a:pt x="3025140" y="351514"/>
                </a:lnTo>
                <a:lnTo>
                  <a:pt x="2973418" y="360839"/>
                </a:lnTo>
                <a:lnTo>
                  <a:pt x="2918092" y="370108"/>
                </a:lnTo>
                <a:lnTo>
                  <a:pt x="2859422" y="379274"/>
                </a:lnTo>
                <a:lnTo>
                  <a:pt x="2733177" y="397328"/>
                </a:lnTo>
                <a:lnTo>
                  <a:pt x="2525719" y="423746"/>
                </a:lnTo>
                <a:lnTo>
                  <a:pt x="1157252" y="572131"/>
                </a:lnTo>
                <a:lnTo>
                  <a:pt x="1052674" y="585939"/>
                </a:lnTo>
                <a:lnTo>
                  <a:pt x="811662" y="622953"/>
                </a:lnTo>
                <a:lnTo>
                  <a:pt x="663029" y="648305"/>
                </a:lnTo>
                <a:lnTo>
                  <a:pt x="613983" y="657631"/>
                </a:lnTo>
                <a:lnTo>
                  <a:pt x="569877" y="666699"/>
                </a:lnTo>
                <a:lnTo>
                  <a:pt x="529940" y="675705"/>
                </a:lnTo>
                <a:lnTo>
                  <a:pt x="459947" y="694161"/>
                </a:lnTo>
                <a:lnTo>
                  <a:pt x="398394" y="714263"/>
                </a:lnTo>
                <a:lnTo>
                  <a:pt x="341061" y="736800"/>
                </a:lnTo>
                <a:lnTo>
                  <a:pt x="281207" y="763397"/>
                </a:lnTo>
                <a:lnTo>
                  <a:pt x="222176" y="794498"/>
                </a:lnTo>
                <a:lnTo>
                  <a:pt x="172306" y="828393"/>
                </a:lnTo>
                <a:lnTo>
                  <a:pt x="130104" y="865103"/>
                </a:lnTo>
                <a:lnTo>
                  <a:pt x="95365" y="903095"/>
                </a:lnTo>
                <a:lnTo>
                  <a:pt x="66339" y="942219"/>
                </a:lnTo>
                <a:lnTo>
                  <a:pt x="41687" y="981945"/>
                </a:lnTo>
                <a:lnTo>
                  <a:pt x="20020" y="1021769"/>
                </a:lnTo>
                <a:lnTo>
                  <a:pt x="0" y="1061316"/>
                </a:lnTo>
                <a:lnTo>
                  <a:pt x="43076" y="1083106"/>
                </a:lnTo>
                <a:lnTo>
                  <a:pt x="63096" y="1043560"/>
                </a:lnTo>
                <a:lnTo>
                  <a:pt x="84094" y="1005002"/>
                </a:lnTo>
                <a:lnTo>
                  <a:pt x="107305" y="967710"/>
                </a:lnTo>
                <a:lnTo>
                  <a:pt x="134067" y="931906"/>
                </a:lnTo>
                <a:lnTo>
                  <a:pt x="165615" y="897748"/>
                </a:lnTo>
                <a:lnTo>
                  <a:pt x="202825" y="865783"/>
                </a:lnTo>
                <a:lnTo>
                  <a:pt x="248115" y="835186"/>
                </a:lnTo>
                <a:lnTo>
                  <a:pt x="302514" y="806680"/>
                </a:lnTo>
                <a:lnTo>
                  <a:pt x="360258" y="781050"/>
                </a:lnTo>
                <a:lnTo>
                  <a:pt x="416046" y="759177"/>
                </a:lnTo>
                <a:lnTo>
                  <a:pt x="474202" y="740238"/>
                </a:lnTo>
                <a:lnTo>
                  <a:pt x="541622" y="722523"/>
                </a:lnTo>
                <a:lnTo>
                  <a:pt x="580479" y="713759"/>
                </a:lnTo>
                <a:lnTo>
                  <a:pt x="623710" y="704876"/>
                </a:lnTo>
                <a:lnTo>
                  <a:pt x="672036" y="695710"/>
                </a:lnTo>
                <a:lnTo>
                  <a:pt x="819433" y="670579"/>
                </a:lnTo>
                <a:lnTo>
                  <a:pt x="1013509" y="640400"/>
                </a:lnTo>
                <a:lnTo>
                  <a:pt x="1109647" y="626890"/>
                </a:lnTo>
                <a:lnTo>
                  <a:pt x="1478448" y="584153"/>
                </a:lnTo>
                <a:lnTo>
                  <a:pt x="2383778" y="488839"/>
                </a:lnTo>
                <a:lnTo>
                  <a:pt x="2672242" y="454079"/>
                </a:lnTo>
                <a:lnTo>
                  <a:pt x="2804354" y="436128"/>
                </a:lnTo>
                <a:lnTo>
                  <a:pt x="2925503" y="417776"/>
                </a:lnTo>
                <a:lnTo>
                  <a:pt x="2981395" y="408424"/>
                </a:lnTo>
                <a:lnTo>
                  <a:pt x="3033684" y="398996"/>
                </a:lnTo>
                <a:lnTo>
                  <a:pt x="3082267" y="389429"/>
                </a:lnTo>
                <a:lnTo>
                  <a:pt x="3126888" y="379758"/>
                </a:lnTo>
                <a:lnTo>
                  <a:pt x="3168215" y="369728"/>
                </a:lnTo>
                <a:lnTo>
                  <a:pt x="3207225" y="359131"/>
                </a:lnTo>
                <a:lnTo>
                  <a:pt x="3244023" y="348076"/>
                </a:lnTo>
                <a:lnTo>
                  <a:pt x="3311289" y="324613"/>
                </a:lnTo>
                <a:lnTo>
                  <a:pt x="3397184" y="286920"/>
                </a:lnTo>
                <a:lnTo>
                  <a:pt x="3445871" y="260420"/>
                </a:lnTo>
                <a:lnTo>
                  <a:pt x="3488381" y="233303"/>
                </a:lnTo>
                <a:lnTo>
                  <a:pt x="3525231" y="205959"/>
                </a:lnTo>
                <a:lnTo>
                  <a:pt x="3557139" y="178760"/>
                </a:lnTo>
                <a:lnTo>
                  <a:pt x="3584725" y="152121"/>
                </a:lnTo>
                <a:lnTo>
                  <a:pt x="3592997" y="143269"/>
                </a:lnTo>
                <a:lnTo>
                  <a:pt x="3622711" y="61329"/>
                </a:lnTo>
                <a:close/>
              </a:path>
              <a:path w="3696334" h="1083310">
                <a:moveTo>
                  <a:pt x="3691064" y="14312"/>
                </a:moveTo>
                <a:lnTo>
                  <a:pt x="3641748" y="14312"/>
                </a:lnTo>
                <a:lnTo>
                  <a:pt x="3677208" y="47024"/>
                </a:lnTo>
                <a:lnTo>
                  <a:pt x="3664856" y="60348"/>
                </a:lnTo>
                <a:lnTo>
                  <a:pt x="3648079" y="80152"/>
                </a:lnTo>
                <a:lnTo>
                  <a:pt x="3629551" y="102349"/>
                </a:lnTo>
                <a:lnTo>
                  <a:pt x="3608656" y="126512"/>
                </a:lnTo>
                <a:lnTo>
                  <a:pt x="3592997" y="143269"/>
                </a:lnTo>
                <a:lnTo>
                  <a:pt x="3579681" y="179990"/>
                </a:lnTo>
                <a:lnTo>
                  <a:pt x="3578271" y="189461"/>
                </a:lnTo>
                <a:lnTo>
                  <a:pt x="3580524" y="198430"/>
                </a:lnTo>
                <a:lnTo>
                  <a:pt x="3585030" y="204613"/>
                </a:lnTo>
                <a:lnTo>
                  <a:pt x="3586063" y="205959"/>
                </a:lnTo>
                <a:lnTo>
                  <a:pt x="3594143" y="210884"/>
                </a:lnTo>
                <a:lnTo>
                  <a:pt x="3603629" y="212304"/>
                </a:lnTo>
                <a:lnTo>
                  <a:pt x="3612600" y="210058"/>
                </a:lnTo>
                <a:lnTo>
                  <a:pt x="3620074" y="204613"/>
                </a:lnTo>
                <a:lnTo>
                  <a:pt x="3625074" y="196433"/>
                </a:lnTo>
                <a:lnTo>
                  <a:pt x="3691064" y="14312"/>
                </a:lnTo>
                <a:close/>
              </a:path>
              <a:path w="3696334" h="1083310">
                <a:moveTo>
                  <a:pt x="3650574" y="22454"/>
                </a:moveTo>
                <a:lnTo>
                  <a:pt x="3636808" y="22454"/>
                </a:lnTo>
                <a:lnTo>
                  <a:pt x="3663467" y="54460"/>
                </a:lnTo>
                <a:lnTo>
                  <a:pt x="3622711" y="61329"/>
                </a:lnTo>
                <a:lnTo>
                  <a:pt x="3592997" y="143269"/>
                </a:lnTo>
                <a:lnTo>
                  <a:pt x="3608656" y="126512"/>
                </a:lnTo>
                <a:lnTo>
                  <a:pt x="3629551" y="102349"/>
                </a:lnTo>
                <a:lnTo>
                  <a:pt x="3648079" y="80152"/>
                </a:lnTo>
                <a:lnTo>
                  <a:pt x="3664856" y="60348"/>
                </a:lnTo>
                <a:lnTo>
                  <a:pt x="3677208" y="47024"/>
                </a:lnTo>
                <a:lnTo>
                  <a:pt x="3650574" y="22454"/>
                </a:lnTo>
                <a:close/>
              </a:path>
              <a:path w="3696334" h="1083310">
                <a:moveTo>
                  <a:pt x="3696250" y="0"/>
                </a:moveTo>
                <a:lnTo>
                  <a:pt x="3490234" y="34718"/>
                </a:lnTo>
                <a:lnTo>
                  <a:pt x="3470420" y="62520"/>
                </a:lnTo>
                <a:lnTo>
                  <a:pt x="3473851" y="71470"/>
                </a:lnTo>
                <a:lnTo>
                  <a:pt x="3480230" y="78172"/>
                </a:lnTo>
                <a:lnTo>
                  <a:pt x="3488665" y="81995"/>
                </a:lnTo>
                <a:lnTo>
                  <a:pt x="3498263" y="82303"/>
                </a:lnTo>
                <a:lnTo>
                  <a:pt x="3597400" y="65595"/>
                </a:lnTo>
                <a:lnTo>
                  <a:pt x="3611024" y="49231"/>
                </a:lnTo>
                <a:lnTo>
                  <a:pt x="3628110" y="29150"/>
                </a:lnTo>
                <a:lnTo>
                  <a:pt x="3641748" y="14312"/>
                </a:lnTo>
                <a:lnTo>
                  <a:pt x="3691064" y="14312"/>
                </a:lnTo>
                <a:lnTo>
                  <a:pt x="3696250" y="0"/>
                </a:lnTo>
                <a:close/>
              </a:path>
              <a:path w="3696334" h="1083310">
                <a:moveTo>
                  <a:pt x="3641748" y="14312"/>
                </a:moveTo>
                <a:lnTo>
                  <a:pt x="3628110" y="29150"/>
                </a:lnTo>
                <a:lnTo>
                  <a:pt x="3611024" y="49231"/>
                </a:lnTo>
                <a:lnTo>
                  <a:pt x="3597400" y="65595"/>
                </a:lnTo>
                <a:lnTo>
                  <a:pt x="3622711" y="61329"/>
                </a:lnTo>
                <a:lnTo>
                  <a:pt x="3636808" y="22454"/>
                </a:lnTo>
                <a:lnTo>
                  <a:pt x="3650574" y="22454"/>
                </a:lnTo>
                <a:lnTo>
                  <a:pt x="3641748" y="14312"/>
                </a:lnTo>
                <a:close/>
              </a:path>
              <a:path w="3696334" h="1083310">
                <a:moveTo>
                  <a:pt x="3636808" y="22454"/>
                </a:moveTo>
                <a:lnTo>
                  <a:pt x="3622711" y="61329"/>
                </a:lnTo>
                <a:lnTo>
                  <a:pt x="3663467" y="54460"/>
                </a:lnTo>
                <a:lnTo>
                  <a:pt x="3636808" y="22454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0504" y="4504801"/>
            <a:ext cx="1492498" cy="1363835"/>
          </a:xfrm>
          <a:prstGeom prst="rect">
            <a:avLst/>
          </a:prstGeom>
        </p:spPr>
      </p:pic>
      <p:sp>
        <p:nvSpPr>
          <p:cNvPr id="26" name="object 21"/>
          <p:cNvSpPr/>
          <p:nvPr/>
        </p:nvSpPr>
        <p:spPr>
          <a:xfrm>
            <a:off x="3065013" y="4740049"/>
            <a:ext cx="1243330" cy="1076325"/>
          </a:xfrm>
          <a:custGeom>
            <a:avLst/>
            <a:gdLst/>
            <a:ahLst/>
            <a:cxnLst/>
            <a:rect l="l" t="t" r="r" b="b"/>
            <a:pathLst>
              <a:path w="1243329" h="1076325">
                <a:moveTo>
                  <a:pt x="70696" y="90180"/>
                </a:moveTo>
                <a:lnTo>
                  <a:pt x="59565" y="149523"/>
                </a:lnTo>
                <a:lnTo>
                  <a:pt x="65896" y="169475"/>
                </a:lnTo>
                <a:lnTo>
                  <a:pt x="87954" y="223833"/>
                </a:lnTo>
                <a:lnTo>
                  <a:pt x="118087" y="278839"/>
                </a:lnTo>
                <a:lnTo>
                  <a:pt x="158215" y="330866"/>
                </a:lnTo>
                <a:lnTo>
                  <a:pt x="210082" y="376500"/>
                </a:lnTo>
                <a:lnTo>
                  <a:pt x="277090" y="415784"/>
                </a:lnTo>
                <a:lnTo>
                  <a:pt x="316790" y="434481"/>
                </a:lnTo>
                <a:lnTo>
                  <a:pt x="359815" y="452674"/>
                </a:lnTo>
                <a:lnTo>
                  <a:pt x="405511" y="470404"/>
                </a:lnTo>
                <a:lnTo>
                  <a:pt x="453374" y="487753"/>
                </a:lnTo>
                <a:lnTo>
                  <a:pt x="552147" y="521087"/>
                </a:lnTo>
                <a:lnTo>
                  <a:pt x="744216" y="583026"/>
                </a:lnTo>
                <a:lnTo>
                  <a:pt x="786979" y="597524"/>
                </a:lnTo>
                <a:lnTo>
                  <a:pt x="826180" y="611554"/>
                </a:lnTo>
                <a:lnTo>
                  <a:pt x="891330" y="638352"/>
                </a:lnTo>
                <a:lnTo>
                  <a:pt x="942127" y="662777"/>
                </a:lnTo>
                <a:lnTo>
                  <a:pt x="982578" y="683487"/>
                </a:lnTo>
                <a:lnTo>
                  <a:pt x="1038727" y="717804"/>
                </a:lnTo>
                <a:lnTo>
                  <a:pt x="1076657" y="752018"/>
                </a:lnTo>
                <a:lnTo>
                  <a:pt x="1111808" y="797632"/>
                </a:lnTo>
                <a:lnTo>
                  <a:pt x="1143305" y="855510"/>
                </a:lnTo>
                <a:lnTo>
                  <a:pt x="1165744" y="922678"/>
                </a:lnTo>
                <a:lnTo>
                  <a:pt x="1182162" y="997503"/>
                </a:lnTo>
                <a:lnTo>
                  <a:pt x="1195440" y="1076251"/>
                </a:lnTo>
                <a:lnTo>
                  <a:pt x="1243045" y="1068227"/>
                </a:lnTo>
                <a:lnTo>
                  <a:pt x="1229767" y="989485"/>
                </a:lnTo>
                <a:lnTo>
                  <a:pt x="1212886" y="912344"/>
                </a:lnTo>
                <a:lnTo>
                  <a:pt x="1201821" y="874609"/>
                </a:lnTo>
                <a:lnTo>
                  <a:pt x="1188543" y="838707"/>
                </a:lnTo>
                <a:lnTo>
                  <a:pt x="1152981" y="772465"/>
                </a:lnTo>
                <a:lnTo>
                  <a:pt x="1114021" y="721463"/>
                </a:lnTo>
                <a:lnTo>
                  <a:pt x="1069298" y="680471"/>
                </a:lnTo>
                <a:lnTo>
                  <a:pt x="1023957" y="651259"/>
                </a:lnTo>
                <a:lnTo>
                  <a:pt x="985924" y="630791"/>
                </a:lnTo>
                <a:lnTo>
                  <a:pt x="939245" y="607714"/>
                </a:lnTo>
                <a:lnTo>
                  <a:pt x="880368" y="580896"/>
                </a:lnTo>
                <a:lnTo>
                  <a:pt x="843668" y="566604"/>
                </a:lnTo>
                <a:lnTo>
                  <a:pt x="803262" y="552106"/>
                </a:lnTo>
                <a:lnTo>
                  <a:pt x="759697" y="537330"/>
                </a:lnTo>
                <a:lnTo>
                  <a:pt x="566902" y="475149"/>
                </a:lnTo>
                <a:lnTo>
                  <a:pt x="468799" y="442042"/>
                </a:lnTo>
                <a:lnTo>
                  <a:pt x="421955" y="425032"/>
                </a:lnTo>
                <a:lnTo>
                  <a:pt x="377262" y="407683"/>
                </a:lnTo>
                <a:lnTo>
                  <a:pt x="335590" y="390031"/>
                </a:lnTo>
                <a:lnTo>
                  <a:pt x="297676" y="372141"/>
                </a:lnTo>
                <a:lnTo>
                  <a:pt x="236175" y="335910"/>
                </a:lnTo>
                <a:lnTo>
                  <a:pt x="192069" y="296487"/>
                </a:lnTo>
                <a:lnTo>
                  <a:pt x="157654" y="251197"/>
                </a:lnTo>
                <a:lnTo>
                  <a:pt x="131072" y="202182"/>
                </a:lnTo>
                <a:lnTo>
                  <a:pt x="110630" y="151401"/>
                </a:lnTo>
                <a:lnTo>
                  <a:pt x="98832" y="113885"/>
                </a:lnTo>
                <a:lnTo>
                  <a:pt x="70696" y="90180"/>
                </a:lnTo>
                <a:close/>
              </a:path>
              <a:path w="1243329" h="1076325">
                <a:moveTo>
                  <a:pt x="38516" y="0"/>
                </a:moveTo>
                <a:lnTo>
                  <a:pt x="0" y="205336"/>
                </a:lnTo>
                <a:lnTo>
                  <a:pt x="123" y="214245"/>
                </a:lnTo>
                <a:lnTo>
                  <a:pt x="133" y="214912"/>
                </a:lnTo>
                <a:lnTo>
                  <a:pt x="3679" y="223121"/>
                </a:lnTo>
                <a:lnTo>
                  <a:pt x="3800" y="223402"/>
                </a:lnTo>
                <a:lnTo>
                  <a:pt x="10382" y="229901"/>
                </a:lnTo>
                <a:lnTo>
                  <a:pt x="19258" y="233504"/>
                </a:lnTo>
                <a:lnTo>
                  <a:pt x="28832" y="233371"/>
                </a:lnTo>
                <a:lnTo>
                  <a:pt x="37321" y="229703"/>
                </a:lnTo>
                <a:lnTo>
                  <a:pt x="43820" y="223121"/>
                </a:lnTo>
                <a:lnTo>
                  <a:pt x="47425" y="214245"/>
                </a:lnTo>
                <a:lnTo>
                  <a:pt x="59565" y="149523"/>
                </a:lnTo>
                <a:lnTo>
                  <a:pt x="49355" y="117346"/>
                </a:lnTo>
                <a:lnTo>
                  <a:pt x="42577" y="93059"/>
                </a:lnTo>
                <a:lnTo>
                  <a:pt x="36669" y="70965"/>
                </a:lnTo>
                <a:lnTo>
                  <a:pt x="31342" y="51424"/>
                </a:lnTo>
                <a:lnTo>
                  <a:pt x="77882" y="38738"/>
                </a:lnTo>
                <a:lnTo>
                  <a:pt x="84498" y="38738"/>
                </a:lnTo>
                <a:lnTo>
                  <a:pt x="38516" y="0"/>
                </a:lnTo>
                <a:close/>
              </a:path>
              <a:path w="1243329" h="1076325">
                <a:moveTo>
                  <a:pt x="84498" y="38738"/>
                </a:moveTo>
                <a:lnTo>
                  <a:pt x="77882" y="38738"/>
                </a:lnTo>
                <a:lnTo>
                  <a:pt x="83266" y="58459"/>
                </a:lnTo>
                <a:lnTo>
                  <a:pt x="89076" y="80131"/>
                </a:lnTo>
                <a:lnTo>
                  <a:pt x="167221" y="171503"/>
                </a:lnTo>
                <a:lnTo>
                  <a:pt x="184820" y="177090"/>
                </a:lnTo>
                <a:lnTo>
                  <a:pt x="193714" y="174560"/>
                </a:lnTo>
                <a:lnTo>
                  <a:pt x="201214" y="168611"/>
                </a:lnTo>
                <a:lnTo>
                  <a:pt x="205813" y="160205"/>
                </a:lnTo>
                <a:lnTo>
                  <a:pt x="206756" y="151401"/>
                </a:lnTo>
                <a:lnTo>
                  <a:pt x="206798" y="151008"/>
                </a:lnTo>
                <a:lnTo>
                  <a:pt x="204262" y="142113"/>
                </a:lnTo>
                <a:lnTo>
                  <a:pt x="198301" y="134613"/>
                </a:lnTo>
                <a:lnTo>
                  <a:pt x="84498" y="38738"/>
                </a:lnTo>
                <a:close/>
              </a:path>
              <a:path w="1243329" h="1076325">
                <a:moveTo>
                  <a:pt x="77882" y="38738"/>
                </a:moveTo>
                <a:lnTo>
                  <a:pt x="31342" y="51424"/>
                </a:lnTo>
                <a:lnTo>
                  <a:pt x="36669" y="70965"/>
                </a:lnTo>
                <a:lnTo>
                  <a:pt x="42577" y="93059"/>
                </a:lnTo>
                <a:lnTo>
                  <a:pt x="49355" y="117346"/>
                </a:lnTo>
                <a:lnTo>
                  <a:pt x="59565" y="149523"/>
                </a:lnTo>
                <a:lnTo>
                  <a:pt x="70696" y="90180"/>
                </a:lnTo>
                <a:lnTo>
                  <a:pt x="39062" y="63528"/>
                </a:lnTo>
                <a:lnTo>
                  <a:pt x="78320" y="49535"/>
                </a:lnTo>
                <a:lnTo>
                  <a:pt x="80830" y="49535"/>
                </a:lnTo>
                <a:lnTo>
                  <a:pt x="77882" y="38738"/>
                </a:lnTo>
                <a:close/>
              </a:path>
              <a:path w="1243329" h="1076325">
                <a:moveTo>
                  <a:pt x="80830" y="49535"/>
                </a:moveTo>
                <a:lnTo>
                  <a:pt x="78320" y="49535"/>
                </a:lnTo>
                <a:lnTo>
                  <a:pt x="70696" y="90180"/>
                </a:lnTo>
                <a:lnTo>
                  <a:pt x="98832" y="113885"/>
                </a:lnTo>
                <a:lnTo>
                  <a:pt x="95350" y="102812"/>
                </a:lnTo>
                <a:lnTo>
                  <a:pt x="89076" y="80131"/>
                </a:lnTo>
                <a:lnTo>
                  <a:pt x="83266" y="58459"/>
                </a:lnTo>
                <a:lnTo>
                  <a:pt x="80830" y="49535"/>
                </a:lnTo>
                <a:close/>
              </a:path>
              <a:path w="1243329" h="1076325">
                <a:moveTo>
                  <a:pt x="78320" y="49535"/>
                </a:moveTo>
                <a:lnTo>
                  <a:pt x="39062" y="63528"/>
                </a:lnTo>
                <a:lnTo>
                  <a:pt x="70696" y="90180"/>
                </a:lnTo>
                <a:lnTo>
                  <a:pt x="78320" y="49535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3"/>
          <p:cNvGraphicFramePr>
            <a:graphicFrameLocks noGrp="1"/>
          </p:cNvGraphicFramePr>
          <p:nvPr/>
        </p:nvGraphicFramePr>
        <p:xfrm>
          <a:off x="533562" y="1982052"/>
          <a:ext cx="5445898" cy="1515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6148"/>
                <a:gridCol w="1629180"/>
                <a:gridCol w="2200570"/>
              </a:tblGrid>
              <a:tr h="319405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贷款金额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5240" marB="0">
                    <a:lnL w="12700">
                      <a:solidFill>
                        <a:srgbClr val="B0007E"/>
                      </a:solidFill>
                      <a:prstDash val="solid"/>
                    </a:lnL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年收入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5240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</a:rPr>
                        <a:t>y = </a:t>
                      </a: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是否违约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8415" marB="0">
                    <a:lnR w="12700">
                      <a:solidFill>
                        <a:srgbClr val="B0007E"/>
                      </a:solidFill>
                      <a:prstDash val="solid"/>
                    </a:lnR>
                    <a:solidFill>
                      <a:srgbClr val="B0007E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866.1k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305k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3335" marB="0">
                    <a:lnR w="12700">
                      <a:solidFill>
                        <a:srgbClr val="B0007E"/>
                      </a:solidFill>
                      <a:prstDash val="solid"/>
                    </a:lnR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136.08k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T w="12700">
                      <a:solidFill>
                        <a:srgbClr val="B0007E"/>
                      </a:solidFill>
                      <a:prstDash val="solid"/>
                    </a:lnT>
                    <a:lnB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T w="12700">
                      <a:solidFill>
                        <a:srgbClr val="B0007E"/>
                      </a:solidFill>
                      <a:prstDash val="solid"/>
                    </a:lnT>
                    <a:lnB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2065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object 3"/>
          <p:cNvGraphicFramePr>
            <a:graphicFrameLocks noGrp="1"/>
          </p:cNvGraphicFramePr>
          <p:nvPr/>
        </p:nvGraphicFramePr>
        <p:xfrm>
          <a:off x="6298409" y="1986179"/>
          <a:ext cx="5445898" cy="1507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6148"/>
                <a:gridCol w="1629180"/>
                <a:gridCol w="2200570"/>
              </a:tblGrid>
              <a:tr h="319405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贷款金额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5240" marB="0">
                    <a:lnL w="12700">
                      <a:solidFill>
                        <a:srgbClr val="B0007E"/>
                      </a:solidFill>
                      <a:prstDash val="solid"/>
                    </a:lnL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年收入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5240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</a:rPr>
                        <a:t>y = </a:t>
                      </a: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是否违约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8415" marB="0">
                    <a:lnR w="12700">
                      <a:solidFill>
                        <a:srgbClr val="B0007E"/>
                      </a:solidFill>
                      <a:prstDash val="solid"/>
                    </a:lnR>
                    <a:solidFill>
                      <a:srgbClr val="B0007E"/>
                    </a:solidFill>
                  </a:tcPr>
                </a:tc>
              </a:tr>
              <a:tr h="3410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317.96k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635k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445" marB="0">
                    <a:lnR w="12700">
                      <a:solidFill>
                        <a:srgbClr val="B0007E"/>
                      </a:solidFill>
                      <a:prstDash val="solid"/>
                    </a:lnR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95.21k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100k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0795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逻辑回归：利用最大似然估计学习逻辑回归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object 4"/>
          <p:cNvSpPr txBox="1"/>
          <p:nvPr/>
        </p:nvSpPr>
        <p:spPr>
          <a:xfrm>
            <a:off x="420735" y="4396082"/>
            <a:ext cx="887730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ℓ</a:t>
            </a:r>
            <a:r>
              <a:rPr sz="2400" dirty="0">
                <a:latin typeface="Arial" panose="020B0604020202020204"/>
                <a:cs typeface="Arial" panose="020B0604020202020204"/>
              </a:rPr>
              <a:t>(</a:t>
            </a:r>
            <a:r>
              <a:rPr sz="2400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w</a:t>
            </a:r>
            <a:r>
              <a:rPr sz="2400" dirty="0">
                <a:latin typeface="Arial" panose="020B0604020202020204"/>
                <a:cs typeface="Arial" panose="020B0604020202020204"/>
              </a:rPr>
              <a:t>)</a:t>
            </a:r>
            <a:r>
              <a:rPr sz="24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180" dirty="0">
                <a:latin typeface="Arial" panose="020B0604020202020204"/>
                <a:cs typeface="Arial" panose="020B0604020202020204"/>
              </a:rPr>
              <a:t>=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1800880" y="4361013"/>
            <a:ext cx="1443198" cy="3834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400" spc="-45" dirty="0">
                <a:latin typeface="Arial" panose="020B0604020202020204"/>
                <a:cs typeface="Arial" panose="020B0604020202020204"/>
              </a:rPr>
              <a:t>P(y</a:t>
            </a:r>
            <a:r>
              <a:rPr sz="2400" spc="-67" baseline="-19000" dirty="0">
                <a:latin typeface="Arial" panose="020B0604020202020204"/>
                <a:cs typeface="Arial" panose="020B0604020202020204"/>
              </a:rPr>
              <a:t>1</a:t>
            </a:r>
            <a:r>
              <a:rPr sz="2400" spc="-45" dirty="0">
                <a:latin typeface="Arial" panose="020B0604020202020204"/>
                <a:cs typeface="Arial" panose="020B0604020202020204"/>
              </a:rPr>
              <a:t>|</a:t>
            </a:r>
            <a:r>
              <a:rPr sz="2400" spc="-45" dirty="0">
                <a:latin typeface="Lucida Sans Unicode" panose="020B0602030504020204"/>
                <a:cs typeface="Lucida Sans Unicode" panose="020B0602030504020204"/>
              </a:rPr>
              <a:t>x</a:t>
            </a:r>
            <a:r>
              <a:rPr sz="2400" spc="-67" baseline="-19000" dirty="0">
                <a:latin typeface="Arial" panose="020B0604020202020204"/>
                <a:cs typeface="Arial" panose="020B0604020202020204"/>
              </a:rPr>
              <a:t>1</a:t>
            </a:r>
            <a:r>
              <a:rPr sz="2400" spc="-45" dirty="0">
                <a:latin typeface="Arial" panose="020B0604020202020204"/>
                <a:cs typeface="Arial" panose="020B0604020202020204"/>
              </a:rPr>
              <a:t>,</a:t>
            </a:r>
            <a:r>
              <a:rPr sz="2400" spc="-45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w</a:t>
            </a:r>
            <a:r>
              <a:rPr sz="2400" spc="-45" dirty="0">
                <a:latin typeface="Arial" panose="020B0604020202020204"/>
                <a:cs typeface="Arial" panose="020B0604020202020204"/>
              </a:rPr>
              <a:t>)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4"/>
          <p:cNvSpPr txBox="1"/>
          <p:nvPr/>
        </p:nvSpPr>
        <p:spPr>
          <a:xfrm>
            <a:off x="3933158" y="4361013"/>
            <a:ext cx="3879584" cy="3834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2228850" algn="l"/>
              </a:tabLst>
            </a:pPr>
            <a:r>
              <a:rPr sz="2400" spc="-10" dirty="0">
                <a:latin typeface="Arial" panose="020B0604020202020204"/>
                <a:cs typeface="Arial" panose="020B0604020202020204"/>
              </a:rPr>
              <a:t>P(y</a:t>
            </a:r>
            <a:r>
              <a:rPr sz="2400" spc="-15" baseline="-19000" dirty="0">
                <a:latin typeface="Arial" panose="020B0604020202020204"/>
                <a:cs typeface="Arial" panose="020B0604020202020204"/>
              </a:rPr>
              <a:t>2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|</a:t>
            </a:r>
            <a:r>
              <a:rPr sz="2400" spc="-10" dirty="0">
                <a:latin typeface="Lucida Sans Unicode" panose="020B0602030504020204"/>
                <a:cs typeface="Lucida Sans Unicode" panose="020B0602030504020204"/>
              </a:rPr>
              <a:t>x</a:t>
            </a:r>
            <a:r>
              <a:rPr sz="2400" spc="-15" baseline="-19000" dirty="0">
                <a:latin typeface="Arial" panose="020B0604020202020204"/>
                <a:cs typeface="Arial" panose="020B0604020202020204"/>
              </a:rPr>
              <a:t>2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2400" spc="-10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w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)</a:t>
            </a:r>
            <a:r>
              <a:rPr sz="2400" dirty="0">
                <a:latin typeface="Arial" panose="020B0604020202020204"/>
                <a:cs typeface="Arial" panose="020B0604020202020204"/>
              </a:rPr>
              <a:t>	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P(y</a:t>
            </a:r>
            <a:r>
              <a:rPr sz="2400" spc="-15" baseline="-19000" dirty="0">
                <a:latin typeface="Arial" panose="020B0604020202020204"/>
                <a:cs typeface="Arial" panose="020B0604020202020204"/>
              </a:rPr>
              <a:t>3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|</a:t>
            </a:r>
            <a:r>
              <a:rPr sz="2400" spc="-10" dirty="0">
                <a:latin typeface="Lucida Sans Unicode" panose="020B0602030504020204"/>
                <a:cs typeface="Lucida Sans Unicode" panose="020B0602030504020204"/>
              </a:rPr>
              <a:t>x</a:t>
            </a:r>
            <a:r>
              <a:rPr sz="2400" spc="-15" baseline="-19000" dirty="0">
                <a:latin typeface="Arial" panose="020B0604020202020204"/>
                <a:cs typeface="Arial" panose="020B0604020202020204"/>
              </a:rPr>
              <a:t>3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2400" spc="-10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w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)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18"/>
          <p:cNvSpPr txBox="1"/>
          <p:nvPr/>
        </p:nvSpPr>
        <p:spPr>
          <a:xfrm>
            <a:off x="8389540" y="4366159"/>
            <a:ext cx="1498414" cy="3834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400" spc="-10" dirty="0">
                <a:latin typeface="Arial" panose="020B0604020202020204"/>
                <a:cs typeface="Arial" panose="020B0604020202020204"/>
              </a:rPr>
              <a:t>P(y</a:t>
            </a:r>
            <a:r>
              <a:rPr sz="2400" spc="-15" baseline="-19000" dirty="0">
                <a:latin typeface="Arial" panose="020B0604020202020204"/>
                <a:cs typeface="Arial" panose="020B0604020202020204"/>
              </a:rPr>
              <a:t>4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|</a:t>
            </a:r>
            <a:r>
              <a:rPr sz="2400" spc="-10" dirty="0">
                <a:latin typeface="Lucida Sans Unicode" panose="020B0602030504020204"/>
                <a:cs typeface="Lucida Sans Unicode" panose="020B0602030504020204"/>
              </a:rPr>
              <a:t>x</a:t>
            </a:r>
            <a:r>
              <a:rPr sz="2400" spc="-15" baseline="-19000" dirty="0">
                <a:latin typeface="Arial" panose="020B0604020202020204"/>
                <a:cs typeface="Arial" panose="020B0604020202020204"/>
              </a:rPr>
              <a:t>4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2400" spc="-10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w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)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637878" y="4892381"/>
            <a:ext cx="2241665" cy="995495"/>
            <a:chOff x="4637878" y="5452398"/>
            <a:chExt cx="2241665" cy="995495"/>
          </a:xfrm>
        </p:grpSpPr>
        <p:sp>
          <p:nvSpPr>
            <p:cNvPr id="23" name="object 19"/>
            <p:cNvSpPr txBox="1"/>
            <p:nvPr/>
          </p:nvSpPr>
          <p:spPr>
            <a:xfrm>
              <a:off x="4810520" y="5452398"/>
              <a:ext cx="247650" cy="32004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900" i="1" spc="225" dirty="0">
                  <a:latin typeface="Georgia" panose="02040502050405020303"/>
                  <a:cs typeface="Georgia" panose="02040502050405020303"/>
                </a:rPr>
                <a:t>N</a:t>
              </a:r>
              <a:endParaRPr sz="1900" dirty="0">
                <a:latin typeface="Georgia" panose="02040502050405020303"/>
                <a:cs typeface="Georgia" panose="02040502050405020303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37878" y="5749357"/>
              <a:ext cx="2241665" cy="698536"/>
            </a:xfrm>
            <a:prstGeom prst="rect">
              <a:avLst/>
            </a:prstGeom>
          </p:spPr>
        </p:pic>
      </p:grpSp>
      <p:pic>
        <p:nvPicPr>
          <p:cNvPr id="30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410" y="4591609"/>
            <a:ext cx="8846916" cy="576413"/>
          </a:xfrm>
          <a:prstGeom prst="rect">
            <a:avLst/>
          </a:prstGeom>
        </p:spPr>
      </p:pic>
      <p:sp>
        <p:nvSpPr>
          <p:cNvPr id="31" name="object 23"/>
          <p:cNvSpPr/>
          <p:nvPr/>
        </p:nvSpPr>
        <p:spPr>
          <a:xfrm>
            <a:off x="1365807" y="4610034"/>
            <a:ext cx="8749665" cy="494030"/>
          </a:xfrm>
          <a:custGeom>
            <a:avLst/>
            <a:gdLst/>
            <a:ahLst/>
            <a:cxnLst/>
            <a:rect l="l" t="t" r="r" b="b"/>
            <a:pathLst>
              <a:path w="8749665" h="494029">
                <a:moveTo>
                  <a:pt x="8749244" y="0"/>
                </a:moveTo>
                <a:lnTo>
                  <a:pt x="8747179" y="65650"/>
                </a:lnTo>
                <a:lnTo>
                  <a:pt x="8741351" y="124647"/>
                </a:lnTo>
                <a:lnTo>
                  <a:pt x="8732312" y="174635"/>
                </a:lnTo>
                <a:lnTo>
                  <a:pt x="8720614" y="213257"/>
                </a:lnTo>
                <a:lnTo>
                  <a:pt x="8691449" y="246982"/>
                </a:lnTo>
                <a:lnTo>
                  <a:pt x="4432371" y="246982"/>
                </a:lnTo>
                <a:lnTo>
                  <a:pt x="4417015" y="255802"/>
                </a:lnTo>
                <a:lnTo>
                  <a:pt x="4391533" y="319304"/>
                </a:lnTo>
                <a:lnTo>
                  <a:pt x="4382507" y="369280"/>
                </a:lnTo>
                <a:lnTo>
                  <a:pt x="4376689" y="428267"/>
                </a:lnTo>
                <a:lnTo>
                  <a:pt x="4374627" y="493914"/>
                </a:lnTo>
                <a:lnTo>
                  <a:pt x="4372562" y="428267"/>
                </a:lnTo>
                <a:lnTo>
                  <a:pt x="4366734" y="369280"/>
                </a:lnTo>
                <a:lnTo>
                  <a:pt x="4357695" y="319304"/>
                </a:lnTo>
                <a:lnTo>
                  <a:pt x="4345997" y="280694"/>
                </a:lnTo>
                <a:lnTo>
                  <a:pt x="4316831" y="246982"/>
                </a:lnTo>
                <a:lnTo>
                  <a:pt x="57775" y="246982"/>
                </a:lnTo>
                <a:lnTo>
                  <a:pt x="42417" y="238158"/>
                </a:lnTo>
                <a:lnTo>
                  <a:pt x="28617" y="213257"/>
                </a:lnTo>
                <a:lnTo>
                  <a:pt x="16923" y="174635"/>
                </a:lnTo>
                <a:lnTo>
                  <a:pt x="7889" y="124647"/>
                </a:lnTo>
                <a:lnTo>
                  <a:pt x="2064" y="65650"/>
                </a:lnTo>
                <a:lnTo>
                  <a:pt x="0" y="0"/>
                </a:lnTo>
              </a:path>
            </a:pathLst>
          </a:custGeom>
          <a:ln w="21443">
            <a:solidFill>
              <a:srgbClr val="B0007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3"/>
          <p:cNvGraphicFramePr>
            <a:graphicFrameLocks noGrp="1"/>
          </p:cNvGraphicFramePr>
          <p:nvPr/>
        </p:nvGraphicFramePr>
        <p:xfrm>
          <a:off x="1724175" y="1236548"/>
          <a:ext cx="8439151" cy="2264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1178"/>
                <a:gridCol w="2591588"/>
                <a:gridCol w="2596385"/>
              </a:tblGrid>
              <a:tr h="319405"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贷款金额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5240" marB="0">
                    <a:lnL w="12700">
                      <a:solidFill>
                        <a:srgbClr val="B0007E"/>
                      </a:solidFill>
                      <a:prstDash val="solid"/>
                    </a:lnL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年收入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5240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</a:rPr>
                        <a:t>y = </a:t>
                      </a:r>
                      <a:r>
                        <a:rPr lang="zh-CN" altLang="en-US" sz="2400" dirty="0">
                          <a:solidFill>
                            <a:schemeClr val="bg1"/>
                          </a:solidFill>
                        </a:rPr>
                        <a:t>是否违约</a:t>
                      </a:r>
                      <a:endParaRPr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18415" marB="0">
                    <a:lnR w="12700">
                      <a:solidFill>
                        <a:srgbClr val="B0007E"/>
                      </a:solidFill>
                      <a:prstDash val="solid"/>
                    </a:lnR>
                    <a:solidFill>
                      <a:srgbClr val="B0007E"/>
                    </a:solidFill>
                  </a:tcPr>
                </a:tc>
              </a:tr>
              <a:tr h="3410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317.96k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635k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445" marB="0">
                    <a:lnR w="12700">
                      <a:solidFill>
                        <a:srgbClr val="B0007E"/>
                      </a:solidFill>
                      <a:prstDash val="solid"/>
                    </a:lnR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866.1k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305k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3335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136.08k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T w="12700">
                      <a:solidFill>
                        <a:srgbClr val="B0007E"/>
                      </a:solidFill>
                      <a:prstDash val="solid"/>
                    </a:lnT>
                    <a:lnB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45k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T w="12700">
                      <a:solidFill>
                        <a:srgbClr val="B0007E"/>
                      </a:solidFill>
                      <a:prstDash val="solid"/>
                    </a:lnT>
                    <a:lnB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2065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95.21k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100k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0795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L w="12700">
                      <a:solidFill>
                        <a:srgbClr val="B0007E"/>
                      </a:solidFill>
                      <a:prstDash val="solid"/>
                    </a:lnL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T w="12700" cap="flat" cmpd="sng" algn="ctr">
                      <a:solidFill>
                        <a:srgbClr val="B000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890" marB="0"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223752" y="1625463"/>
                <a:ext cx="12652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4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52" y="1625463"/>
                <a:ext cx="1265267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8" t="-108" r="46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223752" y="1982765"/>
                <a:ext cx="12652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4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52" y="1982765"/>
                <a:ext cx="1265267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18" t="-64" r="46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223752" y="2340067"/>
                <a:ext cx="12652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𝟑</m:t>
                          </m:r>
                        </m:sub>
                      </m:sSub>
                      <m:r>
                        <a:rPr lang="en-US" altLang="zh-CN" sz="24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4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52" y="2340067"/>
                <a:ext cx="1265267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18" t="-20" r="46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223752" y="2697370"/>
                <a:ext cx="12652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𝟒</m:t>
                          </m:r>
                        </m:sub>
                      </m:sSub>
                      <m:r>
                        <a:rPr lang="en-US" altLang="zh-CN" sz="2400" b="0" i="1" spc="60" smtClean="0">
                          <a:solidFill>
                            <a:srgbClr val="0099E8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sSubPr>
                        <m:e>
                          <m:r>
                            <a:rPr lang="en-US" altLang="zh-CN" sz="24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pc="60" smtClean="0">
                              <a:solidFill>
                                <a:srgbClr val="0099E8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52" y="2697370"/>
                <a:ext cx="1265267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18" t="-114" r="46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256310" y="1268160"/>
            <a:ext cx="1265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数据点</a:t>
            </a:r>
            <a:endParaRPr lang="en-US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341330" y="3123433"/>
            <a:ext cx="1265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…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图片 1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2333" y="2905938"/>
            <a:ext cx="3378818" cy="356876"/>
          </a:xfrm>
          <a:prstGeom prst="rect">
            <a:avLst/>
          </a:prstGeom>
        </p:spPr>
      </p:pic>
      <p:pic>
        <p:nvPicPr>
          <p:cNvPr id="151" name="图片 1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06" y="1756574"/>
            <a:ext cx="6746776" cy="989747"/>
          </a:xfrm>
          <a:prstGeom prst="rect">
            <a:avLst/>
          </a:prstGeom>
        </p:spPr>
      </p:pic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逻辑回归：根据最大似然估计确定“最佳”分类器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79" name="object 3"/>
          <p:cNvGrpSpPr/>
          <p:nvPr/>
        </p:nvGrpSpPr>
        <p:grpSpPr>
          <a:xfrm>
            <a:off x="1183249" y="2881969"/>
            <a:ext cx="4431665" cy="3427729"/>
            <a:chOff x="631919" y="2876428"/>
            <a:chExt cx="4431665" cy="3427729"/>
          </a:xfrm>
        </p:grpSpPr>
        <p:pic>
          <p:nvPicPr>
            <p:cNvPr id="80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781" y="3524893"/>
              <a:ext cx="4220169" cy="2583567"/>
            </a:xfrm>
            <a:prstGeom prst="rect">
              <a:avLst/>
            </a:prstGeom>
          </p:spPr>
        </p:pic>
        <p:sp>
          <p:nvSpPr>
            <p:cNvPr id="81" name="object 5"/>
            <p:cNvSpPr/>
            <p:nvPr/>
          </p:nvSpPr>
          <p:spPr>
            <a:xfrm>
              <a:off x="882052" y="3555525"/>
              <a:ext cx="4124325" cy="2484120"/>
            </a:xfrm>
            <a:custGeom>
              <a:avLst/>
              <a:gdLst/>
              <a:ahLst/>
              <a:cxnLst/>
              <a:rect l="l" t="t" r="r" b="b"/>
              <a:pathLst>
                <a:path w="4124325" h="2484120">
                  <a:moveTo>
                    <a:pt x="0" y="2484053"/>
                  </a:moveTo>
                  <a:lnTo>
                    <a:pt x="4124227" y="0"/>
                  </a:lnTo>
                </a:path>
              </a:pathLst>
            </a:custGeom>
            <a:ln w="32165">
              <a:solidFill>
                <a:srgbClr val="85BD0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9411" y="5804814"/>
              <a:ext cx="4343686" cy="499215"/>
            </a:xfrm>
            <a:prstGeom prst="rect">
              <a:avLst/>
            </a:prstGeom>
          </p:spPr>
        </p:pic>
        <p:sp>
          <p:nvSpPr>
            <p:cNvPr id="83" name="object 7"/>
            <p:cNvSpPr/>
            <p:nvPr/>
          </p:nvSpPr>
          <p:spPr>
            <a:xfrm>
              <a:off x="753388" y="5928749"/>
              <a:ext cx="4060825" cy="217170"/>
            </a:xfrm>
            <a:custGeom>
              <a:avLst/>
              <a:gdLst/>
              <a:ahLst/>
              <a:cxnLst/>
              <a:rect l="l" t="t" r="r" b="b"/>
              <a:pathLst>
                <a:path w="4060825" h="217170">
                  <a:moveTo>
                    <a:pt x="3964479" y="108368"/>
                  </a:moveTo>
                  <a:lnTo>
                    <a:pt x="3855474" y="171965"/>
                  </a:lnTo>
                  <a:lnTo>
                    <a:pt x="3848311" y="178324"/>
                  </a:lnTo>
                  <a:lnTo>
                    <a:pt x="3844293" y="186651"/>
                  </a:lnTo>
                  <a:lnTo>
                    <a:pt x="3843692" y="195882"/>
                  </a:lnTo>
                  <a:lnTo>
                    <a:pt x="3846777" y="204954"/>
                  </a:lnTo>
                  <a:lnTo>
                    <a:pt x="3853162" y="212108"/>
                  </a:lnTo>
                  <a:lnTo>
                    <a:pt x="3861496" y="216128"/>
                  </a:lnTo>
                  <a:lnTo>
                    <a:pt x="3870718" y="216733"/>
                  </a:lnTo>
                  <a:lnTo>
                    <a:pt x="3879766" y="213641"/>
                  </a:lnTo>
                  <a:lnTo>
                    <a:pt x="4018903" y="132480"/>
                  </a:lnTo>
                  <a:lnTo>
                    <a:pt x="4012377" y="132480"/>
                  </a:lnTo>
                  <a:lnTo>
                    <a:pt x="4012377" y="129207"/>
                  </a:lnTo>
                  <a:lnTo>
                    <a:pt x="4000195" y="129207"/>
                  </a:lnTo>
                  <a:lnTo>
                    <a:pt x="3964479" y="108368"/>
                  </a:lnTo>
                  <a:close/>
                </a:path>
                <a:path w="4060825" h="217170">
                  <a:moveTo>
                    <a:pt x="3923111" y="84231"/>
                  </a:moveTo>
                  <a:lnTo>
                    <a:pt x="0" y="84231"/>
                  </a:lnTo>
                  <a:lnTo>
                    <a:pt x="0" y="132480"/>
                  </a:lnTo>
                  <a:lnTo>
                    <a:pt x="3923151" y="132480"/>
                  </a:lnTo>
                  <a:lnTo>
                    <a:pt x="3964479" y="108368"/>
                  </a:lnTo>
                  <a:lnTo>
                    <a:pt x="3923111" y="84231"/>
                  </a:lnTo>
                  <a:close/>
                </a:path>
                <a:path w="4060825" h="217170">
                  <a:moveTo>
                    <a:pt x="4018886" y="84231"/>
                  </a:moveTo>
                  <a:lnTo>
                    <a:pt x="4012377" y="84231"/>
                  </a:lnTo>
                  <a:lnTo>
                    <a:pt x="4012377" y="132480"/>
                  </a:lnTo>
                  <a:lnTo>
                    <a:pt x="4018903" y="132480"/>
                  </a:lnTo>
                  <a:lnTo>
                    <a:pt x="4060239" y="108368"/>
                  </a:lnTo>
                  <a:lnTo>
                    <a:pt x="4018886" y="84231"/>
                  </a:lnTo>
                  <a:close/>
                </a:path>
                <a:path w="4060825" h="217170">
                  <a:moveTo>
                    <a:pt x="4000195" y="87530"/>
                  </a:moveTo>
                  <a:lnTo>
                    <a:pt x="3964479" y="108368"/>
                  </a:lnTo>
                  <a:lnTo>
                    <a:pt x="4000195" y="129207"/>
                  </a:lnTo>
                  <a:lnTo>
                    <a:pt x="4000195" y="87530"/>
                  </a:lnTo>
                  <a:close/>
                </a:path>
                <a:path w="4060825" h="217170">
                  <a:moveTo>
                    <a:pt x="4012377" y="87530"/>
                  </a:moveTo>
                  <a:lnTo>
                    <a:pt x="4000195" y="87530"/>
                  </a:lnTo>
                  <a:lnTo>
                    <a:pt x="4000195" y="129207"/>
                  </a:lnTo>
                  <a:lnTo>
                    <a:pt x="4012377" y="129207"/>
                  </a:lnTo>
                  <a:lnTo>
                    <a:pt x="4012377" y="87530"/>
                  </a:lnTo>
                  <a:close/>
                </a:path>
                <a:path w="4060825" h="217170">
                  <a:moveTo>
                    <a:pt x="3870718" y="0"/>
                  </a:moveTo>
                  <a:lnTo>
                    <a:pt x="3861496" y="599"/>
                  </a:lnTo>
                  <a:lnTo>
                    <a:pt x="3853162" y="4618"/>
                  </a:lnTo>
                  <a:lnTo>
                    <a:pt x="3846777" y="11778"/>
                  </a:lnTo>
                  <a:lnTo>
                    <a:pt x="3843692" y="20840"/>
                  </a:lnTo>
                  <a:lnTo>
                    <a:pt x="3844293" y="30068"/>
                  </a:lnTo>
                  <a:lnTo>
                    <a:pt x="3848311" y="38399"/>
                  </a:lnTo>
                  <a:lnTo>
                    <a:pt x="3855474" y="44768"/>
                  </a:lnTo>
                  <a:lnTo>
                    <a:pt x="3964479" y="108368"/>
                  </a:lnTo>
                  <a:lnTo>
                    <a:pt x="4000195" y="87530"/>
                  </a:lnTo>
                  <a:lnTo>
                    <a:pt x="4012377" y="87530"/>
                  </a:lnTo>
                  <a:lnTo>
                    <a:pt x="4012377" y="84231"/>
                  </a:lnTo>
                  <a:lnTo>
                    <a:pt x="4018886" y="84231"/>
                  </a:lnTo>
                  <a:lnTo>
                    <a:pt x="3879766" y="3096"/>
                  </a:lnTo>
                  <a:lnTo>
                    <a:pt x="3870718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919" y="2876428"/>
              <a:ext cx="499215" cy="3340109"/>
            </a:xfrm>
            <a:prstGeom prst="rect">
              <a:avLst/>
            </a:prstGeom>
          </p:spPr>
        </p:pic>
        <p:sp>
          <p:nvSpPr>
            <p:cNvPr id="85" name="object 9"/>
            <p:cNvSpPr/>
            <p:nvPr/>
          </p:nvSpPr>
          <p:spPr>
            <a:xfrm>
              <a:off x="773672" y="3109705"/>
              <a:ext cx="217170" cy="3056255"/>
            </a:xfrm>
            <a:custGeom>
              <a:avLst/>
              <a:gdLst/>
              <a:ahLst/>
              <a:cxnLst/>
              <a:rect l="l" t="t" r="r" b="b"/>
              <a:pathLst>
                <a:path w="217169" h="3056254">
                  <a:moveTo>
                    <a:pt x="108366" y="95734"/>
                  </a:moveTo>
                  <a:lnTo>
                    <a:pt x="84252" y="137115"/>
                  </a:lnTo>
                  <a:lnTo>
                    <a:pt x="84252" y="3056061"/>
                  </a:lnTo>
                  <a:lnTo>
                    <a:pt x="132501" y="3056061"/>
                  </a:lnTo>
                  <a:lnTo>
                    <a:pt x="132501" y="137115"/>
                  </a:lnTo>
                  <a:lnTo>
                    <a:pt x="108366" y="95734"/>
                  </a:lnTo>
                  <a:close/>
                </a:path>
                <a:path w="217169" h="3056254">
                  <a:moveTo>
                    <a:pt x="108379" y="0"/>
                  </a:moveTo>
                  <a:lnTo>
                    <a:pt x="3096" y="180437"/>
                  </a:lnTo>
                  <a:lnTo>
                    <a:pt x="0" y="189515"/>
                  </a:lnTo>
                  <a:lnTo>
                    <a:pt x="599" y="198746"/>
                  </a:lnTo>
                  <a:lnTo>
                    <a:pt x="4618" y="207071"/>
                  </a:lnTo>
                  <a:lnTo>
                    <a:pt x="11778" y="213427"/>
                  </a:lnTo>
                  <a:lnTo>
                    <a:pt x="20840" y="216534"/>
                  </a:lnTo>
                  <a:lnTo>
                    <a:pt x="30068" y="215936"/>
                  </a:lnTo>
                  <a:lnTo>
                    <a:pt x="38399" y="211921"/>
                  </a:lnTo>
                  <a:lnTo>
                    <a:pt x="44768" y="204781"/>
                  </a:lnTo>
                  <a:lnTo>
                    <a:pt x="84231" y="137115"/>
                  </a:lnTo>
                  <a:lnTo>
                    <a:pt x="84252" y="47862"/>
                  </a:lnTo>
                  <a:lnTo>
                    <a:pt x="136301" y="47862"/>
                  </a:lnTo>
                  <a:lnTo>
                    <a:pt x="108379" y="0"/>
                  </a:lnTo>
                  <a:close/>
                </a:path>
                <a:path w="217169" h="3056254">
                  <a:moveTo>
                    <a:pt x="136301" y="47862"/>
                  </a:moveTo>
                  <a:lnTo>
                    <a:pt x="132501" y="47862"/>
                  </a:lnTo>
                  <a:lnTo>
                    <a:pt x="132501" y="137115"/>
                  </a:lnTo>
                  <a:lnTo>
                    <a:pt x="171965" y="204781"/>
                  </a:lnTo>
                  <a:lnTo>
                    <a:pt x="178336" y="211921"/>
                  </a:lnTo>
                  <a:lnTo>
                    <a:pt x="186666" y="215936"/>
                  </a:lnTo>
                  <a:lnTo>
                    <a:pt x="195893" y="216534"/>
                  </a:lnTo>
                  <a:lnTo>
                    <a:pt x="204954" y="213427"/>
                  </a:lnTo>
                  <a:lnTo>
                    <a:pt x="212114" y="207071"/>
                  </a:lnTo>
                  <a:lnTo>
                    <a:pt x="216134" y="198746"/>
                  </a:lnTo>
                  <a:lnTo>
                    <a:pt x="216735" y="189515"/>
                  </a:lnTo>
                  <a:lnTo>
                    <a:pt x="213641" y="180437"/>
                  </a:lnTo>
                  <a:lnTo>
                    <a:pt x="136301" y="47862"/>
                  </a:lnTo>
                  <a:close/>
                </a:path>
                <a:path w="217169" h="3056254">
                  <a:moveTo>
                    <a:pt x="132501" y="47862"/>
                  </a:moveTo>
                  <a:lnTo>
                    <a:pt x="84252" y="47862"/>
                  </a:lnTo>
                  <a:lnTo>
                    <a:pt x="84252" y="137115"/>
                  </a:lnTo>
                  <a:lnTo>
                    <a:pt x="108366" y="95734"/>
                  </a:lnTo>
                  <a:lnTo>
                    <a:pt x="87530" y="60008"/>
                  </a:lnTo>
                  <a:lnTo>
                    <a:pt x="132501" y="60008"/>
                  </a:lnTo>
                  <a:lnTo>
                    <a:pt x="132501" y="47862"/>
                  </a:lnTo>
                  <a:close/>
                </a:path>
                <a:path w="217169" h="3056254">
                  <a:moveTo>
                    <a:pt x="132501" y="60008"/>
                  </a:moveTo>
                  <a:lnTo>
                    <a:pt x="129202" y="60008"/>
                  </a:lnTo>
                  <a:lnTo>
                    <a:pt x="108366" y="95734"/>
                  </a:lnTo>
                  <a:lnTo>
                    <a:pt x="132501" y="137115"/>
                  </a:lnTo>
                  <a:lnTo>
                    <a:pt x="132501" y="60008"/>
                  </a:lnTo>
                  <a:close/>
                </a:path>
                <a:path w="217169" h="3056254">
                  <a:moveTo>
                    <a:pt x="129202" y="60008"/>
                  </a:moveTo>
                  <a:lnTo>
                    <a:pt x="87530" y="60008"/>
                  </a:lnTo>
                  <a:lnTo>
                    <a:pt x="108366" y="95734"/>
                  </a:lnTo>
                  <a:lnTo>
                    <a:pt x="129202" y="60008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10"/>
          <p:cNvSpPr txBox="1"/>
          <p:nvPr/>
        </p:nvSpPr>
        <p:spPr>
          <a:xfrm>
            <a:off x="4813731" y="6127034"/>
            <a:ext cx="13462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zh-CN" altLang="en-US" sz="2000" spc="70" dirty="0">
                <a:latin typeface="Arial" panose="020B0604020202020204"/>
                <a:cs typeface="Arial" panose="020B0604020202020204"/>
              </a:rPr>
              <a:t>贷款金额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7" name="object 11"/>
          <p:cNvSpPr txBox="1"/>
          <p:nvPr/>
        </p:nvSpPr>
        <p:spPr>
          <a:xfrm>
            <a:off x="842054" y="3931876"/>
            <a:ext cx="269304" cy="10862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00"/>
              </a:lnSpc>
            </a:pPr>
            <a:r>
              <a:rPr lang="zh-CN" altLang="en-US" sz="2000" spc="100" dirty="0">
                <a:latin typeface="Arial" panose="020B0604020202020204"/>
                <a:cs typeface="Arial" panose="020B0604020202020204"/>
              </a:rPr>
              <a:t>年收入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8" name="object 12"/>
          <p:cNvSpPr txBox="1"/>
          <p:nvPr/>
        </p:nvSpPr>
        <p:spPr>
          <a:xfrm>
            <a:off x="1496006" y="6036969"/>
            <a:ext cx="14605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55" dirty="0">
                <a:latin typeface="Arial" panose="020B0604020202020204"/>
                <a:cs typeface="Arial" panose="020B0604020202020204"/>
              </a:rPr>
              <a:t>0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9" name="object 13"/>
          <p:cNvSpPr txBox="1"/>
          <p:nvPr/>
        </p:nvSpPr>
        <p:spPr>
          <a:xfrm>
            <a:off x="2072359" y="6036969"/>
            <a:ext cx="11557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85" dirty="0">
                <a:latin typeface="Arial" panose="020B0604020202020204"/>
                <a:cs typeface="Arial" panose="020B0604020202020204"/>
              </a:rPr>
              <a:t>1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0" name="object 14"/>
          <p:cNvSpPr txBox="1"/>
          <p:nvPr/>
        </p:nvSpPr>
        <p:spPr>
          <a:xfrm>
            <a:off x="2617712" y="6036969"/>
            <a:ext cx="13462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50" dirty="0">
                <a:latin typeface="Arial" panose="020B0604020202020204"/>
                <a:cs typeface="Arial" panose="020B0604020202020204"/>
              </a:rPr>
              <a:t>2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" name="object 15"/>
          <p:cNvSpPr txBox="1"/>
          <p:nvPr/>
        </p:nvSpPr>
        <p:spPr>
          <a:xfrm>
            <a:off x="3182385" y="6036969"/>
            <a:ext cx="13398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50" dirty="0">
                <a:latin typeface="Arial" panose="020B0604020202020204"/>
                <a:cs typeface="Arial" panose="020B0604020202020204"/>
              </a:rPr>
              <a:t>3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" name="object 16"/>
          <p:cNvSpPr txBox="1"/>
          <p:nvPr/>
        </p:nvSpPr>
        <p:spPr>
          <a:xfrm>
            <a:off x="3746455" y="6036969"/>
            <a:ext cx="14097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15" dirty="0">
                <a:latin typeface="Arial" panose="020B0604020202020204"/>
                <a:cs typeface="Arial" panose="020B0604020202020204"/>
              </a:rPr>
              <a:t>4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3" name="object 17"/>
          <p:cNvSpPr txBox="1"/>
          <p:nvPr/>
        </p:nvSpPr>
        <p:spPr>
          <a:xfrm>
            <a:off x="4322808" y="6036969"/>
            <a:ext cx="16383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470" dirty="0">
                <a:latin typeface="Arial" panose="020B0604020202020204"/>
                <a:cs typeface="Arial" panose="020B0604020202020204"/>
              </a:rPr>
              <a:t>…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4" name="object 18"/>
          <p:cNvSpPr txBox="1"/>
          <p:nvPr/>
        </p:nvSpPr>
        <p:spPr>
          <a:xfrm>
            <a:off x="1220163" y="5723029"/>
            <a:ext cx="14605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55" dirty="0">
                <a:latin typeface="Arial" panose="020B0604020202020204"/>
                <a:cs typeface="Arial" panose="020B0604020202020204"/>
              </a:rPr>
              <a:t>0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5" name="object 19"/>
          <p:cNvSpPr txBox="1"/>
          <p:nvPr/>
        </p:nvSpPr>
        <p:spPr>
          <a:xfrm>
            <a:off x="1251143" y="5316452"/>
            <a:ext cx="11557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85" dirty="0">
                <a:latin typeface="Arial" panose="020B0604020202020204"/>
                <a:cs typeface="Arial" panose="020B0604020202020204"/>
              </a:rPr>
              <a:t>1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6" name="object 20"/>
          <p:cNvSpPr txBox="1"/>
          <p:nvPr/>
        </p:nvSpPr>
        <p:spPr>
          <a:xfrm>
            <a:off x="1231864" y="4904727"/>
            <a:ext cx="13462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50" dirty="0">
                <a:latin typeface="Arial" panose="020B0604020202020204"/>
                <a:cs typeface="Arial" panose="020B0604020202020204"/>
              </a:rPr>
              <a:t>2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7" name="object 21"/>
          <p:cNvSpPr txBox="1"/>
          <p:nvPr/>
        </p:nvSpPr>
        <p:spPr>
          <a:xfrm>
            <a:off x="1232447" y="4493003"/>
            <a:ext cx="13398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50" dirty="0">
                <a:latin typeface="Arial" panose="020B0604020202020204"/>
                <a:cs typeface="Arial" panose="020B0604020202020204"/>
              </a:rPr>
              <a:t>3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8" name="object 22"/>
          <p:cNvSpPr txBox="1"/>
          <p:nvPr/>
        </p:nvSpPr>
        <p:spPr>
          <a:xfrm>
            <a:off x="1220164" y="4081279"/>
            <a:ext cx="14097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15" dirty="0">
                <a:latin typeface="Arial" panose="020B0604020202020204"/>
                <a:cs typeface="Arial" panose="020B0604020202020204"/>
              </a:rPr>
              <a:t>4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9" name="object 23"/>
          <p:cNvSpPr txBox="1"/>
          <p:nvPr/>
        </p:nvSpPr>
        <p:spPr>
          <a:xfrm>
            <a:off x="1197547" y="3674701"/>
            <a:ext cx="16383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470" dirty="0">
                <a:latin typeface="Arial" panose="020B0604020202020204"/>
                <a:cs typeface="Arial" panose="020B0604020202020204"/>
              </a:rPr>
              <a:t>…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00" name="object 24"/>
          <p:cNvGrpSpPr/>
          <p:nvPr/>
        </p:nvGrpSpPr>
        <p:grpSpPr>
          <a:xfrm>
            <a:off x="1314821" y="3826227"/>
            <a:ext cx="3909060" cy="2322195"/>
            <a:chOff x="763491" y="3820686"/>
            <a:chExt cx="3909060" cy="2322195"/>
          </a:xfrm>
        </p:grpSpPr>
        <p:sp>
          <p:nvSpPr>
            <p:cNvPr id="101" name="object 25"/>
            <p:cNvSpPr/>
            <p:nvPr/>
          </p:nvSpPr>
          <p:spPr>
            <a:xfrm>
              <a:off x="2017217" y="5372354"/>
              <a:ext cx="281305" cy="292100"/>
            </a:xfrm>
            <a:custGeom>
              <a:avLst/>
              <a:gdLst/>
              <a:ahLst/>
              <a:cxnLst/>
              <a:rect l="l" t="t" r="r" b="b"/>
              <a:pathLst>
                <a:path w="281305" h="292100">
                  <a:moveTo>
                    <a:pt x="280784" y="113030"/>
                  </a:moveTo>
                  <a:lnTo>
                    <a:pt x="166725" y="113030"/>
                  </a:lnTo>
                  <a:lnTo>
                    <a:pt x="166725" y="0"/>
                  </a:lnTo>
                  <a:lnTo>
                    <a:pt x="114071" y="0"/>
                  </a:lnTo>
                  <a:lnTo>
                    <a:pt x="114071" y="113030"/>
                  </a:lnTo>
                  <a:lnTo>
                    <a:pt x="0" y="113030"/>
                  </a:lnTo>
                  <a:lnTo>
                    <a:pt x="0" y="177800"/>
                  </a:lnTo>
                  <a:lnTo>
                    <a:pt x="114071" y="177800"/>
                  </a:lnTo>
                  <a:lnTo>
                    <a:pt x="114071" y="292100"/>
                  </a:lnTo>
                  <a:lnTo>
                    <a:pt x="166725" y="292100"/>
                  </a:lnTo>
                  <a:lnTo>
                    <a:pt x="166725" y="177800"/>
                  </a:lnTo>
                  <a:lnTo>
                    <a:pt x="280784" y="177800"/>
                  </a:lnTo>
                  <a:lnTo>
                    <a:pt x="280784" y="11303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26"/>
            <p:cNvSpPr/>
            <p:nvPr/>
          </p:nvSpPr>
          <p:spPr>
            <a:xfrm>
              <a:off x="2017226" y="5371834"/>
              <a:ext cx="281305" cy="292735"/>
            </a:xfrm>
            <a:custGeom>
              <a:avLst/>
              <a:gdLst/>
              <a:ahLst/>
              <a:cxnLst/>
              <a:rect l="l" t="t" r="r" b="b"/>
              <a:pathLst>
                <a:path w="281305" h="292735">
                  <a:moveTo>
                    <a:pt x="0" y="114068"/>
                  </a:moveTo>
                  <a:lnTo>
                    <a:pt x="114068" y="114068"/>
                  </a:lnTo>
                  <a:lnTo>
                    <a:pt x="114068" y="0"/>
                  </a:lnTo>
                  <a:lnTo>
                    <a:pt x="166717" y="0"/>
                  </a:lnTo>
                  <a:lnTo>
                    <a:pt x="166717" y="114068"/>
                  </a:lnTo>
                  <a:lnTo>
                    <a:pt x="280785" y="114068"/>
                  </a:lnTo>
                  <a:lnTo>
                    <a:pt x="280785" y="178322"/>
                  </a:lnTo>
                  <a:lnTo>
                    <a:pt x="166717" y="178322"/>
                  </a:lnTo>
                  <a:lnTo>
                    <a:pt x="166717" y="292411"/>
                  </a:lnTo>
                  <a:lnTo>
                    <a:pt x="114068" y="292411"/>
                  </a:lnTo>
                  <a:lnTo>
                    <a:pt x="114068" y="178322"/>
                  </a:lnTo>
                  <a:lnTo>
                    <a:pt x="0" y="178322"/>
                  </a:lnTo>
                  <a:lnTo>
                    <a:pt x="0" y="11406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27"/>
            <p:cNvSpPr/>
            <p:nvPr/>
          </p:nvSpPr>
          <p:spPr>
            <a:xfrm>
              <a:off x="3738816" y="4963414"/>
              <a:ext cx="281305" cy="292100"/>
            </a:xfrm>
            <a:custGeom>
              <a:avLst/>
              <a:gdLst/>
              <a:ahLst/>
              <a:cxnLst/>
              <a:rect l="l" t="t" r="r" b="b"/>
              <a:pathLst>
                <a:path w="281304" h="292100">
                  <a:moveTo>
                    <a:pt x="280809" y="114300"/>
                  </a:moveTo>
                  <a:lnTo>
                    <a:pt x="166725" y="114300"/>
                  </a:lnTo>
                  <a:lnTo>
                    <a:pt x="166725" y="0"/>
                  </a:lnTo>
                  <a:lnTo>
                    <a:pt x="114071" y="0"/>
                  </a:lnTo>
                  <a:lnTo>
                    <a:pt x="114071" y="114300"/>
                  </a:lnTo>
                  <a:lnTo>
                    <a:pt x="0" y="114300"/>
                  </a:lnTo>
                  <a:lnTo>
                    <a:pt x="0" y="179070"/>
                  </a:lnTo>
                  <a:lnTo>
                    <a:pt x="114071" y="179070"/>
                  </a:lnTo>
                  <a:lnTo>
                    <a:pt x="114071" y="292100"/>
                  </a:lnTo>
                  <a:lnTo>
                    <a:pt x="166725" y="292100"/>
                  </a:lnTo>
                  <a:lnTo>
                    <a:pt x="166725" y="179070"/>
                  </a:lnTo>
                  <a:lnTo>
                    <a:pt x="280809" y="179070"/>
                  </a:lnTo>
                  <a:lnTo>
                    <a:pt x="280809" y="11430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28"/>
            <p:cNvSpPr/>
            <p:nvPr/>
          </p:nvSpPr>
          <p:spPr>
            <a:xfrm>
              <a:off x="3738829" y="4963687"/>
              <a:ext cx="281305" cy="292735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88"/>
                  </a:moveTo>
                  <a:lnTo>
                    <a:pt x="114068" y="114088"/>
                  </a:lnTo>
                  <a:lnTo>
                    <a:pt x="114068" y="0"/>
                  </a:lnTo>
                  <a:lnTo>
                    <a:pt x="166717" y="0"/>
                  </a:lnTo>
                  <a:lnTo>
                    <a:pt x="166717" y="114088"/>
                  </a:lnTo>
                  <a:lnTo>
                    <a:pt x="280805" y="114088"/>
                  </a:lnTo>
                  <a:lnTo>
                    <a:pt x="280805" y="178343"/>
                  </a:lnTo>
                  <a:lnTo>
                    <a:pt x="166717" y="178343"/>
                  </a:lnTo>
                  <a:lnTo>
                    <a:pt x="166717" y="292411"/>
                  </a:lnTo>
                  <a:lnTo>
                    <a:pt x="114068" y="292411"/>
                  </a:lnTo>
                  <a:lnTo>
                    <a:pt x="114068" y="178343"/>
                  </a:lnTo>
                  <a:lnTo>
                    <a:pt x="0" y="178343"/>
                  </a:lnTo>
                  <a:lnTo>
                    <a:pt x="0" y="11408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29"/>
            <p:cNvSpPr/>
            <p:nvPr/>
          </p:nvSpPr>
          <p:spPr>
            <a:xfrm>
              <a:off x="3087801" y="4976114"/>
              <a:ext cx="281305" cy="292100"/>
            </a:xfrm>
            <a:custGeom>
              <a:avLst/>
              <a:gdLst/>
              <a:ahLst/>
              <a:cxnLst/>
              <a:rect l="l" t="t" r="r" b="b"/>
              <a:pathLst>
                <a:path w="281304" h="292100">
                  <a:moveTo>
                    <a:pt x="280809" y="114300"/>
                  </a:moveTo>
                  <a:lnTo>
                    <a:pt x="166738" y="114300"/>
                  </a:lnTo>
                  <a:lnTo>
                    <a:pt x="166738" y="0"/>
                  </a:lnTo>
                  <a:lnTo>
                    <a:pt x="114084" y="0"/>
                  </a:lnTo>
                  <a:lnTo>
                    <a:pt x="114084" y="114300"/>
                  </a:lnTo>
                  <a:lnTo>
                    <a:pt x="0" y="114300"/>
                  </a:lnTo>
                  <a:lnTo>
                    <a:pt x="0" y="177800"/>
                  </a:lnTo>
                  <a:lnTo>
                    <a:pt x="114084" y="177800"/>
                  </a:lnTo>
                  <a:lnTo>
                    <a:pt x="114084" y="292100"/>
                  </a:lnTo>
                  <a:lnTo>
                    <a:pt x="166738" y="292100"/>
                  </a:lnTo>
                  <a:lnTo>
                    <a:pt x="166738" y="177800"/>
                  </a:lnTo>
                  <a:lnTo>
                    <a:pt x="280809" y="177800"/>
                  </a:lnTo>
                  <a:lnTo>
                    <a:pt x="280809" y="11430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30"/>
            <p:cNvSpPr/>
            <p:nvPr/>
          </p:nvSpPr>
          <p:spPr>
            <a:xfrm>
              <a:off x="3087806" y="4975972"/>
              <a:ext cx="281305" cy="292735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68"/>
                  </a:moveTo>
                  <a:lnTo>
                    <a:pt x="114088" y="114068"/>
                  </a:lnTo>
                  <a:lnTo>
                    <a:pt x="114088" y="0"/>
                  </a:lnTo>
                  <a:lnTo>
                    <a:pt x="166722" y="0"/>
                  </a:lnTo>
                  <a:lnTo>
                    <a:pt x="166722" y="114068"/>
                  </a:lnTo>
                  <a:lnTo>
                    <a:pt x="280811" y="114068"/>
                  </a:lnTo>
                  <a:lnTo>
                    <a:pt x="280811" y="178322"/>
                  </a:lnTo>
                  <a:lnTo>
                    <a:pt x="166722" y="178322"/>
                  </a:lnTo>
                  <a:lnTo>
                    <a:pt x="166722" y="292390"/>
                  </a:lnTo>
                  <a:lnTo>
                    <a:pt x="114088" y="292390"/>
                  </a:lnTo>
                  <a:lnTo>
                    <a:pt x="114088" y="178322"/>
                  </a:lnTo>
                  <a:lnTo>
                    <a:pt x="0" y="178322"/>
                  </a:lnTo>
                  <a:lnTo>
                    <a:pt x="0" y="11406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31"/>
            <p:cNvSpPr/>
            <p:nvPr/>
          </p:nvSpPr>
          <p:spPr>
            <a:xfrm>
              <a:off x="4380408" y="4658614"/>
              <a:ext cx="281305" cy="292100"/>
            </a:xfrm>
            <a:custGeom>
              <a:avLst/>
              <a:gdLst/>
              <a:ahLst/>
              <a:cxnLst/>
              <a:rect l="l" t="t" r="r" b="b"/>
              <a:pathLst>
                <a:path w="281304" h="292100">
                  <a:moveTo>
                    <a:pt x="280784" y="114300"/>
                  </a:moveTo>
                  <a:lnTo>
                    <a:pt x="166738" y="114300"/>
                  </a:lnTo>
                  <a:lnTo>
                    <a:pt x="166738" y="0"/>
                  </a:lnTo>
                  <a:lnTo>
                    <a:pt x="114096" y="0"/>
                  </a:lnTo>
                  <a:lnTo>
                    <a:pt x="114096" y="114300"/>
                  </a:lnTo>
                  <a:lnTo>
                    <a:pt x="0" y="114300"/>
                  </a:lnTo>
                  <a:lnTo>
                    <a:pt x="0" y="179070"/>
                  </a:lnTo>
                  <a:lnTo>
                    <a:pt x="114096" y="179070"/>
                  </a:lnTo>
                  <a:lnTo>
                    <a:pt x="114096" y="292100"/>
                  </a:lnTo>
                  <a:lnTo>
                    <a:pt x="166738" y="292100"/>
                  </a:lnTo>
                  <a:lnTo>
                    <a:pt x="166738" y="179070"/>
                  </a:lnTo>
                  <a:lnTo>
                    <a:pt x="280784" y="179070"/>
                  </a:lnTo>
                  <a:lnTo>
                    <a:pt x="280784" y="11430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32"/>
            <p:cNvSpPr/>
            <p:nvPr/>
          </p:nvSpPr>
          <p:spPr>
            <a:xfrm>
              <a:off x="4380408" y="4658775"/>
              <a:ext cx="281305" cy="292735"/>
            </a:xfrm>
            <a:custGeom>
              <a:avLst/>
              <a:gdLst/>
              <a:ahLst/>
              <a:cxnLst/>
              <a:rect l="l" t="t" r="r" b="b"/>
              <a:pathLst>
                <a:path w="281304" h="292735">
                  <a:moveTo>
                    <a:pt x="0" y="114068"/>
                  </a:moveTo>
                  <a:lnTo>
                    <a:pt x="114098" y="114068"/>
                  </a:lnTo>
                  <a:lnTo>
                    <a:pt x="114098" y="0"/>
                  </a:lnTo>
                  <a:lnTo>
                    <a:pt x="166748" y="0"/>
                  </a:lnTo>
                  <a:lnTo>
                    <a:pt x="166748" y="114068"/>
                  </a:lnTo>
                  <a:lnTo>
                    <a:pt x="280795" y="114068"/>
                  </a:lnTo>
                  <a:lnTo>
                    <a:pt x="280795" y="178343"/>
                  </a:lnTo>
                  <a:lnTo>
                    <a:pt x="166748" y="178343"/>
                  </a:lnTo>
                  <a:lnTo>
                    <a:pt x="166748" y="292411"/>
                  </a:lnTo>
                  <a:lnTo>
                    <a:pt x="114098" y="292411"/>
                  </a:lnTo>
                  <a:lnTo>
                    <a:pt x="114098" y="178343"/>
                  </a:lnTo>
                  <a:lnTo>
                    <a:pt x="0" y="178343"/>
                  </a:lnTo>
                  <a:lnTo>
                    <a:pt x="0" y="11406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33"/>
            <p:cNvSpPr/>
            <p:nvPr/>
          </p:nvSpPr>
          <p:spPr>
            <a:xfrm>
              <a:off x="2570988" y="5839714"/>
              <a:ext cx="281305" cy="292100"/>
            </a:xfrm>
            <a:custGeom>
              <a:avLst/>
              <a:gdLst/>
              <a:ahLst/>
              <a:cxnLst/>
              <a:rect l="l" t="t" r="r" b="b"/>
              <a:pathLst>
                <a:path w="281305" h="292100">
                  <a:moveTo>
                    <a:pt x="280797" y="113030"/>
                  </a:moveTo>
                  <a:lnTo>
                    <a:pt x="166725" y="113030"/>
                  </a:lnTo>
                  <a:lnTo>
                    <a:pt x="166725" y="0"/>
                  </a:lnTo>
                  <a:lnTo>
                    <a:pt x="114084" y="0"/>
                  </a:lnTo>
                  <a:lnTo>
                    <a:pt x="114084" y="113030"/>
                  </a:lnTo>
                  <a:lnTo>
                    <a:pt x="0" y="113030"/>
                  </a:lnTo>
                  <a:lnTo>
                    <a:pt x="0" y="177800"/>
                  </a:lnTo>
                  <a:lnTo>
                    <a:pt x="114084" y="177800"/>
                  </a:lnTo>
                  <a:lnTo>
                    <a:pt x="114084" y="292100"/>
                  </a:lnTo>
                  <a:lnTo>
                    <a:pt x="166725" y="292100"/>
                  </a:lnTo>
                  <a:lnTo>
                    <a:pt x="166725" y="177800"/>
                  </a:lnTo>
                  <a:lnTo>
                    <a:pt x="280797" y="177800"/>
                  </a:lnTo>
                  <a:lnTo>
                    <a:pt x="280797" y="11303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34"/>
            <p:cNvSpPr/>
            <p:nvPr/>
          </p:nvSpPr>
          <p:spPr>
            <a:xfrm>
              <a:off x="2571000" y="5839105"/>
              <a:ext cx="281305" cy="292735"/>
            </a:xfrm>
            <a:custGeom>
              <a:avLst/>
              <a:gdLst/>
              <a:ahLst/>
              <a:cxnLst/>
              <a:rect l="l" t="t" r="r" b="b"/>
              <a:pathLst>
                <a:path w="281305" h="292735">
                  <a:moveTo>
                    <a:pt x="0" y="114068"/>
                  </a:moveTo>
                  <a:lnTo>
                    <a:pt x="114073" y="114068"/>
                  </a:lnTo>
                  <a:lnTo>
                    <a:pt x="114073" y="0"/>
                  </a:lnTo>
                  <a:lnTo>
                    <a:pt x="166722" y="0"/>
                  </a:lnTo>
                  <a:lnTo>
                    <a:pt x="166722" y="114068"/>
                  </a:lnTo>
                  <a:lnTo>
                    <a:pt x="280790" y="114068"/>
                  </a:lnTo>
                  <a:lnTo>
                    <a:pt x="280790" y="178322"/>
                  </a:lnTo>
                  <a:lnTo>
                    <a:pt x="166722" y="178322"/>
                  </a:lnTo>
                  <a:lnTo>
                    <a:pt x="166722" y="292390"/>
                  </a:lnTo>
                  <a:lnTo>
                    <a:pt x="114073" y="292390"/>
                  </a:lnTo>
                  <a:lnTo>
                    <a:pt x="114073" y="178322"/>
                  </a:lnTo>
                  <a:lnTo>
                    <a:pt x="0" y="178322"/>
                  </a:lnTo>
                  <a:lnTo>
                    <a:pt x="0" y="11406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35"/>
            <p:cNvSpPr/>
            <p:nvPr/>
          </p:nvSpPr>
          <p:spPr>
            <a:xfrm>
              <a:off x="1416727" y="4608057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5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55" y="101463"/>
                  </a:lnTo>
                  <a:lnTo>
                    <a:pt x="26665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36"/>
            <p:cNvSpPr/>
            <p:nvPr/>
          </p:nvSpPr>
          <p:spPr>
            <a:xfrm>
              <a:off x="1416727" y="4608057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55" y="101463"/>
                  </a:lnTo>
                  <a:lnTo>
                    <a:pt x="26665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37"/>
            <p:cNvSpPr/>
            <p:nvPr/>
          </p:nvSpPr>
          <p:spPr>
            <a:xfrm>
              <a:off x="767618" y="3824814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3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35" y="101463"/>
                  </a:lnTo>
                  <a:lnTo>
                    <a:pt x="26663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38"/>
            <p:cNvSpPr/>
            <p:nvPr/>
          </p:nvSpPr>
          <p:spPr>
            <a:xfrm>
              <a:off x="767618" y="3824814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35" y="101463"/>
                  </a:lnTo>
                  <a:lnTo>
                    <a:pt x="26663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39"/>
            <p:cNvSpPr/>
            <p:nvPr/>
          </p:nvSpPr>
          <p:spPr>
            <a:xfrm>
              <a:off x="2623031" y="3836857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3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35" y="101463"/>
                  </a:lnTo>
                  <a:lnTo>
                    <a:pt x="26663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40"/>
            <p:cNvSpPr/>
            <p:nvPr/>
          </p:nvSpPr>
          <p:spPr>
            <a:xfrm>
              <a:off x="2623031" y="3836857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35" y="101463"/>
                  </a:lnTo>
                  <a:lnTo>
                    <a:pt x="26663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41"/>
            <p:cNvSpPr/>
            <p:nvPr/>
          </p:nvSpPr>
          <p:spPr>
            <a:xfrm>
              <a:off x="1895397" y="4056249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3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35" y="101463"/>
                  </a:lnTo>
                  <a:lnTo>
                    <a:pt x="26663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42"/>
            <p:cNvSpPr/>
            <p:nvPr/>
          </p:nvSpPr>
          <p:spPr>
            <a:xfrm>
              <a:off x="1895397" y="4056249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35" y="101463"/>
                  </a:lnTo>
                  <a:lnTo>
                    <a:pt x="26663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43"/>
            <p:cNvSpPr/>
            <p:nvPr/>
          </p:nvSpPr>
          <p:spPr>
            <a:xfrm>
              <a:off x="1931381" y="4607311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5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55" y="101463"/>
                  </a:lnTo>
                  <a:lnTo>
                    <a:pt x="26665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44"/>
            <p:cNvSpPr/>
            <p:nvPr/>
          </p:nvSpPr>
          <p:spPr>
            <a:xfrm>
              <a:off x="1931381" y="4607311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55" y="101463"/>
                  </a:lnTo>
                  <a:lnTo>
                    <a:pt x="26665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45"/>
            <p:cNvSpPr/>
            <p:nvPr/>
          </p:nvSpPr>
          <p:spPr>
            <a:xfrm>
              <a:off x="2551176" y="4649724"/>
              <a:ext cx="281305" cy="292100"/>
            </a:xfrm>
            <a:custGeom>
              <a:avLst/>
              <a:gdLst/>
              <a:ahLst/>
              <a:cxnLst/>
              <a:rect l="l" t="t" r="r" b="b"/>
              <a:pathLst>
                <a:path w="281305" h="292100">
                  <a:moveTo>
                    <a:pt x="280784" y="114300"/>
                  </a:moveTo>
                  <a:lnTo>
                    <a:pt x="166712" y="114300"/>
                  </a:lnTo>
                  <a:lnTo>
                    <a:pt x="166712" y="0"/>
                  </a:lnTo>
                  <a:lnTo>
                    <a:pt x="114071" y="0"/>
                  </a:lnTo>
                  <a:lnTo>
                    <a:pt x="114071" y="114300"/>
                  </a:lnTo>
                  <a:lnTo>
                    <a:pt x="0" y="114300"/>
                  </a:lnTo>
                  <a:lnTo>
                    <a:pt x="0" y="177800"/>
                  </a:lnTo>
                  <a:lnTo>
                    <a:pt x="114071" y="177800"/>
                  </a:lnTo>
                  <a:lnTo>
                    <a:pt x="114071" y="292100"/>
                  </a:lnTo>
                  <a:lnTo>
                    <a:pt x="166712" y="292100"/>
                  </a:lnTo>
                  <a:lnTo>
                    <a:pt x="166712" y="177800"/>
                  </a:lnTo>
                  <a:lnTo>
                    <a:pt x="280784" y="177800"/>
                  </a:lnTo>
                  <a:lnTo>
                    <a:pt x="280784" y="11430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46"/>
            <p:cNvSpPr/>
            <p:nvPr/>
          </p:nvSpPr>
          <p:spPr>
            <a:xfrm>
              <a:off x="2551180" y="4649568"/>
              <a:ext cx="281305" cy="292735"/>
            </a:xfrm>
            <a:custGeom>
              <a:avLst/>
              <a:gdLst/>
              <a:ahLst/>
              <a:cxnLst/>
              <a:rect l="l" t="t" r="r" b="b"/>
              <a:pathLst>
                <a:path w="281305" h="292735">
                  <a:moveTo>
                    <a:pt x="0" y="114068"/>
                  </a:moveTo>
                  <a:lnTo>
                    <a:pt x="114068" y="114068"/>
                  </a:lnTo>
                  <a:lnTo>
                    <a:pt x="114068" y="0"/>
                  </a:lnTo>
                  <a:lnTo>
                    <a:pt x="166717" y="0"/>
                  </a:lnTo>
                  <a:lnTo>
                    <a:pt x="166717" y="114068"/>
                  </a:lnTo>
                  <a:lnTo>
                    <a:pt x="280785" y="114068"/>
                  </a:lnTo>
                  <a:lnTo>
                    <a:pt x="280785" y="178322"/>
                  </a:lnTo>
                  <a:lnTo>
                    <a:pt x="166717" y="178322"/>
                  </a:lnTo>
                  <a:lnTo>
                    <a:pt x="166717" y="292411"/>
                  </a:lnTo>
                  <a:lnTo>
                    <a:pt x="114068" y="292411"/>
                  </a:lnTo>
                  <a:lnTo>
                    <a:pt x="114068" y="178322"/>
                  </a:lnTo>
                  <a:lnTo>
                    <a:pt x="0" y="178322"/>
                  </a:lnTo>
                  <a:lnTo>
                    <a:pt x="0" y="114068"/>
                  </a:lnTo>
                  <a:close/>
                </a:path>
              </a:pathLst>
            </a:custGeom>
            <a:ln w="21443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47"/>
            <p:cNvSpPr/>
            <p:nvPr/>
          </p:nvSpPr>
          <p:spPr>
            <a:xfrm>
              <a:off x="2433010" y="5321096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5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55" y="101463"/>
                  </a:lnTo>
                  <a:lnTo>
                    <a:pt x="26665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48"/>
            <p:cNvSpPr/>
            <p:nvPr/>
          </p:nvSpPr>
          <p:spPr>
            <a:xfrm>
              <a:off x="2433010" y="5321096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55" y="101463"/>
                  </a:lnTo>
                  <a:lnTo>
                    <a:pt x="26665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49"/>
            <p:cNvSpPr/>
            <p:nvPr/>
          </p:nvSpPr>
          <p:spPr>
            <a:xfrm>
              <a:off x="3479808" y="4557312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266655" y="0"/>
                  </a:moveTo>
                  <a:lnTo>
                    <a:pt x="0" y="0"/>
                  </a:lnTo>
                  <a:lnTo>
                    <a:pt x="0" y="101463"/>
                  </a:lnTo>
                  <a:lnTo>
                    <a:pt x="266655" y="101463"/>
                  </a:lnTo>
                  <a:lnTo>
                    <a:pt x="26665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50"/>
            <p:cNvSpPr/>
            <p:nvPr/>
          </p:nvSpPr>
          <p:spPr>
            <a:xfrm>
              <a:off x="3479808" y="4557312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0" y="101463"/>
                  </a:moveTo>
                  <a:lnTo>
                    <a:pt x="266655" y="101463"/>
                  </a:lnTo>
                  <a:lnTo>
                    <a:pt x="266655" y="0"/>
                  </a:lnTo>
                  <a:lnTo>
                    <a:pt x="0" y="0"/>
                  </a:lnTo>
                  <a:lnTo>
                    <a:pt x="0" y="101463"/>
                  </a:lnTo>
                  <a:close/>
                </a:path>
              </a:pathLst>
            </a:custGeom>
            <a:ln w="8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7" name="object 52"/>
          <p:cNvGrpSpPr/>
          <p:nvPr/>
        </p:nvGrpSpPr>
        <p:grpSpPr>
          <a:xfrm>
            <a:off x="1383965" y="4111994"/>
            <a:ext cx="4534535" cy="1729739"/>
            <a:chOff x="832635" y="4106453"/>
            <a:chExt cx="4534535" cy="1729739"/>
          </a:xfrm>
        </p:grpSpPr>
        <p:pic>
          <p:nvPicPr>
            <p:cNvPr id="128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2635" y="4106453"/>
              <a:ext cx="4534108" cy="1729240"/>
            </a:xfrm>
            <a:prstGeom prst="rect">
              <a:avLst/>
            </a:prstGeom>
          </p:spPr>
        </p:pic>
        <p:sp>
          <p:nvSpPr>
            <p:cNvPr id="129" name="object 54"/>
            <p:cNvSpPr/>
            <p:nvPr/>
          </p:nvSpPr>
          <p:spPr>
            <a:xfrm>
              <a:off x="880178" y="4157712"/>
              <a:ext cx="4416425" cy="1590040"/>
            </a:xfrm>
            <a:custGeom>
              <a:avLst/>
              <a:gdLst/>
              <a:ahLst/>
              <a:cxnLst/>
              <a:rect l="l" t="t" r="r" b="b"/>
              <a:pathLst>
                <a:path w="4416425" h="1590039">
                  <a:moveTo>
                    <a:pt x="0" y="1589501"/>
                  </a:moveTo>
                  <a:lnTo>
                    <a:pt x="4415799" y="0"/>
                  </a:lnTo>
                </a:path>
              </a:pathLst>
            </a:custGeom>
            <a:ln w="64331">
              <a:solidFill>
                <a:srgbClr val="85BD0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55"/>
          <p:cNvSpPr txBox="1"/>
          <p:nvPr/>
        </p:nvSpPr>
        <p:spPr>
          <a:xfrm>
            <a:off x="4070236" y="5451120"/>
            <a:ext cx="3509010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350" spc="-70" dirty="0">
                <a:latin typeface="Cambria Math" panose="02040503050406030204"/>
                <a:cs typeface="Cambria Math" panose="02040503050406030204"/>
              </a:rPr>
              <a:t>ℓ</a:t>
            </a:r>
            <a:r>
              <a:rPr sz="2350" spc="-70" dirty="0">
                <a:latin typeface="Arial" panose="020B0604020202020204"/>
                <a:cs typeface="Arial" panose="020B0604020202020204"/>
              </a:rPr>
              <a:t>(</a:t>
            </a:r>
            <a:r>
              <a:rPr sz="1650" spc="-70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w</a:t>
            </a:r>
            <a:r>
              <a:rPr sz="1725" spc="-104" baseline="-17000" dirty="0">
                <a:solidFill>
                  <a:srgbClr val="118CC4"/>
                </a:solidFill>
                <a:latin typeface="Tahoma" panose="020B0604030504040204"/>
                <a:cs typeface="Tahoma" panose="020B0604030504040204"/>
              </a:rPr>
              <a:t>0</a:t>
            </a:r>
            <a:r>
              <a:rPr sz="1650" spc="-70" dirty="0">
                <a:latin typeface="Lucida Sans Unicode" panose="020B0602030504020204"/>
                <a:cs typeface="Lucida Sans Unicode" panose="020B0602030504020204"/>
              </a:rPr>
              <a:t>=1,</a:t>
            </a:r>
            <a:r>
              <a:rPr sz="1650" spc="-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650" spc="-75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w</a:t>
            </a:r>
            <a:r>
              <a:rPr sz="1725" spc="-112" baseline="-17000" dirty="0">
                <a:solidFill>
                  <a:srgbClr val="118CC4"/>
                </a:solidFill>
                <a:latin typeface="Tahoma" panose="020B0604030504040204"/>
                <a:cs typeface="Tahoma" panose="020B0604030504040204"/>
              </a:rPr>
              <a:t>1</a:t>
            </a:r>
            <a:r>
              <a:rPr sz="1650" spc="-75" dirty="0">
                <a:latin typeface="Lucida Sans Unicode" panose="020B0602030504020204"/>
                <a:cs typeface="Lucida Sans Unicode" panose="020B0602030504020204"/>
              </a:rPr>
              <a:t>=0.5,</a:t>
            </a:r>
            <a:r>
              <a:rPr sz="1650" spc="-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650" spc="-65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w</a:t>
            </a:r>
            <a:r>
              <a:rPr sz="1725" spc="-97" baseline="-17000" dirty="0">
                <a:solidFill>
                  <a:srgbClr val="118CC4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1650" spc="-65" dirty="0">
                <a:latin typeface="Lucida Sans Unicode" panose="020B0602030504020204"/>
                <a:cs typeface="Lucida Sans Unicode" panose="020B0602030504020204"/>
              </a:rPr>
              <a:t>=-</a:t>
            </a:r>
            <a:r>
              <a:rPr sz="1650" spc="-155" dirty="0">
                <a:latin typeface="Lucida Sans Unicode" panose="020B0602030504020204"/>
                <a:cs typeface="Lucida Sans Unicode" panose="020B0602030504020204"/>
              </a:rPr>
              <a:t>1.5</a:t>
            </a:r>
            <a:r>
              <a:rPr sz="2350" spc="-155" dirty="0">
                <a:latin typeface="Arial" panose="020B0604020202020204"/>
                <a:cs typeface="Arial" panose="020B0604020202020204"/>
              </a:rPr>
              <a:t>)</a:t>
            </a:r>
            <a:r>
              <a:rPr sz="235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229" dirty="0">
                <a:latin typeface="Arial" panose="020B0604020202020204"/>
                <a:cs typeface="Arial" panose="020B0604020202020204"/>
              </a:rPr>
              <a:t>=</a:t>
            </a:r>
            <a:r>
              <a:rPr sz="2350" dirty="0">
                <a:latin typeface="Arial" panose="020B0604020202020204"/>
                <a:cs typeface="Arial" panose="020B0604020202020204"/>
              </a:rPr>
              <a:t> </a:t>
            </a:r>
            <a:r>
              <a:rPr sz="2350" spc="60" dirty="0">
                <a:latin typeface="Arial" panose="020B0604020202020204"/>
                <a:cs typeface="Arial" panose="020B0604020202020204"/>
              </a:rPr>
              <a:t>10</a:t>
            </a:r>
            <a:r>
              <a:rPr sz="2250" spc="89" baseline="24000" dirty="0">
                <a:latin typeface="Arial" panose="020B0604020202020204"/>
                <a:cs typeface="Arial" panose="020B0604020202020204"/>
              </a:rPr>
              <a:t>-</a:t>
            </a:r>
            <a:r>
              <a:rPr sz="2250" spc="22" baseline="24000" dirty="0">
                <a:latin typeface="Arial" panose="020B0604020202020204"/>
                <a:cs typeface="Arial" panose="020B0604020202020204"/>
              </a:rPr>
              <a:t>4</a:t>
            </a:r>
            <a:endParaRPr sz="2250" baseline="240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31" name="object 56"/>
          <p:cNvGrpSpPr/>
          <p:nvPr/>
        </p:nvGrpSpPr>
        <p:grpSpPr>
          <a:xfrm>
            <a:off x="1389111" y="3401770"/>
            <a:ext cx="5466080" cy="2449830"/>
            <a:chOff x="837781" y="3396229"/>
            <a:chExt cx="5466080" cy="2449830"/>
          </a:xfrm>
        </p:grpSpPr>
        <p:pic>
          <p:nvPicPr>
            <p:cNvPr id="132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5019" y="4132185"/>
              <a:ext cx="1348395" cy="1538817"/>
            </a:xfrm>
            <a:prstGeom prst="rect">
              <a:avLst/>
            </a:prstGeom>
          </p:spPr>
        </p:pic>
        <p:sp>
          <p:nvSpPr>
            <p:cNvPr id="133" name="object 58"/>
            <p:cNvSpPr/>
            <p:nvPr/>
          </p:nvSpPr>
          <p:spPr>
            <a:xfrm>
              <a:off x="5071491" y="4291260"/>
              <a:ext cx="1193800" cy="1325880"/>
            </a:xfrm>
            <a:custGeom>
              <a:avLst/>
              <a:gdLst/>
              <a:ahLst/>
              <a:cxnLst/>
              <a:rect l="l" t="t" r="r" b="b"/>
              <a:pathLst>
                <a:path w="1193800" h="1325879">
                  <a:moveTo>
                    <a:pt x="1185193" y="1226628"/>
                  </a:moveTo>
                  <a:lnTo>
                    <a:pt x="1153388" y="1231435"/>
                  </a:lnTo>
                  <a:lnTo>
                    <a:pt x="1158380" y="1263858"/>
                  </a:lnTo>
                  <a:lnTo>
                    <a:pt x="1161436" y="1324232"/>
                  </a:lnTo>
                  <a:lnTo>
                    <a:pt x="1161519" y="1325879"/>
                  </a:lnTo>
                  <a:lnTo>
                    <a:pt x="1193685" y="1324232"/>
                  </a:lnTo>
                  <a:lnTo>
                    <a:pt x="1190579" y="1263858"/>
                  </a:lnTo>
                  <a:lnTo>
                    <a:pt x="1190494" y="1262211"/>
                  </a:lnTo>
                  <a:lnTo>
                    <a:pt x="1185193" y="1226628"/>
                  </a:lnTo>
                  <a:close/>
                </a:path>
                <a:path w="1193800" h="1325879">
                  <a:moveTo>
                    <a:pt x="1152873" y="1099369"/>
                  </a:moveTo>
                  <a:lnTo>
                    <a:pt x="1122457" y="1109806"/>
                  </a:lnTo>
                  <a:lnTo>
                    <a:pt x="1134500" y="1144787"/>
                  </a:lnTo>
                  <a:lnTo>
                    <a:pt x="1148498" y="1201178"/>
                  </a:lnTo>
                  <a:lnTo>
                    <a:pt x="1179686" y="1193438"/>
                  </a:lnTo>
                  <a:lnTo>
                    <a:pt x="1165739" y="1137047"/>
                  </a:lnTo>
                  <a:lnTo>
                    <a:pt x="1152873" y="1099369"/>
                  </a:lnTo>
                  <a:close/>
                </a:path>
                <a:path w="1193800" h="1325879">
                  <a:moveTo>
                    <a:pt x="1098731" y="979954"/>
                  </a:moveTo>
                  <a:lnTo>
                    <a:pt x="1070477" y="995275"/>
                  </a:lnTo>
                  <a:lnTo>
                    <a:pt x="1089931" y="1031100"/>
                  </a:lnTo>
                  <a:lnTo>
                    <a:pt x="1111855" y="1080898"/>
                  </a:lnTo>
                  <a:lnTo>
                    <a:pt x="1141293" y="1067929"/>
                  </a:lnTo>
                  <a:lnTo>
                    <a:pt x="1119369" y="1018131"/>
                  </a:lnTo>
                  <a:lnTo>
                    <a:pt x="1098731" y="979954"/>
                  </a:lnTo>
                  <a:close/>
                </a:path>
                <a:path w="1193800" h="1325879">
                  <a:moveTo>
                    <a:pt x="1025496" y="871274"/>
                  </a:moveTo>
                  <a:lnTo>
                    <a:pt x="1000020" y="890934"/>
                  </a:lnTo>
                  <a:lnTo>
                    <a:pt x="1027760" y="926800"/>
                  </a:lnTo>
                  <a:lnTo>
                    <a:pt x="1054986" y="968595"/>
                  </a:lnTo>
                  <a:lnTo>
                    <a:pt x="1081953" y="951046"/>
                  </a:lnTo>
                  <a:lnTo>
                    <a:pt x="1054728" y="909271"/>
                  </a:lnTo>
                  <a:lnTo>
                    <a:pt x="1025496" y="871274"/>
                  </a:lnTo>
                  <a:close/>
                </a:path>
                <a:path w="1193800" h="1325879">
                  <a:moveTo>
                    <a:pt x="934608" y="776706"/>
                  </a:moveTo>
                  <a:lnTo>
                    <a:pt x="912786" y="800349"/>
                  </a:lnTo>
                  <a:lnTo>
                    <a:pt x="951334" y="835871"/>
                  </a:lnTo>
                  <a:lnTo>
                    <a:pt x="980103" y="867414"/>
                  </a:lnTo>
                  <a:lnTo>
                    <a:pt x="1003880" y="845742"/>
                  </a:lnTo>
                  <a:lnTo>
                    <a:pt x="975111" y="814199"/>
                  </a:lnTo>
                  <a:lnTo>
                    <a:pt x="934608" y="776706"/>
                  </a:lnTo>
                  <a:close/>
                </a:path>
                <a:path w="1193800" h="1325879">
                  <a:moveTo>
                    <a:pt x="825038" y="701237"/>
                  </a:moveTo>
                  <a:lnTo>
                    <a:pt x="810936" y="730145"/>
                  </a:lnTo>
                  <a:lnTo>
                    <a:pt x="817267" y="733141"/>
                  </a:lnTo>
                  <a:lnTo>
                    <a:pt x="863946" y="762255"/>
                  </a:lnTo>
                  <a:lnTo>
                    <a:pt x="888701" y="781292"/>
                  </a:lnTo>
                  <a:lnTo>
                    <a:pt x="908309" y="755801"/>
                  </a:lnTo>
                  <a:lnTo>
                    <a:pt x="883554" y="736759"/>
                  </a:lnTo>
                  <a:lnTo>
                    <a:pt x="834302" y="705864"/>
                  </a:lnTo>
                  <a:lnTo>
                    <a:pt x="825038" y="701237"/>
                  </a:lnTo>
                  <a:close/>
                </a:path>
                <a:path w="1193800" h="1325879">
                  <a:moveTo>
                    <a:pt x="701057" y="655783"/>
                  </a:moveTo>
                  <a:lnTo>
                    <a:pt x="694315" y="687244"/>
                  </a:lnTo>
                  <a:lnTo>
                    <a:pt x="719997" y="692612"/>
                  </a:lnTo>
                  <a:lnTo>
                    <a:pt x="769095" y="709781"/>
                  </a:lnTo>
                  <a:lnTo>
                    <a:pt x="782013" y="716054"/>
                  </a:lnTo>
                  <a:lnTo>
                    <a:pt x="796067" y="687244"/>
                  </a:lnTo>
                  <a:lnTo>
                    <a:pt x="796315" y="687244"/>
                  </a:lnTo>
                  <a:lnTo>
                    <a:pt x="783196" y="680852"/>
                  </a:lnTo>
                  <a:lnTo>
                    <a:pt x="730702" y="662278"/>
                  </a:lnTo>
                  <a:lnTo>
                    <a:pt x="701057" y="655783"/>
                  </a:lnTo>
                  <a:close/>
                </a:path>
                <a:path w="1193800" h="1325879">
                  <a:moveTo>
                    <a:pt x="571673" y="642819"/>
                  </a:moveTo>
                  <a:lnTo>
                    <a:pt x="568174" y="674779"/>
                  </a:lnTo>
                  <a:lnTo>
                    <a:pt x="594987" y="677676"/>
                  </a:lnTo>
                  <a:lnTo>
                    <a:pt x="645938" y="679503"/>
                  </a:lnTo>
                  <a:lnTo>
                    <a:pt x="664363" y="681536"/>
                  </a:lnTo>
                  <a:lnTo>
                    <a:pt x="667862" y="649550"/>
                  </a:lnTo>
                  <a:lnTo>
                    <a:pt x="649438" y="647538"/>
                  </a:lnTo>
                  <a:lnTo>
                    <a:pt x="596171" y="645531"/>
                  </a:lnTo>
                  <a:lnTo>
                    <a:pt x="571673" y="642819"/>
                  </a:lnTo>
                  <a:close/>
                </a:path>
                <a:path w="1193800" h="1325879">
                  <a:moveTo>
                    <a:pt x="454692" y="605887"/>
                  </a:moveTo>
                  <a:lnTo>
                    <a:pt x="440642" y="634795"/>
                  </a:lnTo>
                  <a:lnTo>
                    <a:pt x="461794" y="644985"/>
                  </a:lnTo>
                  <a:lnTo>
                    <a:pt x="514547" y="663405"/>
                  </a:lnTo>
                  <a:lnTo>
                    <a:pt x="535081" y="667826"/>
                  </a:lnTo>
                  <a:lnTo>
                    <a:pt x="541823" y="636365"/>
                  </a:lnTo>
                  <a:lnTo>
                    <a:pt x="521289" y="631960"/>
                  </a:lnTo>
                  <a:lnTo>
                    <a:pt x="472448" y="614652"/>
                  </a:lnTo>
                  <a:lnTo>
                    <a:pt x="454692" y="605887"/>
                  </a:lnTo>
                  <a:close/>
                </a:path>
                <a:path w="1193800" h="1325879">
                  <a:moveTo>
                    <a:pt x="348828" y="539404"/>
                  </a:moveTo>
                  <a:lnTo>
                    <a:pt x="329168" y="564916"/>
                  </a:lnTo>
                  <a:lnTo>
                    <a:pt x="360974" y="589259"/>
                  </a:lnTo>
                  <a:lnTo>
                    <a:pt x="410432" y="620097"/>
                  </a:lnTo>
                  <a:lnTo>
                    <a:pt x="411719" y="620704"/>
                  </a:lnTo>
                  <a:lnTo>
                    <a:pt x="425820" y="591791"/>
                  </a:lnTo>
                  <a:lnTo>
                    <a:pt x="424533" y="591168"/>
                  </a:lnTo>
                  <a:lnTo>
                    <a:pt x="378060" y="561997"/>
                  </a:lnTo>
                  <a:lnTo>
                    <a:pt x="348828" y="539404"/>
                  </a:lnTo>
                  <a:close/>
                </a:path>
                <a:path w="1193800" h="1325879">
                  <a:moveTo>
                    <a:pt x="258248" y="452355"/>
                  </a:moveTo>
                  <a:lnTo>
                    <a:pt x="234523" y="474027"/>
                  </a:lnTo>
                  <a:lnTo>
                    <a:pt x="269159" y="511901"/>
                  </a:lnTo>
                  <a:lnTo>
                    <a:pt x="303332" y="543485"/>
                  </a:lnTo>
                  <a:lnTo>
                    <a:pt x="325154" y="519863"/>
                  </a:lnTo>
                  <a:lnTo>
                    <a:pt x="290981" y="488278"/>
                  </a:lnTo>
                  <a:lnTo>
                    <a:pt x="258248" y="452355"/>
                  </a:lnTo>
                  <a:close/>
                </a:path>
                <a:path w="1193800" h="1325879">
                  <a:moveTo>
                    <a:pt x="184344" y="350449"/>
                  </a:moveTo>
                  <a:lnTo>
                    <a:pt x="157376" y="367998"/>
                  </a:lnTo>
                  <a:lnTo>
                    <a:pt x="189285" y="416932"/>
                  </a:lnTo>
                  <a:lnTo>
                    <a:pt x="213371" y="448094"/>
                  </a:lnTo>
                  <a:lnTo>
                    <a:pt x="238795" y="428450"/>
                  </a:lnTo>
                  <a:lnTo>
                    <a:pt x="214760" y="397272"/>
                  </a:lnTo>
                  <a:lnTo>
                    <a:pt x="184344" y="350449"/>
                  </a:lnTo>
                  <a:close/>
                </a:path>
                <a:path w="1193800" h="1325879">
                  <a:moveTo>
                    <a:pt x="128504" y="237585"/>
                  </a:moveTo>
                  <a:lnTo>
                    <a:pt x="99066" y="250554"/>
                  </a:lnTo>
                  <a:lnTo>
                    <a:pt x="124490" y="308170"/>
                  </a:lnTo>
                  <a:lnTo>
                    <a:pt x="141062" y="338786"/>
                  </a:lnTo>
                  <a:lnTo>
                    <a:pt x="169368" y="323470"/>
                  </a:lnTo>
                  <a:lnTo>
                    <a:pt x="152744" y="292854"/>
                  </a:lnTo>
                  <a:lnTo>
                    <a:pt x="128504" y="237585"/>
                  </a:lnTo>
                  <a:close/>
                </a:path>
                <a:path w="1193800" h="1325879">
                  <a:moveTo>
                    <a:pt x="93610" y="118329"/>
                  </a:moveTo>
                  <a:lnTo>
                    <a:pt x="61805" y="123136"/>
                  </a:lnTo>
                  <a:lnTo>
                    <a:pt x="62525" y="127521"/>
                  </a:lnTo>
                  <a:lnTo>
                    <a:pt x="77913" y="189439"/>
                  </a:lnTo>
                  <a:lnTo>
                    <a:pt x="88052" y="218887"/>
                  </a:lnTo>
                  <a:lnTo>
                    <a:pt x="118468" y="208455"/>
                  </a:lnTo>
                  <a:lnTo>
                    <a:pt x="108381" y="179002"/>
                  </a:lnTo>
                  <a:lnTo>
                    <a:pt x="93765" y="119780"/>
                  </a:lnTo>
                  <a:lnTo>
                    <a:pt x="93610" y="118329"/>
                  </a:lnTo>
                  <a:close/>
                </a:path>
                <a:path w="1193800" h="1325879">
                  <a:moveTo>
                    <a:pt x="65665" y="0"/>
                  </a:moveTo>
                  <a:lnTo>
                    <a:pt x="1745" y="123759"/>
                  </a:lnTo>
                  <a:lnTo>
                    <a:pt x="0" y="129895"/>
                  </a:lnTo>
                  <a:lnTo>
                    <a:pt x="715" y="136019"/>
                  </a:lnTo>
                  <a:lnTo>
                    <a:pt x="3670" y="141431"/>
                  </a:lnTo>
                  <a:lnTo>
                    <a:pt x="8641" y="145431"/>
                  </a:lnTo>
                  <a:lnTo>
                    <a:pt x="14798" y="147183"/>
                  </a:lnTo>
                  <a:lnTo>
                    <a:pt x="20922" y="146465"/>
                  </a:lnTo>
                  <a:lnTo>
                    <a:pt x="26322" y="143501"/>
                  </a:lnTo>
                  <a:lnTo>
                    <a:pt x="30308" y="138514"/>
                  </a:lnTo>
                  <a:lnTo>
                    <a:pt x="56489" y="87820"/>
                  </a:lnTo>
                  <a:lnTo>
                    <a:pt x="52953" y="64511"/>
                  </a:lnTo>
                  <a:lnTo>
                    <a:pt x="51254" y="32711"/>
                  </a:lnTo>
                  <a:lnTo>
                    <a:pt x="83369" y="31038"/>
                  </a:lnTo>
                  <a:lnTo>
                    <a:pt x="85978" y="31038"/>
                  </a:lnTo>
                  <a:lnTo>
                    <a:pt x="65665" y="0"/>
                  </a:lnTo>
                  <a:close/>
                </a:path>
                <a:path w="1193800" h="1325879">
                  <a:moveTo>
                    <a:pt x="85978" y="31038"/>
                  </a:moveTo>
                  <a:lnTo>
                    <a:pt x="83369" y="31038"/>
                  </a:lnTo>
                  <a:lnTo>
                    <a:pt x="84758" y="59689"/>
                  </a:lnTo>
                  <a:lnTo>
                    <a:pt x="88824" y="86508"/>
                  </a:lnTo>
                  <a:lnTo>
                    <a:pt x="84275" y="87195"/>
                  </a:lnTo>
                  <a:lnTo>
                    <a:pt x="115020" y="134155"/>
                  </a:lnTo>
                  <a:lnTo>
                    <a:pt x="119626" y="138817"/>
                  </a:lnTo>
                  <a:lnTo>
                    <a:pt x="119782" y="138817"/>
                  </a:lnTo>
                  <a:lnTo>
                    <a:pt x="125399" y="141186"/>
                  </a:lnTo>
                  <a:lnTo>
                    <a:pt x="131340" y="141186"/>
                  </a:lnTo>
                  <a:lnTo>
                    <a:pt x="137253" y="138817"/>
                  </a:lnTo>
                  <a:lnTo>
                    <a:pt x="141813" y="134331"/>
                  </a:lnTo>
                  <a:lnTo>
                    <a:pt x="144207" y="128645"/>
                  </a:lnTo>
                  <a:lnTo>
                    <a:pt x="144295" y="122477"/>
                  </a:lnTo>
                  <a:lnTo>
                    <a:pt x="141936" y="116543"/>
                  </a:lnTo>
                  <a:lnTo>
                    <a:pt x="85978" y="31038"/>
                  </a:lnTo>
                  <a:close/>
                </a:path>
                <a:path w="1193800" h="1325879">
                  <a:moveTo>
                    <a:pt x="68923" y="63745"/>
                  </a:moveTo>
                  <a:lnTo>
                    <a:pt x="56489" y="87820"/>
                  </a:lnTo>
                  <a:lnTo>
                    <a:pt x="57018" y="91310"/>
                  </a:lnTo>
                  <a:lnTo>
                    <a:pt x="84275" y="87195"/>
                  </a:lnTo>
                  <a:lnTo>
                    <a:pt x="68923" y="63745"/>
                  </a:lnTo>
                  <a:close/>
                </a:path>
                <a:path w="1193800" h="1325879">
                  <a:moveTo>
                    <a:pt x="83369" y="31038"/>
                  </a:moveTo>
                  <a:lnTo>
                    <a:pt x="51254" y="32711"/>
                  </a:lnTo>
                  <a:lnTo>
                    <a:pt x="52912" y="63745"/>
                  </a:lnTo>
                  <a:lnTo>
                    <a:pt x="52953" y="64511"/>
                  </a:lnTo>
                  <a:lnTo>
                    <a:pt x="56290" y="86508"/>
                  </a:lnTo>
                  <a:lnTo>
                    <a:pt x="56394" y="87195"/>
                  </a:lnTo>
                  <a:lnTo>
                    <a:pt x="56489" y="87820"/>
                  </a:lnTo>
                  <a:lnTo>
                    <a:pt x="68923" y="63745"/>
                  </a:lnTo>
                  <a:lnTo>
                    <a:pt x="53828" y="40688"/>
                  </a:lnTo>
                  <a:lnTo>
                    <a:pt x="81567" y="39263"/>
                  </a:lnTo>
                  <a:lnTo>
                    <a:pt x="83768" y="39263"/>
                  </a:lnTo>
                  <a:lnTo>
                    <a:pt x="83450" y="32711"/>
                  </a:lnTo>
                  <a:lnTo>
                    <a:pt x="83369" y="31038"/>
                  </a:lnTo>
                  <a:close/>
                </a:path>
                <a:path w="1193800" h="1325879">
                  <a:moveTo>
                    <a:pt x="83768" y="39263"/>
                  </a:moveTo>
                  <a:lnTo>
                    <a:pt x="81567" y="39263"/>
                  </a:lnTo>
                  <a:lnTo>
                    <a:pt x="68923" y="63745"/>
                  </a:lnTo>
                  <a:lnTo>
                    <a:pt x="84275" y="87195"/>
                  </a:lnTo>
                  <a:lnTo>
                    <a:pt x="88824" y="86508"/>
                  </a:lnTo>
                  <a:lnTo>
                    <a:pt x="84758" y="59689"/>
                  </a:lnTo>
                  <a:lnTo>
                    <a:pt x="83837" y="40688"/>
                  </a:lnTo>
                  <a:lnTo>
                    <a:pt x="83768" y="39263"/>
                  </a:lnTo>
                  <a:close/>
                </a:path>
                <a:path w="1193800" h="1325879">
                  <a:moveTo>
                    <a:pt x="81567" y="39263"/>
                  </a:moveTo>
                  <a:lnTo>
                    <a:pt x="53828" y="40688"/>
                  </a:lnTo>
                  <a:lnTo>
                    <a:pt x="68923" y="63745"/>
                  </a:lnTo>
                  <a:lnTo>
                    <a:pt x="81567" y="39263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7781" y="3396229"/>
              <a:ext cx="3690074" cy="2449756"/>
            </a:xfrm>
            <a:prstGeom prst="rect">
              <a:avLst/>
            </a:prstGeom>
          </p:spPr>
        </p:pic>
        <p:sp>
          <p:nvSpPr>
            <p:cNvPr id="135" name="object 60"/>
            <p:cNvSpPr/>
            <p:nvPr/>
          </p:nvSpPr>
          <p:spPr>
            <a:xfrm>
              <a:off x="882052" y="3430901"/>
              <a:ext cx="3593465" cy="2343785"/>
            </a:xfrm>
            <a:custGeom>
              <a:avLst/>
              <a:gdLst/>
              <a:ahLst/>
              <a:cxnLst/>
              <a:rect l="l" t="t" r="r" b="b"/>
              <a:pathLst>
                <a:path w="3593465" h="2343785">
                  <a:moveTo>
                    <a:pt x="0" y="2343650"/>
                  </a:moveTo>
                  <a:lnTo>
                    <a:pt x="3593258" y="0"/>
                  </a:lnTo>
                </a:path>
              </a:pathLst>
            </a:custGeom>
            <a:ln w="32165">
              <a:solidFill>
                <a:srgbClr val="85BD0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7" name="object 62"/>
          <p:cNvGrpSpPr/>
          <p:nvPr/>
        </p:nvGrpSpPr>
        <p:grpSpPr>
          <a:xfrm>
            <a:off x="3782256" y="3221641"/>
            <a:ext cx="530225" cy="1040130"/>
            <a:chOff x="3230926" y="3216100"/>
            <a:chExt cx="530225" cy="1040130"/>
          </a:xfrm>
        </p:grpSpPr>
        <p:pic>
          <p:nvPicPr>
            <p:cNvPr id="138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30926" y="3216100"/>
              <a:ext cx="530094" cy="1039602"/>
            </a:xfrm>
            <a:prstGeom prst="rect">
              <a:avLst/>
            </a:prstGeom>
          </p:spPr>
        </p:pic>
        <p:sp>
          <p:nvSpPr>
            <p:cNvPr id="139" name="object 64"/>
            <p:cNvSpPr/>
            <p:nvPr/>
          </p:nvSpPr>
          <p:spPr>
            <a:xfrm>
              <a:off x="3341658" y="3231627"/>
              <a:ext cx="381635" cy="824865"/>
            </a:xfrm>
            <a:custGeom>
              <a:avLst/>
              <a:gdLst/>
              <a:ahLst/>
              <a:cxnLst/>
              <a:rect l="l" t="t" r="r" b="b"/>
              <a:pathLst>
                <a:path w="381635" h="824864">
                  <a:moveTo>
                    <a:pt x="349240" y="0"/>
                  </a:moveTo>
                  <a:lnTo>
                    <a:pt x="345885" y="76837"/>
                  </a:lnTo>
                  <a:lnTo>
                    <a:pt x="343533" y="94902"/>
                  </a:lnTo>
                  <a:lnTo>
                    <a:pt x="375436" y="98968"/>
                  </a:lnTo>
                  <a:lnTo>
                    <a:pt x="378030" y="78227"/>
                  </a:lnTo>
                  <a:lnTo>
                    <a:pt x="381386" y="1389"/>
                  </a:lnTo>
                  <a:lnTo>
                    <a:pt x="349240" y="0"/>
                  </a:lnTo>
                  <a:close/>
                </a:path>
                <a:path w="381635" h="824864">
                  <a:moveTo>
                    <a:pt x="339472" y="126810"/>
                  </a:moveTo>
                  <a:lnTo>
                    <a:pt x="336533" y="149918"/>
                  </a:lnTo>
                  <a:lnTo>
                    <a:pt x="322020" y="218213"/>
                  </a:lnTo>
                  <a:lnTo>
                    <a:pt x="321696" y="219191"/>
                  </a:lnTo>
                  <a:lnTo>
                    <a:pt x="352678" y="227889"/>
                  </a:lnTo>
                  <a:lnTo>
                    <a:pt x="353481" y="224904"/>
                  </a:lnTo>
                  <a:lnTo>
                    <a:pt x="368437" y="153984"/>
                  </a:lnTo>
                  <a:lnTo>
                    <a:pt x="371376" y="130928"/>
                  </a:lnTo>
                  <a:lnTo>
                    <a:pt x="339472" y="126810"/>
                  </a:lnTo>
                  <a:close/>
                </a:path>
                <a:path w="381635" h="824864">
                  <a:moveTo>
                    <a:pt x="313194" y="249401"/>
                  </a:moveTo>
                  <a:lnTo>
                    <a:pt x="303405" y="278824"/>
                  </a:lnTo>
                  <a:lnTo>
                    <a:pt x="292767" y="305725"/>
                  </a:lnTo>
                  <a:lnTo>
                    <a:pt x="281470" y="329811"/>
                  </a:lnTo>
                  <a:lnTo>
                    <a:pt x="278033" y="335837"/>
                  </a:lnTo>
                  <a:lnTo>
                    <a:pt x="306097" y="351581"/>
                  </a:lnTo>
                  <a:lnTo>
                    <a:pt x="310621" y="343418"/>
                  </a:lnTo>
                  <a:lnTo>
                    <a:pt x="322705" y="317526"/>
                  </a:lnTo>
                  <a:lnTo>
                    <a:pt x="333904" y="288999"/>
                  </a:lnTo>
                  <a:lnTo>
                    <a:pt x="343713" y="259607"/>
                  </a:lnTo>
                  <a:lnTo>
                    <a:pt x="313194" y="249401"/>
                  </a:lnTo>
                  <a:close/>
                </a:path>
                <a:path w="381635" h="824864">
                  <a:moveTo>
                    <a:pt x="224974" y="394813"/>
                  </a:moveTo>
                  <a:lnTo>
                    <a:pt x="197777" y="399408"/>
                  </a:lnTo>
                  <a:lnTo>
                    <a:pt x="196269" y="399912"/>
                  </a:lnTo>
                  <a:lnTo>
                    <a:pt x="188251" y="403890"/>
                  </a:lnTo>
                  <a:lnTo>
                    <a:pt x="202564" y="432701"/>
                  </a:lnTo>
                  <a:lnTo>
                    <a:pt x="206248" y="430869"/>
                  </a:lnTo>
                  <a:lnTo>
                    <a:pt x="204694" y="430869"/>
                  </a:lnTo>
                  <a:lnTo>
                    <a:pt x="209156" y="429422"/>
                  </a:lnTo>
                  <a:lnTo>
                    <a:pt x="213211" y="429422"/>
                  </a:lnTo>
                  <a:lnTo>
                    <a:pt x="234205" y="425887"/>
                  </a:lnTo>
                  <a:lnTo>
                    <a:pt x="268321" y="404215"/>
                  </a:lnTo>
                  <a:lnTo>
                    <a:pt x="275720" y="395887"/>
                  </a:lnTo>
                  <a:lnTo>
                    <a:pt x="222810" y="395887"/>
                  </a:lnTo>
                  <a:lnTo>
                    <a:pt x="224974" y="394813"/>
                  </a:lnTo>
                  <a:close/>
                </a:path>
                <a:path w="381635" h="824864">
                  <a:moveTo>
                    <a:pt x="209156" y="429422"/>
                  </a:moveTo>
                  <a:lnTo>
                    <a:pt x="204694" y="430869"/>
                  </a:lnTo>
                  <a:lnTo>
                    <a:pt x="207054" y="430468"/>
                  </a:lnTo>
                  <a:lnTo>
                    <a:pt x="209156" y="429422"/>
                  </a:lnTo>
                  <a:close/>
                </a:path>
                <a:path w="381635" h="824864">
                  <a:moveTo>
                    <a:pt x="207054" y="430468"/>
                  </a:moveTo>
                  <a:lnTo>
                    <a:pt x="204694" y="430869"/>
                  </a:lnTo>
                  <a:lnTo>
                    <a:pt x="206248" y="430869"/>
                  </a:lnTo>
                  <a:lnTo>
                    <a:pt x="207054" y="430468"/>
                  </a:lnTo>
                  <a:close/>
                </a:path>
                <a:path w="381635" h="824864">
                  <a:moveTo>
                    <a:pt x="213211" y="429422"/>
                  </a:moveTo>
                  <a:lnTo>
                    <a:pt x="209156" y="429422"/>
                  </a:lnTo>
                  <a:lnTo>
                    <a:pt x="207054" y="430468"/>
                  </a:lnTo>
                  <a:lnTo>
                    <a:pt x="213211" y="429422"/>
                  </a:lnTo>
                  <a:close/>
                </a:path>
                <a:path w="381635" h="824864">
                  <a:moveTo>
                    <a:pt x="227293" y="394421"/>
                  </a:moveTo>
                  <a:lnTo>
                    <a:pt x="224974" y="394813"/>
                  </a:lnTo>
                  <a:lnTo>
                    <a:pt x="222810" y="395887"/>
                  </a:lnTo>
                  <a:lnTo>
                    <a:pt x="227293" y="394421"/>
                  </a:lnTo>
                  <a:close/>
                </a:path>
                <a:path w="381635" h="824864">
                  <a:moveTo>
                    <a:pt x="277008" y="394421"/>
                  </a:moveTo>
                  <a:lnTo>
                    <a:pt x="227293" y="394421"/>
                  </a:lnTo>
                  <a:lnTo>
                    <a:pt x="222810" y="395887"/>
                  </a:lnTo>
                  <a:lnTo>
                    <a:pt x="275720" y="395887"/>
                  </a:lnTo>
                  <a:lnTo>
                    <a:pt x="277008" y="394421"/>
                  </a:lnTo>
                  <a:close/>
                </a:path>
                <a:path w="381635" h="824864">
                  <a:moveTo>
                    <a:pt x="235074" y="389794"/>
                  </a:moveTo>
                  <a:lnTo>
                    <a:pt x="224974" y="394813"/>
                  </a:lnTo>
                  <a:lnTo>
                    <a:pt x="227293" y="394421"/>
                  </a:lnTo>
                  <a:lnTo>
                    <a:pt x="277008" y="394421"/>
                  </a:lnTo>
                  <a:lnTo>
                    <a:pt x="280075" y="390926"/>
                  </a:lnTo>
                  <a:lnTo>
                    <a:pt x="233685" y="390926"/>
                  </a:lnTo>
                  <a:lnTo>
                    <a:pt x="235074" y="389794"/>
                  </a:lnTo>
                  <a:close/>
                </a:path>
                <a:path w="381635" h="824864">
                  <a:moveTo>
                    <a:pt x="236680" y="388996"/>
                  </a:moveTo>
                  <a:lnTo>
                    <a:pt x="235074" y="389794"/>
                  </a:lnTo>
                  <a:lnTo>
                    <a:pt x="233685" y="390926"/>
                  </a:lnTo>
                  <a:lnTo>
                    <a:pt x="236680" y="388996"/>
                  </a:lnTo>
                  <a:close/>
                </a:path>
                <a:path w="381635" h="824864">
                  <a:moveTo>
                    <a:pt x="281769" y="388996"/>
                  </a:moveTo>
                  <a:lnTo>
                    <a:pt x="236680" y="388996"/>
                  </a:lnTo>
                  <a:lnTo>
                    <a:pt x="233685" y="390926"/>
                  </a:lnTo>
                  <a:lnTo>
                    <a:pt x="280075" y="390926"/>
                  </a:lnTo>
                  <a:lnTo>
                    <a:pt x="281769" y="388996"/>
                  </a:lnTo>
                  <a:close/>
                </a:path>
                <a:path w="381635" h="824864">
                  <a:moveTo>
                    <a:pt x="246430" y="380541"/>
                  </a:moveTo>
                  <a:lnTo>
                    <a:pt x="235074" y="389794"/>
                  </a:lnTo>
                  <a:lnTo>
                    <a:pt x="236680" y="388996"/>
                  </a:lnTo>
                  <a:lnTo>
                    <a:pt x="281769" y="388996"/>
                  </a:lnTo>
                  <a:lnTo>
                    <a:pt x="284064" y="386382"/>
                  </a:lnTo>
                  <a:lnTo>
                    <a:pt x="287354" y="381616"/>
                  </a:lnTo>
                  <a:lnTo>
                    <a:pt x="245465" y="381616"/>
                  </a:lnTo>
                  <a:lnTo>
                    <a:pt x="246430" y="380541"/>
                  </a:lnTo>
                  <a:close/>
                </a:path>
                <a:path w="381635" h="824864">
                  <a:moveTo>
                    <a:pt x="246978" y="380149"/>
                  </a:moveTo>
                  <a:lnTo>
                    <a:pt x="246430" y="380541"/>
                  </a:lnTo>
                  <a:lnTo>
                    <a:pt x="245465" y="381616"/>
                  </a:lnTo>
                  <a:lnTo>
                    <a:pt x="246978" y="380149"/>
                  </a:lnTo>
                  <a:close/>
                </a:path>
                <a:path w="381635" h="824864">
                  <a:moveTo>
                    <a:pt x="287867" y="379804"/>
                  </a:moveTo>
                  <a:lnTo>
                    <a:pt x="247333" y="379804"/>
                  </a:lnTo>
                  <a:lnTo>
                    <a:pt x="245465" y="381616"/>
                  </a:lnTo>
                  <a:lnTo>
                    <a:pt x="287354" y="381616"/>
                  </a:lnTo>
                  <a:lnTo>
                    <a:pt x="288367" y="380149"/>
                  </a:lnTo>
                  <a:lnTo>
                    <a:pt x="287867" y="379804"/>
                  </a:lnTo>
                  <a:close/>
                </a:path>
                <a:path w="381635" h="824864">
                  <a:moveTo>
                    <a:pt x="261888" y="361874"/>
                  </a:moveTo>
                  <a:lnTo>
                    <a:pt x="257585" y="368106"/>
                  </a:lnTo>
                  <a:lnTo>
                    <a:pt x="246430" y="380541"/>
                  </a:lnTo>
                  <a:lnTo>
                    <a:pt x="247333" y="379804"/>
                  </a:lnTo>
                  <a:lnTo>
                    <a:pt x="287867" y="379804"/>
                  </a:lnTo>
                  <a:lnTo>
                    <a:pt x="261888" y="361874"/>
                  </a:lnTo>
                  <a:close/>
                </a:path>
                <a:path w="381635" h="824864">
                  <a:moveTo>
                    <a:pt x="158175" y="427173"/>
                  </a:moveTo>
                  <a:lnTo>
                    <a:pt x="135036" y="457569"/>
                  </a:lnTo>
                  <a:lnTo>
                    <a:pt x="109684" y="506862"/>
                  </a:lnTo>
                  <a:lnTo>
                    <a:pt x="106570" y="514665"/>
                  </a:lnTo>
                  <a:lnTo>
                    <a:pt x="136503" y="526445"/>
                  </a:lnTo>
                  <a:lnTo>
                    <a:pt x="138813" y="520490"/>
                  </a:lnTo>
                  <a:lnTo>
                    <a:pt x="149950" y="496549"/>
                  </a:lnTo>
                  <a:lnTo>
                    <a:pt x="161510" y="475844"/>
                  </a:lnTo>
                  <a:lnTo>
                    <a:pt x="173192" y="458711"/>
                  </a:lnTo>
                  <a:lnTo>
                    <a:pt x="182240" y="448501"/>
                  </a:lnTo>
                  <a:lnTo>
                    <a:pt x="158175" y="427173"/>
                  </a:lnTo>
                  <a:close/>
                </a:path>
                <a:path w="381635" h="824864">
                  <a:moveTo>
                    <a:pt x="94990" y="545559"/>
                  </a:moveTo>
                  <a:lnTo>
                    <a:pt x="88032" y="566429"/>
                  </a:lnTo>
                  <a:lnTo>
                    <a:pt x="78743" y="599397"/>
                  </a:lnTo>
                  <a:lnTo>
                    <a:pt x="69999" y="640549"/>
                  </a:lnTo>
                  <a:lnTo>
                    <a:pt x="101460" y="647224"/>
                  </a:lnTo>
                  <a:lnTo>
                    <a:pt x="109704" y="608105"/>
                  </a:lnTo>
                  <a:lnTo>
                    <a:pt x="118551" y="576603"/>
                  </a:lnTo>
                  <a:lnTo>
                    <a:pt x="125504" y="555755"/>
                  </a:lnTo>
                  <a:lnTo>
                    <a:pt x="94990" y="545559"/>
                  </a:lnTo>
                  <a:close/>
                </a:path>
                <a:path w="381635" h="824864">
                  <a:moveTo>
                    <a:pt x="14669" y="677905"/>
                  </a:moveTo>
                  <a:lnTo>
                    <a:pt x="8544" y="679694"/>
                  </a:lnTo>
                  <a:lnTo>
                    <a:pt x="3591" y="683732"/>
                  </a:lnTo>
                  <a:lnTo>
                    <a:pt x="672" y="689165"/>
                  </a:lnTo>
                  <a:lnTo>
                    <a:pt x="0" y="695297"/>
                  </a:lnTo>
                  <a:lnTo>
                    <a:pt x="1786" y="701428"/>
                  </a:lnTo>
                  <a:lnTo>
                    <a:pt x="66664" y="824682"/>
                  </a:lnTo>
                  <a:lnTo>
                    <a:pt x="92003" y="785296"/>
                  </a:lnTo>
                  <a:lnTo>
                    <a:pt x="82284" y="785296"/>
                  </a:lnTo>
                  <a:lnTo>
                    <a:pt x="54539" y="784092"/>
                  </a:lnTo>
                  <a:lnTo>
                    <a:pt x="62950" y="771015"/>
                  </a:lnTo>
                  <a:lnTo>
                    <a:pt x="52933" y="770582"/>
                  </a:lnTo>
                  <a:lnTo>
                    <a:pt x="54075" y="745734"/>
                  </a:lnTo>
                  <a:lnTo>
                    <a:pt x="55514" y="734433"/>
                  </a:lnTo>
                  <a:lnTo>
                    <a:pt x="30257" y="686446"/>
                  </a:lnTo>
                  <a:lnTo>
                    <a:pt x="26222" y="681496"/>
                  </a:lnTo>
                  <a:lnTo>
                    <a:pt x="20794" y="678577"/>
                  </a:lnTo>
                  <a:lnTo>
                    <a:pt x="14669" y="677905"/>
                  </a:lnTo>
                  <a:close/>
                </a:path>
                <a:path w="381635" h="824864">
                  <a:moveTo>
                    <a:pt x="62950" y="771015"/>
                  </a:moveTo>
                  <a:lnTo>
                    <a:pt x="54539" y="784092"/>
                  </a:lnTo>
                  <a:lnTo>
                    <a:pt x="82284" y="785296"/>
                  </a:lnTo>
                  <a:lnTo>
                    <a:pt x="75043" y="771538"/>
                  </a:lnTo>
                  <a:lnTo>
                    <a:pt x="62950" y="771015"/>
                  </a:lnTo>
                  <a:close/>
                </a:path>
                <a:path w="381635" h="824864">
                  <a:moveTo>
                    <a:pt x="75043" y="771538"/>
                  </a:moveTo>
                  <a:lnTo>
                    <a:pt x="82284" y="785296"/>
                  </a:lnTo>
                  <a:lnTo>
                    <a:pt x="92003" y="785296"/>
                  </a:lnTo>
                  <a:lnTo>
                    <a:pt x="100576" y="771971"/>
                  </a:lnTo>
                  <a:lnTo>
                    <a:pt x="85058" y="771971"/>
                  </a:lnTo>
                  <a:lnTo>
                    <a:pt x="75043" y="771538"/>
                  </a:lnTo>
                  <a:close/>
                </a:path>
                <a:path w="381635" h="824864">
                  <a:moveTo>
                    <a:pt x="88298" y="731610"/>
                  </a:moveTo>
                  <a:lnTo>
                    <a:pt x="69450" y="760911"/>
                  </a:lnTo>
                  <a:lnTo>
                    <a:pt x="75043" y="771538"/>
                  </a:lnTo>
                  <a:lnTo>
                    <a:pt x="85058" y="771971"/>
                  </a:lnTo>
                  <a:lnTo>
                    <a:pt x="85984" y="749795"/>
                  </a:lnTo>
                  <a:lnTo>
                    <a:pt x="88298" y="731610"/>
                  </a:lnTo>
                  <a:close/>
                </a:path>
                <a:path w="381635" h="824864">
                  <a:moveTo>
                    <a:pt x="131254" y="682998"/>
                  </a:moveTo>
                  <a:lnTo>
                    <a:pt x="88298" y="731610"/>
                  </a:lnTo>
                  <a:lnTo>
                    <a:pt x="85116" y="770582"/>
                  </a:lnTo>
                  <a:lnTo>
                    <a:pt x="85058" y="771971"/>
                  </a:lnTo>
                  <a:lnTo>
                    <a:pt x="100576" y="771971"/>
                  </a:lnTo>
                  <a:lnTo>
                    <a:pt x="142030" y="707537"/>
                  </a:lnTo>
                  <a:lnTo>
                    <a:pt x="144353" y="701595"/>
                  </a:lnTo>
                  <a:lnTo>
                    <a:pt x="144218" y="695435"/>
                  </a:lnTo>
                  <a:lnTo>
                    <a:pt x="141783" y="689772"/>
                  </a:lnTo>
                  <a:lnTo>
                    <a:pt x="137208" y="685324"/>
                  </a:lnTo>
                  <a:lnTo>
                    <a:pt x="131254" y="682998"/>
                  </a:lnTo>
                  <a:close/>
                </a:path>
                <a:path w="381635" h="824864">
                  <a:moveTo>
                    <a:pt x="69450" y="760911"/>
                  </a:moveTo>
                  <a:lnTo>
                    <a:pt x="62950" y="771015"/>
                  </a:lnTo>
                  <a:lnTo>
                    <a:pt x="75043" y="771538"/>
                  </a:lnTo>
                  <a:lnTo>
                    <a:pt x="69450" y="760911"/>
                  </a:lnTo>
                  <a:close/>
                </a:path>
                <a:path w="381635" h="824864">
                  <a:moveTo>
                    <a:pt x="55514" y="734433"/>
                  </a:moveTo>
                  <a:lnTo>
                    <a:pt x="54075" y="745734"/>
                  </a:lnTo>
                  <a:lnTo>
                    <a:pt x="52933" y="770582"/>
                  </a:lnTo>
                  <a:lnTo>
                    <a:pt x="62950" y="771015"/>
                  </a:lnTo>
                  <a:lnTo>
                    <a:pt x="69450" y="760911"/>
                  </a:lnTo>
                  <a:lnTo>
                    <a:pt x="55514" y="734433"/>
                  </a:lnTo>
                  <a:close/>
                </a:path>
                <a:path w="381635" h="824864">
                  <a:moveTo>
                    <a:pt x="63288" y="673358"/>
                  </a:moveTo>
                  <a:lnTo>
                    <a:pt x="55514" y="734433"/>
                  </a:lnTo>
                  <a:lnTo>
                    <a:pt x="69450" y="760911"/>
                  </a:lnTo>
                  <a:lnTo>
                    <a:pt x="88298" y="731610"/>
                  </a:lnTo>
                  <a:lnTo>
                    <a:pt x="95045" y="678577"/>
                  </a:lnTo>
                  <a:lnTo>
                    <a:pt x="95130" y="677905"/>
                  </a:lnTo>
                  <a:lnTo>
                    <a:pt x="95191" y="677424"/>
                  </a:lnTo>
                  <a:lnTo>
                    <a:pt x="63288" y="673358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1" name="object 66"/>
          <p:cNvGrpSpPr/>
          <p:nvPr/>
        </p:nvGrpSpPr>
        <p:grpSpPr>
          <a:xfrm>
            <a:off x="5032867" y="2763598"/>
            <a:ext cx="2162175" cy="1287145"/>
            <a:chOff x="4481537" y="2758057"/>
            <a:chExt cx="2162175" cy="1287145"/>
          </a:xfrm>
        </p:grpSpPr>
        <p:pic>
          <p:nvPicPr>
            <p:cNvPr id="142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81537" y="2758057"/>
              <a:ext cx="2161550" cy="1286637"/>
            </a:xfrm>
            <a:prstGeom prst="rect">
              <a:avLst/>
            </a:prstGeom>
          </p:spPr>
        </p:pic>
        <p:sp>
          <p:nvSpPr>
            <p:cNvPr id="143" name="object 68"/>
            <p:cNvSpPr/>
            <p:nvPr/>
          </p:nvSpPr>
          <p:spPr>
            <a:xfrm>
              <a:off x="4661152" y="2773224"/>
              <a:ext cx="1945639" cy="1195070"/>
            </a:xfrm>
            <a:custGeom>
              <a:avLst/>
              <a:gdLst/>
              <a:ahLst/>
              <a:cxnLst/>
              <a:rect l="l" t="t" r="r" b="b"/>
              <a:pathLst>
                <a:path w="1945640" h="1195070">
                  <a:moveTo>
                    <a:pt x="1918787" y="0"/>
                  </a:moveTo>
                  <a:lnTo>
                    <a:pt x="1864697" y="79874"/>
                  </a:lnTo>
                  <a:lnTo>
                    <a:pt x="1891356" y="97938"/>
                  </a:lnTo>
                  <a:lnTo>
                    <a:pt x="1945446" y="18012"/>
                  </a:lnTo>
                  <a:lnTo>
                    <a:pt x="1918787" y="0"/>
                  </a:lnTo>
                  <a:close/>
                </a:path>
                <a:path w="1945640" h="1195070">
                  <a:moveTo>
                    <a:pt x="1846684" y="106533"/>
                  </a:moveTo>
                  <a:lnTo>
                    <a:pt x="1816062" y="151771"/>
                  </a:lnTo>
                  <a:lnTo>
                    <a:pt x="1792285" y="186047"/>
                  </a:lnTo>
                  <a:lnTo>
                    <a:pt x="1818738" y="204369"/>
                  </a:lnTo>
                  <a:lnTo>
                    <a:pt x="1842721" y="169784"/>
                  </a:lnTo>
                  <a:lnTo>
                    <a:pt x="1873292" y="124546"/>
                  </a:lnTo>
                  <a:lnTo>
                    <a:pt x="1846684" y="106533"/>
                  </a:lnTo>
                  <a:close/>
                </a:path>
                <a:path w="1945640" h="1195070">
                  <a:moveTo>
                    <a:pt x="1773963" y="212500"/>
                  </a:moveTo>
                  <a:lnTo>
                    <a:pt x="1718998" y="291809"/>
                  </a:lnTo>
                  <a:lnTo>
                    <a:pt x="1745451" y="310130"/>
                  </a:lnTo>
                  <a:lnTo>
                    <a:pt x="1800416" y="230771"/>
                  </a:lnTo>
                  <a:lnTo>
                    <a:pt x="1773963" y="212500"/>
                  </a:lnTo>
                  <a:close/>
                </a:path>
                <a:path w="1945640" h="1195070">
                  <a:moveTo>
                    <a:pt x="1700573" y="317850"/>
                  </a:moveTo>
                  <a:lnTo>
                    <a:pt x="1660945" y="373227"/>
                  </a:lnTo>
                  <a:lnTo>
                    <a:pt x="1644219" y="395923"/>
                  </a:lnTo>
                  <a:lnTo>
                    <a:pt x="1670106" y="414966"/>
                  </a:lnTo>
                  <a:lnTo>
                    <a:pt x="1687089" y="391909"/>
                  </a:lnTo>
                  <a:lnTo>
                    <a:pt x="1726718" y="336584"/>
                  </a:lnTo>
                  <a:lnTo>
                    <a:pt x="1700573" y="317850"/>
                  </a:lnTo>
                  <a:close/>
                </a:path>
                <a:path w="1945640" h="1195070">
                  <a:moveTo>
                    <a:pt x="1625125" y="421759"/>
                  </a:moveTo>
                  <a:lnTo>
                    <a:pt x="1608708" y="444044"/>
                  </a:lnTo>
                  <a:lnTo>
                    <a:pt x="1567072" y="498494"/>
                  </a:lnTo>
                  <a:lnTo>
                    <a:pt x="1592599" y="518051"/>
                  </a:lnTo>
                  <a:lnTo>
                    <a:pt x="1634595" y="463137"/>
                  </a:lnTo>
                  <a:lnTo>
                    <a:pt x="1651012" y="440904"/>
                  </a:lnTo>
                  <a:lnTo>
                    <a:pt x="1625125" y="421759"/>
                  </a:lnTo>
                  <a:close/>
                </a:path>
                <a:path w="1945640" h="1195070">
                  <a:moveTo>
                    <a:pt x="1547464" y="523609"/>
                  </a:moveTo>
                  <a:lnTo>
                    <a:pt x="1502946" y="579295"/>
                  </a:lnTo>
                  <a:lnTo>
                    <a:pt x="1486992" y="598234"/>
                  </a:lnTo>
                  <a:lnTo>
                    <a:pt x="1511592" y="618975"/>
                  </a:lnTo>
                  <a:lnTo>
                    <a:pt x="1528061" y="599366"/>
                  </a:lnTo>
                  <a:lnTo>
                    <a:pt x="1572579" y="543681"/>
                  </a:lnTo>
                  <a:lnTo>
                    <a:pt x="1547464" y="523609"/>
                  </a:lnTo>
                  <a:close/>
                </a:path>
                <a:path w="1945640" h="1195070">
                  <a:moveTo>
                    <a:pt x="1466251" y="622835"/>
                  </a:moveTo>
                  <a:lnTo>
                    <a:pt x="1449319" y="642958"/>
                  </a:lnTo>
                  <a:lnTo>
                    <a:pt x="1402846" y="694938"/>
                  </a:lnTo>
                  <a:lnTo>
                    <a:pt x="1426828" y="716384"/>
                  </a:lnTo>
                  <a:lnTo>
                    <a:pt x="1473919" y="663698"/>
                  </a:lnTo>
                  <a:lnTo>
                    <a:pt x="1490903" y="643575"/>
                  </a:lnTo>
                  <a:lnTo>
                    <a:pt x="1466251" y="622835"/>
                  </a:lnTo>
                  <a:close/>
                </a:path>
                <a:path w="1945640" h="1195070">
                  <a:moveTo>
                    <a:pt x="1381282" y="718051"/>
                  </a:moveTo>
                  <a:lnTo>
                    <a:pt x="1340264" y="760870"/>
                  </a:lnTo>
                  <a:lnTo>
                    <a:pt x="1313965" y="786222"/>
                  </a:lnTo>
                  <a:lnTo>
                    <a:pt x="1336249" y="809382"/>
                  </a:lnTo>
                  <a:lnTo>
                    <a:pt x="1363526" y="783103"/>
                  </a:lnTo>
                  <a:lnTo>
                    <a:pt x="1404492" y="740284"/>
                  </a:lnTo>
                  <a:lnTo>
                    <a:pt x="1381282" y="718051"/>
                  </a:lnTo>
                  <a:close/>
                </a:path>
                <a:path w="1945640" h="1195070">
                  <a:moveTo>
                    <a:pt x="1290805" y="808558"/>
                  </a:moveTo>
                  <a:lnTo>
                    <a:pt x="1284732" y="814389"/>
                  </a:lnTo>
                  <a:lnTo>
                    <a:pt x="1228429" y="863842"/>
                  </a:lnTo>
                  <a:lnTo>
                    <a:pt x="1219320" y="871001"/>
                  </a:lnTo>
                  <a:lnTo>
                    <a:pt x="1239288" y="896230"/>
                  </a:lnTo>
                  <a:lnTo>
                    <a:pt x="1249633" y="888005"/>
                  </a:lnTo>
                  <a:lnTo>
                    <a:pt x="1307068" y="837549"/>
                  </a:lnTo>
                  <a:lnTo>
                    <a:pt x="1313090" y="831718"/>
                  </a:lnTo>
                  <a:lnTo>
                    <a:pt x="1290805" y="808558"/>
                  </a:lnTo>
                  <a:close/>
                </a:path>
                <a:path w="1945640" h="1195070">
                  <a:moveTo>
                    <a:pt x="1194102" y="890924"/>
                  </a:moveTo>
                  <a:lnTo>
                    <a:pt x="1171302" y="908916"/>
                  </a:lnTo>
                  <a:lnTo>
                    <a:pt x="1116749" y="946913"/>
                  </a:lnTo>
                  <a:lnTo>
                    <a:pt x="1135122" y="973304"/>
                  </a:lnTo>
                  <a:lnTo>
                    <a:pt x="1191220" y="934165"/>
                  </a:lnTo>
                  <a:lnTo>
                    <a:pt x="1214019" y="916173"/>
                  </a:lnTo>
                  <a:lnTo>
                    <a:pt x="1194102" y="890924"/>
                  </a:lnTo>
                  <a:close/>
                </a:path>
                <a:path w="1945640" h="1195070">
                  <a:moveTo>
                    <a:pt x="1090193" y="963114"/>
                  </a:moveTo>
                  <a:lnTo>
                    <a:pt x="1054424" y="984606"/>
                  </a:lnTo>
                  <a:lnTo>
                    <a:pt x="1024214" y="1000102"/>
                  </a:lnTo>
                  <a:lnTo>
                    <a:pt x="1006973" y="1007822"/>
                  </a:lnTo>
                  <a:lnTo>
                    <a:pt x="1020148" y="1037158"/>
                  </a:lnTo>
                  <a:lnTo>
                    <a:pt x="1038933" y="1028712"/>
                  </a:lnTo>
                  <a:lnTo>
                    <a:pt x="1070996" y="1012187"/>
                  </a:lnTo>
                  <a:lnTo>
                    <a:pt x="1106765" y="990674"/>
                  </a:lnTo>
                  <a:lnTo>
                    <a:pt x="1090193" y="963114"/>
                  </a:lnTo>
                  <a:close/>
                </a:path>
                <a:path w="1945640" h="1195070">
                  <a:moveTo>
                    <a:pt x="978255" y="1019567"/>
                  </a:moveTo>
                  <a:lnTo>
                    <a:pt x="922673" y="1040050"/>
                  </a:lnTo>
                  <a:lnTo>
                    <a:pt x="887985" y="1049844"/>
                  </a:lnTo>
                  <a:lnTo>
                    <a:pt x="896786" y="1080780"/>
                  </a:lnTo>
                  <a:lnTo>
                    <a:pt x="933789" y="1070245"/>
                  </a:lnTo>
                  <a:lnTo>
                    <a:pt x="989093" y="1049844"/>
                  </a:lnTo>
                  <a:lnTo>
                    <a:pt x="989410" y="1049844"/>
                  </a:lnTo>
                  <a:lnTo>
                    <a:pt x="978255" y="1019567"/>
                  </a:lnTo>
                  <a:close/>
                </a:path>
                <a:path w="1945640" h="1195070">
                  <a:moveTo>
                    <a:pt x="857054" y="1058608"/>
                  </a:moveTo>
                  <a:lnTo>
                    <a:pt x="848254" y="1061099"/>
                  </a:lnTo>
                  <a:lnTo>
                    <a:pt x="769872" y="1078047"/>
                  </a:lnTo>
                  <a:lnTo>
                    <a:pt x="764622" y="1078870"/>
                  </a:lnTo>
                  <a:lnTo>
                    <a:pt x="769769" y="1110614"/>
                  </a:lnTo>
                  <a:lnTo>
                    <a:pt x="776665" y="1109487"/>
                  </a:lnTo>
                  <a:lnTo>
                    <a:pt x="857054" y="1092061"/>
                  </a:lnTo>
                  <a:lnTo>
                    <a:pt x="865855" y="1089544"/>
                  </a:lnTo>
                  <a:lnTo>
                    <a:pt x="857054" y="1058608"/>
                  </a:lnTo>
                  <a:close/>
                </a:path>
                <a:path w="1945640" h="1195070">
                  <a:moveTo>
                    <a:pt x="732868" y="1083996"/>
                  </a:moveTo>
                  <a:lnTo>
                    <a:pt x="688813" y="1091114"/>
                  </a:lnTo>
                  <a:lnTo>
                    <a:pt x="638017" y="1096966"/>
                  </a:lnTo>
                  <a:lnTo>
                    <a:pt x="641723" y="1128910"/>
                  </a:lnTo>
                  <a:lnTo>
                    <a:pt x="693960" y="1122879"/>
                  </a:lnTo>
                  <a:lnTo>
                    <a:pt x="738014" y="1115761"/>
                  </a:lnTo>
                  <a:lnTo>
                    <a:pt x="732868" y="1083996"/>
                  </a:lnTo>
                  <a:close/>
                </a:path>
                <a:path w="1945640" h="1195070">
                  <a:moveTo>
                    <a:pt x="606726" y="1100563"/>
                  </a:moveTo>
                  <a:lnTo>
                    <a:pt x="524175" y="1106734"/>
                  </a:lnTo>
                  <a:lnTo>
                    <a:pt x="511052" y="1107218"/>
                  </a:lnTo>
                  <a:lnTo>
                    <a:pt x="512265" y="1138802"/>
                  </a:lnTo>
                  <a:lnTo>
                    <a:pt x="512287" y="1139363"/>
                  </a:lnTo>
                  <a:lnTo>
                    <a:pt x="526543" y="1138802"/>
                  </a:lnTo>
                  <a:lnTo>
                    <a:pt x="609093" y="1132626"/>
                  </a:lnTo>
                  <a:lnTo>
                    <a:pt x="606726" y="1100563"/>
                  </a:lnTo>
                  <a:close/>
                </a:path>
                <a:path w="1945640" h="1195070">
                  <a:moveTo>
                    <a:pt x="478886" y="1108442"/>
                  </a:moveTo>
                  <a:lnTo>
                    <a:pt x="443220" y="1109811"/>
                  </a:lnTo>
                  <a:lnTo>
                    <a:pt x="382954" y="1110033"/>
                  </a:lnTo>
                  <a:lnTo>
                    <a:pt x="383101" y="1140588"/>
                  </a:lnTo>
                  <a:lnTo>
                    <a:pt x="383109" y="1142199"/>
                  </a:lnTo>
                  <a:lnTo>
                    <a:pt x="444455" y="1141936"/>
                  </a:lnTo>
                  <a:lnTo>
                    <a:pt x="480121" y="1140588"/>
                  </a:lnTo>
                  <a:lnTo>
                    <a:pt x="478947" y="1110033"/>
                  </a:lnTo>
                  <a:lnTo>
                    <a:pt x="478886" y="1108442"/>
                  </a:lnTo>
                  <a:close/>
                </a:path>
                <a:path w="1945640" h="1195070">
                  <a:moveTo>
                    <a:pt x="255526" y="1105668"/>
                  </a:moveTo>
                  <a:lnTo>
                    <a:pt x="253467" y="1137773"/>
                  </a:lnTo>
                  <a:lnTo>
                    <a:pt x="289802" y="1140089"/>
                  </a:lnTo>
                  <a:lnTo>
                    <a:pt x="350428" y="1141854"/>
                  </a:lnTo>
                  <a:lnTo>
                    <a:pt x="351354" y="1109708"/>
                  </a:lnTo>
                  <a:lnTo>
                    <a:pt x="290728" y="1107923"/>
                  </a:lnTo>
                  <a:lnTo>
                    <a:pt x="255526" y="1105668"/>
                  </a:lnTo>
                  <a:close/>
                </a:path>
                <a:path w="1945640" h="1195070">
                  <a:moveTo>
                    <a:pt x="147397" y="1059169"/>
                  </a:moveTo>
                  <a:lnTo>
                    <a:pt x="0" y="1074470"/>
                  </a:lnTo>
                  <a:lnTo>
                    <a:pt x="80697" y="1187993"/>
                  </a:lnTo>
                  <a:lnTo>
                    <a:pt x="85354" y="1192362"/>
                  </a:lnTo>
                  <a:lnTo>
                    <a:pt x="91126" y="1194529"/>
                  </a:lnTo>
                  <a:lnTo>
                    <a:pt x="97293" y="1194374"/>
                  </a:lnTo>
                  <a:lnTo>
                    <a:pt x="68108" y="1114741"/>
                  </a:lnTo>
                  <a:lnTo>
                    <a:pt x="54450" y="1111700"/>
                  </a:lnTo>
                  <a:lnTo>
                    <a:pt x="34893" y="1106456"/>
                  </a:lnTo>
                  <a:lnTo>
                    <a:pt x="24034" y="1102894"/>
                  </a:lnTo>
                  <a:lnTo>
                    <a:pt x="34121" y="1072360"/>
                  </a:lnTo>
                  <a:lnTo>
                    <a:pt x="155979" y="1072360"/>
                  </a:lnTo>
                  <a:lnTo>
                    <a:pt x="155271" y="1065603"/>
                  </a:lnTo>
                  <a:lnTo>
                    <a:pt x="147397" y="1059169"/>
                  </a:lnTo>
                  <a:close/>
                </a:path>
                <a:path w="1945640" h="1195070">
                  <a:moveTo>
                    <a:pt x="130324" y="1093288"/>
                  </a:moveTo>
                  <a:lnTo>
                    <a:pt x="128017" y="1093528"/>
                  </a:lnTo>
                  <a:lnTo>
                    <a:pt x="128953" y="1093528"/>
                  </a:lnTo>
                  <a:lnTo>
                    <a:pt x="123980" y="1124850"/>
                  </a:lnTo>
                  <a:lnTo>
                    <a:pt x="127582" y="1125411"/>
                  </a:lnTo>
                  <a:lnTo>
                    <a:pt x="156403" y="1129250"/>
                  </a:lnTo>
                  <a:lnTo>
                    <a:pt x="187179" y="1132667"/>
                  </a:lnTo>
                  <a:lnTo>
                    <a:pt x="221044" y="1135745"/>
                  </a:lnTo>
                  <a:lnTo>
                    <a:pt x="221353" y="1135745"/>
                  </a:lnTo>
                  <a:lnTo>
                    <a:pt x="223411" y="1103641"/>
                  </a:lnTo>
                  <a:lnTo>
                    <a:pt x="223052" y="1103641"/>
                  </a:lnTo>
                  <a:lnTo>
                    <a:pt x="190062" y="1100645"/>
                  </a:lnTo>
                  <a:lnTo>
                    <a:pt x="159954" y="1097285"/>
                  </a:lnTo>
                  <a:lnTo>
                    <a:pt x="131854" y="1093528"/>
                  </a:lnTo>
                  <a:lnTo>
                    <a:pt x="130324" y="1093288"/>
                  </a:lnTo>
                  <a:close/>
                </a:path>
                <a:path w="1945640" h="1195070">
                  <a:moveTo>
                    <a:pt x="96053" y="1096843"/>
                  </a:moveTo>
                  <a:lnTo>
                    <a:pt x="58175" y="1100773"/>
                  </a:lnTo>
                  <a:lnTo>
                    <a:pt x="68108" y="1114741"/>
                  </a:lnTo>
                  <a:lnTo>
                    <a:pt x="76477" y="1116605"/>
                  </a:lnTo>
                  <a:lnTo>
                    <a:pt x="91814" y="1119482"/>
                  </a:lnTo>
                  <a:lnTo>
                    <a:pt x="95971" y="1097285"/>
                  </a:lnTo>
                  <a:lnTo>
                    <a:pt x="96053" y="1096843"/>
                  </a:lnTo>
                  <a:close/>
                </a:path>
                <a:path w="1945640" h="1195070">
                  <a:moveTo>
                    <a:pt x="34121" y="1072360"/>
                  </a:moveTo>
                  <a:lnTo>
                    <a:pt x="24034" y="1102894"/>
                  </a:lnTo>
                  <a:lnTo>
                    <a:pt x="34893" y="1106456"/>
                  </a:lnTo>
                  <a:lnTo>
                    <a:pt x="54450" y="1111700"/>
                  </a:lnTo>
                  <a:lnTo>
                    <a:pt x="68108" y="1114741"/>
                  </a:lnTo>
                  <a:lnTo>
                    <a:pt x="60214" y="1103641"/>
                  </a:lnTo>
                  <a:lnTo>
                    <a:pt x="30715" y="1103641"/>
                  </a:lnTo>
                  <a:lnTo>
                    <a:pt x="42201" y="1078309"/>
                  </a:lnTo>
                  <a:lnTo>
                    <a:pt x="54070" y="1078309"/>
                  </a:lnTo>
                  <a:lnTo>
                    <a:pt x="43231" y="1075391"/>
                  </a:lnTo>
                  <a:lnTo>
                    <a:pt x="34121" y="1072360"/>
                  </a:lnTo>
                  <a:close/>
                </a:path>
                <a:path w="1945640" h="1195070">
                  <a:moveTo>
                    <a:pt x="42201" y="1078309"/>
                  </a:moveTo>
                  <a:lnTo>
                    <a:pt x="30715" y="1103641"/>
                  </a:lnTo>
                  <a:lnTo>
                    <a:pt x="30526" y="1103641"/>
                  </a:lnTo>
                  <a:lnTo>
                    <a:pt x="58175" y="1100773"/>
                  </a:lnTo>
                  <a:lnTo>
                    <a:pt x="42201" y="1078309"/>
                  </a:lnTo>
                  <a:close/>
                </a:path>
                <a:path w="1945640" h="1195070">
                  <a:moveTo>
                    <a:pt x="58175" y="1100773"/>
                  </a:moveTo>
                  <a:lnTo>
                    <a:pt x="30526" y="1103641"/>
                  </a:lnTo>
                  <a:lnTo>
                    <a:pt x="60214" y="1103641"/>
                  </a:lnTo>
                  <a:lnTo>
                    <a:pt x="58175" y="1100773"/>
                  </a:lnTo>
                  <a:close/>
                </a:path>
                <a:path w="1945640" h="1195070">
                  <a:moveTo>
                    <a:pt x="54070" y="1078309"/>
                  </a:moveTo>
                  <a:lnTo>
                    <a:pt x="42201" y="1078309"/>
                  </a:lnTo>
                  <a:lnTo>
                    <a:pt x="58084" y="1100645"/>
                  </a:lnTo>
                  <a:lnTo>
                    <a:pt x="58175" y="1100773"/>
                  </a:lnTo>
                  <a:lnTo>
                    <a:pt x="96053" y="1096843"/>
                  </a:lnTo>
                  <a:lnTo>
                    <a:pt x="97732" y="1087877"/>
                  </a:lnTo>
                  <a:lnTo>
                    <a:pt x="82396" y="1085005"/>
                  </a:lnTo>
                  <a:lnTo>
                    <a:pt x="61449" y="1080296"/>
                  </a:lnTo>
                  <a:lnTo>
                    <a:pt x="54070" y="1078309"/>
                  </a:lnTo>
                  <a:close/>
                </a:path>
                <a:path w="1945640" h="1195070">
                  <a:moveTo>
                    <a:pt x="155979" y="1072360"/>
                  </a:moveTo>
                  <a:lnTo>
                    <a:pt x="34121" y="1072360"/>
                  </a:lnTo>
                  <a:lnTo>
                    <a:pt x="43231" y="1075391"/>
                  </a:lnTo>
                  <a:lnTo>
                    <a:pt x="61449" y="1080296"/>
                  </a:lnTo>
                  <a:lnTo>
                    <a:pt x="82396" y="1085005"/>
                  </a:lnTo>
                  <a:lnTo>
                    <a:pt x="97732" y="1087877"/>
                  </a:lnTo>
                  <a:lnTo>
                    <a:pt x="96053" y="1096843"/>
                  </a:lnTo>
                  <a:lnTo>
                    <a:pt x="128017" y="1093528"/>
                  </a:lnTo>
                  <a:lnTo>
                    <a:pt x="128953" y="1093528"/>
                  </a:lnTo>
                  <a:lnTo>
                    <a:pt x="129023" y="1093085"/>
                  </a:lnTo>
                  <a:lnTo>
                    <a:pt x="132284" y="1093085"/>
                  </a:lnTo>
                  <a:lnTo>
                    <a:pt x="150690" y="1091176"/>
                  </a:lnTo>
                  <a:lnTo>
                    <a:pt x="157124" y="1083276"/>
                  </a:lnTo>
                  <a:lnTo>
                    <a:pt x="155979" y="1072360"/>
                  </a:lnTo>
                  <a:close/>
                </a:path>
                <a:path w="1945640" h="1195070">
                  <a:moveTo>
                    <a:pt x="129023" y="1093085"/>
                  </a:moveTo>
                  <a:lnTo>
                    <a:pt x="128953" y="1093528"/>
                  </a:lnTo>
                  <a:lnTo>
                    <a:pt x="128017" y="1093528"/>
                  </a:lnTo>
                  <a:lnTo>
                    <a:pt x="130324" y="1093288"/>
                  </a:lnTo>
                  <a:lnTo>
                    <a:pt x="129023" y="1093085"/>
                  </a:lnTo>
                  <a:close/>
                </a:path>
                <a:path w="1945640" h="1195070">
                  <a:moveTo>
                    <a:pt x="132284" y="1093085"/>
                  </a:moveTo>
                  <a:lnTo>
                    <a:pt x="129023" y="1093085"/>
                  </a:lnTo>
                  <a:lnTo>
                    <a:pt x="130324" y="1093288"/>
                  </a:lnTo>
                  <a:lnTo>
                    <a:pt x="132284" y="1093085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69"/>
          <p:cNvSpPr txBox="1"/>
          <p:nvPr/>
        </p:nvSpPr>
        <p:spPr>
          <a:xfrm>
            <a:off x="6716869" y="3677347"/>
            <a:ext cx="4185920" cy="1302280"/>
          </a:xfrm>
          <a:prstGeom prst="rect">
            <a:avLst/>
          </a:prstGeom>
          <a:solidFill>
            <a:srgbClr val="85BD05"/>
          </a:solidFill>
          <a:ln w="21443">
            <a:solidFill>
              <a:srgbClr val="608A03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76835">
              <a:lnSpc>
                <a:spcPts val="3220"/>
              </a:lnSpc>
              <a:spcBef>
                <a:spcPts val="155"/>
              </a:spcBef>
            </a:pPr>
            <a:r>
              <a:rPr lang="zh-CN" altLang="en-US"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最佳模型</a:t>
            </a:r>
            <a:r>
              <a:rPr sz="2400" i="1" spc="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: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76835">
              <a:lnSpc>
                <a:spcPts val="3215"/>
              </a:lnSpc>
            </a:pPr>
            <a:r>
              <a:rPr lang="zh-CN" altLang="en-US" sz="2400" spc="-2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rPr>
              <a:t>最大化似然函数</a:t>
            </a:r>
            <a:r>
              <a:rPr lang="en-US" altLang="zh-CN" sz="2400" spc="-2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mbria Math" panose="02040503050406030204"/>
                <a:cs typeface="Cambria Math" panose="02040503050406030204"/>
              </a:rPr>
              <a:t>ℓ</a:t>
            </a:r>
            <a:r>
              <a:rPr sz="2400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400" spc="-20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w</a:t>
            </a:r>
            <a:r>
              <a:rPr sz="2400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76835">
              <a:lnSpc>
                <a:spcPts val="3595"/>
              </a:lnSpc>
            </a:pPr>
            <a:r>
              <a:rPr sz="2400" spc="25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ŵ</a:t>
            </a:r>
            <a:r>
              <a:rPr sz="2400" spc="-4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26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spc="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400" baseline="100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400" baseline="-2000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=1,</a:t>
            </a:r>
            <a:r>
              <a:rPr sz="2400" spc="4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82" baseline="100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400" spc="82" baseline="-2000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5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=0.5,</a:t>
            </a:r>
            <a:r>
              <a:rPr sz="2400" spc="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330" baseline="100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400" spc="330" baseline="-2000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2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=-</a:t>
            </a:r>
            <a:r>
              <a:rPr sz="2400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1.5)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5" name="object 70"/>
          <p:cNvGrpSpPr/>
          <p:nvPr/>
        </p:nvGrpSpPr>
        <p:grpSpPr>
          <a:xfrm>
            <a:off x="7436305" y="5038372"/>
            <a:ext cx="1426210" cy="828675"/>
            <a:chOff x="6884975" y="5032831"/>
            <a:chExt cx="1426210" cy="828675"/>
          </a:xfrm>
        </p:grpSpPr>
        <p:pic>
          <p:nvPicPr>
            <p:cNvPr id="146" name="object 7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84975" y="5032831"/>
              <a:ext cx="1425593" cy="828594"/>
            </a:xfrm>
            <a:prstGeom prst="rect">
              <a:avLst/>
            </a:prstGeom>
          </p:spPr>
        </p:pic>
        <p:sp>
          <p:nvSpPr>
            <p:cNvPr id="147" name="object 72"/>
            <p:cNvSpPr/>
            <p:nvPr/>
          </p:nvSpPr>
          <p:spPr>
            <a:xfrm>
              <a:off x="7066855" y="5048003"/>
              <a:ext cx="1207770" cy="684530"/>
            </a:xfrm>
            <a:custGeom>
              <a:avLst/>
              <a:gdLst/>
              <a:ahLst/>
              <a:cxnLst/>
              <a:rect l="l" t="t" r="r" b="b"/>
              <a:pathLst>
                <a:path w="1207770" h="684529">
                  <a:moveTo>
                    <a:pt x="1175523" y="0"/>
                  </a:moveTo>
                  <a:lnTo>
                    <a:pt x="1173773" y="28830"/>
                  </a:lnTo>
                  <a:lnTo>
                    <a:pt x="1168884" y="55747"/>
                  </a:lnTo>
                  <a:lnTo>
                    <a:pt x="1160906" y="82710"/>
                  </a:lnTo>
                  <a:lnTo>
                    <a:pt x="1158230" y="89102"/>
                  </a:lnTo>
                  <a:lnTo>
                    <a:pt x="1188080" y="101181"/>
                  </a:lnTo>
                  <a:lnTo>
                    <a:pt x="1191786" y="91752"/>
                  </a:lnTo>
                  <a:lnTo>
                    <a:pt x="1200586" y="61377"/>
                  </a:lnTo>
                  <a:lnTo>
                    <a:pt x="1205887" y="30760"/>
                  </a:lnTo>
                  <a:lnTo>
                    <a:pt x="1207637" y="1929"/>
                  </a:lnTo>
                  <a:lnTo>
                    <a:pt x="1175523" y="0"/>
                  </a:lnTo>
                  <a:close/>
                </a:path>
                <a:path w="1207770" h="684529">
                  <a:moveTo>
                    <a:pt x="1145981" y="117186"/>
                  </a:moveTo>
                  <a:lnTo>
                    <a:pt x="1135946" y="136604"/>
                  </a:lnTo>
                  <a:lnTo>
                    <a:pt x="1119065" y="163444"/>
                  </a:lnTo>
                  <a:lnTo>
                    <a:pt x="1099354" y="190082"/>
                  </a:lnTo>
                  <a:lnTo>
                    <a:pt x="1095339" y="194765"/>
                  </a:lnTo>
                  <a:lnTo>
                    <a:pt x="1119888" y="215552"/>
                  </a:lnTo>
                  <a:lnTo>
                    <a:pt x="1125241" y="209181"/>
                  </a:lnTo>
                  <a:lnTo>
                    <a:pt x="1146290" y="180530"/>
                  </a:lnTo>
                  <a:lnTo>
                    <a:pt x="1164509" y="151380"/>
                  </a:lnTo>
                  <a:lnTo>
                    <a:pt x="1174545" y="131942"/>
                  </a:lnTo>
                  <a:lnTo>
                    <a:pt x="1145981" y="117186"/>
                  </a:lnTo>
                  <a:close/>
                </a:path>
                <a:path w="1207770" h="684529">
                  <a:moveTo>
                    <a:pt x="1075010" y="218409"/>
                  </a:moveTo>
                  <a:lnTo>
                    <a:pt x="1051851" y="242551"/>
                  </a:lnTo>
                  <a:lnTo>
                    <a:pt x="1024266" y="268207"/>
                  </a:lnTo>
                  <a:lnTo>
                    <a:pt x="1006150" y="283384"/>
                  </a:lnTo>
                  <a:lnTo>
                    <a:pt x="1026839" y="308031"/>
                  </a:lnTo>
                  <a:lnTo>
                    <a:pt x="1046190" y="291747"/>
                  </a:lnTo>
                  <a:lnTo>
                    <a:pt x="1075062" y="264825"/>
                  </a:lnTo>
                  <a:lnTo>
                    <a:pt x="1098221" y="240683"/>
                  </a:lnTo>
                  <a:lnTo>
                    <a:pt x="1075010" y="218409"/>
                  </a:lnTo>
                  <a:close/>
                </a:path>
                <a:path w="1207770" h="684529">
                  <a:moveTo>
                    <a:pt x="981652" y="303003"/>
                  </a:moveTo>
                  <a:lnTo>
                    <a:pt x="961889" y="318041"/>
                  </a:lnTo>
                  <a:lnTo>
                    <a:pt x="927356" y="342065"/>
                  </a:lnTo>
                  <a:lnTo>
                    <a:pt x="903527" y="357242"/>
                  </a:lnTo>
                  <a:lnTo>
                    <a:pt x="920820" y="384364"/>
                  </a:lnTo>
                  <a:lnTo>
                    <a:pt x="945729" y="368461"/>
                  </a:lnTo>
                  <a:lnTo>
                    <a:pt x="981446" y="343614"/>
                  </a:lnTo>
                  <a:lnTo>
                    <a:pt x="1001158" y="328576"/>
                  </a:lnTo>
                  <a:lnTo>
                    <a:pt x="981652" y="303003"/>
                  </a:lnTo>
                  <a:close/>
                </a:path>
                <a:path w="1207770" h="684529">
                  <a:moveTo>
                    <a:pt x="876611" y="373670"/>
                  </a:moveTo>
                  <a:lnTo>
                    <a:pt x="852113" y="388003"/>
                  </a:lnTo>
                  <a:lnTo>
                    <a:pt x="811610" y="409793"/>
                  </a:lnTo>
                  <a:lnTo>
                    <a:pt x="792825" y="418681"/>
                  </a:lnTo>
                  <a:lnTo>
                    <a:pt x="806669" y="447749"/>
                  </a:lnTo>
                  <a:lnTo>
                    <a:pt x="826844" y="438120"/>
                  </a:lnTo>
                  <a:lnTo>
                    <a:pt x="868377" y="415763"/>
                  </a:lnTo>
                  <a:lnTo>
                    <a:pt x="892823" y="401430"/>
                  </a:lnTo>
                  <a:lnTo>
                    <a:pt x="876611" y="373670"/>
                  </a:lnTo>
                  <a:close/>
                </a:path>
                <a:path w="1207770" h="684529">
                  <a:moveTo>
                    <a:pt x="763799" y="432490"/>
                  </a:moveTo>
                  <a:lnTo>
                    <a:pt x="725200" y="450827"/>
                  </a:lnTo>
                  <a:lnTo>
                    <a:pt x="676204" y="470409"/>
                  </a:lnTo>
                  <a:lnTo>
                    <a:pt x="688144" y="500259"/>
                  </a:lnTo>
                  <a:lnTo>
                    <a:pt x="738992" y="479874"/>
                  </a:lnTo>
                  <a:lnTo>
                    <a:pt x="777591" y="461542"/>
                  </a:lnTo>
                  <a:lnTo>
                    <a:pt x="763799" y="432490"/>
                  </a:lnTo>
                  <a:close/>
                </a:path>
                <a:path w="1207770" h="684529">
                  <a:moveTo>
                    <a:pt x="646354" y="482349"/>
                  </a:moveTo>
                  <a:lnTo>
                    <a:pt x="632922" y="487738"/>
                  </a:lnTo>
                  <a:lnTo>
                    <a:pt x="555981" y="513347"/>
                  </a:lnTo>
                  <a:lnTo>
                    <a:pt x="566171" y="543866"/>
                  </a:lnTo>
                  <a:lnTo>
                    <a:pt x="644862" y="517608"/>
                  </a:lnTo>
                  <a:lnTo>
                    <a:pt x="658294" y="512225"/>
                  </a:lnTo>
                  <a:lnTo>
                    <a:pt x="646354" y="482349"/>
                  </a:lnTo>
                  <a:close/>
                </a:path>
                <a:path w="1207770" h="684529">
                  <a:moveTo>
                    <a:pt x="526183" y="522678"/>
                  </a:moveTo>
                  <a:lnTo>
                    <a:pt x="433390" y="547844"/>
                  </a:lnTo>
                  <a:lnTo>
                    <a:pt x="440532" y="578888"/>
                  </a:lnTo>
                  <a:lnTo>
                    <a:pt x="440595" y="579166"/>
                  </a:lnTo>
                  <a:lnTo>
                    <a:pt x="441779" y="578888"/>
                  </a:lnTo>
                  <a:lnTo>
                    <a:pt x="534571" y="553737"/>
                  </a:lnTo>
                  <a:lnTo>
                    <a:pt x="526183" y="522678"/>
                  </a:lnTo>
                  <a:close/>
                </a:path>
                <a:path w="1207770" h="684529">
                  <a:moveTo>
                    <a:pt x="402460" y="554339"/>
                  </a:moveTo>
                  <a:lnTo>
                    <a:pt x="327938" y="570083"/>
                  </a:lnTo>
                  <a:lnTo>
                    <a:pt x="308741" y="572975"/>
                  </a:lnTo>
                  <a:lnTo>
                    <a:pt x="313579" y="604781"/>
                  </a:lnTo>
                  <a:lnTo>
                    <a:pt x="334577" y="601543"/>
                  </a:lnTo>
                  <a:lnTo>
                    <a:pt x="409099" y="585821"/>
                  </a:lnTo>
                  <a:lnTo>
                    <a:pt x="402460" y="554339"/>
                  </a:lnTo>
                  <a:close/>
                </a:path>
                <a:path w="1207770" h="684529">
                  <a:moveTo>
                    <a:pt x="276935" y="577823"/>
                  </a:moveTo>
                  <a:lnTo>
                    <a:pt x="219912" y="586505"/>
                  </a:lnTo>
                  <a:lnTo>
                    <a:pt x="182187" y="589984"/>
                  </a:lnTo>
                  <a:lnTo>
                    <a:pt x="185172" y="622032"/>
                  </a:lnTo>
                  <a:lnTo>
                    <a:pt x="224749" y="618311"/>
                  </a:lnTo>
                  <a:lnTo>
                    <a:pt x="281773" y="609624"/>
                  </a:lnTo>
                  <a:lnTo>
                    <a:pt x="276935" y="577823"/>
                  </a:lnTo>
                  <a:close/>
                </a:path>
                <a:path w="1207770" h="684529">
                  <a:moveTo>
                    <a:pt x="123980" y="540030"/>
                  </a:moveTo>
                  <a:lnTo>
                    <a:pt x="118010" y="542276"/>
                  </a:lnTo>
                  <a:lnTo>
                    <a:pt x="0" y="616242"/>
                  </a:lnTo>
                  <a:lnTo>
                    <a:pt x="122436" y="682581"/>
                  </a:lnTo>
                  <a:lnTo>
                    <a:pt x="128552" y="684447"/>
                  </a:lnTo>
                  <a:lnTo>
                    <a:pt x="134698" y="683852"/>
                  </a:lnTo>
                  <a:lnTo>
                    <a:pt x="140167" y="681003"/>
                  </a:lnTo>
                  <a:lnTo>
                    <a:pt x="144257" y="676107"/>
                  </a:lnTo>
                  <a:lnTo>
                    <a:pt x="146124" y="669997"/>
                  </a:lnTo>
                  <a:lnTo>
                    <a:pt x="145531" y="663860"/>
                  </a:lnTo>
                  <a:lnTo>
                    <a:pt x="142680" y="658393"/>
                  </a:lnTo>
                  <a:lnTo>
                    <a:pt x="137773" y="654296"/>
                  </a:lnTo>
                  <a:lnTo>
                    <a:pt x="93941" y="630555"/>
                  </a:lnTo>
                  <a:lnTo>
                    <a:pt x="55891" y="630555"/>
                  </a:lnTo>
                  <a:lnTo>
                    <a:pt x="55837" y="628867"/>
                  </a:lnTo>
                  <a:lnTo>
                    <a:pt x="40451" y="628867"/>
                  </a:lnTo>
                  <a:lnTo>
                    <a:pt x="39525" y="601080"/>
                  </a:lnTo>
                  <a:lnTo>
                    <a:pt x="54947" y="601080"/>
                  </a:lnTo>
                  <a:lnTo>
                    <a:pt x="54862" y="598409"/>
                  </a:lnTo>
                  <a:lnTo>
                    <a:pt x="135096" y="569537"/>
                  </a:lnTo>
                  <a:lnTo>
                    <a:pt x="142450" y="553358"/>
                  </a:lnTo>
                  <a:lnTo>
                    <a:pt x="140191" y="547386"/>
                  </a:lnTo>
                  <a:lnTo>
                    <a:pt x="135785" y="542746"/>
                  </a:lnTo>
                  <a:lnTo>
                    <a:pt x="130143" y="540240"/>
                  </a:lnTo>
                  <a:lnTo>
                    <a:pt x="123980" y="540030"/>
                  </a:lnTo>
                  <a:close/>
                </a:path>
                <a:path w="1207770" h="684529">
                  <a:moveTo>
                    <a:pt x="63801" y="614229"/>
                  </a:moveTo>
                  <a:lnTo>
                    <a:pt x="55534" y="619412"/>
                  </a:lnTo>
                  <a:lnTo>
                    <a:pt x="55713" y="625007"/>
                  </a:lnTo>
                  <a:lnTo>
                    <a:pt x="55832" y="628722"/>
                  </a:lnTo>
                  <a:lnTo>
                    <a:pt x="55891" y="630555"/>
                  </a:lnTo>
                  <a:lnTo>
                    <a:pt x="91818" y="629404"/>
                  </a:lnTo>
                  <a:lnTo>
                    <a:pt x="63801" y="614229"/>
                  </a:lnTo>
                  <a:close/>
                </a:path>
                <a:path w="1207770" h="684529">
                  <a:moveTo>
                    <a:pt x="91818" y="629404"/>
                  </a:moveTo>
                  <a:lnTo>
                    <a:pt x="55891" y="630555"/>
                  </a:lnTo>
                  <a:lnTo>
                    <a:pt x="93941" y="630555"/>
                  </a:lnTo>
                  <a:lnTo>
                    <a:pt x="91818" y="629404"/>
                  </a:lnTo>
                  <a:close/>
                </a:path>
                <a:path w="1207770" h="684529">
                  <a:moveTo>
                    <a:pt x="150176" y="592980"/>
                  </a:moveTo>
                  <a:lnTo>
                    <a:pt x="110136" y="596701"/>
                  </a:lnTo>
                  <a:lnTo>
                    <a:pt x="90811" y="597298"/>
                  </a:lnTo>
                  <a:lnTo>
                    <a:pt x="63801" y="614229"/>
                  </a:lnTo>
                  <a:lnTo>
                    <a:pt x="91818" y="629404"/>
                  </a:lnTo>
                  <a:lnTo>
                    <a:pt x="113121" y="628722"/>
                  </a:lnTo>
                  <a:lnTo>
                    <a:pt x="153161" y="625007"/>
                  </a:lnTo>
                  <a:lnTo>
                    <a:pt x="150176" y="592980"/>
                  </a:lnTo>
                  <a:close/>
                </a:path>
                <a:path w="1207770" h="684529">
                  <a:moveTo>
                    <a:pt x="39525" y="601080"/>
                  </a:moveTo>
                  <a:lnTo>
                    <a:pt x="40323" y="625007"/>
                  </a:lnTo>
                  <a:lnTo>
                    <a:pt x="40447" y="628722"/>
                  </a:lnTo>
                  <a:lnTo>
                    <a:pt x="40451" y="628867"/>
                  </a:lnTo>
                  <a:lnTo>
                    <a:pt x="55534" y="619412"/>
                  </a:lnTo>
                  <a:lnTo>
                    <a:pt x="55219" y="609581"/>
                  </a:lnTo>
                  <a:lnTo>
                    <a:pt x="39525" y="601080"/>
                  </a:lnTo>
                  <a:close/>
                </a:path>
                <a:path w="1207770" h="684529">
                  <a:moveTo>
                    <a:pt x="55534" y="619412"/>
                  </a:moveTo>
                  <a:lnTo>
                    <a:pt x="40451" y="628867"/>
                  </a:lnTo>
                  <a:lnTo>
                    <a:pt x="55837" y="628867"/>
                  </a:lnTo>
                  <a:lnTo>
                    <a:pt x="55534" y="619412"/>
                  </a:lnTo>
                  <a:close/>
                </a:path>
                <a:path w="1207770" h="684529">
                  <a:moveTo>
                    <a:pt x="55219" y="609581"/>
                  </a:moveTo>
                  <a:lnTo>
                    <a:pt x="55368" y="614229"/>
                  </a:lnTo>
                  <a:lnTo>
                    <a:pt x="55433" y="616242"/>
                  </a:lnTo>
                  <a:lnTo>
                    <a:pt x="55534" y="619412"/>
                  </a:lnTo>
                  <a:lnTo>
                    <a:pt x="63801" y="614229"/>
                  </a:lnTo>
                  <a:lnTo>
                    <a:pt x="55219" y="609581"/>
                  </a:lnTo>
                  <a:close/>
                </a:path>
                <a:path w="1207770" h="684529">
                  <a:moveTo>
                    <a:pt x="90811" y="597298"/>
                  </a:moveTo>
                  <a:lnTo>
                    <a:pt x="54862" y="598409"/>
                  </a:lnTo>
                  <a:lnTo>
                    <a:pt x="55219" y="609581"/>
                  </a:lnTo>
                  <a:lnTo>
                    <a:pt x="63801" y="614229"/>
                  </a:lnTo>
                  <a:lnTo>
                    <a:pt x="90811" y="597298"/>
                  </a:lnTo>
                  <a:close/>
                </a:path>
                <a:path w="1207770" h="684529">
                  <a:moveTo>
                    <a:pt x="54947" y="601080"/>
                  </a:moveTo>
                  <a:lnTo>
                    <a:pt x="39525" y="601080"/>
                  </a:lnTo>
                  <a:lnTo>
                    <a:pt x="55219" y="609581"/>
                  </a:lnTo>
                  <a:lnTo>
                    <a:pt x="54947" y="60108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4" name="object 51"/>
          <p:cNvSpPr txBox="1"/>
          <p:nvPr/>
        </p:nvSpPr>
        <p:spPr>
          <a:xfrm>
            <a:off x="1357752" y="1276733"/>
            <a:ext cx="72383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dirty="0">
                <a:solidFill>
                  <a:srgbClr val="2B2728"/>
                </a:solidFill>
                <a:latin typeface="Arial" panose="020B0604020202020204"/>
                <a:cs typeface="Arial" panose="020B0604020202020204"/>
              </a:rPr>
              <a:t>对于所有可能的</a:t>
            </a:r>
            <a:r>
              <a:rPr sz="2400" spc="4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400" spc="60" baseline="-15000" dirty="0">
                <a:solidFill>
                  <a:srgbClr val="118CC4"/>
                </a:solidFill>
                <a:latin typeface="Tahoma" panose="020B0604030504040204"/>
                <a:cs typeface="Tahoma" panose="020B0604030504040204"/>
              </a:rPr>
              <a:t>0</a:t>
            </a:r>
            <a:r>
              <a:rPr sz="2400" spc="4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,w</a:t>
            </a:r>
            <a:r>
              <a:rPr sz="2400" spc="60" baseline="-15000" dirty="0">
                <a:solidFill>
                  <a:srgbClr val="118CC4"/>
                </a:solidFill>
                <a:latin typeface="Tahoma" panose="020B0604030504040204"/>
                <a:cs typeface="Tahoma" panose="020B0604030504040204"/>
              </a:rPr>
              <a:t>1</a:t>
            </a:r>
            <a:r>
              <a:rPr sz="2400" spc="4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,w</a:t>
            </a:r>
            <a:r>
              <a:rPr sz="2400" spc="60" baseline="-15000" dirty="0">
                <a:solidFill>
                  <a:srgbClr val="118CC4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lang="zh-CN" altLang="en-US" sz="2400" dirty="0">
                <a:solidFill>
                  <a:srgbClr val="2B2728"/>
                </a:solidFill>
                <a:latin typeface="Arial" panose="020B0604020202020204"/>
                <a:cs typeface="Arial" panose="020B0604020202020204"/>
              </a:rPr>
              <a:t>，选择似然性最大的</a:t>
            </a:r>
            <a:endParaRPr sz="2400" dirty="0">
              <a:solidFill>
                <a:srgbClr val="2B2728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课程安排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94248" y="1409700"/>
            <a:ext cx="9753598" cy="4359377"/>
            <a:chOff x="628652" y="1710813"/>
            <a:chExt cx="7954909" cy="3829664"/>
          </a:xfrm>
        </p:grpSpPr>
        <p:sp>
          <p:nvSpPr>
            <p:cNvPr id="5" name="Rectangle 6"/>
            <p:cNvSpPr/>
            <p:nvPr/>
          </p:nvSpPr>
          <p:spPr>
            <a:xfrm>
              <a:off x="628652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假设类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9"/>
            <p:cNvSpPr/>
            <p:nvPr/>
          </p:nvSpPr>
          <p:spPr>
            <a:xfrm>
              <a:off x="3419735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损失函数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10"/>
            <p:cNvSpPr/>
            <p:nvPr/>
          </p:nvSpPr>
          <p:spPr>
            <a:xfrm>
              <a:off x="6255726" y="1710813"/>
              <a:ext cx="2184605" cy="75708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优化算法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12"/>
            <p:cNvSpPr/>
            <p:nvPr/>
          </p:nvSpPr>
          <p:spPr>
            <a:xfrm>
              <a:off x="628652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</a:rPr>
                <a:t>特征简单加权和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sp>
          <p:nvSpPr>
            <p:cNvPr id="9" name="Rectangle 13"/>
            <p:cNvSpPr/>
            <p:nvPr/>
          </p:nvSpPr>
          <p:spPr>
            <a:xfrm>
              <a:off x="3419735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</a:rPr>
                <a:t>最大似然估计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sp>
          <p:nvSpPr>
            <p:cNvPr id="10" name="Rectangle 14"/>
            <p:cNvSpPr/>
            <p:nvPr/>
          </p:nvSpPr>
          <p:spPr>
            <a:xfrm>
              <a:off x="6255726" y="3190568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</a:rPr>
                <a:t>梯度上升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sp>
          <p:nvSpPr>
            <p:cNvPr id="11" name="Rectangle 15"/>
            <p:cNvSpPr/>
            <p:nvPr/>
          </p:nvSpPr>
          <p:spPr>
            <a:xfrm>
              <a:off x="628652" y="4783393"/>
              <a:ext cx="2184605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</a:rPr>
                <a:t>逻辑回归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sp>
          <p:nvSpPr>
            <p:cNvPr id="12" name="Rectangle 17"/>
            <p:cNvSpPr/>
            <p:nvPr/>
          </p:nvSpPr>
          <p:spPr>
            <a:xfrm>
              <a:off x="3751250" y="4783393"/>
              <a:ext cx="1816538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</a:rPr>
                <a:t>对数似然估计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sp>
          <p:nvSpPr>
            <p:cNvPr id="16" name="Rectangle 18"/>
            <p:cNvSpPr/>
            <p:nvPr/>
          </p:nvSpPr>
          <p:spPr>
            <a:xfrm>
              <a:off x="6112491" y="4783393"/>
              <a:ext cx="2471070" cy="757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随机梯度下降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Down Arrow 19"/>
            <p:cNvSpPr/>
            <p:nvPr/>
          </p:nvSpPr>
          <p:spPr>
            <a:xfrm>
              <a:off x="1573468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19" name="Down Arrow 20"/>
            <p:cNvSpPr/>
            <p:nvPr/>
          </p:nvSpPr>
          <p:spPr>
            <a:xfrm>
              <a:off x="1573468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0" name="Down Arrow 21"/>
            <p:cNvSpPr/>
            <p:nvPr/>
          </p:nvSpPr>
          <p:spPr>
            <a:xfrm>
              <a:off x="4364551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1" name="Down Arrow 22"/>
            <p:cNvSpPr/>
            <p:nvPr/>
          </p:nvSpPr>
          <p:spPr>
            <a:xfrm>
              <a:off x="4364551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2" name="Down Arrow 23"/>
            <p:cNvSpPr/>
            <p:nvPr/>
          </p:nvSpPr>
          <p:spPr>
            <a:xfrm>
              <a:off x="7200542" y="2509786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3" name="Down Arrow 24"/>
            <p:cNvSpPr/>
            <p:nvPr/>
          </p:nvSpPr>
          <p:spPr>
            <a:xfrm>
              <a:off x="7200542" y="4119717"/>
              <a:ext cx="294968" cy="550606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4" name="Plus 25"/>
            <p:cNvSpPr/>
            <p:nvPr/>
          </p:nvSpPr>
          <p:spPr>
            <a:xfrm>
              <a:off x="2942303" y="1892710"/>
              <a:ext cx="393290" cy="393290"/>
            </a:xfrm>
            <a:prstGeom prst="mathPlu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25" name="Plus 26"/>
            <p:cNvSpPr/>
            <p:nvPr/>
          </p:nvSpPr>
          <p:spPr>
            <a:xfrm>
              <a:off x="5719201" y="1892710"/>
              <a:ext cx="393290" cy="393290"/>
            </a:xfrm>
            <a:prstGeom prst="mathPlus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4818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逻辑回归：梯度上升优化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MLE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30048" y="967322"/>
            <a:ext cx="7627905" cy="59234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400" b="1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dirty="0"/>
              <a:t>最大化似然估计</a:t>
            </a:r>
            <a:endParaRPr lang="en-SG" altLang="zh-CN" dirty="0">
              <a:sym typeface="+mn-lt"/>
            </a:endParaRPr>
          </a:p>
        </p:txBody>
      </p:sp>
      <p:sp>
        <p:nvSpPr>
          <p:cNvPr id="2" name="object 3"/>
          <p:cNvSpPr txBox="1"/>
          <p:nvPr/>
        </p:nvSpPr>
        <p:spPr>
          <a:xfrm>
            <a:off x="6760193" y="3642570"/>
            <a:ext cx="1282065" cy="670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algn="ctr">
              <a:lnSpc>
                <a:spcPts val="2745"/>
              </a:lnSpc>
              <a:spcBef>
                <a:spcPts val="100"/>
              </a:spcBef>
            </a:pPr>
            <a:r>
              <a:rPr sz="2700" spc="-25" dirty="0">
                <a:solidFill>
                  <a:srgbClr val="5D5555"/>
                </a:solidFill>
                <a:latin typeface="Arial" panose="020B0604020202020204"/>
                <a:cs typeface="Arial" panose="020B0604020202020204"/>
              </a:rPr>
              <a:t>max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2325"/>
              </a:lnSpc>
            </a:pPr>
            <a:r>
              <a:rPr sz="2350" spc="65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250" spc="97" baseline="-19000" dirty="0">
                <a:solidFill>
                  <a:srgbClr val="118CC4"/>
                </a:solidFill>
                <a:latin typeface="Georgia" panose="02040502050405020303"/>
                <a:cs typeface="Georgia" panose="02040502050405020303"/>
              </a:rPr>
              <a:t>0</a:t>
            </a:r>
            <a:r>
              <a:rPr sz="2350" spc="65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,w</a:t>
            </a:r>
            <a:r>
              <a:rPr sz="2250" spc="97" baseline="-19000" dirty="0">
                <a:solidFill>
                  <a:srgbClr val="118CC4"/>
                </a:solidFill>
                <a:latin typeface="Georgia" panose="02040502050405020303"/>
                <a:cs typeface="Georgia" panose="02040502050405020303"/>
              </a:rPr>
              <a:t>1</a:t>
            </a:r>
            <a:r>
              <a:rPr sz="2350" spc="65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,w</a:t>
            </a:r>
            <a:r>
              <a:rPr sz="2250" spc="97" baseline="-19000" dirty="0">
                <a:solidFill>
                  <a:srgbClr val="118CC4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2250" baseline="-190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4"/>
          <p:cNvSpPr txBox="1"/>
          <p:nvPr/>
        </p:nvSpPr>
        <p:spPr>
          <a:xfrm>
            <a:off x="8042046" y="5147875"/>
            <a:ext cx="3071948" cy="31854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 marR="30480" indent="-635">
              <a:lnSpc>
                <a:spcPct val="104000"/>
              </a:lnSpc>
              <a:spcBef>
                <a:spcPts val="140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ℓ</a:t>
            </a:r>
            <a:r>
              <a:rPr sz="2000" dirty="0">
                <a:latin typeface="Arial" panose="020B0604020202020204"/>
                <a:cs typeface="Arial" panose="020B0604020202020204"/>
              </a:rPr>
              <a:t>(</a:t>
            </a:r>
            <a:r>
              <a:rPr sz="200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aseline="-14000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0</a:t>
            </a:r>
            <a:r>
              <a:rPr sz="2000" dirty="0">
                <a:latin typeface="Arial" panose="020B0604020202020204"/>
                <a:cs typeface="Arial" panose="020B0604020202020204"/>
              </a:rPr>
              <a:t>,</a:t>
            </a:r>
            <a:r>
              <a:rPr sz="200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aseline="-14000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1</a:t>
            </a:r>
            <a:r>
              <a:rPr sz="2000" dirty="0">
                <a:latin typeface="Arial" panose="020B0604020202020204"/>
                <a:cs typeface="Arial" panose="020B0604020202020204"/>
              </a:rPr>
              <a:t>,</a:t>
            </a:r>
            <a:r>
              <a:rPr sz="2000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aseline="-14000" dirty="0">
                <a:solidFill>
                  <a:srgbClr val="118CC4"/>
                </a:solidFill>
                <a:latin typeface="Lucida Sans Unicode" panose="020B0602030504020204"/>
                <a:cs typeface="Lucida Sans Unicode" panose="020B0602030504020204"/>
              </a:rPr>
              <a:t>2</a:t>
            </a:r>
            <a:r>
              <a:rPr sz="2000" dirty="0">
                <a:latin typeface="Arial" panose="020B0604020202020204"/>
                <a:cs typeface="Arial" panose="020B0604020202020204"/>
              </a:rPr>
              <a:t>)</a:t>
            </a:r>
            <a:r>
              <a:rPr sz="2000" spc="-170" dirty="0"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2000" dirty="0">
                <a:solidFill>
                  <a:srgbClr val="B0007E"/>
                </a:solidFill>
                <a:latin typeface="Arial" panose="020B0604020202020204"/>
                <a:cs typeface="Arial" panose="020B0604020202020204"/>
              </a:rPr>
              <a:t>为三变量函数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5"/>
          <p:cNvGrpSpPr/>
          <p:nvPr/>
        </p:nvGrpSpPr>
        <p:grpSpPr>
          <a:xfrm>
            <a:off x="1021801" y="2195370"/>
            <a:ext cx="9892030" cy="3396615"/>
            <a:chOff x="199609" y="2195370"/>
            <a:chExt cx="9892030" cy="3396615"/>
          </a:xfrm>
        </p:grpSpPr>
        <p:pic>
          <p:nvPicPr>
            <p:cNvPr id="5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903992" y="4456418"/>
              <a:ext cx="869766" cy="725663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7940378" y="4692732"/>
              <a:ext cx="584835" cy="436880"/>
            </a:xfrm>
            <a:custGeom>
              <a:avLst/>
              <a:gdLst/>
              <a:ahLst/>
              <a:cxnLst/>
              <a:rect l="l" t="t" r="r" b="b"/>
              <a:pathLst>
                <a:path w="584834" h="436879">
                  <a:moveTo>
                    <a:pt x="507083" y="56554"/>
                  </a:moveTo>
                  <a:lnTo>
                    <a:pt x="459464" y="61518"/>
                  </a:lnTo>
                  <a:lnTo>
                    <a:pt x="0" y="397812"/>
                  </a:lnTo>
                  <a:lnTo>
                    <a:pt x="28511" y="436751"/>
                  </a:lnTo>
                  <a:lnTo>
                    <a:pt x="487938" y="100485"/>
                  </a:lnTo>
                  <a:lnTo>
                    <a:pt x="507083" y="56554"/>
                  </a:lnTo>
                  <a:close/>
                </a:path>
                <a:path w="584834" h="436879">
                  <a:moveTo>
                    <a:pt x="580503" y="8805"/>
                  </a:moveTo>
                  <a:lnTo>
                    <a:pt x="531484" y="8805"/>
                  </a:lnTo>
                  <a:lnTo>
                    <a:pt x="559995" y="47744"/>
                  </a:lnTo>
                  <a:lnTo>
                    <a:pt x="487938" y="100485"/>
                  </a:lnTo>
                  <a:lnTo>
                    <a:pt x="456653" y="172270"/>
                  </a:lnTo>
                  <a:lnTo>
                    <a:pt x="454655" y="181640"/>
                  </a:lnTo>
                  <a:lnTo>
                    <a:pt x="456344" y="190736"/>
                  </a:lnTo>
                  <a:lnTo>
                    <a:pt x="461314" y="198541"/>
                  </a:lnTo>
                  <a:lnTo>
                    <a:pt x="469159" y="204034"/>
                  </a:lnTo>
                  <a:lnTo>
                    <a:pt x="478521" y="206038"/>
                  </a:lnTo>
                  <a:lnTo>
                    <a:pt x="487622" y="204357"/>
                  </a:lnTo>
                  <a:lnTo>
                    <a:pt x="495430" y="199394"/>
                  </a:lnTo>
                  <a:lnTo>
                    <a:pt x="500913" y="191549"/>
                  </a:lnTo>
                  <a:lnTo>
                    <a:pt x="580503" y="8805"/>
                  </a:lnTo>
                  <a:close/>
                </a:path>
                <a:path w="584834" h="436879">
                  <a:moveTo>
                    <a:pt x="538681" y="18635"/>
                  </a:moveTo>
                  <a:lnTo>
                    <a:pt x="523609" y="18635"/>
                  </a:lnTo>
                  <a:lnTo>
                    <a:pt x="548210" y="52268"/>
                  </a:lnTo>
                  <a:lnTo>
                    <a:pt x="507083" y="56554"/>
                  </a:lnTo>
                  <a:lnTo>
                    <a:pt x="487938" y="100485"/>
                  </a:lnTo>
                  <a:lnTo>
                    <a:pt x="559995" y="47744"/>
                  </a:lnTo>
                  <a:lnTo>
                    <a:pt x="538681" y="18635"/>
                  </a:lnTo>
                  <a:close/>
                </a:path>
                <a:path w="584834" h="436879">
                  <a:moveTo>
                    <a:pt x="584339" y="0"/>
                  </a:moveTo>
                  <a:lnTo>
                    <a:pt x="376521" y="21651"/>
                  </a:lnTo>
                  <a:lnTo>
                    <a:pt x="355098" y="47744"/>
                  </a:lnTo>
                  <a:lnTo>
                    <a:pt x="355060" y="48145"/>
                  </a:lnTo>
                  <a:lnTo>
                    <a:pt x="357920" y="57287"/>
                  </a:lnTo>
                  <a:lnTo>
                    <a:pt x="363854" y="64374"/>
                  </a:lnTo>
                  <a:lnTo>
                    <a:pt x="372017" y="68720"/>
                  </a:lnTo>
                  <a:lnTo>
                    <a:pt x="381565" y="69637"/>
                  </a:lnTo>
                  <a:lnTo>
                    <a:pt x="459464" y="61518"/>
                  </a:lnTo>
                  <a:lnTo>
                    <a:pt x="531484" y="8805"/>
                  </a:lnTo>
                  <a:lnTo>
                    <a:pt x="580503" y="8805"/>
                  </a:lnTo>
                  <a:lnTo>
                    <a:pt x="584339" y="0"/>
                  </a:lnTo>
                  <a:close/>
                </a:path>
                <a:path w="584834" h="436879">
                  <a:moveTo>
                    <a:pt x="531484" y="8805"/>
                  </a:moveTo>
                  <a:lnTo>
                    <a:pt x="459464" y="61518"/>
                  </a:lnTo>
                  <a:lnTo>
                    <a:pt x="507083" y="56554"/>
                  </a:lnTo>
                  <a:lnTo>
                    <a:pt x="523609" y="18635"/>
                  </a:lnTo>
                  <a:lnTo>
                    <a:pt x="538681" y="18635"/>
                  </a:lnTo>
                  <a:lnTo>
                    <a:pt x="531484" y="8805"/>
                  </a:lnTo>
                  <a:close/>
                </a:path>
                <a:path w="584834" h="436879">
                  <a:moveTo>
                    <a:pt x="523609" y="18635"/>
                  </a:moveTo>
                  <a:lnTo>
                    <a:pt x="507083" y="56554"/>
                  </a:lnTo>
                  <a:lnTo>
                    <a:pt x="548210" y="52268"/>
                  </a:lnTo>
                  <a:lnTo>
                    <a:pt x="523609" y="18635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83475" y="4322608"/>
              <a:ext cx="2907799" cy="442603"/>
            </a:xfrm>
            <a:prstGeom prst="rect">
              <a:avLst/>
            </a:prstGeom>
          </p:spPr>
        </p:pic>
        <p:sp>
          <p:nvSpPr>
            <p:cNvPr id="8" name="object 9"/>
            <p:cNvSpPr/>
            <p:nvPr/>
          </p:nvSpPr>
          <p:spPr>
            <a:xfrm>
              <a:off x="7242351" y="4339869"/>
              <a:ext cx="2788285" cy="349885"/>
            </a:xfrm>
            <a:custGeom>
              <a:avLst/>
              <a:gdLst/>
              <a:ahLst/>
              <a:cxnLst/>
              <a:rect l="l" t="t" r="r" b="b"/>
              <a:pathLst>
                <a:path w="2788284" h="349885">
                  <a:moveTo>
                    <a:pt x="2787730" y="0"/>
                  </a:moveTo>
                  <a:lnTo>
                    <a:pt x="2785444" y="68097"/>
                  </a:lnTo>
                  <a:lnTo>
                    <a:pt x="2779206" y="123706"/>
                  </a:lnTo>
                  <a:lnTo>
                    <a:pt x="2769948" y="161198"/>
                  </a:lnTo>
                  <a:lnTo>
                    <a:pt x="2758601" y="174946"/>
                  </a:lnTo>
                  <a:lnTo>
                    <a:pt x="1423020" y="174946"/>
                  </a:lnTo>
                  <a:lnTo>
                    <a:pt x="1411673" y="188693"/>
                  </a:lnTo>
                  <a:lnTo>
                    <a:pt x="1402415" y="226184"/>
                  </a:lnTo>
                  <a:lnTo>
                    <a:pt x="1396177" y="281791"/>
                  </a:lnTo>
                  <a:lnTo>
                    <a:pt x="1393891" y="349888"/>
                  </a:lnTo>
                  <a:lnTo>
                    <a:pt x="1391596" y="281791"/>
                  </a:lnTo>
                  <a:lnTo>
                    <a:pt x="1385341" y="226184"/>
                  </a:lnTo>
                  <a:lnTo>
                    <a:pt x="1376065" y="188693"/>
                  </a:lnTo>
                  <a:lnTo>
                    <a:pt x="1364710" y="174946"/>
                  </a:lnTo>
                  <a:lnTo>
                    <a:pt x="29180" y="174946"/>
                  </a:lnTo>
                  <a:lnTo>
                    <a:pt x="17825" y="161198"/>
                  </a:lnTo>
                  <a:lnTo>
                    <a:pt x="8549" y="123706"/>
                  </a:lnTo>
                  <a:lnTo>
                    <a:pt x="2294" y="68097"/>
                  </a:lnTo>
                  <a:lnTo>
                    <a:pt x="0" y="0"/>
                  </a:lnTo>
                </a:path>
              </a:pathLst>
            </a:custGeom>
            <a:ln w="48248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3544" y="3226393"/>
              <a:ext cx="859473" cy="792568"/>
            </a:xfrm>
            <a:prstGeom prst="rect">
              <a:avLst/>
            </a:prstGeom>
          </p:spPr>
        </p:pic>
        <p:sp>
          <p:nvSpPr>
            <p:cNvPr id="10" name="object 11"/>
            <p:cNvSpPr/>
            <p:nvPr/>
          </p:nvSpPr>
          <p:spPr>
            <a:xfrm>
              <a:off x="6733152" y="3247993"/>
              <a:ext cx="572770" cy="503555"/>
            </a:xfrm>
            <a:custGeom>
              <a:avLst/>
              <a:gdLst/>
              <a:ahLst/>
              <a:cxnLst/>
              <a:rect l="l" t="t" r="r" b="b"/>
              <a:pathLst>
                <a:path w="572770" h="503554">
                  <a:moveTo>
                    <a:pt x="87928" y="289257"/>
                  </a:moveTo>
                  <a:lnTo>
                    <a:pt x="79012" y="291701"/>
                  </a:lnTo>
                  <a:lnTo>
                    <a:pt x="71659" y="297311"/>
                  </a:lnTo>
                  <a:lnTo>
                    <a:pt x="66853" y="305602"/>
                  </a:lnTo>
                  <a:lnTo>
                    <a:pt x="0" y="503543"/>
                  </a:lnTo>
                  <a:lnTo>
                    <a:pt x="69392" y="490275"/>
                  </a:lnTo>
                  <a:lnTo>
                    <a:pt x="51928" y="490275"/>
                  </a:lnTo>
                  <a:lnTo>
                    <a:pt x="20225" y="453910"/>
                  </a:lnTo>
                  <a:lnTo>
                    <a:pt x="87480" y="395273"/>
                  </a:lnTo>
                  <a:lnTo>
                    <a:pt x="112555" y="321041"/>
                  </a:lnTo>
                  <a:lnTo>
                    <a:pt x="113766" y="311537"/>
                  </a:lnTo>
                  <a:lnTo>
                    <a:pt x="111319" y="302617"/>
                  </a:lnTo>
                  <a:lnTo>
                    <a:pt x="105708" y="295265"/>
                  </a:lnTo>
                  <a:lnTo>
                    <a:pt x="97424" y="290466"/>
                  </a:lnTo>
                  <a:lnTo>
                    <a:pt x="87928" y="289257"/>
                  </a:lnTo>
                  <a:close/>
                </a:path>
                <a:path w="572770" h="503554">
                  <a:moveTo>
                    <a:pt x="87480" y="395273"/>
                  </a:moveTo>
                  <a:lnTo>
                    <a:pt x="20225" y="453910"/>
                  </a:lnTo>
                  <a:lnTo>
                    <a:pt x="51928" y="490275"/>
                  </a:lnTo>
                  <a:lnTo>
                    <a:pt x="63940" y="479802"/>
                  </a:lnTo>
                  <a:lnTo>
                    <a:pt x="58927" y="479802"/>
                  </a:lnTo>
                  <a:lnTo>
                    <a:pt x="31548" y="448377"/>
                  </a:lnTo>
                  <a:lnTo>
                    <a:pt x="72165" y="440613"/>
                  </a:lnTo>
                  <a:lnTo>
                    <a:pt x="87480" y="395273"/>
                  </a:lnTo>
                  <a:close/>
                </a:path>
                <a:path w="572770" h="503554">
                  <a:moveTo>
                    <a:pt x="205731" y="417010"/>
                  </a:moveTo>
                  <a:lnTo>
                    <a:pt x="195644" y="417010"/>
                  </a:lnTo>
                  <a:lnTo>
                    <a:pt x="119196" y="431623"/>
                  </a:lnTo>
                  <a:lnTo>
                    <a:pt x="51928" y="490275"/>
                  </a:lnTo>
                  <a:lnTo>
                    <a:pt x="69392" y="490275"/>
                  </a:lnTo>
                  <a:lnTo>
                    <a:pt x="205244" y="464300"/>
                  </a:lnTo>
                  <a:lnTo>
                    <a:pt x="224389" y="436077"/>
                  </a:lnTo>
                  <a:lnTo>
                    <a:pt x="220756" y="427208"/>
                  </a:lnTo>
                  <a:lnTo>
                    <a:pt x="214237" y="420647"/>
                  </a:lnTo>
                  <a:lnTo>
                    <a:pt x="205731" y="417010"/>
                  </a:lnTo>
                  <a:close/>
                </a:path>
                <a:path w="572770" h="503554">
                  <a:moveTo>
                    <a:pt x="72165" y="440613"/>
                  </a:moveTo>
                  <a:lnTo>
                    <a:pt x="31548" y="448377"/>
                  </a:lnTo>
                  <a:lnTo>
                    <a:pt x="58927" y="479802"/>
                  </a:lnTo>
                  <a:lnTo>
                    <a:pt x="72165" y="440613"/>
                  </a:lnTo>
                  <a:close/>
                </a:path>
                <a:path w="572770" h="503554">
                  <a:moveTo>
                    <a:pt x="119196" y="431623"/>
                  </a:moveTo>
                  <a:lnTo>
                    <a:pt x="72165" y="440613"/>
                  </a:lnTo>
                  <a:lnTo>
                    <a:pt x="58927" y="479802"/>
                  </a:lnTo>
                  <a:lnTo>
                    <a:pt x="63940" y="479802"/>
                  </a:lnTo>
                  <a:lnTo>
                    <a:pt x="119196" y="431623"/>
                  </a:lnTo>
                  <a:close/>
                </a:path>
                <a:path w="572770" h="503554">
                  <a:moveTo>
                    <a:pt x="540850" y="0"/>
                  </a:moveTo>
                  <a:lnTo>
                    <a:pt x="87480" y="395273"/>
                  </a:lnTo>
                  <a:lnTo>
                    <a:pt x="72165" y="440613"/>
                  </a:lnTo>
                  <a:lnTo>
                    <a:pt x="119196" y="431623"/>
                  </a:lnTo>
                  <a:lnTo>
                    <a:pt x="572553" y="36334"/>
                  </a:lnTo>
                  <a:lnTo>
                    <a:pt x="540850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609" y="2195370"/>
              <a:ext cx="5468155" cy="3396520"/>
            </a:xfrm>
            <a:prstGeom prst="rect">
              <a:avLst/>
            </a:prstGeom>
          </p:spPr>
        </p:pic>
      </p:grpSp>
      <p:sp>
        <p:nvSpPr>
          <p:cNvPr id="12" name="object 13"/>
          <p:cNvSpPr txBox="1"/>
          <p:nvPr/>
        </p:nvSpPr>
        <p:spPr>
          <a:xfrm>
            <a:off x="7220208" y="2547474"/>
            <a:ext cx="3632620" cy="74526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 marR="30480">
              <a:lnSpc>
                <a:spcPct val="103000"/>
              </a:lnSpc>
              <a:spcBef>
                <a:spcPts val="5"/>
              </a:spcBef>
            </a:pPr>
            <a:r>
              <a:rPr lang="zh-CN" altLang="en-US" sz="2400" dirty="0">
                <a:solidFill>
                  <a:srgbClr val="B0007E"/>
                </a:solidFill>
                <a:latin typeface="Arial" panose="020B0604020202020204"/>
                <a:cs typeface="Arial" panose="020B0604020202020204"/>
              </a:rPr>
              <a:t>对于所有可能的</a:t>
            </a:r>
            <a:r>
              <a:rPr lang="en-US" altLang="zh-CN" sz="2400" spc="65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lang="en-US" altLang="zh-CN" sz="2400" spc="97" baseline="-11000" dirty="0">
                <a:solidFill>
                  <a:srgbClr val="118CC4"/>
                </a:solidFill>
                <a:latin typeface="Georgia" panose="02040502050405020303"/>
                <a:cs typeface="Georgia" panose="02040502050405020303"/>
              </a:rPr>
              <a:t>0</a:t>
            </a:r>
            <a:r>
              <a:rPr lang="en-US" altLang="zh-CN" sz="2400" spc="65" dirty="0">
                <a:solidFill>
                  <a:srgbClr val="118CC4"/>
                </a:solidFill>
                <a:latin typeface="Advent Pro" panose="02000506040000020004" charset="0"/>
                <a:cs typeface="Advent Pro" panose="02000506040000020004" charset="0"/>
              </a:rPr>
              <a:t>,</a:t>
            </a:r>
            <a:r>
              <a:rPr lang="en-US" altLang="zh-CN" sz="2400" spc="65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lang="en-US" altLang="zh-CN" sz="2400" spc="97" baseline="-11000" dirty="0">
                <a:solidFill>
                  <a:srgbClr val="118CC4"/>
                </a:solidFill>
                <a:latin typeface="Georgia" panose="02040502050405020303"/>
                <a:cs typeface="Georgia" panose="02040502050405020303"/>
              </a:rPr>
              <a:t>1</a:t>
            </a:r>
            <a:r>
              <a:rPr lang="en-US" altLang="zh-CN" sz="2400" spc="65" dirty="0">
                <a:solidFill>
                  <a:srgbClr val="118CC4"/>
                </a:solidFill>
                <a:latin typeface="Advent Pro" panose="02000506040000020004" charset="0"/>
                <a:cs typeface="Advent Pro" panose="02000506040000020004" charset="0"/>
              </a:rPr>
              <a:t>,</a:t>
            </a:r>
            <a:r>
              <a:rPr lang="en-US" altLang="zh-CN" sz="2400" spc="65" dirty="0">
                <a:solidFill>
                  <a:srgbClr val="118CC4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lang="en-US" altLang="zh-CN" sz="2400" spc="97" baseline="-11000" dirty="0">
                <a:solidFill>
                  <a:srgbClr val="118CC4"/>
                </a:solidFill>
                <a:latin typeface="Georgia" panose="02040502050405020303"/>
                <a:cs typeface="Georgia" panose="02040502050405020303"/>
              </a:rPr>
              <a:t>2 </a:t>
            </a:r>
            <a:r>
              <a:rPr lang="zh-CN" altLang="en-US" sz="2400" dirty="0">
                <a:solidFill>
                  <a:srgbClr val="B0007E"/>
                </a:solidFill>
                <a:latin typeface="Arial" panose="020B0604020202020204"/>
                <a:cs typeface="Arial" panose="020B0604020202020204"/>
              </a:rPr>
              <a:t>，最大化函数</a:t>
            </a:r>
            <a:endParaRPr sz="2400" baseline="-11000" dirty="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722" y="3385017"/>
            <a:ext cx="2247760" cy="9959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逻辑回归：对数似然估计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878177" y="964740"/>
                <a:ext cx="10426167" cy="744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P</m:t>
                    </m:r>
                    <m:d>
                      <m:dPr>
                        <m:ctrlPr>
                          <a:rPr lang="en-US" altLang="zh-CN" sz="2800" b="0" i="1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y</m:t>
                        </m:r>
                        <m:r>
                          <a:rPr lang="en-US" altLang="zh-CN" sz="2800" b="0" i="0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=+</m:t>
                        </m:r>
                        <m:r>
                          <a:rPr lang="en-US" altLang="zh-CN" sz="2800" b="0" i="0" spc="60" smtClean="0">
                            <a:solidFill>
                              <a:srgbClr val="0099E8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1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altLang="zh-CN" sz="2800" b="0" i="0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x</m:t>
                        </m:r>
                      </m:e>
                    </m:d>
                    <m:r>
                      <a:rPr lang="en-US" altLang="zh-CN" sz="2800" b="0" i="0" spc="60" smtClean="0">
                        <a:solidFill>
                          <a:srgbClr val="B0007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</m:oMath>
                </a14:m>
                <a:r>
                  <a:rPr lang="en-US" altLang="zh-CN" sz="2800" spc="60" dirty="0">
                    <a:solidFill>
                      <a:srgbClr val="B0007E"/>
                    </a:solidFill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pc="60" smtClean="0">
                        <a:solidFill>
                          <a:srgbClr val="85BE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sigmoid</m:t>
                    </m:r>
                    <m:d>
                      <m:dPr>
                        <m:ctrlPr>
                          <a:rPr lang="en-US" altLang="zh-CN" sz="2800" b="0" i="1" spc="60" smtClean="0">
                            <a:solidFill>
                              <a:srgbClr val="85BE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2800" b="0" i="0" spc="60" smtClean="0">
                            <a:solidFill>
                              <a:srgbClr val="B0007E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core</m:t>
                        </m:r>
                        <m:d>
                          <m:dPr>
                            <m:ctrlPr>
                              <a:rPr lang="en-US" altLang="zh-CN" sz="28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en-US" altLang="zh-CN" sz="2800" b="1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altLang="zh-CN" sz="2800" b="0" i="1" spc="6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sz="2800" b="0" i="1" spc="60" smtClean="0">
                        <a:solidFill>
                          <a:srgbClr val="85BE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σ</m:t>
                    </m:r>
                    <m:d>
                      <m:dPr>
                        <m:ctrlPr>
                          <a:rPr lang="en-US" altLang="zh-CN" sz="2800" b="0" i="1" spc="60" smtClean="0">
                            <a:solidFill>
                              <a:srgbClr val="85BE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b="1" i="1" spc="6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pPr>
                          <m:e>
                            <m:r>
                              <a:rPr lang="en-US" altLang="zh-CN" sz="2800" b="1" i="1" spc="60" smtClean="0">
                                <a:solidFill>
                                  <a:srgbClr val="0099E8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800" b="1" i="1" spc="6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⊺</m:t>
                            </m:r>
                          </m:sup>
                        </m:sSup>
                        <m:r>
                          <a:rPr lang="en-US" altLang="zh-CN" sz="2800" b="1" i="1" spc="6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𝝓</m:t>
                        </m:r>
                        <m:d>
                          <m:dPr>
                            <m:ctrlPr>
                              <a:rPr lang="en-US" altLang="zh-CN" sz="2800" b="1" i="1" spc="6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en-US" altLang="zh-CN" sz="2800" b="1" i="1" spc="6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altLang="zh-CN" sz="2800" b="0" i="1" spc="6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f>
                      <m:fPr>
                        <m:ctrlPr>
                          <a:rPr lang="en-US" altLang="zh-CN" sz="2800" b="1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fPr>
                      <m:num>
                        <m:r>
                          <a:rPr lang="en-US" altLang="zh-CN" sz="2800" b="1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𝟏</m:t>
                        </m:r>
                        <m:r>
                          <a:rPr lang="en-US" altLang="zh-CN" sz="2800" b="1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b="1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pPr>
                          <m:e>
                            <m:r>
                              <a:rPr lang="en-US" altLang="zh-CN" sz="2800" b="1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800" b="1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800" b="1" i="1" spc="6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1" spc="60" smtClean="0">
                                    <a:solidFill>
                                      <a:srgbClr val="0099E8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800" b="1" i="1" spc="6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  <m:t>⊺</m:t>
                                </m:r>
                              </m:sup>
                            </m:sSup>
                            <m:r>
                              <a:rPr lang="en-US" altLang="zh-CN" sz="2800" b="1" i="1" spc="6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𝝓</m:t>
                            </m:r>
                            <m:d>
                              <m:dPr>
                                <m:ctrlPr>
                                  <a:rPr lang="en-US" altLang="zh-CN" sz="2800" b="1" i="1" spc="6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spc="6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  <m:t>𝒙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en-SG" altLang="zh-CN" sz="2800" b="1" spc="60" dirty="0">
                  <a:latin typeface="微软雅黑" panose="020B0503020204020204" pitchFamily="34" charset="-122"/>
                  <a:ea typeface="Cambria Math" panose="02040503050406030204" pitchFamily="18" charset="0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77" y="964740"/>
                <a:ext cx="10426167" cy="744050"/>
              </a:xfrm>
              <a:prstGeom prst="rect">
                <a:avLst/>
              </a:prstGeom>
              <a:blipFill rotWithShape="1">
                <a:blip r:embed="rId1"/>
                <a:stretch>
                  <a:fillRect l="-6" t="-24" r="1" b="-58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72512" y="1776588"/>
                <a:ext cx="11646976" cy="3516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:r>
                  <a:rPr lang="zh-CN" altLang="en-US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对于包含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pc="6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N</m:t>
                    </m:r>
                  </m:oMath>
                </a14:m>
                <a:r>
                  <a:rPr lang="zh-CN" altLang="en-US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个样本的数据集</a:t>
                </a:r>
                <a:r>
                  <a:rPr lang="zh-CN" altLang="en-US" sz="280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，即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bSupPr>
                      <m:e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{(</m:t>
                        </m:r>
                        <m:sSub>
                          <m:sSubPr>
                            <m:ctrlPr>
                              <a:rPr lang="en-US" altLang="zh-CN" sz="28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)}</m:t>
                        </m:r>
                      </m:e>
                      <m:sub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𝑖</m:t>
                        </m:r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=</m:t>
                        </m:r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zh-CN" altLang="en-US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，似然（</a:t>
                </a:r>
                <a:r>
                  <a:rPr lang="en-US" altLang="zh-CN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likelihood)</a:t>
                </a:r>
                <a:r>
                  <a:rPr lang="zh-CN" altLang="en-US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估计为：</a:t>
                </a:r>
                <a:endParaRPr lang="en-US" altLang="zh-CN" sz="2800" b="0" i="0" spc="60" dirty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pc="6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𝑤</m:t>
                              </m:r>
                            </m:e>
                          </m:d>
                          <m: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=</m:t>
                          </m:r>
                          <m:nary>
                            <m:naryPr>
                              <m:chr m:val="∏"/>
                              <m:ctrlP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𝑖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=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𝑃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800" b="0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800" b="0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2800" b="0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0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,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𝑤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SG" altLang="zh-CN" sz="2800" b="0" i="0" spc="60" dirty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:r>
                  <a:rPr lang="zh-CN" altLang="en-US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重写为对数似然</a:t>
                </a:r>
                <a:r>
                  <a:rPr lang="en-US" altLang="zh-CN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(log-likelihood)</a:t>
                </a:r>
                <a:r>
                  <a:rPr lang="zh-CN" altLang="en-US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估计：</a:t>
                </a:r>
                <a:endParaRPr lang="en-US" altLang="zh-CN" sz="2800" b="0" i="0" spc="60" dirty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pc="6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𝑙𝑙</m:t>
                          </m:r>
                          <m:d>
                            <m:dPr>
                              <m:ctrlP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𝑤</m:t>
                              </m:r>
                            </m:e>
                          </m:d>
                          <m: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𝑖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=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𝑁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log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⁡(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𝑃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800" b="0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800" b="0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2800" b="0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0" i="1" spc="6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,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𝑤</m:t>
                              </m:r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))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SG" altLang="zh-CN" sz="2800" b="0" i="0" spc="60" dirty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12" y="1776588"/>
                <a:ext cx="11646976" cy="3516155"/>
              </a:xfrm>
              <a:prstGeom prst="rect">
                <a:avLst/>
              </a:prstGeom>
              <a:blipFill rotWithShape="1">
                <a:blip r:embed="rId2"/>
                <a:stretch>
                  <a:fillRect l="-1" t="-14" r="5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72512" y="5360541"/>
                <a:ext cx="11910010" cy="1338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860"/>
                  </a:spcBef>
                </a:pPr>
                <a14:m>
                  <m:oMath xmlns:m="http://schemas.openxmlformats.org/officeDocument/2006/math">
                    <m:r>
                      <a:rPr lang="en-US" altLang="zh-CN" sz="2800" b="0" i="1" spc="6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𝑙𝑙</m:t>
                    </m:r>
                    <m:d>
                      <m:dPr>
                        <m:ctrl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𝑤</m:t>
                        </m:r>
                      </m:e>
                    </m:d>
                    <m:r>
                      <a:rPr lang="en-US" altLang="zh-CN" sz="2800" b="0" i="1" spc="6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𝑖</m:t>
                        </m:r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=</m:t>
                        </m:r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sz="2800" b="0" i="0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log</m:t>
                        </m:r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⁡(</m:t>
                        </m:r>
                        <m:r>
                          <a:rPr lang="en-US" altLang="zh-CN" sz="2800" b="0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𝑃</m:t>
                        </m:r>
                        <m:r>
                          <a:rPr lang="en-US" altLang="zh-CN" sz="2800" b="0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=+</m:t>
                        </m:r>
                        <m:r>
                          <a:rPr lang="en-US" altLang="zh-CN" sz="2800" b="0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1</m:t>
                        </m:r>
                        <m:r>
                          <a:rPr lang="en-US" altLang="zh-CN" sz="2800" b="0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,</m:t>
                        </m:r>
                        <m:r>
                          <a:rPr lang="en-US" altLang="zh-CN" sz="2800" b="0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𝑤</m:t>
                        </m:r>
                        <m:r>
                          <a:rPr lang="en-US" altLang="zh-CN" sz="2800" b="0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))</m:t>
                        </m:r>
                      </m:e>
                    </m:nary>
                  </m:oMath>
                </a14:m>
                <a:r>
                  <a:rPr lang="en-US" altLang="zh-CN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+</a:t>
                </a:r>
                <a:r>
                  <a:rPr lang="en-US" altLang="zh-CN" sz="2800" b="0" spc="60" dirty="0">
                    <a:solidFill>
                      <a:schemeClr val="tx1"/>
                    </a:solidFill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800" b="0" i="0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1</m:t>
                        </m:r>
                        <m:r>
                          <a:rPr lang="en-US" altLang="zh-CN" sz="2800" b="0" i="0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b="0" i="1" spc="6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∙</m:t>
                    </m:r>
                    <m:func>
                      <m:funcPr>
                        <m:ctrl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sz="2800" b="0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800" b="0" i="1" spc="6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pc="6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800" b="0" i="1" spc="6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800" b="0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  <m:t>=−</m:t>
                                </m:r>
                                <m:r>
                                  <a:rPr lang="en-US" altLang="zh-CN" sz="2800" b="0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800" b="0" i="1" spc="6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pc="6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0" i="1" spc="6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800" b="0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  <m:t>,</m:t>
                                </m:r>
                                <m:r>
                                  <a:rPr lang="en-US" altLang="zh-CN" sz="2800" b="0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SG" altLang="zh-CN" sz="2800" b="0" spc="60" dirty="0">
                  <a:solidFill>
                    <a:schemeClr val="tx1"/>
                  </a:solidFill>
                  <a:ea typeface="微软雅黑" panose="020B0503020204020204" pitchFamily="34" charset="-122"/>
                  <a:cs typeface="Arial" panose="020B0604020202020204"/>
                </a:endParaRPr>
              </a:p>
              <a:p>
                <a:pPr marL="12700">
                  <a:spcBef>
                    <a:spcPts val="860"/>
                  </a:spcBef>
                </a:pPr>
                <a:r>
                  <a:rPr lang="zh-CN" altLang="en-US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           </a:t>
                </a:r>
                <a:r>
                  <a:rPr lang="en-US" altLang="zh-CN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=</a:t>
                </a:r>
                <a:r>
                  <a:rPr lang="en-US" altLang="zh-CN" sz="2800" b="0" spc="60" dirty="0">
                    <a:solidFill>
                      <a:schemeClr val="tx1"/>
                    </a:solidFill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𝑖</m:t>
                        </m:r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=</m:t>
                        </m:r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sz="2800" b="0" i="0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log</m:t>
                        </m:r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⁡(</m:t>
                        </m:r>
                        <m:r>
                          <m:rPr>
                            <m:sty m:val="p"/>
                          </m:rPr>
                          <a:rPr lang="el-GR" altLang="zh-CN" sz="2800" b="0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σ</m:t>
                        </m:r>
                        <m:d>
                          <m:dPr>
                            <m:ctrlP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800" b="1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800" b="1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  <m:t>⊺</m:t>
                                </m:r>
                              </m:sup>
                            </m:sSup>
                            <m:r>
                              <a:rPr lang="en-US" altLang="zh-CN" sz="2800" b="1" i="1" spc="6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𝝓</m:t>
                            </m:r>
                            <m:d>
                              <m:dPr>
                                <m:ctrlPr>
                                  <a:rPr lang="en-US" altLang="zh-CN" sz="2800" b="1" i="1" spc="6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spc="6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800" b="0" i="0" spc="6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Arial" panose="020B0604020202020204"/>
                  </a:rPr>
                  <a:t>+</a:t>
                </a:r>
                <a:r>
                  <a:rPr lang="en-US" altLang="zh-CN" sz="2800" b="0" spc="60" dirty="0">
                    <a:solidFill>
                      <a:schemeClr val="tx1"/>
                    </a:solidFill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dPr>
                      <m:e>
                        <m:r>
                          <a:rPr lang="en-US" altLang="zh-CN" sz="2800" b="0" i="0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1</m:t>
                        </m:r>
                        <m:r>
                          <a:rPr lang="en-US" altLang="zh-CN" sz="2800" b="0" i="0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b="0" i="1" spc="6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∙</m:t>
                    </m:r>
                    <m:func>
                      <m:funcPr>
                        <m:ctrl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1</m:t>
                            </m:r>
                            <m: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l-GR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σ</m:t>
                            </m:r>
                            <m:d>
                              <m:dPr>
                                <m:ctrlPr>
                                  <a:rPr lang="en-US" altLang="zh-CN" sz="2800" b="0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800" b="1" i="1" spc="6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1" i="1" spc="6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Arial" panose="020B0604020202020204"/>
                                      </a:rPr>
                                      <m:t>𝒘</m:t>
                                    </m:r>
                                  </m:e>
                                  <m:sup>
                                    <m:r>
                                      <a:rPr lang="en-US" altLang="zh-CN" sz="2800" b="1" i="1" spc="6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/>
                                      </a:rPr>
                                      <m:t>⊺</m:t>
                                    </m:r>
                                  </m:sup>
                                </m:sSup>
                                <m:r>
                                  <a:rPr lang="en-US" altLang="zh-CN" sz="2800" b="1" i="1" spc="6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  <m:t>𝝓</m:t>
                                </m:r>
                                <m:d>
                                  <m:dPr>
                                    <m:ctrlPr>
                                      <a:rPr lang="en-US" altLang="zh-CN" sz="2800" b="1" i="1" spc="6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1" i="1" spc="6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/>
                                      </a:rPr>
                                      <m:t>𝒙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SG" altLang="zh-CN" sz="2800" b="0" i="0" spc="60" dirty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12" y="5360541"/>
                <a:ext cx="11910010" cy="1338956"/>
              </a:xfrm>
              <a:prstGeom prst="rect">
                <a:avLst/>
              </a:prstGeom>
              <a:blipFill rotWithShape="1">
                <a:blip r:embed="rId3"/>
                <a:stretch>
                  <a:fillRect l="-1" t="-38" b="-2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52135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逻辑回归：逻辑对数似然的梯度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9" name="object 25"/>
          <p:cNvGrpSpPr/>
          <p:nvPr/>
        </p:nvGrpSpPr>
        <p:grpSpPr>
          <a:xfrm>
            <a:off x="1781683" y="4125904"/>
            <a:ext cx="8321040" cy="2189480"/>
            <a:chOff x="874984" y="4136654"/>
            <a:chExt cx="8321040" cy="2189480"/>
          </a:xfrm>
        </p:grpSpPr>
        <p:sp>
          <p:nvSpPr>
            <p:cNvPr id="30" name="object 26"/>
            <p:cNvSpPr/>
            <p:nvPr/>
          </p:nvSpPr>
          <p:spPr>
            <a:xfrm>
              <a:off x="2978543" y="4147426"/>
              <a:ext cx="6195695" cy="522605"/>
            </a:xfrm>
            <a:custGeom>
              <a:avLst/>
              <a:gdLst/>
              <a:ahLst/>
              <a:cxnLst/>
              <a:rect l="l" t="t" r="r" b="b"/>
              <a:pathLst>
                <a:path w="6195695" h="522604">
                  <a:moveTo>
                    <a:pt x="6195352" y="0"/>
                  </a:moveTo>
                  <a:lnTo>
                    <a:pt x="3136912" y="0"/>
                  </a:lnTo>
                  <a:lnTo>
                    <a:pt x="0" y="0"/>
                  </a:lnTo>
                  <a:lnTo>
                    <a:pt x="0" y="522236"/>
                  </a:lnTo>
                  <a:lnTo>
                    <a:pt x="3136912" y="522236"/>
                  </a:lnTo>
                  <a:lnTo>
                    <a:pt x="6195352" y="522236"/>
                  </a:lnTo>
                  <a:lnTo>
                    <a:pt x="6195352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27"/>
            <p:cNvSpPr/>
            <p:nvPr/>
          </p:nvSpPr>
          <p:spPr>
            <a:xfrm>
              <a:off x="2978543" y="4669663"/>
              <a:ext cx="6195695" cy="854075"/>
            </a:xfrm>
            <a:custGeom>
              <a:avLst/>
              <a:gdLst/>
              <a:ahLst/>
              <a:cxnLst/>
              <a:rect l="l" t="t" r="r" b="b"/>
              <a:pathLst>
                <a:path w="6195695" h="854075">
                  <a:moveTo>
                    <a:pt x="6195352" y="0"/>
                  </a:moveTo>
                  <a:lnTo>
                    <a:pt x="3136912" y="0"/>
                  </a:lnTo>
                  <a:lnTo>
                    <a:pt x="0" y="0"/>
                  </a:lnTo>
                  <a:lnTo>
                    <a:pt x="0" y="853884"/>
                  </a:lnTo>
                  <a:lnTo>
                    <a:pt x="3136912" y="853884"/>
                  </a:lnTo>
                  <a:lnTo>
                    <a:pt x="6195352" y="853884"/>
                  </a:lnTo>
                  <a:lnTo>
                    <a:pt x="6195352" y="0"/>
                  </a:lnTo>
                  <a:close/>
                </a:path>
              </a:pathLst>
            </a:custGeom>
            <a:solidFill>
              <a:srgbClr val="E4CB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28"/>
            <p:cNvSpPr/>
            <p:nvPr/>
          </p:nvSpPr>
          <p:spPr>
            <a:xfrm>
              <a:off x="2978543" y="5523547"/>
              <a:ext cx="6195695" cy="791845"/>
            </a:xfrm>
            <a:custGeom>
              <a:avLst/>
              <a:gdLst/>
              <a:ahLst/>
              <a:cxnLst/>
              <a:rect l="l" t="t" r="r" b="b"/>
              <a:pathLst>
                <a:path w="6195695" h="791845">
                  <a:moveTo>
                    <a:pt x="6195352" y="0"/>
                  </a:moveTo>
                  <a:lnTo>
                    <a:pt x="3136912" y="0"/>
                  </a:lnTo>
                  <a:lnTo>
                    <a:pt x="0" y="0"/>
                  </a:lnTo>
                  <a:lnTo>
                    <a:pt x="0" y="791464"/>
                  </a:lnTo>
                  <a:lnTo>
                    <a:pt x="3136912" y="791464"/>
                  </a:lnTo>
                  <a:lnTo>
                    <a:pt x="6195352" y="791464"/>
                  </a:lnTo>
                  <a:lnTo>
                    <a:pt x="6195352" y="0"/>
                  </a:lnTo>
                  <a:close/>
                </a:path>
              </a:pathLst>
            </a:custGeom>
            <a:solidFill>
              <a:srgbClr val="F2E7E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3" name="object 29"/>
            <p:cNvSpPr/>
            <p:nvPr/>
          </p:nvSpPr>
          <p:spPr>
            <a:xfrm>
              <a:off x="2978544" y="4142051"/>
              <a:ext cx="3137535" cy="2178685"/>
            </a:xfrm>
            <a:custGeom>
              <a:avLst/>
              <a:gdLst/>
              <a:ahLst/>
              <a:cxnLst/>
              <a:rect l="l" t="t" r="r" b="b"/>
              <a:pathLst>
                <a:path w="3137535" h="2178685">
                  <a:moveTo>
                    <a:pt x="0" y="0"/>
                  </a:moveTo>
                  <a:lnTo>
                    <a:pt x="0" y="2178297"/>
                  </a:lnTo>
                </a:path>
                <a:path w="3137535" h="2178685">
                  <a:moveTo>
                    <a:pt x="3136918" y="0"/>
                  </a:moveTo>
                  <a:lnTo>
                    <a:pt x="3136918" y="2178297"/>
                  </a:lnTo>
                </a:path>
              </a:pathLst>
            </a:custGeom>
            <a:ln w="1072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0"/>
            <p:cNvSpPr/>
            <p:nvPr/>
          </p:nvSpPr>
          <p:spPr>
            <a:xfrm>
              <a:off x="891177" y="4669655"/>
              <a:ext cx="8288655" cy="0"/>
            </a:xfrm>
            <a:custGeom>
              <a:avLst/>
              <a:gdLst/>
              <a:ahLst/>
              <a:cxnLst/>
              <a:rect l="l" t="t" r="r" b="b"/>
              <a:pathLst>
                <a:path w="8288655">
                  <a:moveTo>
                    <a:pt x="0" y="0"/>
                  </a:moveTo>
                  <a:lnTo>
                    <a:pt x="8288078" y="0"/>
                  </a:lnTo>
                </a:path>
              </a:pathLst>
            </a:custGeom>
            <a:ln w="321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1"/>
            <p:cNvSpPr/>
            <p:nvPr/>
          </p:nvSpPr>
          <p:spPr>
            <a:xfrm>
              <a:off x="891177" y="4142051"/>
              <a:ext cx="8288655" cy="2178685"/>
            </a:xfrm>
            <a:custGeom>
              <a:avLst/>
              <a:gdLst/>
              <a:ahLst/>
              <a:cxnLst/>
              <a:rect l="l" t="t" r="r" b="b"/>
              <a:pathLst>
                <a:path w="8288655" h="2178685">
                  <a:moveTo>
                    <a:pt x="0" y="1381487"/>
                  </a:moveTo>
                  <a:lnTo>
                    <a:pt x="8288078" y="1381487"/>
                  </a:lnTo>
                </a:path>
                <a:path w="8288655" h="2178685">
                  <a:moveTo>
                    <a:pt x="5367" y="0"/>
                  </a:moveTo>
                  <a:lnTo>
                    <a:pt x="5367" y="2178297"/>
                  </a:lnTo>
                </a:path>
                <a:path w="8288655" h="2178685">
                  <a:moveTo>
                    <a:pt x="8282725" y="0"/>
                  </a:moveTo>
                  <a:lnTo>
                    <a:pt x="8282725" y="2178297"/>
                  </a:lnTo>
                </a:path>
                <a:path w="8288655" h="2178685">
                  <a:moveTo>
                    <a:pt x="0" y="5367"/>
                  </a:moveTo>
                  <a:lnTo>
                    <a:pt x="8288078" y="5367"/>
                  </a:lnTo>
                </a:path>
                <a:path w="8288655" h="2178685">
                  <a:moveTo>
                    <a:pt x="0" y="2172949"/>
                  </a:moveTo>
                  <a:lnTo>
                    <a:pt x="8288078" y="2172949"/>
                  </a:lnTo>
                </a:path>
              </a:pathLst>
            </a:custGeom>
            <a:ln w="1072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2"/>
          <p:cNvSpPr txBox="1"/>
          <p:nvPr/>
        </p:nvSpPr>
        <p:spPr>
          <a:xfrm>
            <a:off x="3843644" y="4222415"/>
            <a:ext cx="317754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28015">
              <a:lnSpc>
                <a:spcPct val="100000"/>
              </a:lnSpc>
              <a:spcBef>
                <a:spcPts val="125"/>
              </a:spcBef>
            </a:pPr>
            <a:r>
              <a:rPr sz="2925" spc="97" baseline="1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P(y=+1|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x</a:t>
            </a:r>
            <a:r>
              <a:rPr sz="1950" b="1" spc="97" baseline="-13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2925" spc="97" baseline="1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w)</a:t>
            </a:r>
            <a:r>
              <a:rPr sz="2925" spc="52" baseline="1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spc="82" baseline="10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≈</a:t>
            </a:r>
            <a:r>
              <a:rPr sz="2925" spc="-877" baseline="10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925" spc="-75" baseline="1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925" baseline="1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3"/>
          <p:cNvSpPr txBox="1"/>
          <p:nvPr/>
        </p:nvSpPr>
        <p:spPr>
          <a:xfrm>
            <a:off x="6980563" y="4222415"/>
            <a:ext cx="30988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125"/>
              </a:spcBef>
            </a:pPr>
            <a:r>
              <a:rPr sz="2925" spc="97" baseline="1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P(y=+1|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x</a:t>
            </a:r>
            <a:r>
              <a:rPr sz="1950" b="1" spc="97" baseline="-13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spc="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2925" spc="97" baseline="1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w)</a:t>
            </a:r>
            <a:r>
              <a:rPr sz="2925" spc="52" baseline="1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spc="82" baseline="10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≈</a:t>
            </a:r>
            <a:r>
              <a:rPr sz="2925" spc="-877" baseline="10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925" spc="179" baseline="1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925" baseline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4"/>
          <p:cNvSpPr txBox="1"/>
          <p:nvPr/>
        </p:nvSpPr>
        <p:spPr>
          <a:xfrm>
            <a:off x="1787044" y="4685738"/>
            <a:ext cx="2071370" cy="832485"/>
          </a:xfrm>
          <a:prstGeom prst="rect">
            <a:avLst/>
          </a:prstGeom>
          <a:solidFill>
            <a:srgbClr val="B0007E"/>
          </a:solidFill>
        </p:spPr>
        <p:txBody>
          <a:bodyPr vert="horz" wrap="square" lIns="0" tIns="215265" rIns="0" bIns="0" rtlCol="0">
            <a:spAutoFit/>
          </a:bodyPr>
          <a:lstStyle/>
          <a:p>
            <a:pPr marL="643890">
              <a:lnSpc>
                <a:spcPct val="100000"/>
              </a:lnSpc>
              <a:spcBef>
                <a:spcPts val="1695"/>
              </a:spcBef>
            </a:pPr>
            <a:r>
              <a:rPr sz="2300" spc="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2175" b="1" spc="150" baseline="-19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300" spc="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=+1</a:t>
            </a:r>
            <a:endParaRPr sz="2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5"/>
          <p:cNvSpPr txBox="1"/>
          <p:nvPr/>
        </p:nvSpPr>
        <p:spPr>
          <a:xfrm>
            <a:off x="1781683" y="5523539"/>
            <a:ext cx="2082164" cy="791845"/>
          </a:xfrm>
          <a:prstGeom prst="rect">
            <a:avLst/>
          </a:prstGeom>
          <a:solidFill>
            <a:srgbClr val="B0007E"/>
          </a:solidFill>
          <a:ln w="10721">
            <a:solidFill>
              <a:srgbClr val="FFFFFF"/>
            </a:solidFill>
          </a:ln>
        </p:spPr>
        <p:txBody>
          <a:bodyPr vert="horz" wrap="square" lIns="0" tIns="195580" rIns="0" bIns="0" rtlCol="0">
            <a:spAutoFit/>
          </a:bodyPr>
          <a:lstStyle/>
          <a:p>
            <a:pPr marL="680720">
              <a:lnSpc>
                <a:spcPct val="100000"/>
              </a:lnSpc>
              <a:spcBef>
                <a:spcPts val="1540"/>
              </a:spcBef>
            </a:pPr>
            <a:r>
              <a:rPr sz="2300" spc="19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2175" b="1" spc="292" baseline="-21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300" spc="19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=-</a:t>
            </a:r>
            <a:r>
              <a:rPr sz="23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300">
              <a:latin typeface="Arial" panose="020B0604020202020204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3933739" y="5536735"/>
                <a:ext cx="29941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CN" sz="2000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</m:t>
                      </m:r>
                      <m:r>
                        <m:rPr>
                          <m:nor/>
                        </m:rPr>
                        <a:rPr lang="zh-CN" altLang="en-US" sz="2000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下降</m:t>
                      </m:r>
                    </m:oMath>
                  </m:oMathPara>
                </a14:m>
                <a:endParaRPr lang="en-US" altLang="zh-CN" sz="2000" dirty="0"/>
              </a:p>
              <a:p>
                <a:pPr algn="ctr"/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下降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739" y="5536735"/>
                <a:ext cx="2994111" cy="707886"/>
              </a:xfrm>
              <a:prstGeom prst="rect">
                <a:avLst/>
              </a:prstGeom>
              <a:blipFill rotWithShape="1">
                <a:blip r:embed="rId1"/>
                <a:stretch>
                  <a:fillRect l="-18" t="-2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7021184" y="4759373"/>
                <a:ext cx="29941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>
                    <a:sym typeface="Wingdings" panose="05000000000000000000" pitchFamily="2" charset="2"/>
                  </a:rPr>
                  <a:t></a:t>
                </a:r>
                <a:r>
                  <a:rPr lang="zh-CN" altLang="en-US" sz="20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增加</m:t>
                    </m:r>
                  </m:oMath>
                </a14:m>
                <a:endParaRPr lang="en-US" altLang="zh-CN" sz="2000" dirty="0"/>
              </a:p>
              <a:p>
                <a:pPr algn="ctr"/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上升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184" y="4759373"/>
                <a:ext cx="2994111" cy="707886"/>
              </a:xfrm>
              <a:prstGeom prst="rect">
                <a:avLst/>
              </a:prstGeom>
              <a:blipFill rotWithShape="1">
                <a:blip r:embed="rId2"/>
                <a:stretch>
                  <a:fillRect l="-21" t="-7" r="3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7021184" y="5490918"/>
                <a:ext cx="29941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000" dirty="0"/>
                  <a:t>,</a:t>
                </a:r>
                <a:endParaRPr lang="en-US" altLang="zh-CN" sz="2000" dirty="0"/>
              </a:p>
              <a:p>
                <a:pPr algn="ctr"/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不变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184" y="5490918"/>
                <a:ext cx="2994111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21" t="-10" r="3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3933738" y="4731908"/>
                <a:ext cx="29941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000" dirty="0"/>
                  <a:t>,</a:t>
                </a:r>
                <a:endParaRPr lang="en-US" altLang="zh-CN" sz="2000" dirty="0"/>
              </a:p>
              <a:p>
                <a:pPr algn="ctr"/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不变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738" y="4731908"/>
                <a:ext cx="2994111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18" t="-74" r="21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703344" y="1083818"/>
                <a:ext cx="6124352" cy="2368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𝑙𝑙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b="0" spc="60" dirty="0">
                    <a:solidFill>
                      <a:schemeClr val="tx1"/>
                    </a:solidFill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𝑖</m:t>
                        </m:r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=</m:t>
                        </m:r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𝑁</m:t>
                        </m:r>
                      </m:sup>
                      <m:e>
                        <m:r>
                          <a:rPr lang="en-US" altLang="zh-CN" sz="2800" b="1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𝝓</m:t>
                        </m:r>
                        <m:d>
                          <m:dPr>
                            <m:ctrlPr>
                              <a:rPr lang="en-US" altLang="zh-CN" sz="2800" b="1" i="1" spc="6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</m:ctrlPr>
                          </m:dPr>
                          <m:e>
                            <m:r>
                              <a:rPr lang="en-US" altLang="zh-CN" sz="2800" b="1" i="1" spc="6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pc="6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altLang="zh-CN" sz="2800" b="0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/>
                          </a:rPr>
                          <m:t>σ</m:t>
                        </m:r>
                        <m:d>
                          <m:dPr>
                            <m:ctrlPr>
                              <a:rPr lang="en-US" altLang="zh-CN" sz="2800" b="0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800" b="1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Arial" panose="020B0604020202020204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800" b="1" i="1" spc="6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  <m:t>⊺</m:t>
                                </m:r>
                              </m:sup>
                            </m:sSup>
                            <m:r>
                              <a:rPr lang="en-US" altLang="zh-CN" sz="2800" b="1" i="1" spc="6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/>
                              </a:rPr>
                              <m:t>𝝓</m:t>
                            </m:r>
                            <m:d>
                              <m:dPr>
                                <m:ctrlPr>
                                  <a:rPr lang="en-US" altLang="zh-CN" sz="2800" b="1" i="1" spc="6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spc="6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  <m:r>
                          <a:rPr lang="en-US" altLang="zh-CN" sz="2800" b="0" i="1" spc="6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)</m:t>
                        </m:r>
                      </m:e>
                    </m:nary>
                  </m:oMath>
                </a14:m>
                <a:endParaRPr lang="en-SG" altLang="zh-CN" sz="2800" b="0" i="1" spc="60" dirty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Arial" panose="020B0604020202020204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pc="6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𝑖</m:t>
                          </m:r>
                          <m: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=</m:t>
                          </m:r>
                          <m: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800" b="1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/>
                            </a:rPr>
                            <m:t>𝝓</m:t>
                          </m:r>
                          <m:d>
                            <m:dPr>
                              <m:ctrlPr>
                                <a:rPr lang="en-US" altLang="zh-CN" sz="2800" b="1" i="1" spc="6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pc="6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800" b="0" i="1" spc="6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b="0" i="1" spc="6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−</m:t>
                          </m:r>
                          <m:r>
                            <a:rPr lang="en-US" altLang="zh-CN" sz="2800" b="0" i="1" spc="6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𝑃</m:t>
                          </m:r>
                          <m:r>
                            <a:rPr lang="en-US" altLang="zh-CN" sz="2800" b="0" i="1" spc="6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0" i="1" spc="6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pc="6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800" b="0" i="1" spc="6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b="0" i="1" spc="6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=+</m:t>
                          </m:r>
                          <m:r>
                            <a:rPr lang="en-US" altLang="zh-CN" sz="2800" b="0" i="1" spc="6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1</m:t>
                          </m:r>
                          <m:r>
                            <a:rPr lang="en-US" altLang="zh-CN" sz="2800" b="0" i="1" spc="6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2800" b="0" i="1" spc="6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pc="6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800" b="0" i="1" spc="6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b="0" i="1" spc="6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,</m:t>
                          </m:r>
                          <m:r>
                            <a:rPr lang="en-US" altLang="zh-CN" sz="2800" b="0" i="1" spc="6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𝑤</m:t>
                          </m:r>
                          <m:r>
                            <a:rPr lang="en-US" altLang="zh-CN" sz="2800" b="0" i="1" spc="6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344" y="1083818"/>
                <a:ext cx="6124352" cy="2368212"/>
              </a:xfrm>
              <a:prstGeom prst="rect">
                <a:avLst/>
              </a:prstGeom>
              <a:blipFill rotWithShape="1">
                <a:blip r:embed="rId4"/>
                <a:stretch>
                  <a:fillRect l="-2" t="-21" r="9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4818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逻辑回归：梯度上升优化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MLE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30048" y="967322"/>
            <a:ext cx="7627905" cy="67383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400" b="1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dirty="0"/>
              <a:t>逻辑回归的</a:t>
            </a:r>
            <a:r>
              <a:rPr lang="zh-CN" altLang="en-US"/>
              <a:t>梯度上升</a:t>
            </a:r>
            <a:endParaRPr lang="en-SG" altLang="zh-CN" dirty="0">
              <a:sym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5091134" y="2368973"/>
            <a:ext cx="6509085" cy="3157463"/>
            <a:chOff x="5091134" y="2368973"/>
            <a:chExt cx="6509085" cy="3157463"/>
          </a:xfrm>
        </p:grpSpPr>
        <p:grpSp>
          <p:nvGrpSpPr>
            <p:cNvPr id="30" name="组合 29"/>
            <p:cNvGrpSpPr/>
            <p:nvPr/>
          </p:nvGrpSpPr>
          <p:grpSpPr>
            <a:xfrm>
              <a:off x="5091134" y="2370324"/>
              <a:ext cx="6509085" cy="3156112"/>
              <a:chOff x="5091134" y="2370324"/>
              <a:chExt cx="6509085" cy="3156112"/>
            </a:xfrm>
          </p:grpSpPr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091134" y="2370324"/>
                <a:ext cx="6509085" cy="3156112"/>
              </a:xfrm>
              <a:prstGeom prst="rect">
                <a:avLst/>
              </a:prstGeom>
            </p:spPr>
          </p:pic>
          <p:pic>
            <p:nvPicPr>
              <p:cNvPr id="29" name="图片 2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759872" y="2466730"/>
                <a:ext cx="3518081" cy="453423"/>
              </a:xfrm>
              <a:prstGeom prst="rect">
                <a:avLst/>
              </a:prstGeom>
            </p:spPr>
          </p:pic>
        </p:grpSp>
        <p:sp>
          <p:nvSpPr>
            <p:cNvPr id="26" name="文本框 25"/>
            <p:cNvSpPr txBox="1"/>
            <p:nvPr/>
          </p:nvSpPr>
          <p:spPr>
            <a:xfrm>
              <a:off x="6612110" y="2466730"/>
              <a:ext cx="2368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，</a:t>
              </a:r>
              <a:endParaRPr lang="zh-CN" altLang="en-US" dirty="0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1"/>
            <a:srcRect l="64450" r="25170" b="83518"/>
            <a:stretch>
              <a:fillRect/>
            </a:stretch>
          </p:blipFill>
          <p:spPr>
            <a:xfrm>
              <a:off x="6919096" y="2368973"/>
              <a:ext cx="675640" cy="520196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28948" y="2925738"/>
              <a:ext cx="2576572" cy="639487"/>
            </a:xfrm>
            <a:prstGeom prst="rect">
              <a:avLst/>
            </a:prstGeom>
          </p:spPr>
        </p:pic>
        <p:sp>
          <p:nvSpPr>
            <p:cNvPr id="31" name="文本框 30"/>
            <p:cNvSpPr txBox="1"/>
            <p:nvPr/>
          </p:nvSpPr>
          <p:spPr>
            <a:xfrm>
              <a:off x="8527639" y="3152563"/>
              <a:ext cx="26778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/>
                <a:t>预测与真值的差异</a:t>
              </a:r>
              <a:endParaRPr lang="zh-CN" altLang="en-US" sz="2000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274943" y="2548008"/>
            <a:ext cx="3816191" cy="2331386"/>
            <a:chOff x="1274943" y="2548008"/>
            <a:chExt cx="3816191" cy="2331386"/>
          </a:xfrm>
        </p:grpSpPr>
        <p:pic>
          <p:nvPicPr>
            <p:cNvPr id="7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4943" y="2548008"/>
              <a:ext cx="3816191" cy="2331386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2663046" y="4679339"/>
              <a:ext cx="962804" cy="20005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dirty="0"/>
                <a:t>#</a:t>
              </a:r>
              <a:r>
                <a:rPr lang="zh-CN" altLang="en-US" sz="700" dirty="0"/>
                <a:t>贷款金额 的系数</a:t>
              </a:r>
              <a:endParaRPr lang="zh-CN" altLang="en-US" sz="700" dirty="0"/>
            </a:p>
          </p:txBody>
        </p:sp>
        <p:sp>
          <p:nvSpPr>
            <p:cNvPr id="36" name="文本框 35"/>
            <p:cNvSpPr txBox="1"/>
            <p:nvPr/>
          </p:nvSpPr>
          <p:spPr>
            <a:xfrm rot="16200000">
              <a:off x="893570" y="3465199"/>
              <a:ext cx="962804" cy="20005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dirty="0"/>
                <a:t>#</a:t>
              </a:r>
              <a:r>
                <a:rPr lang="zh-CN" altLang="en-US" sz="700" dirty="0"/>
                <a:t>年收入 的系数</a:t>
              </a:r>
              <a:endParaRPr lang="zh-CN" altLang="en-US" sz="700" dirty="0"/>
            </a:p>
          </p:txBody>
        </p:sp>
      </p:grp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4818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逻辑回归：梯度上升优化</a:t>
            </a:r>
            <a:r>
              <a:rPr lang="en-US" altLang="zh-CN" sz="2800" b="1" dirty="0">
                <a:solidFill>
                  <a:prstClr val="white"/>
                </a:solidFill>
                <a:cs typeface="+mn-ea"/>
                <a:sym typeface="+mn-lt"/>
              </a:rPr>
              <a:t>MLE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274943" y="2548008"/>
            <a:ext cx="3816191" cy="2331386"/>
            <a:chOff x="1274943" y="2548008"/>
            <a:chExt cx="3816191" cy="2331386"/>
          </a:xfrm>
        </p:grpSpPr>
        <p:pic>
          <p:nvPicPr>
            <p:cNvPr id="7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74943" y="2548008"/>
              <a:ext cx="3816191" cy="2331386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2663046" y="4679339"/>
              <a:ext cx="962804" cy="20005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dirty="0"/>
                <a:t>#</a:t>
              </a:r>
              <a:r>
                <a:rPr lang="zh-CN" altLang="en-US" sz="700" dirty="0"/>
                <a:t>贷款金额 的系数</a:t>
              </a:r>
              <a:endParaRPr lang="zh-CN" altLang="en-US" sz="700" dirty="0"/>
            </a:p>
          </p:txBody>
        </p:sp>
        <p:sp>
          <p:nvSpPr>
            <p:cNvPr id="36" name="文本框 35"/>
            <p:cNvSpPr txBox="1"/>
            <p:nvPr/>
          </p:nvSpPr>
          <p:spPr>
            <a:xfrm rot="16200000">
              <a:off x="893570" y="3465199"/>
              <a:ext cx="962804" cy="20005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dirty="0"/>
                <a:t>#</a:t>
              </a:r>
              <a:r>
                <a:rPr lang="zh-CN" altLang="en-US" sz="700" dirty="0"/>
                <a:t>年收入 的系数</a:t>
              </a:r>
              <a:endParaRPr lang="zh-CN" altLang="en-US" sz="7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5395777" y="2356716"/>
                <a:ext cx="6124352" cy="2522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Cambria Math" panose="02040503050406030204" pitchFamily="18" charset="0"/>
                  </a:rPr>
                  <a:t>初始化</a:t>
                </a:r>
                <a:r>
                  <a:rPr lang="en-US" altLang="zh-CN" sz="28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(</m:t>
                        </m:r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𝟏</m:t>
                        </m:r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)</m:t>
                        </m:r>
                      </m:sup>
                    </m:sSup>
                    <m:r>
                      <a:rPr lang="en-US" altLang="zh-CN" sz="2800" b="1" i="1" spc="6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=</m:t>
                    </m:r>
                    <m:r>
                      <a:rPr lang="en-US" altLang="zh-CN" sz="2800" b="1" i="1" spc="6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𝟎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800" dirty="0">
                    <a:latin typeface="Cambria Math" panose="02040503050406030204" pitchFamily="18" charset="0"/>
                  </a:rPr>
                  <a:t>(</a:t>
                </a:r>
                <a:r>
                  <a:rPr lang="zh-CN" altLang="en-US" sz="2800" dirty="0">
                    <a:latin typeface="Cambria Math" panose="02040503050406030204" pitchFamily="18" charset="0"/>
                  </a:rPr>
                  <a:t>或者随机初始化）</a:t>
                </a:r>
                <a:endParaRPr lang="en-SG" altLang="zh-CN" sz="2800" dirty="0">
                  <a:latin typeface="Cambria Math" panose="02040503050406030204" pitchFamily="18" charset="0"/>
                </a:endParaRPr>
              </a:p>
              <a:p>
                <a:r>
                  <a:rPr lang="zh-CN" altLang="en-SG" sz="2800" dirty="0">
                    <a:latin typeface="Cambria Math" panose="02040503050406030204" pitchFamily="18" charset="0"/>
                  </a:rPr>
                  <a:t>初始化</a:t>
                </a:r>
                <a:r>
                  <a:rPr lang="zh-CN" altLang="en-US" sz="280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800" dirty="0">
                    <a:latin typeface="Cambria Math" panose="02040503050406030204" pitchFamily="18" charset="0"/>
                  </a:rPr>
                  <a:t>t</a:t>
                </a:r>
                <a:r>
                  <a:rPr lang="zh-CN" altLang="en-US" sz="280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800" dirty="0">
                    <a:latin typeface="Cambria Math" panose="02040503050406030204" pitchFamily="18" charset="0"/>
                  </a:rPr>
                  <a:t>=</a:t>
                </a:r>
                <a:r>
                  <a:rPr lang="zh-CN" altLang="en-US" sz="280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800" dirty="0">
                    <a:latin typeface="Cambria Math" panose="02040503050406030204" pitchFamily="18" charset="0"/>
                  </a:rPr>
                  <a:t>1</a:t>
                </a:r>
                <a:endParaRPr lang="en-SG" altLang="zh-CN" sz="2800" dirty="0">
                  <a:latin typeface="Cambria Math" panose="02040503050406030204" pitchFamily="18" charset="0"/>
                </a:endParaRPr>
              </a:p>
              <a:p>
                <a:r>
                  <a:rPr lang="en-US" altLang="zh-CN" sz="2800" dirty="0">
                    <a:latin typeface="Cambria Math" panose="02040503050406030204" pitchFamily="18" charset="0"/>
                  </a:rPr>
                  <a:t>While</a:t>
                </a:r>
                <a:r>
                  <a:rPr lang="zh-CN" altLang="en-US" sz="280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800" b="1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</m:ctrlPr>
                          </m:sSupPr>
                          <m:e>
                            <m:r>
                              <a:rPr lang="en-US" altLang="zh-CN" sz="2800" b="1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800" b="1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(</m:t>
                            </m:r>
                            <m:r>
                              <a:rPr lang="en-US" altLang="zh-CN" sz="2800" b="1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𝒕</m:t>
                            </m:r>
                            <m:r>
                              <a:rPr lang="en-US" altLang="zh-CN" sz="2800" b="1" i="1" spc="6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SG" altLang="zh-CN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CN" sz="2800" dirty="0">
                    <a:latin typeface="Cambria Math" panose="02040503050406030204" pitchFamily="18" charset="0"/>
                  </a:rPr>
                  <a:t>	</a:t>
                </a:r>
                <a:r>
                  <a:rPr lang="en-US" altLang="zh-CN" sz="2800" b="1" spc="60" dirty="0">
                    <a:solidFill>
                      <a:srgbClr val="00B0F0"/>
                    </a:solidFill>
                    <a:ea typeface="微软雅黑" panose="020B0503020204020204" pitchFamily="34" charset="-122"/>
                    <a:cs typeface="Arial" panose="020B060402020202020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(</m:t>
                        </m:r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𝒕</m:t>
                        </m:r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+</m:t>
                        </m:r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𝟏</m:t>
                        </m:r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)</m:t>
                        </m:r>
                      </m:sup>
                    </m:sSup>
                    <m:r>
                      <a:rPr lang="en-US" altLang="zh-CN" sz="2800" b="1" i="1" spc="6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←</m:t>
                    </m:r>
                    <m:r>
                      <a:rPr lang="zh-CN" altLang="en-US" sz="2800" b="1" i="1" spc="6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 </m:t>
                    </m:r>
                    <m:sSup>
                      <m:sSupPr>
                        <m:ctrlP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</m:ctrlPr>
                      </m:sSupPr>
                      <m:e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(</m:t>
                        </m:r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𝒕</m:t>
                        </m:r>
                        <m:r>
                          <a:rPr lang="en-US" altLang="zh-CN" sz="2800" b="1" i="1" spc="6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/>
                          </a:rPr>
                          <m:t>)</m:t>
                        </m:r>
                      </m:sup>
                    </m:sSup>
                    <m:r>
                      <a:rPr lang="en-US" altLang="zh-CN" sz="2800" b="1" i="1" spc="6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/>
                      </a:rPr>
                      <m:t>+</m:t>
                    </m:r>
                    <m:r>
                      <a:rPr lang="en-US" altLang="zh-CN" sz="2800" b="1" i="1" spc="6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𝜼</m:t>
                    </m:r>
                    <m:r>
                      <a:rPr lang="en-US" altLang="zh-CN" sz="2800" b="1" i="1" spc="6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∙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𝑙𝑙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en-US" altLang="zh-CN" sz="2800" dirty="0">
                  <a:latin typeface="Cambria Math" panose="02040503050406030204" pitchFamily="18" charset="0"/>
                </a:endParaRPr>
              </a:p>
              <a:p>
                <a:r>
                  <a:rPr lang="en-US" altLang="zh-CN" sz="2800" dirty="0">
                    <a:latin typeface="Cambria Math" panose="02040503050406030204" pitchFamily="18" charset="0"/>
                  </a:rPr>
                  <a:t>	t</a:t>
                </a:r>
                <a:r>
                  <a:rPr lang="zh-CN" altLang="en-US" sz="280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pc="6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/>
                      </a:rPr>
                      <m:t>←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800" dirty="0">
                    <a:latin typeface="Cambria Math" panose="02040503050406030204" pitchFamily="18" charset="0"/>
                  </a:rPr>
                  <a:t>t+1</a:t>
                </a:r>
                <a:endParaRPr lang="en-US" altLang="zh-CN" sz="28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777" y="2356716"/>
                <a:ext cx="6124352" cy="2522678"/>
              </a:xfrm>
              <a:prstGeom prst="rect">
                <a:avLst/>
              </a:prstGeom>
              <a:blipFill rotWithShape="1">
                <a:blip r:embed="rId2"/>
                <a:stretch>
                  <a:fillRect l="-3" t="-9" r="10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1607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逻辑回归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57774" y="841589"/>
            <a:ext cx="10465855" cy="58041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每一种智能行为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X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都对应着一种人工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X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智能，行为</a:t>
            </a:r>
            <a:r>
              <a:rPr lang="en-US" altLang="zh-CN" sz="2400" b="1" kern="100" dirty="0">
                <a:solidFill>
                  <a:prstClr val="black"/>
                </a:solidFill>
                <a:cs typeface="+mn-ea"/>
                <a:sym typeface="+mn-lt"/>
              </a:rPr>
              <a:t>X</a:t>
            </a:r>
            <a:r>
              <a:rPr lang="zh-CN" altLang="en-US" sz="2400" b="1" kern="100" dirty="0">
                <a:solidFill>
                  <a:prstClr val="black"/>
                </a:solidFill>
                <a:cs typeface="+mn-ea"/>
                <a:sym typeface="+mn-lt"/>
              </a:rPr>
              <a:t>与环境需要进行交互</a:t>
            </a:r>
            <a:endParaRPr kumimoji="0" lang="en-SG" altLang="zh-CN" sz="2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38" y="1666934"/>
            <a:ext cx="5531887" cy="26132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: 圆角 43"/>
              <p:cNvSpPr/>
              <p:nvPr/>
            </p:nvSpPr>
            <p:spPr>
              <a:xfrm>
                <a:off x="7984502" y="1920607"/>
                <a:ext cx="2309567" cy="14894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8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zh-CN" altLang="en-US" sz="8000" dirty="0"/>
              </a:p>
            </p:txBody>
          </p:sp>
        </mc:Choice>
        <mc:Fallback>
          <p:sp>
            <p:nvSpPr>
              <p:cNvPr id="44" name="矩形: 圆角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502" y="1920607"/>
                <a:ext cx="2309567" cy="1489435"/>
              </a:xfrm>
              <a:prstGeom prst="roundRect">
                <a:avLst/>
              </a:prstGeom>
              <a:blipFill rotWithShape="1">
                <a:blip r:embed="rId2"/>
                <a:stretch>
                  <a:fillRect l="-413" t="-664" r="-409" b="-633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箭头连接符 45"/>
          <p:cNvCxnSpPr>
            <a:endCxn id="44" idx="1"/>
          </p:cNvCxnSpPr>
          <p:nvPr/>
        </p:nvCxnSpPr>
        <p:spPr>
          <a:xfrm>
            <a:off x="6504495" y="2665325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10294069" y="2663448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 flipH="1">
            <a:off x="6853286" y="2201783"/>
            <a:ext cx="972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endParaRPr lang="zh-CN" altLang="en-US" sz="2400" dirty="0"/>
          </a:p>
        </p:txBody>
      </p:sp>
      <p:sp>
        <p:nvSpPr>
          <p:cNvPr id="50" name="文本框 49"/>
          <p:cNvSpPr txBox="1"/>
          <p:nvPr/>
        </p:nvSpPr>
        <p:spPr>
          <a:xfrm flipH="1">
            <a:off x="10491411" y="2201782"/>
            <a:ext cx="1085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output</a:t>
            </a:r>
            <a:endParaRPr lang="zh-CN" altLang="en-US" sz="2400" dirty="0"/>
          </a:p>
        </p:txBody>
      </p:sp>
      <p:sp>
        <p:nvSpPr>
          <p:cNvPr id="72" name="文本框 71"/>
          <p:cNvSpPr txBox="1"/>
          <p:nvPr/>
        </p:nvSpPr>
        <p:spPr>
          <a:xfrm flipH="1">
            <a:off x="8677823" y="1970949"/>
            <a:ext cx="1770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逻辑回归模型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2" name="直接连接符 81"/>
          <p:cNvCxnSpPr>
            <a:stCxn id="50" idx="2"/>
          </p:cNvCxnSpPr>
          <p:nvPr/>
        </p:nvCxnSpPr>
        <p:spPr>
          <a:xfrm>
            <a:off x="11034071" y="2663447"/>
            <a:ext cx="0" cy="153868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/>
          <p:cNvCxnSpPr>
            <a:endCxn id="48" idx="2"/>
          </p:cNvCxnSpPr>
          <p:nvPr/>
        </p:nvCxnSpPr>
        <p:spPr>
          <a:xfrm rot="10800000">
            <a:off x="7339475" y="2663449"/>
            <a:ext cx="3694597" cy="1559235"/>
          </a:xfrm>
          <a:prstGeom prst="bentConnector2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 flipH="1">
            <a:off x="8467517" y="3691219"/>
            <a:ext cx="164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feedback</a:t>
            </a:r>
            <a:endParaRPr lang="zh-CN" altLang="en-US" sz="2400" dirty="0"/>
          </a:p>
        </p:txBody>
      </p: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2567892" y="4656542"/>
          <a:ext cx="7349314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306"/>
                <a:gridCol w="5634008"/>
              </a:tblGrid>
              <a:tr h="370840"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贷款违约预测</a:t>
                      </a:r>
                      <a:endParaRPr lang="zh-CN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/>
                        <a:t>input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/>
                        <a:t>申请人的信息，共</a:t>
                      </a:r>
                      <a:r>
                        <a:rPr lang="en-US" altLang="zh-CN" sz="2000" dirty="0"/>
                        <a:t>47</a:t>
                      </a:r>
                      <a:r>
                        <a:rPr lang="zh-CN" altLang="en-US" sz="2000" dirty="0"/>
                        <a:t>种特征，包含了如贷款金额、贷款年限、贷款利率、年收入、工作年限等</a:t>
                      </a:r>
                      <a:endParaRPr lang="zh-CN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/>
                        <a:t>output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申请人贷款是否违约</a:t>
                      </a:r>
                      <a:endParaRPr lang="zh-CN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/>
                        <a:t>feedback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正确与否</a:t>
                      </a:r>
                      <a:endParaRPr lang="zh-CN" alt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-1" y="-1589"/>
            <a:ext cx="1206186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11588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逻辑回归</a:t>
            </a: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四要素与数据形态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: 圆角 43"/>
              <p:cNvSpPr/>
              <p:nvPr/>
            </p:nvSpPr>
            <p:spPr>
              <a:xfrm>
                <a:off x="1789172" y="1376078"/>
                <a:ext cx="2309567" cy="14894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8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zh-CN" altLang="en-US" sz="8000" dirty="0"/>
              </a:p>
            </p:txBody>
          </p:sp>
        </mc:Choice>
        <mc:Fallback>
          <p:sp>
            <p:nvSpPr>
              <p:cNvPr id="44" name="矩形: 圆角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172" y="1376078"/>
                <a:ext cx="2309567" cy="1489435"/>
              </a:xfrm>
              <a:prstGeom prst="roundRect">
                <a:avLst/>
              </a:prstGeom>
              <a:blipFill rotWithShape="1">
                <a:blip r:embed="rId1"/>
                <a:stretch>
                  <a:fillRect l="-429" t="-642" r="-393" b="-613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箭头连接符 45"/>
          <p:cNvCxnSpPr>
            <a:endCxn id="44" idx="1"/>
          </p:cNvCxnSpPr>
          <p:nvPr/>
        </p:nvCxnSpPr>
        <p:spPr>
          <a:xfrm>
            <a:off x="309165" y="2120796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4098739" y="2118919"/>
            <a:ext cx="1480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 flipH="1">
            <a:off x="657956" y="1657254"/>
            <a:ext cx="972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input</a:t>
            </a:r>
            <a:endParaRPr lang="zh-CN" altLang="en-US" sz="2400" dirty="0"/>
          </a:p>
        </p:txBody>
      </p:sp>
      <p:sp>
        <p:nvSpPr>
          <p:cNvPr id="50" name="文本框 49"/>
          <p:cNvSpPr txBox="1"/>
          <p:nvPr/>
        </p:nvSpPr>
        <p:spPr>
          <a:xfrm flipH="1">
            <a:off x="4296081" y="1657253"/>
            <a:ext cx="1085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output</a:t>
            </a:r>
            <a:endParaRPr lang="zh-CN" altLang="en-US" sz="2400" dirty="0"/>
          </a:p>
        </p:txBody>
      </p:sp>
      <p:sp>
        <p:nvSpPr>
          <p:cNvPr id="72" name="文本框 71"/>
          <p:cNvSpPr txBox="1"/>
          <p:nvPr/>
        </p:nvSpPr>
        <p:spPr>
          <a:xfrm flipH="1">
            <a:off x="2522651" y="1426420"/>
            <a:ext cx="16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逻辑回归模型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82" name="直接连接符 81"/>
          <p:cNvCxnSpPr>
            <a:stCxn id="50" idx="2"/>
          </p:cNvCxnSpPr>
          <p:nvPr/>
        </p:nvCxnSpPr>
        <p:spPr>
          <a:xfrm>
            <a:off x="4838741" y="2118918"/>
            <a:ext cx="0" cy="153868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/>
          <p:cNvCxnSpPr>
            <a:endCxn id="48" idx="2"/>
          </p:cNvCxnSpPr>
          <p:nvPr/>
        </p:nvCxnSpPr>
        <p:spPr>
          <a:xfrm rot="10800000">
            <a:off x="1144145" y="2118920"/>
            <a:ext cx="3694597" cy="1559235"/>
          </a:xfrm>
          <a:prstGeom prst="bentConnector2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 flipH="1">
            <a:off x="2272187" y="3146690"/>
            <a:ext cx="164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feedback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188402" y="1655902"/>
                <a:ext cx="6873460" cy="3814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 eaLnBrk="1" hangingPunct="1"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表示：</a:t>
                </a: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逻辑回归模型</a:t>
                </a: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长什么样？</a:t>
                </a:r>
                <a:endParaRPr lang="en-US" altLang="zh-CN" sz="2400" b="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lvl="2">
                  <a:defRPr/>
                </a:pP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  机器编码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、</m:t>
                    </m:r>
                  </m:oMath>
                </a14:m>
                <a:r>
                  <a:rPr lang="en-US" altLang="zh-CN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input</a:t>
                </a: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、</a:t>
                </a:r>
                <a:r>
                  <a:rPr lang="en-US" altLang="zh-CN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output</a:t>
                </a: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、</a:t>
                </a:r>
                <a:r>
                  <a:rPr lang="en-US" altLang="zh-CN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feedback</a:t>
                </a: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。</a:t>
                </a:r>
                <a:endParaRPr lang="en-US" altLang="zh-CN" sz="2400" b="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lvl="2" eaLnBrk="1" hangingPunct="1"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推理：逻辑回归模型</a:t>
                </a: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怎么用来解决问题？</a:t>
                </a:r>
                <a:endParaRPr lang="en-US" altLang="zh-CN" sz="2400" b="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lvl="2" eaLnBrk="1" hangingPunct="1">
                  <a:defRPr/>
                </a:pPr>
                <a:r>
                  <a:rPr lang="en-US" altLang="zh-CN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  </a:t>
                </a: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给定</a:t>
                </a:r>
                <a:r>
                  <a:rPr lang="en-US" altLang="zh-CN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input</a:t>
                </a: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，机器实现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计算</a:t>
                </a:r>
                <a:r>
                  <a:rPr lang="en-US" altLang="zh-CN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output</a:t>
                </a: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。</a:t>
                </a:r>
                <a:endParaRPr lang="en-US" altLang="zh-CN" sz="2400" b="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lvl="2" eaLnBrk="1" hangingPunct="1"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学习：</a:t>
                </a: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逻辑回归模型怎么来的？</a:t>
                </a:r>
                <a:endParaRPr lang="en-US" altLang="zh-CN" sz="240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lvl="2" eaLnBrk="1" hangingPunct="1">
                  <a:defRPr/>
                </a:pP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  基于数据</a:t>
                </a:r>
                <a:r>
                  <a:rPr lang="en-US" altLang="zh-CN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&lt;input, output, feedback&gt;</a:t>
                </a: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集，</a:t>
                </a:r>
                <a:endParaRPr lang="en-US" altLang="zh-CN" sz="240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lvl="2" eaLnBrk="1" hangingPunct="1">
                  <a:defRPr/>
                </a:pP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  给定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，</m:t>
                        </m:r>
                      </m:sub>
                    </m:sSub>
                  </m:oMath>
                </a14:m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更新计算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effectLst>
                          <a:outerShdw blurRad="50800" dist="38100" dir="5400000" algn="t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mbria Math" panose="02040503050406030204" pitchFamily="18" charset="0"/>
                        <a:ea typeface="楷体" panose="02010609060101010101" pitchFamily="49" charset="-122"/>
                        <a:cs typeface="Arial" panose="020B0604020202020204" pitchFamily="34" charset="0"/>
                      </a:rPr>
                      <m:t>𝜃</m:t>
                    </m:r>
                    <m:r>
                      <a:rPr lang="zh-CN" altLang="en-US" sz="2400" i="1" dirty="0">
                        <a:effectLst>
                          <a:outerShdw blurRad="50800" dist="38100" dir="5400000" algn="t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mbria Math" panose="02040503050406030204" pitchFamily="18" charset="0"/>
                        <a:ea typeface="楷体" panose="02010609060101010101" pitchFamily="49" charset="-122"/>
                        <a:cs typeface="Arial" panose="020B0604020202020204" pitchFamily="34" charset="0"/>
                      </a:rPr>
                      <m:t>。</m:t>
                    </m:r>
                  </m:oMath>
                </a14:m>
                <a:endParaRPr lang="en-US" altLang="zh-CN" sz="240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lvl="2"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数据：</a:t>
                </a:r>
                <a:r>
                  <a:rPr lang="en-US" altLang="zh-CN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 &lt;input, output, feedback&gt;</a:t>
                </a:r>
                <a:endParaRPr lang="en-US" altLang="zh-CN" sz="240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lvl="2" eaLnBrk="1" hangingPunct="1">
                  <a:defRPr/>
                </a:pP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 &lt;</a:t>
                </a: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申请人的信息</a:t>
                </a:r>
                <a:r>
                  <a:rPr lang="en-US" altLang="zh-CN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是否违约</a:t>
                </a:r>
                <a:r>
                  <a:rPr lang="en-US" altLang="zh-CN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模型判断正确</a:t>
                </a:r>
                <a:endParaRPr lang="en-US" altLang="zh-CN" sz="240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lvl="2">
                  <a:defRPr/>
                </a:pP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  与否</a:t>
                </a:r>
                <a:r>
                  <a:rPr lang="en-US" altLang="zh-CN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&gt;</a:t>
                </a:r>
                <a:endParaRPr lang="en-US" altLang="zh-CN" sz="240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402" y="1655902"/>
                <a:ext cx="6873460" cy="3814442"/>
              </a:xfrm>
              <a:prstGeom prst="rect">
                <a:avLst/>
              </a:prstGeom>
              <a:blipFill rotWithShape="1">
                <a:blip r:embed="rId2"/>
                <a:stretch>
                  <a:fillRect l="-7" t="-12" r="-720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-760484" y="4271549"/>
                <a:ext cx="6851745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 eaLnBrk="1" hangingPunct="1">
                  <a:defRPr/>
                </a:pPr>
                <a:endParaRPr lang="en-US" altLang="zh-CN" sz="2400" b="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marL="1371600" lvl="2" indent="-457200">
                  <a:buFont typeface="+mj-lt"/>
                  <a:buAutoNum type="arabicPeriod"/>
                  <a:defRPr/>
                </a:pP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算法</a:t>
                </a:r>
                <a:r>
                  <a:rPr lang="en-US" altLang="zh-CN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模型：</a:t>
                </a:r>
                <a:r>
                  <a:rPr lang="en-US" altLang="zh-CN" sz="2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（及部分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effectLst>
                          <a:outerShdw blurRad="50800" dist="38100" dir="5400000" algn="t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mbria Math" panose="02040503050406030204" pitchFamily="18" charset="0"/>
                        <a:ea typeface="楷体" panose="02010609060101010101" pitchFamily="49" charset="-122"/>
                        <a:cs typeface="Arial" panose="020B0604020202020204" pitchFamily="34" charset="0"/>
                      </a:rPr>
                      <m:t>𝜃</m:t>
                    </m:r>
                    <m:r>
                      <a:rPr lang="en-US" altLang="zh-CN" sz="2400" i="1" dirty="0">
                        <a:effectLst>
                          <a:outerShdw blurRad="50800" dist="38100" dir="5400000" algn="t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mbria Math" panose="02040503050406030204" pitchFamily="18" charset="0"/>
                        <a:ea typeface="楷体" panose="02010609060101010101" pitchFamily="49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）</a:t>
                </a:r>
                <a:endParaRPr lang="en-US" altLang="zh-CN" sz="2400" b="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marL="1371600" lvl="2" indent="-457200" eaLnBrk="1" hangingPunct="1">
                  <a:buFont typeface="+mj-lt"/>
                  <a:buAutoNum type="arabicPeriod"/>
                  <a:defRPr/>
                </a:pP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计算：</a:t>
                </a:r>
                <a:r>
                  <a:rPr lang="en-US" altLang="zh-CN" sz="2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 altLang="zh-CN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input</a:t>
                </a:r>
                <a:r>
                  <a:rPr lang="en-US" altLang="zh-CN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en-US" altLang="zh-CN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output</a:t>
                </a:r>
                <a:r>
                  <a:rPr lang="en-US" altLang="zh-CN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en-US" altLang="zh-CN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feedback</a:t>
                </a: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转换</a:t>
                </a:r>
                <a:endParaRPr lang="en-US" altLang="zh-CN" sz="2400" b="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marL="1371600" lvl="2" indent="-457200" eaLnBrk="1" hangingPunct="1">
                  <a:buFont typeface="+mj-lt"/>
                  <a:buAutoNum type="arabicPeriod"/>
                  <a:defRPr/>
                </a:pPr>
                <a:r>
                  <a:rPr lang="zh-CN" altLang="en-US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数据：</a:t>
                </a:r>
                <a:r>
                  <a:rPr lang="en-US" altLang="zh-CN" sz="240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 &lt;input, output, feedback&gt;</a:t>
                </a:r>
                <a:endParaRPr lang="en-US" altLang="zh-CN" sz="240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marL="1371600" lvl="2" indent="-457200">
                  <a:buFont typeface="+mj-lt"/>
                  <a:buAutoNum type="arabicPeriod"/>
                  <a:defRPr/>
                </a:pPr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知识：</a:t>
                </a:r>
                <a:r>
                  <a:rPr lang="en-US" altLang="zh-CN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effectLst>
                          <a:outerShdw blurRad="50800" dist="38100" dir="5400000" algn="t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mbria Math" panose="02040503050406030204" pitchFamily="18" charset="0"/>
                        <a:ea typeface="楷体" panose="02010609060101010101" pitchFamily="49" charset="-122"/>
                        <a:cs typeface="Arial" panose="020B0604020202020204" pitchFamily="34" charset="0"/>
                      </a:rPr>
                      <m:t>𝜃</m:t>
                    </m:r>
                  </m:oMath>
                </a14:m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（及部分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0" dirty="0"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楷体" panose="02010609060101010101" pitchFamily="49" charset="-122"/>
                    <a:ea typeface="楷体" panose="02010609060101010101" pitchFamily="49" charset="-122"/>
                    <a:cs typeface="Arial" panose="020B0604020202020204" pitchFamily="34" charset="0"/>
                  </a:rPr>
                  <a:t>）</a:t>
                </a:r>
                <a:endParaRPr lang="en-AU" altLang="zh-CN" sz="2400" b="0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0484" y="4271549"/>
                <a:ext cx="6851745" cy="1938992"/>
              </a:xfrm>
              <a:prstGeom prst="rect">
                <a:avLst/>
              </a:prstGeom>
              <a:blipFill rotWithShape="1">
                <a:blip r:embed="rId3"/>
                <a:stretch>
                  <a:fillRect l="6" t="-28" r="5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逻辑回归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object 7"/>
          <p:cNvSpPr txBox="1"/>
          <p:nvPr/>
        </p:nvSpPr>
        <p:spPr>
          <a:xfrm>
            <a:off x="820882" y="3414805"/>
            <a:ext cx="7877444" cy="126188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zh-CN" altLang="en-US" sz="4000" b="1" spc="85" dirty="0">
                <a:solidFill>
                  <a:srgbClr val="2C2828"/>
                </a:solidFill>
                <a:latin typeface="Arial" panose="020B0604020202020204"/>
                <a:cs typeface="Arial" panose="020B0604020202020204"/>
              </a:rPr>
              <a:t>线性分类器和逻辑回归的总结</a:t>
            </a:r>
            <a:endParaRPr lang="en-US" altLang="zh-CN" sz="4000" b="1" spc="85" dirty="0">
              <a:solidFill>
                <a:srgbClr val="2C2828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zh-CN" altLang="en-US" sz="4000" b="1" spc="85" dirty="0">
                <a:solidFill>
                  <a:srgbClr val="2C2828"/>
                </a:solidFill>
                <a:latin typeface="Arial" panose="020B0604020202020204"/>
                <a:cs typeface="Arial" panose="020B0604020202020204"/>
              </a:rPr>
              <a:t>（以线性分类器为例）</a:t>
            </a:r>
            <a:endParaRPr lang="en-US" sz="4000" b="1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0" y="-1589"/>
            <a:ext cx="12191999" cy="767234"/>
            <a:chOff x="-1" y="-1"/>
            <a:chExt cx="7719" cy="568"/>
          </a:xfrm>
        </p:grpSpPr>
        <p:sp>
          <p:nvSpPr>
            <p:cNvPr id="17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任意多边形: 形状 12"/>
          <p:cNvSpPr/>
          <p:nvPr/>
        </p:nvSpPr>
        <p:spPr bwMode="auto">
          <a:xfrm>
            <a:off x="0" y="-1589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cs typeface="+mn-ea"/>
                <a:sym typeface="+mn-lt"/>
              </a:rPr>
              <a:t>逻辑回归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object 3"/>
          <p:cNvSpPr txBox="1"/>
          <p:nvPr/>
        </p:nvSpPr>
        <p:spPr>
          <a:xfrm>
            <a:off x="1163171" y="2249969"/>
            <a:ext cx="8982764" cy="3030958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475"/>
              </a:spcBef>
              <a:buClr>
                <a:srgbClr val="5D5555"/>
              </a:buClr>
              <a:buChar char="•"/>
              <a:tabLst>
                <a:tab pos="301625" algn="l"/>
              </a:tabLst>
            </a:pPr>
            <a:r>
              <a:rPr lang="zh-CN" altLang="en-US" sz="2400" b="0" i="0" dirty="0">
                <a:effectLst/>
                <a:latin typeface="Times New Roman" panose="02020603050405020304" charset="0"/>
              </a:rPr>
              <a:t>描述决策边界与线性分类器</a:t>
            </a:r>
            <a:endParaRPr lang="en-US" altLang="zh-CN" sz="2400" b="0" i="0" dirty="0">
              <a:effectLst/>
              <a:latin typeface="Times New Roman" panose="02020603050405020304" charset="0"/>
            </a:endParaRPr>
          </a:p>
          <a:p>
            <a:pPr marL="301625" indent="-288925">
              <a:lnSpc>
                <a:spcPct val="100000"/>
              </a:lnSpc>
              <a:spcBef>
                <a:spcPts val="475"/>
              </a:spcBef>
              <a:buClr>
                <a:srgbClr val="5D5555"/>
              </a:buClr>
              <a:buChar char="•"/>
              <a:tabLst>
                <a:tab pos="301625" algn="l"/>
              </a:tabLst>
            </a:pPr>
            <a:r>
              <a:rPr lang="zh-CN" altLang="en-US" sz="2400" b="0" i="0" dirty="0">
                <a:effectLst/>
                <a:latin typeface="Times New Roman" panose="02020603050405020304" charset="0"/>
              </a:rPr>
              <a:t>使用类别概率表达预测结果的置信度</a:t>
            </a:r>
            <a:endParaRPr lang="en-US" altLang="zh-CN" sz="2400" b="0" i="0" dirty="0">
              <a:effectLst/>
              <a:latin typeface="Times New Roman" panose="02020603050405020304" charset="0"/>
            </a:endParaRPr>
          </a:p>
          <a:p>
            <a:pPr marL="301625" indent="-288925">
              <a:lnSpc>
                <a:spcPct val="100000"/>
              </a:lnSpc>
              <a:spcBef>
                <a:spcPts val="475"/>
              </a:spcBef>
              <a:buClr>
                <a:srgbClr val="5D5555"/>
              </a:buClr>
              <a:buChar char="•"/>
              <a:tabLst>
                <a:tab pos="301625" algn="l"/>
              </a:tabLst>
            </a:pPr>
            <a:r>
              <a:rPr lang="zh-CN" altLang="en-US" sz="2400" b="0" i="0" dirty="0">
                <a:effectLst/>
                <a:latin typeface="Times New Roman" panose="02020603050405020304" charset="0"/>
              </a:rPr>
              <a:t>定义逻辑回归模型</a:t>
            </a:r>
            <a:endParaRPr lang="en-US" altLang="zh-CN" sz="2400" b="0" i="0" dirty="0">
              <a:effectLst/>
              <a:latin typeface="Times New Roman" panose="02020603050405020304" charset="0"/>
            </a:endParaRPr>
          </a:p>
          <a:p>
            <a:pPr marL="301625" indent="-288925">
              <a:lnSpc>
                <a:spcPct val="100000"/>
              </a:lnSpc>
              <a:spcBef>
                <a:spcPts val="475"/>
              </a:spcBef>
              <a:buClr>
                <a:srgbClr val="5D5555"/>
              </a:buClr>
              <a:buChar char="•"/>
              <a:tabLst>
                <a:tab pos="301625" algn="l"/>
              </a:tabLst>
            </a:pPr>
            <a:r>
              <a:rPr lang="zh-CN" altLang="en-US" sz="2400" b="0" i="0" dirty="0">
                <a:effectLst/>
                <a:latin typeface="Times New Roman" panose="02020603050405020304" charset="0"/>
              </a:rPr>
              <a:t>将逻辑回归输出结果解释为类别概率</a:t>
            </a:r>
            <a:endParaRPr lang="en-US" altLang="zh-CN" sz="2400" b="0" i="0" dirty="0">
              <a:effectLst/>
              <a:latin typeface="Times New Roman" panose="02020603050405020304" charset="0"/>
            </a:endParaRPr>
          </a:p>
          <a:p>
            <a:pPr marL="301625" indent="-288925">
              <a:lnSpc>
                <a:spcPct val="100000"/>
              </a:lnSpc>
              <a:spcBef>
                <a:spcPts val="475"/>
              </a:spcBef>
              <a:buClr>
                <a:srgbClr val="5D5555"/>
              </a:buClr>
              <a:buChar char="•"/>
              <a:tabLst>
                <a:tab pos="301625" algn="l"/>
              </a:tabLst>
            </a:pPr>
            <a:r>
              <a:rPr lang="zh-CN" altLang="en-US" sz="2400" b="0" i="0" dirty="0">
                <a:effectLst/>
                <a:latin typeface="Times New Roman" panose="02020603050405020304" charset="0"/>
              </a:rPr>
              <a:t>分析系数取值对逻辑回归输出的影响</a:t>
            </a:r>
            <a:endParaRPr lang="en-US" altLang="zh-CN" sz="2400" b="0" i="0" dirty="0">
              <a:effectLst/>
              <a:latin typeface="Times New Roman" panose="02020603050405020304" charset="0"/>
            </a:endParaRPr>
          </a:p>
          <a:p>
            <a:pPr marL="301625" indent="-288925">
              <a:lnSpc>
                <a:spcPct val="100000"/>
              </a:lnSpc>
              <a:spcBef>
                <a:spcPts val="475"/>
              </a:spcBef>
              <a:buClr>
                <a:srgbClr val="5D5555"/>
              </a:buClr>
              <a:buChar char="•"/>
              <a:tabLst>
                <a:tab pos="301625" algn="l"/>
              </a:tabLst>
            </a:pPr>
            <a:r>
              <a:rPr lang="zh-CN" altLang="en-US" sz="2400" b="0" i="0" dirty="0">
                <a:effectLst/>
                <a:latin typeface="Times New Roman" panose="02020603050405020304" charset="0"/>
              </a:rPr>
              <a:t>使用似然函数衡量分类器质量</a:t>
            </a:r>
            <a:endParaRPr lang="en-US" altLang="zh-CN" sz="2400" b="0" i="0" dirty="0">
              <a:effectLst/>
              <a:latin typeface="Times New Roman" panose="02020603050405020304" charset="0"/>
            </a:endParaRPr>
          </a:p>
          <a:p>
            <a:pPr marL="301625" indent="-288925">
              <a:lnSpc>
                <a:spcPct val="100000"/>
              </a:lnSpc>
              <a:spcBef>
                <a:spcPts val="475"/>
              </a:spcBef>
              <a:buClr>
                <a:srgbClr val="5D5555"/>
              </a:buClr>
              <a:buChar char="•"/>
              <a:tabLst>
                <a:tab pos="301625" algn="l"/>
              </a:tabLst>
            </a:pPr>
            <a:r>
              <a:rPr lang="zh-CN" altLang="en-US" sz="2400" b="0" i="0" dirty="0">
                <a:effectLst/>
                <a:latin typeface="Times New Roman" panose="02020603050405020304" charset="0"/>
              </a:rPr>
              <a:t>通过梯度下降法优化负对数似然损失函数来训练逻辑回归模型</a:t>
            </a:r>
            <a:endParaRPr lang="en-US" altLang="zh-CN" sz="2400" b="0" i="0" dirty="0">
              <a:effectLst/>
              <a:latin typeface="Times New Roman" panose="02020603050405020304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ISLIDE.DIAGRAM" val="#950666;"/>
</p:tagLst>
</file>

<file path=ppt/tags/tag2.xml><?xml version="1.0" encoding="utf-8"?>
<p:tagLst xmlns:p="http://schemas.openxmlformats.org/presentationml/2006/main">
  <p:tag name="ISLIDE.DIAGRAM" val="#950666;"/>
</p:tagLst>
</file>

<file path=ppt/tags/tag3.xml><?xml version="1.0" encoding="utf-8"?>
<p:tagLst xmlns:p="http://schemas.openxmlformats.org/presentationml/2006/main">
  <p:tag name="ISLIDE.DIAGRAM" val="#950666;"/>
</p:tagLst>
</file>

<file path=ppt/tags/tag4.xml><?xml version="1.0" encoding="utf-8"?>
<p:tagLst xmlns:p="http://schemas.openxmlformats.org/presentationml/2006/main">
  <p:tag name="ISLIDE.DIAGRAM" val="#950666;"/>
</p:tagLst>
</file>

<file path=ppt/tags/tag5.xml><?xml version="1.0" encoding="utf-8"?>
<p:tagLst xmlns:p="http://schemas.openxmlformats.org/presentationml/2006/main">
  <p:tag name="ISLIDE.GUIDESSETTING" val="{&quot;Id&quot;:&quot;402a1233-a9f0-48c5-9afd-f14827add457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Segoe UI Variable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6254</Words>
  <Application>WPS 演示</Application>
  <PresentationFormat>Widescreen</PresentationFormat>
  <Paragraphs>1268</Paragraphs>
  <Slides>47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85" baseType="lpstr">
      <vt:lpstr>Arial</vt:lpstr>
      <vt:lpstr>宋体</vt:lpstr>
      <vt:lpstr>Wingdings</vt:lpstr>
      <vt:lpstr>微软雅黑</vt:lpstr>
      <vt:lpstr>等线</vt:lpstr>
      <vt:lpstr>Cambria Math</vt:lpstr>
      <vt:lpstr>Arial</vt:lpstr>
      <vt:lpstr>Lucida Sans Unicode</vt:lpstr>
      <vt:lpstr>Arial Unicode MS</vt:lpstr>
      <vt:lpstr>Aptos Display</vt:lpstr>
      <vt:lpstr>Segoe UI Variable Display</vt:lpstr>
      <vt:lpstr>Aptos</vt:lpstr>
      <vt:lpstr>Segoe UI</vt:lpstr>
      <vt:lpstr>Times New Roman</vt:lpstr>
      <vt:lpstr>Tahoma</vt:lpstr>
      <vt:lpstr>Verdana</vt:lpstr>
      <vt:lpstr>Palatino Linotype</vt:lpstr>
      <vt:lpstr>Cambria Math</vt:lpstr>
      <vt:lpstr>Courier New</vt:lpstr>
      <vt:lpstr>Calibri</vt:lpstr>
      <vt:lpstr>Georgia</vt:lpstr>
      <vt:lpstr>Trajan Pro</vt:lpstr>
      <vt:lpstr>Segoe Print</vt:lpstr>
      <vt:lpstr>楷体</vt:lpstr>
      <vt:lpstr>Roboto</vt:lpstr>
      <vt:lpstr>Times New Roman</vt:lpstr>
      <vt:lpstr>等线 Light</vt:lpstr>
      <vt:lpstr>Calibri</vt:lpstr>
      <vt:lpstr>Courier New</vt:lpstr>
      <vt:lpstr>Georgia</vt:lpstr>
      <vt:lpstr>Lucida Sans Unicode</vt:lpstr>
      <vt:lpstr>Palatino Linotype</vt:lpstr>
      <vt:lpstr>Tahoma</vt:lpstr>
      <vt:lpstr>Trajan Pro</vt:lpstr>
      <vt:lpstr>Verdana</vt:lpstr>
      <vt:lpstr>Wingdings</vt:lpstr>
      <vt:lpstr>Advent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靖杨 徐</dc:creator>
  <cp:lastModifiedBy>HZY</cp:lastModifiedBy>
  <cp:revision>1473</cp:revision>
  <cp:lastPrinted>2025-03-16T15:46:00Z</cp:lastPrinted>
  <dcterms:created xsi:type="dcterms:W3CDTF">2025-02-23T09:04:00Z</dcterms:created>
  <dcterms:modified xsi:type="dcterms:W3CDTF">2026-09-15T04:02:19Z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40D0FCA79B774CE0B3CDD2B995FA55A8_13</vt:lpwstr>
  </property>
  <property fmtid="{D5CDD505-2E9C-101B-9397-08002B2CF9AE}" pid="3" name="KSOProductBuildVer">
    <vt:lpwstr>2052-12.1.0.28505</vt:lpwstr>
  </property>
</Properties>
</file>